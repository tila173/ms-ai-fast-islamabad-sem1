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15.jpg" ContentType="image/jpg"/>
  <Override PartName="/ppt/media/image20.jpg" ContentType="image/jpg"/>
  <Override PartName="/ppt/media/image21.jpg" ContentType="image/jpg"/>
  <Override PartName="/ppt/media/image22.jpg" ContentType="image/jpg"/>
  <Override PartName="/ppt/media/image23.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80" r:id="rId2"/>
  </p:sldMasterIdLst>
  <p:notesMasterIdLst>
    <p:notesMasterId r:id="rId56"/>
  </p:notesMasterIdLst>
  <p:sldIdLst>
    <p:sldId id="275" r:id="rId3"/>
    <p:sldId id="419" r:id="rId4"/>
    <p:sldId id="420" r:id="rId5"/>
    <p:sldId id="464" r:id="rId6"/>
    <p:sldId id="615" r:id="rId7"/>
    <p:sldId id="616" r:id="rId8"/>
    <p:sldId id="617" r:id="rId9"/>
    <p:sldId id="618" r:id="rId10"/>
    <p:sldId id="619" r:id="rId11"/>
    <p:sldId id="620" r:id="rId12"/>
    <p:sldId id="621" r:id="rId13"/>
    <p:sldId id="622" r:id="rId14"/>
    <p:sldId id="623" r:id="rId15"/>
    <p:sldId id="624" r:id="rId16"/>
    <p:sldId id="625" r:id="rId17"/>
    <p:sldId id="626" r:id="rId18"/>
    <p:sldId id="627" r:id="rId19"/>
    <p:sldId id="525" r:id="rId20"/>
    <p:sldId id="628" r:id="rId21"/>
    <p:sldId id="264" r:id="rId22"/>
    <p:sldId id="629" r:id="rId23"/>
    <p:sldId id="630" r:id="rId24"/>
    <p:sldId id="632" r:id="rId25"/>
    <p:sldId id="377" r:id="rId26"/>
    <p:sldId id="633" r:id="rId27"/>
    <p:sldId id="634" r:id="rId28"/>
    <p:sldId id="635" r:id="rId29"/>
    <p:sldId id="636" r:id="rId30"/>
    <p:sldId id="578" r:id="rId31"/>
    <p:sldId id="637" r:id="rId32"/>
    <p:sldId id="266" r:id="rId33"/>
    <p:sldId id="638" r:id="rId34"/>
    <p:sldId id="639" r:id="rId35"/>
    <p:sldId id="642" r:id="rId36"/>
    <p:sldId id="643" r:id="rId37"/>
    <p:sldId id="644" r:id="rId38"/>
    <p:sldId id="466" r:id="rId39"/>
    <p:sldId id="467" r:id="rId40"/>
    <p:sldId id="515" r:id="rId41"/>
    <p:sldId id="516" r:id="rId42"/>
    <p:sldId id="519" r:id="rId43"/>
    <p:sldId id="527" r:id="rId44"/>
    <p:sldId id="520" r:id="rId45"/>
    <p:sldId id="521" r:id="rId46"/>
    <p:sldId id="522" r:id="rId47"/>
    <p:sldId id="523" r:id="rId48"/>
    <p:sldId id="468" r:id="rId49"/>
    <p:sldId id="469" r:id="rId50"/>
    <p:sldId id="470" r:id="rId51"/>
    <p:sldId id="471" r:id="rId52"/>
    <p:sldId id="472" r:id="rId53"/>
    <p:sldId id="645" r:id="rId54"/>
    <p:sldId id="378"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33CC33"/>
    <a:srgbClr val="FF0066"/>
    <a:srgbClr val="FF505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79" autoAdjust="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918F6-49D9-47B6-997D-8398F0D8C2EC}" type="datetimeFigureOut">
              <a:rPr lang="en-US" smtClean="0"/>
              <a:t>9/26/2025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A621A2-E91F-45B0-8C19-E749065692F8}" type="slidenum">
              <a:rPr lang="en-US" smtClean="0"/>
              <a:t>‹#›</a:t>
            </a:fld>
            <a:endParaRPr lang="en-US"/>
          </a:p>
        </p:txBody>
      </p:sp>
    </p:spTree>
    <p:extLst>
      <p:ext uri="{BB962C8B-B14F-4D97-AF65-F5344CB8AC3E}">
        <p14:creationId xmlns:p14="http://schemas.microsoft.com/office/powerpoint/2010/main" val="233371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prstClr val="black"/>
                </a:solidFill>
              </a:rPr>
              <a:t>© Copyright Showeet.com – Free PowerPoint Templates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6D9429-67C4-4688-B497-2D10480057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2786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a:t>
            </a:r>
            <a:r>
              <a:rPr lang="en-US" baseline="0" dirty="0"/>
              <a:t> representation: 2D array (C++/Java), 2D list (python) or M*2 matrix (</a:t>
            </a:r>
            <a:r>
              <a:rPr lang="en-US" baseline="0" dirty="0" err="1"/>
              <a:t>matlab</a:t>
            </a:r>
            <a:r>
              <a:rPr lang="en-US" baseline="0" dirty="0"/>
              <a:t>) </a:t>
            </a:r>
            <a:r>
              <a:rPr lang="en-US" baseline="0" dirty="0" err="1"/>
              <a:t>etc</a:t>
            </a:r>
            <a:r>
              <a:rPr lang="en-US" baseline="0" dirty="0"/>
              <a:t>….</a:t>
            </a:r>
            <a:endParaRPr lang="en-US" dirty="0"/>
          </a:p>
        </p:txBody>
      </p:sp>
      <p:sp>
        <p:nvSpPr>
          <p:cNvPr id="4" name="Slide Number Placeholder 3"/>
          <p:cNvSpPr>
            <a:spLocks noGrp="1"/>
          </p:cNvSpPr>
          <p:nvPr>
            <p:ph type="sldNum" sz="quarter" idx="10"/>
          </p:nvPr>
        </p:nvSpPr>
        <p:spPr/>
        <p:txBody>
          <a:bodyPr/>
          <a:lstStyle/>
          <a:p>
            <a:fld id="{A3E5CB22-C4DD-44F1-AC10-763B41265B9F}" type="slidenum">
              <a:rPr lang="en-US" smtClean="0"/>
              <a:t>6</a:t>
            </a:fld>
            <a:endParaRPr lang="en-US"/>
          </a:p>
        </p:txBody>
      </p:sp>
    </p:spTree>
    <p:extLst>
      <p:ext uri="{BB962C8B-B14F-4D97-AF65-F5344CB8AC3E}">
        <p14:creationId xmlns:p14="http://schemas.microsoft.com/office/powerpoint/2010/main" val="3459258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E5CB22-C4DD-44F1-AC10-763B41265B9F}" type="slidenum">
              <a:rPr lang="en-US" smtClean="0"/>
              <a:t>9</a:t>
            </a:fld>
            <a:endParaRPr lang="en-US"/>
          </a:p>
        </p:txBody>
      </p:sp>
    </p:spTree>
    <p:extLst>
      <p:ext uri="{BB962C8B-B14F-4D97-AF65-F5344CB8AC3E}">
        <p14:creationId xmlns:p14="http://schemas.microsoft.com/office/powerpoint/2010/main" val="2632314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E5CB22-C4DD-44F1-AC10-763B41265B9F}" type="slidenum">
              <a:rPr lang="en-US" smtClean="0"/>
              <a:t>10</a:t>
            </a:fld>
            <a:endParaRPr lang="en-US"/>
          </a:p>
        </p:txBody>
      </p:sp>
    </p:spTree>
    <p:extLst>
      <p:ext uri="{BB962C8B-B14F-4D97-AF65-F5344CB8AC3E}">
        <p14:creationId xmlns:p14="http://schemas.microsoft.com/office/powerpoint/2010/main" val="3435541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E5CB22-C4DD-44F1-AC10-763B41265B9F}" type="slidenum">
              <a:rPr lang="en-US" smtClean="0"/>
              <a:t>11</a:t>
            </a:fld>
            <a:endParaRPr lang="en-US"/>
          </a:p>
        </p:txBody>
      </p:sp>
    </p:spTree>
    <p:extLst>
      <p:ext uri="{BB962C8B-B14F-4D97-AF65-F5344CB8AC3E}">
        <p14:creationId xmlns:p14="http://schemas.microsoft.com/office/powerpoint/2010/main" val="749972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E5CB22-C4DD-44F1-AC10-763B41265B9F}" type="slidenum">
              <a:rPr lang="en-US" smtClean="0"/>
              <a:t>12</a:t>
            </a:fld>
            <a:endParaRPr lang="en-US"/>
          </a:p>
        </p:txBody>
      </p:sp>
    </p:spTree>
    <p:extLst>
      <p:ext uri="{BB962C8B-B14F-4D97-AF65-F5344CB8AC3E}">
        <p14:creationId xmlns:p14="http://schemas.microsoft.com/office/powerpoint/2010/main" val="828409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E5CB22-C4DD-44F1-AC10-763B41265B9F}" type="slidenum">
              <a:rPr lang="en-US" smtClean="0"/>
              <a:t>13</a:t>
            </a:fld>
            <a:endParaRPr lang="en-US"/>
          </a:p>
        </p:txBody>
      </p:sp>
    </p:spTree>
    <p:extLst>
      <p:ext uri="{BB962C8B-B14F-4D97-AF65-F5344CB8AC3E}">
        <p14:creationId xmlns:p14="http://schemas.microsoft.com/office/powerpoint/2010/main" val="1164347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E5CB22-C4DD-44F1-AC10-763B41265B9F}" type="slidenum">
              <a:rPr lang="en-US" smtClean="0"/>
              <a:t>15</a:t>
            </a:fld>
            <a:endParaRPr lang="en-US"/>
          </a:p>
        </p:txBody>
      </p:sp>
    </p:spTree>
    <p:extLst>
      <p:ext uri="{BB962C8B-B14F-4D97-AF65-F5344CB8AC3E}">
        <p14:creationId xmlns:p14="http://schemas.microsoft.com/office/powerpoint/2010/main" val="3530411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E5CB22-C4DD-44F1-AC10-763B41265B9F}" type="slidenum">
              <a:rPr lang="en-US" smtClean="0"/>
              <a:t>16</a:t>
            </a:fld>
            <a:endParaRPr lang="en-US"/>
          </a:p>
        </p:txBody>
      </p:sp>
    </p:spTree>
    <p:extLst>
      <p:ext uri="{BB962C8B-B14F-4D97-AF65-F5344CB8AC3E}">
        <p14:creationId xmlns:p14="http://schemas.microsoft.com/office/powerpoint/2010/main" val="2942391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FB8A62-DCE9-4436-9813-08E79A925A23}"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598217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CAE9BF7-07DF-409E-B752-2C7FF3C69342}"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3655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5878DD4-B65A-4D2E-BBD5-ED45F05FDBDE}"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35996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8F24808-1E67-42D6-909C-FFD2C25166CD}"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769583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40FC86-635A-4D7D-B975-7D2311E38442}"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140685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C2A4C6A-45FD-4202-953C-8BAC2B3505A4}"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249055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1E0CF-6B8F-49E5-98A1-A47C358284A1}"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55696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A5BE61-E0C4-4540-89B0-D647AC89119E}"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153617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6DCBBA7-94F5-4632-977F-A069F5B4DE45}"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663674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5E7F13-71B8-4E89-9805-DA65EBFE4E21}"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193938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E94F798-4536-418F-AF46-E7615AACEFFE}"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505598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5B916B1-B68C-4957-AE0B-93441D9E3D2F}"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699863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E64BFA5-A92D-41C0-B87E-588E162B4D01}"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470930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6EDBA82-64E2-4933-AD0E-2A0A12EEC9DB}"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587125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8B3C782-30F3-4353-A7EC-A4019AF6CF86}"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975963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BDC2840-3F9A-41D5-88D3-AF4A12202226}"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568987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57560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931360-7E41-4248-8AEF-AC858AB643B6}"/>
              </a:ext>
            </a:extLst>
          </p:cNvPr>
          <p:cNvSpPr/>
          <p:nvPr userDrawn="1"/>
        </p:nvSpPr>
        <p:spPr>
          <a:xfrm>
            <a:off x="0" y="0"/>
            <a:ext cx="12192000" cy="6858000"/>
          </a:xfrm>
          <a:prstGeom prst="rect">
            <a:avLst/>
          </a:prstGeom>
          <a:gradFill flip="none" rotWithShape="1">
            <a:gsLst>
              <a:gs pos="29000">
                <a:schemeClr val="accent1">
                  <a:lumMod val="5000"/>
                  <a:lumOff val="95000"/>
                  <a:alpha val="0"/>
                </a:schemeClr>
              </a:gs>
              <a:gs pos="66000">
                <a:schemeClr val="accent1">
                  <a:alpha val="58000"/>
                </a:schemeClr>
              </a:gs>
              <a:gs pos="80000">
                <a:schemeClr val="accent1">
                  <a:alpha val="61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90204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AA43A8-9C57-42ED-AFE4-B30FF91A6411}" type="datetime1">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9/26/2025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2966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6CF1B85-0355-48E9-B306-F864651DACFE}"/>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1922798"/>
            <a:ext cx="10515600" cy="4254165"/>
          </a:xfrm>
        </p:spPr>
        <p:txBody>
          <a:bodyPr/>
          <a:lstStyle>
            <a:lvl1pPr>
              <a:defRPr sz="1600">
                <a:latin typeface="+mj-lt"/>
              </a:defRPr>
            </a:lvl1pPr>
            <a:lvl2pPr>
              <a:defRPr sz="1400">
                <a:latin typeface="+mj-lt"/>
              </a:defRPr>
            </a:lvl2pPr>
            <a:lvl3pPr>
              <a:defRPr sz="1200">
                <a:latin typeface="+mj-lt"/>
              </a:defRPr>
            </a:lvl3pPr>
            <a:lvl4pPr>
              <a:defRPr sz="1100">
                <a:latin typeface="+mj-lt"/>
              </a:defRPr>
            </a:lvl4pPr>
            <a:lvl5pPr>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7" name="Shape 61">
            <a:extLst>
              <a:ext uri="{FF2B5EF4-FFF2-40B4-BE49-F238E27FC236}">
                <a16:creationId xmlns:a16="http://schemas.microsoft.com/office/drawing/2014/main" id="{13E82DCB-0215-47C1-B2C7-C6D824B426A3}"/>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r>
              <a:rPr kumimoji="0" lang="en-US" sz="2000" b="1" i="0" u="none" strike="noStrike" kern="1200" cap="none" spc="0" normalizeH="0" baseline="0" noProof="0" dirty="0">
                <a:ln>
                  <a:noFill/>
                </a:ln>
                <a:solidFill>
                  <a:srgbClr val="4A66AC"/>
                </a:solidFill>
                <a:effectLst/>
                <a:uLnTx/>
                <a:uFillTx/>
                <a:latin typeface="Calibri" panose="020F0502020204030204"/>
                <a:ea typeface="+mn-ea"/>
                <a:cs typeface="+mn-cs"/>
                <a:sym typeface="Bebas"/>
              </a:rPr>
              <a:t>ALPINE</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sym typeface="Bebas"/>
              </a:rPr>
              <a:t> SKI HOUSE</a:t>
            </a: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Slide Number Placeholder 1">
            <a:extLst>
              <a:ext uri="{FF2B5EF4-FFF2-40B4-BE49-F238E27FC236}">
                <a16:creationId xmlns:a16="http://schemas.microsoft.com/office/drawing/2014/main" id="{0262D2B8-28B2-8147-9C19-723D63DBC2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02093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688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
        <p:nvSpPr>
          <p:cNvPr id="6" name="Slide Number Placeholder 5">
            <a:extLst>
              <a:ext uri="{FF2B5EF4-FFF2-40B4-BE49-F238E27FC236}">
                <a16:creationId xmlns:a16="http://schemas.microsoft.com/office/drawing/2014/main" id="{1D01AF6C-282A-674A-A003-3BF954A9DCE8}"/>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76985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AA43A8-9C57-42ED-AFE4-B30FF91A6411}" type="datetime1">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9/26/2025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4"/>
          <a:stretch>
            <a:fillRect/>
          </a:stretch>
        </p:blipFill>
        <p:spPr>
          <a:xfrm>
            <a:off x="0" y="0"/>
            <a:ext cx="5913121" cy="6858000"/>
          </a:xfrm>
          <a:prstGeom prst="rect">
            <a:avLst/>
          </a:prstGeom>
        </p:spPr>
      </p:pic>
    </p:spTree>
    <p:extLst>
      <p:ext uri="{BB962C8B-B14F-4D97-AF65-F5344CB8AC3E}">
        <p14:creationId xmlns:p14="http://schemas.microsoft.com/office/powerpoint/2010/main" val="17918334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73720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r>
              <a:rPr kumimoji="0" lang="en-US" sz="2000" b="1" i="0" u="none" strike="noStrike" kern="1200" cap="none" spc="0" normalizeH="0" baseline="0" noProof="0" dirty="0">
                <a:ln>
                  <a:noFill/>
                </a:ln>
                <a:solidFill>
                  <a:srgbClr val="4A66AC"/>
                </a:solidFill>
                <a:effectLst/>
                <a:uLnTx/>
                <a:uFillTx/>
                <a:latin typeface="Calibri" panose="020F0502020204030204"/>
                <a:ea typeface="+mn-ea"/>
                <a:cs typeface="+mn-cs"/>
                <a:sym typeface="Bebas"/>
              </a:rPr>
              <a:t>ALPINE</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sym typeface="Bebas"/>
              </a:rPr>
              <a:t> SKI HOUSE</a:t>
            </a: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50721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r>
              <a:rPr kumimoji="0" lang="en-US" sz="2000" b="1" i="0" u="none" strike="noStrike" kern="1200" cap="none" spc="0" normalizeH="0" baseline="0" noProof="0" dirty="0">
                <a:ln>
                  <a:noFill/>
                </a:ln>
                <a:solidFill>
                  <a:srgbClr val="4A66AC"/>
                </a:solidFill>
                <a:effectLst/>
                <a:uLnTx/>
                <a:uFillTx/>
                <a:latin typeface="Calibri" panose="020F0502020204030204"/>
                <a:ea typeface="+mn-ea"/>
                <a:cs typeface="+mn-cs"/>
                <a:sym typeface="Bebas"/>
              </a:rPr>
              <a:t>ALPINE</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sym typeface="Bebas"/>
              </a:rPr>
              <a:t> SKI HOUSE</a:t>
            </a: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51818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12" name="Shape 61">
            <a:extLst>
              <a:ext uri="{FF2B5EF4-FFF2-40B4-BE49-F238E27FC236}">
                <a16:creationId xmlns:a16="http://schemas.microsoft.com/office/drawing/2014/main" id="{76301C53-A459-4782-ADBF-6A23AD90F228}"/>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r>
              <a:rPr kumimoji="0" lang="en-US" sz="2000" b="1" i="0" u="none" strike="noStrike" kern="1200" cap="none" spc="0" normalizeH="0" baseline="0" noProof="0" dirty="0">
                <a:ln>
                  <a:noFill/>
                </a:ln>
                <a:solidFill>
                  <a:srgbClr val="4A66AC"/>
                </a:solidFill>
                <a:effectLst/>
                <a:uLnTx/>
                <a:uFillTx/>
                <a:latin typeface="Calibri" panose="020F0502020204030204"/>
                <a:ea typeface="+mn-ea"/>
                <a:cs typeface="+mn-cs"/>
                <a:sym typeface="Bebas"/>
              </a:rPr>
              <a:t>ALPINE</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sym typeface="Bebas"/>
              </a:rPr>
              <a:t> SKI HOUSE</a:t>
            </a: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2" name="Footer Placeholder 1">
            <a:extLst>
              <a:ext uri="{FF2B5EF4-FFF2-40B4-BE49-F238E27FC236}">
                <a16:creationId xmlns:a16="http://schemas.microsoft.com/office/drawing/2014/main" id="{4AA1A3FF-B6E6-5147-80A4-EB0FDCD922A6}"/>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36A80195-D02B-8843-BA61-A079D04D9C2F}"/>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50375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6918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microsoft.com/office/2007/relationships/hdphoto" Target="../media/hdphoto1.wdp"/><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image" Target="../media/image2.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2.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FA32D190-7243-461F-A783-93D8A78C031A}" type="datetime1">
              <a:rPr kumimoji="0" lang="en-US"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9/26/2025</a:t>
            </a:fld>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entury Gothic" panose="020B0502020202020204"/>
              <a:ea typeface="+mn-ea"/>
              <a:cs typeface="+mn-cs"/>
            </a:endParaRP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2000" b="0" i="0" u="none" strike="noStrike" kern="1200" cap="none" spc="0" normalizeH="0" baseline="0" noProof="0" dirty="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13341735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93" r:id="rId17"/>
    <p:sldLayoutId id="2147483694" r:id="rId18"/>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2" cstate="screen">
            <a:extLst>
              <a:ext uri="{BEBA8EAE-BF5A-486C-A8C5-ECC9F3942E4B}">
                <a14:imgProps xmlns:a14="http://schemas.microsoft.com/office/drawing/2010/main">
                  <a14:imgLayer r:embed="rId1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429768"/>
            <a:ext cx="10515600" cy="63719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301262"/>
            <a:ext cx="10515600" cy="48757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1" name="Shape 61">
            <a:extLst>
              <a:ext uri="{FF2B5EF4-FFF2-40B4-BE49-F238E27FC236}">
                <a16:creationId xmlns:a16="http://schemas.microsoft.com/office/drawing/2014/main" id="{4C6CEA86-90A4-4284-86BF-23E5E6F4A73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3A3B39"/>
                </a:solidFill>
                <a:latin typeface="Bebas"/>
                <a:ea typeface="Bebas"/>
                <a:cs typeface="Bebas"/>
                <a:sym typeface="Bebas"/>
              </a:defRPr>
            </a:pPr>
            <a:r>
              <a:rPr kumimoji="0" lang="en-US" sz="2000" b="1" i="0" u="none" strike="noStrike" kern="1200" cap="none" spc="0" normalizeH="0" baseline="0" noProof="0" dirty="0">
                <a:ln>
                  <a:noFill/>
                </a:ln>
                <a:solidFill>
                  <a:srgbClr val="4A66AC"/>
                </a:solidFill>
                <a:effectLst/>
                <a:uLnTx/>
                <a:uFillTx/>
                <a:latin typeface="Calibri" panose="020F0502020204030204"/>
                <a:ea typeface="+mn-ea"/>
                <a:cs typeface="+mn-cs"/>
                <a:sym typeface="Bebas"/>
              </a:rPr>
              <a:t>ALPINE</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sym typeface="Bebas"/>
              </a:rPr>
              <a:t> SKI HOUSE</a:t>
            </a:r>
            <a:endParaRPr kumimoji="0" lang="en-US" sz="2000" b="1" i="0" u="none" strike="noStrike" kern="1200" cap="none" spc="0" normalizeH="0" baseline="0" noProof="0" dirty="0">
              <a:ln>
                <a:noFill/>
              </a:ln>
              <a:solidFill>
                <a:prstClr val="black"/>
              </a:solidFill>
              <a:effectLst/>
              <a:uLnTx/>
              <a:uFillTx/>
              <a:latin typeface="Gill Sans" panose="020B0502020104020203" pitchFamily="34" charset="-79"/>
              <a:cs typeface="Gill Sans" panose="020B0502020104020203" pitchFamily="34" charset="-79"/>
              <a:sym typeface="Bebas"/>
            </a:endParaRPr>
          </a:p>
        </p:txBody>
      </p:sp>
      <p:sp>
        <p:nvSpPr>
          <p:cNvPr id="13" name="Slide Number Placeholder 5">
            <a:extLst>
              <a:ext uri="{FF2B5EF4-FFF2-40B4-BE49-F238E27FC236}">
                <a16:creationId xmlns:a16="http://schemas.microsoft.com/office/drawing/2014/main" id="{A1AB594D-E50C-4B04-A2BD-2626B3B76697}"/>
              </a:ext>
            </a:extLst>
          </p:cNvPr>
          <p:cNvSpPr>
            <a:spLocks noGrp="1"/>
          </p:cNvSpPr>
          <p:nvPr>
            <p:ph type="sldNum" sz="quarter" idx="4"/>
          </p:nvPr>
        </p:nvSpPr>
        <p:spPr>
          <a:xfrm>
            <a:off x="11353800" y="6356350"/>
            <a:ext cx="515080" cy="365125"/>
          </a:xfrm>
          <a:prstGeom prst="rect">
            <a:avLst/>
          </a:prstGeom>
        </p:spPr>
        <p:txBody>
          <a:bodyPr/>
          <a:lstStyle>
            <a:lvl1pPr algn="r">
              <a:defRPr>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5C00377-489B-40EC-B059-26BDDD2E89B9}"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482990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hf hdr="0" ftr="0" dt="0"/>
  <p:txStyles>
    <p:title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image" Target="../media/image22.jp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C9E7AF35-8116-4962-B1EC-6B1FF6F1DC08}"/>
              </a:ext>
            </a:extLst>
          </p:cNvPr>
          <p:cNvGrpSpPr/>
          <p:nvPr/>
        </p:nvGrpSpPr>
        <p:grpSpPr>
          <a:xfrm>
            <a:off x="1254929" y="186312"/>
            <a:ext cx="9401908" cy="3468330"/>
            <a:chOff x="1093177" y="989695"/>
            <a:chExt cx="10005646" cy="3691046"/>
          </a:xfrm>
          <a:solidFill>
            <a:schemeClr val="accent1">
              <a:lumMod val="50000"/>
            </a:schemeClr>
          </a:solidFill>
        </p:grpSpPr>
        <p:sp>
          <p:nvSpPr>
            <p:cNvPr id="34" name="Freeform: Shape 33">
              <a:extLst>
                <a:ext uri="{FF2B5EF4-FFF2-40B4-BE49-F238E27FC236}">
                  <a16:creationId xmlns:a16="http://schemas.microsoft.com/office/drawing/2014/main" id="{74302FF1-D9B6-4C53-A2F6-0E3993A2689C}"/>
                </a:ext>
              </a:extLst>
            </p:cNvPr>
            <p:cNvSpPr/>
            <p:nvPr/>
          </p:nvSpPr>
          <p:spPr>
            <a:xfrm flipH="1" flipV="1">
              <a:off x="6623408" y="1349111"/>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7903A63-4FFE-45B1-82B1-6934A2CAAEAC}"/>
                </a:ext>
              </a:extLst>
            </p:cNvPr>
            <p:cNvSpPr/>
            <p:nvPr/>
          </p:nvSpPr>
          <p:spPr>
            <a:xfrm>
              <a:off x="1667706" y="1575962"/>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0A1C6270-AAE8-43D7-B33E-A9AC33F2D067}"/>
                </a:ext>
              </a:extLst>
            </p:cNvPr>
            <p:cNvSpPr/>
            <p:nvPr/>
          </p:nvSpPr>
          <p:spPr>
            <a:xfrm flipH="1" flipV="1">
              <a:off x="6724533" y="2670316"/>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a:p>
          </p:txBody>
        </p:sp>
        <p:grpSp>
          <p:nvGrpSpPr>
            <p:cNvPr id="37" name="Group 36">
              <a:extLst>
                <a:ext uri="{FF2B5EF4-FFF2-40B4-BE49-F238E27FC236}">
                  <a16:creationId xmlns:a16="http://schemas.microsoft.com/office/drawing/2014/main" id="{3473D73F-D2DE-4109-91E2-410C80B504F3}"/>
                </a:ext>
              </a:extLst>
            </p:cNvPr>
            <p:cNvGrpSpPr/>
            <p:nvPr/>
          </p:nvGrpSpPr>
          <p:grpSpPr>
            <a:xfrm>
              <a:off x="4692156" y="989695"/>
              <a:ext cx="2795565" cy="3631621"/>
              <a:chOff x="1257518" y="2316205"/>
              <a:chExt cx="1389446" cy="1804981"/>
            </a:xfrm>
            <a:grpFill/>
          </p:grpSpPr>
          <p:sp>
            <p:nvSpPr>
              <p:cNvPr id="40" name="Graphic 2">
                <a:extLst>
                  <a:ext uri="{FF2B5EF4-FFF2-40B4-BE49-F238E27FC236}">
                    <a16:creationId xmlns:a16="http://schemas.microsoft.com/office/drawing/2014/main" id="{53347B15-B39D-4B3A-92A7-16F069593A4D}"/>
                  </a:ext>
                </a:extLst>
              </p:cNvPr>
              <p:cNvSpPr/>
              <p:nvPr/>
            </p:nvSpPr>
            <p:spPr>
              <a:xfrm>
                <a:off x="1257518" y="2316205"/>
                <a:ext cx="1389446" cy="1804981"/>
              </a:xfrm>
              <a:custGeom>
                <a:avLst/>
                <a:gdLst>
                  <a:gd name="connsiteX0" fmla="*/ 198332 w 800100"/>
                  <a:gd name="connsiteY0" fmla="*/ 961703 h 962025"/>
                  <a:gd name="connsiteX1" fmla="*/ 646959 w 800100"/>
                  <a:gd name="connsiteY1" fmla="*/ 961703 h 962025"/>
                  <a:gd name="connsiteX2" fmla="*/ 610764 w 800100"/>
                  <a:gd name="connsiteY2" fmla="*/ 885503 h 962025"/>
                  <a:gd name="connsiteX3" fmla="*/ 686964 w 800100"/>
                  <a:gd name="connsiteY3" fmla="*/ 625471 h 962025"/>
                  <a:gd name="connsiteX4" fmla="*/ 786024 w 800100"/>
                  <a:gd name="connsiteY4" fmla="*/ 283523 h 962025"/>
                  <a:gd name="connsiteX5" fmla="*/ 359304 w 800100"/>
                  <a:gd name="connsiteY5" fmla="*/ 14918 h 962025"/>
                  <a:gd name="connsiteX6" fmla="*/ 124037 w 800100"/>
                  <a:gd name="connsiteY6" fmla="*/ 211133 h 962025"/>
                  <a:gd name="connsiteX7" fmla="*/ 116417 w 800100"/>
                  <a:gd name="connsiteY7" fmla="*/ 270188 h 962025"/>
                  <a:gd name="connsiteX8" fmla="*/ 59267 w 800100"/>
                  <a:gd name="connsiteY8" fmla="*/ 367343 h 962025"/>
                  <a:gd name="connsiteX9" fmla="*/ 13547 w 800100"/>
                  <a:gd name="connsiteY9" fmla="*/ 427351 h 962025"/>
                  <a:gd name="connsiteX10" fmla="*/ 24024 w 800100"/>
                  <a:gd name="connsiteY10" fmla="*/ 515933 h 962025"/>
                  <a:gd name="connsiteX11" fmla="*/ 63077 w 800100"/>
                  <a:gd name="connsiteY11" fmla="*/ 552128 h 962025"/>
                  <a:gd name="connsiteX12" fmla="*/ 18309 w 800100"/>
                  <a:gd name="connsiteY12" fmla="*/ 570226 h 962025"/>
                  <a:gd name="connsiteX13" fmla="*/ 30692 w 800100"/>
                  <a:gd name="connsiteY13" fmla="*/ 609278 h 962025"/>
                  <a:gd name="connsiteX14" fmla="*/ 29739 w 800100"/>
                  <a:gd name="connsiteY14" fmla="*/ 673096 h 962025"/>
                  <a:gd name="connsiteX15" fmla="*/ 85937 w 800100"/>
                  <a:gd name="connsiteY15" fmla="*/ 744533 h 962025"/>
                  <a:gd name="connsiteX16" fmla="*/ 225002 w 800100"/>
                  <a:gd name="connsiteY16" fmla="*/ 764536 h 962025"/>
                  <a:gd name="connsiteX17" fmla="*/ 198332 w 800100"/>
                  <a:gd name="connsiteY17" fmla="*/ 961703 h 962025"/>
                  <a:gd name="connsiteX0" fmla="*/ 173835 w 788240"/>
                  <a:gd name="connsiteY0" fmla="*/ 1023975 h 1023975"/>
                  <a:gd name="connsiteX1" fmla="*/ 639815 w 788240"/>
                  <a:gd name="connsiteY1" fmla="*/ 954560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8932"/>
                  <a:gd name="connsiteX1" fmla="*/ 654690 w 788240"/>
                  <a:gd name="connsiteY1" fmla="*/ 1028932 h 1028932"/>
                  <a:gd name="connsiteX2" fmla="*/ 603620 w 788240"/>
                  <a:gd name="connsiteY2" fmla="*/ 878360 h 1028932"/>
                  <a:gd name="connsiteX3" fmla="*/ 679820 w 788240"/>
                  <a:gd name="connsiteY3" fmla="*/ 618328 h 1028932"/>
                  <a:gd name="connsiteX4" fmla="*/ 778880 w 788240"/>
                  <a:gd name="connsiteY4" fmla="*/ 276380 h 1028932"/>
                  <a:gd name="connsiteX5" fmla="*/ 352160 w 788240"/>
                  <a:gd name="connsiteY5" fmla="*/ 7775 h 1028932"/>
                  <a:gd name="connsiteX6" fmla="*/ 116893 w 788240"/>
                  <a:gd name="connsiteY6" fmla="*/ 203990 h 1028932"/>
                  <a:gd name="connsiteX7" fmla="*/ 109273 w 788240"/>
                  <a:gd name="connsiteY7" fmla="*/ 263045 h 1028932"/>
                  <a:gd name="connsiteX8" fmla="*/ 52123 w 788240"/>
                  <a:gd name="connsiteY8" fmla="*/ 360200 h 1028932"/>
                  <a:gd name="connsiteX9" fmla="*/ 6403 w 788240"/>
                  <a:gd name="connsiteY9" fmla="*/ 420208 h 1028932"/>
                  <a:gd name="connsiteX10" fmla="*/ 16880 w 788240"/>
                  <a:gd name="connsiteY10" fmla="*/ 508790 h 1028932"/>
                  <a:gd name="connsiteX11" fmla="*/ 55933 w 788240"/>
                  <a:gd name="connsiteY11" fmla="*/ 544985 h 1028932"/>
                  <a:gd name="connsiteX12" fmla="*/ 11165 w 788240"/>
                  <a:gd name="connsiteY12" fmla="*/ 563083 h 1028932"/>
                  <a:gd name="connsiteX13" fmla="*/ 23548 w 788240"/>
                  <a:gd name="connsiteY13" fmla="*/ 602135 h 1028932"/>
                  <a:gd name="connsiteX14" fmla="*/ 22595 w 788240"/>
                  <a:gd name="connsiteY14" fmla="*/ 665953 h 1028932"/>
                  <a:gd name="connsiteX15" fmla="*/ 78793 w 788240"/>
                  <a:gd name="connsiteY15" fmla="*/ 737390 h 1028932"/>
                  <a:gd name="connsiteX16" fmla="*/ 217858 w 788240"/>
                  <a:gd name="connsiteY16" fmla="*/ 757393 h 1028932"/>
                  <a:gd name="connsiteX17" fmla="*/ 173835 w 788240"/>
                  <a:gd name="connsiteY17" fmla="*/ 1023975 h 1028932"/>
                  <a:gd name="connsiteX0" fmla="*/ 173835 w 788240"/>
                  <a:gd name="connsiteY0" fmla="*/ 1023975 h 1023975"/>
                  <a:gd name="connsiteX1" fmla="*/ 674523 w 788240"/>
                  <a:gd name="connsiteY1" fmla="*/ 1023974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4058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9016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21495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240" h="1023975">
                    <a:moveTo>
                      <a:pt x="173835" y="1023975"/>
                    </a:moveTo>
                    <a:lnTo>
                      <a:pt x="679481" y="1021495"/>
                    </a:lnTo>
                    <a:cubicBezTo>
                      <a:pt x="666146" y="995778"/>
                      <a:pt x="612193" y="896458"/>
                      <a:pt x="603620" y="878360"/>
                    </a:cubicBezTo>
                    <a:cubicBezTo>
                      <a:pt x="579808" y="822163"/>
                      <a:pt x="596953" y="699290"/>
                      <a:pt x="679820" y="618328"/>
                    </a:cubicBezTo>
                    <a:cubicBezTo>
                      <a:pt x="758878" y="541175"/>
                      <a:pt x="810313" y="391633"/>
                      <a:pt x="778880" y="276380"/>
                    </a:cubicBezTo>
                    <a:cubicBezTo>
                      <a:pt x="727445" y="85880"/>
                      <a:pt x="555995" y="-32230"/>
                      <a:pt x="352160" y="7775"/>
                    </a:cubicBezTo>
                    <a:cubicBezTo>
                      <a:pt x="352160" y="7775"/>
                      <a:pt x="175948" y="29683"/>
                      <a:pt x="116893" y="203990"/>
                    </a:cubicBezTo>
                    <a:cubicBezTo>
                      <a:pt x="116893" y="203990"/>
                      <a:pt x="107368" y="229708"/>
                      <a:pt x="109273" y="263045"/>
                    </a:cubicBezTo>
                    <a:cubicBezTo>
                      <a:pt x="114035" y="316385"/>
                      <a:pt x="75935" y="347818"/>
                      <a:pt x="52123" y="360200"/>
                    </a:cubicBezTo>
                    <a:cubicBezTo>
                      <a:pt x="27358" y="373535"/>
                      <a:pt x="-16457" y="395443"/>
                      <a:pt x="6403" y="420208"/>
                    </a:cubicBezTo>
                    <a:cubicBezTo>
                      <a:pt x="34025" y="450688"/>
                      <a:pt x="32120" y="489740"/>
                      <a:pt x="16880" y="508790"/>
                    </a:cubicBezTo>
                    <a:cubicBezTo>
                      <a:pt x="-2170" y="531650"/>
                      <a:pt x="53075" y="532603"/>
                      <a:pt x="55933" y="544985"/>
                    </a:cubicBezTo>
                    <a:cubicBezTo>
                      <a:pt x="58790" y="558320"/>
                      <a:pt x="14975" y="547843"/>
                      <a:pt x="11165" y="563083"/>
                    </a:cubicBezTo>
                    <a:cubicBezTo>
                      <a:pt x="7355" y="579275"/>
                      <a:pt x="19738" y="583085"/>
                      <a:pt x="23548" y="602135"/>
                    </a:cubicBezTo>
                    <a:cubicBezTo>
                      <a:pt x="27358" y="621185"/>
                      <a:pt x="24500" y="656428"/>
                      <a:pt x="22595" y="665953"/>
                    </a:cubicBezTo>
                    <a:cubicBezTo>
                      <a:pt x="20690" y="675478"/>
                      <a:pt x="26405" y="732628"/>
                      <a:pt x="78793" y="737390"/>
                    </a:cubicBezTo>
                    <a:cubicBezTo>
                      <a:pt x="131180" y="742153"/>
                      <a:pt x="196903" y="731675"/>
                      <a:pt x="217858" y="757393"/>
                    </a:cubicBezTo>
                    <a:cubicBezTo>
                      <a:pt x="236908" y="783110"/>
                      <a:pt x="197647" y="952538"/>
                      <a:pt x="173835" y="1023975"/>
                    </a:cubicBezTo>
                    <a:close/>
                  </a:path>
                </a:pathLst>
              </a:custGeom>
              <a:grpFill/>
              <a:ln w="9525" cap="flat">
                <a:noFill/>
                <a:prstDash val="solid"/>
                <a:miter/>
              </a:ln>
            </p:spPr>
            <p:txBody>
              <a:bodyPr rtlCol="0" anchor="ctr"/>
              <a:lstStyle/>
              <a:p>
                <a:endParaRPr lang="en-US" dirty="0"/>
              </a:p>
            </p:txBody>
          </p:sp>
          <p:grpSp>
            <p:nvGrpSpPr>
              <p:cNvPr id="41" name="Group 40">
                <a:extLst>
                  <a:ext uri="{FF2B5EF4-FFF2-40B4-BE49-F238E27FC236}">
                    <a16:creationId xmlns:a16="http://schemas.microsoft.com/office/drawing/2014/main" id="{079248F5-92F6-4CD2-BAF4-37327B4E7647}"/>
                  </a:ext>
                </a:extLst>
              </p:cNvPr>
              <p:cNvGrpSpPr/>
              <p:nvPr/>
            </p:nvGrpSpPr>
            <p:grpSpPr>
              <a:xfrm>
                <a:off x="1684786" y="2516290"/>
                <a:ext cx="702035" cy="687994"/>
                <a:chOff x="1684786" y="2516290"/>
                <a:chExt cx="702035" cy="687994"/>
              </a:xfrm>
              <a:grpFill/>
            </p:grpSpPr>
            <p:sp>
              <p:nvSpPr>
                <p:cNvPr id="42" name="Graphic 4">
                  <a:extLst>
                    <a:ext uri="{FF2B5EF4-FFF2-40B4-BE49-F238E27FC236}">
                      <a16:creationId xmlns:a16="http://schemas.microsoft.com/office/drawing/2014/main" id="{18927834-337B-4774-B8C4-66F5BF0CE3E4}"/>
                    </a:ext>
                  </a:extLst>
                </p:cNvPr>
                <p:cNvSpPr/>
                <p:nvPr/>
              </p:nvSpPr>
              <p:spPr>
                <a:xfrm>
                  <a:off x="1684786" y="2516290"/>
                  <a:ext cx="702035" cy="687994"/>
                </a:xfrm>
                <a:custGeom>
                  <a:avLst/>
                  <a:gdLst>
                    <a:gd name="connsiteX0" fmla="*/ 462439 w 476250"/>
                    <a:gd name="connsiteY0" fmla="*/ 160496 h 466725"/>
                    <a:gd name="connsiteX1" fmla="*/ 469106 w 476250"/>
                    <a:gd name="connsiteY1" fmla="*/ 153829 h 466725"/>
                    <a:gd name="connsiteX2" fmla="*/ 469106 w 476250"/>
                    <a:gd name="connsiteY2" fmla="*/ 149066 h 466725"/>
                    <a:gd name="connsiteX3" fmla="*/ 462439 w 476250"/>
                    <a:gd name="connsiteY3" fmla="*/ 142399 h 466725"/>
                    <a:gd name="connsiteX4" fmla="*/ 415766 w 476250"/>
                    <a:gd name="connsiteY4" fmla="*/ 142399 h 466725"/>
                    <a:gd name="connsiteX5" fmla="*/ 415766 w 476250"/>
                    <a:gd name="connsiteY5" fmla="*/ 93821 h 466725"/>
                    <a:gd name="connsiteX6" fmla="*/ 391954 w 476250"/>
                    <a:gd name="connsiteY6" fmla="*/ 70009 h 466725"/>
                    <a:gd name="connsiteX7" fmla="*/ 333851 w 476250"/>
                    <a:gd name="connsiteY7" fmla="*/ 70009 h 466725"/>
                    <a:gd name="connsiteX8" fmla="*/ 333851 w 476250"/>
                    <a:gd name="connsiteY8" fmla="*/ 13811 h 466725"/>
                    <a:gd name="connsiteX9" fmla="*/ 327184 w 476250"/>
                    <a:gd name="connsiteY9" fmla="*/ 7144 h 466725"/>
                    <a:gd name="connsiteX10" fmla="*/ 322421 w 476250"/>
                    <a:gd name="connsiteY10" fmla="*/ 7144 h 466725"/>
                    <a:gd name="connsiteX11" fmla="*/ 315754 w 476250"/>
                    <a:gd name="connsiteY11" fmla="*/ 13811 h 466725"/>
                    <a:gd name="connsiteX12" fmla="*/ 315754 w 476250"/>
                    <a:gd name="connsiteY12" fmla="*/ 70009 h 466725"/>
                    <a:gd name="connsiteX13" fmla="*/ 290989 w 476250"/>
                    <a:gd name="connsiteY13" fmla="*/ 70009 h 466725"/>
                    <a:gd name="connsiteX14" fmla="*/ 290989 w 476250"/>
                    <a:gd name="connsiteY14" fmla="*/ 13811 h 466725"/>
                    <a:gd name="connsiteX15" fmla="*/ 283369 w 476250"/>
                    <a:gd name="connsiteY15" fmla="*/ 7144 h 466725"/>
                    <a:gd name="connsiteX16" fmla="*/ 278606 w 476250"/>
                    <a:gd name="connsiteY16" fmla="*/ 7144 h 466725"/>
                    <a:gd name="connsiteX17" fmla="*/ 271939 w 476250"/>
                    <a:gd name="connsiteY17" fmla="*/ 13811 h 466725"/>
                    <a:gd name="connsiteX18" fmla="*/ 271939 w 476250"/>
                    <a:gd name="connsiteY18" fmla="*/ 70009 h 466725"/>
                    <a:gd name="connsiteX19" fmla="*/ 247174 w 476250"/>
                    <a:gd name="connsiteY19" fmla="*/ 70009 h 466725"/>
                    <a:gd name="connsiteX20" fmla="*/ 247174 w 476250"/>
                    <a:gd name="connsiteY20" fmla="*/ 13811 h 466725"/>
                    <a:gd name="connsiteX21" fmla="*/ 240506 w 476250"/>
                    <a:gd name="connsiteY21" fmla="*/ 7144 h 466725"/>
                    <a:gd name="connsiteX22" fmla="*/ 235744 w 476250"/>
                    <a:gd name="connsiteY22" fmla="*/ 7144 h 466725"/>
                    <a:gd name="connsiteX23" fmla="*/ 229076 w 476250"/>
                    <a:gd name="connsiteY23" fmla="*/ 13811 h 466725"/>
                    <a:gd name="connsiteX24" fmla="*/ 229076 w 476250"/>
                    <a:gd name="connsiteY24" fmla="*/ 70009 h 466725"/>
                    <a:gd name="connsiteX25" fmla="*/ 204311 w 476250"/>
                    <a:gd name="connsiteY25" fmla="*/ 70009 h 466725"/>
                    <a:gd name="connsiteX26" fmla="*/ 204311 w 476250"/>
                    <a:gd name="connsiteY26" fmla="*/ 13811 h 466725"/>
                    <a:gd name="connsiteX27" fmla="*/ 197644 w 476250"/>
                    <a:gd name="connsiteY27" fmla="*/ 7144 h 466725"/>
                    <a:gd name="connsiteX28" fmla="*/ 192881 w 476250"/>
                    <a:gd name="connsiteY28" fmla="*/ 7144 h 466725"/>
                    <a:gd name="connsiteX29" fmla="*/ 186214 w 476250"/>
                    <a:gd name="connsiteY29" fmla="*/ 13811 h 466725"/>
                    <a:gd name="connsiteX30" fmla="*/ 186214 w 476250"/>
                    <a:gd name="connsiteY30" fmla="*/ 70009 h 466725"/>
                    <a:gd name="connsiteX31" fmla="*/ 161449 w 476250"/>
                    <a:gd name="connsiteY31" fmla="*/ 70009 h 466725"/>
                    <a:gd name="connsiteX32" fmla="*/ 161449 w 476250"/>
                    <a:gd name="connsiteY32" fmla="*/ 13811 h 466725"/>
                    <a:gd name="connsiteX33" fmla="*/ 154781 w 476250"/>
                    <a:gd name="connsiteY33" fmla="*/ 7144 h 466725"/>
                    <a:gd name="connsiteX34" fmla="*/ 150019 w 476250"/>
                    <a:gd name="connsiteY34" fmla="*/ 7144 h 466725"/>
                    <a:gd name="connsiteX35" fmla="*/ 143351 w 476250"/>
                    <a:gd name="connsiteY35" fmla="*/ 13811 h 466725"/>
                    <a:gd name="connsiteX36" fmla="*/ 143351 w 476250"/>
                    <a:gd name="connsiteY36" fmla="*/ 70009 h 466725"/>
                    <a:gd name="connsiteX37" fmla="*/ 88106 w 476250"/>
                    <a:gd name="connsiteY37" fmla="*/ 70009 h 466725"/>
                    <a:gd name="connsiteX38" fmla="*/ 64294 w 476250"/>
                    <a:gd name="connsiteY38" fmla="*/ 93821 h 466725"/>
                    <a:gd name="connsiteX39" fmla="*/ 64294 w 476250"/>
                    <a:gd name="connsiteY39" fmla="*/ 142399 h 466725"/>
                    <a:gd name="connsiteX40" fmla="*/ 13811 w 476250"/>
                    <a:gd name="connsiteY40" fmla="*/ 142399 h 466725"/>
                    <a:gd name="connsiteX41" fmla="*/ 7144 w 476250"/>
                    <a:gd name="connsiteY41" fmla="*/ 149066 h 466725"/>
                    <a:gd name="connsiteX42" fmla="*/ 7144 w 476250"/>
                    <a:gd name="connsiteY42" fmla="*/ 153829 h 466725"/>
                    <a:gd name="connsiteX43" fmla="*/ 13811 w 476250"/>
                    <a:gd name="connsiteY43" fmla="*/ 160496 h 466725"/>
                    <a:gd name="connsiteX44" fmla="*/ 64294 w 476250"/>
                    <a:gd name="connsiteY44" fmla="*/ 160496 h 466725"/>
                    <a:gd name="connsiteX45" fmla="*/ 64294 w 476250"/>
                    <a:gd name="connsiteY45" fmla="*/ 185261 h 466725"/>
                    <a:gd name="connsiteX46" fmla="*/ 13811 w 476250"/>
                    <a:gd name="connsiteY46" fmla="*/ 185261 h 466725"/>
                    <a:gd name="connsiteX47" fmla="*/ 7144 w 476250"/>
                    <a:gd name="connsiteY47" fmla="*/ 191929 h 466725"/>
                    <a:gd name="connsiteX48" fmla="*/ 7144 w 476250"/>
                    <a:gd name="connsiteY48" fmla="*/ 196691 h 466725"/>
                    <a:gd name="connsiteX49" fmla="*/ 13811 w 476250"/>
                    <a:gd name="connsiteY49" fmla="*/ 203359 h 466725"/>
                    <a:gd name="connsiteX50" fmla="*/ 64294 w 476250"/>
                    <a:gd name="connsiteY50" fmla="*/ 203359 h 466725"/>
                    <a:gd name="connsiteX51" fmla="*/ 64294 w 476250"/>
                    <a:gd name="connsiteY51" fmla="*/ 228124 h 466725"/>
                    <a:gd name="connsiteX52" fmla="*/ 13811 w 476250"/>
                    <a:gd name="connsiteY52" fmla="*/ 228124 h 466725"/>
                    <a:gd name="connsiteX53" fmla="*/ 7144 w 476250"/>
                    <a:gd name="connsiteY53" fmla="*/ 235744 h 466725"/>
                    <a:gd name="connsiteX54" fmla="*/ 7144 w 476250"/>
                    <a:gd name="connsiteY54" fmla="*/ 240506 h 466725"/>
                    <a:gd name="connsiteX55" fmla="*/ 13811 w 476250"/>
                    <a:gd name="connsiteY55" fmla="*/ 247174 h 466725"/>
                    <a:gd name="connsiteX56" fmla="*/ 64294 w 476250"/>
                    <a:gd name="connsiteY56" fmla="*/ 247174 h 466725"/>
                    <a:gd name="connsiteX57" fmla="*/ 64294 w 476250"/>
                    <a:gd name="connsiteY57" fmla="*/ 271939 h 466725"/>
                    <a:gd name="connsiteX58" fmla="*/ 13811 w 476250"/>
                    <a:gd name="connsiteY58" fmla="*/ 271939 h 466725"/>
                    <a:gd name="connsiteX59" fmla="*/ 7144 w 476250"/>
                    <a:gd name="connsiteY59" fmla="*/ 278606 h 466725"/>
                    <a:gd name="connsiteX60" fmla="*/ 7144 w 476250"/>
                    <a:gd name="connsiteY60" fmla="*/ 283369 h 466725"/>
                    <a:gd name="connsiteX61" fmla="*/ 13811 w 476250"/>
                    <a:gd name="connsiteY61" fmla="*/ 290036 h 466725"/>
                    <a:gd name="connsiteX62" fmla="*/ 64294 w 476250"/>
                    <a:gd name="connsiteY62" fmla="*/ 290036 h 466725"/>
                    <a:gd name="connsiteX63" fmla="*/ 64294 w 476250"/>
                    <a:gd name="connsiteY63" fmla="*/ 314801 h 466725"/>
                    <a:gd name="connsiteX64" fmla="*/ 13811 w 476250"/>
                    <a:gd name="connsiteY64" fmla="*/ 314801 h 466725"/>
                    <a:gd name="connsiteX65" fmla="*/ 7144 w 476250"/>
                    <a:gd name="connsiteY65" fmla="*/ 321469 h 466725"/>
                    <a:gd name="connsiteX66" fmla="*/ 7144 w 476250"/>
                    <a:gd name="connsiteY66" fmla="*/ 326231 h 466725"/>
                    <a:gd name="connsiteX67" fmla="*/ 13811 w 476250"/>
                    <a:gd name="connsiteY67" fmla="*/ 332899 h 466725"/>
                    <a:gd name="connsiteX68" fmla="*/ 64294 w 476250"/>
                    <a:gd name="connsiteY68" fmla="*/ 332899 h 466725"/>
                    <a:gd name="connsiteX69" fmla="*/ 64294 w 476250"/>
                    <a:gd name="connsiteY69" fmla="*/ 380524 h 466725"/>
                    <a:gd name="connsiteX70" fmla="*/ 88106 w 476250"/>
                    <a:gd name="connsiteY70" fmla="*/ 404336 h 466725"/>
                    <a:gd name="connsiteX71" fmla="*/ 142399 w 476250"/>
                    <a:gd name="connsiteY71" fmla="*/ 404336 h 466725"/>
                    <a:gd name="connsiteX72" fmla="*/ 142399 w 476250"/>
                    <a:gd name="connsiteY72" fmla="*/ 461486 h 466725"/>
                    <a:gd name="connsiteX73" fmla="*/ 149066 w 476250"/>
                    <a:gd name="connsiteY73" fmla="*/ 468154 h 466725"/>
                    <a:gd name="connsiteX74" fmla="*/ 153829 w 476250"/>
                    <a:gd name="connsiteY74" fmla="*/ 468154 h 466725"/>
                    <a:gd name="connsiteX75" fmla="*/ 160496 w 476250"/>
                    <a:gd name="connsiteY75" fmla="*/ 461486 h 466725"/>
                    <a:gd name="connsiteX76" fmla="*/ 160496 w 476250"/>
                    <a:gd name="connsiteY76" fmla="*/ 404336 h 466725"/>
                    <a:gd name="connsiteX77" fmla="*/ 185261 w 476250"/>
                    <a:gd name="connsiteY77" fmla="*/ 404336 h 466725"/>
                    <a:gd name="connsiteX78" fmla="*/ 185261 w 476250"/>
                    <a:gd name="connsiteY78" fmla="*/ 461486 h 466725"/>
                    <a:gd name="connsiteX79" fmla="*/ 191929 w 476250"/>
                    <a:gd name="connsiteY79" fmla="*/ 468154 h 466725"/>
                    <a:gd name="connsiteX80" fmla="*/ 196691 w 476250"/>
                    <a:gd name="connsiteY80" fmla="*/ 468154 h 466725"/>
                    <a:gd name="connsiteX81" fmla="*/ 203359 w 476250"/>
                    <a:gd name="connsiteY81" fmla="*/ 461486 h 466725"/>
                    <a:gd name="connsiteX82" fmla="*/ 203359 w 476250"/>
                    <a:gd name="connsiteY82" fmla="*/ 404336 h 466725"/>
                    <a:gd name="connsiteX83" fmla="*/ 228124 w 476250"/>
                    <a:gd name="connsiteY83" fmla="*/ 404336 h 466725"/>
                    <a:gd name="connsiteX84" fmla="*/ 228124 w 476250"/>
                    <a:gd name="connsiteY84" fmla="*/ 461486 h 466725"/>
                    <a:gd name="connsiteX85" fmla="*/ 234791 w 476250"/>
                    <a:gd name="connsiteY85" fmla="*/ 468154 h 466725"/>
                    <a:gd name="connsiteX86" fmla="*/ 239554 w 476250"/>
                    <a:gd name="connsiteY86" fmla="*/ 468154 h 466725"/>
                    <a:gd name="connsiteX87" fmla="*/ 246221 w 476250"/>
                    <a:gd name="connsiteY87" fmla="*/ 461486 h 466725"/>
                    <a:gd name="connsiteX88" fmla="*/ 246221 w 476250"/>
                    <a:gd name="connsiteY88" fmla="*/ 404336 h 466725"/>
                    <a:gd name="connsiteX89" fmla="*/ 270986 w 476250"/>
                    <a:gd name="connsiteY89" fmla="*/ 404336 h 466725"/>
                    <a:gd name="connsiteX90" fmla="*/ 270986 w 476250"/>
                    <a:gd name="connsiteY90" fmla="*/ 461486 h 466725"/>
                    <a:gd name="connsiteX91" fmla="*/ 277654 w 476250"/>
                    <a:gd name="connsiteY91" fmla="*/ 468154 h 466725"/>
                    <a:gd name="connsiteX92" fmla="*/ 283369 w 476250"/>
                    <a:gd name="connsiteY92" fmla="*/ 468154 h 466725"/>
                    <a:gd name="connsiteX93" fmla="*/ 290036 w 476250"/>
                    <a:gd name="connsiteY93" fmla="*/ 461486 h 466725"/>
                    <a:gd name="connsiteX94" fmla="*/ 290036 w 476250"/>
                    <a:gd name="connsiteY94" fmla="*/ 404336 h 466725"/>
                    <a:gd name="connsiteX95" fmla="*/ 314801 w 476250"/>
                    <a:gd name="connsiteY95" fmla="*/ 404336 h 466725"/>
                    <a:gd name="connsiteX96" fmla="*/ 314801 w 476250"/>
                    <a:gd name="connsiteY96" fmla="*/ 461486 h 466725"/>
                    <a:gd name="connsiteX97" fmla="*/ 321469 w 476250"/>
                    <a:gd name="connsiteY97" fmla="*/ 468154 h 466725"/>
                    <a:gd name="connsiteX98" fmla="*/ 326231 w 476250"/>
                    <a:gd name="connsiteY98" fmla="*/ 468154 h 466725"/>
                    <a:gd name="connsiteX99" fmla="*/ 332899 w 476250"/>
                    <a:gd name="connsiteY99" fmla="*/ 461486 h 466725"/>
                    <a:gd name="connsiteX100" fmla="*/ 332899 w 476250"/>
                    <a:gd name="connsiteY100" fmla="*/ 404336 h 466725"/>
                    <a:gd name="connsiteX101" fmla="*/ 391001 w 476250"/>
                    <a:gd name="connsiteY101" fmla="*/ 404336 h 466725"/>
                    <a:gd name="connsiteX102" fmla="*/ 414814 w 476250"/>
                    <a:gd name="connsiteY102" fmla="*/ 380524 h 466725"/>
                    <a:gd name="connsiteX103" fmla="*/ 414814 w 476250"/>
                    <a:gd name="connsiteY103" fmla="*/ 332899 h 466725"/>
                    <a:gd name="connsiteX104" fmla="*/ 461486 w 476250"/>
                    <a:gd name="connsiteY104" fmla="*/ 332899 h 466725"/>
                    <a:gd name="connsiteX105" fmla="*/ 468154 w 476250"/>
                    <a:gd name="connsiteY105" fmla="*/ 326231 h 466725"/>
                    <a:gd name="connsiteX106" fmla="*/ 468154 w 476250"/>
                    <a:gd name="connsiteY106" fmla="*/ 321469 h 466725"/>
                    <a:gd name="connsiteX107" fmla="*/ 461486 w 476250"/>
                    <a:gd name="connsiteY107" fmla="*/ 314801 h 466725"/>
                    <a:gd name="connsiteX108" fmla="*/ 414814 w 476250"/>
                    <a:gd name="connsiteY108" fmla="*/ 314801 h 466725"/>
                    <a:gd name="connsiteX109" fmla="*/ 414814 w 476250"/>
                    <a:gd name="connsiteY109" fmla="*/ 290036 h 466725"/>
                    <a:gd name="connsiteX110" fmla="*/ 461486 w 476250"/>
                    <a:gd name="connsiteY110" fmla="*/ 290036 h 466725"/>
                    <a:gd name="connsiteX111" fmla="*/ 468154 w 476250"/>
                    <a:gd name="connsiteY111" fmla="*/ 283369 h 466725"/>
                    <a:gd name="connsiteX112" fmla="*/ 468154 w 476250"/>
                    <a:gd name="connsiteY112" fmla="*/ 278606 h 466725"/>
                    <a:gd name="connsiteX113" fmla="*/ 461486 w 476250"/>
                    <a:gd name="connsiteY113" fmla="*/ 271939 h 466725"/>
                    <a:gd name="connsiteX114" fmla="*/ 414814 w 476250"/>
                    <a:gd name="connsiteY114" fmla="*/ 271939 h 466725"/>
                    <a:gd name="connsiteX115" fmla="*/ 414814 w 476250"/>
                    <a:gd name="connsiteY115" fmla="*/ 247174 h 466725"/>
                    <a:gd name="connsiteX116" fmla="*/ 461486 w 476250"/>
                    <a:gd name="connsiteY116" fmla="*/ 247174 h 466725"/>
                    <a:gd name="connsiteX117" fmla="*/ 468154 w 476250"/>
                    <a:gd name="connsiteY117" fmla="*/ 240506 h 466725"/>
                    <a:gd name="connsiteX118" fmla="*/ 468154 w 476250"/>
                    <a:gd name="connsiteY118" fmla="*/ 235744 h 466725"/>
                    <a:gd name="connsiteX119" fmla="*/ 461486 w 476250"/>
                    <a:gd name="connsiteY119" fmla="*/ 229076 h 466725"/>
                    <a:gd name="connsiteX120" fmla="*/ 414814 w 476250"/>
                    <a:gd name="connsiteY120" fmla="*/ 229076 h 466725"/>
                    <a:gd name="connsiteX121" fmla="*/ 414814 w 476250"/>
                    <a:gd name="connsiteY121" fmla="*/ 204311 h 466725"/>
                    <a:gd name="connsiteX122" fmla="*/ 461486 w 476250"/>
                    <a:gd name="connsiteY122" fmla="*/ 204311 h 466725"/>
                    <a:gd name="connsiteX123" fmla="*/ 468154 w 476250"/>
                    <a:gd name="connsiteY123" fmla="*/ 197644 h 466725"/>
                    <a:gd name="connsiteX124" fmla="*/ 468154 w 476250"/>
                    <a:gd name="connsiteY124" fmla="*/ 192881 h 466725"/>
                    <a:gd name="connsiteX125" fmla="*/ 461486 w 476250"/>
                    <a:gd name="connsiteY125" fmla="*/ 186214 h 466725"/>
                    <a:gd name="connsiteX126" fmla="*/ 414814 w 476250"/>
                    <a:gd name="connsiteY126" fmla="*/ 186214 h 466725"/>
                    <a:gd name="connsiteX127" fmla="*/ 414814 w 476250"/>
                    <a:gd name="connsiteY127" fmla="*/ 161449 h 466725"/>
                    <a:gd name="connsiteX128" fmla="*/ 462439 w 476250"/>
                    <a:gd name="connsiteY128" fmla="*/ 16144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76250" h="466725">
                      <a:moveTo>
                        <a:pt x="462439" y="160496"/>
                      </a:moveTo>
                      <a:cubicBezTo>
                        <a:pt x="466249" y="160496"/>
                        <a:pt x="469106" y="157639"/>
                        <a:pt x="469106" y="153829"/>
                      </a:cubicBezTo>
                      <a:lnTo>
                        <a:pt x="469106" y="149066"/>
                      </a:lnTo>
                      <a:cubicBezTo>
                        <a:pt x="469106" y="145256"/>
                        <a:pt x="466249" y="142399"/>
                        <a:pt x="462439" y="142399"/>
                      </a:cubicBezTo>
                      <a:lnTo>
                        <a:pt x="415766" y="142399"/>
                      </a:lnTo>
                      <a:lnTo>
                        <a:pt x="415766" y="93821"/>
                      </a:lnTo>
                      <a:cubicBezTo>
                        <a:pt x="415766" y="80486"/>
                        <a:pt x="405289" y="70009"/>
                        <a:pt x="391954" y="70009"/>
                      </a:cubicBezTo>
                      <a:lnTo>
                        <a:pt x="333851" y="70009"/>
                      </a:lnTo>
                      <a:lnTo>
                        <a:pt x="333851" y="13811"/>
                      </a:lnTo>
                      <a:cubicBezTo>
                        <a:pt x="333851" y="10001"/>
                        <a:pt x="330994" y="7144"/>
                        <a:pt x="327184" y="7144"/>
                      </a:cubicBezTo>
                      <a:lnTo>
                        <a:pt x="322421" y="7144"/>
                      </a:lnTo>
                      <a:cubicBezTo>
                        <a:pt x="318611" y="7144"/>
                        <a:pt x="315754" y="10001"/>
                        <a:pt x="315754" y="13811"/>
                      </a:cubicBezTo>
                      <a:lnTo>
                        <a:pt x="315754" y="70009"/>
                      </a:lnTo>
                      <a:lnTo>
                        <a:pt x="290989" y="70009"/>
                      </a:lnTo>
                      <a:lnTo>
                        <a:pt x="290989" y="13811"/>
                      </a:lnTo>
                      <a:cubicBezTo>
                        <a:pt x="290989" y="10001"/>
                        <a:pt x="287179" y="7144"/>
                        <a:pt x="283369" y="7144"/>
                      </a:cubicBezTo>
                      <a:lnTo>
                        <a:pt x="278606" y="7144"/>
                      </a:lnTo>
                      <a:cubicBezTo>
                        <a:pt x="274796" y="7144"/>
                        <a:pt x="271939" y="10001"/>
                        <a:pt x="271939" y="13811"/>
                      </a:cubicBezTo>
                      <a:lnTo>
                        <a:pt x="271939" y="70009"/>
                      </a:lnTo>
                      <a:lnTo>
                        <a:pt x="247174" y="70009"/>
                      </a:lnTo>
                      <a:lnTo>
                        <a:pt x="247174" y="13811"/>
                      </a:lnTo>
                      <a:cubicBezTo>
                        <a:pt x="247174" y="10001"/>
                        <a:pt x="244316" y="7144"/>
                        <a:pt x="240506" y="7144"/>
                      </a:cubicBezTo>
                      <a:lnTo>
                        <a:pt x="235744" y="7144"/>
                      </a:lnTo>
                      <a:cubicBezTo>
                        <a:pt x="231934" y="7144"/>
                        <a:pt x="229076" y="10001"/>
                        <a:pt x="229076" y="13811"/>
                      </a:cubicBezTo>
                      <a:lnTo>
                        <a:pt x="229076" y="70009"/>
                      </a:lnTo>
                      <a:lnTo>
                        <a:pt x="204311" y="70009"/>
                      </a:lnTo>
                      <a:lnTo>
                        <a:pt x="204311" y="13811"/>
                      </a:lnTo>
                      <a:cubicBezTo>
                        <a:pt x="204311" y="10001"/>
                        <a:pt x="201454" y="7144"/>
                        <a:pt x="197644" y="7144"/>
                      </a:cubicBezTo>
                      <a:lnTo>
                        <a:pt x="192881" y="7144"/>
                      </a:lnTo>
                      <a:cubicBezTo>
                        <a:pt x="189071" y="7144"/>
                        <a:pt x="186214" y="10001"/>
                        <a:pt x="186214" y="13811"/>
                      </a:cubicBezTo>
                      <a:lnTo>
                        <a:pt x="186214" y="70009"/>
                      </a:lnTo>
                      <a:lnTo>
                        <a:pt x="161449" y="70009"/>
                      </a:lnTo>
                      <a:lnTo>
                        <a:pt x="161449" y="13811"/>
                      </a:lnTo>
                      <a:cubicBezTo>
                        <a:pt x="161449" y="10001"/>
                        <a:pt x="158591" y="7144"/>
                        <a:pt x="154781" y="7144"/>
                      </a:cubicBezTo>
                      <a:lnTo>
                        <a:pt x="150019" y="7144"/>
                      </a:lnTo>
                      <a:cubicBezTo>
                        <a:pt x="146209" y="7144"/>
                        <a:pt x="143351" y="10001"/>
                        <a:pt x="143351" y="13811"/>
                      </a:cubicBezTo>
                      <a:lnTo>
                        <a:pt x="143351" y="70009"/>
                      </a:lnTo>
                      <a:lnTo>
                        <a:pt x="88106" y="70009"/>
                      </a:lnTo>
                      <a:cubicBezTo>
                        <a:pt x="74771" y="70009"/>
                        <a:pt x="64294" y="81439"/>
                        <a:pt x="64294" y="93821"/>
                      </a:cubicBezTo>
                      <a:lnTo>
                        <a:pt x="64294" y="142399"/>
                      </a:lnTo>
                      <a:lnTo>
                        <a:pt x="13811" y="142399"/>
                      </a:lnTo>
                      <a:cubicBezTo>
                        <a:pt x="10001" y="142399"/>
                        <a:pt x="7144" y="145256"/>
                        <a:pt x="7144" y="149066"/>
                      </a:cubicBezTo>
                      <a:lnTo>
                        <a:pt x="7144" y="153829"/>
                      </a:lnTo>
                      <a:cubicBezTo>
                        <a:pt x="7144" y="157639"/>
                        <a:pt x="10001" y="160496"/>
                        <a:pt x="13811" y="160496"/>
                      </a:cubicBezTo>
                      <a:lnTo>
                        <a:pt x="64294" y="160496"/>
                      </a:lnTo>
                      <a:lnTo>
                        <a:pt x="64294" y="185261"/>
                      </a:lnTo>
                      <a:lnTo>
                        <a:pt x="13811" y="185261"/>
                      </a:lnTo>
                      <a:cubicBezTo>
                        <a:pt x="10001" y="185261"/>
                        <a:pt x="7144" y="188119"/>
                        <a:pt x="7144" y="191929"/>
                      </a:cubicBezTo>
                      <a:lnTo>
                        <a:pt x="7144" y="196691"/>
                      </a:lnTo>
                      <a:cubicBezTo>
                        <a:pt x="7144" y="200501"/>
                        <a:pt x="10001" y="203359"/>
                        <a:pt x="13811" y="203359"/>
                      </a:cubicBezTo>
                      <a:lnTo>
                        <a:pt x="64294" y="203359"/>
                      </a:lnTo>
                      <a:lnTo>
                        <a:pt x="64294" y="228124"/>
                      </a:lnTo>
                      <a:lnTo>
                        <a:pt x="13811" y="228124"/>
                      </a:lnTo>
                      <a:cubicBezTo>
                        <a:pt x="10001" y="229076"/>
                        <a:pt x="7144" y="231934"/>
                        <a:pt x="7144" y="235744"/>
                      </a:cubicBezTo>
                      <a:lnTo>
                        <a:pt x="7144" y="240506"/>
                      </a:lnTo>
                      <a:cubicBezTo>
                        <a:pt x="7144" y="244316"/>
                        <a:pt x="10001" y="247174"/>
                        <a:pt x="13811" y="247174"/>
                      </a:cubicBezTo>
                      <a:lnTo>
                        <a:pt x="64294" y="247174"/>
                      </a:lnTo>
                      <a:lnTo>
                        <a:pt x="64294" y="271939"/>
                      </a:lnTo>
                      <a:lnTo>
                        <a:pt x="13811" y="271939"/>
                      </a:lnTo>
                      <a:cubicBezTo>
                        <a:pt x="10001" y="271939"/>
                        <a:pt x="7144" y="274796"/>
                        <a:pt x="7144" y="278606"/>
                      </a:cubicBezTo>
                      <a:lnTo>
                        <a:pt x="7144" y="283369"/>
                      </a:lnTo>
                      <a:cubicBezTo>
                        <a:pt x="7144" y="287179"/>
                        <a:pt x="10001" y="290036"/>
                        <a:pt x="13811" y="290036"/>
                      </a:cubicBezTo>
                      <a:lnTo>
                        <a:pt x="64294" y="290036"/>
                      </a:lnTo>
                      <a:lnTo>
                        <a:pt x="64294" y="314801"/>
                      </a:lnTo>
                      <a:lnTo>
                        <a:pt x="13811" y="314801"/>
                      </a:lnTo>
                      <a:cubicBezTo>
                        <a:pt x="10001" y="314801"/>
                        <a:pt x="7144" y="317659"/>
                        <a:pt x="7144" y="321469"/>
                      </a:cubicBezTo>
                      <a:lnTo>
                        <a:pt x="7144" y="326231"/>
                      </a:lnTo>
                      <a:cubicBezTo>
                        <a:pt x="7144" y="330041"/>
                        <a:pt x="10001" y="332899"/>
                        <a:pt x="13811" y="332899"/>
                      </a:cubicBezTo>
                      <a:lnTo>
                        <a:pt x="64294" y="332899"/>
                      </a:lnTo>
                      <a:lnTo>
                        <a:pt x="64294" y="380524"/>
                      </a:lnTo>
                      <a:cubicBezTo>
                        <a:pt x="64294" y="393859"/>
                        <a:pt x="74771" y="404336"/>
                        <a:pt x="88106" y="404336"/>
                      </a:cubicBezTo>
                      <a:lnTo>
                        <a:pt x="142399" y="404336"/>
                      </a:lnTo>
                      <a:lnTo>
                        <a:pt x="142399" y="461486"/>
                      </a:lnTo>
                      <a:cubicBezTo>
                        <a:pt x="142399" y="465296"/>
                        <a:pt x="145256" y="468154"/>
                        <a:pt x="149066" y="468154"/>
                      </a:cubicBezTo>
                      <a:lnTo>
                        <a:pt x="153829" y="468154"/>
                      </a:lnTo>
                      <a:cubicBezTo>
                        <a:pt x="157639" y="468154"/>
                        <a:pt x="160496" y="465296"/>
                        <a:pt x="160496" y="461486"/>
                      </a:cubicBezTo>
                      <a:lnTo>
                        <a:pt x="160496" y="404336"/>
                      </a:lnTo>
                      <a:lnTo>
                        <a:pt x="185261" y="404336"/>
                      </a:lnTo>
                      <a:lnTo>
                        <a:pt x="185261" y="461486"/>
                      </a:lnTo>
                      <a:cubicBezTo>
                        <a:pt x="185261" y="465296"/>
                        <a:pt x="188119" y="468154"/>
                        <a:pt x="191929" y="468154"/>
                      </a:cubicBezTo>
                      <a:lnTo>
                        <a:pt x="196691" y="468154"/>
                      </a:lnTo>
                      <a:cubicBezTo>
                        <a:pt x="200501" y="468154"/>
                        <a:pt x="203359" y="465296"/>
                        <a:pt x="203359" y="461486"/>
                      </a:cubicBezTo>
                      <a:lnTo>
                        <a:pt x="203359" y="404336"/>
                      </a:lnTo>
                      <a:lnTo>
                        <a:pt x="228124" y="404336"/>
                      </a:lnTo>
                      <a:lnTo>
                        <a:pt x="228124" y="461486"/>
                      </a:lnTo>
                      <a:cubicBezTo>
                        <a:pt x="228124" y="465296"/>
                        <a:pt x="230981" y="468154"/>
                        <a:pt x="234791" y="468154"/>
                      </a:cubicBezTo>
                      <a:lnTo>
                        <a:pt x="239554" y="468154"/>
                      </a:lnTo>
                      <a:cubicBezTo>
                        <a:pt x="243364" y="468154"/>
                        <a:pt x="246221" y="465296"/>
                        <a:pt x="246221" y="461486"/>
                      </a:cubicBezTo>
                      <a:lnTo>
                        <a:pt x="246221" y="404336"/>
                      </a:lnTo>
                      <a:lnTo>
                        <a:pt x="270986" y="404336"/>
                      </a:lnTo>
                      <a:lnTo>
                        <a:pt x="270986" y="461486"/>
                      </a:lnTo>
                      <a:cubicBezTo>
                        <a:pt x="270986" y="465296"/>
                        <a:pt x="273844" y="468154"/>
                        <a:pt x="277654" y="468154"/>
                      </a:cubicBezTo>
                      <a:lnTo>
                        <a:pt x="283369" y="468154"/>
                      </a:lnTo>
                      <a:cubicBezTo>
                        <a:pt x="287179" y="468154"/>
                        <a:pt x="290036" y="465296"/>
                        <a:pt x="290036" y="461486"/>
                      </a:cubicBezTo>
                      <a:lnTo>
                        <a:pt x="290036" y="404336"/>
                      </a:lnTo>
                      <a:lnTo>
                        <a:pt x="314801" y="404336"/>
                      </a:lnTo>
                      <a:lnTo>
                        <a:pt x="314801" y="461486"/>
                      </a:lnTo>
                      <a:cubicBezTo>
                        <a:pt x="314801" y="465296"/>
                        <a:pt x="317659" y="468154"/>
                        <a:pt x="321469" y="468154"/>
                      </a:cubicBezTo>
                      <a:lnTo>
                        <a:pt x="326231" y="468154"/>
                      </a:lnTo>
                      <a:cubicBezTo>
                        <a:pt x="330041" y="468154"/>
                        <a:pt x="332899" y="465296"/>
                        <a:pt x="332899" y="461486"/>
                      </a:cubicBezTo>
                      <a:lnTo>
                        <a:pt x="332899" y="404336"/>
                      </a:lnTo>
                      <a:lnTo>
                        <a:pt x="391001" y="404336"/>
                      </a:lnTo>
                      <a:cubicBezTo>
                        <a:pt x="404336" y="404336"/>
                        <a:pt x="414814" y="393859"/>
                        <a:pt x="414814" y="380524"/>
                      </a:cubicBezTo>
                      <a:lnTo>
                        <a:pt x="414814" y="332899"/>
                      </a:lnTo>
                      <a:lnTo>
                        <a:pt x="461486" y="332899"/>
                      </a:lnTo>
                      <a:cubicBezTo>
                        <a:pt x="465296" y="332899"/>
                        <a:pt x="468154" y="330041"/>
                        <a:pt x="468154" y="326231"/>
                      </a:cubicBezTo>
                      <a:lnTo>
                        <a:pt x="468154" y="321469"/>
                      </a:lnTo>
                      <a:cubicBezTo>
                        <a:pt x="468154" y="317659"/>
                        <a:pt x="465296" y="314801"/>
                        <a:pt x="461486" y="314801"/>
                      </a:cubicBezTo>
                      <a:lnTo>
                        <a:pt x="414814" y="314801"/>
                      </a:lnTo>
                      <a:lnTo>
                        <a:pt x="414814" y="290036"/>
                      </a:lnTo>
                      <a:lnTo>
                        <a:pt x="461486" y="290036"/>
                      </a:lnTo>
                      <a:cubicBezTo>
                        <a:pt x="465296" y="290036"/>
                        <a:pt x="468154" y="287179"/>
                        <a:pt x="468154" y="283369"/>
                      </a:cubicBezTo>
                      <a:lnTo>
                        <a:pt x="468154" y="278606"/>
                      </a:lnTo>
                      <a:cubicBezTo>
                        <a:pt x="468154" y="274796"/>
                        <a:pt x="465296" y="271939"/>
                        <a:pt x="461486" y="271939"/>
                      </a:cubicBezTo>
                      <a:lnTo>
                        <a:pt x="414814" y="271939"/>
                      </a:lnTo>
                      <a:lnTo>
                        <a:pt x="414814" y="247174"/>
                      </a:lnTo>
                      <a:lnTo>
                        <a:pt x="461486" y="247174"/>
                      </a:lnTo>
                      <a:cubicBezTo>
                        <a:pt x="465296" y="247174"/>
                        <a:pt x="468154" y="244316"/>
                        <a:pt x="468154" y="240506"/>
                      </a:cubicBezTo>
                      <a:lnTo>
                        <a:pt x="468154" y="235744"/>
                      </a:lnTo>
                      <a:cubicBezTo>
                        <a:pt x="468154" y="231934"/>
                        <a:pt x="465296" y="229076"/>
                        <a:pt x="461486" y="229076"/>
                      </a:cubicBezTo>
                      <a:lnTo>
                        <a:pt x="414814" y="229076"/>
                      </a:lnTo>
                      <a:lnTo>
                        <a:pt x="414814" y="204311"/>
                      </a:lnTo>
                      <a:lnTo>
                        <a:pt x="461486" y="204311"/>
                      </a:lnTo>
                      <a:cubicBezTo>
                        <a:pt x="465296" y="204311"/>
                        <a:pt x="468154" y="201454"/>
                        <a:pt x="468154" y="197644"/>
                      </a:cubicBezTo>
                      <a:lnTo>
                        <a:pt x="468154" y="192881"/>
                      </a:lnTo>
                      <a:cubicBezTo>
                        <a:pt x="468154" y="189071"/>
                        <a:pt x="465296" y="186214"/>
                        <a:pt x="461486" y="186214"/>
                      </a:cubicBezTo>
                      <a:lnTo>
                        <a:pt x="414814" y="186214"/>
                      </a:lnTo>
                      <a:lnTo>
                        <a:pt x="414814" y="161449"/>
                      </a:lnTo>
                      <a:lnTo>
                        <a:pt x="462439" y="161449"/>
                      </a:lnTo>
                      <a:close/>
                    </a:path>
                  </a:pathLst>
                </a:custGeom>
                <a:solidFill>
                  <a:schemeClr val="bg1"/>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93BEA3D9-9AE5-46B2-A231-8B49AC2E558A}"/>
                    </a:ext>
                  </a:extLst>
                </p:cNvPr>
                <p:cNvSpPr/>
                <p:nvPr/>
              </p:nvSpPr>
              <p:spPr>
                <a:xfrm>
                  <a:off x="1855157" y="2765044"/>
                  <a:ext cx="330249" cy="218182"/>
                </a:xfrm>
                <a:custGeom>
                  <a:avLst/>
                  <a:gdLst/>
                  <a:ahLst/>
                  <a:cxnLst/>
                  <a:rect l="l" t="t" r="r" b="b"/>
                  <a:pathLst>
                    <a:path w="330249" h="218182">
                      <a:moveTo>
                        <a:pt x="117946" y="56554"/>
                      </a:moveTo>
                      <a:lnTo>
                        <a:pt x="94115" y="134987"/>
                      </a:lnTo>
                      <a:lnTo>
                        <a:pt x="142028" y="134987"/>
                      </a:lnTo>
                      <a:close/>
                      <a:moveTo>
                        <a:pt x="262681" y="0"/>
                      </a:moveTo>
                      <a:lnTo>
                        <a:pt x="330249" y="0"/>
                      </a:lnTo>
                      <a:lnTo>
                        <a:pt x="330249" y="218182"/>
                      </a:lnTo>
                      <a:lnTo>
                        <a:pt x="262681" y="218182"/>
                      </a:lnTo>
                      <a:close/>
                      <a:moveTo>
                        <a:pt x="82004" y="0"/>
                      </a:moveTo>
                      <a:lnTo>
                        <a:pt x="155544" y="0"/>
                      </a:lnTo>
                      <a:lnTo>
                        <a:pt x="237529" y="218182"/>
                      </a:lnTo>
                      <a:lnTo>
                        <a:pt x="166929" y="218182"/>
                      </a:lnTo>
                      <a:lnTo>
                        <a:pt x="156013" y="182165"/>
                      </a:lnTo>
                      <a:lnTo>
                        <a:pt x="79472" y="182165"/>
                      </a:lnTo>
                      <a:lnTo>
                        <a:pt x="68837" y="218182"/>
                      </a:lnTo>
                      <a:lnTo>
                        <a:pt x="0" y="21818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8" name="Freeform: Shape 37">
              <a:extLst>
                <a:ext uri="{FF2B5EF4-FFF2-40B4-BE49-F238E27FC236}">
                  <a16:creationId xmlns:a16="http://schemas.microsoft.com/office/drawing/2014/main" id="{616EB048-7D81-463A-970A-20BB88838548}"/>
                </a:ext>
              </a:extLst>
            </p:cNvPr>
            <p:cNvSpPr/>
            <p:nvPr/>
          </p:nvSpPr>
          <p:spPr>
            <a:xfrm>
              <a:off x="1912556" y="2967547"/>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a:p>
          </p:txBody>
        </p:sp>
        <p:sp>
          <p:nvSpPr>
            <p:cNvPr id="39" name="Rectangle 38">
              <a:extLst>
                <a:ext uri="{FF2B5EF4-FFF2-40B4-BE49-F238E27FC236}">
                  <a16:creationId xmlns:a16="http://schemas.microsoft.com/office/drawing/2014/main" id="{EA19F564-C784-4AD8-912A-2FD004D79F20}"/>
                </a:ext>
              </a:extLst>
            </p:cNvPr>
            <p:cNvSpPr/>
            <p:nvPr/>
          </p:nvSpPr>
          <p:spPr>
            <a:xfrm>
              <a:off x="1093177" y="4613033"/>
              <a:ext cx="10005646" cy="6770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D02F4B8E-9B3E-4F0F-A7A3-4E4CCE2F61D7}"/>
              </a:ext>
            </a:extLst>
          </p:cNvPr>
          <p:cNvSpPr txBox="1"/>
          <p:nvPr/>
        </p:nvSpPr>
        <p:spPr>
          <a:xfrm>
            <a:off x="1373448" y="3795747"/>
            <a:ext cx="9153477" cy="677108"/>
          </a:xfrm>
          <a:prstGeom prst="rect">
            <a:avLst/>
          </a:prstGeom>
          <a:solidFill>
            <a:schemeClr val="accent1">
              <a:lumMod val="50000"/>
            </a:schemeClr>
          </a:solidFill>
        </p:spPr>
        <p:txBody>
          <a:bodyPr wrap="square" lIns="36000" tIns="0" rIns="36000" bIns="0" rtlCol="0">
            <a:spAutoFit/>
          </a:bodyPr>
          <a:lstStyle/>
          <a:p>
            <a:r>
              <a:rPr lang="en-US" altLang="ko-KR" sz="4400" dirty="0">
                <a:solidFill>
                  <a:schemeClr val="bg1"/>
                </a:solidFill>
                <a:cs typeface="Arial" pitchFamily="34" charset="0"/>
              </a:rPr>
              <a:t>Advanced Artificial Intelligence</a:t>
            </a:r>
            <a:endParaRPr lang="ko-KR" altLang="en-US" sz="4400" dirty="0">
              <a:solidFill>
                <a:schemeClr val="bg1"/>
              </a:solidFill>
              <a:cs typeface="Arial" pitchFamily="34" charset="0"/>
            </a:endParaRPr>
          </a:p>
        </p:txBody>
      </p:sp>
      <p:sp>
        <p:nvSpPr>
          <p:cNvPr id="2" name="TextBox 1">
            <a:extLst>
              <a:ext uri="{FF2B5EF4-FFF2-40B4-BE49-F238E27FC236}">
                <a16:creationId xmlns:a16="http://schemas.microsoft.com/office/drawing/2014/main" id="{EDB9F391-7E1F-4012-B14B-0323F1643F27}"/>
              </a:ext>
            </a:extLst>
          </p:cNvPr>
          <p:cNvSpPr txBox="1"/>
          <p:nvPr/>
        </p:nvSpPr>
        <p:spPr>
          <a:xfrm>
            <a:off x="8310817" y="5319117"/>
            <a:ext cx="3881183" cy="1538883"/>
          </a:xfrm>
          <a:prstGeom prst="rect">
            <a:avLst/>
          </a:prstGeom>
          <a:solidFill>
            <a:schemeClr val="accent1">
              <a:lumMod val="50000"/>
            </a:schemeClr>
          </a:solidFill>
        </p:spPr>
        <p:txBody>
          <a:bodyPr wrap="square" lIns="36000" tIns="0" rIns="36000" bIns="0" rtlCol="0">
            <a:spAutoFit/>
          </a:bodyPr>
          <a:lstStyle/>
          <a:p>
            <a:r>
              <a:rPr lang="en-US" altLang="ko-KR" sz="2000" b="1" dirty="0">
                <a:solidFill>
                  <a:schemeClr val="bg1"/>
                </a:solidFill>
                <a:cs typeface="Arial" pitchFamily="34" charset="0"/>
              </a:rPr>
              <a:t>Dr. Qurat Ul Ain</a:t>
            </a:r>
          </a:p>
          <a:p>
            <a:r>
              <a:rPr lang="en-US" altLang="ko-KR" sz="2000" dirty="0">
                <a:solidFill>
                  <a:schemeClr val="bg1"/>
                </a:solidFill>
                <a:cs typeface="Arial" pitchFamily="34" charset="0"/>
              </a:rPr>
              <a:t>Assistant Professor</a:t>
            </a:r>
            <a:br>
              <a:rPr lang="en-US" altLang="ko-KR" sz="2000" dirty="0">
                <a:solidFill>
                  <a:schemeClr val="bg1"/>
                </a:solidFill>
                <a:cs typeface="Arial" pitchFamily="34" charset="0"/>
              </a:rPr>
            </a:br>
            <a:r>
              <a:rPr lang="en-US" altLang="ko-KR" sz="2000" dirty="0">
                <a:solidFill>
                  <a:schemeClr val="bg1"/>
                </a:solidFill>
                <a:cs typeface="Arial" pitchFamily="34" charset="0"/>
              </a:rPr>
              <a:t>Dept. of AI &amp; DS</a:t>
            </a:r>
          </a:p>
          <a:p>
            <a:r>
              <a:rPr lang="en-US" altLang="ko-KR" sz="2000" dirty="0">
                <a:solidFill>
                  <a:schemeClr val="bg1"/>
                </a:solidFill>
                <a:cs typeface="Arial" pitchFamily="34" charset="0"/>
              </a:rPr>
              <a:t>FAST NUCES, Islamabad</a:t>
            </a:r>
          </a:p>
          <a:p>
            <a:r>
              <a:rPr lang="en-US" sz="2000" dirty="0">
                <a:solidFill>
                  <a:schemeClr val="bg1"/>
                </a:solidFill>
              </a:rPr>
              <a:t>Email: quratul.ain@isb.nu.edu.pk</a:t>
            </a:r>
          </a:p>
        </p:txBody>
      </p:sp>
      <p:sp>
        <p:nvSpPr>
          <p:cNvPr id="3" name="TextBox 2">
            <a:extLst>
              <a:ext uri="{FF2B5EF4-FFF2-40B4-BE49-F238E27FC236}">
                <a16:creationId xmlns:a16="http://schemas.microsoft.com/office/drawing/2014/main" id="{F5587D2B-81E8-6A6D-CC3C-D10A47D9498F}"/>
              </a:ext>
            </a:extLst>
          </p:cNvPr>
          <p:cNvSpPr txBox="1"/>
          <p:nvPr/>
        </p:nvSpPr>
        <p:spPr>
          <a:xfrm>
            <a:off x="4704777" y="4647347"/>
            <a:ext cx="2062264" cy="375809"/>
          </a:xfrm>
          <a:prstGeom prst="rect">
            <a:avLst/>
          </a:prstGeom>
          <a:solidFill>
            <a:schemeClr val="accent1">
              <a:lumMod val="50000"/>
            </a:schemeClr>
          </a:solidFill>
        </p:spPr>
        <p:txBody>
          <a:bodyPr wrap="square" lIns="36000" tIns="0" rIns="36000" bIns="0" rtlCol="0">
            <a:spAutoFit/>
          </a:bodyPr>
          <a:lstStyle/>
          <a:p>
            <a:r>
              <a:rPr lang="en-US" altLang="ko-KR" sz="2400" dirty="0">
                <a:solidFill>
                  <a:schemeClr val="bg1"/>
                </a:solidFill>
                <a:cs typeface="Arial" pitchFamily="34" charset="0"/>
              </a:rPr>
              <a:t>   Week #6</a:t>
            </a:r>
            <a:endParaRPr lang="ko-KR" altLang="en-US" sz="2400" dirty="0">
              <a:solidFill>
                <a:schemeClr val="bg1"/>
              </a:solidFill>
              <a:cs typeface="Arial" pitchFamily="34" charset="0"/>
            </a:endParaRPr>
          </a:p>
        </p:txBody>
      </p:sp>
    </p:spTree>
    <p:extLst>
      <p:ext uri="{BB962C8B-B14F-4D97-AF65-F5344CB8AC3E}">
        <p14:creationId xmlns:p14="http://schemas.microsoft.com/office/powerpoint/2010/main" val="364955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9910" b="9910"/>
          <a:stretch>
            <a:fillRect/>
          </a:stretch>
        </p:blipFill>
        <p:spPr/>
      </p:pic>
    </p:spTree>
    <p:extLst>
      <p:ext uri="{BB962C8B-B14F-4D97-AF65-F5344CB8AC3E}">
        <p14:creationId xmlns:p14="http://schemas.microsoft.com/office/powerpoint/2010/main" val="1239047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Learning Objective of this Topic </a:t>
            </a:r>
            <a:endParaRPr lang="en-GB" dirty="0"/>
          </a:p>
        </p:txBody>
      </p:sp>
      <p:sp>
        <p:nvSpPr>
          <p:cNvPr id="3" name="Content Placeholder 2"/>
          <p:cNvSpPr>
            <a:spLocks noGrp="1"/>
          </p:cNvSpPr>
          <p:nvPr>
            <p:ph idx="1"/>
          </p:nvPr>
        </p:nvSpPr>
        <p:spPr>
          <a:xfrm>
            <a:off x="2589212" y="1765738"/>
            <a:ext cx="8915400" cy="4876800"/>
          </a:xfrm>
        </p:spPr>
        <p:txBody>
          <a:bodyPr>
            <a:normAutofit/>
          </a:bodyPr>
          <a:lstStyle/>
          <a:p>
            <a:pPr algn="just">
              <a:lnSpc>
                <a:spcPct val="170000"/>
              </a:lnSpc>
            </a:pPr>
            <a:r>
              <a:rPr lang="en-GB" dirty="0"/>
              <a:t>AI, ML, DL (Difference)</a:t>
            </a:r>
          </a:p>
          <a:p>
            <a:pPr algn="just">
              <a:lnSpc>
                <a:spcPct val="170000"/>
              </a:lnSpc>
            </a:pPr>
            <a:r>
              <a:rPr lang="en-GB" dirty="0"/>
              <a:t>What is Machine Learning?</a:t>
            </a:r>
          </a:p>
          <a:p>
            <a:pPr algn="just">
              <a:lnSpc>
                <a:spcPct val="170000"/>
              </a:lnSpc>
            </a:pPr>
            <a:r>
              <a:rPr lang="en-GB" dirty="0"/>
              <a:t>Types of Machine Learning</a:t>
            </a:r>
          </a:p>
          <a:p>
            <a:pPr algn="just">
              <a:lnSpc>
                <a:spcPct val="170000"/>
              </a:lnSpc>
            </a:pPr>
            <a:r>
              <a:rPr lang="en-GB" dirty="0"/>
              <a:t>Supervised Learning </a:t>
            </a:r>
          </a:p>
          <a:p>
            <a:pPr lvl="1" algn="just">
              <a:lnSpc>
                <a:spcPct val="170000"/>
              </a:lnSpc>
            </a:pPr>
            <a:r>
              <a:rPr lang="en-GB" dirty="0"/>
              <a:t>K-Nearest Neighbour Classification Algorithm</a:t>
            </a:r>
          </a:p>
          <a:p>
            <a:pPr lvl="2" algn="just">
              <a:lnSpc>
                <a:spcPct val="170000"/>
              </a:lnSpc>
            </a:pPr>
            <a:r>
              <a:rPr lang="en-GB" dirty="0"/>
              <a:t>Examples</a:t>
            </a:r>
          </a:p>
          <a:p>
            <a:pPr lvl="2" algn="just">
              <a:lnSpc>
                <a:spcPct val="170000"/>
              </a:lnSpc>
            </a:pPr>
            <a:r>
              <a:rPr lang="en-GB" dirty="0"/>
              <a:t>Real World Applications</a:t>
            </a:r>
          </a:p>
          <a:p>
            <a:pPr lvl="2" algn="just">
              <a:lnSpc>
                <a:spcPct val="170000"/>
              </a:lnSpc>
            </a:pPr>
            <a:r>
              <a:rPr lang="en-GB" dirty="0"/>
              <a:t>Advantages &amp; Disadvantages </a:t>
            </a:r>
          </a:p>
          <a:p>
            <a:pPr lvl="2" algn="just">
              <a:lnSpc>
                <a:spcPct val="170000"/>
              </a:lnSpc>
            </a:pPr>
            <a:r>
              <a:rPr lang="en-GB" dirty="0"/>
              <a:t>Class Activity</a:t>
            </a:r>
          </a:p>
        </p:txBody>
      </p:sp>
      <p:sp>
        <p:nvSpPr>
          <p:cNvPr id="4" name="Slide Number Placeholder 4"/>
          <p:cNvSpPr>
            <a:spLocks noGrp="1"/>
          </p:cNvSpPr>
          <p:nvPr>
            <p:ph type="sldNum" sz="quarter" idx="12"/>
          </p:nvPr>
        </p:nvSpPr>
        <p:spPr>
          <a:xfrm>
            <a:off x="11353800" y="6356350"/>
            <a:ext cx="515080" cy="365125"/>
          </a:xfrm>
          <a:prstGeom prst="rect">
            <a:avLst/>
          </a:prstGeom>
        </p:spPr>
        <p:txBody>
          <a:bodyPr/>
          <a:lstStyle/>
          <a:p>
            <a:r>
              <a:rPr lang="en-US" dirty="0"/>
              <a:t>2</a:t>
            </a:r>
          </a:p>
        </p:txBody>
      </p:sp>
    </p:spTree>
    <p:extLst>
      <p:ext uri="{BB962C8B-B14F-4D97-AF65-F5344CB8AC3E}">
        <p14:creationId xmlns:p14="http://schemas.microsoft.com/office/powerpoint/2010/main" val="3299797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42D4F-9407-1B38-BB4C-5D5097836190}"/>
              </a:ext>
            </a:extLst>
          </p:cNvPr>
          <p:cNvSpPr>
            <a:spLocks noGrp="1"/>
          </p:cNvSpPr>
          <p:nvPr>
            <p:ph idx="1"/>
          </p:nvPr>
        </p:nvSpPr>
        <p:spPr>
          <a:xfrm>
            <a:off x="414688" y="3580600"/>
            <a:ext cx="5225716" cy="2810576"/>
          </a:xfrm>
        </p:spPr>
        <p:txBody>
          <a:bodyPr>
            <a:normAutofit/>
          </a:bodyPr>
          <a:lstStyle/>
          <a:p>
            <a:pPr marL="0" indent="0">
              <a:lnSpc>
                <a:spcPct val="150000"/>
              </a:lnSpc>
              <a:buNone/>
            </a:pPr>
            <a:r>
              <a:rPr lang="en-US" sz="5400" dirty="0">
                <a:latin typeface="Ink Free" panose="03080402000500000000" pitchFamily="66" charset="0"/>
              </a:rPr>
              <a:t>AI, ML, DL</a:t>
            </a:r>
          </a:p>
          <a:p>
            <a:pPr marL="0" indent="0">
              <a:lnSpc>
                <a:spcPct val="150000"/>
              </a:lnSpc>
              <a:buNone/>
            </a:pPr>
            <a:r>
              <a:rPr lang="en-US" sz="5400" dirty="0">
                <a:latin typeface="Ink Free" panose="03080402000500000000" pitchFamily="66" charset="0"/>
              </a:rPr>
              <a:t>(Difference)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3825" y="640381"/>
            <a:ext cx="10058400" cy="5280660"/>
          </a:xfrm>
          <a:prstGeom prst="rect">
            <a:avLst/>
          </a:prstGeom>
        </p:spPr>
      </p:pic>
    </p:spTree>
    <p:extLst>
      <p:ext uri="{BB962C8B-B14F-4D97-AF65-F5344CB8AC3E}">
        <p14:creationId xmlns:p14="http://schemas.microsoft.com/office/powerpoint/2010/main" val="2460074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vs Machine Learning vs Deep Learning</a:t>
            </a:r>
          </a:p>
        </p:txBody>
      </p:sp>
      <p:sp>
        <p:nvSpPr>
          <p:cNvPr id="3" name="Content Placeholder 2"/>
          <p:cNvSpPr>
            <a:spLocks noGrp="1"/>
          </p:cNvSpPr>
          <p:nvPr>
            <p:ph idx="1"/>
          </p:nvPr>
        </p:nvSpPr>
        <p:spPr/>
        <p:txBody>
          <a:bodyPr/>
          <a:lstStyle/>
          <a:p>
            <a:endParaRPr lang="en-GB"/>
          </a:p>
        </p:txBody>
      </p:sp>
      <p:pic>
        <p:nvPicPr>
          <p:cNvPr id="5" name="Picture 4"/>
          <p:cNvPicPr>
            <a:picLocks noChangeAspect="1"/>
          </p:cNvPicPr>
          <p:nvPr/>
        </p:nvPicPr>
        <p:blipFill>
          <a:blip r:embed="rId2"/>
          <a:stretch>
            <a:fillRect/>
          </a:stretch>
        </p:blipFill>
        <p:spPr>
          <a:xfrm>
            <a:off x="4219453" y="1828800"/>
            <a:ext cx="5224636" cy="5029200"/>
          </a:xfrm>
          <a:prstGeom prst="rect">
            <a:avLst/>
          </a:prstGeom>
        </p:spPr>
      </p:pic>
    </p:spTree>
    <p:extLst>
      <p:ext uri="{BB962C8B-B14F-4D97-AF65-F5344CB8AC3E}">
        <p14:creationId xmlns:p14="http://schemas.microsoft.com/office/powerpoint/2010/main" val="3345598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AI</a:t>
            </a:r>
          </a:p>
        </p:txBody>
      </p:sp>
      <p:sp>
        <p:nvSpPr>
          <p:cNvPr id="3" name="Content Placeholder 2"/>
          <p:cNvSpPr>
            <a:spLocks noGrp="1"/>
          </p:cNvSpPr>
          <p:nvPr>
            <p:ph idx="1"/>
          </p:nvPr>
        </p:nvSpPr>
        <p:spPr>
          <a:xfrm>
            <a:off x="2088698" y="1904198"/>
            <a:ext cx="8915400" cy="3777622"/>
          </a:xfrm>
        </p:spPr>
        <p:txBody>
          <a:bodyPr/>
          <a:lstStyle/>
          <a:p>
            <a:pPr marL="0" indent="0">
              <a:buNone/>
            </a:pPr>
            <a:r>
              <a:rPr lang="en-US" dirty="0"/>
              <a:t>Problem:</a:t>
            </a:r>
          </a:p>
          <a:p>
            <a:r>
              <a:rPr lang="en-US" dirty="0"/>
              <a:t>Given a set of connected points, find if the points form a </a:t>
            </a:r>
            <a:r>
              <a:rPr lang="en-US" dirty="0">
                <a:solidFill>
                  <a:srgbClr val="FF0000"/>
                </a:solidFill>
              </a:rPr>
              <a:t>circle</a:t>
            </a:r>
            <a:r>
              <a:rPr lang="en-US" dirty="0"/>
              <a:t> or a </a:t>
            </a:r>
            <a:r>
              <a:rPr lang="en-US" dirty="0">
                <a:solidFill>
                  <a:srgbClr val="FF0000"/>
                </a:solidFill>
              </a:rPr>
              <a:t>square</a:t>
            </a:r>
            <a:r>
              <a:rPr lang="en-US" dirty="0"/>
              <a:t>?</a:t>
            </a:r>
          </a:p>
        </p:txBody>
      </p:sp>
      <p:pic>
        <p:nvPicPr>
          <p:cNvPr id="6" name="Picture 5"/>
          <p:cNvPicPr>
            <a:picLocks noChangeAspect="1"/>
          </p:cNvPicPr>
          <p:nvPr/>
        </p:nvPicPr>
        <p:blipFill>
          <a:blip r:embed="rId3"/>
          <a:stretch>
            <a:fillRect/>
          </a:stretch>
        </p:blipFill>
        <p:spPr>
          <a:xfrm>
            <a:off x="1789656" y="2754376"/>
            <a:ext cx="4170997" cy="3442619"/>
          </a:xfrm>
          <a:prstGeom prst="rect">
            <a:avLst/>
          </a:prstGeom>
        </p:spPr>
      </p:pic>
      <p:pic>
        <p:nvPicPr>
          <p:cNvPr id="7" name="Picture 6"/>
          <p:cNvPicPr>
            <a:picLocks noChangeAspect="1"/>
          </p:cNvPicPr>
          <p:nvPr/>
        </p:nvPicPr>
        <p:blipFill>
          <a:blip r:embed="rId4"/>
          <a:stretch>
            <a:fillRect/>
          </a:stretch>
        </p:blipFill>
        <p:spPr>
          <a:xfrm>
            <a:off x="6654265" y="2754376"/>
            <a:ext cx="4163948" cy="3332488"/>
          </a:xfrm>
          <a:prstGeom prst="rect">
            <a:avLst/>
          </a:prstGeom>
        </p:spPr>
      </p:pic>
    </p:spTree>
    <p:extLst>
      <p:ext uri="{BB962C8B-B14F-4D97-AF65-F5344CB8AC3E}">
        <p14:creationId xmlns:p14="http://schemas.microsoft.com/office/powerpoint/2010/main" val="2013904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AI</a:t>
            </a:r>
          </a:p>
        </p:txBody>
      </p:sp>
      <p:sp>
        <p:nvSpPr>
          <p:cNvPr id="3" name="Content Placeholder 2"/>
          <p:cNvSpPr>
            <a:spLocks noGrp="1"/>
          </p:cNvSpPr>
          <p:nvPr>
            <p:ph idx="1"/>
          </p:nvPr>
        </p:nvSpPr>
        <p:spPr>
          <a:xfrm>
            <a:off x="1905818" y="2019300"/>
            <a:ext cx="8915400" cy="3777622"/>
          </a:xfrm>
        </p:spPr>
        <p:txBody>
          <a:bodyPr>
            <a:normAutofit/>
          </a:bodyPr>
          <a:lstStyle/>
          <a:p>
            <a:r>
              <a:rPr lang="en-US" dirty="0"/>
              <a:t>Features</a:t>
            </a:r>
          </a:p>
          <a:p>
            <a:pPr lvl="1"/>
            <a:r>
              <a:rPr lang="en-US" dirty="0"/>
              <a:t>1)	Number of corners</a:t>
            </a:r>
          </a:p>
          <a:p>
            <a:pPr lvl="1"/>
            <a:r>
              <a:rPr lang="en-US" dirty="0"/>
              <a:t>2)	Number of equal Sides</a:t>
            </a:r>
          </a:p>
          <a:p>
            <a:pPr lvl="1"/>
            <a:endParaRPr lang="en-US" dirty="0"/>
          </a:p>
          <a:p>
            <a:pPr marL="457200" lvl="1" indent="0">
              <a:buNone/>
            </a:pPr>
            <a:r>
              <a:rPr lang="en-US" dirty="0"/>
              <a:t>Rule base:</a:t>
            </a:r>
          </a:p>
          <a:p>
            <a:pPr marL="457200" lvl="1" indent="0">
              <a:buNone/>
            </a:pPr>
            <a:r>
              <a:rPr lang="en-US" dirty="0"/>
              <a:t>If (number of corners == 4) and (equal sides == 4)</a:t>
            </a:r>
          </a:p>
          <a:p>
            <a:pPr marL="457200" lvl="1" indent="0">
              <a:buNone/>
            </a:pPr>
            <a:r>
              <a:rPr lang="en-US" dirty="0"/>
              <a:t>	points form square</a:t>
            </a:r>
          </a:p>
          <a:p>
            <a:pPr marL="457200" lvl="1" indent="0">
              <a:buNone/>
            </a:pPr>
            <a:r>
              <a:rPr lang="en-US" dirty="0"/>
              <a:t>Else</a:t>
            </a:r>
          </a:p>
          <a:p>
            <a:pPr marL="457200" lvl="1" indent="0">
              <a:buNone/>
            </a:pPr>
            <a:r>
              <a:rPr lang="en-US" dirty="0"/>
              <a:t>	points form circle</a:t>
            </a:r>
          </a:p>
        </p:txBody>
      </p:sp>
      <p:pic>
        <p:nvPicPr>
          <p:cNvPr id="4" name="Picture 3"/>
          <p:cNvPicPr>
            <a:picLocks noChangeAspect="1"/>
          </p:cNvPicPr>
          <p:nvPr/>
        </p:nvPicPr>
        <p:blipFill>
          <a:blip r:embed="rId2"/>
          <a:stretch>
            <a:fillRect/>
          </a:stretch>
        </p:blipFill>
        <p:spPr>
          <a:xfrm>
            <a:off x="7775262" y="1826327"/>
            <a:ext cx="4325365" cy="4163568"/>
          </a:xfrm>
          <a:prstGeom prst="rect">
            <a:avLst/>
          </a:prstGeom>
        </p:spPr>
      </p:pic>
      <p:sp>
        <p:nvSpPr>
          <p:cNvPr id="5" name="Rectangle 4"/>
          <p:cNvSpPr/>
          <p:nvPr/>
        </p:nvSpPr>
        <p:spPr>
          <a:xfrm>
            <a:off x="2140633" y="3428864"/>
            <a:ext cx="5230368" cy="21092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Curved Connector 8"/>
          <p:cNvCxnSpPr/>
          <p:nvPr/>
        </p:nvCxnSpPr>
        <p:spPr>
          <a:xfrm rot="10800000" flipV="1">
            <a:off x="7046912" y="2728541"/>
            <a:ext cx="2279904" cy="1045690"/>
          </a:xfrm>
          <a:prstGeom prst="curvedConnector3">
            <a:avLst>
              <a:gd name="adj1" fmla="val 67647"/>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1433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with classical AI</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2743200" y="1930400"/>
            <a:ext cx="3799332" cy="3114712"/>
          </a:xfrm>
          <a:prstGeom prst="rect">
            <a:avLst/>
          </a:prstGeom>
        </p:spPr>
      </p:pic>
      <p:sp>
        <p:nvSpPr>
          <p:cNvPr id="5" name="Rectangle 4"/>
          <p:cNvSpPr/>
          <p:nvPr/>
        </p:nvSpPr>
        <p:spPr>
          <a:xfrm>
            <a:off x="3432069" y="5247594"/>
            <a:ext cx="2092239" cy="369332"/>
          </a:xfrm>
          <a:prstGeom prst="rect">
            <a:avLst/>
          </a:prstGeom>
        </p:spPr>
        <p:txBody>
          <a:bodyPr wrap="none">
            <a:spAutoFit/>
          </a:bodyPr>
          <a:lstStyle/>
          <a:p>
            <a:r>
              <a:rPr lang="en-US" dirty="0"/>
              <a:t>Square or a circle?</a:t>
            </a:r>
          </a:p>
        </p:txBody>
      </p:sp>
    </p:spTree>
    <p:extLst>
      <p:ext uri="{BB962C8B-B14F-4D97-AF65-F5344CB8AC3E}">
        <p14:creationId xmlns:p14="http://schemas.microsoft.com/office/powerpoint/2010/main" val="904276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ML</a:t>
            </a:r>
          </a:p>
        </p:txBody>
      </p:sp>
      <p:sp>
        <p:nvSpPr>
          <p:cNvPr id="3" name="Content Placeholder 2"/>
          <p:cNvSpPr>
            <a:spLocks noGrp="1"/>
          </p:cNvSpPr>
          <p:nvPr>
            <p:ph idx="1"/>
          </p:nvPr>
        </p:nvSpPr>
        <p:spPr/>
        <p:txBody>
          <a:bodyPr>
            <a:normAutofit lnSpcReduction="10000"/>
          </a:bodyPr>
          <a:lstStyle/>
          <a:p>
            <a:r>
              <a:rPr lang="en-US" dirty="0"/>
              <a:t>Features</a:t>
            </a:r>
          </a:p>
          <a:p>
            <a:pPr lvl="1"/>
            <a:r>
              <a:rPr lang="en-US" dirty="0"/>
              <a:t>1)	Number of corners</a:t>
            </a:r>
          </a:p>
          <a:p>
            <a:pPr lvl="1"/>
            <a:r>
              <a:rPr lang="en-US" dirty="0"/>
              <a:t>2)	Equal Sides</a:t>
            </a:r>
          </a:p>
          <a:p>
            <a:pPr lvl="1"/>
            <a:endParaRPr lang="en-US" dirty="0"/>
          </a:p>
          <a:p>
            <a:pPr lvl="1"/>
            <a:endParaRPr lang="en-US" dirty="0"/>
          </a:p>
          <a:p>
            <a:pPr marL="457200" lvl="1" indent="0">
              <a:buNone/>
            </a:pPr>
            <a:r>
              <a:rPr lang="en-US" dirty="0"/>
              <a:t>Training Phase:</a:t>
            </a:r>
          </a:p>
          <a:p>
            <a:pPr marL="800100" lvl="1" indent="-342900">
              <a:buAutoNum type="arabicParenR"/>
            </a:pPr>
            <a:r>
              <a:rPr lang="en-US" dirty="0"/>
              <a:t>Take 3 examples of circles and 3 examples of squares</a:t>
            </a:r>
          </a:p>
          <a:p>
            <a:pPr marL="800100" lvl="1" indent="-342900">
              <a:buAutoNum type="arabicParenR"/>
            </a:pPr>
            <a:r>
              <a:rPr lang="en-US" dirty="0"/>
              <a:t>For each example, compute features (number of corners, number of sides that are equal)</a:t>
            </a:r>
          </a:p>
          <a:p>
            <a:pPr marL="800100" lvl="1" indent="-342900">
              <a:buAutoNum type="arabicParenR"/>
            </a:pPr>
            <a:r>
              <a:rPr lang="en-US" dirty="0"/>
              <a:t>Also tell the computer that whether extracted features are taken from a circle or a square</a:t>
            </a:r>
          </a:p>
        </p:txBody>
      </p:sp>
      <p:pic>
        <p:nvPicPr>
          <p:cNvPr id="4" name="Picture 3"/>
          <p:cNvPicPr>
            <a:picLocks noChangeAspect="1"/>
          </p:cNvPicPr>
          <p:nvPr/>
        </p:nvPicPr>
        <p:blipFill>
          <a:blip r:embed="rId3"/>
          <a:stretch>
            <a:fillRect/>
          </a:stretch>
        </p:blipFill>
        <p:spPr>
          <a:xfrm>
            <a:off x="8296336" y="212275"/>
            <a:ext cx="3754494" cy="3614051"/>
          </a:xfrm>
          <a:prstGeom prst="rect">
            <a:avLst/>
          </a:prstGeom>
        </p:spPr>
      </p:pic>
      <p:sp>
        <p:nvSpPr>
          <p:cNvPr id="5" name="Rectangle 4"/>
          <p:cNvSpPr/>
          <p:nvPr/>
        </p:nvSpPr>
        <p:spPr>
          <a:xfrm>
            <a:off x="2687382" y="3802006"/>
            <a:ext cx="8817230" cy="21092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Curved Connector 8"/>
          <p:cNvCxnSpPr/>
          <p:nvPr/>
        </p:nvCxnSpPr>
        <p:spPr>
          <a:xfrm rot="5400000">
            <a:off x="6981206" y="2152368"/>
            <a:ext cx="2333161" cy="1838425"/>
          </a:xfrm>
          <a:prstGeom prst="curvedConnector3">
            <a:avLst>
              <a:gd name="adj1" fmla="val 50000"/>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782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ML: Feature space</a:t>
            </a:r>
          </a:p>
        </p:txBody>
      </p:sp>
      <p:sp>
        <p:nvSpPr>
          <p:cNvPr id="3" name="Content Placeholder 2"/>
          <p:cNvSpPr>
            <a:spLocks noGrp="1"/>
          </p:cNvSpPr>
          <p:nvPr>
            <p:ph idx="1"/>
          </p:nvPr>
        </p:nvSpPr>
        <p:spPr>
          <a:xfrm>
            <a:off x="2589212" y="2133600"/>
            <a:ext cx="3416952" cy="3777622"/>
          </a:xfrm>
        </p:spPr>
        <p:txBody>
          <a:bodyPr/>
          <a:lstStyle/>
          <a:p>
            <a:r>
              <a:rPr lang="en-US" dirty="0"/>
              <a:t>During training, we give machine all examples of different shapes that look similar to a circle or square</a:t>
            </a:r>
          </a:p>
          <a:p>
            <a:endParaRPr lang="en-US" dirty="0"/>
          </a:p>
          <a:p>
            <a:r>
              <a:rPr lang="en-US" dirty="0"/>
              <a:t>Red ones similar to a circle, blue ones similar to a square.</a:t>
            </a:r>
          </a:p>
        </p:txBody>
      </p:sp>
      <p:pic>
        <p:nvPicPr>
          <p:cNvPr id="5" name="Picture 4"/>
          <p:cNvPicPr>
            <a:picLocks noChangeAspect="1"/>
          </p:cNvPicPr>
          <p:nvPr/>
        </p:nvPicPr>
        <p:blipFill>
          <a:blip r:embed="rId3"/>
          <a:stretch>
            <a:fillRect/>
          </a:stretch>
        </p:blipFill>
        <p:spPr>
          <a:xfrm>
            <a:off x="6126707" y="1683620"/>
            <a:ext cx="5766880" cy="4572504"/>
          </a:xfrm>
          <a:prstGeom prst="rect">
            <a:avLst/>
          </a:prstGeom>
        </p:spPr>
      </p:pic>
    </p:spTree>
    <p:extLst>
      <p:ext uri="{BB962C8B-B14F-4D97-AF65-F5344CB8AC3E}">
        <p14:creationId xmlns:p14="http://schemas.microsoft.com/office/powerpoint/2010/main" val="2453627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ML: Feature space</a:t>
            </a:r>
          </a:p>
        </p:txBody>
      </p:sp>
      <p:graphicFrame>
        <p:nvGraphicFramePr>
          <p:cNvPr id="6" name="Content Placeholder 5"/>
          <p:cNvGraphicFramePr>
            <a:graphicFrameLocks noGrp="1"/>
          </p:cNvGraphicFramePr>
          <p:nvPr>
            <p:ph idx="1"/>
          </p:nvPr>
        </p:nvGraphicFramePr>
        <p:xfrm>
          <a:off x="2589213" y="2133600"/>
          <a:ext cx="8915400" cy="3608829"/>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515547">
                <a:tc>
                  <a:txBody>
                    <a:bodyPr/>
                    <a:lstStyle/>
                    <a:p>
                      <a:r>
                        <a:rPr lang="en-US" dirty="0"/>
                        <a:t>Class</a:t>
                      </a:r>
                    </a:p>
                  </a:txBody>
                  <a:tcPr marL="194150" marR="194150"/>
                </a:tc>
                <a:tc>
                  <a:txBody>
                    <a:bodyPr/>
                    <a:lstStyle/>
                    <a:p>
                      <a:r>
                        <a:rPr lang="en-US" dirty="0"/>
                        <a:t>Number</a:t>
                      </a:r>
                      <a:r>
                        <a:rPr lang="en-US" baseline="0" dirty="0"/>
                        <a:t> of corners</a:t>
                      </a:r>
                      <a:endParaRPr lang="en-US" dirty="0"/>
                    </a:p>
                  </a:txBody>
                  <a:tcPr marL="194150" marR="194150"/>
                </a:tc>
                <a:tc>
                  <a:txBody>
                    <a:bodyPr/>
                    <a:lstStyle/>
                    <a:p>
                      <a:r>
                        <a:rPr lang="en-US" dirty="0"/>
                        <a:t>Number of equal sides</a:t>
                      </a:r>
                    </a:p>
                  </a:txBody>
                  <a:tcPr marL="194150" marR="194150"/>
                </a:tc>
                <a:extLst>
                  <a:ext uri="{0D108BD9-81ED-4DB2-BD59-A6C34878D82A}">
                    <a16:rowId xmlns:a16="http://schemas.microsoft.com/office/drawing/2014/main" val="10000"/>
                  </a:ext>
                </a:extLst>
              </a:tr>
              <a:tr h="515547">
                <a:tc>
                  <a:txBody>
                    <a:bodyPr/>
                    <a:lstStyle/>
                    <a:p>
                      <a:r>
                        <a:rPr lang="en-US" dirty="0"/>
                        <a:t>Square</a:t>
                      </a:r>
                    </a:p>
                  </a:txBody>
                  <a:tcPr marL="194150" marR="194150"/>
                </a:tc>
                <a:tc>
                  <a:txBody>
                    <a:bodyPr/>
                    <a:lstStyle/>
                    <a:p>
                      <a:r>
                        <a:rPr lang="en-US" dirty="0"/>
                        <a:t>5</a:t>
                      </a:r>
                    </a:p>
                  </a:txBody>
                  <a:tcPr marL="194150" marR="194150"/>
                </a:tc>
                <a:tc>
                  <a:txBody>
                    <a:bodyPr/>
                    <a:lstStyle/>
                    <a:p>
                      <a:r>
                        <a:rPr lang="en-US" dirty="0"/>
                        <a:t>5</a:t>
                      </a:r>
                    </a:p>
                  </a:txBody>
                  <a:tcPr marL="194150" marR="194150"/>
                </a:tc>
                <a:extLst>
                  <a:ext uri="{0D108BD9-81ED-4DB2-BD59-A6C34878D82A}">
                    <a16:rowId xmlns:a16="http://schemas.microsoft.com/office/drawing/2014/main" val="10001"/>
                  </a:ext>
                </a:extLst>
              </a:tr>
              <a:tr h="515547">
                <a:tc>
                  <a:txBody>
                    <a:bodyPr/>
                    <a:lstStyle/>
                    <a:p>
                      <a:r>
                        <a:rPr lang="en-US" dirty="0"/>
                        <a:t>Square</a:t>
                      </a:r>
                    </a:p>
                  </a:txBody>
                  <a:tcPr marL="194150" marR="194150"/>
                </a:tc>
                <a:tc>
                  <a:txBody>
                    <a:bodyPr/>
                    <a:lstStyle/>
                    <a:p>
                      <a:r>
                        <a:rPr lang="en-US" dirty="0"/>
                        <a:t>4</a:t>
                      </a:r>
                    </a:p>
                  </a:txBody>
                  <a:tcPr marL="194150" marR="194150"/>
                </a:tc>
                <a:tc>
                  <a:txBody>
                    <a:bodyPr/>
                    <a:lstStyle/>
                    <a:p>
                      <a:r>
                        <a:rPr lang="en-US" dirty="0"/>
                        <a:t>4</a:t>
                      </a:r>
                    </a:p>
                  </a:txBody>
                  <a:tcPr marL="194150" marR="194150"/>
                </a:tc>
                <a:extLst>
                  <a:ext uri="{0D108BD9-81ED-4DB2-BD59-A6C34878D82A}">
                    <a16:rowId xmlns:a16="http://schemas.microsoft.com/office/drawing/2014/main" val="10002"/>
                  </a:ext>
                </a:extLst>
              </a:tr>
              <a:tr h="515547">
                <a:tc>
                  <a:txBody>
                    <a:bodyPr/>
                    <a:lstStyle/>
                    <a:p>
                      <a:r>
                        <a:rPr lang="en-US" dirty="0"/>
                        <a:t>Circle</a:t>
                      </a:r>
                    </a:p>
                  </a:txBody>
                  <a:tcPr marL="194150" marR="194150"/>
                </a:tc>
                <a:tc>
                  <a:txBody>
                    <a:bodyPr/>
                    <a:lstStyle/>
                    <a:p>
                      <a:r>
                        <a:rPr lang="en-US" dirty="0"/>
                        <a:t>2</a:t>
                      </a:r>
                    </a:p>
                  </a:txBody>
                  <a:tcPr marL="194150" marR="194150"/>
                </a:tc>
                <a:tc>
                  <a:txBody>
                    <a:bodyPr/>
                    <a:lstStyle/>
                    <a:p>
                      <a:r>
                        <a:rPr lang="en-US" dirty="0"/>
                        <a:t>2</a:t>
                      </a:r>
                    </a:p>
                  </a:txBody>
                  <a:tcPr marL="194150" marR="194150"/>
                </a:tc>
                <a:extLst>
                  <a:ext uri="{0D108BD9-81ED-4DB2-BD59-A6C34878D82A}">
                    <a16:rowId xmlns:a16="http://schemas.microsoft.com/office/drawing/2014/main" val="10003"/>
                  </a:ext>
                </a:extLst>
              </a:tr>
              <a:tr h="515547">
                <a:tc>
                  <a:txBody>
                    <a:bodyPr/>
                    <a:lstStyle/>
                    <a:p>
                      <a:r>
                        <a:rPr lang="en-US" dirty="0"/>
                        <a:t>Square</a:t>
                      </a:r>
                    </a:p>
                  </a:txBody>
                  <a:tcPr marL="194150" marR="194150"/>
                </a:tc>
                <a:tc>
                  <a:txBody>
                    <a:bodyPr/>
                    <a:lstStyle/>
                    <a:p>
                      <a:r>
                        <a:rPr lang="en-US" dirty="0"/>
                        <a:t>3</a:t>
                      </a:r>
                    </a:p>
                  </a:txBody>
                  <a:tcPr marL="194150" marR="194150"/>
                </a:tc>
                <a:tc>
                  <a:txBody>
                    <a:bodyPr/>
                    <a:lstStyle/>
                    <a:p>
                      <a:r>
                        <a:rPr lang="en-US" dirty="0"/>
                        <a:t>2</a:t>
                      </a:r>
                    </a:p>
                  </a:txBody>
                  <a:tcPr marL="194150" marR="194150"/>
                </a:tc>
                <a:extLst>
                  <a:ext uri="{0D108BD9-81ED-4DB2-BD59-A6C34878D82A}">
                    <a16:rowId xmlns:a16="http://schemas.microsoft.com/office/drawing/2014/main" val="10004"/>
                  </a:ext>
                </a:extLst>
              </a:tr>
              <a:tr h="515547">
                <a:tc>
                  <a:txBody>
                    <a:bodyPr/>
                    <a:lstStyle/>
                    <a:p>
                      <a:r>
                        <a:rPr lang="en-US" dirty="0"/>
                        <a:t>Circle</a:t>
                      </a:r>
                    </a:p>
                  </a:txBody>
                  <a:tcPr marL="194150" marR="194150"/>
                </a:tc>
                <a:tc>
                  <a:txBody>
                    <a:bodyPr/>
                    <a:lstStyle/>
                    <a:p>
                      <a:r>
                        <a:rPr lang="en-US" dirty="0"/>
                        <a:t>0</a:t>
                      </a:r>
                    </a:p>
                  </a:txBody>
                  <a:tcPr marL="194150" marR="194150"/>
                </a:tc>
                <a:tc>
                  <a:txBody>
                    <a:bodyPr/>
                    <a:lstStyle/>
                    <a:p>
                      <a:r>
                        <a:rPr lang="en-US" dirty="0"/>
                        <a:t>0</a:t>
                      </a:r>
                    </a:p>
                  </a:txBody>
                  <a:tcPr marL="194150" marR="194150"/>
                </a:tc>
                <a:extLst>
                  <a:ext uri="{0D108BD9-81ED-4DB2-BD59-A6C34878D82A}">
                    <a16:rowId xmlns:a16="http://schemas.microsoft.com/office/drawing/2014/main" val="10005"/>
                  </a:ext>
                </a:extLst>
              </a:tr>
              <a:tr h="515547">
                <a:tc>
                  <a:txBody>
                    <a:bodyPr/>
                    <a:lstStyle/>
                    <a:p>
                      <a:r>
                        <a:rPr lang="en-US" dirty="0"/>
                        <a:t>Circle</a:t>
                      </a:r>
                    </a:p>
                  </a:txBody>
                  <a:tcPr marL="194150" marR="194150"/>
                </a:tc>
                <a:tc>
                  <a:txBody>
                    <a:bodyPr/>
                    <a:lstStyle/>
                    <a:p>
                      <a:r>
                        <a:rPr lang="en-US" dirty="0"/>
                        <a:t>1</a:t>
                      </a:r>
                    </a:p>
                  </a:txBody>
                  <a:tcPr marL="194150" marR="194150"/>
                </a:tc>
                <a:tc>
                  <a:txBody>
                    <a:bodyPr/>
                    <a:lstStyle/>
                    <a:p>
                      <a:r>
                        <a:rPr lang="en-US" dirty="0"/>
                        <a:t>0</a:t>
                      </a:r>
                    </a:p>
                  </a:txBody>
                  <a:tcPr marL="194150" marR="194150"/>
                </a:tc>
                <a:extLst>
                  <a:ext uri="{0D108BD9-81ED-4DB2-BD59-A6C34878D82A}">
                    <a16:rowId xmlns:a16="http://schemas.microsoft.com/office/drawing/2014/main" val="10006"/>
                  </a:ext>
                </a:extLst>
              </a:tr>
            </a:tbl>
          </a:graphicData>
        </a:graphic>
      </p:graphicFrame>
      <p:pic>
        <p:nvPicPr>
          <p:cNvPr id="5" name="Picture 4"/>
          <p:cNvPicPr>
            <a:picLocks noChangeAspect="1"/>
          </p:cNvPicPr>
          <p:nvPr/>
        </p:nvPicPr>
        <p:blipFill>
          <a:blip r:embed="rId3"/>
          <a:stretch>
            <a:fillRect/>
          </a:stretch>
        </p:blipFill>
        <p:spPr>
          <a:xfrm>
            <a:off x="5538406" y="1426895"/>
            <a:ext cx="6162675" cy="4886325"/>
          </a:xfrm>
          <a:prstGeom prst="rect">
            <a:avLst/>
          </a:prstGeom>
        </p:spPr>
      </p:pic>
      <p:cxnSp>
        <p:nvCxnSpPr>
          <p:cNvPr id="8" name="Straight Arrow Connector 7"/>
          <p:cNvCxnSpPr/>
          <p:nvPr/>
        </p:nvCxnSpPr>
        <p:spPr>
          <a:xfrm flipH="1">
            <a:off x="4974336" y="1780033"/>
            <a:ext cx="6193536" cy="877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4998720" y="2535936"/>
            <a:ext cx="5071872" cy="597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4974336" y="3706368"/>
            <a:ext cx="3486912" cy="121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974336" y="3889247"/>
            <a:ext cx="4462272" cy="341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4876801" y="4779264"/>
            <a:ext cx="1901951" cy="256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4998720" y="5266944"/>
            <a:ext cx="2743200" cy="36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178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ML: Feature space</a:t>
            </a:r>
          </a:p>
        </p:txBody>
      </p:sp>
      <p:sp>
        <p:nvSpPr>
          <p:cNvPr id="3" name="Content Placeholder 2"/>
          <p:cNvSpPr>
            <a:spLocks noGrp="1"/>
          </p:cNvSpPr>
          <p:nvPr>
            <p:ph idx="1"/>
          </p:nvPr>
        </p:nvSpPr>
        <p:spPr>
          <a:xfrm>
            <a:off x="2223436" y="2133600"/>
            <a:ext cx="3224463" cy="3777622"/>
          </a:xfrm>
        </p:spPr>
        <p:txBody>
          <a:bodyPr>
            <a:normAutofit fontScale="92500" lnSpcReduction="10000"/>
          </a:bodyPr>
          <a:lstStyle/>
          <a:p>
            <a:pPr marL="0" indent="0">
              <a:buNone/>
            </a:pPr>
            <a:r>
              <a:rPr lang="en-US" dirty="0">
                <a:solidFill>
                  <a:srgbClr val="FF0000"/>
                </a:solidFill>
              </a:rPr>
              <a:t>Testing Phase: </a:t>
            </a:r>
          </a:p>
          <a:p>
            <a:pPr marL="0" indent="0">
              <a:buNone/>
            </a:pPr>
            <a:r>
              <a:rPr lang="en-US" dirty="0"/>
              <a:t>Let’s determine whether a set of points belonging to a rectangle is classified as a square or a circle?</a:t>
            </a:r>
          </a:p>
          <a:p>
            <a:endParaRPr lang="en-US" dirty="0"/>
          </a:p>
          <a:p>
            <a:pPr marL="0" indent="0">
              <a:buNone/>
            </a:pPr>
            <a:r>
              <a:rPr lang="en-US" dirty="0"/>
              <a:t>Nearest Neighbor Approach:</a:t>
            </a:r>
          </a:p>
          <a:p>
            <a:r>
              <a:rPr lang="en-US" dirty="0"/>
              <a:t>Compute features of the test object and find that example in training the features of which is most similar to this test case.</a:t>
            </a:r>
          </a:p>
        </p:txBody>
      </p:sp>
      <p:pic>
        <p:nvPicPr>
          <p:cNvPr id="4" name="Picture 3"/>
          <p:cNvPicPr>
            <a:picLocks noChangeAspect="1"/>
          </p:cNvPicPr>
          <p:nvPr/>
        </p:nvPicPr>
        <p:blipFill>
          <a:blip r:embed="rId3"/>
          <a:stretch>
            <a:fillRect/>
          </a:stretch>
        </p:blipFill>
        <p:spPr>
          <a:xfrm>
            <a:off x="5529262" y="1367536"/>
            <a:ext cx="6010275" cy="4876800"/>
          </a:xfrm>
          <a:prstGeom prst="rect">
            <a:avLst/>
          </a:prstGeom>
        </p:spPr>
      </p:pic>
      <p:cxnSp>
        <p:nvCxnSpPr>
          <p:cNvPr id="7" name="Straight Arrow Connector 6"/>
          <p:cNvCxnSpPr/>
          <p:nvPr/>
        </p:nvCxnSpPr>
        <p:spPr>
          <a:xfrm>
            <a:off x="10338816" y="3901440"/>
            <a:ext cx="316992" cy="390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338816" y="4327882"/>
            <a:ext cx="976614" cy="307777"/>
          </a:xfrm>
          <a:prstGeom prst="rect">
            <a:avLst/>
          </a:prstGeom>
        </p:spPr>
        <p:txBody>
          <a:bodyPr wrap="none">
            <a:spAutoFit/>
          </a:bodyPr>
          <a:lstStyle/>
          <a:p>
            <a:r>
              <a:rPr lang="en-US" sz="1400" dirty="0"/>
              <a:t>Test point</a:t>
            </a:r>
          </a:p>
        </p:txBody>
      </p:sp>
      <p:cxnSp>
        <p:nvCxnSpPr>
          <p:cNvPr id="10" name="Straight Arrow Connector 9"/>
          <p:cNvCxnSpPr/>
          <p:nvPr/>
        </p:nvCxnSpPr>
        <p:spPr>
          <a:xfrm>
            <a:off x="9497568" y="3901440"/>
            <a:ext cx="0" cy="390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8895992" y="4417413"/>
            <a:ext cx="1540359" cy="646331"/>
          </a:xfrm>
          <a:prstGeom prst="rect">
            <a:avLst/>
          </a:prstGeom>
        </p:spPr>
        <p:txBody>
          <a:bodyPr wrap="square">
            <a:spAutoFit/>
          </a:bodyPr>
          <a:lstStyle/>
          <a:p>
            <a:r>
              <a:rPr lang="en-US" sz="1200" dirty="0"/>
              <a:t>Closest point in training belongs to a square</a:t>
            </a:r>
          </a:p>
        </p:txBody>
      </p:sp>
    </p:spTree>
    <p:extLst>
      <p:ext uri="{BB962C8B-B14F-4D97-AF65-F5344CB8AC3E}">
        <p14:creationId xmlns:p14="http://schemas.microsoft.com/office/powerpoint/2010/main" val="3231219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ML: Feature space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18427932"/>
              </p:ext>
            </p:extLst>
          </p:nvPr>
        </p:nvGraphicFramePr>
        <p:xfrm>
          <a:off x="899515" y="1667694"/>
          <a:ext cx="4066205" cy="3916242"/>
        </p:xfrm>
        <a:graphic>
          <a:graphicData uri="http://schemas.openxmlformats.org/drawingml/2006/table">
            <a:tbl>
              <a:tblPr firstRow="1" bandRow="1">
                <a:tableStyleId>{5C22544A-7EE6-4342-B048-85BDC9FD1C3A}</a:tableStyleId>
              </a:tblPr>
              <a:tblGrid>
                <a:gridCol w="1188251">
                  <a:extLst>
                    <a:ext uri="{9D8B030D-6E8A-4147-A177-3AD203B41FA5}">
                      <a16:colId xmlns:a16="http://schemas.microsoft.com/office/drawing/2014/main" val="20000"/>
                    </a:ext>
                  </a:extLst>
                </a:gridCol>
                <a:gridCol w="1203158">
                  <a:extLst>
                    <a:ext uri="{9D8B030D-6E8A-4147-A177-3AD203B41FA5}">
                      <a16:colId xmlns:a16="http://schemas.microsoft.com/office/drawing/2014/main" val="20001"/>
                    </a:ext>
                  </a:extLst>
                </a:gridCol>
                <a:gridCol w="1674796">
                  <a:extLst>
                    <a:ext uri="{9D8B030D-6E8A-4147-A177-3AD203B41FA5}">
                      <a16:colId xmlns:a16="http://schemas.microsoft.com/office/drawing/2014/main" val="20002"/>
                    </a:ext>
                  </a:extLst>
                </a:gridCol>
              </a:tblGrid>
              <a:tr h="515547">
                <a:tc>
                  <a:txBody>
                    <a:bodyPr/>
                    <a:lstStyle/>
                    <a:p>
                      <a:r>
                        <a:rPr lang="en-US" sz="1600" dirty="0"/>
                        <a:t>Class</a:t>
                      </a:r>
                    </a:p>
                  </a:txBody>
                  <a:tcPr marL="194150" marR="194150"/>
                </a:tc>
                <a:tc>
                  <a:txBody>
                    <a:bodyPr/>
                    <a:lstStyle/>
                    <a:p>
                      <a:r>
                        <a:rPr lang="en-US" sz="1600" dirty="0"/>
                        <a:t>Number</a:t>
                      </a:r>
                      <a:r>
                        <a:rPr lang="en-US" sz="1600" baseline="0" dirty="0"/>
                        <a:t> of corners</a:t>
                      </a:r>
                      <a:endParaRPr lang="en-US" sz="1600" dirty="0"/>
                    </a:p>
                  </a:txBody>
                  <a:tcPr marL="194150" marR="194150"/>
                </a:tc>
                <a:tc>
                  <a:txBody>
                    <a:bodyPr/>
                    <a:lstStyle/>
                    <a:p>
                      <a:r>
                        <a:rPr lang="en-US" sz="1600" dirty="0"/>
                        <a:t>Number of equal sides</a:t>
                      </a:r>
                    </a:p>
                  </a:txBody>
                  <a:tcPr marL="194150" marR="194150"/>
                </a:tc>
                <a:extLst>
                  <a:ext uri="{0D108BD9-81ED-4DB2-BD59-A6C34878D82A}">
                    <a16:rowId xmlns:a16="http://schemas.microsoft.com/office/drawing/2014/main" val="10000"/>
                  </a:ext>
                </a:extLst>
              </a:tr>
              <a:tr h="515547">
                <a:tc>
                  <a:txBody>
                    <a:bodyPr/>
                    <a:lstStyle/>
                    <a:p>
                      <a:r>
                        <a:rPr lang="en-US" sz="1600" dirty="0">
                          <a:solidFill>
                            <a:srgbClr val="0070C0"/>
                          </a:solidFill>
                        </a:rPr>
                        <a:t>Square</a:t>
                      </a:r>
                    </a:p>
                  </a:txBody>
                  <a:tcPr marL="194150" marR="194150"/>
                </a:tc>
                <a:tc>
                  <a:txBody>
                    <a:bodyPr/>
                    <a:lstStyle/>
                    <a:p>
                      <a:r>
                        <a:rPr lang="en-US" sz="1600" dirty="0">
                          <a:solidFill>
                            <a:srgbClr val="0070C0"/>
                          </a:solidFill>
                        </a:rPr>
                        <a:t>5</a:t>
                      </a:r>
                    </a:p>
                  </a:txBody>
                  <a:tcPr marL="194150" marR="194150"/>
                </a:tc>
                <a:tc>
                  <a:txBody>
                    <a:bodyPr/>
                    <a:lstStyle/>
                    <a:p>
                      <a:r>
                        <a:rPr lang="en-US" sz="1600" dirty="0">
                          <a:solidFill>
                            <a:srgbClr val="0070C0"/>
                          </a:solidFill>
                        </a:rPr>
                        <a:t>5</a:t>
                      </a:r>
                    </a:p>
                  </a:txBody>
                  <a:tcPr marL="194150" marR="194150"/>
                </a:tc>
                <a:extLst>
                  <a:ext uri="{0D108BD9-81ED-4DB2-BD59-A6C34878D82A}">
                    <a16:rowId xmlns:a16="http://schemas.microsoft.com/office/drawing/2014/main" val="10001"/>
                  </a:ext>
                </a:extLst>
              </a:tr>
              <a:tr h="515547">
                <a:tc>
                  <a:txBody>
                    <a:bodyPr/>
                    <a:lstStyle/>
                    <a:p>
                      <a:r>
                        <a:rPr lang="en-US" sz="1600" dirty="0">
                          <a:solidFill>
                            <a:srgbClr val="0070C0"/>
                          </a:solidFill>
                        </a:rPr>
                        <a:t>Square</a:t>
                      </a:r>
                    </a:p>
                  </a:txBody>
                  <a:tcPr marL="194150" marR="194150"/>
                </a:tc>
                <a:tc>
                  <a:txBody>
                    <a:bodyPr/>
                    <a:lstStyle/>
                    <a:p>
                      <a:r>
                        <a:rPr lang="en-US" sz="1600" dirty="0">
                          <a:solidFill>
                            <a:srgbClr val="0070C0"/>
                          </a:solidFill>
                        </a:rPr>
                        <a:t>4</a:t>
                      </a:r>
                    </a:p>
                  </a:txBody>
                  <a:tcPr marL="194150" marR="194150"/>
                </a:tc>
                <a:tc>
                  <a:txBody>
                    <a:bodyPr/>
                    <a:lstStyle/>
                    <a:p>
                      <a:r>
                        <a:rPr lang="en-US" sz="1600" dirty="0">
                          <a:solidFill>
                            <a:srgbClr val="0070C0"/>
                          </a:solidFill>
                        </a:rPr>
                        <a:t>4</a:t>
                      </a:r>
                    </a:p>
                  </a:txBody>
                  <a:tcPr marL="194150" marR="194150"/>
                </a:tc>
                <a:extLst>
                  <a:ext uri="{0D108BD9-81ED-4DB2-BD59-A6C34878D82A}">
                    <a16:rowId xmlns:a16="http://schemas.microsoft.com/office/drawing/2014/main" val="10002"/>
                  </a:ext>
                </a:extLst>
              </a:tr>
              <a:tr h="515547">
                <a:tc>
                  <a:txBody>
                    <a:bodyPr/>
                    <a:lstStyle/>
                    <a:p>
                      <a:r>
                        <a:rPr lang="en-US" sz="1600" dirty="0">
                          <a:solidFill>
                            <a:srgbClr val="FF0000"/>
                          </a:solidFill>
                        </a:rPr>
                        <a:t>Circle</a:t>
                      </a:r>
                    </a:p>
                  </a:txBody>
                  <a:tcPr marL="194150" marR="194150"/>
                </a:tc>
                <a:tc>
                  <a:txBody>
                    <a:bodyPr/>
                    <a:lstStyle/>
                    <a:p>
                      <a:r>
                        <a:rPr lang="en-US" sz="1600" dirty="0">
                          <a:solidFill>
                            <a:srgbClr val="FF0000"/>
                          </a:solidFill>
                        </a:rPr>
                        <a:t>2</a:t>
                      </a:r>
                    </a:p>
                  </a:txBody>
                  <a:tcPr marL="194150" marR="194150"/>
                </a:tc>
                <a:tc>
                  <a:txBody>
                    <a:bodyPr/>
                    <a:lstStyle/>
                    <a:p>
                      <a:r>
                        <a:rPr lang="en-US" sz="1600" dirty="0">
                          <a:solidFill>
                            <a:srgbClr val="FF0000"/>
                          </a:solidFill>
                        </a:rPr>
                        <a:t>2</a:t>
                      </a:r>
                    </a:p>
                  </a:txBody>
                  <a:tcPr marL="194150" marR="194150"/>
                </a:tc>
                <a:extLst>
                  <a:ext uri="{0D108BD9-81ED-4DB2-BD59-A6C34878D82A}">
                    <a16:rowId xmlns:a16="http://schemas.microsoft.com/office/drawing/2014/main" val="10003"/>
                  </a:ext>
                </a:extLst>
              </a:tr>
              <a:tr h="515547">
                <a:tc>
                  <a:txBody>
                    <a:bodyPr/>
                    <a:lstStyle/>
                    <a:p>
                      <a:r>
                        <a:rPr lang="en-US" sz="1600" dirty="0">
                          <a:solidFill>
                            <a:srgbClr val="0070C0"/>
                          </a:solidFill>
                        </a:rPr>
                        <a:t>Square</a:t>
                      </a:r>
                    </a:p>
                  </a:txBody>
                  <a:tcPr marL="194150" marR="194150"/>
                </a:tc>
                <a:tc>
                  <a:txBody>
                    <a:bodyPr/>
                    <a:lstStyle/>
                    <a:p>
                      <a:r>
                        <a:rPr lang="en-US" sz="1600" dirty="0">
                          <a:solidFill>
                            <a:srgbClr val="0070C0"/>
                          </a:solidFill>
                        </a:rPr>
                        <a:t>3</a:t>
                      </a:r>
                    </a:p>
                  </a:txBody>
                  <a:tcPr marL="194150" marR="194150"/>
                </a:tc>
                <a:tc>
                  <a:txBody>
                    <a:bodyPr/>
                    <a:lstStyle/>
                    <a:p>
                      <a:r>
                        <a:rPr lang="en-US" sz="1600" dirty="0">
                          <a:solidFill>
                            <a:srgbClr val="0070C0"/>
                          </a:solidFill>
                        </a:rPr>
                        <a:t>2</a:t>
                      </a:r>
                    </a:p>
                  </a:txBody>
                  <a:tcPr marL="194150" marR="194150"/>
                </a:tc>
                <a:extLst>
                  <a:ext uri="{0D108BD9-81ED-4DB2-BD59-A6C34878D82A}">
                    <a16:rowId xmlns:a16="http://schemas.microsoft.com/office/drawing/2014/main" val="10004"/>
                  </a:ext>
                </a:extLst>
              </a:tr>
              <a:tr h="515547">
                <a:tc>
                  <a:txBody>
                    <a:bodyPr/>
                    <a:lstStyle/>
                    <a:p>
                      <a:r>
                        <a:rPr lang="en-US" sz="1600" dirty="0">
                          <a:solidFill>
                            <a:srgbClr val="FF0000"/>
                          </a:solidFill>
                        </a:rPr>
                        <a:t>Circle</a:t>
                      </a:r>
                    </a:p>
                  </a:txBody>
                  <a:tcPr marL="194150" marR="194150"/>
                </a:tc>
                <a:tc>
                  <a:txBody>
                    <a:bodyPr/>
                    <a:lstStyle/>
                    <a:p>
                      <a:r>
                        <a:rPr lang="en-US" sz="1600" dirty="0">
                          <a:solidFill>
                            <a:srgbClr val="FF0000"/>
                          </a:solidFill>
                        </a:rPr>
                        <a:t>0</a:t>
                      </a:r>
                    </a:p>
                  </a:txBody>
                  <a:tcPr marL="194150" marR="194150"/>
                </a:tc>
                <a:tc>
                  <a:txBody>
                    <a:bodyPr/>
                    <a:lstStyle/>
                    <a:p>
                      <a:r>
                        <a:rPr lang="en-US" sz="1600" dirty="0">
                          <a:solidFill>
                            <a:srgbClr val="FF0000"/>
                          </a:solidFill>
                        </a:rPr>
                        <a:t>0</a:t>
                      </a:r>
                    </a:p>
                  </a:txBody>
                  <a:tcPr marL="194150" marR="194150"/>
                </a:tc>
                <a:extLst>
                  <a:ext uri="{0D108BD9-81ED-4DB2-BD59-A6C34878D82A}">
                    <a16:rowId xmlns:a16="http://schemas.microsoft.com/office/drawing/2014/main" val="10005"/>
                  </a:ext>
                </a:extLst>
              </a:tr>
              <a:tr h="515547">
                <a:tc>
                  <a:txBody>
                    <a:bodyPr/>
                    <a:lstStyle/>
                    <a:p>
                      <a:r>
                        <a:rPr lang="en-US" sz="1600" dirty="0">
                          <a:solidFill>
                            <a:srgbClr val="FF0000"/>
                          </a:solidFill>
                        </a:rPr>
                        <a:t>Circle</a:t>
                      </a:r>
                    </a:p>
                  </a:txBody>
                  <a:tcPr marL="194150" marR="194150"/>
                </a:tc>
                <a:tc>
                  <a:txBody>
                    <a:bodyPr/>
                    <a:lstStyle/>
                    <a:p>
                      <a:r>
                        <a:rPr lang="en-US" sz="1600" dirty="0">
                          <a:solidFill>
                            <a:srgbClr val="FF0000"/>
                          </a:solidFill>
                        </a:rPr>
                        <a:t>1</a:t>
                      </a:r>
                    </a:p>
                  </a:txBody>
                  <a:tcPr marL="194150" marR="194150"/>
                </a:tc>
                <a:tc>
                  <a:txBody>
                    <a:bodyPr/>
                    <a:lstStyle/>
                    <a:p>
                      <a:r>
                        <a:rPr lang="en-US" sz="1600" dirty="0">
                          <a:solidFill>
                            <a:srgbClr val="FF0000"/>
                          </a:solidFill>
                        </a:rPr>
                        <a:t>0</a:t>
                      </a:r>
                    </a:p>
                  </a:txBody>
                  <a:tcPr marL="194150" marR="194150"/>
                </a:tc>
                <a:extLst>
                  <a:ext uri="{0D108BD9-81ED-4DB2-BD59-A6C34878D82A}">
                    <a16:rowId xmlns:a16="http://schemas.microsoft.com/office/drawing/2014/main" val="10006"/>
                  </a:ext>
                </a:extLst>
              </a:tr>
            </a:tbl>
          </a:graphicData>
        </a:graphic>
      </p:graphicFrame>
      <p:pic>
        <p:nvPicPr>
          <p:cNvPr id="11" name="Picture 10"/>
          <p:cNvPicPr>
            <a:picLocks noChangeAspect="1"/>
          </p:cNvPicPr>
          <p:nvPr/>
        </p:nvPicPr>
        <p:blipFill>
          <a:blip r:embed="rId3"/>
          <a:stretch>
            <a:fillRect/>
          </a:stretch>
        </p:blipFill>
        <p:spPr>
          <a:xfrm>
            <a:off x="5529262" y="1367536"/>
            <a:ext cx="6010275" cy="4876800"/>
          </a:xfrm>
          <a:prstGeom prst="rect">
            <a:avLst/>
          </a:prstGeom>
        </p:spPr>
      </p:pic>
      <p:cxnSp>
        <p:nvCxnSpPr>
          <p:cNvPr id="18" name="Straight Arrow Connector 17"/>
          <p:cNvCxnSpPr/>
          <p:nvPr/>
        </p:nvCxnSpPr>
        <p:spPr>
          <a:xfrm flipH="1">
            <a:off x="4998720" y="5266944"/>
            <a:ext cx="2743200" cy="36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4974336" y="1780033"/>
            <a:ext cx="6193536" cy="877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4998720" y="2535936"/>
            <a:ext cx="5071872" cy="597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4974336" y="3706368"/>
            <a:ext cx="3486912" cy="121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974336" y="3889247"/>
            <a:ext cx="4462272" cy="341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4876801" y="4779264"/>
            <a:ext cx="1901951" cy="256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Content Placeholder 5"/>
          <p:cNvGraphicFramePr>
            <a:graphicFrameLocks/>
          </p:cNvGraphicFramePr>
          <p:nvPr>
            <p:extLst>
              <p:ext uri="{D42A27DB-BD31-4B8C-83A1-F6EECF244321}">
                <p14:modId xmlns:p14="http://schemas.microsoft.com/office/powerpoint/2010/main" val="1236838944"/>
              </p:ext>
            </p:extLst>
          </p:nvPr>
        </p:nvGraphicFramePr>
        <p:xfrm>
          <a:off x="799782" y="5673218"/>
          <a:ext cx="4198938" cy="1094667"/>
        </p:xfrm>
        <a:graphic>
          <a:graphicData uri="http://schemas.openxmlformats.org/drawingml/2006/table">
            <a:tbl>
              <a:tblPr firstRow="1" bandRow="1">
                <a:tableStyleId>{5C22544A-7EE6-4342-B048-85BDC9FD1C3A}</a:tableStyleId>
              </a:tblPr>
              <a:tblGrid>
                <a:gridCol w="1399646">
                  <a:extLst>
                    <a:ext uri="{9D8B030D-6E8A-4147-A177-3AD203B41FA5}">
                      <a16:colId xmlns:a16="http://schemas.microsoft.com/office/drawing/2014/main" val="20000"/>
                    </a:ext>
                  </a:extLst>
                </a:gridCol>
                <a:gridCol w="1399646">
                  <a:extLst>
                    <a:ext uri="{9D8B030D-6E8A-4147-A177-3AD203B41FA5}">
                      <a16:colId xmlns:a16="http://schemas.microsoft.com/office/drawing/2014/main" val="20001"/>
                    </a:ext>
                  </a:extLst>
                </a:gridCol>
                <a:gridCol w="1399646">
                  <a:extLst>
                    <a:ext uri="{9D8B030D-6E8A-4147-A177-3AD203B41FA5}">
                      <a16:colId xmlns:a16="http://schemas.microsoft.com/office/drawing/2014/main" val="20002"/>
                    </a:ext>
                  </a:extLst>
                </a:gridCol>
              </a:tblGrid>
              <a:tr h="515547">
                <a:tc>
                  <a:txBody>
                    <a:bodyPr/>
                    <a:lstStyle/>
                    <a:p>
                      <a:r>
                        <a:rPr lang="en-US" sz="1600" dirty="0"/>
                        <a:t>Class</a:t>
                      </a:r>
                    </a:p>
                  </a:txBody>
                  <a:tcPr/>
                </a:tc>
                <a:tc>
                  <a:txBody>
                    <a:bodyPr/>
                    <a:lstStyle/>
                    <a:p>
                      <a:r>
                        <a:rPr lang="en-US" sz="1600" dirty="0"/>
                        <a:t>Number</a:t>
                      </a:r>
                      <a:r>
                        <a:rPr lang="en-US" sz="1600" baseline="0" dirty="0"/>
                        <a:t> of corners</a:t>
                      </a:r>
                      <a:endParaRPr lang="en-US" sz="1600" dirty="0"/>
                    </a:p>
                  </a:txBody>
                  <a:tcPr/>
                </a:tc>
                <a:tc>
                  <a:txBody>
                    <a:bodyPr/>
                    <a:lstStyle/>
                    <a:p>
                      <a:r>
                        <a:rPr lang="en-US" sz="1600" dirty="0"/>
                        <a:t>Number of equal sides</a:t>
                      </a:r>
                    </a:p>
                  </a:txBody>
                  <a:tcPr/>
                </a:tc>
                <a:extLst>
                  <a:ext uri="{0D108BD9-81ED-4DB2-BD59-A6C34878D82A}">
                    <a16:rowId xmlns:a16="http://schemas.microsoft.com/office/drawing/2014/main" val="10000"/>
                  </a:ext>
                </a:extLst>
              </a:tr>
              <a:tr h="515547">
                <a:tc>
                  <a:txBody>
                    <a:bodyPr/>
                    <a:lstStyle/>
                    <a:p>
                      <a:r>
                        <a:rPr lang="en-US" sz="1600" dirty="0"/>
                        <a:t>?</a:t>
                      </a:r>
                    </a:p>
                  </a:txBody>
                  <a:tcPr/>
                </a:tc>
                <a:tc>
                  <a:txBody>
                    <a:bodyPr/>
                    <a:lstStyle/>
                    <a:p>
                      <a:r>
                        <a:rPr lang="en-US" sz="1600" dirty="0"/>
                        <a:t>4</a:t>
                      </a:r>
                    </a:p>
                  </a:txBody>
                  <a:tcPr/>
                </a:tc>
                <a:tc>
                  <a:txBody>
                    <a:bodyPr/>
                    <a:lstStyle/>
                    <a:p>
                      <a:r>
                        <a:rPr lang="en-US" sz="1600" dirty="0"/>
                        <a:t>2</a:t>
                      </a:r>
                    </a:p>
                  </a:txBody>
                  <a:tcPr/>
                </a:tc>
                <a:extLst>
                  <a:ext uri="{0D108BD9-81ED-4DB2-BD59-A6C34878D82A}">
                    <a16:rowId xmlns:a16="http://schemas.microsoft.com/office/drawing/2014/main" val="10001"/>
                  </a:ext>
                </a:extLst>
              </a:tr>
            </a:tbl>
          </a:graphicData>
        </a:graphic>
      </p:graphicFrame>
      <p:cxnSp>
        <p:nvCxnSpPr>
          <p:cNvPr id="4" name="Elbow Connector 3"/>
          <p:cNvCxnSpPr/>
          <p:nvPr/>
        </p:nvCxnSpPr>
        <p:spPr>
          <a:xfrm rot="10800000" flipV="1">
            <a:off x="4998720" y="3889246"/>
            <a:ext cx="5242560" cy="2633473"/>
          </a:xfrm>
          <a:prstGeom prst="bentConnector3">
            <a:avLst>
              <a:gd name="adj1" fmla="val -233"/>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51103" y="4005069"/>
            <a:ext cx="4547617" cy="573026"/>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030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DL</a:t>
            </a:r>
          </a:p>
        </p:txBody>
      </p:sp>
      <p:sp>
        <p:nvSpPr>
          <p:cNvPr id="3" name="Content Placeholder 2"/>
          <p:cNvSpPr>
            <a:spLocks noGrp="1"/>
          </p:cNvSpPr>
          <p:nvPr>
            <p:ph idx="1"/>
          </p:nvPr>
        </p:nvSpPr>
        <p:spPr>
          <a:xfrm>
            <a:off x="2589212" y="1809549"/>
            <a:ext cx="4841491" cy="4514249"/>
          </a:xfrm>
        </p:spPr>
        <p:txBody>
          <a:bodyPr>
            <a:normAutofit/>
          </a:bodyPr>
          <a:lstStyle/>
          <a:p>
            <a:r>
              <a:rPr lang="en-US" dirty="0"/>
              <a:t>No need of determining features</a:t>
            </a:r>
          </a:p>
          <a:p>
            <a:r>
              <a:rPr lang="en-US" dirty="0"/>
              <a:t>Just let an artificial neural network learn what type of features are useful for a given task. </a:t>
            </a:r>
          </a:p>
          <a:p>
            <a:r>
              <a:rPr lang="en-US" dirty="0"/>
              <a:t>In classical AI and ML, we don’t feed all points to an algorithm directly. We first compute features and then feed those computed features only.</a:t>
            </a:r>
          </a:p>
          <a:p>
            <a:r>
              <a:rPr lang="en-US" dirty="0"/>
              <a:t>In DL, we don’t compute features, we feed input directly to a network.</a:t>
            </a:r>
          </a:p>
        </p:txBody>
      </p:sp>
      <p:pic>
        <p:nvPicPr>
          <p:cNvPr id="4" name="Picture 3"/>
          <p:cNvPicPr>
            <a:picLocks noChangeAspect="1"/>
          </p:cNvPicPr>
          <p:nvPr/>
        </p:nvPicPr>
        <p:blipFill>
          <a:blip r:embed="rId2"/>
          <a:stretch>
            <a:fillRect/>
          </a:stretch>
        </p:blipFill>
        <p:spPr>
          <a:xfrm>
            <a:off x="7737437" y="1598661"/>
            <a:ext cx="4325365" cy="4163568"/>
          </a:xfrm>
          <a:prstGeom prst="rect">
            <a:avLst/>
          </a:prstGeom>
        </p:spPr>
      </p:pic>
      <p:cxnSp>
        <p:nvCxnSpPr>
          <p:cNvPr id="9" name="Curved Connector 8"/>
          <p:cNvCxnSpPr/>
          <p:nvPr/>
        </p:nvCxnSpPr>
        <p:spPr>
          <a:xfrm rot="10800000">
            <a:off x="6585293" y="2442892"/>
            <a:ext cx="2304288" cy="1914144"/>
          </a:xfrm>
          <a:prstGeom prst="curvedConnector3">
            <a:avLst>
              <a:gd name="adj1" fmla="val 50000"/>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366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DL</a:t>
            </a:r>
          </a:p>
        </p:txBody>
      </p:sp>
      <p:sp>
        <p:nvSpPr>
          <p:cNvPr id="3" name="Content Placeholder 2"/>
          <p:cNvSpPr>
            <a:spLocks noGrp="1"/>
          </p:cNvSpPr>
          <p:nvPr>
            <p:ph idx="1"/>
          </p:nvPr>
        </p:nvSpPr>
        <p:spPr>
          <a:xfrm>
            <a:off x="1905802" y="1403858"/>
            <a:ext cx="4089906" cy="4003298"/>
          </a:xfrm>
        </p:spPr>
        <p:txBody>
          <a:bodyPr>
            <a:normAutofit/>
          </a:bodyPr>
          <a:lstStyle/>
          <a:p>
            <a:r>
              <a:rPr lang="en-US" dirty="0"/>
              <a:t>Assume that every example contain 10 points arranged in circle or a square.</a:t>
            </a:r>
          </a:p>
          <a:p>
            <a:r>
              <a:rPr lang="en-US" dirty="0"/>
              <a:t>Training Phase:</a:t>
            </a:r>
          </a:p>
          <a:p>
            <a:pPr marL="800100" lvl="1" indent="-342900">
              <a:buFont typeface="Wingdings 3" charset="2"/>
              <a:buAutoNum type="arabicParenR"/>
            </a:pPr>
            <a:r>
              <a:rPr lang="en-US" dirty="0"/>
              <a:t>Take 3 examples of circles and 3 examples of squares</a:t>
            </a:r>
          </a:p>
          <a:p>
            <a:pPr marL="800100" lvl="1" indent="-342900">
              <a:buFont typeface="Wingdings 3" charset="2"/>
              <a:buAutoNum type="arabicParenR"/>
            </a:pPr>
            <a:r>
              <a:rPr lang="en-US" dirty="0"/>
              <a:t>Also tell the computer that whether extracted features are taken from a circle or a square</a:t>
            </a:r>
          </a:p>
          <a:p>
            <a:pPr marL="800100" lvl="1" indent="-342900">
              <a:buFont typeface="Wingdings 3" charset="2"/>
              <a:buAutoNum type="arabicParenR"/>
            </a:pPr>
            <a:r>
              <a:rPr lang="en-US" dirty="0"/>
              <a:t>For each example, adjust 11 parameters such that the output for each example is +</a:t>
            </a:r>
            <a:r>
              <a:rPr lang="en-US" dirty="0" err="1"/>
              <a:t>ve</a:t>
            </a:r>
            <a:r>
              <a:rPr lang="en-US" dirty="0"/>
              <a:t> for circle and –</a:t>
            </a:r>
            <a:r>
              <a:rPr lang="en-US" dirty="0" err="1"/>
              <a:t>ve</a:t>
            </a:r>
            <a:r>
              <a:rPr lang="en-US" dirty="0"/>
              <a:t> for square.</a:t>
            </a:r>
          </a:p>
          <a:p>
            <a:pPr marL="800100" lvl="1" indent="-342900">
              <a:buFont typeface="Wingdings 3" charset="2"/>
              <a:buAutoNum type="arabicParenR"/>
            </a:pPr>
            <a:endParaRPr lang="en-US" dirty="0"/>
          </a:p>
          <a:p>
            <a:pPr marL="457200" lvl="1" indent="0">
              <a:buNone/>
            </a:pPr>
            <a:endParaRPr lang="en-US" dirty="0"/>
          </a:p>
          <a:p>
            <a:endParaRPr lang="en-US" dirty="0"/>
          </a:p>
        </p:txBody>
      </p:sp>
      <p:sp>
        <p:nvSpPr>
          <p:cNvPr id="5" name="Oval 4"/>
          <p:cNvSpPr/>
          <p:nvPr/>
        </p:nvSpPr>
        <p:spPr>
          <a:xfrm>
            <a:off x="6851904" y="609600"/>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851904" y="109931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858000" y="1674369"/>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851904" y="217627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845808" y="2720850"/>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845808" y="321056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851904" y="3785619"/>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6845808" y="428752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858000" y="4819909"/>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851904" y="532181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8904132" y="2661920"/>
            <a:ext cx="402336" cy="39217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endCxn id="7" idx="1"/>
          </p:cNvCxnSpPr>
          <p:nvPr/>
        </p:nvCxnSpPr>
        <p:spPr>
          <a:xfrm>
            <a:off x="7066284" y="799325"/>
            <a:ext cx="1896769" cy="19200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078476" y="1283956"/>
            <a:ext cx="2036977" cy="15877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114032" y="1845057"/>
            <a:ext cx="2001421" cy="1026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7114032" y="2346960"/>
            <a:ext cx="2001421" cy="524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114032" y="2804697"/>
            <a:ext cx="2001421" cy="67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7114032" y="2871753"/>
            <a:ext cx="2001421" cy="338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7107936" y="2871753"/>
            <a:ext cx="2007517" cy="999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7114032" y="2871753"/>
            <a:ext cx="2001421" cy="141576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7090668" y="2871753"/>
            <a:ext cx="2024785" cy="19481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7078476" y="2871753"/>
            <a:ext cx="2036977" cy="253540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9115453" y="1414272"/>
            <a:ext cx="0" cy="1195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5852298" y="429993"/>
            <a:ext cx="898003" cy="369332"/>
          </a:xfrm>
          <a:prstGeom prst="rect">
            <a:avLst/>
          </a:prstGeom>
        </p:spPr>
        <p:txBody>
          <a:bodyPr wrap="none">
            <a:spAutoFit/>
          </a:bodyPr>
          <a:lstStyle/>
          <a:p>
            <a:r>
              <a:rPr lang="en-US" dirty="0"/>
              <a:t>(x</a:t>
            </a:r>
            <a:r>
              <a:rPr lang="en-US" sz="1200" dirty="0"/>
              <a:t>1</a:t>
            </a:r>
            <a:r>
              <a:rPr lang="en-US" dirty="0"/>
              <a:t>, y</a:t>
            </a:r>
            <a:r>
              <a:rPr lang="en-US" sz="1200" dirty="0"/>
              <a:t>1</a:t>
            </a:r>
            <a:r>
              <a:rPr lang="en-US" dirty="0"/>
              <a:t>)</a:t>
            </a:r>
          </a:p>
        </p:txBody>
      </p:sp>
      <p:sp>
        <p:nvSpPr>
          <p:cNvPr id="42" name="Rectangle 41"/>
          <p:cNvSpPr/>
          <p:nvPr/>
        </p:nvSpPr>
        <p:spPr>
          <a:xfrm>
            <a:off x="5873633" y="954137"/>
            <a:ext cx="898003" cy="369332"/>
          </a:xfrm>
          <a:prstGeom prst="rect">
            <a:avLst/>
          </a:prstGeom>
        </p:spPr>
        <p:txBody>
          <a:bodyPr wrap="none">
            <a:spAutoFit/>
          </a:bodyPr>
          <a:lstStyle/>
          <a:p>
            <a:r>
              <a:rPr lang="en-US" dirty="0"/>
              <a:t>(x</a:t>
            </a:r>
            <a:r>
              <a:rPr lang="en-US" sz="1200" dirty="0"/>
              <a:t>2</a:t>
            </a:r>
            <a:r>
              <a:rPr lang="en-US" dirty="0"/>
              <a:t>, y</a:t>
            </a:r>
            <a:r>
              <a:rPr lang="en-US" sz="1200" dirty="0"/>
              <a:t>2</a:t>
            </a:r>
            <a:r>
              <a:rPr lang="en-US" dirty="0"/>
              <a:t>)</a:t>
            </a:r>
          </a:p>
        </p:txBody>
      </p:sp>
      <p:sp>
        <p:nvSpPr>
          <p:cNvPr id="43" name="Rectangle 42"/>
          <p:cNvSpPr/>
          <p:nvPr/>
        </p:nvSpPr>
        <p:spPr>
          <a:xfrm>
            <a:off x="5842575" y="5222490"/>
            <a:ext cx="1058303" cy="369332"/>
          </a:xfrm>
          <a:prstGeom prst="rect">
            <a:avLst/>
          </a:prstGeom>
        </p:spPr>
        <p:txBody>
          <a:bodyPr wrap="none">
            <a:spAutoFit/>
          </a:bodyPr>
          <a:lstStyle/>
          <a:p>
            <a:r>
              <a:rPr lang="en-US" dirty="0"/>
              <a:t>(x</a:t>
            </a:r>
            <a:r>
              <a:rPr lang="en-US" sz="1200" dirty="0"/>
              <a:t>10</a:t>
            </a:r>
            <a:r>
              <a:rPr lang="en-US" dirty="0"/>
              <a:t>, y</a:t>
            </a:r>
            <a:r>
              <a:rPr lang="en-US" sz="1200" dirty="0"/>
              <a:t>10</a:t>
            </a:r>
            <a:r>
              <a:rPr lang="en-US" dirty="0"/>
              <a:t>)</a:t>
            </a:r>
          </a:p>
        </p:txBody>
      </p:sp>
      <p:cxnSp>
        <p:nvCxnSpPr>
          <p:cNvPr id="45" name="Straight Connector 44"/>
          <p:cNvCxnSpPr/>
          <p:nvPr/>
        </p:nvCxnSpPr>
        <p:spPr>
          <a:xfrm>
            <a:off x="6371726" y="1674369"/>
            <a:ext cx="0" cy="3145540"/>
          </a:xfrm>
          <a:prstGeom prst="line">
            <a:avLst/>
          </a:prstGeom>
          <a:ln w="34925">
            <a:prstDash val="sysDot"/>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7648521" y="1059165"/>
            <a:ext cx="386644" cy="369332"/>
          </a:xfrm>
          <a:prstGeom prst="rect">
            <a:avLst/>
          </a:prstGeom>
        </p:spPr>
        <p:txBody>
          <a:bodyPr wrap="none">
            <a:spAutoFit/>
          </a:bodyPr>
          <a:lstStyle/>
          <a:p>
            <a:r>
              <a:rPr lang="en-US" dirty="0"/>
              <a:t>a</a:t>
            </a:r>
            <a:r>
              <a:rPr lang="en-US" sz="1200" dirty="0"/>
              <a:t>1</a:t>
            </a:r>
            <a:endParaRPr lang="en-US" dirty="0"/>
          </a:p>
        </p:txBody>
      </p:sp>
      <p:sp>
        <p:nvSpPr>
          <p:cNvPr id="47" name="Rectangle 46"/>
          <p:cNvSpPr/>
          <p:nvPr/>
        </p:nvSpPr>
        <p:spPr>
          <a:xfrm>
            <a:off x="7264184" y="1185919"/>
            <a:ext cx="386644" cy="369332"/>
          </a:xfrm>
          <a:prstGeom prst="rect">
            <a:avLst/>
          </a:prstGeom>
        </p:spPr>
        <p:txBody>
          <a:bodyPr wrap="none">
            <a:spAutoFit/>
          </a:bodyPr>
          <a:lstStyle/>
          <a:p>
            <a:r>
              <a:rPr lang="en-US" dirty="0"/>
              <a:t>a</a:t>
            </a:r>
            <a:r>
              <a:rPr lang="en-US" sz="1200" dirty="0"/>
              <a:t>2</a:t>
            </a:r>
            <a:endParaRPr lang="en-US" dirty="0"/>
          </a:p>
        </p:txBody>
      </p:sp>
      <p:sp>
        <p:nvSpPr>
          <p:cNvPr id="48" name="Rectangle 47"/>
          <p:cNvSpPr/>
          <p:nvPr/>
        </p:nvSpPr>
        <p:spPr>
          <a:xfrm>
            <a:off x="7255120" y="1553475"/>
            <a:ext cx="386644" cy="369332"/>
          </a:xfrm>
          <a:prstGeom prst="rect">
            <a:avLst/>
          </a:prstGeom>
        </p:spPr>
        <p:txBody>
          <a:bodyPr wrap="none">
            <a:spAutoFit/>
          </a:bodyPr>
          <a:lstStyle/>
          <a:p>
            <a:r>
              <a:rPr lang="en-US" dirty="0"/>
              <a:t>a</a:t>
            </a:r>
            <a:r>
              <a:rPr lang="en-US" sz="1200" dirty="0"/>
              <a:t>3</a:t>
            </a:r>
            <a:endParaRPr lang="en-US" dirty="0"/>
          </a:p>
        </p:txBody>
      </p:sp>
      <p:sp>
        <p:nvSpPr>
          <p:cNvPr id="49" name="Rectangle 48"/>
          <p:cNvSpPr/>
          <p:nvPr/>
        </p:nvSpPr>
        <p:spPr>
          <a:xfrm>
            <a:off x="7255120" y="2016483"/>
            <a:ext cx="386644" cy="369332"/>
          </a:xfrm>
          <a:prstGeom prst="rect">
            <a:avLst/>
          </a:prstGeom>
        </p:spPr>
        <p:txBody>
          <a:bodyPr wrap="none">
            <a:spAutoFit/>
          </a:bodyPr>
          <a:lstStyle/>
          <a:p>
            <a:r>
              <a:rPr lang="en-US" dirty="0"/>
              <a:t>a</a:t>
            </a:r>
            <a:r>
              <a:rPr lang="en-US" sz="1200" dirty="0"/>
              <a:t>4</a:t>
            </a:r>
            <a:endParaRPr lang="en-US" dirty="0"/>
          </a:p>
        </p:txBody>
      </p:sp>
      <p:sp>
        <p:nvSpPr>
          <p:cNvPr id="50" name="Rectangle 49"/>
          <p:cNvSpPr/>
          <p:nvPr/>
        </p:nvSpPr>
        <p:spPr>
          <a:xfrm>
            <a:off x="7414305" y="4888998"/>
            <a:ext cx="466794" cy="369332"/>
          </a:xfrm>
          <a:prstGeom prst="rect">
            <a:avLst/>
          </a:prstGeom>
        </p:spPr>
        <p:txBody>
          <a:bodyPr wrap="none">
            <a:spAutoFit/>
          </a:bodyPr>
          <a:lstStyle/>
          <a:p>
            <a:r>
              <a:rPr lang="en-US" dirty="0"/>
              <a:t>a</a:t>
            </a:r>
            <a:r>
              <a:rPr lang="en-US" sz="1200" dirty="0"/>
              <a:t>10</a:t>
            </a:r>
            <a:endParaRPr lang="en-US" dirty="0"/>
          </a:p>
        </p:txBody>
      </p:sp>
      <p:sp>
        <p:nvSpPr>
          <p:cNvPr id="51" name="Rectangle 50"/>
          <p:cNvSpPr/>
          <p:nvPr/>
        </p:nvSpPr>
        <p:spPr>
          <a:xfrm>
            <a:off x="8859502" y="1028682"/>
            <a:ext cx="466794" cy="369332"/>
          </a:xfrm>
          <a:prstGeom prst="rect">
            <a:avLst/>
          </a:prstGeom>
        </p:spPr>
        <p:txBody>
          <a:bodyPr wrap="none">
            <a:spAutoFit/>
          </a:bodyPr>
          <a:lstStyle/>
          <a:p>
            <a:r>
              <a:rPr lang="en-US" dirty="0"/>
              <a:t>a</a:t>
            </a:r>
            <a:r>
              <a:rPr lang="en-US" sz="1200" dirty="0"/>
              <a:t>11</a:t>
            </a:r>
            <a:endParaRPr lang="en-US" dirty="0"/>
          </a:p>
        </p:txBody>
      </p:sp>
      <p:sp>
        <p:nvSpPr>
          <p:cNvPr id="52" name="Diamond 51"/>
          <p:cNvSpPr/>
          <p:nvPr/>
        </p:nvSpPr>
        <p:spPr>
          <a:xfrm>
            <a:off x="9838944" y="2425851"/>
            <a:ext cx="865632" cy="824747"/>
          </a:xfrm>
          <a:prstGeom prst="diamond">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9902332" y="2653558"/>
            <a:ext cx="715260" cy="369332"/>
          </a:xfrm>
          <a:prstGeom prst="rect">
            <a:avLst/>
          </a:prstGeom>
        </p:spPr>
        <p:txBody>
          <a:bodyPr wrap="none">
            <a:spAutoFit/>
          </a:bodyPr>
          <a:lstStyle/>
          <a:p>
            <a:r>
              <a:rPr lang="en-US" dirty="0"/>
              <a:t>If &gt; 0</a:t>
            </a:r>
          </a:p>
        </p:txBody>
      </p:sp>
      <p:cxnSp>
        <p:nvCxnSpPr>
          <p:cNvPr id="57" name="Straight Connector 56"/>
          <p:cNvCxnSpPr>
            <a:stCxn id="7" idx="6"/>
          </p:cNvCxnSpPr>
          <p:nvPr/>
        </p:nvCxnSpPr>
        <p:spPr>
          <a:xfrm>
            <a:off x="9306468" y="2858009"/>
            <a:ext cx="51573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52" idx="0"/>
          </p:cNvCxnSpPr>
          <p:nvPr/>
        </p:nvCxnSpPr>
        <p:spPr>
          <a:xfrm flipV="1">
            <a:off x="10271760" y="1674369"/>
            <a:ext cx="0" cy="7514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52" idx="2"/>
          </p:cNvCxnSpPr>
          <p:nvPr/>
        </p:nvCxnSpPr>
        <p:spPr>
          <a:xfrm flipH="1">
            <a:off x="10259962" y="3250598"/>
            <a:ext cx="11798" cy="8888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4" name="Rectangle 63"/>
          <p:cNvSpPr/>
          <p:nvPr/>
        </p:nvSpPr>
        <p:spPr>
          <a:xfrm>
            <a:off x="9839082" y="4182496"/>
            <a:ext cx="870751" cy="369332"/>
          </a:xfrm>
          <a:prstGeom prst="rect">
            <a:avLst/>
          </a:prstGeom>
        </p:spPr>
        <p:txBody>
          <a:bodyPr wrap="none">
            <a:spAutoFit/>
          </a:bodyPr>
          <a:lstStyle/>
          <a:p>
            <a:r>
              <a:rPr lang="en-US"/>
              <a:t>square</a:t>
            </a:r>
            <a:endParaRPr lang="en-US" dirty="0"/>
          </a:p>
        </p:txBody>
      </p:sp>
      <p:sp>
        <p:nvSpPr>
          <p:cNvPr id="65" name="Rectangle 64"/>
          <p:cNvSpPr/>
          <p:nvPr/>
        </p:nvSpPr>
        <p:spPr>
          <a:xfrm>
            <a:off x="9822202" y="1243831"/>
            <a:ext cx="761747" cy="369332"/>
          </a:xfrm>
          <a:prstGeom prst="rect">
            <a:avLst/>
          </a:prstGeom>
        </p:spPr>
        <p:txBody>
          <a:bodyPr wrap="none">
            <a:spAutoFit/>
          </a:bodyPr>
          <a:lstStyle/>
          <a:p>
            <a:r>
              <a:rPr lang="en-US" dirty="0"/>
              <a:t>circle</a:t>
            </a:r>
          </a:p>
        </p:txBody>
      </p:sp>
      <p:sp>
        <p:nvSpPr>
          <p:cNvPr id="66" name="Content Placeholder 2"/>
          <p:cNvSpPr txBox="1">
            <a:spLocks/>
          </p:cNvSpPr>
          <p:nvPr/>
        </p:nvSpPr>
        <p:spPr>
          <a:xfrm>
            <a:off x="2169036" y="5723011"/>
            <a:ext cx="10490538" cy="88213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lvl="1" indent="0">
              <a:buNone/>
            </a:pPr>
            <a:r>
              <a:rPr lang="en-US" dirty="0"/>
              <a:t>a</a:t>
            </a:r>
            <a:r>
              <a:rPr lang="en-US" sz="1100" dirty="0"/>
              <a:t>1</a:t>
            </a:r>
            <a:r>
              <a:rPr lang="en-US" dirty="0"/>
              <a:t>*(x</a:t>
            </a:r>
            <a:r>
              <a:rPr lang="en-US" sz="1100" dirty="0"/>
              <a:t>1</a:t>
            </a:r>
            <a:r>
              <a:rPr lang="en-US" dirty="0"/>
              <a:t>+y</a:t>
            </a:r>
            <a:r>
              <a:rPr lang="en-US" sz="1100" dirty="0"/>
              <a:t>1</a:t>
            </a:r>
            <a:r>
              <a:rPr lang="en-US" dirty="0"/>
              <a:t>)+a</a:t>
            </a:r>
            <a:r>
              <a:rPr lang="en-US" sz="1100" dirty="0"/>
              <a:t>2</a:t>
            </a:r>
            <a:r>
              <a:rPr lang="en-US" dirty="0"/>
              <a:t>*(x</a:t>
            </a:r>
            <a:r>
              <a:rPr lang="en-US" sz="1100" dirty="0"/>
              <a:t>2</a:t>
            </a:r>
            <a:r>
              <a:rPr lang="en-US" dirty="0"/>
              <a:t>+y</a:t>
            </a:r>
            <a:r>
              <a:rPr lang="en-US" sz="1100" dirty="0"/>
              <a:t>2</a:t>
            </a:r>
            <a:r>
              <a:rPr lang="en-US" dirty="0"/>
              <a:t>)+….+a</a:t>
            </a:r>
            <a:r>
              <a:rPr lang="en-US" sz="1100" dirty="0"/>
              <a:t>10</a:t>
            </a:r>
            <a:r>
              <a:rPr lang="en-US" dirty="0"/>
              <a:t>*(x</a:t>
            </a:r>
            <a:r>
              <a:rPr lang="en-US" sz="1100" dirty="0"/>
              <a:t>10</a:t>
            </a:r>
            <a:r>
              <a:rPr lang="en-US" dirty="0"/>
              <a:t>+y</a:t>
            </a:r>
            <a:r>
              <a:rPr lang="en-US" sz="1100" dirty="0"/>
              <a:t>10</a:t>
            </a:r>
            <a:r>
              <a:rPr lang="en-US" dirty="0"/>
              <a:t>)+a</a:t>
            </a:r>
            <a:r>
              <a:rPr lang="en-US" sz="1100" dirty="0"/>
              <a:t>11</a:t>
            </a:r>
            <a:r>
              <a:rPr lang="en-US" dirty="0"/>
              <a:t> &gt; 0 (for all square examples in training) </a:t>
            </a:r>
          </a:p>
          <a:p>
            <a:pPr marL="457200" lvl="1" indent="0">
              <a:buNone/>
            </a:pPr>
            <a:r>
              <a:rPr lang="en-US" dirty="0"/>
              <a:t>a</a:t>
            </a:r>
            <a:r>
              <a:rPr lang="en-US" sz="1050" dirty="0"/>
              <a:t>1</a:t>
            </a:r>
            <a:r>
              <a:rPr lang="en-US" dirty="0"/>
              <a:t>*(x</a:t>
            </a:r>
            <a:r>
              <a:rPr lang="en-US" sz="1050" dirty="0"/>
              <a:t>1</a:t>
            </a:r>
            <a:r>
              <a:rPr lang="en-US" dirty="0"/>
              <a:t>+y</a:t>
            </a:r>
            <a:r>
              <a:rPr lang="en-US" sz="1050" dirty="0"/>
              <a:t>1</a:t>
            </a:r>
            <a:r>
              <a:rPr lang="en-US" dirty="0"/>
              <a:t>)+a</a:t>
            </a:r>
            <a:r>
              <a:rPr lang="en-US" sz="1050" dirty="0"/>
              <a:t>2</a:t>
            </a:r>
            <a:r>
              <a:rPr lang="en-US" dirty="0"/>
              <a:t>*(x</a:t>
            </a:r>
            <a:r>
              <a:rPr lang="en-US" sz="1050" dirty="0"/>
              <a:t>2</a:t>
            </a:r>
            <a:r>
              <a:rPr lang="en-US" dirty="0"/>
              <a:t>+y</a:t>
            </a:r>
            <a:r>
              <a:rPr lang="en-US" sz="1050" dirty="0"/>
              <a:t>2</a:t>
            </a:r>
            <a:r>
              <a:rPr lang="en-US" dirty="0"/>
              <a:t>)+….+a</a:t>
            </a:r>
            <a:r>
              <a:rPr lang="en-US" sz="1050" dirty="0"/>
              <a:t>10</a:t>
            </a:r>
            <a:r>
              <a:rPr lang="en-US" dirty="0"/>
              <a:t>*(x</a:t>
            </a:r>
            <a:r>
              <a:rPr lang="en-US" sz="1050" dirty="0"/>
              <a:t>10</a:t>
            </a:r>
            <a:r>
              <a:rPr lang="en-US" dirty="0"/>
              <a:t>+y</a:t>
            </a:r>
            <a:r>
              <a:rPr lang="en-US" sz="1050" dirty="0"/>
              <a:t>10</a:t>
            </a:r>
            <a:r>
              <a:rPr lang="en-US" dirty="0"/>
              <a:t>)+a</a:t>
            </a:r>
            <a:r>
              <a:rPr lang="en-US" sz="1050" dirty="0"/>
              <a:t>11</a:t>
            </a:r>
            <a:r>
              <a:rPr lang="en-US" dirty="0"/>
              <a:t> &lt;= 0 (for all circle examples in training) </a:t>
            </a:r>
          </a:p>
          <a:p>
            <a:pPr marL="457200" lvl="1" indent="0">
              <a:buFont typeface="Wingdings 3" charset="2"/>
              <a:buNone/>
            </a:pPr>
            <a:endParaRPr lang="en-US" dirty="0"/>
          </a:p>
          <a:p>
            <a:endParaRPr lang="en-US" dirty="0"/>
          </a:p>
        </p:txBody>
      </p:sp>
      <p:sp>
        <p:nvSpPr>
          <p:cNvPr id="67" name="Rectangle 66"/>
          <p:cNvSpPr/>
          <p:nvPr/>
        </p:nvSpPr>
        <p:spPr>
          <a:xfrm>
            <a:off x="10385016" y="3363233"/>
            <a:ext cx="518091" cy="369332"/>
          </a:xfrm>
          <a:prstGeom prst="rect">
            <a:avLst/>
          </a:prstGeom>
        </p:spPr>
        <p:txBody>
          <a:bodyPr wrap="none">
            <a:spAutoFit/>
          </a:bodyPr>
          <a:lstStyle/>
          <a:p>
            <a:r>
              <a:rPr lang="en-US" dirty="0"/>
              <a:t>yes</a:t>
            </a:r>
          </a:p>
        </p:txBody>
      </p:sp>
      <p:sp>
        <p:nvSpPr>
          <p:cNvPr id="68" name="Rectangle 67"/>
          <p:cNvSpPr/>
          <p:nvPr/>
        </p:nvSpPr>
        <p:spPr>
          <a:xfrm>
            <a:off x="10317793" y="1990102"/>
            <a:ext cx="434734" cy="369332"/>
          </a:xfrm>
          <a:prstGeom prst="rect">
            <a:avLst/>
          </a:prstGeom>
        </p:spPr>
        <p:txBody>
          <a:bodyPr wrap="none">
            <a:spAutoFit/>
          </a:bodyPr>
          <a:lstStyle/>
          <a:p>
            <a:r>
              <a:rPr lang="en-US" dirty="0"/>
              <a:t>no</a:t>
            </a:r>
          </a:p>
        </p:txBody>
      </p:sp>
    </p:spTree>
    <p:extLst>
      <p:ext uri="{BB962C8B-B14F-4D97-AF65-F5344CB8AC3E}">
        <p14:creationId xmlns:p14="http://schemas.microsoft.com/office/powerpoint/2010/main" val="2587930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DL</a:t>
            </a:r>
          </a:p>
        </p:txBody>
      </p:sp>
      <p:sp>
        <p:nvSpPr>
          <p:cNvPr id="3" name="Content Placeholder 2"/>
          <p:cNvSpPr>
            <a:spLocks noGrp="1"/>
          </p:cNvSpPr>
          <p:nvPr>
            <p:ph idx="1"/>
          </p:nvPr>
        </p:nvSpPr>
        <p:spPr>
          <a:xfrm>
            <a:off x="1865484" y="1541863"/>
            <a:ext cx="4304521" cy="3777622"/>
          </a:xfrm>
        </p:spPr>
        <p:txBody>
          <a:bodyPr>
            <a:normAutofit/>
          </a:bodyPr>
          <a:lstStyle/>
          <a:p>
            <a:r>
              <a:rPr lang="en-US" dirty="0"/>
              <a:t>The whole purpose of training is to calculate set of 11 parameters (a1,a2,…,a11)</a:t>
            </a:r>
          </a:p>
          <a:p>
            <a:r>
              <a:rPr lang="en-US" dirty="0"/>
              <a:t>Test Phase:</a:t>
            </a:r>
          </a:p>
          <a:p>
            <a:pPr marL="457200" lvl="1" indent="0">
              <a:buNone/>
            </a:pPr>
            <a:r>
              <a:rPr lang="en-US" dirty="0"/>
              <a:t>Multiply and add those 11 parameters with input test points to see if the output is +</a:t>
            </a:r>
            <a:r>
              <a:rPr lang="en-US" dirty="0" err="1"/>
              <a:t>ve</a:t>
            </a:r>
            <a:r>
              <a:rPr lang="en-US" dirty="0"/>
              <a:t> or –</a:t>
            </a:r>
            <a:r>
              <a:rPr lang="en-US" dirty="0" err="1"/>
              <a:t>ve</a:t>
            </a:r>
            <a:r>
              <a:rPr lang="en-US" dirty="0"/>
              <a:t>. If +</a:t>
            </a:r>
            <a:r>
              <a:rPr lang="en-US" dirty="0" err="1"/>
              <a:t>ve</a:t>
            </a:r>
            <a:r>
              <a:rPr lang="en-US" dirty="0"/>
              <a:t> then given test case/example is a square, otherwise a circle. </a:t>
            </a:r>
          </a:p>
          <a:p>
            <a:pPr marL="800100" lvl="1" indent="-342900">
              <a:buFont typeface="Wingdings 3" charset="2"/>
              <a:buAutoNum type="arabicParenR"/>
            </a:pPr>
            <a:endParaRPr lang="en-US" dirty="0"/>
          </a:p>
          <a:p>
            <a:pPr marL="457200" lvl="1" indent="0">
              <a:buNone/>
            </a:pPr>
            <a:endParaRPr lang="en-US" dirty="0"/>
          </a:p>
          <a:p>
            <a:endParaRPr lang="en-US" dirty="0"/>
          </a:p>
        </p:txBody>
      </p:sp>
      <p:sp>
        <p:nvSpPr>
          <p:cNvPr id="5" name="Oval 4"/>
          <p:cNvSpPr/>
          <p:nvPr/>
        </p:nvSpPr>
        <p:spPr>
          <a:xfrm>
            <a:off x="6851904" y="609600"/>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851904" y="109931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858000" y="1674369"/>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851904" y="217627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845808" y="2720850"/>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845808" y="321056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851904" y="3785619"/>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6845808" y="428752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858000" y="4819909"/>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851904" y="5321812"/>
            <a:ext cx="134112" cy="170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8904132" y="2661920"/>
            <a:ext cx="402336" cy="39217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endCxn id="7" idx="1"/>
          </p:cNvCxnSpPr>
          <p:nvPr/>
        </p:nvCxnSpPr>
        <p:spPr>
          <a:xfrm>
            <a:off x="7066284" y="799325"/>
            <a:ext cx="1896769" cy="19200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078476" y="1283956"/>
            <a:ext cx="2036977" cy="15877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114032" y="1845057"/>
            <a:ext cx="2001421" cy="1026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7114032" y="2346960"/>
            <a:ext cx="2001421" cy="524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114032" y="2804697"/>
            <a:ext cx="2001421" cy="67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7114032" y="2871753"/>
            <a:ext cx="2001421" cy="338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7107936" y="2871753"/>
            <a:ext cx="2007517" cy="9992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7114032" y="2871753"/>
            <a:ext cx="2001421" cy="141576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7090668" y="2871753"/>
            <a:ext cx="2024785" cy="19481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7078476" y="2871753"/>
            <a:ext cx="2036977" cy="253540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9115453" y="1414272"/>
            <a:ext cx="0" cy="1195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5852298" y="429993"/>
            <a:ext cx="898003" cy="369332"/>
          </a:xfrm>
          <a:prstGeom prst="rect">
            <a:avLst/>
          </a:prstGeom>
        </p:spPr>
        <p:txBody>
          <a:bodyPr wrap="none">
            <a:spAutoFit/>
          </a:bodyPr>
          <a:lstStyle/>
          <a:p>
            <a:r>
              <a:rPr lang="en-US" dirty="0"/>
              <a:t>(x</a:t>
            </a:r>
            <a:r>
              <a:rPr lang="en-US" sz="1200" dirty="0"/>
              <a:t>1</a:t>
            </a:r>
            <a:r>
              <a:rPr lang="en-US" dirty="0"/>
              <a:t>, y</a:t>
            </a:r>
            <a:r>
              <a:rPr lang="en-US" sz="1200" dirty="0"/>
              <a:t>1</a:t>
            </a:r>
            <a:r>
              <a:rPr lang="en-US" dirty="0"/>
              <a:t>)</a:t>
            </a:r>
          </a:p>
        </p:txBody>
      </p:sp>
      <p:sp>
        <p:nvSpPr>
          <p:cNvPr id="42" name="Rectangle 41"/>
          <p:cNvSpPr/>
          <p:nvPr/>
        </p:nvSpPr>
        <p:spPr>
          <a:xfrm>
            <a:off x="5873633" y="954137"/>
            <a:ext cx="898003" cy="369332"/>
          </a:xfrm>
          <a:prstGeom prst="rect">
            <a:avLst/>
          </a:prstGeom>
        </p:spPr>
        <p:txBody>
          <a:bodyPr wrap="none">
            <a:spAutoFit/>
          </a:bodyPr>
          <a:lstStyle/>
          <a:p>
            <a:r>
              <a:rPr lang="en-US" dirty="0"/>
              <a:t>(x</a:t>
            </a:r>
            <a:r>
              <a:rPr lang="en-US" sz="1200" dirty="0"/>
              <a:t>2</a:t>
            </a:r>
            <a:r>
              <a:rPr lang="en-US" dirty="0"/>
              <a:t>, y</a:t>
            </a:r>
            <a:r>
              <a:rPr lang="en-US" sz="1200" dirty="0"/>
              <a:t>2</a:t>
            </a:r>
            <a:r>
              <a:rPr lang="en-US" dirty="0"/>
              <a:t>)</a:t>
            </a:r>
          </a:p>
        </p:txBody>
      </p:sp>
      <p:sp>
        <p:nvSpPr>
          <p:cNvPr id="43" name="Rectangle 42"/>
          <p:cNvSpPr/>
          <p:nvPr/>
        </p:nvSpPr>
        <p:spPr>
          <a:xfrm>
            <a:off x="5842575" y="5222490"/>
            <a:ext cx="1058303" cy="369332"/>
          </a:xfrm>
          <a:prstGeom prst="rect">
            <a:avLst/>
          </a:prstGeom>
        </p:spPr>
        <p:txBody>
          <a:bodyPr wrap="none">
            <a:spAutoFit/>
          </a:bodyPr>
          <a:lstStyle/>
          <a:p>
            <a:r>
              <a:rPr lang="en-US" dirty="0"/>
              <a:t>(x</a:t>
            </a:r>
            <a:r>
              <a:rPr lang="en-US" sz="1200" dirty="0"/>
              <a:t>10</a:t>
            </a:r>
            <a:r>
              <a:rPr lang="en-US" dirty="0"/>
              <a:t>, y</a:t>
            </a:r>
            <a:r>
              <a:rPr lang="en-US" sz="1200" dirty="0"/>
              <a:t>10</a:t>
            </a:r>
            <a:r>
              <a:rPr lang="en-US" dirty="0"/>
              <a:t>)</a:t>
            </a:r>
          </a:p>
        </p:txBody>
      </p:sp>
      <p:cxnSp>
        <p:nvCxnSpPr>
          <p:cNvPr id="45" name="Straight Connector 44"/>
          <p:cNvCxnSpPr/>
          <p:nvPr/>
        </p:nvCxnSpPr>
        <p:spPr>
          <a:xfrm>
            <a:off x="6371726" y="1674369"/>
            <a:ext cx="0" cy="3145540"/>
          </a:xfrm>
          <a:prstGeom prst="line">
            <a:avLst/>
          </a:prstGeom>
          <a:ln w="34925">
            <a:prstDash val="sysDot"/>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7648521" y="1059165"/>
            <a:ext cx="386644" cy="369332"/>
          </a:xfrm>
          <a:prstGeom prst="rect">
            <a:avLst/>
          </a:prstGeom>
        </p:spPr>
        <p:txBody>
          <a:bodyPr wrap="none">
            <a:spAutoFit/>
          </a:bodyPr>
          <a:lstStyle/>
          <a:p>
            <a:r>
              <a:rPr lang="en-US" dirty="0"/>
              <a:t>a</a:t>
            </a:r>
            <a:r>
              <a:rPr lang="en-US" sz="1200" dirty="0"/>
              <a:t>1</a:t>
            </a:r>
            <a:endParaRPr lang="en-US" dirty="0"/>
          </a:p>
        </p:txBody>
      </p:sp>
      <p:sp>
        <p:nvSpPr>
          <p:cNvPr id="47" name="Rectangle 46"/>
          <p:cNvSpPr/>
          <p:nvPr/>
        </p:nvSpPr>
        <p:spPr>
          <a:xfrm>
            <a:off x="7264184" y="1185919"/>
            <a:ext cx="386644" cy="369332"/>
          </a:xfrm>
          <a:prstGeom prst="rect">
            <a:avLst/>
          </a:prstGeom>
        </p:spPr>
        <p:txBody>
          <a:bodyPr wrap="none">
            <a:spAutoFit/>
          </a:bodyPr>
          <a:lstStyle/>
          <a:p>
            <a:r>
              <a:rPr lang="en-US" dirty="0"/>
              <a:t>a</a:t>
            </a:r>
            <a:r>
              <a:rPr lang="en-US" sz="1200" dirty="0"/>
              <a:t>2</a:t>
            </a:r>
            <a:endParaRPr lang="en-US" dirty="0"/>
          </a:p>
        </p:txBody>
      </p:sp>
      <p:sp>
        <p:nvSpPr>
          <p:cNvPr id="48" name="Rectangle 47"/>
          <p:cNvSpPr/>
          <p:nvPr/>
        </p:nvSpPr>
        <p:spPr>
          <a:xfrm>
            <a:off x="7255120" y="1553475"/>
            <a:ext cx="386644" cy="369332"/>
          </a:xfrm>
          <a:prstGeom prst="rect">
            <a:avLst/>
          </a:prstGeom>
        </p:spPr>
        <p:txBody>
          <a:bodyPr wrap="none">
            <a:spAutoFit/>
          </a:bodyPr>
          <a:lstStyle/>
          <a:p>
            <a:r>
              <a:rPr lang="en-US" dirty="0"/>
              <a:t>a</a:t>
            </a:r>
            <a:r>
              <a:rPr lang="en-US" sz="1200" dirty="0"/>
              <a:t>3</a:t>
            </a:r>
            <a:endParaRPr lang="en-US" dirty="0"/>
          </a:p>
        </p:txBody>
      </p:sp>
      <p:sp>
        <p:nvSpPr>
          <p:cNvPr id="49" name="Rectangle 48"/>
          <p:cNvSpPr/>
          <p:nvPr/>
        </p:nvSpPr>
        <p:spPr>
          <a:xfrm>
            <a:off x="7255120" y="2016483"/>
            <a:ext cx="386644" cy="369332"/>
          </a:xfrm>
          <a:prstGeom prst="rect">
            <a:avLst/>
          </a:prstGeom>
        </p:spPr>
        <p:txBody>
          <a:bodyPr wrap="none">
            <a:spAutoFit/>
          </a:bodyPr>
          <a:lstStyle/>
          <a:p>
            <a:r>
              <a:rPr lang="en-US" dirty="0"/>
              <a:t>a</a:t>
            </a:r>
            <a:r>
              <a:rPr lang="en-US" sz="1200" dirty="0"/>
              <a:t>4</a:t>
            </a:r>
            <a:endParaRPr lang="en-US" dirty="0"/>
          </a:p>
        </p:txBody>
      </p:sp>
      <p:sp>
        <p:nvSpPr>
          <p:cNvPr id="50" name="Rectangle 49"/>
          <p:cNvSpPr/>
          <p:nvPr/>
        </p:nvSpPr>
        <p:spPr>
          <a:xfrm>
            <a:off x="7414305" y="4888998"/>
            <a:ext cx="466794" cy="369332"/>
          </a:xfrm>
          <a:prstGeom prst="rect">
            <a:avLst/>
          </a:prstGeom>
        </p:spPr>
        <p:txBody>
          <a:bodyPr wrap="none">
            <a:spAutoFit/>
          </a:bodyPr>
          <a:lstStyle/>
          <a:p>
            <a:r>
              <a:rPr lang="en-US" dirty="0"/>
              <a:t>a</a:t>
            </a:r>
            <a:r>
              <a:rPr lang="en-US" sz="1200" dirty="0"/>
              <a:t>10</a:t>
            </a:r>
            <a:endParaRPr lang="en-US" dirty="0"/>
          </a:p>
        </p:txBody>
      </p:sp>
      <p:sp>
        <p:nvSpPr>
          <p:cNvPr id="51" name="Rectangle 50"/>
          <p:cNvSpPr/>
          <p:nvPr/>
        </p:nvSpPr>
        <p:spPr>
          <a:xfrm>
            <a:off x="8859502" y="1028682"/>
            <a:ext cx="466794" cy="369332"/>
          </a:xfrm>
          <a:prstGeom prst="rect">
            <a:avLst/>
          </a:prstGeom>
        </p:spPr>
        <p:txBody>
          <a:bodyPr wrap="none">
            <a:spAutoFit/>
          </a:bodyPr>
          <a:lstStyle/>
          <a:p>
            <a:r>
              <a:rPr lang="en-US" dirty="0"/>
              <a:t>a</a:t>
            </a:r>
            <a:r>
              <a:rPr lang="en-US" sz="1200" dirty="0"/>
              <a:t>11</a:t>
            </a:r>
            <a:endParaRPr lang="en-US" dirty="0"/>
          </a:p>
        </p:txBody>
      </p:sp>
      <p:sp>
        <p:nvSpPr>
          <p:cNvPr id="52" name="Diamond 51"/>
          <p:cNvSpPr/>
          <p:nvPr/>
        </p:nvSpPr>
        <p:spPr>
          <a:xfrm>
            <a:off x="9838944" y="2425851"/>
            <a:ext cx="865632" cy="824747"/>
          </a:xfrm>
          <a:prstGeom prst="diamond">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9902332" y="2653558"/>
            <a:ext cx="715260" cy="369332"/>
          </a:xfrm>
          <a:prstGeom prst="rect">
            <a:avLst/>
          </a:prstGeom>
        </p:spPr>
        <p:txBody>
          <a:bodyPr wrap="none">
            <a:spAutoFit/>
          </a:bodyPr>
          <a:lstStyle/>
          <a:p>
            <a:r>
              <a:rPr lang="en-US" dirty="0"/>
              <a:t>If &gt; 0</a:t>
            </a:r>
          </a:p>
        </p:txBody>
      </p:sp>
      <p:cxnSp>
        <p:nvCxnSpPr>
          <p:cNvPr id="57" name="Straight Connector 56"/>
          <p:cNvCxnSpPr>
            <a:stCxn id="7" idx="6"/>
          </p:cNvCxnSpPr>
          <p:nvPr/>
        </p:nvCxnSpPr>
        <p:spPr>
          <a:xfrm>
            <a:off x="9306468" y="2858009"/>
            <a:ext cx="51573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52" idx="0"/>
          </p:cNvCxnSpPr>
          <p:nvPr/>
        </p:nvCxnSpPr>
        <p:spPr>
          <a:xfrm flipV="1">
            <a:off x="10271760" y="1674369"/>
            <a:ext cx="0" cy="7514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52" idx="2"/>
          </p:cNvCxnSpPr>
          <p:nvPr/>
        </p:nvCxnSpPr>
        <p:spPr>
          <a:xfrm flipH="1">
            <a:off x="10259962" y="3250598"/>
            <a:ext cx="11798" cy="8888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4" name="Rectangle 63"/>
          <p:cNvSpPr/>
          <p:nvPr/>
        </p:nvSpPr>
        <p:spPr>
          <a:xfrm>
            <a:off x="9839082" y="4182496"/>
            <a:ext cx="870751" cy="369332"/>
          </a:xfrm>
          <a:prstGeom prst="rect">
            <a:avLst/>
          </a:prstGeom>
        </p:spPr>
        <p:txBody>
          <a:bodyPr wrap="none">
            <a:spAutoFit/>
          </a:bodyPr>
          <a:lstStyle/>
          <a:p>
            <a:r>
              <a:rPr lang="en-US"/>
              <a:t>square</a:t>
            </a:r>
            <a:endParaRPr lang="en-US" dirty="0"/>
          </a:p>
        </p:txBody>
      </p:sp>
      <p:sp>
        <p:nvSpPr>
          <p:cNvPr id="65" name="Rectangle 64"/>
          <p:cNvSpPr/>
          <p:nvPr/>
        </p:nvSpPr>
        <p:spPr>
          <a:xfrm>
            <a:off x="9822202" y="1243831"/>
            <a:ext cx="761747" cy="369332"/>
          </a:xfrm>
          <a:prstGeom prst="rect">
            <a:avLst/>
          </a:prstGeom>
        </p:spPr>
        <p:txBody>
          <a:bodyPr wrap="none">
            <a:spAutoFit/>
          </a:bodyPr>
          <a:lstStyle/>
          <a:p>
            <a:r>
              <a:rPr lang="en-US" dirty="0"/>
              <a:t>circle</a:t>
            </a:r>
          </a:p>
        </p:txBody>
      </p:sp>
      <p:sp>
        <p:nvSpPr>
          <p:cNvPr id="66" name="Content Placeholder 2"/>
          <p:cNvSpPr txBox="1">
            <a:spLocks/>
          </p:cNvSpPr>
          <p:nvPr/>
        </p:nvSpPr>
        <p:spPr>
          <a:xfrm>
            <a:off x="1826871" y="6029075"/>
            <a:ext cx="5165241" cy="88213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lvl="1" indent="0">
              <a:buNone/>
            </a:pPr>
            <a:r>
              <a:rPr lang="en-US" dirty="0"/>
              <a:t>a</a:t>
            </a:r>
            <a:r>
              <a:rPr lang="en-US" sz="1100" dirty="0"/>
              <a:t>1</a:t>
            </a:r>
            <a:r>
              <a:rPr lang="en-US" dirty="0"/>
              <a:t>*(x</a:t>
            </a:r>
            <a:r>
              <a:rPr lang="en-US" sz="1100" dirty="0"/>
              <a:t>1</a:t>
            </a:r>
            <a:r>
              <a:rPr lang="en-US" dirty="0"/>
              <a:t>+y</a:t>
            </a:r>
            <a:r>
              <a:rPr lang="en-US" sz="1100" dirty="0"/>
              <a:t>1</a:t>
            </a:r>
            <a:r>
              <a:rPr lang="en-US" dirty="0"/>
              <a:t>)+a</a:t>
            </a:r>
            <a:r>
              <a:rPr lang="en-US" sz="1100" dirty="0"/>
              <a:t>2</a:t>
            </a:r>
            <a:r>
              <a:rPr lang="en-US" dirty="0"/>
              <a:t>*(x</a:t>
            </a:r>
            <a:r>
              <a:rPr lang="en-US" sz="1100" dirty="0"/>
              <a:t>2</a:t>
            </a:r>
            <a:r>
              <a:rPr lang="en-US" dirty="0"/>
              <a:t>+y</a:t>
            </a:r>
            <a:r>
              <a:rPr lang="en-US" sz="1100" dirty="0"/>
              <a:t>2</a:t>
            </a:r>
            <a:r>
              <a:rPr lang="en-US" dirty="0"/>
              <a:t>)+….+a</a:t>
            </a:r>
            <a:r>
              <a:rPr lang="en-US" sz="1100" dirty="0"/>
              <a:t>10</a:t>
            </a:r>
            <a:r>
              <a:rPr lang="en-US" dirty="0"/>
              <a:t>*(x</a:t>
            </a:r>
            <a:r>
              <a:rPr lang="en-US" sz="1100" dirty="0"/>
              <a:t>10</a:t>
            </a:r>
            <a:r>
              <a:rPr lang="en-US" dirty="0"/>
              <a:t>+y</a:t>
            </a:r>
            <a:r>
              <a:rPr lang="en-US" sz="1100" dirty="0"/>
              <a:t>10</a:t>
            </a:r>
            <a:r>
              <a:rPr lang="en-US" dirty="0"/>
              <a:t>)+a</a:t>
            </a:r>
            <a:r>
              <a:rPr lang="en-US" sz="1100" dirty="0"/>
              <a:t>11</a:t>
            </a:r>
            <a:r>
              <a:rPr lang="en-US" dirty="0"/>
              <a:t> = ?</a:t>
            </a:r>
          </a:p>
          <a:p>
            <a:endParaRPr lang="en-US" dirty="0"/>
          </a:p>
        </p:txBody>
      </p:sp>
      <p:sp>
        <p:nvSpPr>
          <p:cNvPr id="67" name="Rectangle 66"/>
          <p:cNvSpPr/>
          <p:nvPr/>
        </p:nvSpPr>
        <p:spPr>
          <a:xfrm>
            <a:off x="10385016" y="3363233"/>
            <a:ext cx="518091" cy="369332"/>
          </a:xfrm>
          <a:prstGeom prst="rect">
            <a:avLst/>
          </a:prstGeom>
        </p:spPr>
        <p:txBody>
          <a:bodyPr wrap="none">
            <a:spAutoFit/>
          </a:bodyPr>
          <a:lstStyle/>
          <a:p>
            <a:r>
              <a:rPr lang="en-US" dirty="0"/>
              <a:t>yes</a:t>
            </a:r>
          </a:p>
        </p:txBody>
      </p:sp>
      <p:sp>
        <p:nvSpPr>
          <p:cNvPr id="68" name="Rectangle 67"/>
          <p:cNvSpPr/>
          <p:nvPr/>
        </p:nvSpPr>
        <p:spPr>
          <a:xfrm>
            <a:off x="10317793" y="1990102"/>
            <a:ext cx="434734" cy="369332"/>
          </a:xfrm>
          <a:prstGeom prst="rect">
            <a:avLst/>
          </a:prstGeom>
        </p:spPr>
        <p:txBody>
          <a:bodyPr wrap="none">
            <a:spAutoFit/>
          </a:bodyPr>
          <a:lstStyle/>
          <a:p>
            <a:r>
              <a:rPr lang="en-US" dirty="0"/>
              <a:t>no</a:t>
            </a:r>
          </a:p>
        </p:txBody>
      </p:sp>
    </p:spTree>
    <p:extLst>
      <p:ext uri="{BB962C8B-B14F-4D97-AF65-F5344CB8AC3E}">
        <p14:creationId xmlns:p14="http://schemas.microsoft.com/office/powerpoint/2010/main" val="3096676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graphicFrame>
        <p:nvGraphicFramePr>
          <p:cNvPr id="4" name="Content Placeholder 3"/>
          <p:cNvGraphicFramePr>
            <a:graphicFrameLocks noGrp="1"/>
          </p:cNvGraphicFramePr>
          <p:nvPr>
            <p:ph idx="1"/>
          </p:nvPr>
        </p:nvGraphicFramePr>
        <p:xfrm>
          <a:off x="2589213" y="2133600"/>
          <a:ext cx="8915397" cy="3263984"/>
        </p:xfrm>
        <a:graphic>
          <a:graphicData uri="http://schemas.openxmlformats.org/drawingml/2006/table">
            <a:tbl>
              <a:tblPr firstRow="1" bandRow="1">
                <a:tableStyleId>{5C22544A-7EE6-4342-B048-85BDC9FD1C3A}</a:tableStyleId>
              </a:tblPr>
              <a:tblGrid>
                <a:gridCol w="2971799">
                  <a:extLst>
                    <a:ext uri="{9D8B030D-6E8A-4147-A177-3AD203B41FA5}">
                      <a16:colId xmlns:a16="http://schemas.microsoft.com/office/drawing/2014/main" val="20000"/>
                    </a:ext>
                  </a:extLst>
                </a:gridCol>
                <a:gridCol w="2971799">
                  <a:extLst>
                    <a:ext uri="{9D8B030D-6E8A-4147-A177-3AD203B41FA5}">
                      <a16:colId xmlns:a16="http://schemas.microsoft.com/office/drawing/2014/main" val="20001"/>
                    </a:ext>
                  </a:extLst>
                </a:gridCol>
                <a:gridCol w="2971799">
                  <a:extLst>
                    <a:ext uri="{9D8B030D-6E8A-4147-A177-3AD203B41FA5}">
                      <a16:colId xmlns:a16="http://schemas.microsoft.com/office/drawing/2014/main" val="20002"/>
                    </a:ext>
                  </a:extLst>
                </a:gridCol>
              </a:tblGrid>
              <a:tr h="815996">
                <a:tc>
                  <a:txBody>
                    <a:bodyPr/>
                    <a:lstStyle/>
                    <a:p>
                      <a:r>
                        <a:rPr lang="en-US" dirty="0"/>
                        <a:t>Scheme</a:t>
                      </a:r>
                    </a:p>
                  </a:txBody>
                  <a:tcPr marL="94834" marR="94834"/>
                </a:tc>
                <a:tc>
                  <a:txBody>
                    <a:bodyPr/>
                    <a:lstStyle/>
                    <a:p>
                      <a:r>
                        <a:rPr lang="en-US" dirty="0"/>
                        <a:t>Training Set required</a:t>
                      </a:r>
                    </a:p>
                  </a:txBody>
                  <a:tcPr marL="94834" marR="94834"/>
                </a:tc>
                <a:tc>
                  <a:txBody>
                    <a:bodyPr/>
                    <a:lstStyle/>
                    <a:p>
                      <a:r>
                        <a:rPr lang="en-US" dirty="0"/>
                        <a:t>Pre-Determined Features required</a:t>
                      </a:r>
                    </a:p>
                  </a:txBody>
                  <a:tcPr marL="94834" marR="94834"/>
                </a:tc>
                <a:extLst>
                  <a:ext uri="{0D108BD9-81ED-4DB2-BD59-A6C34878D82A}">
                    <a16:rowId xmlns:a16="http://schemas.microsoft.com/office/drawing/2014/main" val="10000"/>
                  </a:ext>
                </a:extLst>
              </a:tr>
              <a:tr h="815996">
                <a:tc>
                  <a:txBody>
                    <a:bodyPr/>
                    <a:lstStyle/>
                    <a:p>
                      <a:r>
                        <a:rPr lang="en-US" dirty="0"/>
                        <a:t>AI</a:t>
                      </a:r>
                    </a:p>
                  </a:txBody>
                  <a:tcPr marL="94834" marR="94834"/>
                </a:tc>
                <a:tc>
                  <a:txBody>
                    <a:bodyPr/>
                    <a:lstStyle/>
                    <a:p>
                      <a:r>
                        <a:rPr lang="en-US" dirty="0"/>
                        <a:t>No</a:t>
                      </a:r>
                    </a:p>
                  </a:txBody>
                  <a:tcPr marL="94834" marR="94834"/>
                </a:tc>
                <a:tc>
                  <a:txBody>
                    <a:bodyPr/>
                    <a:lstStyle/>
                    <a:p>
                      <a:r>
                        <a:rPr lang="en-US" dirty="0"/>
                        <a:t>Yes</a:t>
                      </a:r>
                    </a:p>
                  </a:txBody>
                  <a:tcPr marL="94834" marR="94834"/>
                </a:tc>
                <a:extLst>
                  <a:ext uri="{0D108BD9-81ED-4DB2-BD59-A6C34878D82A}">
                    <a16:rowId xmlns:a16="http://schemas.microsoft.com/office/drawing/2014/main" val="10001"/>
                  </a:ext>
                </a:extLst>
              </a:tr>
              <a:tr h="815996">
                <a:tc>
                  <a:txBody>
                    <a:bodyPr/>
                    <a:lstStyle/>
                    <a:p>
                      <a:r>
                        <a:rPr lang="en-US" dirty="0"/>
                        <a:t>ML</a:t>
                      </a:r>
                    </a:p>
                  </a:txBody>
                  <a:tcPr marL="94834" marR="94834"/>
                </a:tc>
                <a:tc>
                  <a:txBody>
                    <a:bodyPr/>
                    <a:lstStyle/>
                    <a:p>
                      <a:r>
                        <a:rPr lang="en-US" dirty="0"/>
                        <a:t>Yes</a:t>
                      </a:r>
                    </a:p>
                  </a:txBody>
                  <a:tcPr marL="94834" marR="94834"/>
                </a:tc>
                <a:tc>
                  <a:txBody>
                    <a:bodyPr/>
                    <a:lstStyle/>
                    <a:p>
                      <a:r>
                        <a:rPr lang="en-US" dirty="0"/>
                        <a:t>Yes</a:t>
                      </a:r>
                    </a:p>
                  </a:txBody>
                  <a:tcPr marL="94834" marR="94834"/>
                </a:tc>
                <a:extLst>
                  <a:ext uri="{0D108BD9-81ED-4DB2-BD59-A6C34878D82A}">
                    <a16:rowId xmlns:a16="http://schemas.microsoft.com/office/drawing/2014/main" val="10002"/>
                  </a:ext>
                </a:extLst>
              </a:tr>
              <a:tr h="815996">
                <a:tc>
                  <a:txBody>
                    <a:bodyPr/>
                    <a:lstStyle/>
                    <a:p>
                      <a:r>
                        <a:rPr lang="en-US" dirty="0"/>
                        <a:t>DL</a:t>
                      </a:r>
                    </a:p>
                  </a:txBody>
                  <a:tcPr marL="94834" marR="94834"/>
                </a:tc>
                <a:tc>
                  <a:txBody>
                    <a:bodyPr/>
                    <a:lstStyle/>
                    <a:p>
                      <a:r>
                        <a:rPr lang="en-US" dirty="0"/>
                        <a:t>Yes</a:t>
                      </a:r>
                    </a:p>
                  </a:txBody>
                  <a:tcPr marL="94834" marR="94834"/>
                </a:tc>
                <a:tc>
                  <a:txBody>
                    <a:bodyPr/>
                    <a:lstStyle/>
                    <a:p>
                      <a:r>
                        <a:rPr lang="en-US" dirty="0"/>
                        <a:t>No</a:t>
                      </a:r>
                    </a:p>
                  </a:txBody>
                  <a:tcPr marL="94834" marR="94834"/>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65398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42D4F-9407-1B38-BB4C-5D5097836190}"/>
              </a:ext>
            </a:extLst>
          </p:cNvPr>
          <p:cNvSpPr>
            <a:spLocks noGrp="1"/>
          </p:cNvSpPr>
          <p:nvPr>
            <p:ph idx="1"/>
          </p:nvPr>
        </p:nvSpPr>
        <p:spPr>
          <a:xfrm>
            <a:off x="405063" y="3864488"/>
            <a:ext cx="5889860" cy="2801007"/>
          </a:xfrm>
        </p:spPr>
        <p:txBody>
          <a:bodyPr>
            <a:noAutofit/>
          </a:bodyPr>
          <a:lstStyle/>
          <a:p>
            <a:pPr marL="0" indent="0">
              <a:lnSpc>
                <a:spcPct val="150000"/>
              </a:lnSpc>
              <a:buNone/>
            </a:pPr>
            <a:r>
              <a:rPr lang="en-GB" sz="5400" dirty="0">
                <a:latin typeface="Ink Free" panose="03080402000500000000" pitchFamily="66" charset="0"/>
              </a:rPr>
              <a:t>What is Machine Learning?</a:t>
            </a:r>
            <a:endParaRPr lang="en-US" sz="5400" dirty="0">
              <a:latin typeface="Ink Free" panose="03080402000500000000" pitchFamily="66"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3825" y="640381"/>
            <a:ext cx="10058400" cy="5280660"/>
          </a:xfrm>
          <a:prstGeom prst="rect">
            <a:avLst/>
          </a:prstGeom>
        </p:spPr>
      </p:pic>
    </p:spTree>
    <p:extLst>
      <p:ext uri="{BB962C8B-B14F-4D97-AF65-F5344CB8AC3E}">
        <p14:creationId xmlns:p14="http://schemas.microsoft.com/office/powerpoint/2010/main" val="807962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Machine Learning?</a:t>
            </a:r>
          </a:p>
        </p:txBody>
      </p:sp>
      <p:sp>
        <p:nvSpPr>
          <p:cNvPr id="4" name="Slide Number Placeholder 3"/>
          <p:cNvSpPr>
            <a:spLocks noGrp="1"/>
          </p:cNvSpPr>
          <p:nvPr>
            <p:ph type="sldNum" sz="quarter" idx="4294967295"/>
          </p:nvPr>
        </p:nvSpPr>
        <p:spPr>
          <a:xfrm>
            <a:off x="9322549" y="5734049"/>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38962B-3372-4E19-A38D-6FA8987A1852}" type="slidenum">
              <a:rPr lang="en-US" smtClean="0"/>
              <a:pPr/>
              <a:t>19</a:t>
            </a:fld>
            <a:endParaRPr lang="en-US"/>
          </a:p>
        </p:txBody>
      </p:sp>
      <p:grpSp>
        <p:nvGrpSpPr>
          <p:cNvPr id="10" name="Group 9"/>
          <p:cNvGrpSpPr/>
          <p:nvPr/>
        </p:nvGrpSpPr>
        <p:grpSpPr>
          <a:xfrm>
            <a:off x="3327133" y="2209800"/>
            <a:ext cx="2971800" cy="3389531"/>
            <a:chOff x="609600" y="2209800"/>
            <a:chExt cx="2971800" cy="3389531"/>
          </a:xfrm>
        </p:grpSpPr>
        <p:pic>
          <p:nvPicPr>
            <p:cNvPr id="1029" name="Picture 5"/>
            <p:cNvPicPr>
              <a:picLocks noChangeAspect="1" noChangeArrowheads="1"/>
            </p:cNvPicPr>
            <p:nvPr/>
          </p:nvPicPr>
          <p:blipFill>
            <a:blip r:embed="rId2" cstate="print"/>
            <a:srcRect/>
            <a:stretch>
              <a:fillRect/>
            </a:stretch>
          </p:blipFill>
          <p:spPr bwMode="auto">
            <a:xfrm>
              <a:off x="609600" y="2209800"/>
              <a:ext cx="2819400" cy="2593848"/>
            </a:xfrm>
            <a:prstGeom prst="rect">
              <a:avLst/>
            </a:prstGeom>
            <a:noFill/>
            <a:ln w="9525">
              <a:noFill/>
              <a:miter lim="800000"/>
              <a:headEnd/>
              <a:tailEnd/>
            </a:ln>
            <a:effectLst/>
          </p:spPr>
        </p:pic>
        <p:sp>
          <p:nvSpPr>
            <p:cNvPr id="11" name="TextBox 10"/>
            <p:cNvSpPr txBox="1"/>
            <p:nvPr/>
          </p:nvSpPr>
          <p:spPr>
            <a:xfrm>
              <a:off x="1066801" y="4953000"/>
              <a:ext cx="2514599" cy="646331"/>
            </a:xfrm>
            <a:prstGeom prst="rect">
              <a:avLst/>
            </a:prstGeom>
            <a:noFill/>
          </p:spPr>
          <p:txBody>
            <a:bodyPr wrap="square" rtlCol="0">
              <a:spAutoFit/>
            </a:bodyPr>
            <a:lstStyle/>
            <a:p>
              <a:r>
                <a:rPr lang="en-US" dirty="0"/>
                <a:t>Make the machine ‘</a:t>
              </a:r>
              <a:r>
                <a:rPr lang="en-US" i="1" dirty="0"/>
                <a:t>learn’</a:t>
              </a:r>
              <a:r>
                <a:rPr lang="en-US" dirty="0"/>
                <a:t> some thing</a:t>
              </a:r>
            </a:p>
          </p:txBody>
        </p:sp>
      </p:grpSp>
      <p:grpSp>
        <p:nvGrpSpPr>
          <p:cNvPr id="13" name="Group 12"/>
          <p:cNvGrpSpPr/>
          <p:nvPr/>
        </p:nvGrpSpPr>
        <p:grpSpPr>
          <a:xfrm>
            <a:off x="7441933" y="1905000"/>
            <a:ext cx="3429000" cy="3694331"/>
            <a:chOff x="4724400" y="1905000"/>
            <a:chExt cx="3429000" cy="3694331"/>
          </a:xfrm>
        </p:grpSpPr>
        <p:pic>
          <p:nvPicPr>
            <p:cNvPr id="1027" name="Picture 3"/>
            <p:cNvPicPr>
              <a:picLocks noChangeAspect="1" noChangeArrowheads="1"/>
            </p:cNvPicPr>
            <p:nvPr/>
          </p:nvPicPr>
          <p:blipFill>
            <a:blip r:embed="rId3" cstate="print"/>
            <a:srcRect/>
            <a:stretch>
              <a:fillRect/>
            </a:stretch>
          </p:blipFill>
          <p:spPr bwMode="auto">
            <a:xfrm>
              <a:off x="4724400" y="1905000"/>
              <a:ext cx="3048000" cy="2952750"/>
            </a:xfrm>
            <a:prstGeom prst="rect">
              <a:avLst/>
            </a:prstGeom>
            <a:noFill/>
            <a:ln w="9525">
              <a:noFill/>
              <a:miter lim="800000"/>
              <a:headEnd/>
              <a:tailEnd/>
            </a:ln>
            <a:effectLst/>
          </p:spPr>
        </p:pic>
        <p:sp>
          <p:nvSpPr>
            <p:cNvPr id="12" name="TextBox 11"/>
            <p:cNvSpPr txBox="1"/>
            <p:nvPr/>
          </p:nvSpPr>
          <p:spPr>
            <a:xfrm>
              <a:off x="5486401" y="4953000"/>
              <a:ext cx="2666999" cy="646331"/>
            </a:xfrm>
            <a:prstGeom prst="rect">
              <a:avLst/>
            </a:prstGeom>
            <a:noFill/>
          </p:spPr>
          <p:txBody>
            <a:bodyPr wrap="square" rtlCol="0">
              <a:spAutoFit/>
            </a:bodyPr>
            <a:lstStyle/>
            <a:p>
              <a:r>
                <a:rPr lang="en-US" dirty="0"/>
                <a:t>Evaluate how good the machine has ‘</a:t>
              </a:r>
              <a:r>
                <a:rPr lang="en-US" i="1" dirty="0"/>
                <a:t>learned’</a:t>
              </a:r>
            </a:p>
          </p:txBody>
        </p:sp>
      </p:grpSp>
    </p:spTree>
    <p:extLst>
      <p:ext uri="{BB962C8B-B14F-4D97-AF65-F5344CB8AC3E}">
        <p14:creationId xmlns:p14="http://schemas.microsoft.com/office/powerpoint/2010/main" val="624747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lumMod val="75000"/>
                  </a:schemeClr>
                </a:solidFill>
              </a:rPr>
              <a:t>Machine Learning</a:t>
            </a:r>
          </a:p>
        </p:txBody>
      </p:sp>
      <p:sp>
        <p:nvSpPr>
          <p:cNvPr id="3" name="Content Placeholder 2"/>
          <p:cNvSpPr>
            <a:spLocks noGrp="1"/>
          </p:cNvSpPr>
          <p:nvPr>
            <p:ph idx="1"/>
          </p:nvPr>
        </p:nvSpPr>
        <p:spPr>
          <a:xfrm>
            <a:off x="2152650" y="2125267"/>
            <a:ext cx="5787390" cy="1406604"/>
          </a:xfrm>
        </p:spPr>
        <p:txBody>
          <a:bodyPr>
            <a:normAutofit/>
          </a:bodyPr>
          <a:lstStyle/>
          <a:p>
            <a:pPr marL="0" indent="0">
              <a:buNone/>
            </a:pPr>
            <a:r>
              <a:rPr lang="en-US" spc="-94" dirty="0">
                <a:latin typeface="Arial"/>
                <a:cs typeface="Arial"/>
              </a:rPr>
              <a:t>“Machine learning is concerned with computer programs that automatically improve their performance through experience.”</a:t>
            </a:r>
          </a:p>
          <a:p>
            <a:pPr marL="0" indent="0">
              <a:buNone/>
            </a:pPr>
            <a:r>
              <a:rPr lang="en-US" spc="-94" dirty="0">
                <a:solidFill>
                  <a:schemeClr val="tx2"/>
                </a:solidFill>
                <a:latin typeface="Arial"/>
                <a:cs typeface="Arial"/>
              </a:rPr>
              <a:t>- Herbert Simon</a:t>
            </a:r>
            <a:endParaRPr lang="en-US" dirty="0">
              <a:solidFill>
                <a:schemeClr val="tx2"/>
              </a:solidFill>
            </a:endParaRPr>
          </a:p>
        </p:txBody>
      </p:sp>
      <p:sp>
        <p:nvSpPr>
          <p:cNvPr id="4" name="object 5"/>
          <p:cNvSpPr/>
          <p:nvPr/>
        </p:nvSpPr>
        <p:spPr>
          <a:xfrm>
            <a:off x="8650235" y="2059541"/>
            <a:ext cx="928106" cy="1252061"/>
          </a:xfrm>
          <a:prstGeom prst="rect">
            <a:avLst/>
          </a:prstGeom>
          <a:blipFill>
            <a:blip r:embed="rId2" cstate="print"/>
            <a:stretch>
              <a:fillRect/>
            </a:stretch>
          </a:blipFill>
        </p:spPr>
        <p:txBody>
          <a:bodyPr wrap="square" lIns="0" tIns="0" rIns="0" bIns="0" rtlCol="0"/>
          <a:lstStyle/>
          <a:p>
            <a:endParaRPr sz="1350"/>
          </a:p>
        </p:txBody>
      </p:sp>
      <p:sp>
        <p:nvSpPr>
          <p:cNvPr id="5" name="Rectangle 4"/>
          <p:cNvSpPr/>
          <p:nvPr/>
        </p:nvSpPr>
        <p:spPr>
          <a:xfrm>
            <a:off x="2152651" y="3686412"/>
            <a:ext cx="7532370" cy="1977464"/>
          </a:xfrm>
          <a:prstGeom prst="rect">
            <a:avLst/>
          </a:prstGeom>
        </p:spPr>
        <p:txBody>
          <a:bodyPr wrap="square">
            <a:spAutoFit/>
          </a:bodyPr>
          <a:lstStyle/>
          <a:p>
            <a:pPr marL="9525" marR="3810" algn="just">
              <a:spcBef>
                <a:spcPts val="75"/>
              </a:spcBef>
              <a:buClr>
                <a:srgbClr val="CC8E5F"/>
              </a:buClr>
              <a:buSzPct val="60000"/>
              <a:tabLst>
                <a:tab pos="250031" algn="l"/>
              </a:tabLst>
            </a:pPr>
            <a:r>
              <a:rPr lang="en-US" sz="1500" spc="-94" dirty="0">
                <a:latin typeface="Arial"/>
                <a:cs typeface="Arial"/>
              </a:rPr>
              <a:t>“A computer program is said to learn from </a:t>
            </a:r>
            <a:r>
              <a:rPr lang="en-US" sz="1500" b="1" spc="-94" dirty="0">
                <a:solidFill>
                  <a:schemeClr val="accent2">
                    <a:lumMod val="75000"/>
                  </a:schemeClr>
                </a:solidFill>
                <a:latin typeface="Arial"/>
                <a:cs typeface="Arial"/>
              </a:rPr>
              <a:t>experience E</a:t>
            </a:r>
            <a:r>
              <a:rPr lang="en-US" sz="1500" spc="-94" dirty="0">
                <a:latin typeface="Arial"/>
                <a:cs typeface="Arial"/>
              </a:rPr>
              <a:t> with respect to some  </a:t>
            </a:r>
            <a:r>
              <a:rPr lang="en-US" sz="1500" b="1" spc="-94" dirty="0">
                <a:solidFill>
                  <a:schemeClr val="accent2">
                    <a:lumMod val="75000"/>
                  </a:schemeClr>
                </a:solidFill>
                <a:latin typeface="Arial"/>
                <a:cs typeface="Arial"/>
              </a:rPr>
              <a:t>classes of tasks T </a:t>
            </a:r>
            <a:r>
              <a:rPr lang="en-US" sz="1500" spc="-94" dirty="0">
                <a:latin typeface="Arial"/>
                <a:cs typeface="Arial"/>
              </a:rPr>
              <a:t>and </a:t>
            </a:r>
            <a:r>
              <a:rPr lang="en-US" sz="1500" b="1" spc="-94" dirty="0">
                <a:solidFill>
                  <a:schemeClr val="accent2">
                    <a:lumMod val="75000"/>
                  </a:schemeClr>
                </a:solidFill>
                <a:latin typeface="Arial"/>
                <a:cs typeface="Arial"/>
              </a:rPr>
              <a:t>performance measure P</a:t>
            </a:r>
            <a:r>
              <a:rPr lang="en-US" sz="1500" spc="-94" dirty="0">
                <a:latin typeface="Arial"/>
                <a:cs typeface="Arial"/>
              </a:rPr>
              <a:t>, if its performance at task in T,  as measured by P, improves with the experience E.” (Tom Mitchell 1998)</a:t>
            </a:r>
          </a:p>
          <a:p>
            <a:pPr>
              <a:lnSpc>
                <a:spcPct val="100000"/>
              </a:lnSpc>
              <a:buClr>
                <a:srgbClr val="CC8E5F"/>
              </a:buClr>
              <a:buFont typeface="Wingdings"/>
              <a:buChar char=""/>
            </a:pPr>
            <a:endParaRPr lang="en-US" sz="1500" spc="-94" dirty="0">
              <a:latin typeface="Arial"/>
              <a:cs typeface="Arial"/>
            </a:endParaRPr>
          </a:p>
          <a:p>
            <a:pPr marL="250031" indent="-240506">
              <a:spcBef>
                <a:spcPts val="4"/>
              </a:spcBef>
              <a:buClr>
                <a:srgbClr val="CC8E5F"/>
              </a:buClr>
              <a:buSzPct val="60000"/>
              <a:buFont typeface="Wingdings"/>
              <a:buChar char=""/>
              <a:tabLst>
                <a:tab pos="249555" algn="l"/>
                <a:tab pos="250031" algn="l"/>
              </a:tabLst>
            </a:pPr>
            <a:r>
              <a:rPr lang="en-US" sz="1500" spc="-94" dirty="0">
                <a:latin typeface="Arial"/>
                <a:cs typeface="Arial"/>
              </a:rPr>
              <a:t>Learning = Improving with experience at some task</a:t>
            </a:r>
          </a:p>
          <a:p>
            <a:pPr marL="592931" lvl="1" indent="-240506">
              <a:spcBef>
                <a:spcPts val="71"/>
              </a:spcBef>
              <a:buClr>
                <a:srgbClr val="CC8E5F"/>
              </a:buClr>
              <a:buSzPct val="60000"/>
              <a:buFont typeface="Wingdings"/>
              <a:buChar char=""/>
              <a:tabLst>
                <a:tab pos="592455" algn="l"/>
                <a:tab pos="592931" algn="l"/>
              </a:tabLst>
            </a:pPr>
            <a:r>
              <a:rPr lang="en-US" sz="1500" spc="-94" dirty="0">
                <a:latin typeface="Arial"/>
                <a:cs typeface="Arial"/>
              </a:rPr>
              <a:t>Improve over task T,</a:t>
            </a:r>
          </a:p>
          <a:p>
            <a:pPr marL="592931" lvl="1" indent="-240506">
              <a:spcBef>
                <a:spcPts val="71"/>
              </a:spcBef>
              <a:buClr>
                <a:srgbClr val="CC8E5F"/>
              </a:buClr>
              <a:buSzPct val="60000"/>
              <a:buFont typeface="Wingdings"/>
              <a:buChar char=""/>
              <a:tabLst>
                <a:tab pos="592455" algn="l"/>
                <a:tab pos="592931" algn="l"/>
              </a:tabLst>
            </a:pPr>
            <a:r>
              <a:rPr lang="en-US" sz="1500" spc="-94" dirty="0">
                <a:latin typeface="Arial"/>
                <a:cs typeface="Arial"/>
              </a:rPr>
              <a:t>With respect to performance measure, P</a:t>
            </a:r>
          </a:p>
          <a:p>
            <a:pPr marL="592931" lvl="1" indent="-240506">
              <a:spcBef>
                <a:spcPts val="71"/>
              </a:spcBef>
              <a:buClr>
                <a:srgbClr val="CC8E5F"/>
              </a:buClr>
              <a:buSzPct val="60000"/>
              <a:buFont typeface="Wingdings"/>
              <a:buChar char=""/>
              <a:tabLst>
                <a:tab pos="592455" algn="l"/>
                <a:tab pos="592931" algn="l"/>
              </a:tabLst>
            </a:pPr>
            <a:r>
              <a:rPr lang="en-US" sz="1500" spc="-94" dirty="0">
                <a:latin typeface="Arial"/>
                <a:cs typeface="Arial"/>
              </a:rPr>
              <a:t>Based on experience, E.</a:t>
            </a:r>
          </a:p>
        </p:txBody>
      </p:sp>
    </p:spTree>
    <p:extLst>
      <p:ext uri="{BB962C8B-B14F-4D97-AF65-F5344CB8AC3E}">
        <p14:creationId xmlns:p14="http://schemas.microsoft.com/office/powerpoint/2010/main" val="873905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a:t>
            </a:r>
          </a:p>
        </p:txBody>
      </p:sp>
      <p:sp>
        <p:nvSpPr>
          <p:cNvPr id="5" name="Slide Number Placeholder 4"/>
          <p:cNvSpPr>
            <a:spLocks noGrp="1"/>
          </p:cNvSpPr>
          <p:nvPr>
            <p:ph type="sldNum" sz="quarter" idx="429496729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38962B-3372-4E19-A38D-6FA8987A1852}" type="slidenum">
              <a:rPr lang="en-US" smtClean="0"/>
              <a:pPr/>
              <a:t>21</a:t>
            </a:fld>
            <a:endParaRPr lang="en-US"/>
          </a:p>
        </p:txBody>
      </p:sp>
      <p:sp>
        <p:nvSpPr>
          <p:cNvPr id="7" name="Rounded Rectangle 6"/>
          <p:cNvSpPr/>
          <p:nvPr/>
        </p:nvSpPr>
        <p:spPr>
          <a:xfrm>
            <a:off x="3012707" y="2432786"/>
            <a:ext cx="7848600" cy="1981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t>Field of study that gives computers the ability to learn without being explicitly programmed.</a:t>
            </a:r>
          </a:p>
          <a:p>
            <a:pPr algn="ctr"/>
            <a:endParaRPr lang="en-US" sz="2800" dirty="0"/>
          </a:p>
        </p:txBody>
      </p:sp>
      <p:sp>
        <p:nvSpPr>
          <p:cNvPr id="8" name="Rectangle 7"/>
          <p:cNvSpPr/>
          <p:nvPr/>
        </p:nvSpPr>
        <p:spPr>
          <a:xfrm>
            <a:off x="8194307" y="4490186"/>
            <a:ext cx="2234714" cy="369332"/>
          </a:xfrm>
          <a:prstGeom prst="rect">
            <a:avLst/>
          </a:prstGeom>
        </p:spPr>
        <p:txBody>
          <a:bodyPr wrap="none">
            <a:spAutoFit/>
          </a:bodyPr>
          <a:lstStyle/>
          <a:p>
            <a:r>
              <a:rPr lang="en-US" dirty="0"/>
              <a:t>Arthur </a:t>
            </a:r>
            <a:r>
              <a:rPr lang="en-US" dirty="0" err="1"/>
              <a:t>Sameul</a:t>
            </a:r>
            <a:r>
              <a:rPr lang="en-US" dirty="0"/>
              <a:t> (1959) </a:t>
            </a:r>
          </a:p>
        </p:txBody>
      </p:sp>
    </p:spTree>
    <p:extLst>
      <p:ext uri="{BB962C8B-B14F-4D97-AF65-F5344CB8AC3E}">
        <p14:creationId xmlns:p14="http://schemas.microsoft.com/office/powerpoint/2010/main" val="3885570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Machine Learning</a:t>
            </a:r>
            <a:endParaRPr lang="en-US" dirty="0"/>
          </a:p>
        </p:txBody>
      </p:sp>
      <p:sp>
        <p:nvSpPr>
          <p:cNvPr id="5" name="Slide Number Placeholder 4"/>
          <p:cNvSpPr>
            <a:spLocks noGrp="1"/>
          </p:cNvSpPr>
          <p:nvPr>
            <p:ph type="sldNum" sz="quarter" idx="429496729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38962B-3372-4E19-A38D-6FA8987A1852}" type="slidenum">
              <a:rPr lang="en-US" smtClean="0"/>
              <a:pPr/>
              <a:t>22</a:t>
            </a:fld>
            <a:endParaRPr lang="en-US"/>
          </a:p>
        </p:txBody>
      </p:sp>
      <p:sp>
        <p:nvSpPr>
          <p:cNvPr id="7" name="Rounded Rectangle 6"/>
          <p:cNvSpPr/>
          <p:nvPr/>
        </p:nvSpPr>
        <p:spPr>
          <a:xfrm>
            <a:off x="3106553" y="2192154"/>
            <a:ext cx="7848600" cy="251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3200" dirty="0"/>
              <a:t>Machine learning is programming computers to optimize a performance criterion using example data or past experience.</a:t>
            </a:r>
          </a:p>
          <a:p>
            <a:pPr algn="ctr"/>
            <a:endParaRPr lang="en-US" sz="2800" dirty="0"/>
          </a:p>
        </p:txBody>
      </p:sp>
      <p:sp>
        <p:nvSpPr>
          <p:cNvPr id="84994" name="Rectangle 2"/>
          <p:cNvSpPr>
            <a:spLocks noChangeArrowheads="1"/>
          </p:cNvSpPr>
          <p:nvPr/>
        </p:nvSpPr>
        <p:spPr bwMode="auto">
          <a:xfrm>
            <a:off x="8592953" y="4794622"/>
            <a:ext cx="2743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defTabSz="914400" fontAlgn="base">
              <a:spcBef>
                <a:spcPct val="0"/>
              </a:spcBef>
              <a:spcAft>
                <a:spcPct val="0"/>
              </a:spcAft>
            </a:pPr>
            <a:r>
              <a:rPr lang="en-US" dirty="0">
                <a:latin typeface="Calibri" pitchFamily="34" charset="0"/>
                <a:ea typeface="Calibri" pitchFamily="34" charset="0"/>
                <a:cs typeface="Times New Roman" pitchFamily="18" charset="0"/>
              </a:rPr>
              <a:t>Tom Mitchell (1998)</a:t>
            </a:r>
            <a:endParaRPr lang="en-US" dirty="0">
              <a:latin typeface="Arial" pitchFamily="34" charset="0"/>
              <a:cs typeface="Arial" pitchFamily="34" charset="0"/>
            </a:endParaRPr>
          </a:p>
        </p:txBody>
      </p:sp>
    </p:spTree>
    <p:extLst>
      <p:ext uri="{BB962C8B-B14F-4D97-AF65-F5344CB8AC3E}">
        <p14:creationId xmlns:p14="http://schemas.microsoft.com/office/powerpoint/2010/main" val="2138354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Machine Learning</a:t>
            </a:r>
            <a:endParaRPr lang="en-US" dirty="0"/>
          </a:p>
        </p:txBody>
      </p:sp>
      <p:sp>
        <p:nvSpPr>
          <p:cNvPr id="3" name="Content Placeholder 2"/>
          <p:cNvSpPr>
            <a:spLocks noGrp="1"/>
          </p:cNvSpPr>
          <p:nvPr>
            <p:ph sz="quarter" idx="1"/>
          </p:nvPr>
        </p:nvSpPr>
        <p:spPr>
          <a:xfrm>
            <a:off x="1981200" y="1600200"/>
            <a:ext cx="7467600" cy="1066800"/>
          </a:xfrm>
        </p:spPr>
        <p:txBody>
          <a:bodyPr/>
          <a:lstStyle/>
          <a:p>
            <a:r>
              <a:rPr lang="fr-FR" dirty="0"/>
              <a:t>Learning = </a:t>
            </a:r>
            <a:r>
              <a:rPr lang="fr-FR" dirty="0" err="1"/>
              <a:t>Improving</a:t>
            </a:r>
            <a:r>
              <a:rPr lang="fr-FR" dirty="0"/>
              <a:t> </a:t>
            </a:r>
            <a:r>
              <a:rPr lang="fr-FR" dirty="0" err="1"/>
              <a:t>with</a:t>
            </a:r>
            <a:r>
              <a:rPr lang="fr-FR" dirty="0"/>
              <a:t> </a:t>
            </a:r>
            <a:r>
              <a:rPr lang="fr-FR" dirty="0" err="1"/>
              <a:t>experience</a:t>
            </a:r>
            <a:r>
              <a:rPr lang="fr-FR" dirty="0"/>
              <a:t> over </a:t>
            </a:r>
            <a:r>
              <a:rPr lang="fr-FR" dirty="0" err="1"/>
              <a:t>some</a:t>
            </a:r>
            <a:r>
              <a:rPr lang="fr-FR" dirty="0"/>
              <a:t> </a:t>
            </a:r>
            <a:r>
              <a:rPr lang="fr-FR" dirty="0" err="1"/>
              <a:t>task</a:t>
            </a:r>
            <a:endParaRPr lang="fr-FR" dirty="0"/>
          </a:p>
          <a:p>
            <a:pPr lvl="1"/>
            <a:endParaRPr lang="fr-FR" dirty="0"/>
          </a:p>
          <a:p>
            <a:endParaRPr lang="fr-FR" dirty="0"/>
          </a:p>
          <a:p>
            <a:endParaRPr lang="en-US" dirty="0"/>
          </a:p>
        </p:txBody>
      </p:sp>
      <p:sp>
        <p:nvSpPr>
          <p:cNvPr id="5" name="Slide Number Placeholder 4"/>
          <p:cNvSpPr>
            <a:spLocks noGrp="1"/>
          </p:cNvSpPr>
          <p:nvPr>
            <p:ph type="sldNum" sz="quarter" idx="429496729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38962B-3372-4E19-A38D-6FA8987A1852}" type="slidenum">
              <a:rPr lang="en-US" smtClean="0"/>
              <a:pPr/>
              <a:t>23</a:t>
            </a:fld>
            <a:endParaRPr lang="en-US"/>
          </a:p>
        </p:txBody>
      </p:sp>
      <p:sp>
        <p:nvSpPr>
          <p:cNvPr id="7" name="Rounded Rectangle 6"/>
          <p:cNvSpPr/>
          <p:nvPr/>
        </p:nvSpPr>
        <p:spPr>
          <a:xfrm>
            <a:off x="3239703" y="2667000"/>
            <a:ext cx="7467600" cy="2133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 computer program is said to </a:t>
            </a:r>
            <a:r>
              <a:rPr lang="en-US" sz="2400" b="1" i="1" dirty="0"/>
              <a:t>learn</a:t>
            </a:r>
            <a:r>
              <a:rPr lang="en-US" sz="2400" dirty="0"/>
              <a:t> from experience </a:t>
            </a:r>
            <a:r>
              <a:rPr lang="en-US" sz="2400" i="1" dirty="0"/>
              <a:t>E</a:t>
            </a:r>
            <a:r>
              <a:rPr lang="en-US" sz="2400" dirty="0"/>
              <a:t> with respect to some task </a:t>
            </a:r>
            <a:r>
              <a:rPr lang="en-US" sz="2400" i="1" dirty="0"/>
              <a:t>T</a:t>
            </a:r>
            <a:r>
              <a:rPr lang="en-US" sz="2400" dirty="0"/>
              <a:t> and performance measure </a:t>
            </a:r>
            <a:r>
              <a:rPr lang="en-US" sz="2400" i="1" dirty="0"/>
              <a:t>P</a:t>
            </a:r>
            <a:r>
              <a:rPr lang="en-US" sz="2400" dirty="0"/>
              <a:t>, if its performance at task </a:t>
            </a:r>
            <a:r>
              <a:rPr lang="en-US" sz="2400" i="1" dirty="0"/>
              <a:t>T</a:t>
            </a:r>
            <a:r>
              <a:rPr lang="en-US" sz="2400" dirty="0"/>
              <a:t>, as measured by </a:t>
            </a:r>
            <a:r>
              <a:rPr lang="en-US" sz="2400" i="1" dirty="0"/>
              <a:t>P</a:t>
            </a:r>
            <a:r>
              <a:rPr lang="en-US" sz="2400" dirty="0"/>
              <a:t>, improves with experience </a:t>
            </a:r>
            <a:r>
              <a:rPr lang="en-US" sz="2400" i="1" dirty="0"/>
              <a:t>E</a:t>
            </a:r>
          </a:p>
          <a:p>
            <a:pPr algn="ctr"/>
            <a:endParaRPr lang="en-US" sz="2400" dirty="0"/>
          </a:p>
        </p:txBody>
      </p:sp>
    </p:spTree>
    <p:extLst>
      <p:ext uri="{BB962C8B-B14F-4D97-AF65-F5344CB8AC3E}">
        <p14:creationId xmlns:p14="http://schemas.microsoft.com/office/powerpoint/2010/main" val="532896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44090" y="625034"/>
            <a:ext cx="5147310" cy="505267"/>
          </a:xfrm>
          <a:prstGeom prst="rect">
            <a:avLst/>
          </a:prstGeom>
        </p:spPr>
        <p:txBody>
          <a:bodyPr vert="horz" wrap="square" lIns="0" tIns="12700" rIns="0" bIns="0" rtlCol="0" anchor="t">
            <a:spAutoFit/>
          </a:bodyPr>
          <a:lstStyle/>
          <a:p>
            <a:pPr marL="12700">
              <a:spcBef>
                <a:spcPts val="100"/>
              </a:spcBef>
            </a:pPr>
            <a:r>
              <a:rPr sz="3200" b="1" spc="-25" dirty="0">
                <a:solidFill>
                  <a:srgbClr val="C0504D"/>
                </a:solidFill>
                <a:latin typeface="+mn-lt"/>
                <a:cs typeface="Calibri"/>
              </a:rPr>
              <a:t>Traditional</a:t>
            </a:r>
            <a:r>
              <a:rPr sz="3200" b="1" spc="-35" dirty="0">
                <a:solidFill>
                  <a:srgbClr val="C0504D"/>
                </a:solidFill>
                <a:latin typeface="+mn-lt"/>
                <a:cs typeface="Calibri"/>
              </a:rPr>
              <a:t> </a:t>
            </a:r>
            <a:r>
              <a:rPr sz="3200" b="1" spc="-15" dirty="0">
                <a:solidFill>
                  <a:srgbClr val="C0504D"/>
                </a:solidFill>
                <a:latin typeface="+mn-lt"/>
                <a:cs typeface="Calibri"/>
              </a:rPr>
              <a:t>Programming</a:t>
            </a:r>
            <a:endParaRPr sz="3200" dirty="0">
              <a:latin typeface="+mn-lt"/>
              <a:cs typeface="Calibri"/>
            </a:endParaRPr>
          </a:p>
        </p:txBody>
      </p:sp>
      <p:sp>
        <p:nvSpPr>
          <p:cNvPr id="3" name="object 3"/>
          <p:cNvSpPr txBox="1"/>
          <p:nvPr/>
        </p:nvSpPr>
        <p:spPr>
          <a:xfrm>
            <a:off x="2244090" y="3538221"/>
            <a:ext cx="5680710" cy="505267"/>
          </a:xfrm>
          <a:prstGeom prst="rect">
            <a:avLst/>
          </a:prstGeom>
        </p:spPr>
        <p:txBody>
          <a:bodyPr vert="horz" wrap="square" lIns="0" tIns="12700" rIns="0" bIns="0" rtlCol="0">
            <a:spAutoFit/>
          </a:bodyPr>
          <a:lstStyle/>
          <a:p>
            <a:pPr marL="12700">
              <a:spcBef>
                <a:spcPts val="100"/>
              </a:spcBef>
            </a:pPr>
            <a:r>
              <a:rPr sz="3200" b="1" spc="-5" dirty="0">
                <a:solidFill>
                  <a:srgbClr val="C0504D"/>
                </a:solidFill>
                <a:cs typeface="Calibri"/>
              </a:rPr>
              <a:t>Machine</a:t>
            </a:r>
            <a:r>
              <a:rPr sz="3200" b="1" spc="-60" dirty="0">
                <a:solidFill>
                  <a:srgbClr val="C0504D"/>
                </a:solidFill>
                <a:cs typeface="Calibri"/>
              </a:rPr>
              <a:t> </a:t>
            </a:r>
            <a:r>
              <a:rPr sz="3200" b="1" spc="-5" dirty="0">
                <a:solidFill>
                  <a:srgbClr val="C0504D"/>
                </a:solidFill>
                <a:cs typeface="Calibri"/>
              </a:rPr>
              <a:t>Learning</a:t>
            </a:r>
            <a:endParaRPr sz="3200" dirty="0">
              <a:cs typeface="Calibri"/>
            </a:endParaRPr>
          </a:p>
        </p:txBody>
      </p:sp>
      <p:sp>
        <p:nvSpPr>
          <p:cNvPr id="4" name="object 4"/>
          <p:cNvSpPr txBox="1"/>
          <p:nvPr/>
        </p:nvSpPr>
        <p:spPr>
          <a:xfrm>
            <a:off x="4876800" y="1600200"/>
            <a:ext cx="2667000" cy="1011174"/>
          </a:xfrm>
          <a:prstGeom prst="rect">
            <a:avLst/>
          </a:prstGeom>
          <a:solidFill>
            <a:srgbClr val="4F81BD"/>
          </a:solidFill>
          <a:ln w="25400">
            <a:solidFill>
              <a:srgbClr val="000000"/>
            </a:solidFill>
          </a:ln>
        </p:spPr>
        <p:txBody>
          <a:bodyPr vert="horz" wrap="square" lIns="0" tIns="3175" rIns="0" bIns="0" rtlCol="0">
            <a:spAutoFit/>
          </a:bodyPr>
          <a:lstStyle/>
          <a:p>
            <a:pPr>
              <a:spcBef>
                <a:spcPts val="25"/>
              </a:spcBef>
            </a:pPr>
            <a:endParaRPr sz="3350">
              <a:cs typeface="Times New Roman"/>
            </a:endParaRPr>
          </a:p>
          <a:p>
            <a:pPr marL="502284"/>
            <a:r>
              <a:rPr sz="3200" spc="-5" dirty="0">
                <a:cs typeface="Calibri"/>
              </a:rPr>
              <a:t>Computer</a:t>
            </a:r>
            <a:endParaRPr sz="3200">
              <a:cs typeface="Calibri"/>
            </a:endParaRPr>
          </a:p>
        </p:txBody>
      </p:sp>
      <p:sp>
        <p:nvSpPr>
          <p:cNvPr id="5" name="object 5"/>
          <p:cNvSpPr/>
          <p:nvPr/>
        </p:nvSpPr>
        <p:spPr>
          <a:xfrm>
            <a:off x="3962400" y="1993901"/>
            <a:ext cx="914400" cy="127000"/>
          </a:xfrm>
          <a:custGeom>
            <a:avLst/>
            <a:gdLst/>
            <a:ahLst/>
            <a:cxnLst/>
            <a:rect l="l" t="t" r="r" b="b"/>
            <a:pathLst>
              <a:path w="914400" h="127000">
                <a:moveTo>
                  <a:pt x="787400" y="0"/>
                </a:moveTo>
                <a:lnTo>
                  <a:pt x="787400" y="50800"/>
                </a:lnTo>
                <a:lnTo>
                  <a:pt x="0" y="50798"/>
                </a:lnTo>
                <a:lnTo>
                  <a:pt x="0" y="76198"/>
                </a:lnTo>
                <a:lnTo>
                  <a:pt x="787400" y="76200"/>
                </a:lnTo>
                <a:lnTo>
                  <a:pt x="787400" y="127000"/>
                </a:lnTo>
                <a:lnTo>
                  <a:pt x="914400" y="63500"/>
                </a:lnTo>
                <a:lnTo>
                  <a:pt x="787400" y="0"/>
                </a:lnTo>
                <a:close/>
              </a:path>
            </a:pathLst>
          </a:custGeom>
          <a:solidFill>
            <a:srgbClr val="000000"/>
          </a:solidFill>
        </p:spPr>
        <p:txBody>
          <a:bodyPr wrap="square" lIns="0" tIns="0" rIns="0" bIns="0" rtlCol="0"/>
          <a:lstStyle/>
          <a:p>
            <a:endParaRPr/>
          </a:p>
        </p:txBody>
      </p:sp>
      <p:sp>
        <p:nvSpPr>
          <p:cNvPr id="6" name="object 6"/>
          <p:cNvSpPr/>
          <p:nvPr/>
        </p:nvSpPr>
        <p:spPr>
          <a:xfrm>
            <a:off x="3962400" y="2679701"/>
            <a:ext cx="914400" cy="127000"/>
          </a:xfrm>
          <a:custGeom>
            <a:avLst/>
            <a:gdLst/>
            <a:ahLst/>
            <a:cxnLst/>
            <a:rect l="l" t="t" r="r" b="b"/>
            <a:pathLst>
              <a:path w="914400" h="127000">
                <a:moveTo>
                  <a:pt x="787400" y="0"/>
                </a:moveTo>
                <a:lnTo>
                  <a:pt x="787400" y="50800"/>
                </a:lnTo>
                <a:lnTo>
                  <a:pt x="0" y="50798"/>
                </a:lnTo>
                <a:lnTo>
                  <a:pt x="0" y="76198"/>
                </a:lnTo>
                <a:lnTo>
                  <a:pt x="787400" y="76200"/>
                </a:lnTo>
                <a:lnTo>
                  <a:pt x="787400" y="127000"/>
                </a:lnTo>
                <a:lnTo>
                  <a:pt x="914400" y="63500"/>
                </a:lnTo>
                <a:lnTo>
                  <a:pt x="787400" y="0"/>
                </a:lnTo>
                <a:close/>
              </a:path>
            </a:pathLst>
          </a:custGeom>
          <a:solidFill>
            <a:srgbClr val="000000"/>
          </a:solidFill>
        </p:spPr>
        <p:txBody>
          <a:bodyPr wrap="square" lIns="0" tIns="0" rIns="0" bIns="0" rtlCol="0"/>
          <a:lstStyle/>
          <a:p>
            <a:endParaRPr/>
          </a:p>
        </p:txBody>
      </p:sp>
      <p:sp>
        <p:nvSpPr>
          <p:cNvPr id="7" name="object 7"/>
          <p:cNvSpPr/>
          <p:nvPr/>
        </p:nvSpPr>
        <p:spPr>
          <a:xfrm>
            <a:off x="7543800" y="2222501"/>
            <a:ext cx="762000" cy="127000"/>
          </a:xfrm>
          <a:custGeom>
            <a:avLst/>
            <a:gdLst/>
            <a:ahLst/>
            <a:cxnLst/>
            <a:rect l="l" t="t" r="r" b="b"/>
            <a:pathLst>
              <a:path w="762000" h="127000">
                <a:moveTo>
                  <a:pt x="635000" y="0"/>
                </a:moveTo>
                <a:lnTo>
                  <a:pt x="635000" y="50800"/>
                </a:lnTo>
                <a:lnTo>
                  <a:pt x="0" y="50798"/>
                </a:lnTo>
                <a:lnTo>
                  <a:pt x="0" y="76198"/>
                </a:lnTo>
                <a:lnTo>
                  <a:pt x="635000" y="76200"/>
                </a:lnTo>
                <a:lnTo>
                  <a:pt x="635000" y="127000"/>
                </a:lnTo>
                <a:lnTo>
                  <a:pt x="762000" y="63500"/>
                </a:lnTo>
                <a:lnTo>
                  <a:pt x="635000" y="0"/>
                </a:lnTo>
                <a:close/>
              </a:path>
            </a:pathLst>
          </a:custGeom>
          <a:solidFill>
            <a:srgbClr val="000000"/>
          </a:solidFill>
        </p:spPr>
        <p:txBody>
          <a:bodyPr wrap="square" lIns="0" tIns="0" rIns="0" bIns="0" rtlCol="0"/>
          <a:lstStyle/>
          <a:p>
            <a:endParaRPr/>
          </a:p>
        </p:txBody>
      </p:sp>
      <p:sp>
        <p:nvSpPr>
          <p:cNvPr id="8" name="object 8"/>
          <p:cNvSpPr txBox="1"/>
          <p:nvPr/>
        </p:nvSpPr>
        <p:spPr>
          <a:xfrm>
            <a:off x="1981200" y="1517650"/>
            <a:ext cx="1771650" cy="1283878"/>
          </a:xfrm>
          <a:prstGeom prst="rect">
            <a:avLst/>
          </a:prstGeom>
        </p:spPr>
        <p:txBody>
          <a:bodyPr vert="horz" wrap="square" lIns="0" tIns="12065" rIns="0" bIns="0" rtlCol="0">
            <a:spAutoFit/>
          </a:bodyPr>
          <a:lstStyle/>
          <a:p>
            <a:pPr marL="12700" marR="5080" indent="669925">
              <a:lnSpc>
                <a:spcPct val="137400"/>
              </a:lnSpc>
              <a:spcBef>
                <a:spcPts val="95"/>
              </a:spcBef>
            </a:pPr>
            <a:r>
              <a:rPr sz="3200" spc="5" dirty="0">
                <a:cs typeface="Calibri"/>
              </a:rPr>
              <a:t>D</a:t>
            </a:r>
            <a:r>
              <a:rPr sz="3200" spc="-30" dirty="0">
                <a:cs typeface="Calibri"/>
              </a:rPr>
              <a:t>a</a:t>
            </a:r>
            <a:r>
              <a:rPr sz="3200" spc="-35" dirty="0">
                <a:cs typeface="Calibri"/>
              </a:rPr>
              <a:t>t</a:t>
            </a:r>
            <a:r>
              <a:rPr sz="3200" dirty="0">
                <a:cs typeface="Calibri"/>
              </a:rPr>
              <a:t>a  </a:t>
            </a:r>
            <a:r>
              <a:rPr sz="3200" spc="-20" dirty="0">
                <a:cs typeface="Calibri"/>
              </a:rPr>
              <a:t>Program</a:t>
            </a:r>
            <a:endParaRPr sz="3200" dirty="0">
              <a:cs typeface="Calibri"/>
            </a:endParaRPr>
          </a:p>
        </p:txBody>
      </p:sp>
      <p:sp>
        <p:nvSpPr>
          <p:cNvPr id="9" name="object 9"/>
          <p:cNvSpPr txBox="1"/>
          <p:nvPr/>
        </p:nvSpPr>
        <p:spPr>
          <a:xfrm>
            <a:off x="8384540" y="1988820"/>
            <a:ext cx="1694497" cy="513080"/>
          </a:xfrm>
          <a:prstGeom prst="rect">
            <a:avLst/>
          </a:prstGeom>
        </p:spPr>
        <p:txBody>
          <a:bodyPr vert="horz" wrap="square" lIns="0" tIns="12700" rIns="0" bIns="0" rtlCol="0">
            <a:spAutoFit/>
          </a:bodyPr>
          <a:lstStyle/>
          <a:p>
            <a:pPr marL="12700">
              <a:spcBef>
                <a:spcPts val="100"/>
              </a:spcBef>
            </a:pPr>
            <a:r>
              <a:rPr sz="3200" spc="5" dirty="0">
                <a:cs typeface="Calibri"/>
              </a:rPr>
              <a:t>Ou</a:t>
            </a:r>
            <a:r>
              <a:rPr sz="3200" dirty="0">
                <a:cs typeface="Calibri"/>
              </a:rPr>
              <a:t>t</a:t>
            </a:r>
            <a:r>
              <a:rPr sz="3200" spc="5" dirty="0">
                <a:cs typeface="Calibri"/>
              </a:rPr>
              <a:t>put</a:t>
            </a:r>
            <a:endParaRPr sz="3200" dirty="0">
              <a:cs typeface="Calibri"/>
            </a:endParaRPr>
          </a:p>
        </p:txBody>
      </p:sp>
      <p:sp>
        <p:nvSpPr>
          <p:cNvPr id="10" name="object 10"/>
          <p:cNvSpPr txBox="1"/>
          <p:nvPr/>
        </p:nvSpPr>
        <p:spPr>
          <a:xfrm>
            <a:off x="4971661" y="4614927"/>
            <a:ext cx="2667000" cy="1011174"/>
          </a:xfrm>
          <a:prstGeom prst="rect">
            <a:avLst/>
          </a:prstGeom>
          <a:solidFill>
            <a:srgbClr val="4F81BD"/>
          </a:solidFill>
          <a:ln w="25400">
            <a:solidFill>
              <a:srgbClr val="000000"/>
            </a:solidFill>
          </a:ln>
        </p:spPr>
        <p:txBody>
          <a:bodyPr vert="horz" wrap="square" lIns="0" tIns="3175" rIns="0" bIns="0" rtlCol="0">
            <a:spAutoFit/>
          </a:bodyPr>
          <a:lstStyle/>
          <a:p>
            <a:pPr>
              <a:spcBef>
                <a:spcPts val="25"/>
              </a:spcBef>
            </a:pPr>
            <a:endParaRPr sz="3350" dirty="0">
              <a:cs typeface="Times New Roman"/>
            </a:endParaRPr>
          </a:p>
          <a:p>
            <a:pPr marL="502284"/>
            <a:r>
              <a:rPr sz="3200" spc="-5" dirty="0">
                <a:cs typeface="Calibri"/>
              </a:rPr>
              <a:t>Computer</a:t>
            </a:r>
            <a:endParaRPr sz="3200" dirty="0">
              <a:cs typeface="Calibri"/>
            </a:endParaRPr>
          </a:p>
        </p:txBody>
      </p:sp>
      <p:sp>
        <p:nvSpPr>
          <p:cNvPr id="11" name="object 11"/>
          <p:cNvSpPr/>
          <p:nvPr/>
        </p:nvSpPr>
        <p:spPr>
          <a:xfrm>
            <a:off x="4038600" y="4813301"/>
            <a:ext cx="914400" cy="127000"/>
          </a:xfrm>
          <a:custGeom>
            <a:avLst/>
            <a:gdLst/>
            <a:ahLst/>
            <a:cxnLst/>
            <a:rect l="l" t="t" r="r" b="b"/>
            <a:pathLst>
              <a:path w="914400" h="127000">
                <a:moveTo>
                  <a:pt x="787400" y="0"/>
                </a:moveTo>
                <a:lnTo>
                  <a:pt x="787400" y="50800"/>
                </a:lnTo>
                <a:lnTo>
                  <a:pt x="0" y="50798"/>
                </a:lnTo>
                <a:lnTo>
                  <a:pt x="0" y="76198"/>
                </a:lnTo>
                <a:lnTo>
                  <a:pt x="787400" y="76200"/>
                </a:lnTo>
                <a:lnTo>
                  <a:pt x="787400" y="127000"/>
                </a:lnTo>
                <a:lnTo>
                  <a:pt x="914400" y="63500"/>
                </a:lnTo>
                <a:lnTo>
                  <a:pt x="787400" y="0"/>
                </a:lnTo>
                <a:close/>
              </a:path>
            </a:pathLst>
          </a:custGeom>
          <a:solidFill>
            <a:srgbClr val="000000"/>
          </a:solidFill>
        </p:spPr>
        <p:txBody>
          <a:bodyPr wrap="square" lIns="0" tIns="0" rIns="0" bIns="0" rtlCol="0"/>
          <a:lstStyle/>
          <a:p>
            <a:endParaRPr/>
          </a:p>
        </p:txBody>
      </p:sp>
      <p:sp>
        <p:nvSpPr>
          <p:cNvPr id="12" name="object 12"/>
          <p:cNvSpPr/>
          <p:nvPr/>
        </p:nvSpPr>
        <p:spPr>
          <a:xfrm>
            <a:off x="4038600" y="5435601"/>
            <a:ext cx="914400" cy="127000"/>
          </a:xfrm>
          <a:custGeom>
            <a:avLst/>
            <a:gdLst/>
            <a:ahLst/>
            <a:cxnLst/>
            <a:rect l="l" t="t" r="r" b="b"/>
            <a:pathLst>
              <a:path w="914400" h="127000">
                <a:moveTo>
                  <a:pt x="787400" y="0"/>
                </a:moveTo>
                <a:lnTo>
                  <a:pt x="787400" y="50800"/>
                </a:lnTo>
                <a:lnTo>
                  <a:pt x="0" y="50798"/>
                </a:lnTo>
                <a:lnTo>
                  <a:pt x="0" y="76198"/>
                </a:lnTo>
                <a:lnTo>
                  <a:pt x="787400" y="76200"/>
                </a:lnTo>
                <a:lnTo>
                  <a:pt x="787400" y="126999"/>
                </a:lnTo>
                <a:lnTo>
                  <a:pt x="914400" y="63500"/>
                </a:lnTo>
                <a:lnTo>
                  <a:pt x="787400" y="0"/>
                </a:lnTo>
                <a:close/>
              </a:path>
            </a:pathLst>
          </a:custGeom>
          <a:solidFill>
            <a:srgbClr val="000000"/>
          </a:solidFill>
        </p:spPr>
        <p:txBody>
          <a:bodyPr wrap="square" lIns="0" tIns="0" rIns="0" bIns="0" rtlCol="0"/>
          <a:lstStyle/>
          <a:p>
            <a:endParaRPr/>
          </a:p>
        </p:txBody>
      </p:sp>
      <p:sp>
        <p:nvSpPr>
          <p:cNvPr id="13" name="object 13"/>
          <p:cNvSpPr/>
          <p:nvPr/>
        </p:nvSpPr>
        <p:spPr>
          <a:xfrm>
            <a:off x="7620000" y="5041901"/>
            <a:ext cx="762000" cy="127000"/>
          </a:xfrm>
          <a:custGeom>
            <a:avLst/>
            <a:gdLst/>
            <a:ahLst/>
            <a:cxnLst/>
            <a:rect l="l" t="t" r="r" b="b"/>
            <a:pathLst>
              <a:path w="762000" h="127000">
                <a:moveTo>
                  <a:pt x="635000" y="0"/>
                </a:moveTo>
                <a:lnTo>
                  <a:pt x="635000" y="50800"/>
                </a:lnTo>
                <a:lnTo>
                  <a:pt x="0" y="50798"/>
                </a:lnTo>
                <a:lnTo>
                  <a:pt x="0" y="76198"/>
                </a:lnTo>
                <a:lnTo>
                  <a:pt x="635000" y="76200"/>
                </a:lnTo>
                <a:lnTo>
                  <a:pt x="635000" y="127000"/>
                </a:lnTo>
                <a:lnTo>
                  <a:pt x="762000" y="63500"/>
                </a:lnTo>
                <a:lnTo>
                  <a:pt x="635000" y="0"/>
                </a:lnTo>
                <a:close/>
              </a:path>
            </a:pathLst>
          </a:custGeom>
          <a:solidFill>
            <a:srgbClr val="000000"/>
          </a:solidFill>
        </p:spPr>
        <p:txBody>
          <a:bodyPr wrap="square" lIns="0" tIns="0" rIns="0" bIns="0" rtlCol="0"/>
          <a:lstStyle/>
          <a:p>
            <a:endParaRPr/>
          </a:p>
        </p:txBody>
      </p:sp>
      <p:sp>
        <p:nvSpPr>
          <p:cNvPr id="14" name="object 14"/>
          <p:cNvSpPr txBox="1"/>
          <p:nvPr/>
        </p:nvSpPr>
        <p:spPr>
          <a:xfrm>
            <a:off x="2244091" y="4260850"/>
            <a:ext cx="1637029" cy="1422312"/>
          </a:xfrm>
          <a:prstGeom prst="rect">
            <a:avLst/>
          </a:prstGeom>
        </p:spPr>
        <p:txBody>
          <a:bodyPr vert="horz" wrap="square" lIns="0" tIns="12700" rIns="0" bIns="0" rtlCol="0">
            <a:spAutoFit/>
          </a:bodyPr>
          <a:lstStyle/>
          <a:p>
            <a:pPr marL="12700" marR="5080" indent="365125">
              <a:lnSpc>
                <a:spcPct val="153000"/>
              </a:lnSpc>
              <a:spcBef>
                <a:spcPts val="100"/>
              </a:spcBef>
            </a:pPr>
            <a:r>
              <a:rPr sz="3200" spc="-15" dirty="0">
                <a:cs typeface="Calibri"/>
              </a:rPr>
              <a:t>Data </a:t>
            </a:r>
            <a:r>
              <a:rPr sz="3200" spc="-710" dirty="0">
                <a:cs typeface="Calibri"/>
              </a:rPr>
              <a:t> </a:t>
            </a:r>
            <a:r>
              <a:rPr sz="3200" spc="5" dirty="0">
                <a:cs typeface="Calibri"/>
              </a:rPr>
              <a:t>Ou</a:t>
            </a:r>
            <a:r>
              <a:rPr sz="3200" dirty="0">
                <a:cs typeface="Calibri"/>
              </a:rPr>
              <a:t>t</a:t>
            </a:r>
            <a:r>
              <a:rPr sz="3200" spc="5" dirty="0">
                <a:cs typeface="Calibri"/>
              </a:rPr>
              <a:t>put</a:t>
            </a:r>
            <a:endParaRPr sz="3200" dirty="0">
              <a:cs typeface="Calibri"/>
            </a:endParaRPr>
          </a:p>
        </p:txBody>
      </p:sp>
      <p:sp>
        <p:nvSpPr>
          <p:cNvPr id="15" name="object 15"/>
          <p:cNvSpPr txBox="1"/>
          <p:nvPr/>
        </p:nvSpPr>
        <p:spPr>
          <a:xfrm>
            <a:off x="8460740" y="4808220"/>
            <a:ext cx="1902460" cy="513080"/>
          </a:xfrm>
          <a:prstGeom prst="rect">
            <a:avLst/>
          </a:prstGeom>
        </p:spPr>
        <p:txBody>
          <a:bodyPr vert="horz" wrap="square" lIns="0" tIns="12700" rIns="0" bIns="0" rtlCol="0">
            <a:spAutoFit/>
          </a:bodyPr>
          <a:lstStyle/>
          <a:p>
            <a:pPr marL="12700">
              <a:spcBef>
                <a:spcPts val="100"/>
              </a:spcBef>
            </a:pPr>
            <a:r>
              <a:rPr sz="3200" spc="-5" dirty="0">
                <a:cs typeface="Calibri"/>
              </a:rPr>
              <a:t>P</a:t>
            </a:r>
            <a:r>
              <a:rPr sz="3200" spc="-55" dirty="0">
                <a:cs typeface="Calibri"/>
              </a:rPr>
              <a:t>r</a:t>
            </a:r>
            <a:r>
              <a:rPr sz="3200" dirty="0">
                <a:cs typeface="Calibri"/>
              </a:rPr>
              <a:t>o</a:t>
            </a:r>
            <a:r>
              <a:rPr sz="3200" spc="5" dirty="0">
                <a:cs typeface="Calibri"/>
              </a:rPr>
              <a:t>g</a:t>
            </a:r>
            <a:r>
              <a:rPr sz="3200" spc="-70" dirty="0">
                <a:cs typeface="Calibri"/>
              </a:rPr>
              <a:t>r</a:t>
            </a:r>
            <a:r>
              <a:rPr sz="3200" spc="5" dirty="0">
                <a:cs typeface="Calibri"/>
              </a:rPr>
              <a:t>a</a:t>
            </a:r>
            <a:r>
              <a:rPr sz="3200" dirty="0">
                <a:cs typeface="Calibri"/>
              </a:rPr>
              <a:t>m</a:t>
            </a:r>
          </a:p>
        </p:txBody>
      </p:sp>
      <p:sp>
        <p:nvSpPr>
          <p:cNvPr id="17" name="object 17"/>
          <p:cNvSpPr txBox="1"/>
          <p:nvPr/>
        </p:nvSpPr>
        <p:spPr>
          <a:xfrm>
            <a:off x="10027602" y="6422072"/>
            <a:ext cx="102870" cy="197490"/>
          </a:xfrm>
          <a:prstGeom prst="rect">
            <a:avLst/>
          </a:prstGeom>
        </p:spPr>
        <p:txBody>
          <a:bodyPr vert="horz" wrap="square" lIns="0" tIns="12700" rIns="0" bIns="0" rtlCol="0">
            <a:spAutoFit/>
          </a:bodyPr>
          <a:lstStyle/>
          <a:p>
            <a:pPr marL="12700">
              <a:spcBef>
                <a:spcPts val="100"/>
              </a:spcBef>
            </a:pPr>
            <a:r>
              <a:rPr sz="1200" dirty="0">
                <a:solidFill>
                  <a:srgbClr val="898989"/>
                </a:solidFill>
                <a:cs typeface="Calibri"/>
              </a:rPr>
              <a:t>4</a:t>
            </a:r>
            <a:endParaRPr sz="1200">
              <a:cs typeface="Calibri"/>
            </a:endParaRPr>
          </a:p>
        </p:txBody>
      </p:sp>
    </p:spTree>
    <p:extLst>
      <p:ext uri="{BB962C8B-B14F-4D97-AF65-F5344CB8AC3E}">
        <p14:creationId xmlns:p14="http://schemas.microsoft.com/office/powerpoint/2010/main" val="1069301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Learning </a:t>
            </a:r>
            <a:r>
              <a:rPr lang="fr-FR" dirty="0" err="1"/>
              <a:t>Problems</a:t>
            </a:r>
            <a:r>
              <a:rPr lang="fr-FR" dirty="0"/>
              <a:t> – </a:t>
            </a:r>
            <a:r>
              <a:rPr lang="fr-FR" dirty="0" err="1"/>
              <a:t>Examples</a:t>
            </a:r>
            <a:r>
              <a:rPr lang="fr-FR" dirty="0"/>
              <a:t> </a:t>
            </a:r>
            <a:endParaRPr lang="en-US" dirty="0"/>
          </a:p>
        </p:txBody>
      </p:sp>
      <p:sp>
        <p:nvSpPr>
          <p:cNvPr id="3" name="Content Placeholder 2"/>
          <p:cNvSpPr>
            <a:spLocks noGrp="1"/>
          </p:cNvSpPr>
          <p:nvPr>
            <p:ph idx="1"/>
          </p:nvPr>
        </p:nvSpPr>
        <p:spPr>
          <a:xfrm>
            <a:off x="2338939" y="2133599"/>
            <a:ext cx="6481813" cy="4016943"/>
          </a:xfrm>
        </p:spPr>
        <p:txBody>
          <a:bodyPr>
            <a:normAutofit/>
          </a:bodyPr>
          <a:lstStyle/>
          <a:p>
            <a:r>
              <a:rPr lang="en-US" sz="2800" dirty="0"/>
              <a:t>Handwriting recognition learning problem</a:t>
            </a:r>
          </a:p>
          <a:p>
            <a:pPr lvl="1"/>
            <a:r>
              <a:rPr lang="en-US" sz="2400" dirty="0">
                <a:solidFill>
                  <a:srgbClr val="C00000"/>
                </a:solidFill>
              </a:rPr>
              <a:t>Task </a:t>
            </a:r>
            <a:r>
              <a:rPr lang="en-US" sz="2400" i="1" dirty="0">
                <a:solidFill>
                  <a:srgbClr val="C00000"/>
                </a:solidFill>
              </a:rPr>
              <a:t>T</a:t>
            </a:r>
            <a:r>
              <a:rPr lang="en-US" sz="2400" dirty="0">
                <a:solidFill>
                  <a:srgbClr val="C00000"/>
                </a:solidFill>
              </a:rPr>
              <a:t>:</a:t>
            </a:r>
            <a:r>
              <a:rPr lang="en-US" sz="2400" dirty="0"/>
              <a:t> recognizing handwritten words within images</a:t>
            </a:r>
          </a:p>
          <a:p>
            <a:pPr lvl="1"/>
            <a:r>
              <a:rPr lang="en-US" sz="2400" dirty="0">
                <a:solidFill>
                  <a:srgbClr val="C00000"/>
                </a:solidFill>
              </a:rPr>
              <a:t>Performance measure </a:t>
            </a:r>
            <a:r>
              <a:rPr lang="en-US" sz="2400" i="1" dirty="0">
                <a:solidFill>
                  <a:srgbClr val="C00000"/>
                </a:solidFill>
              </a:rPr>
              <a:t>P</a:t>
            </a:r>
            <a:r>
              <a:rPr lang="en-US" sz="2400" dirty="0">
                <a:solidFill>
                  <a:srgbClr val="C00000"/>
                </a:solidFill>
              </a:rPr>
              <a:t>: </a:t>
            </a:r>
            <a:r>
              <a:rPr lang="en-US" sz="2400" dirty="0"/>
              <a:t>percent of words correctly recognized</a:t>
            </a:r>
          </a:p>
          <a:p>
            <a:pPr lvl="1"/>
            <a:r>
              <a:rPr lang="en-US" sz="2400" dirty="0">
                <a:solidFill>
                  <a:srgbClr val="C00000"/>
                </a:solidFill>
              </a:rPr>
              <a:t>Training experience </a:t>
            </a:r>
            <a:r>
              <a:rPr lang="en-US" sz="2400" i="1" dirty="0">
                <a:solidFill>
                  <a:srgbClr val="C00000"/>
                </a:solidFill>
              </a:rPr>
              <a:t>E</a:t>
            </a:r>
            <a:r>
              <a:rPr lang="en-US" sz="2400" dirty="0"/>
              <a:t>: a database of handwritten words with given classifications</a:t>
            </a:r>
          </a:p>
          <a:p>
            <a:endParaRPr lang="en-US" sz="2800" dirty="0"/>
          </a:p>
        </p:txBody>
      </p:sp>
      <p:pic>
        <p:nvPicPr>
          <p:cNvPr id="64514" name="Picture 2"/>
          <p:cNvPicPr>
            <a:picLocks noChangeAspect="1" noChangeArrowheads="1"/>
          </p:cNvPicPr>
          <p:nvPr/>
        </p:nvPicPr>
        <p:blipFill>
          <a:blip r:embed="rId2" cstate="print"/>
          <a:srcRect/>
          <a:stretch>
            <a:fillRect/>
          </a:stretch>
        </p:blipFill>
        <p:spPr bwMode="auto">
          <a:xfrm>
            <a:off x="8820752" y="1600200"/>
            <a:ext cx="2895600" cy="4343400"/>
          </a:xfrm>
          <a:prstGeom prst="rect">
            <a:avLst/>
          </a:prstGeom>
          <a:noFill/>
          <a:ln w="9525">
            <a:noFill/>
            <a:miter lim="800000"/>
            <a:headEnd/>
            <a:tailEnd/>
          </a:ln>
        </p:spPr>
      </p:pic>
    </p:spTree>
    <p:extLst>
      <p:ext uri="{BB962C8B-B14F-4D97-AF65-F5344CB8AC3E}">
        <p14:creationId xmlns:p14="http://schemas.microsoft.com/office/powerpoint/2010/main" val="4247586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Learning </a:t>
            </a:r>
            <a:r>
              <a:rPr lang="fr-FR" dirty="0" err="1"/>
              <a:t>Problems</a:t>
            </a:r>
            <a:r>
              <a:rPr lang="fr-FR" dirty="0"/>
              <a:t> – </a:t>
            </a:r>
            <a:r>
              <a:rPr lang="fr-FR" dirty="0" err="1"/>
              <a:t>Examples</a:t>
            </a:r>
            <a:r>
              <a:rPr lang="fr-FR" dirty="0"/>
              <a:t> </a:t>
            </a:r>
            <a:endParaRPr lang="en-US" dirty="0"/>
          </a:p>
        </p:txBody>
      </p:sp>
      <p:sp>
        <p:nvSpPr>
          <p:cNvPr id="3" name="Content Placeholder 2"/>
          <p:cNvSpPr>
            <a:spLocks noGrp="1"/>
          </p:cNvSpPr>
          <p:nvPr>
            <p:ph idx="1"/>
          </p:nvPr>
        </p:nvSpPr>
        <p:spPr/>
        <p:txBody>
          <a:bodyPr/>
          <a:lstStyle/>
          <a:p>
            <a:pPr>
              <a:lnSpc>
                <a:spcPct val="150000"/>
              </a:lnSpc>
            </a:pPr>
            <a:r>
              <a:rPr lang="en-US" dirty="0"/>
              <a:t>A robot driving learning problem</a:t>
            </a:r>
          </a:p>
          <a:p>
            <a:pPr lvl="1" algn="just">
              <a:lnSpc>
                <a:spcPct val="150000"/>
              </a:lnSpc>
            </a:pPr>
            <a:r>
              <a:rPr lang="en-US" dirty="0">
                <a:solidFill>
                  <a:srgbClr val="C00000"/>
                </a:solidFill>
              </a:rPr>
              <a:t>Task </a:t>
            </a:r>
            <a:r>
              <a:rPr lang="en-US" i="1" dirty="0">
                <a:solidFill>
                  <a:srgbClr val="C00000"/>
                </a:solidFill>
              </a:rPr>
              <a:t>T</a:t>
            </a:r>
            <a:r>
              <a:rPr lang="en-US" dirty="0">
                <a:solidFill>
                  <a:srgbClr val="C00000"/>
                </a:solidFill>
              </a:rPr>
              <a:t>:</a:t>
            </a:r>
            <a:r>
              <a:rPr lang="en-US" dirty="0"/>
              <a:t> driving on public four-lane highways using vision sensors</a:t>
            </a:r>
          </a:p>
          <a:p>
            <a:pPr lvl="1" algn="just">
              <a:lnSpc>
                <a:spcPct val="150000"/>
              </a:lnSpc>
            </a:pPr>
            <a:r>
              <a:rPr lang="en-US" dirty="0">
                <a:solidFill>
                  <a:srgbClr val="C00000"/>
                </a:solidFill>
              </a:rPr>
              <a:t>Performance measure </a:t>
            </a:r>
            <a:r>
              <a:rPr lang="en-US" i="1" dirty="0">
                <a:solidFill>
                  <a:srgbClr val="C00000"/>
                </a:solidFill>
              </a:rPr>
              <a:t>P</a:t>
            </a:r>
            <a:r>
              <a:rPr lang="en-US" dirty="0">
                <a:solidFill>
                  <a:srgbClr val="C00000"/>
                </a:solidFill>
              </a:rPr>
              <a:t>:</a:t>
            </a:r>
            <a:r>
              <a:rPr lang="en-US" dirty="0"/>
              <a:t> average distance traveled before an error (as judged by human overseer)</a:t>
            </a:r>
          </a:p>
          <a:p>
            <a:pPr lvl="1" algn="just">
              <a:lnSpc>
                <a:spcPct val="150000"/>
              </a:lnSpc>
            </a:pPr>
            <a:r>
              <a:rPr lang="en-US" dirty="0">
                <a:solidFill>
                  <a:srgbClr val="C00000"/>
                </a:solidFill>
              </a:rPr>
              <a:t>Training experience </a:t>
            </a:r>
            <a:r>
              <a:rPr lang="en-US" i="1" dirty="0">
                <a:solidFill>
                  <a:srgbClr val="C00000"/>
                </a:solidFill>
              </a:rPr>
              <a:t>E</a:t>
            </a:r>
            <a:r>
              <a:rPr lang="en-US" dirty="0">
                <a:solidFill>
                  <a:srgbClr val="C00000"/>
                </a:solidFill>
              </a:rPr>
              <a:t>:</a:t>
            </a:r>
            <a:r>
              <a:rPr lang="en-US" dirty="0"/>
              <a:t> a sequence of images and steering commands recorded while observing a human driver</a:t>
            </a:r>
          </a:p>
          <a:p>
            <a:pPr>
              <a:lnSpc>
                <a:spcPct val="150000"/>
              </a:lnSpc>
            </a:pPr>
            <a:endParaRPr lang="en-US" dirty="0"/>
          </a:p>
        </p:txBody>
      </p:sp>
      <p:pic>
        <p:nvPicPr>
          <p:cNvPr id="65539" name="Picture 3"/>
          <p:cNvPicPr>
            <a:picLocks noChangeAspect="1" noChangeArrowheads="1"/>
          </p:cNvPicPr>
          <p:nvPr/>
        </p:nvPicPr>
        <p:blipFill>
          <a:blip r:embed="rId2" cstate="print"/>
          <a:srcRect/>
          <a:stretch>
            <a:fillRect/>
          </a:stretch>
        </p:blipFill>
        <p:spPr bwMode="auto">
          <a:xfrm>
            <a:off x="8896150" y="4696327"/>
            <a:ext cx="2881367" cy="1947863"/>
          </a:xfrm>
          <a:prstGeom prst="rect">
            <a:avLst/>
          </a:prstGeom>
          <a:noFill/>
          <a:ln w="9525">
            <a:noFill/>
            <a:miter lim="800000"/>
            <a:headEnd/>
            <a:tailEnd/>
          </a:ln>
        </p:spPr>
      </p:pic>
    </p:spTree>
    <p:extLst>
      <p:ext uri="{BB962C8B-B14F-4D97-AF65-F5344CB8AC3E}">
        <p14:creationId xmlns:p14="http://schemas.microsoft.com/office/powerpoint/2010/main" val="353230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Machine Learning</a:t>
            </a:r>
            <a:endParaRPr lang="en-US" dirty="0"/>
          </a:p>
        </p:txBody>
      </p:sp>
      <p:sp>
        <p:nvSpPr>
          <p:cNvPr id="3" name="Content Placeholder 2"/>
          <p:cNvSpPr>
            <a:spLocks noGrp="1"/>
          </p:cNvSpPr>
          <p:nvPr>
            <p:ph idx="1"/>
          </p:nvPr>
        </p:nvSpPr>
        <p:spPr/>
        <p:txBody>
          <a:bodyPr>
            <a:normAutofit fontScale="92500" lnSpcReduction="10000"/>
          </a:bodyPr>
          <a:lstStyle/>
          <a:p>
            <a:pPr>
              <a:lnSpc>
                <a:spcPct val="150000"/>
              </a:lnSpc>
            </a:pPr>
            <a:r>
              <a:rPr lang="tr-TR" dirty="0"/>
              <a:t>There is no need to “learn” to calculate payroll</a:t>
            </a:r>
          </a:p>
          <a:p>
            <a:pPr>
              <a:lnSpc>
                <a:spcPct val="150000"/>
              </a:lnSpc>
            </a:pPr>
            <a:r>
              <a:rPr lang="tr-TR" dirty="0"/>
              <a:t>Learning </a:t>
            </a:r>
            <a:r>
              <a:rPr lang="fr-FR" dirty="0" err="1"/>
              <a:t>is</a:t>
            </a:r>
            <a:r>
              <a:rPr lang="fr-FR" dirty="0"/>
              <a:t> </a:t>
            </a:r>
            <a:r>
              <a:rPr lang="fr-FR" dirty="0" err="1"/>
              <a:t>used</a:t>
            </a:r>
            <a:r>
              <a:rPr lang="fr-FR" dirty="0"/>
              <a:t> in</a:t>
            </a:r>
            <a:r>
              <a:rPr lang="tr-TR" dirty="0"/>
              <a:t>:</a:t>
            </a:r>
          </a:p>
          <a:p>
            <a:pPr lvl="1">
              <a:lnSpc>
                <a:spcPct val="150000"/>
              </a:lnSpc>
            </a:pPr>
            <a:r>
              <a:rPr lang="en-US" dirty="0"/>
              <a:t>Data mining programs that learn to detect fraudulent credit card transactions	</a:t>
            </a:r>
          </a:p>
          <a:p>
            <a:pPr lvl="1">
              <a:lnSpc>
                <a:spcPct val="150000"/>
              </a:lnSpc>
            </a:pPr>
            <a:r>
              <a:rPr lang="en-US" dirty="0"/>
              <a:t>Programs that learn to filter spam email</a:t>
            </a:r>
          </a:p>
          <a:p>
            <a:pPr lvl="1">
              <a:lnSpc>
                <a:spcPct val="150000"/>
              </a:lnSpc>
            </a:pPr>
            <a:r>
              <a:rPr lang="fr-FR" dirty="0"/>
              <a:t>Programs </a:t>
            </a:r>
            <a:r>
              <a:rPr lang="fr-FR" dirty="0" err="1"/>
              <a:t>that</a:t>
            </a:r>
            <a:r>
              <a:rPr lang="fr-FR" dirty="0"/>
              <a:t> </a:t>
            </a:r>
            <a:r>
              <a:rPr lang="fr-FR" dirty="0" err="1"/>
              <a:t>learn</a:t>
            </a:r>
            <a:r>
              <a:rPr lang="fr-FR" dirty="0"/>
              <a:t> to </a:t>
            </a:r>
            <a:r>
              <a:rPr lang="fr-FR" dirty="0" err="1"/>
              <a:t>play</a:t>
            </a:r>
            <a:r>
              <a:rPr lang="fr-FR" dirty="0"/>
              <a:t> </a:t>
            </a:r>
            <a:r>
              <a:rPr lang="fr-FR" dirty="0" err="1"/>
              <a:t>checkers</a:t>
            </a:r>
            <a:r>
              <a:rPr lang="fr-FR" dirty="0"/>
              <a:t>/</a:t>
            </a:r>
            <a:r>
              <a:rPr lang="fr-FR" dirty="0" err="1"/>
              <a:t>chess</a:t>
            </a:r>
            <a:endParaRPr lang="en-US" dirty="0"/>
          </a:p>
          <a:p>
            <a:pPr lvl="1">
              <a:lnSpc>
                <a:spcPct val="150000"/>
              </a:lnSpc>
            </a:pPr>
            <a:r>
              <a:rPr lang="en-US" dirty="0"/>
              <a:t>Autonomous vehicles that learn to drive on public highways</a:t>
            </a:r>
          </a:p>
          <a:p>
            <a:pPr lvl="1">
              <a:lnSpc>
                <a:spcPct val="150000"/>
              </a:lnSpc>
            </a:pPr>
            <a:r>
              <a:rPr lang="fr-FR" dirty="0"/>
              <a:t>Self </a:t>
            </a:r>
            <a:r>
              <a:rPr lang="fr-FR" dirty="0" err="1"/>
              <a:t>customizing</a:t>
            </a:r>
            <a:r>
              <a:rPr lang="fr-FR" dirty="0"/>
              <a:t> programs</a:t>
            </a:r>
            <a:endParaRPr lang="en-US" dirty="0"/>
          </a:p>
          <a:p>
            <a:pPr lvl="1">
              <a:lnSpc>
                <a:spcPct val="150000"/>
              </a:lnSpc>
            </a:pPr>
            <a:r>
              <a:rPr lang="fr-FR" dirty="0"/>
              <a:t>And </a:t>
            </a:r>
            <a:r>
              <a:rPr lang="fr-FR" dirty="0" err="1"/>
              <a:t>many</a:t>
            </a:r>
            <a:r>
              <a:rPr lang="fr-FR" dirty="0"/>
              <a:t> more…</a:t>
            </a:r>
            <a:endParaRPr lang="en-US" dirty="0"/>
          </a:p>
          <a:p>
            <a:pPr>
              <a:lnSpc>
                <a:spcPct val="150000"/>
              </a:lnSpc>
            </a:pPr>
            <a:endParaRPr lang="en-US" dirty="0"/>
          </a:p>
        </p:txBody>
      </p:sp>
    </p:spTree>
    <p:extLst>
      <p:ext uri="{BB962C8B-B14F-4D97-AF65-F5344CB8AC3E}">
        <p14:creationId xmlns:p14="http://schemas.microsoft.com/office/powerpoint/2010/main" val="9006949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Machine </a:t>
            </a:r>
            <a:r>
              <a:rPr lang="fr-FR" dirty="0" err="1"/>
              <a:t>learning</a:t>
            </a:r>
            <a:endParaRPr lang="en-US" dirty="0"/>
          </a:p>
        </p:txBody>
      </p:sp>
      <p:sp>
        <p:nvSpPr>
          <p:cNvPr id="5" name="Slide Number Placeholder 4"/>
          <p:cNvSpPr>
            <a:spLocks noGrp="1"/>
          </p:cNvSpPr>
          <p:nvPr>
            <p:ph type="sldNum" sz="quarter" idx="429496729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38962B-3372-4E19-A38D-6FA8987A1852}" type="slidenum">
              <a:rPr lang="en-US" smtClean="0"/>
              <a:pPr/>
              <a:t>28</a:t>
            </a:fld>
            <a:endParaRPr lang="en-US"/>
          </a:p>
        </p:txBody>
      </p:sp>
      <p:pic>
        <p:nvPicPr>
          <p:cNvPr id="26626" name="Picture 2"/>
          <p:cNvPicPr>
            <a:picLocks noChangeAspect="1"/>
          </p:cNvPicPr>
          <p:nvPr/>
        </p:nvPicPr>
        <p:blipFill>
          <a:blip r:embed="rId2" cstate="print"/>
          <a:srcRect/>
          <a:stretch>
            <a:fillRect/>
          </a:stretch>
        </p:blipFill>
        <p:spPr bwMode="auto">
          <a:xfrm>
            <a:off x="2717800" y="1495425"/>
            <a:ext cx="8786812" cy="4648200"/>
          </a:xfrm>
          <a:prstGeom prst="rect">
            <a:avLst/>
          </a:prstGeom>
          <a:noFill/>
          <a:ln w="9525">
            <a:noFill/>
            <a:miter lim="800000"/>
            <a:headEnd/>
            <a:tailEnd/>
          </a:ln>
        </p:spPr>
      </p:pic>
    </p:spTree>
    <p:extLst>
      <p:ext uri="{BB962C8B-B14F-4D97-AF65-F5344CB8AC3E}">
        <p14:creationId xmlns:p14="http://schemas.microsoft.com/office/powerpoint/2010/main" val="2534789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42D4F-9407-1B38-BB4C-5D5097836190}"/>
              </a:ext>
            </a:extLst>
          </p:cNvPr>
          <p:cNvSpPr>
            <a:spLocks noGrp="1"/>
          </p:cNvSpPr>
          <p:nvPr>
            <p:ph idx="1"/>
          </p:nvPr>
        </p:nvSpPr>
        <p:spPr>
          <a:xfrm>
            <a:off x="414688" y="4165600"/>
            <a:ext cx="5889860" cy="2692400"/>
          </a:xfrm>
        </p:spPr>
        <p:txBody>
          <a:bodyPr>
            <a:normAutofit/>
          </a:bodyPr>
          <a:lstStyle/>
          <a:p>
            <a:pPr marL="0" indent="0">
              <a:lnSpc>
                <a:spcPct val="150000"/>
              </a:lnSpc>
              <a:buNone/>
            </a:pPr>
            <a:r>
              <a:rPr lang="en-GB" sz="5400" dirty="0">
                <a:latin typeface="Ink Free" panose="03080402000500000000" pitchFamily="66" charset="0"/>
              </a:rPr>
              <a:t>Types of Machine Learning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3825" y="640381"/>
            <a:ext cx="10058400" cy="5280660"/>
          </a:xfrm>
          <a:prstGeom prst="rect">
            <a:avLst/>
          </a:prstGeom>
        </p:spPr>
      </p:pic>
    </p:spTree>
    <p:extLst>
      <p:ext uri="{BB962C8B-B14F-4D97-AF65-F5344CB8AC3E}">
        <p14:creationId xmlns:p14="http://schemas.microsoft.com/office/powerpoint/2010/main" val="2944765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D298D9E-097F-34FE-4676-D8382BF805AA}"/>
              </a:ext>
            </a:extLst>
          </p:cNvPr>
          <p:cNvSpPr>
            <a:spLocks noGrp="1"/>
          </p:cNvSpPr>
          <p:nvPr>
            <p:ph type="title"/>
          </p:nvPr>
        </p:nvSpPr>
        <p:spPr/>
        <p:txBody>
          <a:bodyPr/>
          <a:lstStyle/>
          <a:p>
            <a:r>
              <a:rPr lang="en-US" dirty="0"/>
              <a:t>Types of Machine Learning</a:t>
            </a:r>
          </a:p>
        </p:txBody>
      </p:sp>
      <p:sp>
        <p:nvSpPr>
          <p:cNvPr id="7" name="Content Placeholder 6">
            <a:extLst>
              <a:ext uri="{FF2B5EF4-FFF2-40B4-BE49-F238E27FC236}">
                <a16:creationId xmlns:a16="http://schemas.microsoft.com/office/drawing/2014/main" id="{E90EAA14-F0CF-9898-4380-8678FC7BC18F}"/>
              </a:ext>
            </a:extLst>
          </p:cNvPr>
          <p:cNvSpPr>
            <a:spLocks noGrp="1"/>
          </p:cNvSpPr>
          <p:nvPr>
            <p:ph idx="1"/>
          </p:nvPr>
        </p:nvSpPr>
        <p:spPr>
          <a:xfrm>
            <a:off x="2589212" y="1665171"/>
            <a:ext cx="8915400" cy="4246051"/>
          </a:xfrm>
        </p:spPr>
        <p:txBody>
          <a:bodyPr>
            <a:normAutofit fontScale="92500" lnSpcReduction="20000"/>
          </a:bodyPr>
          <a:lstStyle/>
          <a:p>
            <a:r>
              <a:rPr lang="en-US" sz="2400" dirty="0"/>
              <a:t>–  Supervised learning: learn mapping from attributes to “target”</a:t>
            </a:r>
            <a:br>
              <a:rPr lang="en-US" sz="2400" dirty="0"/>
            </a:br>
            <a:r>
              <a:rPr lang="en-US" sz="2400" dirty="0"/>
              <a:t>	Classification: target variable is discrete (e.g., spam email)</a:t>
            </a:r>
            <a:br>
              <a:rPr lang="en-US" sz="2400" dirty="0"/>
            </a:br>
            <a:r>
              <a:rPr lang="en-US" sz="2400" dirty="0"/>
              <a:t>	Regression: target variable is real-valued (e.g., stock market)</a:t>
            </a:r>
          </a:p>
          <a:p>
            <a:endParaRPr lang="en-US" sz="2400" dirty="0"/>
          </a:p>
          <a:p>
            <a:r>
              <a:rPr lang="en-US" sz="2400" dirty="0"/>
              <a:t>–  Unsupervised learning: no target variable; “understand” data structure</a:t>
            </a:r>
            <a:br>
              <a:rPr lang="en-US" sz="2400" dirty="0"/>
            </a:br>
            <a:r>
              <a:rPr lang="en-US" sz="2400" dirty="0"/>
              <a:t>	Clustering: grouping data into K groups</a:t>
            </a:r>
            <a:br>
              <a:rPr lang="en-US" sz="2400" dirty="0"/>
            </a:br>
            <a:r>
              <a:rPr lang="en-US" sz="2400" dirty="0"/>
              <a:t>	</a:t>
            </a:r>
          </a:p>
          <a:p>
            <a:r>
              <a:rPr lang="en-US" sz="2400" dirty="0"/>
              <a:t>–  Other types of learning</a:t>
            </a:r>
            <a:br>
              <a:rPr lang="en-US" sz="2400" dirty="0"/>
            </a:br>
            <a:r>
              <a:rPr lang="en-US" sz="2400" dirty="0"/>
              <a:t>•  Reinforcement learning: e.g., game-playing agent</a:t>
            </a:r>
            <a:br>
              <a:rPr lang="en-US" sz="2400" dirty="0"/>
            </a:br>
            <a:r>
              <a:rPr lang="en-US" sz="2400" dirty="0"/>
              <a:t>•  Learning to rank, e.g., document ranking in Web search</a:t>
            </a:r>
            <a:br>
              <a:rPr lang="en-US" sz="2400" dirty="0"/>
            </a:br>
            <a:r>
              <a:rPr lang="en-US" sz="2400" dirty="0"/>
              <a:t>•  And many others…. </a:t>
            </a:r>
          </a:p>
        </p:txBody>
      </p:sp>
    </p:spTree>
    <p:extLst>
      <p:ext uri="{BB962C8B-B14F-4D97-AF65-F5344CB8AC3E}">
        <p14:creationId xmlns:p14="http://schemas.microsoft.com/office/powerpoint/2010/main" val="3386538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2">
                    <a:lumMod val="75000"/>
                  </a:schemeClr>
                </a:solidFill>
              </a:rPr>
              <a:t>Machine Learning Types </a:t>
            </a:r>
          </a:p>
        </p:txBody>
      </p:sp>
      <p:sp>
        <p:nvSpPr>
          <p:cNvPr id="3" name="object 3"/>
          <p:cNvSpPr>
            <a:spLocks noGrp="1"/>
          </p:cNvSpPr>
          <p:nvPr>
            <p:ph idx="1"/>
          </p:nvPr>
        </p:nvSpPr>
        <p:spPr>
          <a:xfrm>
            <a:off x="2285048" y="1752601"/>
            <a:ext cx="7621905" cy="4796943"/>
          </a:xfrm>
          <a:prstGeom prst="rect">
            <a:avLst/>
          </a:prstGeom>
          <a:blipFill>
            <a:blip r:embed="rId2" cstate="print"/>
            <a:stretch>
              <a:fillRect/>
            </a:stretch>
          </a:blipFill>
        </p:spPr>
        <p:txBody>
          <a:bodyPr vert="horz" wrap="square" lIns="0" tIns="0" rIns="0" bIns="0" rtlCol="0">
            <a:normAutofit/>
          </a:bodyPr>
          <a:lstStyle/>
          <a:p>
            <a:endParaRPr lang="en-US" dirty="0"/>
          </a:p>
        </p:txBody>
      </p:sp>
    </p:spTree>
    <p:extLst>
      <p:ext uri="{BB962C8B-B14F-4D97-AF65-F5344CB8AC3E}">
        <p14:creationId xmlns:p14="http://schemas.microsoft.com/office/powerpoint/2010/main" val="12377311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Supervised Learning</a:t>
            </a:r>
          </a:p>
        </p:txBody>
      </p:sp>
      <p:sp>
        <p:nvSpPr>
          <p:cNvPr id="3" name="Content Placeholder 2"/>
          <p:cNvSpPr>
            <a:spLocks noGrp="1"/>
          </p:cNvSpPr>
          <p:nvPr>
            <p:ph idx="1"/>
          </p:nvPr>
        </p:nvSpPr>
        <p:spPr/>
        <p:txBody>
          <a:bodyPr/>
          <a:lstStyle/>
          <a:p>
            <a:r>
              <a:rPr lang="en-US" dirty="0"/>
              <a:t>Requires a labelled training set. A training set comprises of object belonging to different labels/classes.</a:t>
            </a:r>
          </a:p>
          <a:p>
            <a:r>
              <a:rPr lang="en-US" dirty="0"/>
              <a:t>Example (face recognition):</a:t>
            </a:r>
          </a:p>
          <a:p>
            <a:pPr lvl="1"/>
            <a:r>
              <a:rPr lang="en-US" dirty="0"/>
              <a:t>Training Set: 10 persons or labels with 3 face images per person, each from different pose. We have 30 images in total. Labels in this case are names of each person (string).</a:t>
            </a:r>
          </a:p>
          <a:p>
            <a:pPr lvl="1"/>
            <a:r>
              <a:rPr lang="en-US" dirty="0"/>
              <a:t>Testing Phase: Take a random person from those 10, take his/her image from random pose and random facial expression (sad, </a:t>
            </a:r>
            <a:r>
              <a:rPr lang="en-US" dirty="0" err="1"/>
              <a:t>smily</a:t>
            </a:r>
            <a:r>
              <a:rPr lang="en-US" dirty="0"/>
              <a:t> </a:t>
            </a:r>
            <a:r>
              <a:rPr lang="en-US" dirty="0" err="1"/>
              <a:t>etc</a:t>
            </a:r>
            <a:r>
              <a:rPr lang="en-US" dirty="0"/>
              <a:t>) and ask which person that face belongs to.</a:t>
            </a:r>
          </a:p>
        </p:txBody>
      </p:sp>
    </p:spTree>
    <p:extLst>
      <p:ext uri="{BB962C8B-B14F-4D97-AF65-F5344CB8AC3E}">
        <p14:creationId xmlns:p14="http://schemas.microsoft.com/office/powerpoint/2010/main" val="24707254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Supervised Learning</a:t>
            </a:r>
          </a:p>
        </p:txBody>
      </p:sp>
      <p:sp>
        <p:nvSpPr>
          <p:cNvPr id="3" name="Content Placeholder 2"/>
          <p:cNvSpPr>
            <a:spLocks noGrp="1"/>
          </p:cNvSpPr>
          <p:nvPr>
            <p:ph idx="1"/>
          </p:nvPr>
        </p:nvSpPr>
        <p:spPr/>
        <p:txBody>
          <a:bodyPr/>
          <a:lstStyle/>
          <a:p>
            <a:r>
              <a:rPr lang="en-US" dirty="0"/>
              <a:t>Example (regression, estimating price of a plot):</a:t>
            </a:r>
          </a:p>
          <a:p>
            <a:endParaRPr lang="en-US" dirty="0"/>
          </a:p>
          <a:p>
            <a:pPr lvl="1"/>
            <a:r>
              <a:rPr lang="en-US" dirty="0"/>
              <a:t>Training Set: Imagine from </a:t>
            </a:r>
            <a:r>
              <a:rPr lang="en-US" dirty="0" err="1"/>
              <a:t>pwd</a:t>
            </a:r>
            <a:r>
              <a:rPr lang="en-US" dirty="0"/>
              <a:t> housing society, we have 10 plots and for each plot we know its covered area in square meters along with the price. Price in this case is the label (floating number)</a:t>
            </a:r>
          </a:p>
          <a:p>
            <a:pPr lvl="1"/>
            <a:endParaRPr lang="en-US" dirty="0"/>
          </a:p>
          <a:p>
            <a:pPr lvl="1"/>
            <a:r>
              <a:rPr lang="en-US" dirty="0"/>
              <a:t>Testing Phase: Estimate the price (label) of a random plot given its covered area.</a:t>
            </a:r>
          </a:p>
        </p:txBody>
      </p:sp>
    </p:spTree>
    <p:extLst>
      <p:ext uri="{BB962C8B-B14F-4D97-AF65-F5344CB8AC3E}">
        <p14:creationId xmlns:p14="http://schemas.microsoft.com/office/powerpoint/2010/main" val="4268678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Unsupervised Learning</a:t>
            </a:r>
          </a:p>
        </p:txBody>
      </p:sp>
      <p:sp>
        <p:nvSpPr>
          <p:cNvPr id="3" name="Content Placeholder 2"/>
          <p:cNvSpPr>
            <a:spLocks noGrp="1"/>
          </p:cNvSpPr>
          <p:nvPr>
            <p:ph idx="1"/>
          </p:nvPr>
        </p:nvSpPr>
        <p:spPr/>
        <p:txBody>
          <a:bodyPr/>
          <a:lstStyle/>
          <a:p>
            <a:r>
              <a:rPr lang="en-US" dirty="0"/>
              <a:t>No labelled training set required.</a:t>
            </a:r>
          </a:p>
          <a:p>
            <a:endParaRPr lang="en-US" dirty="0"/>
          </a:p>
          <a:p>
            <a:r>
              <a:rPr lang="en-US" dirty="0"/>
              <a:t>Example (Clustering):</a:t>
            </a:r>
          </a:p>
          <a:p>
            <a:pPr lvl="1"/>
            <a:r>
              <a:rPr lang="en-US" dirty="0"/>
              <a:t>Imagine you have 50 students and for each student you know his/her marks out of 100. Divide these 50 students in good, average and worst categories based upon their marks.</a:t>
            </a:r>
          </a:p>
          <a:p>
            <a:pPr lvl="1"/>
            <a:r>
              <a:rPr lang="en-US" dirty="0"/>
              <a:t>Label in this case is one of the three strings (“good”, “average” or “bad”). Here you have a training set (a list of marks of those 50 students) but you don’t know the label of each of that student (whether that student belongs to a “good” category or one of the other two. That is what you have to find out! </a:t>
            </a:r>
          </a:p>
        </p:txBody>
      </p:sp>
    </p:spTree>
    <p:extLst>
      <p:ext uri="{BB962C8B-B14F-4D97-AF65-F5344CB8AC3E}">
        <p14:creationId xmlns:p14="http://schemas.microsoft.com/office/powerpoint/2010/main" val="1473604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Reinforcement Learning</a:t>
            </a:r>
          </a:p>
        </p:txBody>
      </p:sp>
      <p:sp>
        <p:nvSpPr>
          <p:cNvPr id="3" name="Content Placeholder 2"/>
          <p:cNvSpPr>
            <a:spLocks noGrp="1"/>
          </p:cNvSpPr>
          <p:nvPr>
            <p:ph idx="1"/>
          </p:nvPr>
        </p:nvSpPr>
        <p:spPr/>
        <p:txBody>
          <a:bodyPr/>
          <a:lstStyle/>
          <a:p>
            <a:r>
              <a:rPr lang="en-US" dirty="0"/>
              <a:t>In </a:t>
            </a:r>
            <a:r>
              <a:rPr lang="en-US" b="1" dirty="0"/>
              <a:t>reinforcement learning </a:t>
            </a:r>
            <a:r>
              <a:rPr lang="en-US" dirty="0"/>
              <a:t>the agent learns from a series of reinforcements—rewards or punishments. </a:t>
            </a:r>
          </a:p>
          <a:p>
            <a:r>
              <a:rPr lang="en-US" dirty="0"/>
              <a:t>For example, the lack of a tip at the end of the journey gives the taxi agent an indication that it did something wrong. The two points for a win at the end of a chess game tells the agent it did something right.</a:t>
            </a:r>
          </a:p>
        </p:txBody>
      </p:sp>
    </p:spTree>
    <p:extLst>
      <p:ext uri="{BB962C8B-B14F-4D97-AF65-F5344CB8AC3E}">
        <p14:creationId xmlns:p14="http://schemas.microsoft.com/office/powerpoint/2010/main" val="31314105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63102" y="346811"/>
            <a:ext cx="8392813" cy="689932"/>
          </a:xfrm>
          <a:prstGeom prst="rect">
            <a:avLst/>
          </a:prstGeom>
        </p:spPr>
        <p:txBody>
          <a:bodyPr vert="horz" wrap="square" lIns="0" tIns="12700" rIns="0" bIns="0" rtlCol="0" anchor="t">
            <a:spAutoFit/>
          </a:bodyPr>
          <a:lstStyle/>
          <a:p>
            <a:pPr marL="12700">
              <a:spcBef>
                <a:spcPts val="100"/>
              </a:spcBef>
            </a:pPr>
            <a:r>
              <a:rPr sz="4400" spc="-5" dirty="0">
                <a:latin typeface="+mn-lt"/>
              </a:rPr>
              <a:t>When</a:t>
            </a:r>
            <a:r>
              <a:rPr sz="4400" spc="-20" dirty="0">
                <a:latin typeface="+mn-lt"/>
              </a:rPr>
              <a:t> </a:t>
            </a:r>
            <a:r>
              <a:rPr sz="4400" dirty="0">
                <a:latin typeface="+mn-lt"/>
              </a:rPr>
              <a:t>Do</a:t>
            </a:r>
            <a:r>
              <a:rPr sz="4400" spc="-15" dirty="0">
                <a:latin typeface="+mn-lt"/>
              </a:rPr>
              <a:t> </a:t>
            </a:r>
            <a:r>
              <a:rPr sz="4400" spc="-75" dirty="0">
                <a:latin typeface="+mn-lt"/>
              </a:rPr>
              <a:t>We</a:t>
            </a:r>
            <a:r>
              <a:rPr sz="4400" spc="-20" dirty="0">
                <a:latin typeface="+mn-lt"/>
              </a:rPr>
              <a:t> </a:t>
            </a:r>
            <a:r>
              <a:rPr sz="4400" spc="-5" dirty="0">
                <a:latin typeface="+mn-lt"/>
              </a:rPr>
              <a:t>Use</a:t>
            </a:r>
            <a:r>
              <a:rPr sz="4400" spc="-20" dirty="0">
                <a:latin typeface="+mn-lt"/>
              </a:rPr>
              <a:t> </a:t>
            </a:r>
            <a:r>
              <a:rPr lang="en-US" sz="4400" spc="-5" dirty="0">
                <a:latin typeface="+mn-lt"/>
              </a:rPr>
              <a:t>ML?</a:t>
            </a:r>
            <a:endParaRPr sz="4400" dirty="0">
              <a:latin typeface="+mn-lt"/>
            </a:endParaRPr>
          </a:p>
        </p:txBody>
      </p:sp>
      <p:sp>
        <p:nvSpPr>
          <p:cNvPr id="3" name="object 3"/>
          <p:cNvSpPr txBox="1"/>
          <p:nvPr/>
        </p:nvSpPr>
        <p:spPr>
          <a:xfrm>
            <a:off x="2059941" y="1036744"/>
            <a:ext cx="7489825" cy="2512867"/>
          </a:xfrm>
          <a:prstGeom prst="rect">
            <a:avLst/>
          </a:prstGeom>
        </p:spPr>
        <p:txBody>
          <a:bodyPr vert="horz" wrap="square" lIns="0" tIns="62865" rIns="0" bIns="0" rtlCol="0">
            <a:spAutoFit/>
          </a:bodyPr>
          <a:lstStyle/>
          <a:p>
            <a:pPr marL="12700" algn="just">
              <a:lnSpc>
                <a:spcPct val="150000"/>
              </a:lnSpc>
              <a:spcBef>
                <a:spcPts val="495"/>
              </a:spcBef>
            </a:pPr>
            <a:r>
              <a:rPr sz="2000" dirty="0">
                <a:cs typeface="Calibri"/>
              </a:rPr>
              <a:t>ML</a:t>
            </a:r>
            <a:r>
              <a:rPr sz="2000" spc="-15" dirty="0">
                <a:cs typeface="Calibri"/>
              </a:rPr>
              <a:t> </a:t>
            </a:r>
            <a:r>
              <a:rPr sz="2000" spc="-5" dirty="0">
                <a:cs typeface="Calibri"/>
              </a:rPr>
              <a:t>is</a:t>
            </a:r>
            <a:r>
              <a:rPr sz="2000" spc="-10" dirty="0">
                <a:cs typeface="Calibri"/>
              </a:rPr>
              <a:t> </a:t>
            </a:r>
            <a:r>
              <a:rPr sz="2000" spc="-5" dirty="0">
                <a:cs typeface="Calibri"/>
              </a:rPr>
              <a:t>used when:</a:t>
            </a:r>
            <a:endParaRPr sz="2000" dirty="0">
              <a:cs typeface="Calibri"/>
            </a:endParaRPr>
          </a:p>
          <a:p>
            <a:pPr marL="355600" indent="-342900" algn="just">
              <a:lnSpc>
                <a:spcPct val="150000"/>
              </a:lnSpc>
              <a:spcBef>
                <a:spcPts val="340"/>
              </a:spcBef>
              <a:buFont typeface="Arial MT"/>
              <a:buChar char="•"/>
              <a:tabLst>
                <a:tab pos="354965" algn="l"/>
                <a:tab pos="355600" algn="l"/>
              </a:tabLst>
            </a:pPr>
            <a:r>
              <a:rPr sz="2000" spc="-5" dirty="0">
                <a:cs typeface="Calibri"/>
              </a:rPr>
              <a:t>Human </a:t>
            </a:r>
            <a:r>
              <a:rPr sz="2000" spc="-10" dirty="0">
                <a:cs typeface="Calibri"/>
              </a:rPr>
              <a:t>expertise</a:t>
            </a:r>
            <a:r>
              <a:rPr sz="2000" dirty="0">
                <a:cs typeface="Calibri"/>
              </a:rPr>
              <a:t> does</a:t>
            </a:r>
            <a:r>
              <a:rPr sz="2000" spc="-10" dirty="0">
                <a:cs typeface="Calibri"/>
              </a:rPr>
              <a:t> </a:t>
            </a:r>
            <a:r>
              <a:rPr sz="2000" spc="-5" dirty="0">
                <a:cs typeface="Calibri"/>
              </a:rPr>
              <a:t>not</a:t>
            </a:r>
            <a:r>
              <a:rPr sz="2000" spc="-10" dirty="0">
                <a:cs typeface="Calibri"/>
              </a:rPr>
              <a:t> </a:t>
            </a:r>
            <a:r>
              <a:rPr sz="2000" spc="-15" dirty="0">
                <a:cs typeface="Calibri"/>
              </a:rPr>
              <a:t>exist</a:t>
            </a:r>
            <a:r>
              <a:rPr sz="2000" spc="-10" dirty="0">
                <a:cs typeface="Calibri"/>
              </a:rPr>
              <a:t> </a:t>
            </a:r>
            <a:r>
              <a:rPr sz="2000" spc="-15" dirty="0">
                <a:cs typeface="Calibri"/>
              </a:rPr>
              <a:t>(navigating</a:t>
            </a:r>
            <a:r>
              <a:rPr sz="2000" spc="-10" dirty="0">
                <a:cs typeface="Calibri"/>
              </a:rPr>
              <a:t> </a:t>
            </a:r>
            <a:r>
              <a:rPr sz="2000" spc="-5" dirty="0">
                <a:cs typeface="Calibri"/>
              </a:rPr>
              <a:t>on </a:t>
            </a:r>
            <a:r>
              <a:rPr sz="2000" spc="-10" dirty="0">
                <a:cs typeface="Calibri"/>
              </a:rPr>
              <a:t>Mars)</a:t>
            </a:r>
            <a:endParaRPr sz="2000" dirty="0">
              <a:cs typeface="Calibri"/>
            </a:endParaRPr>
          </a:p>
          <a:p>
            <a:pPr marL="355600" indent="-342900" algn="just">
              <a:lnSpc>
                <a:spcPct val="150000"/>
              </a:lnSpc>
              <a:spcBef>
                <a:spcPts val="220"/>
              </a:spcBef>
              <a:buFont typeface="Arial MT"/>
              <a:buChar char="•"/>
              <a:tabLst>
                <a:tab pos="354965" algn="l"/>
                <a:tab pos="355600" algn="l"/>
              </a:tabLst>
            </a:pPr>
            <a:r>
              <a:rPr sz="2000" spc="-5" dirty="0">
                <a:cs typeface="Calibri"/>
              </a:rPr>
              <a:t>Humans can’t</a:t>
            </a:r>
            <a:r>
              <a:rPr sz="2000" dirty="0">
                <a:cs typeface="Calibri"/>
              </a:rPr>
              <a:t> </a:t>
            </a:r>
            <a:r>
              <a:rPr sz="2000" spc="-10" dirty="0">
                <a:cs typeface="Calibri"/>
              </a:rPr>
              <a:t>explain</a:t>
            </a:r>
            <a:r>
              <a:rPr sz="2000" spc="5" dirty="0">
                <a:cs typeface="Calibri"/>
              </a:rPr>
              <a:t> </a:t>
            </a:r>
            <a:r>
              <a:rPr sz="2000" spc="-5" dirty="0">
                <a:cs typeface="Calibri"/>
              </a:rPr>
              <a:t>their</a:t>
            </a:r>
            <a:r>
              <a:rPr sz="2000" dirty="0">
                <a:cs typeface="Calibri"/>
              </a:rPr>
              <a:t> </a:t>
            </a:r>
            <a:r>
              <a:rPr sz="2000" spc="-10" dirty="0">
                <a:cs typeface="Calibri"/>
              </a:rPr>
              <a:t>expertise</a:t>
            </a:r>
            <a:r>
              <a:rPr sz="2000" spc="10" dirty="0">
                <a:cs typeface="Calibri"/>
              </a:rPr>
              <a:t> </a:t>
            </a:r>
            <a:r>
              <a:rPr sz="2000" spc="-5" dirty="0">
                <a:cs typeface="Calibri"/>
              </a:rPr>
              <a:t>(speech</a:t>
            </a:r>
            <a:r>
              <a:rPr sz="2000" spc="5" dirty="0">
                <a:cs typeface="Calibri"/>
              </a:rPr>
              <a:t> </a:t>
            </a:r>
            <a:r>
              <a:rPr sz="2000" spc="-10" dirty="0">
                <a:cs typeface="Calibri"/>
              </a:rPr>
              <a:t>recognition)</a:t>
            </a:r>
            <a:endParaRPr sz="2000" dirty="0">
              <a:cs typeface="Calibri"/>
            </a:endParaRPr>
          </a:p>
          <a:p>
            <a:pPr marL="355600" indent="-342900" algn="just">
              <a:lnSpc>
                <a:spcPct val="150000"/>
              </a:lnSpc>
              <a:spcBef>
                <a:spcPts val="320"/>
              </a:spcBef>
              <a:buFont typeface="Arial MT"/>
              <a:buChar char="•"/>
              <a:tabLst>
                <a:tab pos="354965" algn="l"/>
                <a:tab pos="355600" algn="l"/>
              </a:tabLst>
            </a:pPr>
            <a:r>
              <a:rPr sz="2000" spc="-5" dirty="0">
                <a:cs typeface="Calibri"/>
              </a:rPr>
              <a:t>Models</a:t>
            </a:r>
            <a:r>
              <a:rPr sz="2000" spc="-15" dirty="0">
                <a:cs typeface="Calibri"/>
              </a:rPr>
              <a:t> </a:t>
            </a:r>
            <a:r>
              <a:rPr sz="2000" spc="-10" dirty="0">
                <a:cs typeface="Calibri"/>
              </a:rPr>
              <a:t>must</a:t>
            </a:r>
            <a:r>
              <a:rPr sz="2000" spc="-15" dirty="0">
                <a:cs typeface="Calibri"/>
              </a:rPr>
              <a:t> </a:t>
            </a:r>
            <a:r>
              <a:rPr sz="2000" dirty="0">
                <a:cs typeface="Calibri"/>
              </a:rPr>
              <a:t>be</a:t>
            </a:r>
            <a:r>
              <a:rPr sz="2000" spc="-5" dirty="0">
                <a:cs typeface="Calibri"/>
              </a:rPr>
              <a:t> </a:t>
            </a:r>
            <a:r>
              <a:rPr sz="2000" spc="-15" dirty="0">
                <a:cs typeface="Calibri"/>
              </a:rPr>
              <a:t>customized</a:t>
            </a:r>
            <a:r>
              <a:rPr sz="2000" spc="-5" dirty="0">
                <a:cs typeface="Calibri"/>
              </a:rPr>
              <a:t> </a:t>
            </a:r>
            <a:r>
              <a:rPr sz="2000" spc="-10" dirty="0">
                <a:cs typeface="Calibri"/>
              </a:rPr>
              <a:t>(personalized </a:t>
            </a:r>
            <a:r>
              <a:rPr sz="2000" spc="-5" dirty="0">
                <a:cs typeface="Calibri"/>
              </a:rPr>
              <a:t>medicine)</a:t>
            </a:r>
            <a:endParaRPr sz="2000" dirty="0">
              <a:cs typeface="Calibri"/>
            </a:endParaRPr>
          </a:p>
          <a:p>
            <a:pPr marL="355600" indent="-342900" algn="just">
              <a:lnSpc>
                <a:spcPct val="150000"/>
              </a:lnSpc>
              <a:spcBef>
                <a:spcPts val="320"/>
              </a:spcBef>
              <a:buFont typeface="Arial MT"/>
              <a:buChar char="•"/>
              <a:tabLst>
                <a:tab pos="354965" algn="l"/>
                <a:tab pos="355600" algn="l"/>
              </a:tabLst>
            </a:pPr>
            <a:r>
              <a:rPr sz="2000" spc="-5" dirty="0">
                <a:cs typeface="Calibri"/>
              </a:rPr>
              <a:t>Models</a:t>
            </a:r>
            <a:r>
              <a:rPr sz="2000" spc="-15" dirty="0">
                <a:cs typeface="Calibri"/>
              </a:rPr>
              <a:t> are</a:t>
            </a:r>
            <a:r>
              <a:rPr sz="2000" dirty="0">
                <a:cs typeface="Calibri"/>
              </a:rPr>
              <a:t> </a:t>
            </a:r>
            <a:r>
              <a:rPr sz="2000" spc="-5" dirty="0">
                <a:cs typeface="Calibri"/>
              </a:rPr>
              <a:t>based on </a:t>
            </a:r>
            <a:r>
              <a:rPr sz="2000" spc="-10" dirty="0">
                <a:cs typeface="Calibri"/>
              </a:rPr>
              <a:t>huge</a:t>
            </a:r>
            <a:r>
              <a:rPr sz="2000" spc="-5" dirty="0">
                <a:cs typeface="Calibri"/>
              </a:rPr>
              <a:t> amounts</a:t>
            </a:r>
            <a:r>
              <a:rPr sz="2000" spc="-10" dirty="0">
                <a:cs typeface="Calibri"/>
              </a:rPr>
              <a:t> </a:t>
            </a:r>
            <a:r>
              <a:rPr sz="2000" spc="-5" dirty="0">
                <a:cs typeface="Calibri"/>
              </a:rPr>
              <a:t>of </a:t>
            </a:r>
            <a:r>
              <a:rPr sz="2000" spc="-15" dirty="0">
                <a:cs typeface="Calibri"/>
              </a:rPr>
              <a:t>data</a:t>
            </a:r>
            <a:r>
              <a:rPr sz="2000" spc="-5" dirty="0">
                <a:cs typeface="Calibri"/>
              </a:rPr>
              <a:t> (genomics)</a:t>
            </a:r>
            <a:endParaRPr sz="2000" dirty="0">
              <a:cs typeface="Calibri"/>
            </a:endParaRPr>
          </a:p>
        </p:txBody>
      </p:sp>
      <p:sp>
        <p:nvSpPr>
          <p:cNvPr id="4" name="object 4"/>
          <p:cNvSpPr txBox="1"/>
          <p:nvPr/>
        </p:nvSpPr>
        <p:spPr>
          <a:xfrm>
            <a:off x="1602738" y="5456343"/>
            <a:ext cx="8912862" cy="1563890"/>
          </a:xfrm>
          <a:prstGeom prst="rect">
            <a:avLst/>
          </a:prstGeom>
        </p:spPr>
        <p:txBody>
          <a:bodyPr vert="horz" wrap="square" lIns="0" tIns="62865" rIns="0" bIns="0" rtlCol="0">
            <a:spAutoFit/>
          </a:bodyPr>
          <a:lstStyle/>
          <a:p>
            <a:pPr marL="469900">
              <a:spcBef>
                <a:spcPts val="495"/>
              </a:spcBef>
            </a:pPr>
            <a:r>
              <a:rPr sz="2000" spc="-5" dirty="0">
                <a:cs typeface="Calibri"/>
              </a:rPr>
              <a:t>Learning</a:t>
            </a:r>
            <a:r>
              <a:rPr sz="2000" spc="-15" dirty="0">
                <a:cs typeface="Calibri"/>
              </a:rPr>
              <a:t> </a:t>
            </a:r>
            <a:r>
              <a:rPr sz="2000" dirty="0">
                <a:cs typeface="Calibri"/>
              </a:rPr>
              <a:t>isn’t</a:t>
            </a:r>
            <a:r>
              <a:rPr sz="2000" spc="-10" dirty="0">
                <a:cs typeface="Calibri"/>
              </a:rPr>
              <a:t> </a:t>
            </a:r>
            <a:r>
              <a:rPr sz="2000" spc="-25" dirty="0">
                <a:cs typeface="Calibri"/>
              </a:rPr>
              <a:t>always</a:t>
            </a:r>
            <a:r>
              <a:rPr sz="2000" spc="-5" dirty="0">
                <a:cs typeface="Calibri"/>
              </a:rPr>
              <a:t> </a:t>
            </a:r>
            <a:r>
              <a:rPr sz="2000" spc="-10" dirty="0">
                <a:cs typeface="Calibri"/>
              </a:rPr>
              <a:t>useful:</a:t>
            </a:r>
            <a:endParaRPr sz="2000" dirty="0">
              <a:cs typeface="Calibri"/>
            </a:endParaRPr>
          </a:p>
          <a:p>
            <a:pPr marL="812800" indent="-342900">
              <a:spcBef>
                <a:spcPts val="340"/>
              </a:spcBef>
              <a:buFont typeface="Arial MT"/>
              <a:buChar char="•"/>
              <a:tabLst>
                <a:tab pos="812165" algn="l"/>
                <a:tab pos="812800" algn="l"/>
              </a:tabLst>
            </a:pPr>
            <a:r>
              <a:rPr sz="2000" spc="-10" dirty="0">
                <a:cs typeface="Calibri"/>
              </a:rPr>
              <a:t>There</a:t>
            </a:r>
            <a:r>
              <a:rPr sz="2000" dirty="0">
                <a:cs typeface="Calibri"/>
              </a:rPr>
              <a:t> </a:t>
            </a:r>
            <a:r>
              <a:rPr sz="2000" spc="-5" dirty="0">
                <a:cs typeface="Calibri"/>
              </a:rPr>
              <a:t>is</a:t>
            </a:r>
            <a:r>
              <a:rPr sz="2000" spc="-10" dirty="0">
                <a:cs typeface="Calibri"/>
              </a:rPr>
              <a:t> </a:t>
            </a:r>
            <a:r>
              <a:rPr sz="2000" dirty="0">
                <a:cs typeface="Calibri"/>
              </a:rPr>
              <a:t>no</a:t>
            </a:r>
            <a:r>
              <a:rPr sz="2000" spc="-10" dirty="0">
                <a:cs typeface="Calibri"/>
              </a:rPr>
              <a:t> </a:t>
            </a:r>
            <a:r>
              <a:rPr sz="2000" dirty="0">
                <a:cs typeface="Calibri"/>
              </a:rPr>
              <a:t>need</a:t>
            </a:r>
            <a:r>
              <a:rPr sz="2000" spc="-5" dirty="0">
                <a:cs typeface="Calibri"/>
              </a:rPr>
              <a:t> </a:t>
            </a:r>
            <a:r>
              <a:rPr sz="2000" spc="-15" dirty="0">
                <a:cs typeface="Calibri"/>
              </a:rPr>
              <a:t>to</a:t>
            </a:r>
            <a:r>
              <a:rPr sz="2000" spc="-5" dirty="0">
                <a:cs typeface="Calibri"/>
              </a:rPr>
              <a:t> “learn”</a:t>
            </a:r>
            <a:r>
              <a:rPr sz="2000" spc="-10" dirty="0">
                <a:cs typeface="Calibri"/>
              </a:rPr>
              <a:t> </a:t>
            </a:r>
            <a:r>
              <a:rPr sz="2000" spc="-15" dirty="0">
                <a:cs typeface="Calibri"/>
              </a:rPr>
              <a:t>to</a:t>
            </a:r>
            <a:r>
              <a:rPr sz="2000" spc="-10" dirty="0">
                <a:cs typeface="Calibri"/>
              </a:rPr>
              <a:t> </a:t>
            </a:r>
            <a:r>
              <a:rPr sz="2000" spc="-15" dirty="0">
                <a:cs typeface="Calibri"/>
              </a:rPr>
              <a:t>calculate</a:t>
            </a:r>
            <a:r>
              <a:rPr sz="2000" dirty="0">
                <a:cs typeface="Calibri"/>
              </a:rPr>
              <a:t> </a:t>
            </a:r>
            <a:r>
              <a:rPr sz="2000" spc="-15" dirty="0">
                <a:cs typeface="Calibri"/>
              </a:rPr>
              <a:t>payroll</a:t>
            </a:r>
            <a:endParaRPr sz="2000" dirty="0">
              <a:cs typeface="Calibri"/>
            </a:endParaRPr>
          </a:p>
          <a:p>
            <a:pPr marL="12700">
              <a:spcBef>
                <a:spcPts val="1795"/>
              </a:spcBef>
            </a:pPr>
            <a:r>
              <a:rPr lang="en-US" sz="2000" dirty="0">
                <a:cs typeface="Calibri"/>
              </a:rPr>
              <a:t>						</a:t>
            </a:r>
            <a:r>
              <a:rPr sz="2000" dirty="0">
                <a:cs typeface="Calibri"/>
              </a:rPr>
              <a:t>Based</a:t>
            </a:r>
            <a:r>
              <a:rPr sz="2000" spc="-20" dirty="0">
                <a:cs typeface="Calibri"/>
              </a:rPr>
              <a:t> </a:t>
            </a:r>
            <a:r>
              <a:rPr sz="2000" spc="-5" dirty="0">
                <a:cs typeface="Calibri"/>
              </a:rPr>
              <a:t>on</a:t>
            </a:r>
            <a:r>
              <a:rPr sz="2000" spc="-15" dirty="0">
                <a:cs typeface="Calibri"/>
              </a:rPr>
              <a:t> </a:t>
            </a:r>
            <a:r>
              <a:rPr sz="2000" dirty="0">
                <a:cs typeface="Calibri"/>
              </a:rPr>
              <a:t>slide</a:t>
            </a:r>
            <a:r>
              <a:rPr sz="2000" spc="-20" dirty="0">
                <a:cs typeface="Calibri"/>
              </a:rPr>
              <a:t> </a:t>
            </a:r>
            <a:r>
              <a:rPr sz="2000" spc="-5" dirty="0">
                <a:cs typeface="Calibri"/>
              </a:rPr>
              <a:t>by</a:t>
            </a:r>
            <a:r>
              <a:rPr sz="2000" spc="-10" dirty="0">
                <a:cs typeface="Calibri"/>
              </a:rPr>
              <a:t> </a:t>
            </a:r>
            <a:r>
              <a:rPr sz="2000" dirty="0">
                <a:cs typeface="Calibri"/>
              </a:rPr>
              <a:t>E.</a:t>
            </a:r>
            <a:r>
              <a:rPr sz="2000" spc="-25" dirty="0">
                <a:cs typeface="Calibri"/>
              </a:rPr>
              <a:t> </a:t>
            </a:r>
            <a:r>
              <a:rPr sz="2000" spc="-5" dirty="0">
                <a:cs typeface="Calibri"/>
              </a:rPr>
              <a:t>Alpaydin</a:t>
            </a:r>
            <a:endParaRPr sz="2000" dirty="0">
              <a:cs typeface="Calibri"/>
            </a:endParaRPr>
          </a:p>
        </p:txBody>
      </p:sp>
      <p:pic>
        <p:nvPicPr>
          <p:cNvPr id="5" name="object 5"/>
          <p:cNvPicPr/>
          <p:nvPr/>
        </p:nvPicPr>
        <p:blipFill>
          <a:blip r:embed="rId2" cstate="print"/>
          <a:stretch>
            <a:fillRect/>
          </a:stretch>
        </p:blipFill>
        <p:spPr>
          <a:xfrm>
            <a:off x="1981201" y="3657600"/>
            <a:ext cx="2082477" cy="1667640"/>
          </a:xfrm>
          <a:prstGeom prst="rect">
            <a:avLst/>
          </a:prstGeom>
        </p:spPr>
      </p:pic>
      <p:pic>
        <p:nvPicPr>
          <p:cNvPr id="6" name="object 6"/>
          <p:cNvPicPr/>
          <p:nvPr/>
        </p:nvPicPr>
        <p:blipFill>
          <a:blip r:embed="rId3" cstate="print"/>
          <a:stretch>
            <a:fillRect/>
          </a:stretch>
        </p:blipFill>
        <p:spPr>
          <a:xfrm>
            <a:off x="4261968" y="3576047"/>
            <a:ext cx="2001169" cy="1667640"/>
          </a:xfrm>
          <a:prstGeom prst="rect">
            <a:avLst/>
          </a:prstGeom>
        </p:spPr>
      </p:pic>
      <p:pic>
        <p:nvPicPr>
          <p:cNvPr id="7" name="object 7"/>
          <p:cNvPicPr/>
          <p:nvPr/>
        </p:nvPicPr>
        <p:blipFill>
          <a:blip r:embed="rId4" cstate="print"/>
          <a:stretch>
            <a:fillRect/>
          </a:stretch>
        </p:blipFill>
        <p:spPr>
          <a:xfrm>
            <a:off x="6394557" y="3571805"/>
            <a:ext cx="1973474" cy="1671341"/>
          </a:xfrm>
          <a:prstGeom prst="rect">
            <a:avLst/>
          </a:prstGeom>
        </p:spPr>
      </p:pic>
      <p:pic>
        <p:nvPicPr>
          <p:cNvPr id="8" name="object 8"/>
          <p:cNvPicPr/>
          <p:nvPr/>
        </p:nvPicPr>
        <p:blipFill>
          <a:blip r:embed="rId5" cstate="print"/>
          <a:stretch>
            <a:fillRect/>
          </a:stretch>
        </p:blipFill>
        <p:spPr>
          <a:xfrm>
            <a:off x="8525889" y="3543391"/>
            <a:ext cx="1830026" cy="1667639"/>
          </a:xfrm>
          <a:prstGeom prst="rect">
            <a:avLst/>
          </a:prstGeom>
        </p:spPr>
      </p:pic>
    </p:spTree>
    <p:extLst>
      <p:ext uri="{BB962C8B-B14F-4D97-AF65-F5344CB8AC3E}">
        <p14:creationId xmlns:p14="http://schemas.microsoft.com/office/powerpoint/2010/main" val="16341175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7024" y="463228"/>
            <a:ext cx="8113776" cy="689932"/>
          </a:xfrm>
          <a:prstGeom prst="rect">
            <a:avLst/>
          </a:prstGeom>
        </p:spPr>
        <p:txBody>
          <a:bodyPr vert="horz" wrap="square" lIns="0" tIns="12700" rIns="0" bIns="0" rtlCol="0" anchor="t">
            <a:spAutoFit/>
          </a:bodyPr>
          <a:lstStyle/>
          <a:p>
            <a:pPr marL="12700">
              <a:spcBef>
                <a:spcPts val="100"/>
              </a:spcBef>
            </a:pPr>
            <a:r>
              <a:rPr sz="4400" dirty="0">
                <a:latin typeface="+mn-lt"/>
              </a:rPr>
              <a:t>Designing</a:t>
            </a:r>
            <a:r>
              <a:rPr sz="4400" spc="-25" dirty="0">
                <a:latin typeface="+mn-lt"/>
              </a:rPr>
              <a:t> </a:t>
            </a:r>
            <a:r>
              <a:rPr sz="4400" dirty="0">
                <a:latin typeface="+mn-lt"/>
              </a:rPr>
              <a:t>a</a:t>
            </a:r>
            <a:r>
              <a:rPr sz="4400" spc="-15" dirty="0">
                <a:latin typeface="+mn-lt"/>
              </a:rPr>
              <a:t> </a:t>
            </a:r>
            <a:r>
              <a:rPr sz="4400" dirty="0">
                <a:latin typeface="+mn-lt"/>
              </a:rPr>
              <a:t>Learning</a:t>
            </a:r>
            <a:r>
              <a:rPr sz="4400" spc="-25" dirty="0">
                <a:latin typeface="+mn-lt"/>
              </a:rPr>
              <a:t> </a:t>
            </a:r>
            <a:r>
              <a:rPr sz="4400" spc="-35" dirty="0">
                <a:latin typeface="+mn-lt"/>
              </a:rPr>
              <a:t>System</a:t>
            </a:r>
          </a:p>
        </p:txBody>
      </p:sp>
      <p:sp>
        <p:nvSpPr>
          <p:cNvPr id="3" name="object 3"/>
          <p:cNvSpPr txBox="1"/>
          <p:nvPr/>
        </p:nvSpPr>
        <p:spPr>
          <a:xfrm>
            <a:off x="2288540" y="1303020"/>
            <a:ext cx="7057390" cy="2192908"/>
          </a:xfrm>
          <a:prstGeom prst="rect">
            <a:avLst/>
          </a:prstGeom>
        </p:spPr>
        <p:txBody>
          <a:bodyPr vert="horz" wrap="square" lIns="0" tIns="12700" rIns="0" bIns="0" rtlCol="0">
            <a:spAutoFit/>
          </a:bodyPr>
          <a:lstStyle/>
          <a:p>
            <a:pPr marL="355600" indent="-342900" algn="just">
              <a:spcBef>
                <a:spcPts val="100"/>
              </a:spcBef>
              <a:buFont typeface="Arial MT"/>
              <a:buChar char="•"/>
              <a:tabLst>
                <a:tab pos="354965" algn="l"/>
                <a:tab pos="355600" algn="l"/>
              </a:tabLst>
            </a:pPr>
            <a:r>
              <a:rPr sz="2000" spc="-5" dirty="0">
                <a:cs typeface="Calibri"/>
              </a:rPr>
              <a:t>Choose</a:t>
            </a:r>
            <a:r>
              <a:rPr sz="2000" spc="-20" dirty="0">
                <a:cs typeface="Calibri"/>
              </a:rPr>
              <a:t> </a:t>
            </a:r>
            <a:r>
              <a:rPr sz="2000" spc="-5" dirty="0">
                <a:cs typeface="Calibri"/>
              </a:rPr>
              <a:t>the</a:t>
            </a:r>
            <a:r>
              <a:rPr sz="2000" spc="-20" dirty="0">
                <a:cs typeface="Calibri"/>
              </a:rPr>
              <a:t> </a:t>
            </a:r>
            <a:r>
              <a:rPr sz="2000" spc="-10" dirty="0">
                <a:cs typeface="Calibri"/>
              </a:rPr>
              <a:t>training</a:t>
            </a:r>
            <a:r>
              <a:rPr sz="2000" spc="-20" dirty="0">
                <a:cs typeface="Calibri"/>
              </a:rPr>
              <a:t> </a:t>
            </a:r>
            <a:r>
              <a:rPr sz="2000" spc="-10" dirty="0">
                <a:cs typeface="Calibri"/>
              </a:rPr>
              <a:t>experience</a:t>
            </a:r>
            <a:endParaRPr sz="2000" dirty="0">
              <a:cs typeface="Calibri"/>
            </a:endParaRPr>
          </a:p>
          <a:p>
            <a:pPr marL="355600" indent="-342900" algn="just">
              <a:spcBef>
                <a:spcPts val="40"/>
              </a:spcBef>
              <a:buFont typeface="Arial MT"/>
              <a:buChar char="•"/>
              <a:tabLst>
                <a:tab pos="354965" algn="l"/>
                <a:tab pos="355600" algn="l"/>
              </a:tabLst>
            </a:pPr>
            <a:r>
              <a:rPr sz="2000" spc="-5" dirty="0">
                <a:cs typeface="Calibri"/>
              </a:rPr>
              <a:t>Choose</a:t>
            </a:r>
            <a:r>
              <a:rPr sz="2000" spc="-15" dirty="0">
                <a:cs typeface="Calibri"/>
              </a:rPr>
              <a:t> </a:t>
            </a:r>
            <a:r>
              <a:rPr sz="2000" spc="-20" dirty="0">
                <a:cs typeface="Calibri"/>
              </a:rPr>
              <a:t>exactly</a:t>
            </a:r>
            <a:r>
              <a:rPr sz="2000" spc="-5" dirty="0">
                <a:cs typeface="Calibri"/>
              </a:rPr>
              <a:t> </a:t>
            </a:r>
            <a:r>
              <a:rPr sz="2000" spc="-10" dirty="0">
                <a:cs typeface="Calibri"/>
              </a:rPr>
              <a:t>what</a:t>
            </a:r>
            <a:r>
              <a:rPr sz="2000" dirty="0">
                <a:cs typeface="Calibri"/>
              </a:rPr>
              <a:t> </a:t>
            </a:r>
            <a:r>
              <a:rPr sz="2000" spc="-5" dirty="0">
                <a:cs typeface="Calibri"/>
              </a:rPr>
              <a:t>is</a:t>
            </a:r>
            <a:r>
              <a:rPr sz="2000" spc="-15" dirty="0">
                <a:cs typeface="Calibri"/>
              </a:rPr>
              <a:t> to</a:t>
            </a:r>
            <a:r>
              <a:rPr sz="2000" spc="-10" dirty="0">
                <a:cs typeface="Calibri"/>
              </a:rPr>
              <a:t> </a:t>
            </a:r>
            <a:r>
              <a:rPr sz="2000" dirty="0">
                <a:cs typeface="Calibri"/>
              </a:rPr>
              <a:t>be</a:t>
            </a:r>
            <a:r>
              <a:rPr sz="2000" spc="-10" dirty="0">
                <a:cs typeface="Calibri"/>
              </a:rPr>
              <a:t> </a:t>
            </a:r>
            <a:r>
              <a:rPr sz="2000" spc="-5" dirty="0">
                <a:cs typeface="Calibri"/>
              </a:rPr>
              <a:t>learned</a:t>
            </a:r>
            <a:endParaRPr sz="2000" dirty="0">
              <a:cs typeface="Calibri"/>
            </a:endParaRPr>
          </a:p>
          <a:p>
            <a:pPr marL="469900" algn="just">
              <a:lnSpc>
                <a:spcPts val="2840"/>
              </a:lnSpc>
              <a:spcBef>
                <a:spcPts val="40"/>
              </a:spcBef>
            </a:pPr>
            <a:r>
              <a:rPr sz="2000" dirty="0">
                <a:cs typeface="Arial MT"/>
              </a:rPr>
              <a:t>–</a:t>
            </a:r>
            <a:r>
              <a:rPr sz="2000" spc="225" dirty="0">
                <a:cs typeface="Arial MT"/>
              </a:rPr>
              <a:t> </a:t>
            </a:r>
            <a:r>
              <a:rPr sz="2000" spc="-5" dirty="0">
                <a:cs typeface="Calibri"/>
              </a:rPr>
              <a:t>i.e.</a:t>
            </a:r>
            <a:r>
              <a:rPr sz="2000" spc="-20" dirty="0">
                <a:cs typeface="Calibri"/>
              </a:rPr>
              <a:t> </a:t>
            </a:r>
            <a:r>
              <a:rPr sz="2000" spc="-5" dirty="0">
                <a:cs typeface="Calibri"/>
              </a:rPr>
              <a:t>the</a:t>
            </a:r>
            <a:r>
              <a:rPr sz="2000" spc="-10" dirty="0">
                <a:cs typeface="Calibri"/>
              </a:rPr>
              <a:t> </a:t>
            </a:r>
            <a:r>
              <a:rPr sz="2000" b="1" i="1" spc="-10" dirty="0">
                <a:solidFill>
                  <a:srgbClr val="FF0000"/>
                </a:solidFill>
                <a:cs typeface="Calibri"/>
              </a:rPr>
              <a:t>target </a:t>
            </a:r>
            <a:r>
              <a:rPr sz="2000" b="1" i="1" spc="-5" dirty="0">
                <a:solidFill>
                  <a:srgbClr val="FF0000"/>
                </a:solidFill>
                <a:cs typeface="Calibri"/>
              </a:rPr>
              <a:t>function</a:t>
            </a:r>
            <a:endParaRPr sz="2000" dirty="0">
              <a:cs typeface="Calibri"/>
            </a:endParaRPr>
          </a:p>
          <a:p>
            <a:pPr marL="355600" indent="-342900" algn="just">
              <a:lnSpc>
                <a:spcPts val="3320"/>
              </a:lnSpc>
              <a:buFont typeface="Arial MT"/>
              <a:buChar char="•"/>
              <a:tabLst>
                <a:tab pos="354965" algn="l"/>
                <a:tab pos="355600" algn="l"/>
              </a:tabLst>
            </a:pPr>
            <a:r>
              <a:rPr sz="2000" spc="-5" dirty="0">
                <a:cs typeface="Calibri"/>
              </a:rPr>
              <a:t>Choose</a:t>
            </a:r>
            <a:r>
              <a:rPr sz="2000" spc="-10" dirty="0">
                <a:cs typeface="Calibri"/>
              </a:rPr>
              <a:t> </a:t>
            </a:r>
            <a:r>
              <a:rPr sz="2000" spc="-5" dirty="0">
                <a:cs typeface="Calibri"/>
              </a:rPr>
              <a:t>how </a:t>
            </a:r>
            <a:r>
              <a:rPr sz="2000" spc="-15" dirty="0">
                <a:cs typeface="Calibri"/>
              </a:rPr>
              <a:t>to</a:t>
            </a:r>
            <a:r>
              <a:rPr sz="2000" spc="5" dirty="0">
                <a:cs typeface="Calibri"/>
              </a:rPr>
              <a:t> </a:t>
            </a:r>
            <a:r>
              <a:rPr sz="2000" spc="-15" dirty="0">
                <a:cs typeface="Calibri"/>
              </a:rPr>
              <a:t>represent</a:t>
            </a:r>
            <a:r>
              <a:rPr sz="2000" dirty="0">
                <a:cs typeface="Calibri"/>
              </a:rPr>
              <a:t> the</a:t>
            </a:r>
            <a:r>
              <a:rPr sz="2000" spc="-5" dirty="0">
                <a:cs typeface="Calibri"/>
              </a:rPr>
              <a:t> </a:t>
            </a:r>
            <a:r>
              <a:rPr sz="2000" spc="-25" dirty="0">
                <a:cs typeface="Calibri"/>
              </a:rPr>
              <a:t>target</a:t>
            </a:r>
            <a:r>
              <a:rPr sz="2000" spc="-20" dirty="0">
                <a:cs typeface="Calibri"/>
              </a:rPr>
              <a:t> </a:t>
            </a:r>
            <a:r>
              <a:rPr sz="2000" spc="-5" dirty="0">
                <a:cs typeface="Calibri"/>
              </a:rPr>
              <a:t>function</a:t>
            </a:r>
            <a:endParaRPr sz="2000" dirty="0">
              <a:cs typeface="Calibri"/>
            </a:endParaRPr>
          </a:p>
          <a:p>
            <a:pPr marL="355600" marR="5080" indent="-342900" algn="just">
              <a:lnSpc>
                <a:spcPts val="2700"/>
              </a:lnSpc>
              <a:spcBef>
                <a:spcPts val="680"/>
              </a:spcBef>
              <a:buFont typeface="Arial MT"/>
              <a:buChar char="•"/>
              <a:tabLst>
                <a:tab pos="354965" algn="l"/>
                <a:tab pos="355600" algn="l"/>
              </a:tabLst>
            </a:pPr>
            <a:r>
              <a:rPr sz="2000" spc="-5" dirty="0">
                <a:cs typeface="Calibri"/>
              </a:rPr>
              <a:t>Choose</a:t>
            </a:r>
            <a:r>
              <a:rPr sz="2000" spc="-10" dirty="0">
                <a:cs typeface="Calibri"/>
              </a:rPr>
              <a:t> </a:t>
            </a:r>
            <a:r>
              <a:rPr sz="2000" dirty="0">
                <a:cs typeface="Calibri"/>
              </a:rPr>
              <a:t>a </a:t>
            </a:r>
            <a:r>
              <a:rPr sz="2000" spc="-5" dirty="0">
                <a:cs typeface="Calibri"/>
              </a:rPr>
              <a:t>learning </a:t>
            </a:r>
            <a:r>
              <a:rPr sz="2000" spc="-10" dirty="0">
                <a:cs typeface="Calibri"/>
              </a:rPr>
              <a:t>algorithm</a:t>
            </a:r>
            <a:r>
              <a:rPr sz="2000" spc="5" dirty="0">
                <a:cs typeface="Calibri"/>
              </a:rPr>
              <a:t> </a:t>
            </a:r>
            <a:r>
              <a:rPr sz="2000" spc="-15" dirty="0">
                <a:cs typeface="Calibri"/>
              </a:rPr>
              <a:t>to</a:t>
            </a:r>
            <a:r>
              <a:rPr sz="2000" dirty="0">
                <a:cs typeface="Calibri"/>
              </a:rPr>
              <a:t> </a:t>
            </a:r>
            <a:r>
              <a:rPr sz="2000" spc="-20" dirty="0">
                <a:cs typeface="Calibri"/>
              </a:rPr>
              <a:t>infer</a:t>
            </a:r>
            <a:r>
              <a:rPr sz="2000" dirty="0">
                <a:cs typeface="Calibri"/>
              </a:rPr>
              <a:t> </a:t>
            </a:r>
            <a:r>
              <a:rPr sz="2000" spc="-5" dirty="0">
                <a:cs typeface="Calibri"/>
              </a:rPr>
              <a:t>the</a:t>
            </a:r>
            <a:r>
              <a:rPr sz="2000" dirty="0">
                <a:cs typeface="Calibri"/>
              </a:rPr>
              <a:t> </a:t>
            </a:r>
            <a:r>
              <a:rPr sz="2000" spc="-25" dirty="0">
                <a:cs typeface="Calibri"/>
              </a:rPr>
              <a:t>target </a:t>
            </a:r>
            <a:r>
              <a:rPr sz="2000" spc="-615" dirty="0">
                <a:cs typeface="Calibri"/>
              </a:rPr>
              <a:t> </a:t>
            </a:r>
            <a:r>
              <a:rPr sz="2000" spc="-5" dirty="0">
                <a:cs typeface="Calibri"/>
              </a:rPr>
              <a:t>function</a:t>
            </a:r>
            <a:r>
              <a:rPr sz="2000" dirty="0">
                <a:cs typeface="Calibri"/>
              </a:rPr>
              <a:t> </a:t>
            </a:r>
            <a:r>
              <a:rPr sz="2000" spc="-15" dirty="0">
                <a:cs typeface="Calibri"/>
              </a:rPr>
              <a:t>from</a:t>
            </a:r>
            <a:r>
              <a:rPr sz="2000" spc="5" dirty="0">
                <a:cs typeface="Calibri"/>
              </a:rPr>
              <a:t> </a:t>
            </a:r>
            <a:r>
              <a:rPr sz="2000" spc="-5" dirty="0">
                <a:cs typeface="Calibri"/>
              </a:rPr>
              <a:t>the </a:t>
            </a:r>
            <a:r>
              <a:rPr sz="2000" spc="-10" dirty="0">
                <a:cs typeface="Calibri"/>
              </a:rPr>
              <a:t>experience</a:t>
            </a:r>
            <a:endParaRPr sz="2000" dirty="0">
              <a:cs typeface="Calibri"/>
            </a:endParaRPr>
          </a:p>
        </p:txBody>
      </p:sp>
      <p:grpSp>
        <p:nvGrpSpPr>
          <p:cNvPr id="4" name="object 4"/>
          <p:cNvGrpSpPr/>
          <p:nvPr/>
        </p:nvGrpSpPr>
        <p:grpSpPr>
          <a:xfrm>
            <a:off x="2438401" y="4832351"/>
            <a:ext cx="2903537" cy="979805"/>
            <a:chOff x="1639887" y="4832350"/>
            <a:chExt cx="2178050" cy="979805"/>
          </a:xfrm>
        </p:grpSpPr>
        <p:sp>
          <p:nvSpPr>
            <p:cNvPr id="5" name="object 5"/>
            <p:cNvSpPr/>
            <p:nvPr/>
          </p:nvSpPr>
          <p:spPr>
            <a:xfrm>
              <a:off x="1646237" y="4838700"/>
              <a:ext cx="2165350" cy="967105"/>
            </a:xfrm>
            <a:custGeom>
              <a:avLst/>
              <a:gdLst/>
              <a:ahLst/>
              <a:cxnLst/>
              <a:rect l="l" t="t" r="r" b="b"/>
              <a:pathLst>
                <a:path w="2165350" h="967104">
                  <a:moveTo>
                    <a:pt x="1082675" y="0"/>
                  </a:moveTo>
                  <a:lnTo>
                    <a:pt x="1016721" y="882"/>
                  </a:lnTo>
                  <a:lnTo>
                    <a:pt x="951813" y="3495"/>
                  </a:lnTo>
                  <a:lnTo>
                    <a:pt x="888063" y="7788"/>
                  </a:lnTo>
                  <a:lnTo>
                    <a:pt x="825584" y="13710"/>
                  </a:lnTo>
                  <a:lnTo>
                    <a:pt x="764490" y="21212"/>
                  </a:lnTo>
                  <a:lnTo>
                    <a:pt x="704895" y="30242"/>
                  </a:lnTo>
                  <a:lnTo>
                    <a:pt x="646910" y="40750"/>
                  </a:lnTo>
                  <a:lnTo>
                    <a:pt x="590650" y="52685"/>
                  </a:lnTo>
                  <a:lnTo>
                    <a:pt x="536228" y="65997"/>
                  </a:lnTo>
                  <a:lnTo>
                    <a:pt x="483757" y="80635"/>
                  </a:lnTo>
                  <a:lnTo>
                    <a:pt x="433350" y="96549"/>
                  </a:lnTo>
                  <a:lnTo>
                    <a:pt x="385121" y="113688"/>
                  </a:lnTo>
                  <a:lnTo>
                    <a:pt x="339183" y="132001"/>
                  </a:lnTo>
                  <a:lnTo>
                    <a:pt x="295648" y="151438"/>
                  </a:lnTo>
                  <a:lnTo>
                    <a:pt x="254631" y="171949"/>
                  </a:lnTo>
                  <a:lnTo>
                    <a:pt x="216245" y="193482"/>
                  </a:lnTo>
                  <a:lnTo>
                    <a:pt x="180602" y="215988"/>
                  </a:lnTo>
                  <a:lnTo>
                    <a:pt x="147817" y="239415"/>
                  </a:lnTo>
                  <a:lnTo>
                    <a:pt x="118001" y="263714"/>
                  </a:lnTo>
                  <a:lnTo>
                    <a:pt x="67734" y="314722"/>
                  </a:lnTo>
                  <a:lnTo>
                    <a:pt x="30708" y="368607"/>
                  </a:lnTo>
                  <a:lnTo>
                    <a:pt x="7828" y="424966"/>
                  </a:lnTo>
                  <a:lnTo>
                    <a:pt x="0" y="483393"/>
                  </a:lnTo>
                  <a:lnTo>
                    <a:pt x="1975" y="512840"/>
                  </a:lnTo>
                  <a:lnTo>
                    <a:pt x="17443" y="570284"/>
                  </a:lnTo>
                  <a:lnTo>
                    <a:pt x="47510" y="625457"/>
                  </a:lnTo>
                  <a:lnTo>
                    <a:pt x="91269" y="677954"/>
                  </a:lnTo>
                  <a:lnTo>
                    <a:pt x="147817" y="727372"/>
                  </a:lnTo>
                  <a:lnTo>
                    <a:pt x="180602" y="750799"/>
                  </a:lnTo>
                  <a:lnTo>
                    <a:pt x="216245" y="773305"/>
                  </a:lnTo>
                  <a:lnTo>
                    <a:pt x="254631" y="794838"/>
                  </a:lnTo>
                  <a:lnTo>
                    <a:pt x="295648" y="815349"/>
                  </a:lnTo>
                  <a:lnTo>
                    <a:pt x="339183" y="834786"/>
                  </a:lnTo>
                  <a:lnTo>
                    <a:pt x="385121" y="853099"/>
                  </a:lnTo>
                  <a:lnTo>
                    <a:pt x="433350" y="870238"/>
                  </a:lnTo>
                  <a:lnTo>
                    <a:pt x="483757" y="886152"/>
                  </a:lnTo>
                  <a:lnTo>
                    <a:pt x="536228" y="900790"/>
                  </a:lnTo>
                  <a:lnTo>
                    <a:pt x="590650" y="914102"/>
                  </a:lnTo>
                  <a:lnTo>
                    <a:pt x="646910" y="926037"/>
                  </a:lnTo>
                  <a:lnTo>
                    <a:pt x="704895" y="936545"/>
                  </a:lnTo>
                  <a:lnTo>
                    <a:pt x="764490" y="945575"/>
                  </a:lnTo>
                  <a:lnTo>
                    <a:pt x="825584" y="953077"/>
                  </a:lnTo>
                  <a:lnTo>
                    <a:pt x="888063" y="958999"/>
                  </a:lnTo>
                  <a:lnTo>
                    <a:pt x="951813" y="963292"/>
                  </a:lnTo>
                  <a:lnTo>
                    <a:pt x="1016721" y="965905"/>
                  </a:lnTo>
                  <a:lnTo>
                    <a:pt x="1082675" y="966788"/>
                  </a:lnTo>
                  <a:lnTo>
                    <a:pt x="1148628" y="965905"/>
                  </a:lnTo>
                  <a:lnTo>
                    <a:pt x="1213537" y="963292"/>
                  </a:lnTo>
                  <a:lnTo>
                    <a:pt x="1277287" y="958999"/>
                  </a:lnTo>
                  <a:lnTo>
                    <a:pt x="1339765" y="953077"/>
                  </a:lnTo>
                  <a:lnTo>
                    <a:pt x="1400859" y="945575"/>
                  </a:lnTo>
                  <a:lnTo>
                    <a:pt x="1460455" y="936545"/>
                  </a:lnTo>
                  <a:lnTo>
                    <a:pt x="1518440" y="926037"/>
                  </a:lnTo>
                  <a:lnTo>
                    <a:pt x="1574700" y="914102"/>
                  </a:lnTo>
                  <a:lnTo>
                    <a:pt x="1629122" y="900790"/>
                  </a:lnTo>
                  <a:lnTo>
                    <a:pt x="1681593" y="886152"/>
                  </a:lnTo>
                  <a:lnTo>
                    <a:pt x="1732000" y="870238"/>
                  </a:lnTo>
                  <a:lnTo>
                    <a:pt x="1780229" y="853099"/>
                  </a:lnTo>
                  <a:lnTo>
                    <a:pt x="1826167" y="834786"/>
                  </a:lnTo>
                  <a:lnTo>
                    <a:pt x="1869702" y="815349"/>
                  </a:lnTo>
                  <a:lnTo>
                    <a:pt x="1910719" y="794838"/>
                  </a:lnTo>
                  <a:lnTo>
                    <a:pt x="1949105" y="773305"/>
                  </a:lnTo>
                  <a:lnTo>
                    <a:pt x="1984748" y="750799"/>
                  </a:lnTo>
                  <a:lnTo>
                    <a:pt x="2017534" y="727372"/>
                  </a:lnTo>
                  <a:lnTo>
                    <a:pt x="2047349" y="703073"/>
                  </a:lnTo>
                  <a:lnTo>
                    <a:pt x="2097616" y="652065"/>
                  </a:lnTo>
                  <a:lnTo>
                    <a:pt x="2134642" y="598180"/>
                  </a:lnTo>
                  <a:lnTo>
                    <a:pt x="2157523" y="541821"/>
                  </a:lnTo>
                  <a:lnTo>
                    <a:pt x="2165351" y="483393"/>
                  </a:lnTo>
                  <a:lnTo>
                    <a:pt x="2163375" y="453946"/>
                  </a:lnTo>
                  <a:lnTo>
                    <a:pt x="2147907" y="396503"/>
                  </a:lnTo>
                  <a:lnTo>
                    <a:pt x="2117841" y="341330"/>
                  </a:lnTo>
                  <a:lnTo>
                    <a:pt x="2074081" y="288833"/>
                  </a:lnTo>
                  <a:lnTo>
                    <a:pt x="2017534" y="239415"/>
                  </a:lnTo>
                  <a:lnTo>
                    <a:pt x="1984748" y="215988"/>
                  </a:lnTo>
                  <a:lnTo>
                    <a:pt x="1949105" y="193482"/>
                  </a:lnTo>
                  <a:lnTo>
                    <a:pt x="1910719" y="171949"/>
                  </a:lnTo>
                  <a:lnTo>
                    <a:pt x="1869702" y="151438"/>
                  </a:lnTo>
                  <a:lnTo>
                    <a:pt x="1826167" y="132001"/>
                  </a:lnTo>
                  <a:lnTo>
                    <a:pt x="1780229" y="113688"/>
                  </a:lnTo>
                  <a:lnTo>
                    <a:pt x="1732000" y="96549"/>
                  </a:lnTo>
                  <a:lnTo>
                    <a:pt x="1681593" y="80635"/>
                  </a:lnTo>
                  <a:lnTo>
                    <a:pt x="1629122" y="65997"/>
                  </a:lnTo>
                  <a:lnTo>
                    <a:pt x="1574700" y="52685"/>
                  </a:lnTo>
                  <a:lnTo>
                    <a:pt x="1518440" y="40750"/>
                  </a:lnTo>
                  <a:lnTo>
                    <a:pt x="1460455" y="30242"/>
                  </a:lnTo>
                  <a:lnTo>
                    <a:pt x="1400859" y="21212"/>
                  </a:lnTo>
                  <a:lnTo>
                    <a:pt x="1339765" y="13710"/>
                  </a:lnTo>
                  <a:lnTo>
                    <a:pt x="1277287" y="7788"/>
                  </a:lnTo>
                  <a:lnTo>
                    <a:pt x="1213537" y="3495"/>
                  </a:lnTo>
                  <a:lnTo>
                    <a:pt x="1148628" y="882"/>
                  </a:lnTo>
                  <a:lnTo>
                    <a:pt x="1082675" y="0"/>
                  </a:lnTo>
                  <a:close/>
                </a:path>
              </a:pathLst>
            </a:custGeom>
            <a:solidFill>
              <a:srgbClr val="FFFF00"/>
            </a:solidFill>
          </p:spPr>
          <p:txBody>
            <a:bodyPr wrap="square" lIns="0" tIns="0" rIns="0" bIns="0" rtlCol="0"/>
            <a:lstStyle/>
            <a:p>
              <a:endParaRPr/>
            </a:p>
          </p:txBody>
        </p:sp>
        <p:sp>
          <p:nvSpPr>
            <p:cNvPr id="6" name="object 6"/>
            <p:cNvSpPr/>
            <p:nvPr/>
          </p:nvSpPr>
          <p:spPr>
            <a:xfrm>
              <a:off x="1646237" y="4838700"/>
              <a:ext cx="2165350" cy="967105"/>
            </a:xfrm>
            <a:custGeom>
              <a:avLst/>
              <a:gdLst/>
              <a:ahLst/>
              <a:cxnLst/>
              <a:rect l="l" t="t" r="r" b="b"/>
              <a:pathLst>
                <a:path w="2165350" h="967104">
                  <a:moveTo>
                    <a:pt x="0" y="483394"/>
                  </a:moveTo>
                  <a:lnTo>
                    <a:pt x="7828" y="424966"/>
                  </a:lnTo>
                  <a:lnTo>
                    <a:pt x="30708" y="368607"/>
                  </a:lnTo>
                  <a:lnTo>
                    <a:pt x="67734" y="314722"/>
                  </a:lnTo>
                  <a:lnTo>
                    <a:pt x="118001" y="263714"/>
                  </a:lnTo>
                  <a:lnTo>
                    <a:pt x="147816" y="239415"/>
                  </a:lnTo>
                  <a:lnTo>
                    <a:pt x="180602" y="215988"/>
                  </a:lnTo>
                  <a:lnTo>
                    <a:pt x="216245" y="193482"/>
                  </a:lnTo>
                  <a:lnTo>
                    <a:pt x="254631" y="171949"/>
                  </a:lnTo>
                  <a:lnTo>
                    <a:pt x="295648" y="151438"/>
                  </a:lnTo>
                  <a:lnTo>
                    <a:pt x="339182" y="132001"/>
                  </a:lnTo>
                  <a:lnTo>
                    <a:pt x="385121" y="113688"/>
                  </a:lnTo>
                  <a:lnTo>
                    <a:pt x="433350" y="96549"/>
                  </a:lnTo>
                  <a:lnTo>
                    <a:pt x="483757" y="80635"/>
                  </a:lnTo>
                  <a:lnTo>
                    <a:pt x="536228" y="65997"/>
                  </a:lnTo>
                  <a:lnTo>
                    <a:pt x="590650" y="52685"/>
                  </a:lnTo>
                  <a:lnTo>
                    <a:pt x="646910" y="40750"/>
                  </a:lnTo>
                  <a:lnTo>
                    <a:pt x="704894" y="30242"/>
                  </a:lnTo>
                  <a:lnTo>
                    <a:pt x="764490" y="21212"/>
                  </a:lnTo>
                  <a:lnTo>
                    <a:pt x="825584" y="13710"/>
                  </a:lnTo>
                  <a:lnTo>
                    <a:pt x="888062" y="7788"/>
                  </a:lnTo>
                  <a:lnTo>
                    <a:pt x="951812" y="3495"/>
                  </a:lnTo>
                  <a:lnTo>
                    <a:pt x="1016721" y="882"/>
                  </a:lnTo>
                  <a:lnTo>
                    <a:pt x="1082675" y="0"/>
                  </a:lnTo>
                  <a:lnTo>
                    <a:pt x="1148628" y="882"/>
                  </a:lnTo>
                  <a:lnTo>
                    <a:pt x="1213537" y="3495"/>
                  </a:lnTo>
                  <a:lnTo>
                    <a:pt x="1277287" y="7788"/>
                  </a:lnTo>
                  <a:lnTo>
                    <a:pt x="1339765" y="13710"/>
                  </a:lnTo>
                  <a:lnTo>
                    <a:pt x="1400859" y="21212"/>
                  </a:lnTo>
                  <a:lnTo>
                    <a:pt x="1460455" y="30242"/>
                  </a:lnTo>
                  <a:lnTo>
                    <a:pt x="1518439" y="40750"/>
                  </a:lnTo>
                  <a:lnTo>
                    <a:pt x="1574699" y="52685"/>
                  </a:lnTo>
                  <a:lnTo>
                    <a:pt x="1629121" y="65997"/>
                  </a:lnTo>
                  <a:lnTo>
                    <a:pt x="1681592" y="80635"/>
                  </a:lnTo>
                  <a:lnTo>
                    <a:pt x="1731999" y="96549"/>
                  </a:lnTo>
                  <a:lnTo>
                    <a:pt x="1780228" y="113688"/>
                  </a:lnTo>
                  <a:lnTo>
                    <a:pt x="1826167" y="132001"/>
                  </a:lnTo>
                  <a:lnTo>
                    <a:pt x="1869701" y="151438"/>
                  </a:lnTo>
                  <a:lnTo>
                    <a:pt x="1910718" y="171949"/>
                  </a:lnTo>
                  <a:lnTo>
                    <a:pt x="1949104" y="193482"/>
                  </a:lnTo>
                  <a:lnTo>
                    <a:pt x="1984747" y="215988"/>
                  </a:lnTo>
                  <a:lnTo>
                    <a:pt x="2017533" y="239415"/>
                  </a:lnTo>
                  <a:lnTo>
                    <a:pt x="2047348" y="263714"/>
                  </a:lnTo>
                  <a:lnTo>
                    <a:pt x="2097615" y="314722"/>
                  </a:lnTo>
                  <a:lnTo>
                    <a:pt x="2134641" y="368607"/>
                  </a:lnTo>
                  <a:lnTo>
                    <a:pt x="2157521" y="424966"/>
                  </a:lnTo>
                  <a:lnTo>
                    <a:pt x="2165350" y="483394"/>
                  </a:lnTo>
                  <a:lnTo>
                    <a:pt x="2163374" y="512841"/>
                  </a:lnTo>
                  <a:lnTo>
                    <a:pt x="2147906" y="570284"/>
                  </a:lnTo>
                  <a:lnTo>
                    <a:pt x="2117840" y="625457"/>
                  </a:lnTo>
                  <a:lnTo>
                    <a:pt x="2074080" y="677954"/>
                  </a:lnTo>
                  <a:lnTo>
                    <a:pt x="2017533" y="727372"/>
                  </a:lnTo>
                  <a:lnTo>
                    <a:pt x="1984747" y="750799"/>
                  </a:lnTo>
                  <a:lnTo>
                    <a:pt x="1949104" y="773305"/>
                  </a:lnTo>
                  <a:lnTo>
                    <a:pt x="1910718" y="794838"/>
                  </a:lnTo>
                  <a:lnTo>
                    <a:pt x="1869701" y="815349"/>
                  </a:lnTo>
                  <a:lnTo>
                    <a:pt x="1826167" y="834786"/>
                  </a:lnTo>
                  <a:lnTo>
                    <a:pt x="1780228" y="853099"/>
                  </a:lnTo>
                  <a:lnTo>
                    <a:pt x="1731999" y="870238"/>
                  </a:lnTo>
                  <a:lnTo>
                    <a:pt x="1681592" y="886152"/>
                  </a:lnTo>
                  <a:lnTo>
                    <a:pt x="1629121" y="900790"/>
                  </a:lnTo>
                  <a:lnTo>
                    <a:pt x="1574699" y="914102"/>
                  </a:lnTo>
                  <a:lnTo>
                    <a:pt x="1518439" y="926037"/>
                  </a:lnTo>
                  <a:lnTo>
                    <a:pt x="1460455" y="936545"/>
                  </a:lnTo>
                  <a:lnTo>
                    <a:pt x="1400859" y="945575"/>
                  </a:lnTo>
                  <a:lnTo>
                    <a:pt x="1339765" y="953077"/>
                  </a:lnTo>
                  <a:lnTo>
                    <a:pt x="1277287" y="958999"/>
                  </a:lnTo>
                  <a:lnTo>
                    <a:pt x="1213537" y="963292"/>
                  </a:lnTo>
                  <a:lnTo>
                    <a:pt x="1148628" y="965905"/>
                  </a:lnTo>
                  <a:lnTo>
                    <a:pt x="1082675" y="966788"/>
                  </a:lnTo>
                  <a:lnTo>
                    <a:pt x="1016721" y="965905"/>
                  </a:lnTo>
                  <a:lnTo>
                    <a:pt x="951812" y="963292"/>
                  </a:lnTo>
                  <a:lnTo>
                    <a:pt x="888062" y="958999"/>
                  </a:lnTo>
                  <a:lnTo>
                    <a:pt x="825584" y="953077"/>
                  </a:lnTo>
                  <a:lnTo>
                    <a:pt x="764490" y="945575"/>
                  </a:lnTo>
                  <a:lnTo>
                    <a:pt x="704894" y="936545"/>
                  </a:lnTo>
                  <a:lnTo>
                    <a:pt x="646910" y="926037"/>
                  </a:lnTo>
                  <a:lnTo>
                    <a:pt x="590650" y="914102"/>
                  </a:lnTo>
                  <a:lnTo>
                    <a:pt x="536228" y="900790"/>
                  </a:lnTo>
                  <a:lnTo>
                    <a:pt x="483757" y="886152"/>
                  </a:lnTo>
                  <a:lnTo>
                    <a:pt x="433350" y="870238"/>
                  </a:lnTo>
                  <a:lnTo>
                    <a:pt x="385121" y="853099"/>
                  </a:lnTo>
                  <a:lnTo>
                    <a:pt x="339182" y="834786"/>
                  </a:lnTo>
                  <a:lnTo>
                    <a:pt x="295648" y="815349"/>
                  </a:lnTo>
                  <a:lnTo>
                    <a:pt x="254631" y="794838"/>
                  </a:lnTo>
                  <a:lnTo>
                    <a:pt x="216245" y="773305"/>
                  </a:lnTo>
                  <a:lnTo>
                    <a:pt x="180602" y="750799"/>
                  </a:lnTo>
                  <a:lnTo>
                    <a:pt x="147816" y="727372"/>
                  </a:lnTo>
                  <a:lnTo>
                    <a:pt x="118001" y="703073"/>
                  </a:lnTo>
                  <a:lnTo>
                    <a:pt x="67734" y="652065"/>
                  </a:lnTo>
                  <a:lnTo>
                    <a:pt x="30708" y="598180"/>
                  </a:lnTo>
                  <a:lnTo>
                    <a:pt x="7828" y="541821"/>
                  </a:lnTo>
                  <a:lnTo>
                    <a:pt x="0" y="483394"/>
                  </a:lnTo>
                  <a:close/>
                </a:path>
              </a:pathLst>
            </a:custGeom>
            <a:ln w="12700">
              <a:solidFill>
                <a:srgbClr val="000000"/>
              </a:solidFill>
            </a:ln>
          </p:spPr>
          <p:txBody>
            <a:bodyPr wrap="square" lIns="0" tIns="0" rIns="0" bIns="0" rtlCol="0"/>
            <a:lstStyle/>
            <a:p>
              <a:endParaRPr/>
            </a:p>
          </p:txBody>
        </p:sp>
      </p:grpSp>
      <p:sp>
        <p:nvSpPr>
          <p:cNvPr id="7" name="object 7"/>
          <p:cNvSpPr txBox="1"/>
          <p:nvPr/>
        </p:nvSpPr>
        <p:spPr>
          <a:xfrm>
            <a:off x="3048001" y="5022374"/>
            <a:ext cx="1822841" cy="566821"/>
          </a:xfrm>
          <a:prstGeom prst="rect">
            <a:avLst/>
          </a:prstGeom>
        </p:spPr>
        <p:txBody>
          <a:bodyPr vert="horz" wrap="square" lIns="0" tIns="27939" rIns="0" bIns="0" rtlCol="0">
            <a:spAutoFit/>
          </a:bodyPr>
          <a:lstStyle/>
          <a:p>
            <a:pPr marL="12700" marR="5080">
              <a:lnSpc>
                <a:spcPts val="2100"/>
              </a:lnSpc>
              <a:spcBef>
                <a:spcPts val="219"/>
              </a:spcBef>
            </a:pPr>
            <a:r>
              <a:rPr spc="-5" dirty="0">
                <a:cs typeface="Calibri"/>
              </a:rPr>
              <a:t>E</a:t>
            </a:r>
            <a:r>
              <a:rPr spc="-25" dirty="0">
                <a:cs typeface="Calibri"/>
              </a:rPr>
              <a:t>n</a:t>
            </a:r>
            <a:r>
              <a:rPr spc="-5" dirty="0">
                <a:cs typeface="Calibri"/>
              </a:rPr>
              <a:t>vi</a:t>
            </a:r>
            <a:r>
              <a:rPr spc="-35" dirty="0">
                <a:cs typeface="Calibri"/>
              </a:rPr>
              <a:t>r</a:t>
            </a:r>
            <a:r>
              <a:rPr dirty="0">
                <a:cs typeface="Calibri"/>
              </a:rPr>
              <a:t>onme</a:t>
            </a:r>
            <a:r>
              <a:rPr spc="-15" dirty="0">
                <a:cs typeface="Calibri"/>
              </a:rPr>
              <a:t>n</a:t>
            </a:r>
            <a:r>
              <a:rPr spc="-5" dirty="0">
                <a:cs typeface="Calibri"/>
              </a:rPr>
              <a:t>t/  Experience</a:t>
            </a:r>
            <a:endParaRPr dirty="0">
              <a:cs typeface="Calibri"/>
            </a:endParaRPr>
          </a:p>
        </p:txBody>
      </p:sp>
      <p:grpSp>
        <p:nvGrpSpPr>
          <p:cNvPr id="8" name="object 8"/>
          <p:cNvGrpSpPr/>
          <p:nvPr/>
        </p:nvGrpSpPr>
        <p:grpSpPr>
          <a:xfrm>
            <a:off x="6629400" y="4305300"/>
            <a:ext cx="2171700" cy="609600"/>
            <a:chOff x="5105400" y="4305300"/>
            <a:chExt cx="2171700" cy="609600"/>
          </a:xfrm>
        </p:grpSpPr>
        <p:pic>
          <p:nvPicPr>
            <p:cNvPr id="9" name="object 9"/>
            <p:cNvPicPr/>
            <p:nvPr/>
          </p:nvPicPr>
          <p:blipFill>
            <a:blip r:embed="rId2" cstate="print"/>
            <a:stretch>
              <a:fillRect/>
            </a:stretch>
          </p:blipFill>
          <p:spPr>
            <a:xfrm>
              <a:off x="5143500" y="4305300"/>
              <a:ext cx="2133600" cy="546100"/>
            </a:xfrm>
            <a:prstGeom prst="rect">
              <a:avLst/>
            </a:prstGeom>
          </p:spPr>
        </p:pic>
        <p:pic>
          <p:nvPicPr>
            <p:cNvPr id="10" name="object 10"/>
            <p:cNvPicPr/>
            <p:nvPr/>
          </p:nvPicPr>
          <p:blipFill>
            <a:blip r:embed="rId3" cstate="print"/>
            <a:stretch>
              <a:fillRect/>
            </a:stretch>
          </p:blipFill>
          <p:spPr>
            <a:xfrm>
              <a:off x="5105400" y="4305300"/>
              <a:ext cx="1117600" cy="609600"/>
            </a:xfrm>
            <a:prstGeom prst="rect">
              <a:avLst/>
            </a:prstGeom>
          </p:spPr>
        </p:pic>
        <p:pic>
          <p:nvPicPr>
            <p:cNvPr id="11" name="object 11"/>
            <p:cNvPicPr/>
            <p:nvPr/>
          </p:nvPicPr>
          <p:blipFill>
            <a:blip r:embed="rId4" cstate="print"/>
            <a:stretch>
              <a:fillRect/>
            </a:stretch>
          </p:blipFill>
          <p:spPr>
            <a:xfrm>
              <a:off x="5213350" y="4349750"/>
              <a:ext cx="1993900" cy="409575"/>
            </a:xfrm>
            <a:prstGeom prst="rect">
              <a:avLst/>
            </a:prstGeom>
          </p:spPr>
        </p:pic>
      </p:grpSp>
      <p:sp>
        <p:nvSpPr>
          <p:cNvPr id="12" name="object 12"/>
          <p:cNvSpPr txBox="1"/>
          <p:nvPr/>
        </p:nvSpPr>
        <p:spPr>
          <a:xfrm>
            <a:off x="6737350" y="4349750"/>
            <a:ext cx="1993900" cy="332142"/>
          </a:xfrm>
          <a:prstGeom prst="rect">
            <a:avLst/>
          </a:prstGeom>
          <a:ln w="12700">
            <a:solidFill>
              <a:srgbClr val="4A7EBB"/>
            </a:solidFill>
          </a:ln>
        </p:spPr>
        <p:txBody>
          <a:bodyPr vert="horz" wrap="square" lIns="0" tIns="54610" rIns="0" bIns="0" rtlCol="0">
            <a:spAutoFit/>
          </a:bodyPr>
          <a:lstStyle/>
          <a:p>
            <a:pPr marL="89535">
              <a:spcBef>
                <a:spcPts val="430"/>
              </a:spcBef>
            </a:pPr>
            <a:r>
              <a:rPr dirty="0">
                <a:cs typeface="Calibri"/>
              </a:rPr>
              <a:t>Learner</a:t>
            </a:r>
            <a:endParaRPr>
              <a:cs typeface="Calibri"/>
            </a:endParaRPr>
          </a:p>
        </p:txBody>
      </p:sp>
      <p:grpSp>
        <p:nvGrpSpPr>
          <p:cNvPr id="13" name="object 13"/>
          <p:cNvGrpSpPr/>
          <p:nvPr/>
        </p:nvGrpSpPr>
        <p:grpSpPr>
          <a:xfrm>
            <a:off x="5352910" y="4522787"/>
            <a:ext cx="3352800" cy="1122680"/>
            <a:chOff x="3804236" y="4522787"/>
            <a:chExt cx="3352800" cy="1122680"/>
          </a:xfrm>
        </p:grpSpPr>
        <p:sp>
          <p:nvSpPr>
            <p:cNvPr id="14" name="object 14"/>
            <p:cNvSpPr/>
            <p:nvPr/>
          </p:nvSpPr>
          <p:spPr>
            <a:xfrm>
              <a:off x="3804236" y="4522787"/>
              <a:ext cx="1341120" cy="812800"/>
            </a:xfrm>
            <a:custGeom>
              <a:avLst/>
              <a:gdLst/>
              <a:ahLst/>
              <a:cxnLst/>
              <a:rect l="l" t="t" r="r" b="b"/>
              <a:pathLst>
                <a:path w="1341120" h="812800">
                  <a:moveTo>
                    <a:pt x="1340850" y="0"/>
                  </a:moveTo>
                  <a:lnTo>
                    <a:pt x="1245289" y="7350"/>
                  </a:lnTo>
                  <a:lnTo>
                    <a:pt x="1259992" y="31854"/>
                  </a:lnTo>
                  <a:lnTo>
                    <a:pt x="0" y="787849"/>
                  </a:lnTo>
                  <a:lnTo>
                    <a:pt x="14701" y="812351"/>
                  </a:lnTo>
                  <a:lnTo>
                    <a:pt x="1274693" y="56357"/>
                  </a:lnTo>
                  <a:lnTo>
                    <a:pt x="1289395" y="80859"/>
                  </a:lnTo>
                  <a:lnTo>
                    <a:pt x="1340850" y="0"/>
                  </a:lnTo>
                  <a:close/>
                </a:path>
              </a:pathLst>
            </a:custGeom>
            <a:solidFill>
              <a:srgbClr val="000000"/>
            </a:solidFill>
          </p:spPr>
          <p:txBody>
            <a:bodyPr wrap="square" lIns="0" tIns="0" rIns="0" bIns="0" rtlCol="0"/>
            <a:lstStyle/>
            <a:p>
              <a:endParaRPr/>
            </a:p>
          </p:txBody>
        </p:sp>
        <p:sp>
          <p:nvSpPr>
            <p:cNvPr id="15" name="object 15"/>
            <p:cNvSpPr/>
            <p:nvPr/>
          </p:nvSpPr>
          <p:spPr>
            <a:xfrm>
              <a:off x="5299075" y="5102225"/>
              <a:ext cx="1851025" cy="536575"/>
            </a:xfrm>
            <a:custGeom>
              <a:avLst/>
              <a:gdLst/>
              <a:ahLst/>
              <a:cxnLst/>
              <a:rect l="l" t="t" r="r" b="b"/>
              <a:pathLst>
                <a:path w="1851025" h="536575">
                  <a:moveTo>
                    <a:pt x="925512" y="0"/>
                  </a:moveTo>
                  <a:lnTo>
                    <a:pt x="853184" y="807"/>
                  </a:lnTo>
                  <a:lnTo>
                    <a:pt x="782378" y="3188"/>
                  </a:lnTo>
                  <a:lnTo>
                    <a:pt x="713300" y="7085"/>
                  </a:lnTo>
                  <a:lnTo>
                    <a:pt x="646157" y="12437"/>
                  </a:lnTo>
                  <a:lnTo>
                    <a:pt x="581153" y="19185"/>
                  </a:lnTo>
                  <a:lnTo>
                    <a:pt x="518495" y="27269"/>
                  </a:lnTo>
                  <a:lnTo>
                    <a:pt x="458388" y="36629"/>
                  </a:lnTo>
                  <a:lnTo>
                    <a:pt x="401038" y="47205"/>
                  </a:lnTo>
                  <a:lnTo>
                    <a:pt x="346651" y="58939"/>
                  </a:lnTo>
                  <a:lnTo>
                    <a:pt x="295432" y="71771"/>
                  </a:lnTo>
                  <a:lnTo>
                    <a:pt x="247588" y="85640"/>
                  </a:lnTo>
                  <a:lnTo>
                    <a:pt x="203324" y="100487"/>
                  </a:lnTo>
                  <a:lnTo>
                    <a:pt x="162846" y="116253"/>
                  </a:lnTo>
                  <a:lnTo>
                    <a:pt x="126359" y="132877"/>
                  </a:lnTo>
                  <a:lnTo>
                    <a:pt x="66183" y="168464"/>
                  </a:lnTo>
                  <a:lnTo>
                    <a:pt x="24443" y="206771"/>
                  </a:lnTo>
                  <a:lnTo>
                    <a:pt x="2784" y="247321"/>
                  </a:lnTo>
                  <a:lnTo>
                    <a:pt x="0" y="268287"/>
                  </a:lnTo>
                  <a:lnTo>
                    <a:pt x="2784" y="289253"/>
                  </a:lnTo>
                  <a:lnTo>
                    <a:pt x="24443" y="329803"/>
                  </a:lnTo>
                  <a:lnTo>
                    <a:pt x="66183" y="368110"/>
                  </a:lnTo>
                  <a:lnTo>
                    <a:pt x="126359" y="403697"/>
                  </a:lnTo>
                  <a:lnTo>
                    <a:pt x="162846" y="420321"/>
                  </a:lnTo>
                  <a:lnTo>
                    <a:pt x="203324" y="436087"/>
                  </a:lnTo>
                  <a:lnTo>
                    <a:pt x="247588" y="450934"/>
                  </a:lnTo>
                  <a:lnTo>
                    <a:pt x="295432" y="464803"/>
                  </a:lnTo>
                  <a:lnTo>
                    <a:pt x="346651" y="477635"/>
                  </a:lnTo>
                  <a:lnTo>
                    <a:pt x="401038" y="489369"/>
                  </a:lnTo>
                  <a:lnTo>
                    <a:pt x="458388" y="499945"/>
                  </a:lnTo>
                  <a:lnTo>
                    <a:pt x="518495" y="509305"/>
                  </a:lnTo>
                  <a:lnTo>
                    <a:pt x="581153" y="517389"/>
                  </a:lnTo>
                  <a:lnTo>
                    <a:pt x="646157" y="524137"/>
                  </a:lnTo>
                  <a:lnTo>
                    <a:pt x="713300" y="529489"/>
                  </a:lnTo>
                  <a:lnTo>
                    <a:pt x="782378" y="533386"/>
                  </a:lnTo>
                  <a:lnTo>
                    <a:pt x="853184" y="535767"/>
                  </a:lnTo>
                  <a:lnTo>
                    <a:pt x="925512" y="536575"/>
                  </a:lnTo>
                  <a:lnTo>
                    <a:pt x="997840" y="535767"/>
                  </a:lnTo>
                  <a:lnTo>
                    <a:pt x="1068646" y="533386"/>
                  </a:lnTo>
                  <a:lnTo>
                    <a:pt x="1137724" y="529489"/>
                  </a:lnTo>
                  <a:lnTo>
                    <a:pt x="1204867" y="524137"/>
                  </a:lnTo>
                  <a:lnTo>
                    <a:pt x="1269871" y="517389"/>
                  </a:lnTo>
                  <a:lnTo>
                    <a:pt x="1332529" y="509305"/>
                  </a:lnTo>
                  <a:lnTo>
                    <a:pt x="1392636" y="499945"/>
                  </a:lnTo>
                  <a:lnTo>
                    <a:pt x="1449986" y="489369"/>
                  </a:lnTo>
                  <a:lnTo>
                    <a:pt x="1504373" y="477635"/>
                  </a:lnTo>
                  <a:lnTo>
                    <a:pt x="1555592" y="464803"/>
                  </a:lnTo>
                  <a:lnTo>
                    <a:pt x="1603436" y="450934"/>
                  </a:lnTo>
                  <a:lnTo>
                    <a:pt x="1647700" y="436087"/>
                  </a:lnTo>
                  <a:lnTo>
                    <a:pt x="1688178" y="420321"/>
                  </a:lnTo>
                  <a:lnTo>
                    <a:pt x="1724665" y="403697"/>
                  </a:lnTo>
                  <a:lnTo>
                    <a:pt x="1784841" y="368110"/>
                  </a:lnTo>
                  <a:lnTo>
                    <a:pt x="1826581" y="329803"/>
                  </a:lnTo>
                  <a:lnTo>
                    <a:pt x="1848240" y="289253"/>
                  </a:lnTo>
                  <a:lnTo>
                    <a:pt x="1851025" y="268287"/>
                  </a:lnTo>
                  <a:lnTo>
                    <a:pt x="1848240" y="247321"/>
                  </a:lnTo>
                  <a:lnTo>
                    <a:pt x="1826581" y="206771"/>
                  </a:lnTo>
                  <a:lnTo>
                    <a:pt x="1784841" y="168464"/>
                  </a:lnTo>
                  <a:lnTo>
                    <a:pt x="1724665" y="132877"/>
                  </a:lnTo>
                  <a:lnTo>
                    <a:pt x="1688178" y="116253"/>
                  </a:lnTo>
                  <a:lnTo>
                    <a:pt x="1647700" y="100487"/>
                  </a:lnTo>
                  <a:lnTo>
                    <a:pt x="1603436" y="85640"/>
                  </a:lnTo>
                  <a:lnTo>
                    <a:pt x="1555592" y="71771"/>
                  </a:lnTo>
                  <a:lnTo>
                    <a:pt x="1504373" y="58939"/>
                  </a:lnTo>
                  <a:lnTo>
                    <a:pt x="1449986" y="47205"/>
                  </a:lnTo>
                  <a:lnTo>
                    <a:pt x="1392636" y="36629"/>
                  </a:lnTo>
                  <a:lnTo>
                    <a:pt x="1332529" y="27269"/>
                  </a:lnTo>
                  <a:lnTo>
                    <a:pt x="1269871" y="19185"/>
                  </a:lnTo>
                  <a:lnTo>
                    <a:pt x="1204867" y="12437"/>
                  </a:lnTo>
                  <a:lnTo>
                    <a:pt x="1137724" y="7085"/>
                  </a:lnTo>
                  <a:lnTo>
                    <a:pt x="1068646" y="3188"/>
                  </a:lnTo>
                  <a:lnTo>
                    <a:pt x="997840" y="807"/>
                  </a:lnTo>
                  <a:lnTo>
                    <a:pt x="925512" y="0"/>
                  </a:lnTo>
                  <a:close/>
                </a:path>
              </a:pathLst>
            </a:custGeom>
            <a:solidFill>
              <a:srgbClr val="FFFF00"/>
            </a:solidFill>
          </p:spPr>
          <p:txBody>
            <a:bodyPr wrap="square" lIns="0" tIns="0" rIns="0" bIns="0" rtlCol="0"/>
            <a:lstStyle/>
            <a:p>
              <a:endParaRPr/>
            </a:p>
          </p:txBody>
        </p:sp>
        <p:sp>
          <p:nvSpPr>
            <p:cNvPr id="16" name="object 16"/>
            <p:cNvSpPr/>
            <p:nvPr/>
          </p:nvSpPr>
          <p:spPr>
            <a:xfrm>
              <a:off x="5299075" y="5102225"/>
              <a:ext cx="1851025" cy="536575"/>
            </a:xfrm>
            <a:custGeom>
              <a:avLst/>
              <a:gdLst/>
              <a:ahLst/>
              <a:cxnLst/>
              <a:rect l="l" t="t" r="r" b="b"/>
              <a:pathLst>
                <a:path w="1851025" h="536575">
                  <a:moveTo>
                    <a:pt x="0" y="268287"/>
                  </a:moveTo>
                  <a:lnTo>
                    <a:pt x="11000" y="226795"/>
                  </a:lnTo>
                  <a:lnTo>
                    <a:pt x="42906" y="187308"/>
                  </a:lnTo>
                  <a:lnTo>
                    <a:pt x="94070" y="150301"/>
                  </a:lnTo>
                  <a:lnTo>
                    <a:pt x="162846" y="116253"/>
                  </a:lnTo>
                  <a:lnTo>
                    <a:pt x="203324" y="100487"/>
                  </a:lnTo>
                  <a:lnTo>
                    <a:pt x="247588" y="85640"/>
                  </a:lnTo>
                  <a:lnTo>
                    <a:pt x="295433" y="71771"/>
                  </a:lnTo>
                  <a:lnTo>
                    <a:pt x="346651" y="58939"/>
                  </a:lnTo>
                  <a:lnTo>
                    <a:pt x="401038" y="47205"/>
                  </a:lnTo>
                  <a:lnTo>
                    <a:pt x="458388" y="36629"/>
                  </a:lnTo>
                  <a:lnTo>
                    <a:pt x="518495" y="27269"/>
                  </a:lnTo>
                  <a:lnTo>
                    <a:pt x="581153" y="19185"/>
                  </a:lnTo>
                  <a:lnTo>
                    <a:pt x="646157" y="12437"/>
                  </a:lnTo>
                  <a:lnTo>
                    <a:pt x="713300" y="7085"/>
                  </a:lnTo>
                  <a:lnTo>
                    <a:pt x="782378" y="3188"/>
                  </a:lnTo>
                  <a:lnTo>
                    <a:pt x="853184" y="807"/>
                  </a:lnTo>
                  <a:lnTo>
                    <a:pt x="925512" y="0"/>
                  </a:lnTo>
                  <a:lnTo>
                    <a:pt x="997840" y="807"/>
                  </a:lnTo>
                  <a:lnTo>
                    <a:pt x="1068646" y="3188"/>
                  </a:lnTo>
                  <a:lnTo>
                    <a:pt x="1137724" y="7085"/>
                  </a:lnTo>
                  <a:lnTo>
                    <a:pt x="1204867" y="12437"/>
                  </a:lnTo>
                  <a:lnTo>
                    <a:pt x="1269871" y="19185"/>
                  </a:lnTo>
                  <a:lnTo>
                    <a:pt x="1332529" y="27269"/>
                  </a:lnTo>
                  <a:lnTo>
                    <a:pt x="1392636" y="36629"/>
                  </a:lnTo>
                  <a:lnTo>
                    <a:pt x="1449986" y="47205"/>
                  </a:lnTo>
                  <a:lnTo>
                    <a:pt x="1504373" y="58939"/>
                  </a:lnTo>
                  <a:lnTo>
                    <a:pt x="1555591" y="71771"/>
                  </a:lnTo>
                  <a:lnTo>
                    <a:pt x="1603436" y="85640"/>
                  </a:lnTo>
                  <a:lnTo>
                    <a:pt x="1647700" y="100487"/>
                  </a:lnTo>
                  <a:lnTo>
                    <a:pt x="1688178" y="116253"/>
                  </a:lnTo>
                  <a:lnTo>
                    <a:pt x="1724665" y="132877"/>
                  </a:lnTo>
                  <a:lnTo>
                    <a:pt x="1784841" y="168464"/>
                  </a:lnTo>
                  <a:lnTo>
                    <a:pt x="1826581" y="206771"/>
                  </a:lnTo>
                  <a:lnTo>
                    <a:pt x="1848240" y="247320"/>
                  </a:lnTo>
                  <a:lnTo>
                    <a:pt x="1851025" y="268287"/>
                  </a:lnTo>
                  <a:lnTo>
                    <a:pt x="1848240" y="289254"/>
                  </a:lnTo>
                  <a:lnTo>
                    <a:pt x="1826581" y="329803"/>
                  </a:lnTo>
                  <a:lnTo>
                    <a:pt x="1784841" y="368110"/>
                  </a:lnTo>
                  <a:lnTo>
                    <a:pt x="1724665" y="403697"/>
                  </a:lnTo>
                  <a:lnTo>
                    <a:pt x="1688178" y="420321"/>
                  </a:lnTo>
                  <a:lnTo>
                    <a:pt x="1647700" y="436087"/>
                  </a:lnTo>
                  <a:lnTo>
                    <a:pt x="1603436" y="450934"/>
                  </a:lnTo>
                  <a:lnTo>
                    <a:pt x="1555591" y="464803"/>
                  </a:lnTo>
                  <a:lnTo>
                    <a:pt x="1504373" y="477635"/>
                  </a:lnTo>
                  <a:lnTo>
                    <a:pt x="1449986" y="489369"/>
                  </a:lnTo>
                  <a:lnTo>
                    <a:pt x="1392636" y="499945"/>
                  </a:lnTo>
                  <a:lnTo>
                    <a:pt x="1332529" y="509305"/>
                  </a:lnTo>
                  <a:lnTo>
                    <a:pt x="1269871" y="517389"/>
                  </a:lnTo>
                  <a:lnTo>
                    <a:pt x="1204867" y="524137"/>
                  </a:lnTo>
                  <a:lnTo>
                    <a:pt x="1137724" y="529489"/>
                  </a:lnTo>
                  <a:lnTo>
                    <a:pt x="1068646" y="533386"/>
                  </a:lnTo>
                  <a:lnTo>
                    <a:pt x="997840" y="535767"/>
                  </a:lnTo>
                  <a:lnTo>
                    <a:pt x="925512" y="536575"/>
                  </a:lnTo>
                  <a:lnTo>
                    <a:pt x="853184" y="535767"/>
                  </a:lnTo>
                  <a:lnTo>
                    <a:pt x="782378" y="533386"/>
                  </a:lnTo>
                  <a:lnTo>
                    <a:pt x="713300" y="529489"/>
                  </a:lnTo>
                  <a:lnTo>
                    <a:pt x="646157" y="524137"/>
                  </a:lnTo>
                  <a:lnTo>
                    <a:pt x="581153" y="517389"/>
                  </a:lnTo>
                  <a:lnTo>
                    <a:pt x="518495" y="509305"/>
                  </a:lnTo>
                  <a:lnTo>
                    <a:pt x="458388" y="499945"/>
                  </a:lnTo>
                  <a:lnTo>
                    <a:pt x="401038" y="489369"/>
                  </a:lnTo>
                  <a:lnTo>
                    <a:pt x="346651" y="477635"/>
                  </a:lnTo>
                  <a:lnTo>
                    <a:pt x="295433" y="464803"/>
                  </a:lnTo>
                  <a:lnTo>
                    <a:pt x="247588" y="450934"/>
                  </a:lnTo>
                  <a:lnTo>
                    <a:pt x="203324" y="436087"/>
                  </a:lnTo>
                  <a:lnTo>
                    <a:pt x="162846" y="420321"/>
                  </a:lnTo>
                  <a:lnTo>
                    <a:pt x="126359" y="403697"/>
                  </a:lnTo>
                  <a:lnTo>
                    <a:pt x="66183" y="368110"/>
                  </a:lnTo>
                  <a:lnTo>
                    <a:pt x="24443" y="329803"/>
                  </a:lnTo>
                  <a:lnTo>
                    <a:pt x="2784" y="289254"/>
                  </a:lnTo>
                  <a:lnTo>
                    <a:pt x="0" y="268287"/>
                  </a:lnTo>
                  <a:close/>
                </a:path>
              </a:pathLst>
            </a:custGeom>
            <a:ln w="12700">
              <a:solidFill>
                <a:srgbClr val="000000"/>
              </a:solidFill>
            </a:ln>
          </p:spPr>
          <p:txBody>
            <a:bodyPr wrap="square" lIns="0" tIns="0" rIns="0" bIns="0" rtlCol="0"/>
            <a:lstStyle/>
            <a:p>
              <a:endParaRPr/>
            </a:p>
          </p:txBody>
        </p:sp>
      </p:grpSp>
      <p:sp>
        <p:nvSpPr>
          <p:cNvPr id="17" name="object 17"/>
          <p:cNvSpPr txBox="1"/>
          <p:nvPr/>
        </p:nvSpPr>
        <p:spPr>
          <a:xfrm>
            <a:off x="7171451" y="5207953"/>
            <a:ext cx="1362949" cy="289823"/>
          </a:xfrm>
          <a:prstGeom prst="rect">
            <a:avLst/>
          </a:prstGeom>
        </p:spPr>
        <p:txBody>
          <a:bodyPr vert="horz" wrap="square" lIns="0" tIns="12700" rIns="0" bIns="0" rtlCol="0">
            <a:spAutoFit/>
          </a:bodyPr>
          <a:lstStyle/>
          <a:p>
            <a:pPr marL="12700">
              <a:spcBef>
                <a:spcPts val="100"/>
              </a:spcBef>
            </a:pPr>
            <a:r>
              <a:rPr spc="-25" dirty="0">
                <a:cs typeface="Calibri"/>
              </a:rPr>
              <a:t>K</a:t>
            </a:r>
            <a:r>
              <a:rPr spc="5" dirty="0">
                <a:cs typeface="Calibri"/>
              </a:rPr>
              <a:t>n</a:t>
            </a:r>
            <a:r>
              <a:rPr spc="-5" dirty="0">
                <a:cs typeface="Calibri"/>
              </a:rPr>
              <a:t>o</a:t>
            </a:r>
            <a:r>
              <a:rPr dirty="0">
                <a:cs typeface="Calibri"/>
              </a:rPr>
              <a:t>w</a:t>
            </a:r>
            <a:r>
              <a:rPr spc="-5" dirty="0">
                <a:cs typeface="Calibri"/>
              </a:rPr>
              <a:t>l</a:t>
            </a:r>
            <a:r>
              <a:rPr dirty="0">
                <a:cs typeface="Calibri"/>
              </a:rPr>
              <a:t>ed</a:t>
            </a:r>
            <a:r>
              <a:rPr spc="-15" dirty="0">
                <a:cs typeface="Calibri"/>
              </a:rPr>
              <a:t>g</a:t>
            </a:r>
            <a:r>
              <a:rPr dirty="0">
                <a:cs typeface="Calibri"/>
              </a:rPr>
              <a:t>e</a:t>
            </a:r>
          </a:p>
        </p:txBody>
      </p:sp>
      <p:grpSp>
        <p:nvGrpSpPr>
          <p:cNvPr id="18" name="object 18"/>
          <p:cNvGrpSpPr/>
          <p:nvPr/>
        </p:nvGrpSpPr>
        <p:grpSpPr>
          <a:xfrm>
            <a:off x="6629400" y="5918200"/>
            <a:ext cx="2171700" cy="901700"/>
            <a:chOff x="5105400" y="5918200"/>
            <a:chExt cx="2171700" cy="901700"/>
          </a:xfrm>
        </p:grpSpPr>
        <p:pic>
          <p:nvPicPr>
            <p:cNvPr id="19" name="object 19"/>
            <p:cNvPicPr/>
            <p:nvPr/>
          </p:nvPicPr>
          <p:blipFill>
            <a:blip r:embed="rId5" cstate="print"/>
            <a:stretch>
              <a:fillRect/>
            </a:stretch>
          </p:blipFill>
          <p:spPr>
            <a:xfrm>
              <a:off x="5156200" y="5918200"/>
              <a:ext cx="2120900" cy="863600"/>
            </a:xfrm>
            <a:prstGeom prst="rect">
              <a:avLst/>
            </a:prstGeom>
          </p:spPr>
        </p:pic>
        <p:pic>
          <p:nvPicPr>
            <p:cNvPr id="20" name="object 20"/>
            <p:cNvPicPr/>
            <p:nvPr/>
          </p:nvPicPr>
          <p:blipFill>
            <a:blip r:embed="rId6" cstate="print"/>
            <a:stretch>
              <a:fillRect/>
            </a:stretch>
          </p:blipFill>
          <p:spPr>
            <a:xfrm>
              <a:off x="5105400" y="5943600"/>
              <a:ext cx="1600200" cy="876300"/>
            </a:xfrm>
            <a:prstGeom prst="rect">
              <a:avLst/>
            </a:prstGeom>
          </p:spPr>
        </p:pic>
        <p:pic>
          <p:nvPicPr>
            <p:cNvPr id="21" name="object 21"/>
            <p:cNvPicPr/>
            <p:nvPr/>
          </p:nvPicPr>
          <p:blipFill>
            <a:blip r:embed="rId7" cstate="print"/>
            <a:stretch>
              <a:fillRect/>
            </a:stretch>
          </p:blipFill>
          <p:spPr>
            <a:xfrm>
              <a:off x="5219700" y="5972175"/>
              <a:ext cx="1993900" cy="714375"/>
            </a:xfrm>
            <a:prstGeom prst="rect">
              <a:avLst/>
            </a:prstGeom>
          </p:spPr>
        </p:pic>
      </p:grpSp>
      <p:sp>
        <p:nvSpPr>
          <p:cNvPr id="22" name="object 22"/>
          <p:cNvSpPr txBox="1"/>
          <p:nvPr/>
        </p:nvSpPr>
        <p:spPr>
          <a:xfrm>
            <a:off x="6743700" y="5972175"/>
            <a:ext cx="2171700" cy="624530"/>
          </a:xfrm>
          <a:prstGeom prst="rect">
            <a:avLst/>
          </a:prstGeom>
          <a:ln w="12700">
            <a:solidFill>
              <a:srgbClr val="4A7EBB"/>
            </a:solidFill>
          </a:ln>
        </p:spPr>
        <p:txBody>
          <a:bodyPr vert="horz" wrap="square" lIns="0" tIns="85090" rIns="0" bIns="0" rtlCol="0">
            <a:spAutoFit/>
          </a:bodyPr>
          <a:lstStyle/>
          <a:p>
            <a:pPr marL="89535" marR="701040">
              <a:lnSpc>
                <a:spcPts val="2100"/>
              </a:lnSpc>
              <a:spcBef>
                <a:spcPts val="670"/>
              </a:spcBef>
            </a:pPr>
            <a:r>
              <a:rPr spc="-45" dirty="0">
                <a:cs typeface="Calibri"/>
              </a:rPr>
              <a:t>P</a:t>
            </a:r>
            <a:r>
              <a:rPr dirty="0">
                <a:cs typeface="Calibri"/>
              </a:rPr>
              <a:t>e</a:t>
            </a:r>
            <a:r>
              <a:rPr spc="-5" dirty="0">
                <a:cs typeface="Calibri"/>
              </a:rPr>
              <a:t>r</a:t>
            </a:r>
            <a:r>
              <a:rPr spc="-35" dirty="0">
                <a:cs typeface="Calibri"/>
              </a:rPr>
              <a:t>f</a:t>
            </a:r>
            <a:r>
              <a:rPr dirty="0">
                <a:cs typeface="Calibri"/>
              </a:rPr>
              <a:t>o</a:t>
            </a:r>
            <a:r>
              <a:rPr spc="-5" dirty="0">
                <a:cs typeface="Calibri"/>
              </a:rPr>
              <a:t>r</a:t>
            </a:r>
            <a:r>
              <a:rPr dirty="0">
                <a:cs typeface="Calibri"/>
              </a:rPr>
              <a:t>m</a:t>
            </a:r>
            <a:r>
              <a:rPr spc="-5" dirty="0">
                <a:cs typeface="Calibri"/>
              </a:rPr>
              <a:t>a</a:t>
            </a:r>
            <a:r>
              <a:rPr dirty="0">
                <a:cs typeface="Calibri"/>
              </a:rPr>
              <a:t>nce  </a:t>
            </a:r>
            <a:r>
              <a:rPr spc="-5" dirty="0">
                <a:cs typeface="Calibri"/>
              </a:rPr>
              <a:t>Element</a:t>
            </a:r>
            <a:endParaRPr dirty="0">
              <a:cs typeface="Calibri"/>
            </a:endParaRPr>
          </a:p>
        </p:txBody>
      </p:sp>
      <p:sp>
        <p:nvSpPr>
          <p:cNvPr id="23" name="object 23"/>
          <p:cNvSpPr/>
          <p:nvPr/>
        </p:nvSpPr>
        <p:spPr>
          <a:xfrm>
            <a:off x="5327270" y="4758740"/>
            <a:ext cx="2460625" cy="1570990"/>
          </a:xfrm>
          <a:custGeom>
            <a:avLst/>
            <a:gdLst/>
            <a:ahLst/>
            <a:cxnLst/>
            <a:rect l="l" t="t" r="r" b="b"/>
            <a:pathLst>
              <a:path w="2460625" h="1570989">
                <a:moveTo>
                  <a:pt x="1416431" y="1570634"/>
                </a:moveTo>
                <a:lnTo>
                  <a:pt x="1371612" y="1485912"/>
                </a:lnTo>
                <a:lnTo>
                  <a:pt x="1354988" y="1509153"/>
                </a:lnTo>
                <a:lnTo>
                  <a:pt x="16624" y="552526"/>
                </a:lnTo>
                <a:lnTo>
                  <a:pt x="0" y="575779"/>
                </a:lnTo>
                <a:lnTo>
                  <a:pt x="1338376" y="1532407"/>
                </a:lnTo>
                <a:lnTo>
                  <a:pt x="1321765" y="1555648"/>
                </a:lnTo>
                <a:lnTo>
                  <a:pt x="1416431" y="1570634"/>
                </a:lnTo>
                <a:close/>
              </a:path>
              <a:path w="2460625" h="1570989">
                <a:moveTo>
                  <a:pt x="2458262" y="1128763"/>
                </a:moveTo>
                <a:lnTo>
                  <a:pt x="2429700" y="1128077"/>
                </a:lnTo>
                <a:lnTo>
                  <a:pt x="2435593" y="880402"/>
                </a:lnTo>
                <a:lnTo>
                  <a:pt x="2407031" y="879729"/>
                </a:lnTo>
                <a:lnTo>
                  <a:pt x="2401138" y="1127404"/>
                </a:lnTo>
                <a:lnTo>
                  <a:pt x="2372563" y="1126718"/>
                </a:lnTo>
                <a:lnTo>
                  <a:pt x="2413381" y="1213434"/>
                </a:lnTo>
                <a:lnTo>
                  <a:pt x="2458262" y="1128763"/>
                </a:lnTo>
                <a:close/>
              </a:path>
              <a:path w="2460625" h="1570989">
                <a:moveTo>
                  <a:pt x="2460574" y="256057"/>
                </a:moveTo>
                <a:lnTo>
                  <a:pt x="2432024" y="257238"/>
                </a:lnTo>
                <a:lnTo>
                  <a:pt x="2421305" y="0"/>
                </a:lnTo>
                <a:lnTo>
                  <a:pt x="2392756" y="1181"/>
                </a:lnTo>
                <a:lnTo>
                  <a:pt x="2403475" y="258432"/>
                </a:lnTo>
                <a:lnTo>
                  <a:pt x="2374912" y="259626"/>
                </a:lnTo>
                <a:lnTo>
                  <a:pt x="2421318" y="343484"/>
                </a:lnTo>
                <a:lnTo>
                  <a:pt x="2460574" y="256057"/>
                </a:lnTo>
                <a:close/>
              </a:path>
            </a:pathLst>
          </a:custGeom>
          <a:solidFill>
            <a:srgbClr val="000000"/>
          </a:solidFill>
        </p:spPr>
        <p:txBody>
          <a:bodyPr wrap="square" lIns="0" tIns="0" rIns="0" bIns="0" rtlCol="0"/>
          <a:lstStyle/>
          <a:p>
            <a:endParaRPr/>
          </a:p>
        </p:txBody>
      </p:sp>
      <p:sp>
        <p:nvSpPr>
          <p:cNvPr id="25" name="object 25"/>
          <p:cNvSpPr txBox="1"/>
          <p:nvPr/>
        </p:nvSpPr>
        <p:spPr>
          <a:xfrm>
            <a:off x="5107941" y="4423012"/>
            <a:ext cx="1224915" cy="566822"/>
          </a:xfrm>
          <a:prstGeom prst="rect">
            <a:avLst/>
          </a:prstGeom>
        </p:spPr>
        <p:txBody>
          <a:bodyPr vert="horz" wrap="square" lIns="0" tIns="12700" rIns="0" bIns="0" rtlCol="0">
            <a:spAutoFit/>
          </a:bodyPr>
          <a:lstStyle/>
          <a:p>
            <a:pPr marL="12700">
              <a:spcBef>
                <a:spcPts val="100"/>
              </a:spcBef>
            </a:pPr>
            <a:r>
              <a:rPr spc="-20" dirty="0">
                <a:cs typeface="Calibri"/>
              </a:rPr>
              <a:t>Training</a:t>
            </a:r>
            <a:r>
              <a:rPr spc="-70" dirty="0">
                <a:cs typeface="Calibri"/>
              </a:rPr>
              <a:t> </a:t>
            </a:r>
            <a:r>
              <a:rPr spc="-10" dirty="0">
                <a:cs typeface="Calibri"/>
              </a:rPr>
              <a:t>data</a:t>
            </a:r>
            <a:endParaRPr>
              <a:cs typeface="Calibri"/>
            </a:endParaRPr>
          </a:p>
        </p:txBody>
      </p:sp>
      <p:sp>
        <p:nvSpPr>
          <p:cNvPr id="26" name="object 26"/>
          <p:cNvSpPr txBox="1"/>
          <p:nvPr/>
        </p:nvSpPr>
        <p:spPr>
          <a:xfrm>
            <a:off x="5085101" y="5876132"/>
            <a:ext cx="1137920" cy="566822"/>
          </a:xfrm>
          <a:prstGeom prst="rect">
            <a:avLst/>
          </a:prstGeom>
        </p:spPr>
        <p:txBody>
          <a:bodyPr vert="horz" wrap="square" lIns="0" tIns="12700" rIns="0" bIns="0" rtlCol="0">
            <a:spAutoFit/>
          </a:bodyPr>
          <a:lstStyle/>
          <a:p>
            <a:pPr marL="12700">
              <a:spcBef>
                <a:spcPts val="100"/>
              </a:spcBef>
            </a:pPr>
            <a:r>
              <a:rPr spc="-30" dirty="0">
                <a:cs typeface="Calibri"/>
              </a:rPr>
              <a:t>Testing</a:t>
            </a:r>
            <a:r>
              <a:rPr spc="-55" dirty="0">
                <a:cs typeface="Calibri"/>
              </a:rPr>
              <a:t> </a:t>
            </a:r>
            <a:r>
              <a:rPr spc="-15" dirty="0">
                <a:cs typeface="Calibri"/>
              </a:rPr>
              <a:t>data</a:t>
            </a:r>
            <a:endParaRPr>
              <a:cs typeface="Calibri"/>
            </a:endParaRPr>
          </a:p>
        </p:txBody>
      </p:sp>
    </p:spTree>
    <p:extLst>
      <p:ext uri="{BB962C8B-B14F-4D97-AF65-F5344CB8AC3E}">
        <p14:creationId xmlns:p14="http://schemas.microsoft.com/office/powerpoint/2010/main" val="28432055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2711" y="310803"/>
            <a:ext cx="8037104" cy="689932"/>
          </a:xfrm>
          <a:prstGeom prst="rect">
            <a:avLst/>
          </a:prstGeom>
        </p:spPr>
        <p:txBody>
          <a:bodyPr vert="horz" wrap="square" lIns="0" tIns="12700" rIns="0" bIns="0" rtlCol="0" anchor="t">
            <a:spAutoFit/>
          </a:bodyPr>
          <a:lstStyle/>
          <a:p>
            <a:pPr marL="12700">
              <a:spcBef>
                <a:spcPts val="100"/>
              </a:spcBef>
            </a:pPr>
            <a:r>
              <a:rPr sz="4400" spc="-45" dirty="0">
                <a:latin typeface="+mn-lt"/>
              </a:rPr>
              <a:t>Training</a:t>
            </a:r>
            <a:r>
              <a:rPr sz="4400" spc="-10" dirty="0">
                <a:latin typeface="+mn-lt"/>
              </a:rPr>
              <a:t> vs.</a:t>
            </a:r>
            <a:r>
              <a:rPr sz="4400" spc="-15" dirty="0">
                <a:latin typeface="+mn-lt"/>
              </a:rPr>
              <a:t> </a:t>
            </a:r>
            <a:r>
              <a:rPr sz="4400" spc="-110" dirty="0">
                <a:latin typeface="+mn-lt"/>
              </a:rPr>
              <a:t>Test</a:t>
            </a:r>
            <a:r>
              <a:rPr sz="4400" spc="-15" dirty="0">
                <a:latin typeface="+mn-lt"/>
              </a:rPr>
              <a:t> </a:t>
            </a:r>
            <a:r>
              <a:rPr sz="4400" spc="-5" dirty="0">
                <a:latin typeface="+mn-lt"/>
              </a:rPr>
              <a:t>Distribution</a:t>
            </a:r>
          </a:p>
        </p:txBody>
      </p:sp>
      <p:sp>
        <p:nvSpPr>
          <p:cNvPr id="3" name="object 3"/>
          <p:cNvSpPr txBox="1"/>
          <p:nvPr/>
        </p:nvSpPr>
        <p:spPr>
          <a:xfrm>
            <a:off x="2007145" y="1371600"/>
            <a:ext cx="7853045" cy="4479240"/>
          </a:xfrm>
          <a:prstGeom prst="rect">
            <a:avLst/>
          </a:prstGeom>
        </p:spPr>
        <p:txBody>
          <a:bodyPr vert="horz" wrap="square" lIns="0" tIns="10795" rIns="0" bIns="0" rtlCol="0">
            <a:spAutoFit/>
          </a:bodyPr>
          <a:lstStyle/>
          <a:p>
            <a:pPr marL="355600" marR="80010" indent="-342900" algn="just">
              <a:lnSpc>
                <a:spcPct val="150000"/>
              </a:lnSpc>
              <a:spcBef>
                <a:spcPts val="85"/>
              </a:spcBef>
              <a:buFont typeface="Arial MT"/>
              <a:buChar char="•"/>
              <a:tabLst>
                <a:tab pos="354965" algn="l"/>
                <a:tab pos="355600" algn="l"/>
              </a:tabLst>
            </a:pPr>
            <a:r>
              <a:rPr sz="2000" spc="-60" dirty="0">
                <a:cs typeface="Calibri"/>
              </a:rPr>
              <a:t>We</a:t>
            </a:r>
            <a:r>
              <a:rPr sz="2000" spc="-10" dirty="0">
                <a:cs typeface="Calibri"/>
              </a:rPr>
              <a:t> </a:t>
            </a:r>
            <a:r>
              <a:rPr sz="2000" spc="-15" dirty="0">
                <a:cs typeface="Calibri"/>
              </a:rPr>
              <a:t>generally</a:t>
            </a:r>
            <a:r>
              <a:rPr sz="2000" spc="-5" dirty="0">
                <a:cs typeface="Calibri"/>
              </a:rPr>
              <a:t> </a:t>
            </a:r>
            <a:r>
              <a:rPr sz="2000" dirty="0">
                <a:cs typeface="Calibri"/>
              </a:rPr>
              <a:t>assume</a:t>
            </a:r>
            <a:r>
              <a:rPr sz="2000" spc="-5" dirty="0">
                <a:cs typeface="Calibri"/>
              </a:rPr>
              <a:t> that </a:t>
            </a:r>
            <a:r>
              <a:rPr sz="2000" dirty="0">
                <a:cs typeface="Calibri"/>
              </a:rPr>
              <a:t>the</a:t>
            </a:r>
            <a:r>
              <a:rPr sz="2000" spc="-5" dirty="0">
                <a:cs typeface="Calibri"/>
              </a:rPr>
              <a:t> </a:t>
            </a:r>
            <a:r>
              <a:rPr sz="2000" spc="-10" dirty="0">
                <a:cs typeface="Calibri"/>
              </a:rPr>
              <a:t>training</a:t>
            </a:r>
            <a:r>
              <a:rPr sz="2000" dirty="0">
                <a:cs typeface="Calibri"/>
              </a:rPr>
              <a:t> and </a:t>
            </a:r>
            <a:r>
              <a:rPr sz="2000" spc="5" dirty="0">
                <a:cs typeface="Calibri"/>
              </a:rPr>
              <a:t> </a:t>
            </a:r>
            <a:r>
              <a:rPr sz="2000" spc="-20" dirty="0">
                <a:cs typeface="Calibri"/>
              </a:rPr>
              <a:t>test</a:t>
            </a:r>
            <a:r>
              <a:rPr sz="2000" spc="-5" dirty="0">
                <a:cs typeface="Calibri"/>
              </a:rPr>
              <a:t> </a:t>
            </a:r>
            <a:r>
              <a:rPr sz="2000" spc="-15" dirty="0">
                <a:cs typeface="Calibri"/>
              </a:rPr>
              <a:t>examples</a:t>
            </a:r>
            <a:r>
              <a:rPr sz="2000" spc="-10" dirty="0">
                <a:cs typeface="Calibri"/>
              </a:rPr>
              <a:t> </a:t>
            </a:r>
            <a:r>
              <a:rPr sz="2000" spc="-15" dirty="0">
                <a:cs typeface="Calibri"/>
              </a:rPr>
              <a:t>are </a:t>
            </a:r>
            <a:r>
              <a:rPr sz="2000" spc="-5" dirty="0">
                <a:cs typeface="Calibri"/>
              </a:rPr>
              <a:t>independently</a:t>
            </a:r>
            <a:r>
              <a:rPr sz="2000" spc="-10" dirty="0">
                <a:cs typeface="Calibri"/>
              </a:rPr>
              <a:t> </a:t>
            </a:r>
            <a:r>
              <a:rPr sz="2000" spc="-20" dirty="0">
                <a:cs typeface="Calibri"/>
              </a:rPr>
              <a:t>drawn</a:t>
            </a:r>
            <a:r>
              <a:rPr sz="2000" spc="-5" dirty="0">
                <a:cs typeface="Calibri"/>
              </a:rPr>
              <a:t> </a:t>
            </a:r>
            <a:r>
              <a:rPr sz="2000" spc="-20" dirty="0">
                <a:cs typeface="Calibri"/>
              </a:rPr>
              <a:t>from </a:t>
            </a:r>
            <a:r>
              <a:rPr sz="2000" spc="-710" dirty="0">
                <a:cs typeface="Calibri"/>
              </a:rPr>
              <a:t> </a:t>
            </a:r>
            <a:r>
              <a:rPr sz="2000" dirty="0">
                <a:cs typeface="Calibri"/>
              </a:rPr>
              <a:t>the</a:t>
            </a:r>
            <a:r>
              <a:rPr sz="2000" spc="-10" dirty="0">
                <a:cs typeface="Calibri"/>
              </a:rPr>
              <a:t> </a:t>
            </a:r>
            <a:r>
              <a:rPr sz="2000" dirty="0">
                <a:cs typeface="Calibri"/>
              </a:rPr>
              <a:t>same</a:t>
            </a:r>
            <a:r>
              <a:rPr sz="2000" spc="-5" dirty="0">
                <a:cs typeface="Calibri"/>
              </a:rPr>
              <a:t> </a:t>
            </a:r>
            <a:r>
              <a:rPr sz="2000" spc="-20" dirty="0">
                <a:cs typeface="Calibri"/>
              </a:rPr>
              <a:t>overall</a:t>
            </a:r>
            <a:r>
              <a:rPr sz="2000" dirty="0">
                <a:cs typeface="Calibri"/>
              </a:rPr>
              <a:t> </a:t>
            </a:r>
            <a:r>
              <a:rPr sz="2000" spc="-5" dirty="0">
                <a:cs typeface="Calibri"/>
              </a:rPr>
              <a:t>distribution</a:t>
            </a:r>
            <a:r>
              <a:rPr sz="2000" spc="5" dirty="0">
                <a:cs typeface="Calibri"/>
              </a:rPr>
              <a:t> </a:t>
            </a:r>
            <a:r>
              <a:rPr sz="2000" spc="-5" dirty="0">
                <a:cs typeface="Calibri"/>
              </a:rPr>
              <a:t>of</a:t>
            </a:r>
            <a:r>
              <a:rPr sz="2000" spc="-15" dirty="0">
                <a:cs typeface="Calibri"/>
              </a:rPr>
              <a:t> data</a:t>
            </a:r>
            <a:endParaRPr sz="2000" dirty="0">
              <a:cs typeface="Calibri"/>
            </a:endParaRPr>
          </a:p>
          <a:p>
            <a:pPr marL="755650" marR="5080" indent="-285750" algn="just">
              <a:lnSpc>
                <a:spcPct val="150000"/>
              </a:lnSpc>
              <a:spcBef>
                <a:spcPts val="620"/>
              </a:spcBef>
            </a:pPr>
            <a:r>
              <a:rPr sz="2000" dirty="0">
                <a:cs typeface="Arial MT"/>
              </a:rPr>
              <a:t>–</a:t>
            </a:r>
            <a:r>
              <a:rPr sz="2000" spc="-90" dirty="0">
                <a:cs typeface="Arial MT"/>
              </a:rPr>
              <a:t> </a:t>
            </a:r>
            <a:r>
              <a:rPr sz="2000" spc="-55" dirty="0">
                <a:cs typeface="Calibri"/>
              </a:rPr>
              <a:t>We</a:t>
            </a:r>
            <a:r>
              <a:rPr sz="2000" dirty="0">
                <a:cs typeface="Calibri"/>
              </a:rPr>
              <a:t> </a:t>
            </a:r>
            <a:r>
              <a:rPr sz="2000" spc="-10" dirty="0">
                <a:cs typeface="Calibri"/>
              </a:rPr>
              <a:t>call</a:t>
            </a:r>
            <a:r>
              <a:rPr sz="2000" spc="-5" dirty="0">
                <a:cs typeface="Calibri"/>
              </a:rPr>
              <a:t> this</a:t>
            </a:r>
            <a:r>
              <a:rPr sz="2000" spc="10" dirty="0">
                <a:cs typeface="Calibri"/>
              </a:rPr>
              <a:t> </a:t>
            </a:r>
            <a:r>
              <a:rPr sz="2000" dirty="0">
                <a:cs typeface="Calibri"/>
              </a:rPr>
              <a:t>“i.i.d”</a:t>
            </a:r>
            <a:r>
              <a:rPr sz="2000" spc="10" dirty="0">
                <a:cs typeface="Calibri"/>
              </a:rPr>
              <a:t> </a:t>
            </a:r>
            <a:r>
              <a:rPr sz="2000" spc="-5" dirty="0">
                <a:cs typeface="Calibri"/>
              </a:rPr>
              <a:t>which</a:t>
            </a:r>
            <a:r>
              <a:rPr sz="2000" spc="5" dirty="0">
                <a:cs typeface="Calibri"/>
              </a:rPr>
              <a:t> </a:t>
            </a:r>
            <a:r>
              <a:rPr sz="2000" spc="-15" dirty="0">
                <a:cs typeface="Calibri"/>
              </a:rPr>
              <a:t>stands</a:t>
            </a:r>
            <a:r>
              <a:rPr sz="2000" spc="10" dirty="0">
                <a:cs typeface="Calibri"/>
              </a:rPr>
              <a:t> </a:t>
            </a:r>
            <a:r>
              <a:rPr sz="2000" spc="-25" dirty="0">
                <a:cs typeface="Calibri"/>
              </a:rPr>
              <a:t>for</a:t>
            </a:r>
            <a:r>
              <a:rPr sz="2000" dirty="0">
                <a:cs typeface="Calibri"/>
              </a:rPr>
              <a:t> </a:t>
            </a:r>
            <a:r>
              <a:rPr sz="2000" spc="-10" dirty="0">
                <a:cs typeface="Calibri"/>
              </a:rPr>
              <a:t>“independent </a:t>
            </a:r>
            <a:r>
              <a:rPr sz="2000" spc="-615" dirty="0">
                <a:cs typeface="Calibri"/>
              </a:rPr>
              <a:t> </a:t>
            </a:r>
            <a:r>
              <a:rPr sz="2000" spc="-5" dirty="0">
                <a:cs typeface="Calibri"/>
              </a:rPr>
              <a:t>and</a:t>
            </a:r>
            <a:r>
              <a:rPr sz="2000" dirty="0">
                <a:cs typeface="Calibri"/>
              </a:rPr>
              <a:t> </a:t>
            </a:r>
            <a:r>
              <a:rPr sz="2000" spc="-10" dirty="0">
                <a:cs typeface="Calibri"/>
              </a:rPr>
              <a:t>identically</a:t>
            </a:r>
            <a:r>
              <a:rPr sz="2000" dirty="0">
                <a:cs typeface="Calibri"/>
              </a:rPr>
              <a:t> </a:t>
            </a:r>
            <a:r>
              <a:rPr sz="2000" spc="-10" dirty="0">
                <a:cs typeface="Calibri"/>
              </a:rPr>
              <a:t>distributed”</a:t>
            </a:r>
            <a:endParaRPr lang="en-US" sz="2000" spc="-10" dirty="0">
              <a:cs typeface="Calibri"/>
            </a:endParaRPr>
          </a:p>
          <a:p>
            <a:pPr marL="812800" indent="-342900">
              <a:lnSpc>
                <a:spcPts val="3820"/>
              </a:lnSpc>
              <a:spcBef>
                <a:spcPts val="100"/>
              </a:spcBef>
              <a:buFont typeface="Arial MT"/>
              <a:buChar char="•"/>
              <a:tabLst>
                <a:tab pos="812165" algn="l"/>
                <a:tab pos="812800" algn="l"/>
              </a:tabLst>
            </a:pPr>
            <a:r>
              <a:rPr lang="en-US" sz="2000" dirty="0">
                <a:cs typeface="Calibri"/>
              </a:rPr>
              <a:t>If</a:t>
            </a:r>
            <a:r>
              <a:rPr lang="en-US" sz="2000" spc="-5" dirty="0">
                <a:cs typeface="Calibri"/>
              </a:rPr>
              <a:t> </a:t>
            </a:r>
            <a:r>
              <a:rPr lang="en-US" sz="2000" spc="-15" dirty="0">
                <a:cs typeface="Calibri"/>
              </a:rPr>
              <a:t>examples</a:t>
            </a:r>
            <a:r>
              <a:rPr lang="en-US" sz="2000" dirty="0">
                <a:cs typeface="Calibri"/>
              </a:rPr>
              <a:t> </a:t>
            </a:r>
            <a:r>
              <a:rPr lang="en-US" sz="2000" spc="-15" dirty="0">
                <a:cs typeface="Calibri"/>
              </a:rPr>
              <a:t>are</a:t>
            </a:r>
            <a:r>
              <a:rPr lang="en-US" sz="2000" spc="-10" dirty="0">
                <a:cs typeface="Calibri"/>
              </a:rPr>
              <a:t> </a:t>
            </a:r>
            <a:r>
              <a:rPr lang="en-US" sz="2000" dirty="0">
                <a:cs typeface="Calibri"/>
              </a:rPr>
              <a:t>not </a:t>
            </a:r>
            <a:r>
              <a:rPr lang="en-US" sz="2000" spc="-5" dirty="0">
                <a:cs typeface="Calibri"/>
              </a:rPr>
              <a:t>independent,</a:t>
            </a:r>
            <a:r>
              <a:rPr lang="en-US" sz="2000" dirty="0">
                <a:cs typeface="Calibri"/>
              </a:rPr>
              <a:t> </a:t>
            </a:r>
            <a:r>
              <a:rPr lang="en-US" sz="2000" spc="-15" dirty="0">
                <a:cs typeface="Calibri"/>
              </a:rPr>
              <a:t>requires </a:t>
            </a:r>
            <a:r>
              <a:rPr lang="en-US" sz="2000" b="1" i="1" spc="-5" dirty="0">
                <a:solidFill>
                  <a:srgbClr val="FF0000"/>
                </a:solidFill>
                <a:cs typeface="Calibri"/>
              </a:rPr>
              <a:t>collective</a:t>
            </a:r>
            <a:r>
              <a:rPr lang="en-US" sz="2000" b="1" i="1" spc="-35" dirty="0">
                <a:solidFill>
                  <a:srgbClr val="FF0000"/>
                </a:solidFill>
                <a:cs typeface="Calibri"/>
              </a:rPr>
              <a:t> </a:t>
            </a:r>
            <a:r>
              <a:rPr lang="en-US" sz="2000" b="1" i="1" spc="-5" dirty="0">
                <a:solidFill>
                  <a:srgbClr val="FF0000"/>
                </a:solidFill>
                <a:cs typeface="Calibri"/>
              </a:rPr>
              <a:t>classification</a:t>
            </a:r>
            <a:endParaRPr lang="en-US" sz="2000" dirty="0">
              <a:cs typeface="Calibri"/>
            </a:endParaRPr>
          </a:p>
          <a:p>
            <a:pPr marL="812800" indent="-342900">
              <a:spcBef>
                <a:spcPts val="2360"/>
              </a:spcBef>
              <a:buFont typeface="Arial MT"/>
              <a:buChar char="•"/>
              <a:tabLst>
                <a:tab pos="812165" algn="l"/>
                <a:tab pos="812800" algn="l"/>
              </a:tabLst>
            </a:pPr>
            <a:r>
              <a:rPr lang="en-US" sz="2000" dirty="0">
                <a:cs typeface="Calibri"/>
              </a:rPr>
              <a:t>If</a:t>
            </a:r>
            <a:r>
              <a:rPr lang="en-US" sz="2000" spc="-5" dirty="0">
                <a:cs typeface="Calibri"/>
              </a:rPr>
              <a:t> </a:t>
            </a:r>
            <a:r>
              <a:rPr lang="en-US" sz="2000" spc="-20" dirty="0">
                <a:cs typeface="Calibri"/>
              </a:rPr>
              <a:t>test</a:t>
            </a:r>
            <a:r>
              <a:rPr lang="en-US" sz="2000" spc="-5" dirty="0">
                <a:cs typeface="Calibri"/>
              </a:rPr>
              <a:t> distribution</a:t>
            </a:r>
            <a:r>
              <a:rPr lang="en-US" sz="2000" dirty="0">
                <a:cs typeface="Calibri"/>
              </a:rPr>
              <a:t> is</a:t>
            </a:r>
            <a:r>
              <a:rPr lang="en-US" sz="2000" spc="-5" dirty="0">
                <a:cs typeface="Calibri"/>
              </a:rPr>
              <a:t> </a:t>
            </a:r>
            <a:r>
              <a:rPr lang="en-US" sz="2000" spc="-20" dirty="0">
                <a:cs typeface="Calibri"/>
              </a:rPr>
              <a:t>different,</a:t>
            </a:r>
            <a:r>
              <a:rPr lang="en-US" sz="2000" dirty="0">
                <a:cs typeface="Calibri"/>
              </a:rPr>
              <a:t> </a:t>
            </a:r>
            <a:r>
              <a:rPr lang="en-US" sz="2000" spc="-15" dirty="0">
                <a:cs typeface="Calibri"/>
              </a:rPr>
              <a:t>requires </a:t>
            </a:r>
            <a:r>
              <a:rPr lang="en-US" sz="2000" b="1" i="1" spc="-5" dirty="0">
                <a:solidFill>
                  <a:srgbClr val="FF0000"/>
                </a:solidFill>
                <a:cs typeface="Calibri"/>
              </a:rPr>
              <a:t>transfer</a:t>
            </a:r>
            <a:r>
              <a:rPr lang="en-US" sz="2000" b="1" i="1" spc="-50" dirty="0">
                <a:solidFill>
                  <a:srgbClr val="FF0000"/>
                </a:solidFill>
                <a:cs typeface="Calibri"/>
              </a:rPr>
              <a:t> </a:t>
            </a:r>
            <a:r>
              <a:rPr lang="en-US" sz="2000" b="1" i="1" spc="-5" dirty="0">
                <a:solidFill>
                  <a:srgbClr val="FF0000"/>
                </a:solidFill>
                <a:cs typeface="Calibri"/>
              </a:rPr>
              <a:t>learning</a:t>
            </a:r>
            <a:endParaRPr lang="en-US" sz="2000" dirty="0">
              <a:cs typeface="Calibri"/>
            </a:endParaRPr>
          </a:p>
          <a:p>
            <a:pPr marL="755650" marR="5080" indent="-285750" algn="just">
              <a:lnSpc>
                <a:spcPct val="150000"/>
              </a:lnSpc>
              <a:spcBef>
                <a:spcPts val="620"/>
              </a:spcBef>
            </a:pPr>
            <a:endParaRPr sz="2000" dirty="0">
              <a:cs typeface="Calibri"/>
            </a:endParaRPr>
          </a:p>
        </p:txBody>
      </p:sp>
    </p:spTree>
    <p:extLst>
      <p:ext uri="{BB962C8B-B14F-4D97-AF65-F5344CB8AC3E}">
        <p14:creationId xmlns:p14="http://schemas.microsoft.com/office/powerpoint/2010/main" val="1895130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6B88-81D6-4632-9BA3-02ED94D3A915}"/>
              </a:ext>
            </a:extLst>
          </p:cNvPr>
          <p:cNvSpPr>
            <a:spLocks noGrp="1"/>
          </p:cNvSpPr>
          <p:nvPr>
            <p:ph type="title"/>
          </p:nvPr>
        </p:nvSpPr>
        <p:spPr>
          <a:xfrm>
            <a:off x="2438400" y="152400"/>
            <a:ext cx="7543800" cy="1094784"/>
          </a:xfrm>
        </p:spPr>
        <p:txBody>
          <a:bodyPr>
            <a:noAutofit/>
          </a:bodyPr>
          <a:lstStyle/>
          <a:p>
            <a:r>
              <a:rPr lang="en-US" sz="4400" dirty="0">
                <a:latin typeface="+mn-lt"/>
              </a:rPr>
              <a:t>Artificial Neural Network</a:t>
            </a:r>
            <a:endParaRPr lang="x-none" sz="4400" dirty="0">
              <a:latin typeface="+mn-lt"/>
            </a:endParaRPr>
          </a:p>
        </p:txBody>
      </p:sp>
      <p:sp>
        <p:nvSpPr>
          <p:cNvPr id="3" name="Content Placeholder 2">
            <a:extLst>
              <a:ext uri="{FF2B5EF4-FFF2-40B4-BE49-F238E27FC236}">
                <a16:creationId xmlns:a16="http://schemas.microsoft.com/office/drawing/2014/main" id="{D4C748AB-C95E-4D43-939E-9B9B3A01DFAB}"/>
              </a:ext>
            </a:extLst>
          </p:cNvPr>
          <p:cNvSpPr>
            <a:spLocks noGrp="1"/>
          </p:cNvSpPr>
          <p:nvPr>
            <p:ph idx="1"/>
          </p:nvPr>
        </p:nvSpPr>
        <p:spPr>
          <a:xfrm>
            <a:off x="1752600" y="1234709"/>
            <a:ext cx="8534400" cy="5374185"/>
          </a:xfrm>
        </p:spPr>
        <p:txBody>
          <a:bodyPr>
            <a:normAutofit/>
          </a:bodyPr>
          <a:lstStyle/>
          <a:p>
            <a:pPr marL="393192" lvl="1" indent="0" algn="just">
              <a:lnSpc>
                <a:spcPct val="150000"/>
              </a:lnSpc>
              <a:buNone/>
            </a:pPr>
            <a:r>
              <a:rPr lang="en-US" sz="1800" dirty="0">
                <a:solidFill>
                  <a:srgbClr val="000000"/>
                </a:solidFill>
              </a:rPr>
              <a:t>The idea of artificial neural networks was derived from the neural networks in the human brain. The human brain is really complex. Carefully studying the brain, the scientists and engineers came up with an architecture that could fit in our digital world of binary computers. One such typical architecture is shown in the diagram below: </a:t>
            </a:r>
            <a:endParaRPr lang="en-US" sz="2000" dirty="0">
              <a:solidFill>
                <a:srgbClr val="000000"/>
              </a:solidFill>
            </a:endParaRPr>
          </a:p>
        </p:txBody>
      </p:sp>
      <p:pic>
        <p:nvPicPr>
          <p:cNvPr id="5" name="Picture 4">
            <a:extLst>
              <a:ext uri="{FF2B5EF4-FFF2-40B4-BE49-F238E27FC236}">
                <a16:creationId xmlns:a16="http://schemas.microsoft.com/office/drawing/2014/main" id="{04004255-E206-4003-8C6F-24818F82624D}"/>
              </a:ext>
            </a:extLst>
          </p:cNvPr>
          <p:cNvPicPr>
            <a:picLocks noChangeAspect="1"/>
          </p:cNvPicPr>
          <p:nvPr/>
        </p:nvPicPr>
        <p:blipFill>
          <a:blip r:embed="rId2"/>
          <a:stretch>
            <a:fillRect/>
          </a:stretch>
        </p:blipFill>
        <p:spPr>
          <a:xfrm>
            <a:off x="4386685" y="3429000"/>
            <a:ext cx="4294676" cy="3281264"/>
          </a:xfrm>
          <a:prstGeom prst="rect">
            <a:avLst/>
          </a:prstGeom>
        </p:spPr>
      </p:pic>
    </p:spTree>
    <p:extLst>
      <p:ext uri="{BB962C8B-B14F-4D97-AF65-F5344CB8AC3E}">
        <p14:creationId xmlns:p14="http://schemas.microsoft.com/office/powerpoint/2010/main" val="24314292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6B88-81D6-4632-9BA3-02ED94D3A915}"/>
              </a:ext>
            </a:extLst>
          </p:cNvPr>
          <p:cNvSpPr>
            <a:spLocks noGrp="1"/>
          </p:cNvSpPr>
          <p:nvPr>
            <p:ph type="title"/>
          </p:nvPr>
        </p:nvSpPr>
        <p:spPr>
          <a:xfrm>
            <a:off x="2440690" y="249107"/>
            <a:ext cx="7543800" cy="1094784"/>
          </a:xfrm>
        </p:spPr>
        <p:txBody>
          <a:bodyPr>
            <a:normAutofit/>
          </a:bodyPr>
          <a:lstStyle/>
          <a:p>
            <a:r>
              <a:rPr lang="en-US" sz="4400" dirty="0">
                <a:latin typeface="+mn-lt"/>
              </a:rPr>
              <a:t>ANN Architectures</a:t>
            </a:r>
            <a:endParaRPr lang="x-none" sz="4400" dirty="0">
              <a:latin typeface="+mn-lt"/>
            </a:endParaRPr>
          </a:p>
        </p:txBody>
      </p:sp>
      <p:pic>
        <p:nvPicPr>
          <p:cNvPr id="5" name="Picture 4">
            <a:extLst>
              <a:ext uri="{FF2B5EF4-FFF2-40B4-BE49-F238E27FC236}">
                <a16:creationId xmlns:a16="http://schemas.microsoft.com/office/drawing/2014/main" id="{0E4255F9-B606-4785-B9DD-2F42ED16DCA4}"/>
              </a:ext>
            </a:extLst>
          </p:cNvPr>
          <p:cNvPicPr>
            <a:picLocks noChangeAspect="1"/>
          </p:cNvPicPr>
          <p:nvPr/>
        </p:nvPicPr>
        <p:blipFill>
          <a:blip r:embed="rId2"/>
          <a:stretch>
            <a:fillRect/>
          </a:stretch>
        </p:blipFill>
        <p:spPr>
          <a:xfrm>
            <a:off x="2057400" y="1488164"/>
            <a:ext cx="8305800" cy="5217437"/>
          </a:xfrm>
          <a:prstGeom prst="rect">
            <a:avLst/>
          </a:prstGeom>
        </p:spPr>
      </p:pic>
    </p:spTree>
    <p:extLst>
      <p:ext uri="{BB962C8B-B14F-4D97-AF65-F5344CB8AC3E}">
        <p14:creationId xmlns:p14="http://schemas.microsoft.com/office/powerpoint/2010/main" val="14141328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6B88-81D6-4632-9BA3-02ED94D3A915}"/>
              </a:ext>
            </a:extLst>
          </p:cNvPr>
          <p:cNvSpPr>
            <a:spLocks noGrp="1"/>
          </p:cNvSpPr>
          <p:nvPr>
            <p:ph type="title"/>
          </p:nvPr>
        </p:nvSpPr>
        <p:spPr>
          <a:xfrm>
            <a:off x="2209800" y="152400"/>
            <a:ext cx="7543800" cy="1094784"/>
          </a:xfrm>
        </p:spPr>
        <p:txBody>
          <a:bodyPr>
            <a:normAutofit/>
          </a:bodyPr>
          <a:lstStyle/>
          <a:p>
            <a:r>
              <a:rPr lang="en-US" sz="4400" dirty="0">
                <a:latin typeface="+mn-lt"/>
              </a:rPr>
              <a:t>ANN Architectures</a:t>
            </a:r>
            <a:endParaRPr lang="x-none" sz="4400" dirty="0">
              <a:latin typeface="+mn-lt"/>
            </a:endParaRPr>
          </a:p>
        </p:txBody>
      </p:sp>
      <p:sp>
        <p:nvSpPr>
          <p:cNvPr id="3" name="Content Placeholder 2">
            <a:extLst>
              <a:ext uri="{FF2B5EF4-FFF2-40B4-BE49-F238E27FC236}">
                <a16:creationId xmlns:a16="http://schemas.microsoft.com/office/drawing/2014/main" id="{D4C748AB-C95E-4D43-939E-9B9B3A01DFAB}"/>
              </a:ext>
            </a:extLst>
          </p:cNvPr>
          <p:cNvSpPr>
            <a:spLocks noGrp="1"/>
          </p:cNvSpPr>
          <p:nvPr>
            <p:ph idx="1"/>
          </p:nvPr>
        </p:nvSpPr>
        <p:spPr>
          <a:xfrm>
            <a:off x="1752600" y="1234709"/>
            <a:ext cx="8766810" cy="5374185"/>
          </a:xfrm>
        </p:spPr>
        <p:txBody>
          <a:bodyPr>
            <a:normAutofit lnSpcReduction="10000"/>
          </a:bodyPr>
          <a:lstStyle/>
          <a:p>
            <a:pPr lvl="1" algn="just">
              <a:lnSpc>
                <a:spcPct val="150000"/>
              </a:lnSpc>
            </a:pPr>
            <a:endParaRPr lang="en-US" sz="2000" dirty="0">
              <a:solidFill>
                <a:srgbClr val="000000"/>
              </a:solidFill>
            </a:endParaRPr>
          </a:p>
          <a:p>
            <a:pPr lvl="1" algn="just">
              <a:lnSpc>
                <a:spcPct val="150000"/>
              </a:lnSpc>
            </a:pPr>
            <a:endParaRPr lang="en-US" sz="2000" dirty="0">
              <a:solidFill>
                <a:srgbClr val="000000"/>
              </a:solidFill>
            </a:endParaRPr>
          </a:p>
          <a:p>
            <a:pPr lvl="1" algn="just">
              <a:lnSpc>
                <a:spcPct val="150000"/>
              </a:lnSpc>
            </a:pPr>
            <a:endParaRPr lang="en-US" sz="2000" dirty="0">
              <a:solidFill>
                <a:srgbClr val="000000"/>
              </a:solidFill>
            </a:endParaRPr>
          </a:p>
          <a:p>
            <a:pPr lvl="1" algn="just"/>
            <a:endParaRPr lang="en-US" sz="2000" dirty="0">
              <a:solidFill>
                <a:srgbClr val="000000"/>
              </a:solidFill>
            </a:endParaRPr>
          </a:p>
          <a:p>
            <a:pPr marL="393192" lvl="1" indent="0" algn="just">
              <a:lnSpc>
                <a:spcPct val="150000"/>
              </a:lnSpc>
              <a:buNone/>
            </a:pPr>
            <a:r>
              <a:rPr lang="en-US" sz="2000" dirty="0">
                <a:solidFill>
                  <a:srgbClr val="000000"/>
                </a:solidFill>
              </a:rPr>
              <a:t>Each architecture is developed for a specific type of application. Thus, when you use a neural network for your machine learning application, you will have to use either one of the existing architecture or design your own. The type of application that you finally decide upon depends on your application needs. There is no single guideline that tells you to use a specific network architecture. </a:t>
            </a:r>
          </a:p>
        </p:txBody>
      </p:sp>
      <p:pic>
        <p:nvPicPr>
          <p:cNvPr id="5" name="Picture 4">
            <a:extLst>
              <a:ext uri="{FF2B5EF4-FFF2-40B4-BE49-F238E27FC236}">
                <a16:creationId xmlns:a16="http://schemas.microsoft.com/office/drawing/2014/main" id="{97771ADA-B5DA-41DC-9939-7D7962EF1DD5}"/>
              </a:ext>
            </a:extLst>
          </p:cNvPr>
          <p:cNvPicPr>
            <a:picLocks noChangeAspect="1"/>
          </p:cNvPicPr>
          <p:nvPr/>
        </p:nvPicPr>
        <p:blipFill>
          <a:blip r:embed="rId2"/>
          <a:stretch>
            <a:fillRect/>
          </a:stretch>
        </p:blipFill>
        <p:spPr>
          <a:xfrm>
            <a:off x="2702005" y="1219200"/>
            <a:ext cx="6402121" cy="1757126"/>
          </a:xfrm>
          <a:prstGeom prst="rect">
            <a:avLst/>
          </a:prstGeom>
        </p:spPr>
      </p:pic>
      <p:sp>
        <p:nvSpPr>
          <p:cNvPr id="8" name="TextBox 7">
            <a:extLst>
              <a:ext uri="{FF2B5EF4-FFF2-40B4-BE49-F238E27FC236}">
                <a16:creationId xmlns:a16="http://schemas.microsoft.com/office/drawing/2014/main" id="{5922888A-4538-4C2A-8447-C7378B4FC34E}"/>
              </a:ext>
            </a:extLst>
          </p:cNvPr>
          <p:cNvSpPr txBox="1"/>
          <p:nvPr/>
        </p:nvSpPr>
        <p:spPr>
          <a:xfrm>
            <a:off x="1901190" y="6146512"/>
            <a:ext cx="8462010" cy="523220"/>
          </a:xfrm>
          <a:prstGeom prst="rect">
            <a:avLst/>
          </a:prstGeom>
          <a:noFill/>
        </p:spPr>
        <p:txBody>
          <a:bodyPr wrap="square">
            <a:spAutoFit/>
          </a:bodyPr>
          <a:lstStyle/>
          <a:p>
            <a:r>
              <a:rPr lang="fr-FR" sz="1400" b="1" dirty="0">
                <a:solidFill>
                  <a:srgbClr val="000000"/>
                </a:solidFill>
              </a:rPr>
              <a:t>Source: https://towardsdatascience.com/the-mostly-complete-chart-of-neural-networks-explained-3fb6f2367464 </a:t>
            </a:r>
            <a:endParaRPr lang="x-none" sz="1400" b="1" dirty="0"/>
          </a:p>
        </p:txBody>
      </p:sp>
    </p:spTree>
    <p:extLst>
      <p:ext uri="{BB962C8B-B14F-4D97-AF65-F5344CB8AC3E}">
        <p14:creationId xmlns:p14="http://schemas.microsoft.com/office/powerpoint/2010/main" val="18706681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6B88-81D6-4632-9BA3-02ED94D3A915}"/>
              </a:ext>
            </a:extLst>
          </p:cNvPr>
          <p:cNvSpPr>
            <a:spLocks noGrp="1"/>
          </p:cNvSpPr>
          <p:nvPr>
            <p:ph type="title"/>
          </p:nvPr>
        </p:nvSpPr>
        <p:spPr>
          <a:xfrm>
            <a:off x="1981200" y="152400"/>
            <a:ext cx="7850890" cy="1094784"/>
          </a:xfrm>
        </p:spPr>
        <p:txBody>
          <a:bodyPr>
            <a:noAutofit/>
          </a:bodyPr>
          <a:lstStyle/>
          <a:p>
            <a:r>
              <a:rPr lang="en-US" sz="4400" dirty="0">
                <a:latin typeface="+mn-lt"/>
              </a:rPr>
              <a:t>Deep Learning</a:t>
            </a:r>
            <a:endParaRPr lang="x-none" sz="4400" dirty="0">
              <a:latin typeface="+mn-lt"/>
            </a:endParaRPr>
          </a:p>
        </p:txBody>
      </p:sp>
      <p:sp>
        <p:nvSpPr>
          <p:cNvPr id="3" name="Content Placeholder 2">
            <a:extLst>
              <a:ext uri="{FF2B5EF4-FFF2-40B4-BE49-F238E27FC236}">
                <a16:creationId xmlns:a16="http://schemas.microsoft.com/office/drawing/2014/main" id="{D4C748AB-C95E-4D43-939E-9B9B3A01DFAB}"/>
              </a:ext>
            </a:extLst>
          </p:cNvPr>
          <p:cNvSpPr>
            <a:spLocks noGrp="1"/>
          </p:cNvSpPr>
          <p:nvPr>
            <p:ph idx="1"/>
          </p:nvPr>
        </p:nvSpPr>
        <p:spPr>
          <a:xfrm>
            <a:off x="1752600" y="1234709"/>
            <a:ext cx="8610600" cy="5318491"/>
          </a:xfrm>
        </p:spPr>
        <p:txBody>
          <a:bodyPr>
            <a:normAutofit lnSpcReduction="10000"/>
          </a:bodyPr>
          <a:lstStyle/>
          <a:p>
            <a:pPr algn="just">
              <a:lnSpc>
                <a:spcPct val="150000"/>
              </a:lnSpc>
            </a:pPr>
            <a:r>
              <a:rPr lang="en-US" sz="2000" dirty="0">
                <a:solidFill>
                  <a:srgbClr val="000000"/>
                </a:solidFill>
              </a:rPr>
              <a:t>The deep learning is a model based on Artificial Neural Networks (ANN), more specifically Convolutional Neural Networks (CNN)s. </a:t>
            </a:r>
          </a:p>
          <a:p>
            <a:pPr algn="just">
              <a:lnSpc>
                <a:spcPct val="150000"/>
              </a:lnSpc>
            </a:pPr>
            <a:r>
              <a:rPr lang="en-US" sz="2000" dirty="0">
                <a:solidFill>
                  <a:srgbClr val="000000"/>
                </a:solidFill>
              </a:rPr>
              <a:t>There are several architectures used in deep learning such as deep neural networks, deep belief networks, recurrent neural networks, and convolutional neural networks. </a:t>
            </a:r>
          </a:p>
          <a:p>
            <a:pPr algn="just">
              <a:lnSpc>
                <a:spcPct val="150000"/>
              </a:lnSpc>
            </a:pPr>
            <a:r>
              <a:rPr lang="en-US" sz="2000" dirty="0">
                <a:solidFill>
                  <a:srgbClr val="000000"/>
                </a:solidFill>
              </a:rPr>
              <a:t>These networks have been successfully applied in solving the problems of computer vision, speech recognition, natural language processing, bioinformatics, drug design, medical image analysis, and games. </a:t>
            </a:r>
          </a:p>
          <a:p>
            <a:pPr algn="just">
              <a:lnSpc>
                <a:spcPct val="150000"/>
              </a:lnSpc>
            </a:pPr>
            <a:r>
              <a:rPr lang="en-US" sz="2000" dirty="0">
                <a:solidFill>
                  <a:srgbClr val="000000"/>
                </a:solidFill>
              </a:rPr>
              <a:t>The deep learning requires huge processing power and humongous data, which is generally easily available these days. </a:t>
            </a:r>
            <a:endParaRPr lang="x-none" sz="2000" dirty="0">
              <a:solidFill>
                <a:srgbClr val="000000"/>
              </a:solidFill>
            </a:endParaRPr>
          </a:p>
        </p:txBody>
      </p:sp>
    </p:spTree>
    <p:extLst>
      <p:ext uri="{BB962C8B-B14F-4D97-AF65-F5344CB8AC3E}">
        <p14:creationId xmlns:p14="http://schemas.microsoft.com/office/powerpoint/2010/main" val="2497246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6B88-81D6-4632-9BA3-02ED94D3A915}"/>
              </a:ext>
            </a:extLst>
          </p:cNvPr>
          <p:cNvSpPr>
            <a:spLocks noGrp="1"/>
          </p:cNvSpPr>
          <p:nvPr>
            <p:ph type="title"/>
          </p:nvPr>
        </p:nvSpPr>
        <p:spPr>
          <a:xfrm>
            <a:off x="2362200" y="152400"/>
            <a:ext cx="7543800" cy="1094784"/>
          </a:xfrm>
        </p:spPr>
        <p:txBody>
          <a:bodyPr>
            <a:normAutofit/>
          </a:bodyPr>
          <a:lstStyle/>
          <a:p>
            <a:r>
              <a:rPr lang="en-US" sz="4400" dirty="0">
                <a:latin typeface="+mn-lt"/>
              </a:rPr>
              <a:t>Deep Learning</a:t>
            </a:r>
            <a:endParaRPr lang="x-none" sz="4400" dirty="0">
              <a:latin typeface="+mn-lt"/>
            </a:endParaRPr>
          </a:p>
        </p:txBody>
      </p:sp>
      <p:sp>
        <p:nvSpPr>
          <p:cNvPr id="3" name="Content Placeholder 2">
            <a:extLst>
              <a:ext uri="{FF2B5EF4-FFF2-40B4-BE49-F238E27FC236}">
                <a16:creationId xmlns:a16="http://schemas.microsoft.com/office/drawing/2014/main" id="{D4C748AB-C95E-4D43-939E-9B9B3A01DFAB}"/>
              </a:ext>
            </a:extLst>
          </p:cNvPr>
          <p:cNvSpPr>
            <a:spLocks noGrp="1"/>
          </p:cNvSpPr>
          <p:nvPr>
            <p:ph idx="1"/>
          </p:nvPr>
        </p:nvSpPr>
        <p:spPr>
          <a:xfrm>
            <a:off x="1828800" y="1234709"/>
            <a:ext cx="8610600" cy="5374185"/>
          </a:xfrm>
        </p:spPr>
        <p:txBody>
          <a:bodyPr>
            <a:normAutofit fontScale="92500"/>
          </a:bodyPr>
          <a:lstStyle/>
          <a:p>
            <a:pPr algn="just"/>
            <a:r>
              <a:rPr lang="en-US" sz="2000" dirty="0">
                <a:solidFill>
                  <a:srgbClr val="000000"/>
                </a:solidFill>
              </a:rPr>
              <a:t>Deep Learning uses ANN. First we will look at a few deep learning applications that will give you an idea of its power. </a:t>
            </a:r>
          </a:p>
          <a:p>
            <a:pPr marL="0" indent="0" algn="just">
              <a:buNone/>
            </a:pPr>
            <a:r>
              <a:rPr lang="en-US" sz="2000" b="1" dirty="0">
                <a:solidFill>
                  <a:srgbClr val="000000"/>
                </a:solidFill>
              </a:rPr>
              <a:t>Applications </a:t>
            </a:r>
            <a:endParaRPr lang="en-US" sz="2000" dirty="0">
              <a:solidFill>
                <a:srgbClr val="000000"/>
              </a:solidFill>
            </a:endParaRPr>
          </a:p>
          <a:p>
            <a:pPr marL="0" indent="0" algn="just">
              <a:buNone/>
            </a:pPr>
            <a:r>
              <a:rPr lang="en-US" sz="2000" dirty="0">
                <a:solidFill>
                  <a:srgbClr val="000000"/>
                </a:solidFill>
              </a:rPr>
              <a:t>Deep Learning has shown a lot of success in several areas of machine learning applications. </a:t>
            </a:r>
          </a:p>
          <a:p>
            <a:pPr algn="just"/>
            <a:r>
              <a:rPr lang="en-US" sz="2000" b="1" dirty="0">
                <a:solidFill>
                  <a:srgbClr val="000000"/>
                </a:solidFill>
              </a:rPr>
              <a:t>Self-driving Cars</a:t>
            </a:r>
            <a:r>
              <a:rPr lang="en-US" sz="2000" dirty="0">
                <a:solidFill>
                  <a:srgbClr val="000000"/>
                </a:solidFill>
              </a:rPr>
              <a:t>: The autonomous self-driving cars use deep learning techniques. They generally adapt to the ever changing traffic situations and get better and better at driving over a period of time. </a:t>
            </a:r>
          </a:p>
          <a:p>
            <a:pPr algn="just"/>
            <a:r>
              <a:rPr lang="en-US" sz="2000" b="1" dirty="0">
                <a:solidFill>
                  <a:srgbClr val="000000"/>
                </a:solidFill>
              </a:rPr>
              <a:t>Speech Recognition</a:t>
            </a:r>
            <a:r>
              <a:rPr lang="en-US" sz="2000" dirty="0">
                <a:solidFill>
                  <a:srgbClr val="000000"/>
                </a:solidFill>
              </a:rPr>
              <a:t>: Another interesting application of Deep Learning is speech recognition. All of us use several mobile apps today that are capable of recognizing our speech. Apple’s Siri, Amazon’s Alexa, Microsoft’s </a:t>
            </a:r>
            <a:r>
              <a:rPr lang="en-US" sz="2000" dirty="0" err="1">
                <a:solidFill>
                  <a:srgbClr val="000000"/>
                </a:solidFill>
              </a:rPr>
              <a:t>Cortena</a:t>
            </a:r>
            <a:r>
              <a:rPr lang="en-US" sz="2000" dirty="0">
                <a:solidFill>
                  <a:srgbClr val="000000"/>
                </a:solidFill>
              </a:rPr>
              <a:t> and Google’s Assistant – all these use deep learning techniques. </a:t>
            </a:r>
          </a:p>
          <a:p>
            <a:pPr algn="just"/>
            <a:r>
              <a:rPr lang="en-US" sz="2000" b="1" dirty="0">
                <a:solidFill>
                  <a:srgbClr val="000000"/>
                </a:solidFill>
              </a:rPr>
              <a:t>Mobile Apps</a:t>
            </a:r>
            <a:r>
              <a:rPr lang="en-US" sz="2000" dirty="0">
                <a:solidFill>
                  <a:srgbClr val="000000"/>
                </a:solidFill>
              </a:rPr>
              <a:t>: We use several web-based and mobile apps for organizing our photos. Face detection, face ID, face tagging, identifying objects in an image – all these use deep learning. </a:t>
            </a:r>
            <a:endParaRPr lang="en-US" sz="2400" dirty="0">
              <a:solidFill>
                <a:srgbClr val="000000"/>
              </a:solidFill>
            </a:endParaRPr>
          </a:p>
        </p:txBody>
      </p:sp>
    </p:spTree>
    <p:extLst>
      <p:ext uri="{BB962C8B-B14F-4D97-AF65-F5344CB8AC3E}">
        <p14:creationId xmlns:p14="http://schemas.microsoft.com/office/powerpoint/2010/main" val="95732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6B88-81D6-4632-9BA3-02ED94D3A915}"/>
              </a:ext>
            </a:extLst>
          </p:cNvPr>
          <p:cNvSpPr>
            <a:spLocks noGrp="1"/>
          </p:cNvSpPr>
          <p:nvPr>
            <p:ph type="title"/>
          </p:nvPr>
        </p:nvSpPr>
        <p:spPr>
          <a:xfrm>
            <a:off x="2362200" y="76200"/>
            <a:ext cx="7543800" cy="1094784"/>
          </a:xfrm>
        </p:spPr>
        <p:txBody>
          <a:bodyPr>
            <a:normAutofit/>
          </a:bodyPr>
          <a:lstStyle/>
          <a:p>
            <a:r>
              <a:rPr lang="en-US" sz="4400" dirty="0">
                <a:latin typeface="+mn-lt"/>
              </a:rPr>
              <a:t>Deep Learning</a:t>
            </a:r>
            <a:endParaRPr lang="x-none" sz="4400" dirty="0">
              <a:latin typeface="+mn-lt"/>
            </a:endParaRPr>
          </a:p>
        </p:txBody>
      </p:sp>
      <p:sp>
        <p:nvSpPr>
          <p:cNvPr id="3" name="Content Placeholder 2">
            <a:extLst>
              <a:ext uri="{FF2B5EF4-FFF2-40B4-BE49-F238E27FC236}">
                <a16:creationId xmlns:a16="http://schemas.microsoft.com/office/drawing/2014/main" id="{D4C748AB-C95E-4D43-939E-9B9B3A01DFAB}"/>
              </a:ext>
            </a:extLst>
          </p:cNvPr>
          <p:cNvSpPr>
            <a:spLocks noGrp="1"/>
          </p:cNvSpPr>
          <p:nvPr>
            <p:ph idx="1"/>
          </p:nvPr>
        </p:nvSpPr>
        <p:spPr>
          <a:xfrm>
            <a:off x="1828800" y="1234709"/>
            <a:ext cx="8686800" cy="5374185"/>
          </a:xfrm>
        </p:spPr>
        <p:txBody>
          <a:bodyPr>
            <a:noAutofit/>
          </a:bodyPr>
          <a:lstStyle/>
          <a:p>
            <a:pPr marL="0" indent="0" algn="just">
              <a:lnSpc>
                <a:spcPct val="150000"/>
              </a:lnSpc>
              <a:buNone/>
            </a:pPr>
            <a:r>
              <a:rPr lang="en-US" sz="2000" b="1" dirty="0">
                <a:solidFill>
                  <a:srgbClr val="000000"/>
                </a:solidFill>
              </a:rPr>
              <a:t>Untapped Opportunities of Deep Learning </a:t>
            </a:r>
            <a:endParaRPr lang="en-US" sz="2000" dirty="0">
              <a:solidFill>
                <a:srgbClr val="000000"/>
              </a:solidFill>
            </a:endParaRPr>
          </a:p>
          <a:p>
            <a:pPr algn="just">
              <a:lnSpc>
                <a:spcPct val="150000"/>
              </a:lnSpc>
            </a:pPr>
            <a:r>
              <a:rPr lang="en-US" sz="2000" dirty="0">
                <a:solidFill>
                  <a:srgbClr val="000000"/>
                </a:solidFill>
              </a:rPr>
              <a:t>Agriculture is one such industry where people can apply deep learning techniques to improve the crop yield. </a:t>
            </a:r>
          </a:p>
          <a:p>
            <a:pPr algn="just">
              <a:lnSpc>
                <a:spcPct val="150000"/>
              </a:lnSpc>
            </a:pPr>
            <a:r>
              <a:rPr lang="en-US" sz="2000" dirty="0">
                <a:solidFill>
                  <a:srgbClr val="000000"/>
                </a:solidFill>
              </a:rPr>
              <a:t>Consumer finance is another area where machine learning can greatly help in providing early detection on frauds and analyzing customer’s ability to pay. </a:t>
            </a:r>
          </a:p>
          <a:p>
            <a:pPr algn="just">
              <a:lnSpc>
                <a:spcPct val="150000"/>
              </a:lnSpc>
            </a:pPr>
            <a:r>
              <a:rPr lang="en-US" sz="2000" dirty="0">
                <a:solidFill>
                  <a:srgbClr val="000000"/>
                </a:solidFill>
              </a:rPr>
              <a:t>Deep learning techniques are also applied to the field of medicine to create new drugs and provide a personalized prescription to a patient. </a:t>
            </a:r>
          </a:p>
          <a:p>
            <a:pPr algn="just">
              <a:lnSpc>
                <a:spcPct val="150000"/>
              </a:lnSpc>
            </a:pPr>
            <a:r>
              <a:rPr lang="en-US" sz="2000" dirty="0">
                <a:solidFill>
                  <a:srgbClr val="000000"/>
                </a:solidFill>
              </a:rPr>
              <a:t>The possibilities are endless and one has to keep watching as the new ideas and developments pop up frequently. </a:t>
            </a:r>
            <a:endParaRPr lang="en-US" sz="2400" dirty="0">
              <a:solidFill>
                <a:srgbClr val="000000"/>
              </a:solidFill>
            </a:endParaRPr>
          </a:p>
        </p:txBody>
      </p:sp>
    </p:spTree>
    <p:extLst>
      <p:ext uri="{BB962C8B-B14F-4D97-AF65-F5344CB8AC3E}">
        <p14:creationId xmlns:p14="http://schemas.microsoft.com/office/powerpoint/2010/main" val="14733047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6B88-81D6-4632-9BA3-02ED94D3A915}"/>
              </a:ext>
            </a:extLst>
          </p:cNvPr>
          <p:cNvSpPr>
            <a:spLocks noGrp="1"/>
          </p:cNvSpPr>
          <p:nvPr>
            <p:ph type="title"/>
          </p:nvPr>
        </p:nvSpPr>
        <p:spPr>
          <a:xfrm>
            <a:off x="2440690" y="249107"/>
            <a:ext cx="7543800" cy="1094784"/>
          </a:xfrm>
        </p:spPr>
        <p:txBody>
          <a:bodyPr>
            <a:normAutofit/>
          </a:bodyPr>
          <a:lstStyle/>
          <a:p>
            <a:r>
              <a:rPr lang="en-US" sz="4400" dirty="0">
                <a:latin typeface="+mn-lt"/>
              </a:rPr>
              <a:t>Deep Learning</a:t>
            </a:r>
            <a:endParaRPr lang="x-none" sz="4400" dirty="0">
              <a:latin typeface="+mn-lt"/>
            </a:endParaRPr>
          </a:p>
        </p:txBody>
      </p:sp>
      <p:sp>
        <p:nvSpPr>
          <p:cNvPr id="3" name="Content Placeholder 2">
            <a:extLst>
              <a:ext uri="{FF2B5EF4-FFF2-40B4-BE49-F238E27FC236}">
                <a16:creationId xmlns:a16="http://schemas.microsoft.com/office/drawing/2014/main" id="{D4C748AB-C95E-4D43-939E-9B9B3A01DFAB}"/>
              </a:ext>
            </a:extLst>
          </p:cNvPr>
          <p:cNvSpPr>
            <a:spLocks noGrp="1"/>
          </p:cNvSpPr>
          <p:nvPr>
            <p:ph idx="1"/>
          </p:nvPr>
        </p:nvSpPr>
        <p:spPr>
          <a:xfrm>
            <a:off x="1905000" y="1234709"/>
            <a:ext cx="8686800" cy="5374185"/>
          </a:xfrm>
        </p:spPr>
        <p:txBody>
          <a:bodyPr>
            <a:normAutofit/>
          </a:bodyPr>
          <a:lstStyle/>
          <a:p>
            <a:pPr marL="0" indent="0" algn="just">
              <a:lnSpc>
                <a:spcPct val="150000"/>
              </a:lnSpc>
              <a:buNone/>
            </a:pPr>
            <a:r>
              <a:rPr lang="en-US" sz="2000" b="1" dirty="0">
                <a:solidFill>
                  <a:srgbClr val="000000"/>
                </a:solidFill>
              </a:rPr>
              <a:t>What is Required for Achieving More Using Deep Learning? </a:t>
            </a:r>
            <a:endParaRPr lang="en-US" sz="2000" dirty="0">
              <a:solidFill>
                <a:srgbClr val="000000"/>
              </a:solidFill>
            </a:endParaRPr>
          </a:p>
          <a:p>
            <a:pPr algn="just">
              <a:lnSpc>
                <a:spcPct val="150000"/>
              </a:lnSpc>
            </a:pPr>
            <a:r>
              <a:rPr lang="en-US" sz="2000" dirty="0">
                <a:solidFill>
                  <a:srgbClr val="000000"/>
                </a:solidFill>
              </a:rPr>
              <a:t>To use deep learning, supercomputing power is a mandatory requirement. You need both memory as well as the CPU to develop deep learning models. </a:t>
            </a:r>
          </a:p>
          <a:p>
            <a:pPr algn="just">
              <a:lnSpc>
                <a:spcPct val="150000"/>
              </a:lnSpc>
            </a:pPr>
            <a:r>
              <a:rPr lang="en-US" sz="2000" dirty="0">
                <a:solidFill>
                  <a:srgbClr val="000000"/>
                </a:solidFill>
              </a:rPr>
              <a:t>Fortunately, today we have an easy availability of HPC – High Performance Computing. </a:t>
            </a:r>
          </a:p>
          <a:p>
            <a:pPr algn="just">
              <a:lnSpc>
                <a:spcPct val="150000"/>
              </a:lnSpc>
            </a:pPr>
            <a:r>
              <a:rPr lang="en-US" sz="2000" dirty="0">
                <a:solidFill>
                  <a:srgbClr val="000000"/>
                </a:solidFill>
              </a:rPr>
              <a:t>Due to this, the development of the deep learning applications that we mentioned above became a reality today and in the future too we can see the applications in those untapped areas that we discussed earlier. </a:t>
            </a:r>
          </a:p>
        </p:txBody>
      </p:sp>
    </p:spTree>
    <p:extLst>
      <p:ext uri="{BB962C8B-B14F-4D97-AF65-F5344CB8AC3E}">
        <p14:creationId xmlns:p14="http://schemas.microsoft.com/office/powerpoint/2010/main" val="3830532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6B88-81D6-4632-9BA3-02ED94D3A915}"/>
              </a:ext>
            </a:extLst>
          </p:cNvPr>
          <p:cNvSpPr>
            <a:spLocks noGrp="1"/>
          </p:cNvSpPr>
          <p:nvPr>
            <p:ph type="title"/>
          </p:nvPr>
        </p:nvSpPr>
        <p:spPr>
          <a:xfrm>
            <a:off x="2440690" y="249107"/>
            <a:ext cx="7543800" cy="1094784"/>
          </a:xfrm>
        </p:spPr>
        <p:txBody>
          <a:bodyPr>
            <a:normAutofit/>
          </a:bodyPr>
          <a:lstStyle/>
          <a:p>
            <a:r>
              <a:rPr lang="en-US" sz="4400" dirty="0">
                <a:latin typeface="+mn-lt"/>
              </a:rPr>
              <a:t>Deep Learning</a:t>
            </a:r>
            <a:endParaRPr lang="x-none" sz="4400" dirty="0">
              <a:latin typeface="+mn-lt"/>
            </a:endParaRPr>
          </a:p>
        </p:txBody>
      </p:sp>
      <p:sp>
        <p:nvSpPr>
          <p:cNvPr id="3" name="Content Placeholder 2">
            <a:extLst>
              <a:ext uri="{FF2B5EF4-FFF2-40B4-BE49-F238E27FC236}">
                <a16:creationId xmlns:a16="http://schemas.microsoft.com/office/drawing/2014/main" id="{D4C748AB-C95E-4D43-939E-9B9B3A01DFAB}"/>
              </a:ext>
            </a:extLst>
          </p:cNvPr>
          <p:cNvSpPr>
            <a:spLocks noGrp="1"/>
          </p:cNvSpPr>
          <p:nvPr>
            <p:ph idx="1"/>
          </p:nvPr>
        </p:nvSpPr>
        <p:spPr>
          <a:xfrm>
            <a:off x="2057400" y="1447801"/>
            <a:ext cx="8077200" cy="5161093"/>
          </a:xfrm>
        </p:spPr>
        <p:txBody>
          <a:bodyPr>
            <a:normAutofit/>
          </a:bodyPr>
          <a:lstStyle/>
          <a:p>
            <a:pPr marL="0" indent="0" algn="just">
              <a:lnSpc>
                <a:spcPct val="150000"/>
              </a:lnSpc>
              <a:buNone/>
            </a:pPr>
            <a:r>
              <a:rPr lang="en-US" sz="2000" b="1" dirty="0">
                <a:solidFill>
                  <a:srgbClr val="000000"/>
                </a:solidFill>
              </a:rPr>
              <a:t>Deep Learning - Disadvantages </a:t>
            </a:r>
            <a:endParaRPr lang="en-US" sz="2000" dirty="0">
              <a:solidFill>
                <a:srgbClr val="000000"/>
              </a:solidFill>
            </a:endParaRPr>
          </a:p>
          <a:p>
            <a:pPr marL="0" indent="0" algn="just">
              <a:lnSpc>
                <a:spcPct val="150000"/>
              </a:lnSpc>
              <a:buNone/>
            </a:pPr>
            <a:r>
              <a:rPr lang="en-US" sz="2000" dirty="0">
                <a:solidFill>
                  <a:srgbClr val="000000"/>
                </a:solidFill>
              </a:rPr>
              <a:t>Some of the important points that you need to consider before using deep learning are listed below: </a:t>
            </a:r>
          </a:p>
          <a:p>
            <a:pPr algn="just">
              <a:lnSpc>
                <a:spcPct val="150000"/>
              </a:lnSpc>
            </a:pPr>
            <a:r>
              <a:rPr lang="en-US" sz="2000" dirty="0">
                <a:solidFill>
                  <a:srgbClr val="000000"/>
                </a:solidFill>
              </a:rPr>
              <a:t>Black Box approach </a:t>
            </a:r>
          </a:p>
          <a:p>
            <a:pPr algn="just">
              <a:lnSpc>
                <a:spcPct val="150000"/>
              </a:lnSpc>
            </a:pPr>
            <a:r>
              <a:rPr lang="en-US" sz="2000" dirty="0">
                <a:solidFill>
                  <a:srgbClr val="000000"/>
                </a:solidFill>
              </a:rPr>
              <a:t>Duration of Development </a:t>
            </a:r>
          </a:p>
          <a:p>
            <a:pPr algn="just">
              <a:lnSpc>
                <a:spcPct val="150000"/>
              </a:lnSpc>
            </a:pPr>
            <a:r>
              <a:rPr lang="en-US" sz="2000" dirty="0">
                <a:solidFill>
                  <a:srgbClr val="000000"/>
                </a:solidFill>
              </a:rPr>
              <a:t>Amount of Data </a:t>
            </a:r>
          </a:p>
          <a:p>
            <a:pPr algn="just">
              <a:lnSpc>
                <a:spcPct val="150000"/>
              </a:lnSpc>
            </a:pPr>
            <a:r>
              <a:rPr lang="en-US" sz="2000" dirty="0">
                <a:solidFill>
                  <a:srgbClr val="000000"/>
                </a:solidFill>
              </a:rPr>
              <a:t>Computationally Expensive </a:t>
            </a:r>
          </a:p>
          <a:p>
            <a:pPr algn="just">
              <a:lnSpc>
                <a:spcPct val="150000"/>
              </a:lnSpc>
            </a:pPr>
            <a:endParaRPr lang="en-US" sz="2000" dirty="0">
              <a:solidFill>
                <a:srgbClr val="000000"/>
              </a:solidFill>
            </a:endParaRPr>
          </a:p>
        </p:txBody>
      </p:sp>
    </p:spTree>
    <p:extLst>
      <p:ext uri="{BB962C8B-B14F-4D97-AF65-F5344CB8AC3E}">
        <p14:creationId xmlns:p14="http://schemas.microsoft.com/office/powerpoint/2010/main" val="16082931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450839"/>
            <a:ext cx="7543800" cy="689932"/>
          </a:xfrm>
          <a:prstGeom prst="rect">
            <a:avLst/>
          </a:prstGeom>
        </p:spPr>
        <p:txBody>
          <a:bodyPr vert="horz" wrap="square" lIns="0" tIns="12700" rIns="0" bIns="0" rtlCol="0" anchor="t">
            <a:spAutoFit/>
          </a:bodyPr>
          <a:lstStyle/>
          <a:p>
            <a:pPr marL="12700">
              <a:spcBef>
                <a:spcPts val="100"/>
              </a:spcBef>
            </a:pPr>
            <a:r>
              <a:rPr sz="4400" dirty="0">
                <a:latin typeface="+mn-lt"/>
                <a:cs typeface="Calibri"/>
              </a:rPr>
              <a:t>ML</a:t>
            </a:r>
            <a:r>
              <a:rPr sz="4400" spc="-30" dirty="0">
                <a:latin typeface="+mn-lt"/>
                <a:cs typeface="Calibri"/>
              </a:rPr>
              <a:t> </a:t>
            </a:r>
            <a:r>
              <a:rPr sz="4400" spc="-5" dirty="0">
                <a:latin typeface="+mn-lt"/>
                <a:cs typeface="Calibri"/>
              </a:rPr>
              <a:t>in</a:t>
            </a:r>
            <a:r>
              <a:rPr sz="4400" spc="-20" dirty="0">
                <a:latin typeface="+mn-lt"/>
                <a:cs typeface="Calibri"/>
              </a:rPr>
              <a:t> </a:t>
            </a:r>
            <a:r>
              <a:rPr sz="4400" dirty="0">
                <a:latin typeface="+mn-lt"/>
                <a:cs typeface="Calibri"/>
              </a:rPr>
              <a:t>a</a:t>
            </a:r>
            <a:r>
              <a:rPr sz="4400" spc="-20" dirty="0">
                <a:latin typeface="+mn-lt"/>
                <a:cs typeface="Calibri"/>
              </a:rPr>
              <a:t> </a:t>
            </a:r>
            <a:r>
              <a:rPr sz="4400" spc="-5" dirty="0">
                <a:latin typeface="+mn-lt"/>
                <a:cs typeface="Calibri"/>
              </a:rPr>
              <a:t>Nutshell</a:t>
            </a:r>
          </a:p>
        </p:txBody>
      </p:sp>
      <p:sp>
        <p:nvSpPr>
          <p:cNvPr id="3" name="object 3"/>
          <p:cNvSpPr txBox="1"/>
          <p:nvPr/>
        </p:nvSpPr>
        <p:spPr>
          <a:xfrm>
            <a:off x="2059941" y="1125221"/>
            <a:ext cx="7475855" cy="3598421"/>
          </a:xfrm>
          <a:prstGeom prst="rect">
            <a:avLst/>
          </a:prstGeom>
        </p:spPr>
        <p:txBody>
          <a:bodyPr vert="horz" wrap="square" lIns="0" tIns="33020" rIns="0" bIns="0" rtlCol="0">
            <a:spAutoFit/>
          </a:bodyPr>
          <a:lstStyle/>
          <a:p>
            <a:pPr marL="355600" marR="756920" indent="-342900" algn="just">
              <a:lnSpc>
                <a:spcPct val="150000"/>
              </a:lnSpc>
              <a:spcBef>
                <a:spcPts val="260"/>
              </a:spcBef>
              <a:buFont typeface="Arial MT"/>
              <a:buChar char="•"/>
              <a:tabLst>
                <a:tab pos="354965" algn="l"/>
                <a:tab pos="355600" algn="l"/>
              </a:tabLst>
            </a:pPr>
            <a:r>
              <a:rPr sz="2000" spc="-75" dirty="0">
                <a:cs typeface="Calibri"/>
              </a:rPr>
              <a:t>Tens</a:t>
            </a:r>
            <a:r>
              <a:rPr sz="2000" spc="-20" dirty="0">
                <a:cs typeface="Calibri"/>
              </a:rPr>
              <a:t> </a:t>
            </a:r>
            <a:r>
              <a:rPr sz="2000" spc="-5" dirty="0">
                <a:cs typeface="Calibri"/>
              </a:rPr>
              <a:t>of</a:t>
            </a:r>
            <a:r>
              <a:rPr sz="2000" spc="-15" dirty="0">
                <a:cs typeface="Calibri"/>
              </a:rPr>
              <a:t> </a:t>
            </a:r>
            <a:r>
              <a:rPr sz="2000" dirty="0">
                <a:cs typeface="Calibri"/>
              </a:rPr>
              <a:t>thousands</a:t>
            </a:r>
            <a:r>
              <a:rPr sz="2000" spc="-15" dirty="0">
                <a:cs typeface="Calibri"/>
              </a:rPr>
              <a:t> </a:t>
            </a:r>
            <a:r>
              <a:rPr sz="2000" spc="-5" dirty="0">
                <a:cs typeface="Calibri"/>
              </a:rPr>
              <a:t>of</a:t>
            </a:r>
            <a:r>
              <a:rPr sz="2000" spc="-15" dirty="0">
                <a:cs typeface="Calibri"/>
              </a:rPr>
              <a:t> </a:t>
            </a:r>
            <a:r>
              <a:rPr sz="2000" dirty="0">
                <a:cs typeface="Calibri"/>
              </a:rPr>
              <a:t>machine</a:t>
            </a:r>
            <a:r>
              <a:rPr sz="2000" spc="-15" dirty="0">
                <a:cs typeface="Calibri"/>
              </a:rPr>
              <a:t> </a:t>
            </a:r>
            <a:r>
              <a:rPr sz="2000" dirty="0">
                <a:cs typeface="Calibri"/>
              </a:rPr>
              <a:t>learning </a:t>
            </a:r>
            <a:r>
              <a:rPr sz="2000" spc="-710" dirty="0">
                <a:cs typeface="Calibri"/>
              </a:rPr>
              <a:t> </a:t>
            </a:r>
            <a:r>
              <a:rPr sz="2000" spc="-5" dirty="0">
                <a:cs typeface="Calibri"/>
              </a:rPr>
              <a:t>algorithms</a:t>
            </a:r>
            <a:endParaRPr sz="2000" dirty="0">
              <a:cs typeface="Calibri"/>
            </a:endParaRPr>
          </a:p>
          <a:p>
            <a:pPr marL="755650" lvl="1" indent="-285750" algn="just">
              <a:lnSpc>
                <a:spcPct val="150000"/>
              </a:lnSpc>
              <a:spcBef>
                <a:spcPts val="640"/>
              </a:spcBef>
              <a:buFont typeface="Arial MT"/>
              <a:buChar char="–"/>
              <a:tabLst>
                <a:tab pos="755650" algn="l"/>
              </a:tabLst>
            </a:pPr>
            <a:r>
              <a:rPr sz="2000" spc="-5" dirty="0">
                <a:cs typeface="Calibri"/>
              </a:rPr>
              <a:t>Hundreds</a:t>
            </a:r>
            <a:r>
              <a:rPr sz="2000" spc="-10" dirty="0">
                <a:cs typeface="Calibri"/>
              </a:rPr>
              <a:t> new </a:t>
            </a:r>
            <a:r>
              <a:rPr sz="2000" spc="-15" dirty="0">
                <a:cs typeface="Calibri"/>
              </a:rPr>
              <a:t>every</a:t>
            </a:r>
            <a:r>
              <a:rPr sz="2000" spc="-10" dirty="0">
                <a:cs typeface="Calibri"/>
              </a:rPr>
              <a:t> </a:t>
            </a:r>
            <a:r>
              <a:rPr sz="2000" spc="-15" dirty="0">
                <a:cs typeface="Calibri"/>
              </a:rPr>
              <a:t>year</a:t>
            </a:r>
            <a:endParaRPr sz="2000" dirty="0">
              <a:cs typeface="Calibri"/>
            </a:endParaRPr>
          </a:p>
          <a:p>
            <a:pPr lvl="1" algn="just">
              <a:lnSpc>
                <a:spcPct val="150000"/>
              </a:lnSpc>
              <a:spcBef>
                <a:spcPts val="40"/>
              </a:spcBef>
              <a:buFont typeface="Arial MT"/>
              <a:buChar char="–"/>
            </a:pPr>
            <a:endParaRPr sz="2000" dirty="0">
              <a:cs typeface="Calibri"/>
            </a:endParaRPr>
          </a:p>
          <a:p>
            <a:pPr marL="355600" indent="-342900" algn="just">
              <a:lnSpc>
                <a:spcPct val="150000"/>
              </a:lnSpc>
              <a:buFont typeface="Arial MT"/>
              <a:buChar char="•"/>
              <a:tabLst>
                <a:tab pos="354965" algn="l"/>
                <a:tab pos="355600" algn="l"/>
              </a:tabLst>
            </a:pPr>
            <a:r>
              <a:rPr sz="2000" spc="-25" dirty="0">
                <a:cs typeface="Calibri"/>
              </a:rPr>
              <a:t>Every</a:t>
            </a:r>
            <a:r>
              <a:rPr sz="2000" spc="5" dirty="0">
                <a:cs typeface="Calibri"/>
              </a:rPr>
              <a:t> </a:t>
            </a:r>
            <a:r>
              <a:rPr sz="2000" dirty="0">
                <a:cs typeface="Calibri"/>
              </a:rPr>
              <a:t>ML</a:t>
            </a:r>
            <a:r>
              <a:rPr sz="2000" spc="5" dirty="0">
                <a:cs typeface="Calibri"/>
              </a:rPr>
              <a:t> </a:t>
            </a:r>
            <a:r>
              <a:rPr sz="2000" spc="-5" dirty="0">
                <a:cs typeface="Calibri"/>
              </a:rPr>
              <a:t>algorithm</a:t>
            </a:r>
            <a:r>
              <a:rPr sz="2000" spc="5" dirty="0">
                <a:cs typeface="Calibri"/>
              </a:rPr>
              <a:t> </a:t>
            </a:r>
            <a:r>
              <a:rPr sz="2000" dirty="0">
                <a:cs typeface="Calibri"/>
              </a:rPr>
              <a:t>has</a:t>
            </a:r>
            <a:r>
              <a:rPr sz="2000" spc="-5" dirty="0">
                <a:cs typeface="Calibri"/>
              </a:rPr>
              <a:t> </a:t>
            </a:r>
            <a:r>
              <a:rPr sz="2000" spc="-10" dirty="0">
                <a:cs typeface="Calibri"/>
              </a:rPr>
              <a:t>three</a:t>
            </a:r>
            <a:r>
              <a:rPr sz="2000" spc="-5" dirty="0">
                <a:cs typeface="Calibri"/>
              </a:rPr>
              <a:t> </a:t>
            </a:r>
            <a:r>
              <a:rPr sz="2000" spc="-10" dirty="0">
                <a:cs typeface="Calibri"/>
              </a:rPr>
              <a:t>components:</a:t>
            </a:r>
            <a:endParaRPr sz="2000" dirty="0">
              <a:cs typeface="Calibri"/>
            </a:endParaRPr>
          </a:p>
          <a:p>
            <a:pPr marL="755650" lvl="1" indent="-285750" algn="just">
              <a:lnSpc>
                <a:spcPct val="150000"/>
              </a:lnSpc>
              <a:spcBef>
                <a:spcPts val="660"/>
              </a:spcBef>
              <a:buFont typeface="Arial MT"/>
              <a:buChar char="–"/>
              <a:tabLst>
                <a:tab pos="755650" algn="l"/>
              </a:tabLst>
            </a:pPr>
            <a:r>
              <a:rPr sz="2000" b="1" spc="-15" dirty="0">
                <a:cs typeface="Calibri"/>
              </a:rPr>
              <a:t>Representation</a:t>
            </a:r>
            <a:endParaRPr sz="2000" dirty="0">
              <a:cs typeface="Calibri"/>
            </a:endParaRPr>
          </a:p>
          <a:p>
            <a:pPr marL="755650" lvl="1" indent="-285750" algn="just">
              <a:lnSpc>
                <a:spcPct val="150000"/>
              </a:lnSpc>
              <a:spcBef>
                <a:spcPts val="740"/>
              </a:spcBef>
              <a:buFont typeface="Arial MT"/>
              <a:buChar char="–"/>
              <a:tabLst>
                <a:tab pos="755650" algn="l"/>
              </a:tabLst>
            </a:pPr>
            <a:r>
              <a:rPr sz="2000" b="1" spc="-10" dirty="0">
                <a:cs typeface="Calibri"/>
              </a:rPr>
              <a:t>Optimization</a:t>
            </a:r>
            <a:endParaRPr sz="2000" dirty="0">
              <a:cs typeface="Calibri"/>
            </a:endParaRPr>
          </a:p>
          <a:p>
            <a:pPr marL="755650" lvl="1" indent="-285750" algn="just">
              <a:lnSpc>
                <a:spcPct val="150000"/>
              </a:lnSpc>
              <a:spcBef>
                <a:spcPts val="640"/>
              </a:spcBef>
              <a:buFont typeface="Arial MT"/>
              <a:buChar char="–"/>
              <a:tabLst>
                <a:tab pos="755650" algn="l"/>
              </a:tabLst>
            </a:pPr>
            <a:r>
              <a:rPr sz="2000" b="1" spc="-15" dirty="0">
                <a:cs typeface="Calibri"/>
              </a:rPr>
              <a:t>Evaluation</a:t>
            </a:r>
            <a:endParaRPr sz="2000" dirty="0">
              <a:cs typeface="Calibri"/>
            </a:endParaRPr>
          </a:p>
        </p:txBody>
      </p:sp>
      <p:sp>
        <p:nvSpPr>
          <p:cNvPr id="4" name="object 4"/>
          <p:cNvSpPr txBox="1"/>
          <p:nvPr/>
        </p:nvSpPr>
        <p:spPr>
          <a:xfrm>
            <a:off x="1602740" y="6569511"/>
            <a:ext cx="3426461" cy="259045"/>
          </a:xfrm>
          <a:prstGeom prst="rect">
            <a:avLst/>
          </a:prstGeom>
        </p:spPr>
        <p:txBody>
          <a:bodyPr vert="horz" wrap="square" lIns="0" tIns="12700" rIns="0" bIns="0" rtlCol="0">
            <a:spAutoFit/>
          </a:bodyPr>
          <a:lstStyle/>
          <a:p>
            <a:pPr marL="12700">
              <a:spcBef>
                <a:spcPts val="100"/>
              </a:spcBef>
            </a:pPr>
            <a:r>
              <a:rPr sz="1600" spc="-5" dirty="0">
                <a:cs typeface="Calibri"/>
              </a:rPr>
              <a:t>Slide</a:t>
            </a:r>
            <a:r>
              <a:rPr sz="1600" spc="-15" dirty="0">
                <a:cs typeface="Calibri"/>
              </a:rPr>
              <a:t> </a:t>
            </a:r>
            <a:r>
              <a:rPr sz="1600" spc="-5" dirty="0">
                <a:cs typeface="Calibri"/>
              </a:rPr>
              <a:t>credit:</a:t>
            </a:r>
            <a:r>
              <a:rPr sz="1600" spc="-10" dirty="0">
                <a:cs typeface="Calibri"/>
              </a:rPr>
              <a:t> </a:t>
            </a:r>
            <a:r>
              <a:rPr sz="1600" spc="-15" dirty="0">
                <a:cs typeface="Calibri"/>
              </a:rPr>
              <a:t>Pedro</a:t>
            </a:r>
            <a:r>
              <a:rPr sz="1600" spc="-20" dirty="0">
                <a:cs typeface="Calibri"/>
              </a:rPr>
              <a:t> </a:t>
            </a:r>
            <a:r>
              <a:rPr sz="1600" spc="-5" dirty="0">
                <a:cs typeface="Calibri"/>
              </a:rPr>
              <a:t>Domingos</a:t>
            </a:r>
            <a:endParaRPr sz="1600" dirty="0">
              <a:cs typeface="Calibri"/>
            </a:endParaRPr>
          </a:p>
        </p:txBody>
      </p:sp>
    </p:spTree>
    <p:extLst>
      <p:ext uri="{BB962C8B-B14F-4D97-AF65-F5344CB8AC3E}">
        <p14:creationId xmlns:p14="http://schemas.microsoft.com/office/powerpoint/2010/main" val="1214956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463229"/>
            <a:ext cx="9566564" cy="689932"/>
          </a:xfrm>
          <a:prstGeom prst="rect">
            <a:avLst/>
          </a:prstGeom>
        </p:spPr>
        <p:txBody>
          <a:bodyPr vert="horz" wrap="square" lIns="0" tIns="12700" rIns="0" bIns="0" rtlCol="0" anchor="t">
            <a:spAutoFit/>
          </a:bodyPr>
          <a:lstStyle/>
          <a:p>
            <a:pPr marL="12700">
              <a:spcBef>
                <a:spcPts val="100"/>
              </a:spcBef>
            </a:pPr>
            <a:r>
              <a:rPr sz="4400" spc="-35" dirty="0">
                <a:latin typeface="+mn-lt"/>
              </a:rPr>
              <a:t>Various</a:t>
            </a:r>
            <a:r>
              <a:rPr sz="4400" spc="-25" dirty="0">
                <a:latin typeface="+mn-lt"/>
              </a:rPr>
              <a:t> </a:t>
            </a:r>
            <a:r>
              <a:rPr sz="4400" spc="-5" dirty="0">
                <a:latin typeface="+mn-lt"/>
              </a:rPr>
              <a:t>Function</a:t>
            </a:r>
            <a:r>
              <a:rPr sz="4400" spc="-30" dirty="0">
                <a:latin typeface="+mn-lt"/>
              </a:rPr>
              <a:t> </a:t>
            </a:r>
            <a:r>
              <a:rPr sz="4400" spc="-20" dirty="0">
                <a:latin typeface="+mn-lt"/>
              </a:rPr>
              <a:t>Representations</a:t>
            </a:r>
          </a:p>
        </p:txBody>
      </p:sp>
      <p:sp>
        <p:nvSpPr>
          <p:cNvPr id="3" name="object 3"/>
          <p:cNvSpPr txBox="1"/>
          <p:nvPr/>
        </p:nvSpPr>
        <p:spPr>
          <a:xfrm>
            <a:off x="2288540" y="1328420"/>
            <a:ext cx="4925060" cy="5321970"/>
          </a:xfrm>
          <a:prstGeom prst="rect">
            <a:avLst/>
          </a:prstGeom>
        </p:spPr>
        <p:txBody>
          <a:bodyPr vert="horz" wrap="square" lIns="0" tIns="12700" rIns="0" bIns="0" rtlCol="0">
            <a:spAutoFit/>
          </a:bodyPr>
          <a:lstStyle/>
          <a:p>
            <a:pPr marL="355600" indent="-342900" algn="just">
              <a:spcBef>
                <a:spcPts val="100"/>
              </a:spcBef>
              <a:buFont typeface="Arial MT"/>
              <a:buChar char="•"/>
              <a:tabLst>
                <a:tab pos="354965" algn="l"/>
                <a:tab pos="355600" algn="l"/>
              </a:tabLst>
            </a:pPr>
            <a:r>
              <a:rPr sz="2000" spc="-5" dirty="0">
                <a:cs typeface="Calibri"/>
              </a:rPr>
              <a:t>Numerical</a:t>
            </a:r>
            <a:r>
              <a:rPr sz="2000" spc="-25" dirty="0">
                <a:cs typeface="Calibri"/>
              </a:rPr>
              <a:t> </a:t>
            </a:r>
            <a:r>
              <a:rPr sz="2000" spc="-5" dirty="0">
                <a:cs typeface="Calibri"/>
              </a:rPr>
              <a:t>functions</a:t>
            </a:r>
            <a:endParaRPr sz="2000" dirty="0">
              <a:cs typeface="Calibri"/>
            </a:endParaRPr>
          </a:p>
          <a:p>
            <a:pPr marL="755650" lvl="1" indent="-285750" algn="just">
              <a:buFont typeface="Arial MT"/>
              <a:buChar char="–"/>
              <a:tabLst>
                <a:tab pos="755015" algn="l"/>
                <a:tab pos="755650" algn="l"/>
              </a:tabLst>
            </a:pPr>
            <a:r>
              <a:rPr sz="2000" dirty="0">
                <a:cs typeface="Calibri"/>
              </a:rPr>
              <a:t>Linear</a:t>
            </a:r>
            <a:r>
              <a:rPr sz="2000" spc="-30" dirty="0">
                <a:cs typeface="Calibri"/>
              </a:rPr>
              <a:t> </a:t>
            </a:r>
            <a:r>
              <a:rPr sz="2000" spc="-10" dirty="0">
                <a:cs typeface="Calibri"/>
              </a:rPr>
              <a:t>regression</a:t>
            </a:r>
            <a:endParaRPr sz="2000" dirty="0">
              <a:cs typeface="Calibri"/>
            </a:endParaRPr>
          </a:p>
          <a:p>
            <a:pPr marL="755650" lvl="1" indent="-285750" algn="just">
              <a:spcBef>
                <a:spcPts val="40"/>
              </a:spcBef>
              <a:buFont typeface="Arial MT"/>
              <a:buChar char="–"/>
              <a:tabLst>
                <a:tab pos="755015" algn="l"/>
                <a:tab pos="755650" algn="l"/>
              </a:tabLst>
            </a:pPr>
            <a:r>
              <a:rPr sz="2000" spc="-10" dirty="0">
                <a:cs typeface="Calibri"/>
              </a:rPr>
              <a:t>Neural</a:t>
            </a:r>
            <a:r>
              <a:rPr sz="2000" spc="-25" dirty="0">
                <a:cs typeface="Calibri"/>
              </a:rPr>
              <a:t> </a:t>
            </a:r>
            <a:r>
              <a:rPr sz="2000" spc="-10" dirty="0">
                <a:cs typeface="Calibri"/>
              </a:rPr>
              <a:t>networks</a:t>
            </a:r>
            <a:endParaRPr sz="2000" dirty="0">
              <a:cs typeface="Calibri"/>
            </a:endParaRPr>
          </a:p>
          <a:p>
            <a:pPr marL="755650" lvl="1" indent="-285750" algn="just">
              <a:lnSpc>
                <a:spcPts val="2130"/>
              </a:lnSpc>
              <a:spcBef>
                <a:spcPts val="40"/>
              </a:spcBef>
              <a:buFont typeface="Arial MT"/>
              <a:buChar char="–"/>
              <a:tabLst>
                <a:tab pos="755015" algn="l"/>
                <a:tab pos="755650" algn="l"/>
              </a:tabLst>
            </a:pPr>
            <a:r>
              <a:rPr sz="2000" dirty="0">
                <a:cs typeface="Calibri"/>
              </a:rPr>
              <a:t>Support</a:t>
            </a:r>
            <a:r>
              <a:rPr sz="2000" spc="-25" dirty="0">
                <a:cs typeface="Calibri"/>
              </a:rPr>
              <a:t> </a:t>
            </a:r>
            <a:r>
              <a:rPr sz="2000" spc="-10" dirty="0">
                <a:cs typeface="Calibri"/>
              </a:rPr>
              <a:t>vector</a:t>
            </a:r>
            <a:r>
              <a:rPr sz="2000" spc="-20" dirty="0">
                <a:cs typeface="Calibri"/>
              </a:rPr>
              <a:t> </a:t>
            </a:r>
            <a:r>
              <a:rPr sz="2000" dirty="0">
                <a:cs typeface="Calibri"/>
              </a:rPr>
              <a:t>machines</a:t>
            </a:r>
          </a:p>
          <a:p>
            <a:pPr marL="355600" indent="-342900" algn="just">
              <a:lnSpc>
                <a:spcPts val="2370"/>
              </a:lnSpc>
              <a:buFont typeface="Arial MT"/>
              <a:buChar char="•"/>
              <a:tabLst>
                <a:tab pos="354965" algn="l"/>
                <a:tab pos="355600" algn="l"/>
              </a:tabLst>
            </a:pPr>
            <a:r>
              <a:rPr sz="2000" spc="-5" dirty="0">
                <a:cs typeface="Calibri"/>
              </a:rPr>
              <a:t>Symbolic</a:t>
            </a:r>
            <a:r>
              <a:rPr sz="2000" spc="-35" dirty="0">
                <a:cs typeface="Calibri"/>
              </a:rPr>
              <a:t> </a:t>
            </a:r>
            <a:r>
              <a:rPr sz="2000" spc="-5" dirty="0">
                <a:cs typeface="Calibri"/>
              </a:rPr>
              <a:t>functions</a:t>
            </a:r>
            <a:endParaRPr sz="2000" dirty="0">
              <a:cs typeface="Calibri"/>
            </a:endParaRPr>
          </a:p>
          <a:p>
            <a:pPr marL="755650" lvl="1" indent="-285750" algn="just">
              <a:buFont typeface="Arial MT"/>
              <a:buChar char="–"/>
              <a:tabLst>
                <a:tab pos="755015" algn="l"/>
                <a:tab pos="755650" algn="l"/>
              </a:tabLst>
            </a:pPr>
            <a:r>
              <a:rPr sz="2000" spc="-5" dirty="0">
                <a:cs typeface="Calibri"/>
              </a:rPr>
              <a:t>Decision</a:t>
            </a:r>
            <a:r>
              <a:rPr sz="2000" spc="-20" dirty="0">
                <a:cs typeface="Calibri"/>
              </a:rPr>
              <a:t> </a:t>
            </a:r>
            <a:r>
              <a:rPr sz="2000" spc="-10" dirty="0">
                <a:cs typeface="Calibri"/>
              </a:rPr>
              <a:t>trees</a:t>
            </a:r>
            <a:endParaRPr sz="2000" dirty="0">
              <a:cs typeface="Calibri"/>
            </a:endParaRPr>
          </a:p>
          <a:p>
            <a:pPr marL="755650" lvl="1" indent="-285750" algn="just">
              <a:lnSpc>
                <a:spcPts val="2130"/>
              </a:lnSpc>
              <a:spcBef>
                <a:spcPts val="40"/>
              </a:spcBef>
              <a:buFont typeface="Arial MT"/>
              <a:buChar char="–"/>
              <a:tabLst>
                <a:tab pos="755015" algn="l"/>
                <a:tab pos="755650" algn="l"/>
              </a:tabLst>
            </a:pPr>
            <a:r>
              <a:rPr sz="2000" spc="-5" dirty="0">
                <a:cs typeface="Calibri"/>
              </a:rPr>
              <a:t>Rules</a:t>
            </a:r>
            <a:r>
              <a:rPr sz="2000" spc="-15" dirty="0">
                <a:cs typeface="Calibri"/>
              </a:rPr>
              <a:t> </a:t>
            </a:r>
            <a:r>
              <a:rPr sz="2000" dirty="0">
                <a:cs typeface="Calibri"/>
              </a:rPr>
              <a:t>in</a:t>
            </a:r>
            <a:r>
              <a:rPr sz="2000" spc="-5" dirty="0">
                <a:cs typeface="Calibri"/>
              </a:rPr>
              <a:t> propositional</a:t>
            </a:r>
            <a:r>
              <a:rPr sz="2000" spc="-10" dirty="0">
                <a:cs typeface="Calibri"/>
              </a:rPr>
              <a:t> </a:t>
            </a:r>
            <a:r>
              <a:rPr sz="2000" dirty="0">
                <a:cs typeface="Calibri"/>
              </a:rPr>
              <a:t>logic</a:t>
            </a:r>
          </a:p>
          <a:p>
            <a:pPr marL="755650" lvl="1" indent="-285750" algn="just">
              <a:lnSpc>
                <a:spcPts val="2130"/>
              </a:lnSpc>
              <a:buFont typeface="Arial MT"/>
              <a:buChar char="–"/>
              <a:tabLst>
                <a:tab pos="755015" algn="l"/>
                <a:tab pos="755650" algn="l"/>
              </a:tabLst>
            </a:pPr>
            <a:r>
              <a:rPr sz="2000" spc="-5" dirty="0">
                <a:cs typeface="Calibri"/>
              </a:rPr>
              <a:t>Rules </a:t>
            </a:r>
            <a:r>
              <a:rPr sz="2000" dirty="0">
                <a:cs typeface="Calibri"/>
              </a:rPr>
              <a:t>in</a:t>
            </a:r>
            <a:r>
              <a:rPr sz="2000" spc="5" dirty="0">
                <a:cs typeface="Calibri"/>
              </a:rPr>
              <a:t> </a:t>
            </a:r>
            <a:r>
              <a:rPr sz="2000" spc="-15" dirty="0">
                <a:cs typeface="Calibri"/>
              </a:rPr>
              <a:t>first-order</a:t>
            </a:r>
            <a:r>
              <a:rPr sz="2000" spc="-5" dirty="0">
                <a:cs typeface="Calibri"/>
              </a:rPr>
              <a:t> </a:t>
            </a:r>
            <a:r>
              <a:rPr sz="2000" spc="-15" dirty="0">
                <a:cs typeface="Calibri"/>
              </a:rPr>
              <a:t>predicate</a:t>
            </a:r>
            <a:r>
              <a:rPr sz="2000" spc="5" dirty="0">
                <a:cs typeface="Calibri"/>
              </a:rPr>
              <a:t> </a:t>
            </a:r>
            <a:r>
              <a:rPr sz="2000" spc="-5" dirty="0">
                <a:cs typeface="Calibri"/>
              </a:rPr>
              <a:t>logic</a:t>
            </a:r>
            <a:endParaRPr sz="2000" dirty="0">
              <a:cs typeface="Calibri"/>
            </a:endParaRPr>
          </a:p>
          <a:p>
            <a:pPr marL="355600" indent="-342900" algn="just">
              <a:spcBef>
                <a:spcPts val="40"/>
              </a:spcBef>
              <a:buFont typeface="Arial MT"/>
              <a:buChar char="•"/>
              <a:tabLst>
                <a:tab pos="354965" algn="l"/>
                <a:tab pos="355600" algn="l"/>
              </a:tabLst>
            </a:pPr>
            <a:r>
              <a:rPr sz="2000" spc="-5" dirty="0">
                <a:cs typeface="Calibri"/>
              </a:rPr>
              <a:t>Instance-based</a:t>
            </a:r>
            <a:r>
              <a:rPr sz="2000" spc="-30" dirty="0">
                <a:cs typeface="Calibri"/>
              </a:rPr>
              <a:t> </a:t>
            </a:r>
            <a:r>
              <a:rPr sz="2000" spc="-5" dirty="0">
                <a:cs typeface="Calibri"/>
              </a:rPr>
              <a:t>functions</a:t>
            </a:r>
            <a:endParaRPr sz="2000" dirty="0">
              <a:cs typeface="Calibri"/>
            </a:endParaRPr>
          </a:p>
          <a:p>
            <a:pPr marL="755650" lvl="1" indent="-285750" algn="just">
              <a:buFont typeface="Arial MT"/>
              <a:buChar char="–"/>
              <a:tabLst>
                <a:tab pos="755015" algn="l"/>
                <a:tab pos="755650" algn="l"/>
              </a:tabLst>
            </a:pPr>
            <a:r>
              <a:rPr sz="2000" spc="-10" dirty="0">
                <a:cs typeface="Calibri"/>
              </a:rPr>
              <a:t>Nearest-neighbor</a:t>
            </a:r>
            <a:endParaRPr sz="2000" dirty="0">
              <a:cs typeface="Calibri"/>
            </a:endParaRPr>
          </a:p>
          <a:p>
            <a:pPr marL="755650" lvl="1" indent="-285750" algn="just">
              <a:lnSpc>
                <a:spcPts val="2130"/>
              </a:lnSpc>
              <a:spcBef>
                <a:spcPts val="40"/>
              </a:spcBef>
              <a:buFont typeface="Arial MT"/>
              <a:buChar char="–"/>
              <a:tabLst>
                <a:tab pos="755015" algn="l"/>
                <a:tab pos="755650" algn="l"/>
              </a:tabLst>
            </a:pPr>
            <a:r>
              <a:rPr sz="2000" spc="-5" dirty="0">
                <a:cs typeface="Calibri"/>
              </a:rPr>
              <a:t>Case-based</a:t>
            </a:r>
            <a:endParaRPr sz="2000" dirty="0">
              <a:cs typeface="Calibri"/>
            </a:endParaRPr>
          </a:p>
          <a:p>
            <a:pPr marL="355600" indent="-342900" algn="just">
              <a:lnSpc>
                <a:spcPts val="2370"/>
              </a:lnSpc>
              <a:buFont typeface="Arial MT"/>
              <a:buChar char="•"/>
              <a:tabLst>
                <a:tab pos="354965" algn="l"/>
                <a:tab pos="355600" algn="l"/>
              </a:tabLst>
            </a:pPr>
            <a:r>
              <a:rPr sz="2000" spc="-5" dirty="0">
                <a:cs typeface="Calibri"/>
              </a:rPr>
              <a:t>Probabilistic</a:t>
            </a:r>
            <a:r>
              <a:rPr sz="2000" spc="-15" dirty="0">
                <a:cs typeface="Calibri"/>
              </a:rPr>
              <a:t> </a:t>
            </a:r>
            <a:r>
              <a:rPr sz="2000" spc="-10" dirty="0">
                <a:cs typeface="Calibri"/>
              </a:rPr>
              <a:t>Graphical</a:t>
            </a:r>
            <a:r>
              <a:rPr sz="2000" spc="-15" dirty="0">
                <a:cs typeface="Calibri"/>
              </a:rPr>
              <a:t> </a:t>
            </a:r>
            <a:r>
              <a:rPr sz="2000" spc="-5" dirty="0">
                <a:cs typeface="Calibri"/>
              </a:rPr>
              <a:t>Models</a:t>
            </a:r>
            <a:endParaRPr sz="2000" dirty="0">
              <a:cs typeface="Calibri"/>
            </a:endParaRPr>
          </a:p>
          <a:p>
            <a:pPr marL="755650" lvl="1" indent="-285750" algn="just">
              <a:buFont typeface="Arial MT"/>
              <a:buChar char="–"/>
              <a:tabLst>
                <a:tab pos="755015" algn="l"/>
                <a:tab pos="755650" algn="l"/>
              </a:tabLst>
            </a:pPr>
            <a:r>
              <a:rPr sz="2000" spc="-5" dirty="0">
                <a:cs typeface="Calibri"/>
              </a:rPr>
              <a:t>Naïve</a:t>
            </a:r>
            <a:r>
              <a:rPr sz="2000" spc="-30" dirty="0">
                <a:cs typeface="Calibri"/>
              </a:rPr>
              <a:t> </a:t>
            </a:r>
            <a:r>
              <a:rPr sz="2000" spc="-15" dirty="0">
                <a:cs typeface="Calibri"/>
              </a:rPr>
              <a:t>Bayes</a:t>
            </a:r>
            <a:endParaRPr sz="2000" dirty="0">
              <a:cs typeface="Calibri"/>
            </a:endParaRPr>
          </a:p>
          <a:p>
            <a:pPr marL="755650" lvl="1" indent="-285750" algn="just">
              <a:lnSpc>
                <a:spcPts val="2130"/>
              </a:lnSpc>
              <a:spcBef>
                <a:spcPts val="40"/>
              </a:spcBef>
              <a:buFont typeface="Arial MT"/>
              <a:buChar char="–"/>
              <a:tabLst>
                <a:tab pos="755015" algn="l"/>
                <a:tab pos="755650" algn="l"/>
              </a:tabLst>
            </a:pPr>
            <a:r>
              <a:rPr sz="2000" spc="-10" dirty="0">
                <a:cs typeface="Calibri"/>
              </a:rPr>
              <a:t>Bayesian</a:t>
            </a:r>
            <a:r>
              <a:rPr sz="2000" spc="-20" dirty="0">
                <a:cs typeface="Calibri"/>
              </a:rPr>
              <a:t> </a:t>
            </a:r>
            <a:r>
              <a:rPr sz="2000" spc="-10" dirty="0">
                <a:cs typeface="Calibri"/>
              </a:rPr>
              <a:t>networks</a:t>
            </a:r>
            <a:endParaRPr sz="2000" dirty="0">
              <a:cs typeface="Calibri"/>
            </a:endParaRPr>
          </a:p>
          <a:p>
            <a:pPr marL="755650" lvl="1" indent="-285750" algn="just">
              <a:lnSpc>
                <a:spcPts val="2130"/>
              </a:lnSpc>
              <a:buFont typeface="Arial MT"/>
              <a:buChar char="–"/>
              <a:tabLst>
                <a:tab pos="755015" algn="l"/>
                <a:tab pos="755650" algn="l"/>
              </a:tabLst>
            </a:pPr>
            <a:r>
              <a:rPr sz="2000" spc="-10" dirty="0">
                <a:cs typeface="Calibri"/>
              </a:rPr>
              <a:t>Hidden-Markov</a:t>
            </a:r>
            <a:r>
              <a:rPr sz="2000" spc="-5" dirty="0">
                <a:cs typeface="Calibri"/>
              </a:rPr>
              <a:t> Models</a:t>
            </a:r>
            <a:r>
              <a:rPr sz="2000" dirty="0">
                <a:cs typeface="Calibri"/>
              </a:rPr>
              <a:t> </a:t>
            </a:r>
            <a:r>
              <a:rPr sz="2000" spc="-5" dirty="0">
                <a:cs typeface="Calibri"/>
              </a:rPr>
              <a:t>(HMMs)</a:t>
            </a:r>
            <a:endParaRPr sz="2000" dirty="0">
              <a:cs typeface="Calibri"/>
            </a:endParaRPr>
          </a:p>
          <a:p>
            <a:pPr marL="755650" lvl="1" indent="-285750" algn="just">
              <a:spcBef>
                <a:spcPts val="40"/>
              </a:spcBef>
              <a:buFont typeface="Arial MT"/>
              <a:buChar char="–"/>
              <a:tabLst>
                <a:tab pos="755015" algn="l"/>
                <a:tab pos="755650" algn="l"/>
              </a:tabLst>
            </a:pPr>
            <a:r>
              <a:rPr sz="2000" spc="-10" dirty="0">
                <a:cs typeface="Calibri"/>
              </a:rPr>
              <a:t>Probabilistic</a:t>
            </a:r>
            <a:r>
              <a:rPr sz="2000" dirty="0">
                <a:cs typeface="Calibri"/>
              </a:rPr>
              <a:t> </a:t>
            </a:r>
            <a:r>
              <a:rPr sz="2000" spc="-10" dirty="0">
                <a:cs typeface="Calibri"/>
              </a:rPr>
              <a:t>Context</a:t>
            </a:r>
            <a:r>
              <a:rPr sz="2000" spc="-5" dirty="0">
                <a:cs typeface="Calibri"/>
              </a:rPr>
              <a:t> </a:t>
            </a:r>
            <a:r>
              <a:rPr sz="2000" spc="-10" dirty="0">
                <a:cs typeface="Calibri"/>
              </a:rPr>
              <a:t>Free</a:t>
            </a:r>
            <a:r>
              <a:rPr sz="2000" dirty="0">
                <a:cs typeface="Calibri"/>
              </a:rPr>
              <a:t> </a:t>
            </a:r>
            <a:r>
              <a:rPr sz="2000" spc="-15" dirty="0">
                <a:cs typeface="Calibri"/>
              </a:rPr>
              <a:t>Grammars</a:t>
            </a:r>
            <a:r>
              <a:rPr sz="2000" spc="-5" dirty="0">
                <a:cs typeface="Calibri"/>
              </a:rPr>
              <a:t> (PCFGs)</a:t>
            </a:r>
            <a:endParaRPr sz="2000" dirty="0">
              <a:cs typeface="Calibri"/>
            </a:endParaRPr>
          </a:p>
          <a:p>
            <a:pPr marL="755650" lvl="1" indent="-285750" algn="just">
              <a:spcBef>
                <a:spcPts val="40"/>
              </a:spcBef>
              <a:buFont typeface="Arial MT"/>
              <a:buChar char="–"/>
              <a:tabLst>
                <a:tab pos="755015" algn="l"/>
                <a:tab pos="755650" algn="l"/>
              </a:tabLst>
            </a:pPr>
            <a:r>
              <a:rPr sz="2000" spc="-15" dirty="0">
                <a:cs typeface="Calibri"/>
              </a:rPr>
              <a:t>Markov</a:t>
            </a:r>
            <a:r>
              <a:rPr sz="2000" spc="-30" dirty="0">
                <a:cs typeface="Calibri"/>
              </a:rPr>
              <a:t> </a:t>
            </a:r>
            <a:r>
              <a:rPr sz="2000" spc="-10" dirty="0">
                <a:cs typeface="Calibri"/>
              </a:rPr>
              <a:t>networks</a:t>
            </a:r>
            <a:endParaRPr sz="2000" dirty="0">
              <a:cs typeface="Calibri"/>
            </a:endParaRPr>
          </a:p>
        </p:txBody>
      </p:sp>
    </p:spTree>
    <p:extLst>
      <p:ext uri="{BB962C8B-B14F-4D97-AF65-F5344CB8AC3E}">
        <p14:creationId xmlns:p14="http://schemas.microsoft.com/office/powerpoint/2010/main" val="353077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152401"/>
            <a:ext cx="8229600" cy="1367041"/>
          </a:xfrm>
          <a:prstGeom prst="rect">
            <a:avLst/>
          </a:prstGeom>
        </p:spPr>
        <p:txBody>
          <a:bodyPr vert="horz" wrap="square" lIns="0" tIns="12700" rIns="0" bIns="0" rtlCol="0" anchor="t">
            <a:spAutoFit/>
          </a:bodyPr>
          <a:lstStyle/>
          <a:p>
            <a:pPr marL="1828800" marR="5080" indent="-1816735">
              <a:spcBef>
                <a:spcPts val="100"/>
              </a:spcBef>
            </a:pPr>
            <a:r>
              <a:rPr sz="4400" spc="-35" dirty="0">
                <a:latin typeface="+mn-lt"/>
              </a:rPr>
              <a:t>Various </a:t>
            </a:r>
            <a:r>
              <a:rPr sz="4400" spc="-15" dirty="0">
                <a:latin typeface="+mn-lt"/>
              </a:rPr>
              <a:t>Search/Optimization</a:t>
            </a:r>
            <a:r>
              <a:rPr lang="en-US" sz="4400" spc="-15" dirty="0">
                <a:latin typeface="+mn-lt"/>
              </a:rPr>
              <a:t> </a:t>
            </a:r>
            <a:r>
              <a:rPr sz="4400" spc="-5" dirty="0">
                <a:latin typeface="+mn-lt"/>
              </a:rPr>
              <a:t>Algorithms</a:t>
            </a:r>
            <a:endParaRPr sz="4400" dirty="0">
              <a:latin typeface="+mn-lt"/>
            </a:endParaRPr>
          </a:p>
        </p:txBody>
      </p:sp>
      <p:sp>
        <p:nvSpPr>
          <p:cNvPr id="3" name="object 3"/>
          <p:cNvSpPr txBox="1"/>
          <p:nvPr/>
        </p:nvSpPr>
        <p:spPr>
          <a:xfrm>
            <a:off x="2038169" y="1600200"/>
            <a:ext cx="6191431" cy="4419158"/>
          </a:xfrm>
          <a:prstGeom prst="rect">
            <a:avLst/>
          </a:prstGeom>
        </p:spPr>
        <p:txBody>
          <a:bodyPr vert="horz" wrap="square" lIns="0" tIns="45720" rIns="0" bIns="0" rtlCol="0">
            <a:spAutoFit/>
          </a:bodyPr>
          <a:lstStyle/>
          <a:p>
            <a:pPr marL="355600" indent="-342900">
              <a:spcBef>
                <a:spcPts val="360"/>
              </a:spcBef>
              <a:buFont typeface="Arial MT"/>
              <a:buChar char="•"/>
              <a:tabLst>
                <a:tab pos="354965" algn="l"/>
                <a:tab pos="355600" algn="l"/>
              </a:tabLst>
            </a:pPr>
            <a:r>
              <a:rPr sz="2000" spc="-10" dirty="0">
                <a:cs typeface="Calibri"/>
              </a:rPr>
              <a:t>Gradient</a:t>
            </a:r>
            <a:r>
              <a:rPr sz="2000" spc="-45" dirty="0">
                <a:cs typeface="Calibri"/>
              </a:rPr>
              <a:t> </a:t>
            </a:r>
            <a:r>
              <a:rPr sz="2000" spc="-5" dirty="0">
                <a:cs typeface="Calibri"/>
              </a:rPr>
              <a:t>descent</a:t>
            </a:r>
            <a:endParaRPr sz="2000" dirty="0">
              <a:cs typeface="Calibri"/>
            </a:endParaRPr>
          </a:p>
          <a:p>
            <a:pPr marL="755650" lvl="1" indent="-285750">
              <a:spcBef>
                <a:spcPts val="220"/>
              </a:spcBef>
              <a:buFont typeface="Arial MT"/>
              <a:buChar char="–"/>
              <a:tabLst>
                <a:tab pos="755015" algn="l"/>
                <a:tab pos="755650" algn="l"/>
              </a:tabLst>
            </a:pPr>
            <a:r>
              <a:rPr sz="2000" spc="-15" dirty="0">
                <a:cs typeface="Calibri"/>
              </a:rPr>
              <a:t>Perceptron</a:t>
            </a:r>
            <a:endParaRPr sz="2000" dirty="0">
              <a:cs typeface="Calibri"/>
            </a:endParaRPr>
          </a:p>
          <a:p>
            <a:pPr marL="755650" lvl="1" indent="-285750">
              <a:spcBef>
                <a:spcPts val="200"/>
              </a:spcBef>
              <a:buFont typeface="Arial MT"/>
              <a:buChar char="–"/>
              <a:tabLst>
                <a:tab pos="755015" algn="l"/>
                <a:tab pos="755650" algn="l"/>
              </a:tabLst>
            </a:pPr>
            <a:r>
              <a:rPr sz="2000" spc="-10" dirty="0">
                <a:cs typeface="Calibri"/>
              </a:rPr>
              <a:t>Backpropagation</a:t>
            </a:r>
            <a:endParaRPr sz="2000" dirty="0">
              <a:cs typeface="Calibri"/>
            </a:endParaRPr>
          </a:p>
          <a:p>
            <a:pPr marL="355600" indent="-342900">
              <a:spcBef>
                <a:spcPts val="300"/>
              </a:spcBef>
              <a:buFont typeface="Arial MT"/>
              <a:buChar char="•"/>
              <a:tabLst>
                <a:tab pos="354965" algn="l"/>
                <a:tab pos="355600" algn="l"/>
              </a:tabLst>
            </a:pPr>
            <a:r>
              <a:rPr sz="2000" spc="-5" dirty="0">
                <a:cs typeface="Calibri"/>
              </a:rPr>
              <a:t>Dynamic</a:t>
            </a:r>
            <a:r>
              <a:rPr sz="2000" spc="-30" dirty="0">
                <a:cs typeface="Calibri"/>
              </a:rPr>
              <a:t> </a:t>
            </a:r>
            <a:r>
              <a:rPr sz="2000" spc="-15" dirty="0">
                <a:cs typeface="Calibri"/>
              </a:rPr>
              <a:t>Programming</a:t>
            </a:r>
            <a:endParaRPr sz="2000" dirty="0">
              <a:cs typeface="Calibri"/>
            </a:endParaRPr>
          </a:p>
          <a:p>
            <a:pPr marL="755650" lvl="1" indent="-285750">
              <a:spcBef>
                <a:spcPts val="320"/>
              </a:spcBef>
              <a:buFont typeface="Arial MT"/>
              <a:buChar char="–"/>
              <a:tabLst>
                <a:tab pos="755015" algn="l"/>
                <a:tab pos="755650" algn="l"/>
              </a:tabLst>
            </a:pPr>
            <a:r>
              <a:rPr sz="2000" dirty="0">
                <a:cs typeface="Calibri"/>
              </a:rPr>
              <a:t>HMM</a:t>
            </a:r>
            <a:r>
              <a:rPr sz="2000" spc="-35" dirty="0">
                <a:cs typeface="Calibri"/>
              </a:rPr>
              <a:t> </a:t>
            </a:r>
            <a:r>
              <a:rPr sz="2000" spc="-5" dirty="0">
                <a:cs typeface="Calibri"/>
              </a:rPr>
              <a:t>Learning</a:t>
            </a:r>
            <a:endParaRPr sz="2000" dirty="0">
              <a:cs typeface="Calibri"/>
            </a:endParaRPr>
          </a:p>
          <a:p>
            <a:pPr marL="755650" lvl="1" indent="-285750">
              <a:spcBef>
                <a:spcPts val="200"/>
              </a:spcBef>
              <a:buFont typeface="Arial MT"/>
              <a:buChar char="–"/>
              <a:tabLst>
                <a:tab pos="755015" algn="l"/>
                <a:tab pos="755650" algn="l"/>
              </a:tabLst>
            </a:pPr>
            <a:r>
              <a:rPr sz="2000" spc="-5" dirty="0">
                <a:cs typeface="Calibri"/>
              </a:rPr>
              <a:t>PCFG</a:t>
            </a:r>
            <a:r>
              <a:rPr sz="2000" spc="-40" dirty="0">
                <a:cs typeface="Calibri"/>
              </a:rPr>
              <a:t> </a:t>
            </a:r>
            <a:r>
              <a:rPr sz="2000" spc="-5" dirty="0">
                <a:cs typeface="Calibri"/>
              </a:rPr>
              <a:t>Learning</a:t>
            </a:r>
            <a:endParaRPr sz="2000" dirty="0">
              <a:cs typeface="Calibri"/>
            </a:endParaRPr>
          </a:p>
          <a:p>
            <a:pPr marL="355600" indent="-342900">
              <a:spcBef>
                <a:spcPts val="300"/>
              </a:spcBef>
              <a:buFont typeface="Arial MT"/>
              <a:buChar char="•"/>
              <a:tabLst>
                <a:tab pos="354965" algn="l"/>
                <a:tab pos="355600" algn="l"/>
              </a:tabLst>
            </a:pPr>
            <a:r>
              <a:rPr sz="2000" spc="-5" dirty="0">
                <a:cs typeface="Calibri"/>
              </a:rPr>
              <a:t>Divide</a:t>
            </a:r>
            <a:r>
              <a:rPr sz="2000" spc="-20" dirty="0">
                <a:cs typeface="Calibri"/>
              </a:rPr>
              <a:t> </a:t>
            </a:r>
            <a:r>
              <a:rPr sz="2000" dirty="0">
                <a:cs typeface="Calibri"/>
              </a:rPr>
              <a:t>and</a:t>
            </a:r>
            <a:r>
              <a:rPr sz="2000" spc="-25" dirty="0">
                <a:cs typeface="Calibri"/>
              </a:rPr>
              <a:t> </a:t>
            </a:r>
            <a:r>
              <a:rPr sz="2000" spc="-5" dirty="0">
                <a:cs typeface="Calibri"/>
              </a:rPr>
              <a:t>Conquer</a:t>
            </a:r>
            <a:endParaRPr sz="2000" dirty="0">
              <a:cs typeface="Calibri"/>
            </a:endParaRPr>
          </a:p>
          <a:p>
            <a:pPr marL="755650" lvl="1" indent="-285750">
              <a:spcBef>
                <a:spcPts val="220"/>
              </a:spcBef>
              <a:buFont typeface="Arial MT"/>
              <a:buChar char="–"/>
              <a:tabLst>
                <a:tab pos="755015" algn="l"/>
                <a:tab pos="755650" algn="l"/>
              </a:tabLst>
            </a:pPr>
            <a:r>
              <a:rPr sz="2000" spc="-5" dirty="0">
                <a:cs typeface="Calibri"/>
              </a:rPr>
              <a:t>Decision</a:t>
            </a:r>
            <a:r>
              <a:rPr sz="2000" spc="-20" dirty="0">
                <a:cs typeface="Calibri"/>
              </a:rPr>
              <a:t> </a:t>
            </a:r>
            <a:r>
              <a:rPr sz="2000" spc="-5" dirty="0">
                <a:cs typeface="Calibri"/>
              </a:rPr>
              <a:t>tree</a:t>
            </a:r>
            <a:r>
              <a:rPr sz="2000" spc="-10" dirty="0">
                <a:cs typeface="Calibri"/>
              </a:rPr>
              <a:t> </a:t>
            </a:r>
            <a:r>
              <a:rPr sz="2000" spc="-5" dirty="0">
                <a:cs typeface="Calibri"/>
              </a:rPr>
              <a:t>induction</a:t>
            </a:r>
            <a:endParaRPr sz="2000" dirty="0">
              <a:cs typeface="Calibri"/>
            </a:endParaRPr>
          </a:p>
          <a:p>
            <a:pPr marL="755650" lvl="1" indent="-285750">
              <a:spcBef>
                <a:spcPts val="200"/>
              </a:spcBef>
              <a:buFont typeface="Arial MT"/>
              <a:buChar char="–"/>
              <a:tabLst>
                <a:tab pos="755015" algn="l"/>
                <a:tab pos="755650" algn="l"/>
              </a:tabLst>
            </a:pPr>
            <a:r>
              <a:rPr sz="2000" spc="-5" dirty="0">
                <a:cs typeface="Calibri"/>
              </a:rPr>
              <a:t>Rule</a:t>
            </a:r>
            <a:r>
              <a:rPr sz="2000" spc="-25" dirty="0">
                <a:cs typeface="Calibri"/>
              </a:rPr>
              <a:t> </a:t>
            </a:r>
            <a:r>
              <a:rPr sz="2000" spc="-5" dirty="0">
                <a:cs typeface="Calibri"/>
              </a:rPr>
              <a:t>learning</a:t>
            </a:r>
            <a:endParaRPr sz="2000" dirty="0">
              <a:cs typeface="Calibri"/>
            </a:endParaRPr>
          </a:p>
          <a:p>
            <a:pPr marL="355600" indent="-342900">
              <a:spcBef>
                <a:spcPts val="300"/>
              </a:spcBef>
              <a:buFont typeface="Arial MT"/>
              <a:buChar char="•"/>
              <a:tabLst>
                <a:tab pos="354965" algn="l"/>
                <a:tab pos="355600" algn="l"/>
              </a:tabLst>
            </a:pPr>
            <a:r>
              <a:rPr sz="2000" spc="-10" dirty="0">
                <a:cs typeface="Calibri"/>
              </a:rPr>
              <a:t>Evolutionary</a:t>
            </a:r>
            <a:r>
              <a:rPr sz="2000" spc="-45" dirty="0">
                <a:cs typeface="Calibri"/>
              </a:rPr>
              <a:t> </a:t>
            </a:r>
            <a:r>
              <a:rPr sz="2000" spc="-10" dirty="0">
                <a:cs typeface="Calibri"/>
              </a:rPr>
              <a:t>Computation</a:t>
            </a:r>
            <a:endParaRPr sz="2000" dirty="0">
              <a:cs typeface="Calibri"/>
            </a:endParaRPr>
          </a:p>
          <a:p>
            <a:pPr marL="755650" lvl="1" indent="-285750">
              <a:spcBef>
                <a:spcPts val="220"/>
              </a:spcBef>
              <a:buFont typeface="Arial MT"/>
              <a:buChar char="–"/>
              <a:tabLst>
                <a:tab pos="755015" algn="l"/>
                <a:tab pos="755650" algn="l"/>
              </a:tabLst>
            </a:pPr>
            <a:r>
              <a:rPr sz="2000" spc="-5" dirty="0">
                <a:cs typeface="Calibri"/>
              </a:rPr>
              <a:t>Genetic</a:t>
            </a:r>
            <a:r>
              <a:rPr sz="2000" spc="-10" dirty="0">
                <a:cs typeface="Calibri"/>
              </a:rPr>
              <a:t> </a:t>
            </a:r>
            <a:r>
              <a:rPr sz="2000" spc="-5" dirty="0">
                <a:cs typeface="Calibri"/>
              </a:rPr>
              <a:t>Algorithms</a:t>
            </a:r>
            <a:r>
              <a:rPr sz="2000" spc="-10" dirty="0">
                <a:cs typeface="Calibri"/>
              </a:rPr>
              <a:t> </a:t>
            </a:r>
            <a:r>
              <a:rPr sz="2000" dirty="0">
                <a:cs typeface="Calibri"/>
              </a:rPr>
              <a:t>(GAs)</a:t>
            </a:r>
          </a:p>
          <a:p>
            <a:pPr marL="755650" lvl="1" indent="-285750">
              <a:spcBef>
                <a:spcPts val="300"/>
              </a:spcBef>
              <a:buFont typeface="Arial MT"/>
              <a:buChar char="–"/>
              <a:tabLst>
                <a:tab pos="755015" algn="l"/>
                <a:tab pos="755650" algn="l"/>
              </a:tabLst>
            </a:pPr>
            <a:r>
              <a:rPr sz="2000" spc="-5" dirty="0">
                <a:cs typeface="Calibri"/>
              </a:rPr>
              <a:t>Genetic</a:t>
            </a:r>
            <a:r>
              <a:rPr sz="2000" spc="-15" dirty="0">
                <a:cs typeface="Calibri"/>
              </a:rPr>
              <a:t> </a:t>
            </a:r>
            <a:r>
              <a:rPr sz="2000" spc="-10" dirty="0">
                <a:cs typeface="Calibri"/>
              </a:rPr>
              <a:t>Programming</a:t>
            </a:r>
            <a:r>
              <a:rPr sz="2000" spc="-25" dirty="0">
                <a:cs typeface="Calibri"/>
              </a:rPr>
              <a:t> </a:t>
            </a:r>
            <a:r>
              <a:rPr sz="2000" dirty="0">
                <a:cs typeface="Calibri"/>
              </a:rPr>
              <a:t>(GP)</a:t>
            </a:r>
          </a:p>
          <a:p>
            <a:pPr marL="755650" lvl="1" indent="-285750">
              <a:spcBef>
                <a:spcPts val="204"/>
              </a:spcBef>
              <a:buFont typeface="Arial MT"/>
              <a:buChar char="–"/>
              <a:tabLst>
                <a:tab pos="755015" algn="l"/>
                <a:tab pos="755650" algn="l"/>
              </a:tabLst>
            </a:pPr>
            <a:r>
              <a:rPr sz="2000" spc="-10" dirty="0">
                <a:cs typeface="Calibri"/>
              </a:rPr>
              <a:t>Neuro-evolution</a:t>
            </a:r>
            <a:endParaRPr sz="2000" dirty="0">
              <a:cs typeface="Calibri"/>
            </a:endParaRPr>
          </a:p>
        </p:txBody>
      </p:sp>
    </p:spTree>
    <p:extLst>
      <p:ext uri="{BB962C8B-B14F-4D97-AF65-F5344CB8AC3E}">
        <p14:creationId xmlns:p14="http://schemas.microsoft.com/office/powerpoint/2010/main" val="38749915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620001" y="6619985"/>
            <a:ext cx="2816861" cy="219291"/>
          </a:xfrm>
          <a:prstGeom prst="rect">
            <a:avLst/>
          </a:prstGeom>
        </p:spPr>
        <p:txBody>
          <a:bodyPr vert="horz" wrap="square" lIns="0" tIns="3810" rIns="0" bIns="0" rtlCol="0">
            <a:spAutoFit/>
          </a:bodyPr>
          <a:lstStyle/>
          <a:p>
            <a:pPr marL="12700">
              <a:spcBef>
                <a:spcPts val="30"/>
              </a:spcBef>
            </a:pPr>
            <a:r>
              <a:rPr sz="1400" spc="-5" dirty="0">
                <a:cs typeface="Calibri"/>
              </a:rPr>
              <a:t>Slide</a:t>
            </a:r>
            <a:r>
              <a:rPr sz="1400" spc="-15" dirty="0">
                <a:cs typeface="Calibri"/>
              </a:rPr>
              <a:t> </a:t>
            </a:r>
            <a:r>
              <a:rPr sz="1400" spc="-5" dirty="0">
                <a:cs typeface="Calibri"/>
              </a:rPr>
              <a:t>credit:</a:t>
            </a:r>
            <a:r>
              <a:rPr sz="1400" spc="-10" dirty="0">
                <a:cs typeface="Calibri"/>
              </a:rPr>
              <a:t> </a:t>
            </a:r>
            <a:r>
              <a:rPr sz="1400" spc="-15" dirty="0">
                <a:cs typeface="Calibri"/>
              </a:rPr>
              <a:t>Pedro</a:t>
            </a:r>
            <a:r>
              <a:rPr sz="1400" spc="-20" dirty="0">
                <a:cs typeface="Calibri"/>
              </a:rPr>
              <a:t> </a:t>
            </a:r>
            <a:r>
              <a:rPr sz="1400" spc="-5" dirty="0">
                <a:cs typeface="Calibri"/>
              </a:rPr>
              <a:t>Domingos</a:t>
            </a:r>
            <a:endParaRPr sz="1400" dirty="0">
              <a:cs typeface="Calibri"/>
            </a:endParaRPr>
          </a:p>
        </p:txBody>
      </p:sp>
      <p:sp>
        <p:nvSpPr>
          <p:cNvPr id="2" name="object 2"/>
          <p:cNvSpPr txBox="1">
            <a:spLocks noGrp="1"/>
          </p:cNvSpPr>
          <p:nvPr>
            <p:ph type="title"/>
          </p:nvPr>
        </p:nvSpPr>
        <p:spPr>
          <a:xfrm>
            <a:off x="2743200" y="310828"/>
            <a:ext cx="5257800" cy="689932"/>
          </a:xfrm>
          <a:prstGeom prst="rect">
            <a:avLst/>
          </a:prstGeom>
        </p:spPr>
        <p:txBody>
          <a:bodyPr vert="horz" wrap="square" lIns="0" tIns="12700" rIns="0" bIns="0" rtlCol="0" anchor="t">
            <a:spAutoFit/>
          </a:bodyPr>
          <a:lstStyle/>
          <a:p>
            <a:pPr marL="12700">
              <a:spcBef>
                <a:spcPts val="100"/>
              </a:spcBef>
            </a:pPr>
            <a:r>
              <a:rPr sz="4400" spc="-25" dirty="0">
                <a:latin typeface="+mn-lt"/>
                <a:cs typeface="Calibri"/>
              </a:rPr>
              <a:t>Evaluation</a:t>
            </a:r>
          </a:p>
        </p:txBody>
      </p:sp>
      <p:sp>
        <p:nvSpPr>
          <p:cNvPr id="3" name="object 3"/>
          <p:cNvSpPr txBox="1"/>
          <p:nvPr/>
        </p:nvSpPr>
        <p:spPr>
          <a:xfrm>
            <a:off x="2059940" y="1049020"/>
            <a:ext cx="3318510" cy="4029308"/>
          </a:xfrm>
          <a:prstGeom prst="rect">
            <a:avLst/>
          </a:prstGeom>
        </p:spPr>
        <p:txBody>
          <a:bodyPr vert="horz" wrap="square" lIns="0" tIns="12700" rIns="0" bIns="0" rtlCol="0">
            <a:spAutoFit/>
          </a:bodyPr>
          <a:lstStyle/>
          <a:p>
            <a:pPr marL="355600" indent="-342900">
              <a:spcBef>
                <a:spcPts val="100"/>
              </a:spcBef>
              <a:buFont typeface="Arial MT"/>
              <a:buChar char="•"/>
              <a:tabLst>
                <a:tab pos="354965" algn="l"/>
                <a:tab pos="355600" algn="l"/>
              </a:tabLst>
            </a:pPr>
            <a:r>
              <a:rPr sz="2400" spc="-10" dirty="0">
                <a:cs typeface="Calibri"/>
              </a:rPr>
              <a:t>Accuracy</a:t>
            </a:r>
            <a:endParaRPr sz="2400" dirty="0">
              <a:cs typeface="Calibri"/>
            </a:endParaRPr>
          </a:p>
          <a:p>
            <a:pPr marL="355600" indent="-342900">
              <a:lnSpc>
                <a:spcPts val="3329"/>
              </a:lnSpc>
              <a:spcBef>
                <a:spcPts val="40"/>
              </a:spcBef>
              <a:buFont typeface="Arial MT"/>
              <a:buChar char="•"/>
              <a:tabLst>
                <a:tab pos="354965" algn="l"/>
                <a:tab pos="355600" algn="l"/>
              </a:tabLst>
            </a:pPr>
            <a:r>
              <a:rPr sz="2400" spc="-10" dirty="0">
                <a:cs typeface="Calibri"/>
              </a:rPr>
              <a:t>Precision </a:t>
            </a:r>
            <a:r>
              <a:rPr sz="2400" spc="-5" dirty="0">
                <a:cs typeface="Calibri"/>
              </a:rPr>
              <a:t>and </a:t>
            </a:r>
            <a:r>
              <a:rPr sz="2400" spc="-15" dirty="0">
                <a:cs typeface="Calibri"/>
              </a:rPr>
              <a:t>recall</a:t>
            </a:r>
            <a:endParaRPr sz="2400" dirty="0">
              <a:cs typeface="Calibri"/>
            </a:endParaRPr>
          </a:p>
          <a:p>
            <a:pPr marL="355600" indent="-342900">
              <a:lnSpc>
                <a:spcPts val="3329"/>
              </a:lnSpc>
              <a:buFont typeface="Arial MT"/>
              <a:buChar char="•"/>
              <a:tabLst>
                <a:tab pos="354965" algn="l"/>
                <a:tab pos="355600" algn="l"/>
              </a:tabLst>
            </a:pPr>
            <a:r>
              <a:rPr sz="2400" spc="-10" dirty="0">
                <a:cs typeface="Calibri"/>
              </a:rPr>
              <a:t>Squared</a:t>
            </a:r>
            <a:r>
              <a:rPr sz="2400" spc="-25" dirty="0">
                <a:cs typeface="Calibri"/>
              </a:rPr>
              <a:t> </a:t>
            </a:r>
            <a:r>
              <a:rPr sz="2400" spc="-15" dirty="0">
                <a:cs typeface="Calibri"/>
              </a:rPr>
              <a:t>error</a:t>
            </a:r>
            <a:endParaRPr sz="2400" dirty="0">
              <a:cs typeface="Calibri"/>
            </a:endParaRPr>
          </a:p>
          <a:p>
            <a:pPr marL="355600" indent="-342900">
              <a:spcBef>
                <a:spcPts val="40"/>
              </a:spcBef>
              <a:buFont typeface="Arial MT"/>
              <a:buChar char="•"/>
              <a:tabLst>
                <a:tab pos="354965" algn="l"/>
                <a:tab pos="355600" algn="l"/>
              </a:tabLst>
            </a:pPr>
            <a:r>
              <a:rPr sz="2400" spc="-15" dirty="0">
                <a:cs typeface="Calibri"/>
              </a:rPr>
              <a:t>Likelihood</a:t>
            </a:r>
            <a:endParaRPr sz="2400" dirty="0">
              <a:cs typeface="Calibri"/>
            </a:endParaRPr>
          </a:p>
          <a:p>
            <a:pPr marL="355600" indent="-342900">
              <a:lnSpc>
                <a:spcPts val="3329"/>
              </a:lnSpc>
              <a:spcBef>
                <a:spcPts val="40"/>
              </a:spcBef>
              <a:buFont typeface="Arial MT"/>
              <a:buChar char="•"/>
              <a:tabLst>
                <a:tab pos="354965" algn="l"/>
                <a:tab pos="355600" algn="l"/>
              </a:tabLst>
            </a:pPr>
            <a:r>
              <a:rPr sz="2400" spc="-15" dirty="0">
                <a:cs typeface="Calibri"/>
              </a:rPr>
              <a:t>Posterior</a:t>
            </a:r>
            <a:r>
              <a:rPr sz="2400" spc="-60" dirty="0">
                <a:cs typeface="Calibri"/>
              </a:rPr>
              <a:t> </a:t>
            </a:r>
            <a:r>
              <a:rPr sz="2400" spc="-10" dirty="0">
                <a:cs typeface="Calibri"/>
              </a:rPr>
              <a:t>probability</a:t>
            </a:r>
            <a:endParaRPr sz="2400" dirty="0">
              <a:cs typeface="Calibri"/>
            </a:endParaRPr>
          </a:p>
          <a:p>
            <a:pPr marL="355600" indent="-342900">
              <a:lnSpc>
                <a:spcPts val="3329"/>
              </a:lnSpc>
              <a:buFont typeface="Arial MT"/>
              <a:buChar char="•"/>
              <a:tabLst>
                <a:tab pos="354965" algn="l"/>
                <a:tab pos="355600" algn="l"/>
              </a:tabLst>
            </a:pPr>
            <a:r>
              <a:rPr sz="2400" spc="-10" dirty="0">
                <a:cs typeface="Calibri"/>
              </a:rPr>
              <a:t>Cost</a:t>
            </a:r>
            <a:r>
              <a:rPr sz="2400" spc="-20" dirty="0">
                <a:cs typeface="Calibri"/>
              </a:rPr>
              <a:t> </a:t>
            </a:r>
            <a:r>
              <a:rPr sz="2400" dirty="0">
                <a:cs typeface="Calibri"/>
              </a:rPr>
              <a:t>/</a:t>
            </a:r>
            <a:r>
              <a:rPr sz="2400" spc="-10" dirty="0">
                <a:cs typeface="Calibri"/>
              </a:rPr>
              <a:t> </a:t>
            </a:r>
            <a:r>
              <a:rPr sz="2400" spc="-5" dirty="0">
                <a:cs typeface="Calibri"/>
              </a:rPr>
              <a:t>Utility</a:t>
            </a:r>
            <a:endParaRPr sz="2400" dirty="0">
              <a:cs typeface="Calibri"/>
            </a:endParaRPr>
          </a:p>
          <a:p>
            <a:pPr marL="355600" indent="-342900">
              <a:lnSpc>
                <a:spcPts val="3329"/>
              </a:lnSpc>
              <a:spcBef>
                <a:spcPts val="40"/>
              </a:spcBef>
              <a:buFont typeface="Arial MT"/>
              <a:buChar char="•"/>
              <a:tabLst>
                <a:tab pos="354965" algn="l"/>
                <a:tab pos="355600" algn="l"/>
              </a:tabLst>
            </a:pPr>
            <a:r>
              <a:rPr sz="2400" spc="-10" dirty="0">
                <a:cs typeface="Calibri"/>
              </a:rPr>
              <a:t>Margin</a:t>
            </a:r>
            <a:endParaRPr sz="2400" dirty="0">
              <a:cs typeface="Calibri"/>
            </a:endParaRPr>
          </a:p>
          <a:p>
            <a:pPr marL="355600" indent="-342900">
              <a:lnSpc>
                <a:spcPts val="3329"/>
              </a:lnSpc>
              <a:buFont typeface="Arial MT"/>
              <a:buChar char="•"/>
              <a:tabLst>
                <a:tab pos="354965" algn="l"/>
                <a:tab pos="355600" algn="l"/>
              </a:tabLst>
            </a:pPr>
            <a:r>
              <a:rPr sz="2400" spc="-15" dirty="0">
                <a:cs typeface="Calibri"/>
              </a:rPr>
              <a:t>Entropy</a:t>
            </a:r>
            <a:endParaRPr sz="2400" dirty="0">
              <a:cs typeface="Calibri"/>
            </a:endParaRPr>
          </a:p>
          <a:p>
            <a:pPr marL="355600" indent="-342900">
              <a:spcBef>
                <a:spcPts val="40"/>
              </a:spcBef>
              <a:buFont typeface="Arial MT"/>
              <a:buChar char="•"/>
              <a:tabLst>
                <a:tab pos="354965" algn="l"/>
                <a:tab pos="355600" algn="l"/>
              </a:tabLst>
            </a:pPr>
            <a:r>
              <a:rPr sz="2400" spc="-15" dirty="0">
                <a:cs typeface="Calibri"/>
              </a:rPr>
              <a:t>K-L</a:t>
            </a:r>
            <a:r>
              <a:rPr sz="2400" spc="-35" dirty="0">
                <a:cs typeface="Calibri"/>
              </a:rPr>
              <a:t> </a:t>
            </a:r>
            <a:r>
              <a:rPr sz="2400" spc="-15" dirty="0">
                <a:cs typeface="Calibri"/>
              </a:rPr>
              <a:t>divergence</a:t>
            </a:r>
            <a:endParaRPr sz="2400" dirty="0">
              <a:cs typeface="Calibri"/>
            </a:endParaRPr>
          </a:p>
          <a:p>
            <a:pPr marL="355600" indent="-342900">
              <a:spcBef>
                <a:spcPts val="40"/>
              </a:spcBef>
              <a:buFont typeface="Arial MT"/>
              <a:buChar char="•"/>
              <a:tabLst>
                <a:tab pos="354965" algn="l"/>
                <a:tab pos="355600" algn="l"/>
              </a:tabLst>
            </a:pPr>
            <a:r>
              <a:rPr sz="2400" spc="-15" dirty="0">
                <a:cs typeface="Calibri"/>
              </a:rPr>
              <a:t>etc.</a:t>
            </a:r>
            <a:endParaRPr sz="2400" dirty="0">
              <a:cs typeface="Calibri"/>
            </a:endParaRPr>
          </a:p>
        </p:txBody>
      </p:sp>
    </p:spTree>
    <p:extLst>
      <p:ext uri="{BB962C8B-B14F-4D97-AF65-F5344CB8AC3E}">
        <p14:creationId xmlns:p14="http://schemas.microsoft.com/office/powerpoint/2010/main" val="23899759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47831" y="615628"/>
            <a:ext cx="5524569" cy="689932"/>
          </a:xfrm>
          <a:prstGeom prst="rect">
            <a:avLst/>
          </a:prstGeom>
        </p:spPr>
        <p:txBody>
          <a:bodyPr vert="horz" wrap="square" lIns="0" tIns="12700" rIns="0" bIns="0" rtlCol="0" anchor="t">
            <a:spAutoFit/>
          </a:bodyPr>
          <a:lstStyle/>
          <a:p>
            <a:pPr marL="12700">
              <a:spcBef>
                <a:spcPts val="100"/>
              </a:spcBef>
            </a:pPr>
            <a:r>
              <a:rPr sz="4400" dirty="0">
                <a:solidFill>
                  <a:schemeClr val="accent2">
                    <a:lumMod val="75000"/>
                  </a:schemeClr>
                </a:solidFill>
                <a:latin typeface="+mn-lt"/>
                <a:cs typeface="Calibri"/>
              </a:rPr>
              <a:t>ML</a:t>
            </a:r>
            <a:r>
              <a:rPr sz="4400" spc="-35" dirty="0">
                <a:solidFill>
                  <a:schemeClr val="accent2">
                    <a:lumMod val="75000"/>
                  </a:schemeClr>
                </a:solidFill>
                <a:latin typeface="+mn-lt"/>
                <a:cs typeface="Calibri"/>
              </a:rPr>
              <a:t> </a:t>
            </a:r>
            <a:r>
              <a:rPr sz="4400" spc="-5" dirty="0">
                <a:solidFill>
                  <a:schemeClr val="accent2">
                    <a:lumMod val="75000"/>
                  </a:schemeClr>
                </a:solidFill>
                <a:latin typeface="+mn-lt"/>
                <a:cs typeface="Calibri"/>
              </a:rPr>
              <a:t>in</a:t>
            </a:r>
            <a:r>
              <a:rPr sz="4400" spc="-25" dirty="0">
                <a:solidFill>
                  <a:schemeClr val="accent2">
                    <a:lumMod val="75000"/>
                  </a:schemeClr>
                </a:solidFill>
                <a:latin typeface="+mn-lt"/>
                <a:cs typeface="Calibri"/>
              </a:rPr>
              <a:t> </a:t>
            </a:r>
            <a:r>
              <a:rPr sz="4400" spc="-20" dirty="0">
                <a:solidFill>
                  <a:schemeClr val="accent2">
                    <a:lumMod val="75000"/>
                  </a:schemeClr>
                </a:solidFill>
                <a:latin typeface="+mn-lt"/>
                <a:cs typeface="Calibri"/>
              </a:rPr>
              <a:t>Practice</a:t>
            </a:r>
          </a:p>
        </p:txBody>
      </p:sp>
      <p:sp>
        <p:nvSpPr>
          <p:cNvPr id="3" name="object 3"/>
          <p:cNvSpPr txBox="1"/>
          <p:nvPr/>
        </p:nvSpPr>
        <p:spPr>
          <a:xfrm>
            <a:off x="2847340" y="1376681"/>
            <a:ext cx="7375525" cy="3098733"/>
          </a:xfrm>
          <a:prstGeom prst="rect">
            <a:avLst/>
          </a:prstGeom>
        </p:spPr>
        <p:txBody>
          <a:bodyPr vert="horz" wrap="square" lIns="0" tIns="91440" rIns="0" bIns="0" rtlCol="0">
            <a:spAutoFit/>
          </a:bodyPr>
          <a:lstStyle/>
          <a:p>
            <a:pPr marL="355600" indent="-342900" algn="just">
              <a:lnSpc>
                <a:spcPct val="150000"/>
              </a:lnSpc>
              <a:spcBef>
                <a:spcPts val="720"/>
              </a:spcBef>
              <a:buFont typeface="Arial MT"/>
              <a:buChar char="•"/>
              <a:tabLst>
                <a:tab pos="354965" algn="l"/>
                <a:tab pos="355600" algn="l"/>
              </a:tabLst>
            </a:pPr>
            <a:r>
              <a:rPr sz="2000" spc="-15" dirty="0">
                <a:cs typeface="Calibri"/>
              </a:rPr>
              <a:t>Understand</a:t>
            </a:r>
            <a:r>
              <a:rPr sz="2000" spc="-5" dirty="0">
                <a:cs typeface="Calibri"/>
              </a:rPr>
              <a:t> domain, prior knowledge, </a:t>
            </a:r>
            <a:r>
              <a:rPr sz="2000" dirty="0">
                <a:cs typeface="Calibri"/>
              </a:rPr>
              <a:t>and</a:t>
            </a:r>
            <a:r>
              <a:rPr sz="2000" spc="-5" dirty="0">
                <a:cs typeface="Calibri"/>
              </a:rPr>
              <a:t> </a:t>
            </a:r>
            <a:r>
              <a:rPr sz="2000" spc="-10" dirty="0">
                <a:cs typeface="Calibri"/>
              </a:rPr>
              <a:t>goals</a:t>
            </a:r>
            <a:endParaRPr sz="2000" dirty="0">
              <a:cs typeface="Calibri"/>
            </a:endParaRPr>
          </a:p>
          <a:p>
            <a:pPr marL="355600" indent="-342900" algn="just">
              <a:lnSpc>
                <a:spcPct val="150000"/>
              </a:lnSpc>
              <a:spcBef>
                <a:spcPts val="620"/>
              </a:spcBef>
              <a:buFont typeface="Arial MT"/>
              <a:buChar char="•"/>
              <a:tabLst>
                <a:tab pos="354965" algn="l"/>
                <a:tab pos="355600" algn="l"/>
              </a:tabLst>
            </a:pPr>
            <a:r>
              <a:rPr sz="2000" spc="-20" dirty="0">
                <a:cs typeface="Calibri"/>
              </a:rPr>
              <a:t>Data</a:t>
            </a:r>
            <a:r>
              <a:rPr sz="2000" spc="-10" dirty="0">
                <a:cs typeface="Calibri"/>
              </a:rPr>
              <a:t> </a:t>
            </a:r>
            <a:r>
              <a:rPr sz="2000" spc="-15" dirty="0">
                <a:cs typeface="Calibri"/>
              </a:rPr>
              <a:t>integration,</a:t>
            </a:r>
            <a:r>
              <a:rPr sz="2000" spc="-5" dirty="0">
                <a:cs typeface="Calibri"/>
              </a:rPr>
              <a:t> selection, </a:t>
            </a:r>
            <a:r>
              <a:rPr sz="2000" dirty="0">
                <a:cs typeface="Calibri"/>
              </a:rPr>
              <a:t>cleaning,</a:t>
            </a:r>
            <a:r>
              <a:rPr sz="2000" spc="-5" dirty="0">
                <a:cs typeface="Calibri"/>
              </a:rPr>
              <a:t> pre-processing, </a:t>
            </a:r>
            <a:r>
              <a:rPr sz="2000" spc="-15" dirty="0">
                <a:cs typeface="Calibri"/>
              </a:rPr>
              <a:t>etc.</a:t>
            </a:r>
            <a:endParaRPr sz="2000" dirty="0">
              <a:cs typeface="Calibri"/>
            </a:endParaRPr>
          </a:p>
          <a:p>
            <a:pPr marL="355600" indent="-342900" algn="just">
              <a:lnSpc>
                <a:spcPct val="150000"/>
              </a:lnSpc>
              <a:spcBef>
                <a:spcPts val="620"/>
              </a:spcBef>
              <a:buFont typeface="Arial MT"/>
              <a:buChar char="•"/>
              <a:tabLst>
                <a:tab pos="354965" algn="l"/>
                <a:tab pos="355600" algn="l"/>
              </a:tabLst>
            </a:pPr>
            <a:r>
              <a:rPr sz="2000" dirty="0">
                <a:cs typeface="Calibri"/>
              </a:rPr>
              <a:t>Learn</a:t>
            </a:r>
            <a:r>
              <a:rPr sz="2000" spc="-40" dirty="0">
                <a:cs typeface="Calibri"/>
              </a:rPr>
              <a:t> </a:t>
            </a:r>
            <a:r>
              <a:rPr sz="2000" spc="-5" dirty="0">
                <a:cs typeface="Calibri"/>
              </a:rPr>
              <a:t>models</a:t>
            </a:r>
            <a:endParaRPr sz="2000" dirty="0">
              <a:cs typeface="Calibri"/>
            </a:endParaRPr>
          </a:p>
          <a:p>
            <a:pPr marL="355600" indent="-342900" algn="just">
              <a:lnSpc>
                <a:spcPct val="150000"/>
              </a:lnSpc>
              <a:spcBef>
                <a:spcPts val="520"/>
              </a:spcBef>
              <a:buFont typeface="Arial MT"/>
              <a:buChar char="•"/>
              <a:tabLst>
                <a:tab pos="354965" algn="l"/>
                <a:tab pos="355600" algn="l"/>
              </a:tabLst>
            </a:pPr>
            <a:r>
              <a:rPr sz="2000" spc="-15" dirty="0">
                <a:cs typeface="Calibri"/>
              </a:rPr>
              <a:t>Interpret</a:t>
            </a:r>
            <a:r>
              <a:rPr sz="2000" spc="-30" dirty="0">
                <a:cs typeface="Calibri"/>
              </a:rPr>
              <a:t> </a:t>
            </a:r>
            <a:r>
              <a:rPr sz="2000" spc="-10" dirty="0">
                <a:cs typeface="Calibri"/>
              </a:rPr>
              <a:t>results</a:t>
            </a:r>
            <a:endParaRPr sz="2000" dirty="0">
              <a:cs typeface="Calibri"/>
            </a:endParaRPr>
          </a:p>
          <a:p>
            <a:pPr marL="355600" indent="-342900" algn="just">
              <a:lnSpc>
                <a:spcPct val="150000"/>
              </a:lnSpc>
              <a:spcBef>
                <a:spcPts val="620"/>
              </a:spcBef>
              <a:buFont typeface="Arial MT"/>
              <a:buChar char="•"/>
              <a:tabLst>
                <a:tab pos="354965" algn="l"/>
                <a:tab pos="355600" algn="l"/>
              </a:tabLst>
            </a:pPr>
            <a:r>
              <a:rPr sz="2000" spc="-10" dirty="0">
                <a:cs typeface="Calibri"/>
              </a:rPr>
              <a:t>Consolidate</a:t>
            </a:r>
            <a:r>
              <a:rPr sz="2000" spc="-15" dirty="0">
                <a:cs typeface="Calibri"/>
              </a:rPr>
              <a:t> </a:t>
            </a:r>
            <a:r>
              <a:rPr sz="2000" dirty="0">
                <a:cs typeface="Calibri"/>
              </a:rPr>
              <a:t>and</a:t>
            </a:r>
            <a:r>
              <a:rPr sz="2000" spc="-15" dirty="0">
                <a:cs typeface="Calibri"/>
              </a:rPr>
              <a:t> </a:t>
            </a:r>
            <a:r>
              <a:rPr sz="2000" spc="-5" dirty="0">
                <a:cs typeface="Calibri"/>
              </a:rPr>
              <a:t>deploy</a:t>
            </a:r>
            <a:r>
              <a:rPr sz="2000" spc="-20" dirty="0">
                <a:cs typeface="Calibri"/>
              </a:rPr>
              <a:t> </a:t>
            </a:r>
            <a:r>
              <a:rPr sz="2000" spc="-10" dirty="0">
                <a:cs typeface="Calibri"/>
              </a:rPr>
              <a:t>discovered</a:t>
            </a:r>
            <a:r>
              <a:rPr sz="2000" spc="-15" dirty="0">
                <a:cs typeface="Calibri"/>
              </a:rPr>
              <a:t> </a:t>
            </a:r>
            <a:r>
              <a:rPr sz="2000" spc="-5" dirty="0">
                <a:cs typeface="Calibri"/>
              </a:rPr>
              <a:t>knowledge</a:t>
            </a:r>
            <a:endParaRPr sz="2000" dirty="0">
              <a:cs typeface="Calibri"/>
            </a:endParaRPr>
          </a:p>
        </p:txBody>
      </p:sp>
      <p:grpSp>
        <p:nvGrpSpPr>
          <p:cNvPr id="4" name="object 4"/>
          <p:cNvGrpSpPr/>
          <p:nvPr/>
        </p:nvGrpSpPr>
        <p:grpSpPr>
          <a:xfrm>
            <a:off x="1663700" y="1435100"/>
            <a:ext cx="1168400" cy="2286000"/>
            <a:chOff x="139700" y="1435100"/>
            <a:chExt cx="1168400" cy="2286000"/>
          </a:xfrm>
        </p:grpSpPr>
        <p:pic>
          <p:nvPicPr>
            <p:cNvPr id="5" name="object 5"/>
            <p:cNvPicPr/>
            <p:nvPr/>
          </p:nvPicPr>
          <p:blipFill>
            <a:blip r:embed="rId2" cstate="print"/>
            <a:stretch>
              <a:fillRect/>
            </a:stretch>
          </p:blipFill>
          <p:spPr>
            <a:xfrm>
              <a:off x="139700" y="1435100"/>
              <a:ext cx="1168400" cy="2286000"/>
            </a:xfrm>
            <a:prstGeom prst="rect">
              <a:avLst/>
            </a:prstGeom>
          </p:spPr>
        </p:pic>
        <p:pic>
          <p:nvPicPr>
            <p:cNvPr id="6" name="object 6"/>
            <p:cNvPicPr/>
            <p:nvPr/>
          </p:nvPicPr>
          <p:blipFill>
            <a:blip r:embed="rId3" cstate="print"/>
            <a:stretch>
              <a:fillRect/>
            </a:stretch>
          </p:blipFill>
          <p:spPr>
            <a:xfrm>
              <a:off x="203063" y="1476279"/>
              <a:ext cx="1041536" cy="2155919"/>
            </a:xfrm>
            <a:prstGeom prst="rect">
              <a:avLst/>
            </a:prstGeom>
          </p:spPr>
        </p:pic>
        <p:sp>
          <p:nvSpPr>
            <p:cNvPr id="7" name="object 7"/>
            <p:cNvSpPr/>
            <p:nvPr/>
          </p:nvSpPr>
          <p:spPr>
            <a:xfrm>
              <a:off x="203200" y="1476279"/>
              <a:ext cx="1041400" cy="2156460"/>
            </a:xfrm>
            <a:custGeom>
              <a:avLst/>
              <a:gdLst/>
              <a:ahLst/>
              <a:cxnLst/>
              <a:rect l="l" t="t" r="r" b="b"/>
              <a:pathLst>
                <a:path w="1041400" h="2156460">
                  <a:moveTo>
                    <a:pt x="0" y="1258983"/>
                  </a:moveTo>
                  <a:lnTo>
                    <a:pt x="1312" y="1213761"/>
                  </a:lnTo>
                  <a:lnTo>
                    <a:pt x="5213" y="1169028"/>
                  </a:lnTo>
                  <a:lnTo>
                    <a:pt x="11647" y="1124846"/>
                  </a:lnTo>
                  <a:lnTo>
                    <a:pt x="20558" y="1081275"/>
                  </a:lnTo>
                  <a:lnTo>
                    <a:pt x="31890" y="1038378"/>
                  </a:lnTo>
                  <a:lnTo>
                    <a:pt x="45587" y="996218"/>
                  </a:lnTo>
                  <a:lnTo>
                    <a:pt x="61595" y="954855"/>
                  </a:lnTo>
                  <a:lnTo>
                    <a:pt x="79857" y="914352"/>
                  </a:lnTo>
                  <a:lnTo>
                    <a:pt x="100317" y="874771"/>
                  </a:lnTo>
                  <a:lnTo>
                    <a:pt x="122920" y="836174"/>
                  </a:lnTo>
                  <a:lnTo>
                    <a:pt x="147610" y="798622"/>
                  </a:lnTo>
                  <a:lnTo>
                    <a:pt x="174331" y="762177"/>
                  </a:lnTo>
                  <a:lnTo>
                    <a:pt x="203029" y="726902"/>
                  </a:lnTo>
                  <a:lnTo>
                    <a:pt x="233646" y="692859"/>
                  </a:lnTo>
                  <a:lnTo>
                    <a:pt x="266127" y="660109"/>
                  </a:lnTo>
                  <a:lnTo>
                    <a:pt x="300417" y="628714"/>
                  </a:lnTo>
                  <a:lnTo>
                    <a:pt x="336461" y="598736"/>
                  </a:lnTo>
                  <a:lnTo>
                    <a:pt x="374201" y="570237"/>
                  </a:lnTo>
                  <a:lnTo>
                    <a:pt x="413583" y="543280"/>
                  </a:lnTo>
                  <a:lnTo>
                    <a:pt x="454550" y="517925"/>
                  </a:lnTo>
                  <a:lnTo>
                    <a:pt x="497048" y="494235"/>
                  </a:lnTo>
                  <a:lnTo>
                    <a:pt x="541021" y="472272"/>
                  </a:lnTo>
                  <a:lnTo>
                    <a:pt x="586412" y="452098"/>
                  </a:lnTo>
                  <a:lnTo>
                    <a:pt x="633166" y="433774"/>
                  </a:lnTo>
                  <a:lnTo>
                    <a:pt x="681227" y="417363"/>
                  </a:lnTo>
                  <a:lnTo>
                    <a:pt x="730541" y="402927"/>
                  </a:lnTo>
                  <a:lnTo>
                    <a:pt x="781050" y="390527"/>
                  </a:lnTo>
                  <a:lnTo>
                    <a:pt x="781051" y="520699"/>
                  </a:lnTo>
                  <a:lnTo>
                    <a:pt x="1041400" y="231868"/>
                  </a:lnTo>
                  <a:lnTo>
                    <a:pt x="781051" y="0"/>
                  </a:lnTo>
                  <a:lnTo>
                    <a:pt x="781051" y="130176"/>
                  </a:lnTo>
                  <a:lnTo>
                    <a:pt x="730542" y="142575"/>
                  </a:lnTo>
                  <a:lnTo>
                    <a:pt x="681228" y="157012"/>
                  </a:lnTo>
                  <a:lnTo>
                    <a:pt x="633167" y="173423"/>
                  </a:lnTo>
                  <a:lnTo>
                    <a:pt x="586413" y="191746"/>
                  </a:lnTo>
                  <a:lnTo>
                    <a:pt x="541022" y="211921"/>
                  </a:lnTo>
                  <a:lnTo>
                    <a:pt x="497049" y="233884"/>
                  </a:lnTo>
                  <a:lnTo>
                    <a:pt x="454551" y="257574"/>
                  </a:lnTo>
                  <a:lnTo>
                    <a:pt x="413584" y="282928"/>
                  </a:lnTo>
                  <a:lnTo>
                    <a:pt x="374202" y="309886"/>
                  </a:lnTo>
                  <a:lnTo>
                    <a:pt x="336461" y="338385"/>
                  </a:lnTo>
                  <a:lnTo>
                    <a:pt x="300418" y="368362"/>
                  </a:lnTo>
                  <a:lnTo>
                    <a:pt x="266128" y="399757"/>
                  </a:lnTo>
                  <a:lnTo>
                    <a:pt x="233647" y="432507"/>
                  </a:lnTo>
                  <a:lnTo>
                    <a:pt x="203029" y="466551"/>
                  </a:lnTo>
                  <a:lnTo>
                    <a:pt x="174332" y="501826"/>
                  </a:lnTo>
                  <a:lnTo>
                    <a:pt x="147611" y="538270"/>
                  </a:lnTo>
                  <a:lnTo>
                    <a:pt x="122921" y="575822"/>
                  </a:lnTo>
                  <a:lnTo>
                    <a:pt x="100318" y="614420"/>
                  </a:lnTo>
                  <a:lnTo>
                    <a:pt x="79858" y="654001"/>
                  </a:lnTo>
                  <a:lnTo>
                    <a:pt x="61596" y="694504"/>
                  </a:lnTo>
                  <a:lnTo>
                    <a:pt x="45588" y="735866"/>
                  </a:lnTo>
                  <a:lnTo>
                    <a:pt x="31891" y="778027"/>
                  </a:lnTo>
                  <a:lnTo>
                    <a:pt x="20559" y="820923"/>
                  </a:lnTo>
                  <a:lnTo>
                    <a:pt x="11648" y="864494"/>
                  </a:lnTo>
                  <a:lnTo>
                    <a:pt x="5214" y="908677"/>
                  </a:lnTo>
                  <a:lnTo>
                    <a:pt x="1313" y="953409"/>
                  </a:lnTo>
                  <a:lnTo>
                    <a:pt x="0" y="998631"/>
                  </a:lnTo>
                  <a:lnTo>
                    <a:pt x="0" y="1258983"/>
                  </a:lnTo>
                  <a:lnTo>
                    <a:pt x="1274" y="1303749"/>
                  </a:lnTo>
                  <a:lnTo>
                    <a:pt x="5058" y="1347947"/>
                  </a:lnTo>
                  <a:lnTo>
                    <a:pt x="11291" y="1391525"/>
                  </a:lnTo>
                  <a:lnTo>
                    <a:pt x="19914" y="1434433"/>
                  </a:lnTo>
                  <a:lnTo>
                    <a:pt x="30867" y="1476618"/>
                  </a:lnTo>
                  <a:lnTo>
                    <a:pt x="44091" y="1518030"/>
                  </a:lnTo>
                  <a:lnTo>
                    <a:pt x="59526" y="1558616"/>
                  </a:lnTo>
                  <a:lnTo>
                    <a:pt x="77112" y="1598326"/>
                  </a:lnTo>
                  <a:lnTo>
                    <a:pt x="96790" y="1637109"/>
                  </a:lnTo>
                  <a:lnTo>
                    <a:pt x="118499" y="1674911"/>
                  </a:lnTo>
                  <a:lnTo>
                    <a:pt x="142181" y="1711684"/>
                  </a:lnTo>
                  <a:lnTo>
                    <a:pt x="167775" y="1747374"/>
                  </a:lnTo>
                  <a:lnTo>
                    <a:pt x="195223" y="1781931"/>
                  </a:lnTo>
                  <a:lnTo>
                    <a:pt x="224463" y="1815303"/>
                  </a:lnTo>
                  <a:lnTo>
                    <a:pt x="255437" y="1847439"/>
                  </a:lnTo>
                  <a:lnTo>
                    <a:pt x="288085" y="1878287"/>
                  </a:lnTo>
                  <a:lnTo>
                    <a:pt x="322348" y="1907797"/>
                  </a:lnTo>
                  <a:lnTo>
                    <a:pt x="358165" y="1935916"/>
                  </a:lnTo>
                  <a:lnTo>
                    <a:pt x="395476" y="1962593"/>
                  </a:lnTo>
                  <a:lnTo>
                    <a:pt x="434224" y="1987778"/>
                  </a:lnTo>
                  <a:lnTo>
                    <a:pt x="474346" y="2011417"/>
                  </a:lnTo>
                  <a:lnTo>
                    <a:pt x="515785" y="2033461"/>
                  </a:lnTo>
                  <a:lnTo>
                    <a:pt x="558480" y="2053858"/>
                  </a:lnTo>
                  <a:lnTo>
                    <a:pt x="602372" y="2072556"/>
                  </a:lnTo>
                  <a:lnTo>
                    <a:pt x="647400" y="2089504"/>
                  </a:lnTo>
                  <a:lnTo>
                    <a:pt x="693506" y="2104650"/>
                  </a:lnTo>
                  <a:lnTo>
                    <a:pt x="740629" y="2117944"/>
                  </a:lnTo>
                  <a:lnTo>
                    <a:pt x="788711" y="2129334"/>
                  </a:lnTo>
                  <a:lnTo>
                    <a:pt x="837691" y="2138767"/>
                  </a:lnTo>
                  <a:lnTo>
                    <a:pt x="887509" y="2146194"/>
                  </a:lnTo>
                  <a:lnTo>
                    <a:pt x="938106" y="2151563"/>
                  </a:lnTo>
                  <a:lnTo>
                    <a:pt x="989423" y="2154822"/>
                  </a:lnTo>
                  <a:lnTo>
                    <a:pt x="1041400" y="2155920"/>
                  </a:lnTo>
                  <a:lnTo>
                    <a:pt x="1041400" y="1895569"/>
                  </a:lnTo>
                  <a:lnTo>
                    <a:pt x="989994" y="1894489"/>
                  </a:lnTo>
                  <a:lnTo>
                    <a:pt x="939172" y="1891280"/>
                  </a:lnTo>
                  <a:lnTo>
                    <a:pt x="888999" y="1885990"/>
                  </a:lnTo>
                  <a:lnTo>
                    <a:pt x="839537" y="1878665"/>
                  </a:lnTo>
                  <a:lnTo>
                    <a:pt x="790850" y="1869353"/>
                  </a:lnTo>
                  <a:lnTo>
                    <a:pt x="743001" y="1858101"/>
                  </a:lnTo>
                  <a:lnTo>
                    <a:pt x="696054" y="1844957"/>
                  </a:lnTo>
                  <a:lnTo>
                    <a:pt x="650072" y="1829967"/>
                  </a:lnTo>
                  <a:lnTo>
                    <a:pt x="605118" y="1813178"/>
                  </a:lnTo>
                  <a:lnTo>
                    <a:pt x="561256" y="1794639"/>
                  </a:lnTo>
                  <a:lnTo>
                    <a:pt x="518550" y="1774396"/>
                  </a:lnTo>
                  <a:lnTo>
                    <a:pt x="477063" y="1752496"/>
                  </a:lnTo>
                  <a:lnTo>
                    <a:pt x="436858" y="1728986"/>
                  </a:lnTo>
                  <a:lnTo>
                    <a:pt x="397999" y="1703914"/>
                  </a:lnTo>
                  <a:lnTo>
                    <a:pt x="360549" y="1677327"/>
                  </a:lnTo>
                  <a:lnTo>
                    <a:pt x="324571" y="1649272"/>
                  </a:lnTo>
                  <a:lnTo>
                    <a:pt x="290130" y="1619797"/>
                  </a:lnTo>
                  <a:lnTo>
                    <a:pt x="257287" y="1588947"/>
                  </a:lnTo>
                  <a:lnTo>
                    <a:pt x="226108" y="1556772"/>
                  </a:lnTo>
                  <a:lnTo>
                    <a:pt x="196655" y="1523318"/>
                  </a:lnTo>
                  <a:lnTo>
                    <a:pt x="168992" y="1488631"/>
                  </a:lnTo>
                  <a:lnTo>
                    <a:pt x="143182" y="1452760"/>
                  </a:lnTo>
                  <a:lnTo>
                    <a:pt x="119288" y="1415751"/>
                  </a:lnTo>
                  <a:lnTo>
                    <a:pt x="97375" y="1377653"/>
                  </a:lnTo>
                  <a:lnTo>
                    <a:pt x="77505" y="1338511"/>
                  </a:lnTo>
                  <a:lnTo>
                    <a:pt x="59741" y="1298373"/>
                  </a:lnTo>
                  <a:lnTo>
                    <a:pt x="44148" y="1257286"/>
                  </a:lnTo>
                  <a:lnTo>
                    <a:pt x="30789" y="1215298"/>
                  </a:lnTo>
                  <a:lnTo>
                    <a:pt x="19727" y="1172456"/>
                  </a:lnTo>
                  <a:lnTo>
                    <a:pt x="11026" y="1128807"/>
                  </a:lnTo>
                </a:path>
              </a:pathLst>
            </a:custGeom>
            <a:ln w="12700">
              <a:solidFill>
                <a:srgbClr val="4A7EBB"/>
              </a:solidFill>
            </a:ln>
          </p:spPr>
          <p:txBody>
            <a:bodyPr wrap="square" lIns="0" tIns="0" rIns="0" bIns="0" rtlCol="0"/>
            <a:lstStyle/>
            <a:p>
              <a:endParaRPr/>
            </a:p>
          </p:txBody>
        </p:sp>
      </p:grpSp>
      <p:sp>
        <p:nvSpPr>
          <p:cNvPr id="8" name="object 8"/>
          <p:cNvSpPr txBox="1"/>
          <p:nvPr/>
        </p:nvSpPr>
        <p:spPr>
          <a:xfrm>
            <a:off x="1880882" y="2429112"/>
            <a:ext cx="887717" cy="382156"/>
          </a:xfrm>
          <a:prstGeom prst="rect">
            <a:avLst/>
          </a:prstGeom>
        </p:spPr>
        <p:txBody>
          <a:bodyPr vert="horz" wrap="square" lIns="0" tIns="12700" rIns="0" bIns="0" rtlCol="0">
            <a:spAutoFit/>
          </a:bodyPr>
          <a:lstStyle/>
          <a:p>
            <a:pPr marL="12700">
              <a:spcBef>
                <a:spcPts val="100"/>
              </a:spcBef>
            </a:pPr>
            <a:r>
              <a:rPr sz="2400" dirty="0">
                <a:cs typeface="Calibri"/>
              </a:rPr>
              <a:t>L</a:t>
            </a:r>
            <a:r>
              <a:rPr sz="2400" spc="-5" dirty="0">
                <a:cs typeface="Calibri"/>
              </a:rPr>
              <a:t>oo</a:t>
            </a:r>
            <a:r>
              <a:rPr sz="2400" dirty="0">
                <a:cs typeface="Calibri"/>
              </a:rPr>
              <a:t>p</a:t>
            </a:r>
          </a:p>
        </p:txBody>
      </p:sp>
      <p:sp>
        <p:nvSpPr>
          <p:cNvPr id="10" name="object 10"/>
          <p:cNvSpPr txBox="1"/>
          <p:nvPr/>
        </p:nvSpPr>
        <p:spPr>
          <a:xfrm>
            <a:off x="6858001" y="6577116"/>
            <a:ext cx="3591069" cy="219291"/>
          </a:xfrm>
          <a:prstGeom prst="rect">
            <a:avLst/>
          </a:prstGeom>
        </p:spPr>
        <p:txBody>
          <a:bodyPr vert="horz" wrap="square" lIns="0" tIns="3810" rIns="0" bIns="0" rtlCol="0">
            <a:spAutoFit/>
          </a:bodyPr>
          <a:lstStyle/>
          <a:p>
            <a:pPr marL="12700">
              <a:spcBef>
                <a:spcPts val="30"/>
              </a:spcBef>
            </a:pPr>
            <a:r>
              <a:rPr sz="1400" dirty="0">
                <a:cs typeface="Calibri"/>
              </a:rPr>
              <a:t>Based</a:t>
            </a:r>
            <a:r>
              <a:rPr sz="1400" spc="-15" dirty="0">
                <a:cs typeface="Calibri"/>
              </a:rPr>
              <a:t> </a:t>
            </a:r>
            <a:r>
              <a:rPr sz="1400" spc="-5" dirty="0">
                <a:cs typeface="Calibri"/>
              </a:rPr>
              <a:t>on</a:t>
            </a:r>
            <a:r>
              <a:rPr sz="1400" spc="-15" dirty="0">
                <a:cs typeface="Calibri"/>
              </a:rPr>
              <a:t> </a:t>
            </a:r>
            <a:r>
              <a:rPr sz="1400" dirty="0">
                <a:cs typeface="Calibri"/>
              </a:rPr>
              <a:t>a</a:t>
            </a:r>
            <a:r>
              <a:rPr sz="1400" spc="-5" dirty="0">
                <a:cs typeface="Calibri"/>
              </a:rPr>
              <a:t> </a:t>
            </a:r>
            <a:r>
              <a:rPr sz="1400" dirty="0">
                <a:cs typeface="Calibri"/>
              </a:rPr>
              <a:t>slide</a:t>
            </a:r>
            <a:r>
              <a:rPr sz="1400" spc="-15" dirty="0">
                <a:cs typeface="Calibri"/>
              </a:rPr>
              <a:t> </a:t>
            </a:r>
            <a:r>
              <a:rPr sz="1400" spc="-5" dirty="0">
                <a:cs typeface="Calibri"/>
              </a:rPr>
              <a:t>by </a:t>
            </a:r>
            <a:r>
              <a:rPr sz="1400" spc="-15" dirty="0">
                <a:cs typeface="Calibri"/>
              </a:rPr>
              <a:t>Pedro</a:t>
            </a:r>
            <a:r>
              <a:rPr sz="1400" spc="-20" dirty="0">
                <a:cs typeface="Calibri"/>
              </a:rPr>
              <a:t> </a:t>
            </a:r>
            <a:r>
              <a:rPr sz="1400" spc="-5" dirty="0">
                <a:cs typeface="Calibri"/>
              </a:rPr>
              <a:t>Domingos</a:t>
            </a:r>
            <a:endParaRPr sz="1400" dirty="0">
              <a:cs typeface="Calibri"/>
            </a:endParaRPr>
          </a:p>
        </p:txBody>
      </p:sp>
    </p:spTree>
    <p:extLst>
      <p:ext uri="{BB962C8B-B14F-4D97-AF65-F5344CB8AC3E}">
        <p14:creationId xmlns:p14="http://schemas.microsoft.com/office/powerpoint/2010/main" val="7072186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6B88-81D6-4632-9BA3-02ED94D3A915}"/>
              </a:ext>
            </a:extLst>
          </p:cNvPr>
          <p:cNvSpPr>
            <a:spLocks noGrp="1"/>
          </p:cNvSpPr>
          <p:nvPr>
            <p:ph type="title"/>
          </p:nvPr>
        </p:nvSpPr>
        <p:spPr>
          <a:xfrm>
            <a:off x="2286000" y="228600"/>
            <a:ext cx="7924800" cy="1094784"/>
          </a:xfrm>
        </p:spPr>
        <p:txBody>
          <a:bodyPr>
            <a:noAutofit/>
          </a:bodyPr>
          <a:lstStyle/>
          <a:p>
            <a:r>
              <a:rPr lang="en-US" sz="4400" dirty="0">
                <a:latin typeface="+mn-lt"/>
              </a:rPr>
              <a:t>Conclusion</a:t>
            </a:r>
            <a:endParaRPr lang="x-none" sz="4400" dirty="0">
              <a:latin typeface="+mn-lt"/>
            </a:endParaRPr>
          </a:p>
        </p:txBody>
      </p:sp>
      <p:sp>
        <p:nvSpPr>
          <p:cNvPr id="3" name="Content Placeholder 2">
            <a:extLst>
              <a:ext uri="{FF2B5EF4-FFF2-40B4-BE49-F238E27FC236}">
                <a16:creationId xmlns:a16="http://schemas.microsoft.com/office/drawing/2014/main" id="{D4C748AB-C95E-4D43-939E-9B9B3A01DFAB}"/>
              </a:ext>
            </a:extLst>
          </p:cNvPr>
          <p:cNvSpPr>
            <a:spLocks noGrp="1"/>
          </p:cNvSpPr>
          <p:nvPr>
            <p:ph idx="1"/>
          </p:nvPr>
        </p:nvSpPr>
        <p:spPr>
          <a:xfrm>
            <a:off x="1828800" y="1371601"/>
            <a:ext cx="8534400" cy="5237293"/>
          </a:xfrm>
        </p:spPr>
        <p:txBody>
          <a:bodyPr>
            <a:normAutofit fontScale="92500"/>
          </a:bodyPr>
          <a:lstStyle/>
          <a:p>
            <a:pPr algn="just">
              <a:lnSpc>
                <a:spcPct val="150000"/>
              </a:lnSpc>
            </a:pPr>
            <a:r>
              <a:rPr lang="en-US" dirty="0">
                <a:solidFill>
                  <a:srgbClr val="000000"/>
                </a:solidFill>
              </a:rPr>
              <a:t>ML is a technique of training machines to perform the activities a human brain can do, albeit bit faster and better than an average human-being. </a:t>
            </a:r>
          </a:p>
          <a:p>
            <a:pPr algn="just">
              <a:lnSpc>
                <a:spcPct val="150000"/>
              </a:lnSpc>
            </a:pPr>
            <a:r>
              <a:rPr lang="en-US" dirty="0">
                <a:solidFill>
                  <a:srgbClr val="000000"/>
                </a:solidFill>
              </a:rPr>
              <a:t>Today we have seen that the machines can beat human champions in games such as Chess, </a:t>
            </a:r>
            <a:r>
              <a:rPr lang="en-US" dirty="0" err="1">
                <a:solidFill>
                  <a:srgbClr val="000000"/>
                </a:solidFill>
              </a:rPr>
              <a:t>AlphaGO</a:t>
            </a:r>
            <a:r>
              <a:rPr lang="en-US" dirty="0">
                <a:solidFill>
                  <a:srgbClr val="000000"/>
                </a:solidFill>
              </a:rPr>
              <a:t>, which are considered very complex. You have seen that machines can be trained to perform human activities in several areas and can aid humans in living better lives. </a:t>
            </a:r>
          </a:p>
          <a:p>
            <a:pPr algn="just">
              <a:lnSpc>
                <a:spcPct val="150000"/>
              </a:lnSpc>
            </a:pPr>
            <a:r>
              <a:rPr lang="en-US" dirty="0">
                <a:solidFill>
                  <a:srgbClr val="000000"/>
                </a:solidFill>
              </a:rPr>
              <a:t>Machine Learning can be a Supervised or Unsupervised. If you have lesser amount of data and clearly labelled data for training, opt for Supervised Learning. </a:t>
            </a:r>
          </a:p>
          <a:p>
            <a:pPr algn="just">
              <a:lnSpc>
                <a:spcPct val="150000"/>
              </a:lnSpc>
            </a:pPr>
            <a:r>
              <a:rPr lang="en-US" dirty="0">
                <a:solidFill>
                  <a:srgbClr val="000000"/>
                </a:solidFill>
              </a:rPr>
              <a:t>Unsupervised Learning would generally give better performance and results for large data sets. If you have a huge data set easily available, go for deep learning techniques. </a:t>
            </a:r>
          </a:p>
        </p:txBody>
      </p:sp>
    </p:spTree>
    <p:extLst>
      <p:ext uri="{BB962C8B-B14F-4D97-AF65-F5344CB8AC3E}">
        <p14:creationId xmlns:p14="http://schemas.microsoft.com/office/powerpoint/2010/main" val="5799408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Get Straight Answers On Earthquake Retrofits — Optimum Seism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9931" y="977654"/>
            <a:ext cx="7163676" cy="4937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7156"/>
      </p:ext>
    </p:extLst>
  </p:cSld>
  <p:clrMapOvr>
    <a:masterClrMapping/>
  </p:clrMapOvr>
</p:sld>
</file>

<file path=ppt/theme/theme1.xml><?xml version="1.0" encoding="utf-8"?>
<a:theme xmlns:a="http://schemas.openxmlformats.org/drawingml/2006/main" name="Wisp">
  <a:themeElements>
    <a:clrScheme name="Custom 16">
      <a:dk1>
        <a:sysClr val="windowText" lastClr="000000"/>
      </a:dk1>
      <a:lt1>
        <a:sysClr val="window" lastClr="FFFFFF"/>
      </a:lt1>
      <a:dk2>
        <a:srgbClr val="000000"/>
      </a:dk2>
      <a:lt2>
        <a:srgbClr val="95D0E5"/>
      </a:lt2>
      <a:accent1>
        <a:srgbClr val="008080"/>
      </a:accent1>
      <a:accent2>
        <a:srgbClr val="95D0E5"/>
      </a:accent2>
      <a:accent3>
        <a:srgbClr val="EAAC35"/>
      </a:accent3>
      <a:accent4>
        <a:srgbClr val="9BAF68"/>
      </a:accent4>
      <a:accent5>
        <a:srgbClr val="68B9A6"/>
      </a:accent5>
      <a:accent6>
        <a:srgbClr val="50B1D4"/>
      </a:accent6>
      <a:hlink>
        <a:srgbClr val="E46416"/>
      </a:hlink>
      <a:folHlink>
        <a:srgbClr val="EE934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1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3751</TotalTime>
  <Words>2803</Words>
  <Application>Microsoft Office PowerPoint</Application>
  <PresentationFormat>Widescreen</PresentationFormat>
  <Paragraphs>397</Paragraphs>
  <Slides>53</Slides>
  <Notes>9</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53</vt:i4>
      </vt:variant>
    </vt:vector>
  </HeadingPairs>
  <TitlesOfParts>
    <vt:vector size="65" baseType="lpstr">
      <vt:lpstr>Arial</vt:lpstr>
      <vt:lpstr>Arial MT</vt:lpstr>
      <vt:lpstr>Calibri</vt:lpstr>
      <vt:lpstr>Calibri Light</vt:lpstr>
      <vt:lpstr>Century Gothic</vt:lpstr>
      <vt:lpstr>Gill Sans</vt:lpstr>
      <vt:lpstr>Ink Free</vt:lpstr>
      <vt:lpstr>Times New Roman</vt:lpstr>
      <vt:lpstr>Wingdings</vt:lpstr>
      <vt:lpstr>Wingdings 3</vt:lpstr>
      <vt:lpstr>Wisp</vt:lpstr>
      <vt:lpstr>1_Office Theme</vt:lpstr>
      <vt:lpstr>PowerPoint Presentation</vt:lpstr>
      <vt:lpstr>PowerPoint Presentation</vt:lpstr>
      <vt:lpstr>Learning Objective of this Topic </vt:lpstr>
      <vt:lpstr>PowerPoint Presentation</vt:lpstr>
      <vt:lpstr>AI vs Machine Learning vs Deep Learning</vt:lpstr>
      <vt:lpstr>Using AI</vt:lpstr>
      <vt:lpstr>Using AI</vt:lpstr>
      <vt:lpstr>Problem with classical AI</vt:lpstr>
      <vt:lpstr>Using ML</vt:lpstr>
      <vt:lpstr>Using ML: Feature space</vt:lpstr>
      <vt:lpstr>Using ML: Feature space</vt:lpstr>
      <vt:lpstr>Using ML: Feature space</vt:lpstr>
      <vt:lpstr>Using ML: Feature space</vt:lpstr>
      <vt:lpstr>Using DL</vt:lpstr>
      <vt:lpstr>Using DL</vt:lpstr>
      <vt:lpstr>Using DL</vt:lpstr>
      <vt:lpstr>Summary</vt:lpstr>
      <vt:lpstr>PowerPoint Presentation</vt:lpstr>
      <vt:lpstr>What is Machine Learning?</vt:lpstr>
      <vt:lpstr>Machine Learning</vt:lpstr>
      <vt:lpstr>Machine Learning</vt:lpstr>
      <vt:lpstr>Machine Learning</vt:lpstr>
      <vt:lpstr>Machine Learning</vt:lpstr>
      <vt:lpstr>Traditional Programming</vt:lpstr>
      <vt:lpstr>Learning Problems – Examples </vt:lpstr>
      <vt:lpstr>Learning Problems – Examples </vt:lpstr>
      <vt:lpstr>Machine Learning</vt:lpstr>
      <vt:lpstr>Machine learning</vt:lpstr>
      <vt:lpstr>PowerPoint Presentation</vt:lpstr>
      <vt:lpstr>Types of Machine Learning</vt:lpstr>
      <vt:lpstr>Machine Learning Types </vt:lpstr>
      <vt:lpstr>Supervised Learning</vt:lpstr>
      <vt:lpstr>Supervised Learning</vt:lpstr>
      <vt:lpstr>Unsupervised Learning</vt:lpstr>
      <vt:lpstr>Reinforcement Learning</vt:lpstr>
      <vt:lpstr>When Do We Use ML?</vt:lpstr>
      <vt:lpstr>Designing a Learning System</vt:lpstr>
      <vt:lpstr>Training vs. Test Distribution</vt:lpstr>
      <vt:lpstr>Artificial Neural Network</vt:lpstr>
      <vt:lpstr>ANN Architectures</vt:lpstr>
      <vt:lpstr>ANN Architectures</vt:lpstr>
      <vt:lpstr>Deep Learning</vt:lpstr>
      <vt:lpstr>Deep Learning</vt:lpstr>
      <vt:lpstr>Deep Learning</vt:lpstr>
      <vt:lpstr>Deep Learning</vt:lpstr>
      <vt:lpstr>Deep Learning</vt:lpstr>
      <vt:lpstr>ML in a Nutshell</vt:lpstr>
      <vt:lpstr>Various Function Representations</vt:lpstr>
      <vt:lpstr>Various Search/Optimization Algorithms</vt:lpstr>
      <vt:lpstr>Evaluation</vt:lpstr>
      <vt:lpstr>ML in Practice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Artificial Intelligence</dc:title>
  <dc:creator>Shahela Saif</dc:creator>
  <cp:lastModifiedBy>Qurat-ul-Ain</cp:lastModifiedBy>
  <cp:revision>191</cp:revision>
  <dcterms:created xsi:type="dcterms:W3CDTF">2023-01-23T07:15:28Z</dcterms:created>
  <dcterms:modified xsi:type="dcterms:W3CDTF">2025-09-26T09:10:23Z</dcterms:modified>
</cp:coreProperties>
</file>