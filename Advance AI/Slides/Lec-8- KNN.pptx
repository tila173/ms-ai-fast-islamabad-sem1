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g"/>
  <Override PartName="/ppt/notesSlides/notesSlide1.xml" ContentType="application/vnd.openxmlformats-officedocument.presentationml.notesSlide+xml"/>
  <Override PartName="/ppt/media/image16.jpg" ContentType="image/jpg"/>
  <Override PartName="/ppt/media/image17.jpg" ContentType="image/jpg"/>
  <Override PartName="/ppt/media/image22.jpg" ContentType="image/jpg"/>
  <Override PartName="/ppt/notesSlides/notesSlide2.xml" ContentType="application/vnd.openxmlformats-officedocument.presentationml.notesSlide+xml"/>
  <Override PartName="/ppt/media/image35.jpg" ContentType="image/jpg"/>
  <Override PartName="/ppt/media/image36.jpg" ContentType="image/jpg"/>
  <Override PartName="/ppt/media/image37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31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6" r:id="rId27"/>
    <p:sldId id="314" r:id="rId28"/>
    <p:sldId id="315" r:id="rId29"/>
    <p:sldId id="292" r:id="rId30"/>
    <p:sldId id="293" r:id="rId31"/>
    <p:sldId id="294" r:id="rId32"/>
    <p:sldId id="295" r:id="rId33"/>
    <p:sldId id="296" r:id="rId34"/>
    <p:sldId id="297" r:id="rId35"/>
    <p:sldId id="311" r:id="rId36"/>
    <p:sldId id="313" r:id="rId3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>
      <p:cViewPr varScale="1">
        <p:scale>
          <a:sx n="75" d="100"/>
          <a:sy n="75" d="100"/>
        </p:scale>
        <p:origin x="159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A5896-26BB-49E3-B88A-E2ECF9A386BF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F8A7A-D738-4429-A78D-D0E6EE15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6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Key Difference: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Eager Learning:</a:t>
            </a:r>
            <a:r>
              <a:rPr lang="en-GB" dirty="0"/>
              <a:t> Prepares a global model upfront, optimizing for faster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Instance-based Learning:</a:t>
            </a:r>
            <a:r>
              <a:rPr lang="en-GB" dirty="0"/>
              <a:t> Stores data and performs computations when predictions are needed, optimizing for flexibility.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F8A7A-D738-4429-A78D-D0E6EE1507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00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F8A7A-D738-4429-A78D-D0E6EE1507F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202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931360-7E41-4248-8AEF-AC858AB643B6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29000">
                <a:schemeClr val="accent1">
                  <a:lumMod val="5000"/>
                  <a:lumOff val="95000"/>
                  <a:alpha val="0"/>
                </a:schemeClr>
              </a:gs>
              <a:gs pos="66000">
                <a:schemeClr val="accent1">
                  <a:alpha val="58000"/>
                </a:schemeClr>
              </a:gs>
              <a:gs pos="80000">
                <a:schemeClr val="accent1">
                  <a:alpha val="61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2310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2567" y="266700"/>
            <a:ext cx="8035004" cy="10485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202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640" y="1516379"/>
            <a:ext cx="7744459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0415" y="6428920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C9E7AF35-8116-4962-B1EC-6B1FF6F1DC08}"/>
              </a:ext>
            </a:extLst>
          </p:cNvPr>
          <p:cNvGrpSpPr/>
          <p:nvPr/>
        </p:nvGrpSpPr>
        <p:grpSpPr>
          <a:xfrm>
            <a:off x="941197" y="996984"/>
            <a:ext cx="7051431" cy="2601248"/>
            <a:chOff x="1093177" y="989695"/>
            <a:chExt cx="10005646" cy="3691046"/>
          </a:xfrm>
          <a:solidFill>
            <a:schemeClr val="accent1">
              <a:lumMod val="50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4302FF1-D9B6-4C53-A2F6-0E3993A2689C}"/>
                </a:ext>
              </a:extLst>
            </p:cNvPr>
            <p:cNvSpPr/>
            <p:nvPr/>
          </p:nvSpPr>
          <p:spPr>
            <a:xfrm flipH="1" flipV="1">
              <a:off x="6623408" y="1349111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903A63-4FFE-45B1-82B1-6934A2CAAEAC}"/>
                </a:ext>
              </a:extLst>
            </p:cNvPr>
            <p:cNvSpPr/>
            <p:nvPr/>
          </p:nvSpPr>
          <p:spPr>
            <a:xfrm>
              <a:off x="1667706" y="1575962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1C6270-AAE8-43D7-B33E-A9AC33F2D067}"/>
                </a:ext>
              </a:extLst>
            </p:cNvPr>
            <p:cNvSpPr/>
            <p:nvPr/>
          </p:nvSpPr>
          <p:spPr>
            <a:xfrm flipH="1" flipV="1">
              <a:off x="6724533" y="2670316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473D73F-D2DE-4109-91E2-410C80B504F3}"/>
                </a:ext>
              </a:extLst>
            </p:cNvPr>
            <p:cNvGrpSpPr/>
            <p:nvPr/>
          </p:nvGrpSpPr>
          <p:grpSpPr>
            <a:xfrm>
              <a:off x="4692156" y="989695"/>
              <a:ext cx="2795565" cy="3631621"/>
              <a:chOff x="1257518" y="2316205"/>
              <a:chExt cx="1389446" cy="1804981"/>
            </a:xfrm>
            <a:grpFill/>
          </p:grpSpPr>
          <p:sp>
            <p:nvSpPr>
              <p:cNvPr id="40" name="Graphic 2">
                <a:extLst>
                  <a:ext uri="{FF2B5EF4-FFF2-40B4-BE49-F238E27FC236}">
                    <a16:creationId xmlns:a16="http://schemas.microsoft.com/office/drawing/2014/main" id="{53347B15-B39D-4B3A-92A7-16F069593A4D}"/>
                  </a:ext>
                </a:extLst>
              </p:cNvPr>
              <p:cNvSpPr/>
              <p:nvPr/>
            </p:nvSpPr>
            <p:spPr>
              <a:xfrm>
                <a:off x="1257518" y="2316205"/>
                <a:ext cx="1389446" cy="1804981"/>
              </a:xfrm>
              <a:custGeom>
                <a:avLst/>
                <a:gdLst>
                  <a:gd name="connsiteX0" fmla="*/ 198332 w 800100"/>
                  <a:gd name="connsiteY0" fmla="*/ 961703 h 962025"/>
                  <a:gd name="connsiteX1" fmla="*/ 646959 w 800100"/>
                  <a:gd name="connsiteY1" fmla="*/ 961703 h 962025"/>
                  <a:gd name="connsiteX2" fmla="*/ 610764 w 800100"/>
                  <a:gd name="connsiteY2" fmla="*/ 885503 h 962025"/>
                  <a:gd name="connsiteX3" fmla="*/ 686964 w 800100"/>
                  <a:gd name="connsiteY3" fmla="*/ 625471 h 962025"/>
                  <a:gd name="connsiteX4" fmla="*/ 786024 w 800100"/>
                  <a:gd name="connsiteY4" fmla="*/ 283523 h 962025"/>
                  <a:gd name="connsiteX5" fmla="*/ 359304 w 800100"/>
                  <a:gd name="connsiteY5" fmla="*/ 14918 h 962025"/>
                  <a:gd name="connsiteX6" fmla="*/ 124037 w 800100"/>
                  <a:gd name="connsiteY6" fmla="*/ 211133 h 962025"/>
                  <a:gd name="connsiteX7" fmla="*/ 116417 w 800100"/>
                  <a:gd name="connsiteY7" fmla="*/ 270188 h 962025"/>
                  <a:gd name="connsiteX8" fmla="*/ 59267 w 800100"/>
                  <a:gd name="connsiteY8" fmla="*/ 367343 h 962025"/>
                  <a:gd name="connsiteX9" fmla="*/ 13547 w 800100"/>
                  <a:gd name="connsiteY9" fmla="*/ 427351 h 962025"/>
                  <a:gd name="connsiteX10" fmla="*/ 24024 w 800100"/>
                  <a:gd name="connsiteY10" fmla="*/ 515933 h 962025"/>
                  <a:gd name="connsiteX11" fmla="*/ 63077 w 800100"/>
                  <a:gd name="connsiteY11" fmla="*/ 552128 h 962025"/>
                  <a:gd name="connsiteX12" fmla="*/ 18309 w 800100"/>
                  <a:gd name="connsiteY12" fmla="*/ 570226 h 962025"/>
                  <a:gd name="connsiteX13" fmla="*/ 30692 w 800100"/>
                  <a:gd name="connsiteY13" fmla="*/ 609278 h 962025"/>
                  <a:gd name="connsiteX14" fmla="*/ 29739 w 800100"/>
                  <a:gd name="connsiteY14" fmla="*/ 673096 h 962025"/>
                  <a:gd name="connsiteX15" fmla="*/ 85937 w 800100"/>
                  <a:gd name="connsiteY15" fmla="*/ 744533 h 962025"/>
                  <a:gd name="connsiteX16" fmla="*/ 225002 w 800100"/>
                  <a:gd name="connsiteY16" fmla="*/ 764536 h 962025"/>
                  <a:gd name="connsiteX17" fmla="*/ 198332 w 800100"/>
                  <a:gd name="connsiteY17" fmla="*/ 961703 h 962025"/>
                  <a:gd name="connsiteX0" fmla="*/ 173835 w 788240"/>
                  <a:gd name="connsiteY0" fmla="*/ 1023975 h 1023975"/>
                  <a:gd name="connsiteX1" fmla="*/ 639815 w 788240"/>
                  <a:gd name="connsiteY1" fmla="*/ 954560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8932"/>
                  <a:gd name="connsiteX1" fmla="*/ 654690 w 788240"/>
                  <a:gd name="connsiteY1" fmla="*/ 1028932 h 1028932"/>
                  <a:gd name="connsiteX2" fmla="*/ 603620 w 788240"/>
                  <a:gd name="connsiteY2" fmla="*/ 878360 h 1028932"/>
                  <a:gd name="connsiteX3" fmla="*/ 679820 w 788240"/>
                  <a:gd name="connsiteY3" fmla="*/ 618328 h 1028932"/>
                  <a:gd name="connsiteX4" fmla="*/ 778880 w 788240"/>
                  <a:gd name="connsiteY4" fmla="*/ 276380 h 1028932"/>
                  <a:gd name="connsiteX5" fmla="*/ 352160 w 788240"/>
                  <a:gd name="connsiteY5" fmla="*/ 7775 h 1028932"/>
                  <a:gd name="connsiteX6" fmla="*/ 116893 w 788240"/>
                  <a:gd name="connsiteY6" fmla="*/ 203990 h 1028932"/>
                  <a:gd name="connsiteX7" fmla="*/ 109273 w 788240"/>
                  <a:gd name="connsiteY7" fmla="*/ 263045 h 1028932"/>
                  <a:gd name="connsiteX8" fmla="*/ 52123 w 788240"/>
                  <a:gd name="connsiteY8" fmla="*/ 360200 h 1028932"/>
                  <a:gd name="connsiteX9" fmla="*/ 6403 w 788240"/>
                  <a:gd name="connsiteY9" fmla="*/ 420208 h 1028932"/>
                  <a:gd name="connsiteX10" fmla="*/ 16880 w 788240"/>
                  <a:gd name="connsiteY10" fmla="*/ 508790 h 1028932"/>
                  <a:gd name="connsiteX11" fmla="*/ 55933 w 788240"/>
                  <a:gd name="connsiteY11" fmla="*/ 544985 h 1028932"/>
                  <a:gd name="connsiteX12" fmla="*/ 11165 w 788240"/>
                  <a:gd name="connsiteY12" fmla="*/ 563083 h 1028932"/>
                  <a:gd name="connsiteX13" fmla="*/ 23548 w 788240"/>
                  <a:gd name="connsiteY13" fmla="*/ 602135 h 1028932"/>
                  <a:gd name="connsiteX14" fmla="*/ 22595 w 788240"/>
                  <a:gd name="connsiteY14" fmla="*/ 665953 h 1028932"/>
                  <a:gd name="connsiteX15" fmla="*/ 78793 w 788240"/>
                  <a:gd name="connsiteY15" fmla="*/ 737390 h 1028932"/>
                  <a:gd name="connsiteX16" fmla="*/ 217858 w 788240"/>
                  <a:gd name="connsiteY16" fmla="*/ 757393 h 1028932"/>
                  <a:gd name="connsiteX17" fmla="*/ 173835 w 788240"/>
                  <a:gd name="connsiteY17" fmla="*/ 1023975 h 1028932"/>
                  <a:gd name="connsiteX0" fmla="*/ 173835 w 788240"/>
                  <a:gd name="connsiteY0" fmla="*/ 1023975 h 1023975"/>
                  <a:gd name="connsiteX1" fmla="*/ 674523 w 788240"/>
                  <a:gd name="connsiteY1" fmla="*/ 1023974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3975"/>
                  <a:gd name="connsiteX1" fmla="*/ 679481 w 788240"/>
                  <a:gd name="connsiteY1" fmla="*/ 1014058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3975"/>
                  <a:gd name="connsiteX1" fmla="*/ 679481 w 788240"/>
                  <a:gd name="connsiteY1" fmla="*/ 1019016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3975"/>
                  <a:gd name="connsiteX1" fmla="*/ 679481 w 788240"/>
                  <a:gd name="connsiteY1" fmla="*/ 1021495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88240" h="1023975">
                    <a:moveTo>
                      <a:pt x="173835" y="1023975"/>
                    </a:moveTo>
                    <a:lnTo>
                      <a:pt x="679481" y="1021495"/>
                    </a:lnTo>
                    <a:cubicBezTo>
                      <a:pt x="666146" y="995778"/>
                      <a:pt x="612193" y="896458"/>
                      <a:pt x="603620" y="878360"/>
                    </a:cubicBezTo>
                    <a:cubicBezTo>
                      <a:pt x="579808" y="822163"/>
                      <a:pt x="596953" y="699290"/>
                      <a:pt x="679820" y="618328"/>
                    </a:cubicBezTo>
                    <a:cubicBezTo>
                      <a:pt x="758878" y="541175"/>
                      <a:pt x="810313" y="391633"/>
                      <a:pt x="778880" y="276380"/>
                    </a:cubicBezTo>
                    <a:cubicBezTo>
                      <a:pt x="727445" y="85880"/>
                      <a:pt x="555995" y="-32230"/>
                      <a:pt x="352160" y="7775"/>
                    </a:cubicBezTo>
                    <a:cubicBezTo>
                      <a:pt x="352160" y="7775"/>
                      <a:pt x="175948" y="29683"/>
                      <a:pt x="116893" y="203990"/>
                    </a:cubicBezTo>
                    <a:cubicBezTo>
                      <a:pt x="116893" y="203990"/>
                      <a:pt x="107368" y="229708"/>
                      <a:pt x="109273" y="263045"/>
                    </a:cubicBezTo>
                    <a:cubicBezTo>
                      <a:pt x="114035" y="316385"/>
                      <a:pt x="75935" y="347818"/>
                      <a:pt x="52123" y="360200"/>
                    </a:cubicBezTo>
                    <a:cubicBezTo>
                      <a:pt x="27358" y="373535"/>
                      <a:pt x="-16457" y="395443"/>
                      <a:pt x="6403" y="420208"/>
                    </a:cubicBezTo>
                    <a:cubicBezTo>
                      <a:pt x="34025" y="450688"/>
                      <a:pt x="32120" y="489740"/>
                      <a:pt x="16880" y="508790"/>
                    </a:cubicBezTo>
                    <a:cubicBezTo>
                      <a:pt x="-2170" y="531650"/>
                      <a:pt x="53075" y="532603"/>
                      <a:pt x="55933" y="544985"/>
                    </a:cubicBezTo>
                    <a:cubicBezTo>
                      <a:pt x="58790" y="558320"/>
                      <a:pt x="14975" y="547843"/>
                      <a:pt x="11165" y="563083"/>
                    </a:cubicBezTo>
                    <a:cubicBezTo>
                      <a:pt x="7355" y="579275"/>
                      <a:pt x="19738" y="583085"/>
                      <a:pt x="23548" y="602135"/>
                    </a:cubicBezTo>
                    <a:cubicBezTo>
                      <a:pt x="27358" y="621185"/>
                      <a:pt x="24500" y="656428"/>
                      <a:pt x="22595" y="665953"/>
                    </a:cubicBezTo>
                    <a:cubicBezTo>
                      <a:pt x="20690" y="675478"/>
                      <a:pt x="26405" y="732628"/>
                      <a:pt x="78793" y="737390"/>
                    </a:cubicBezTo>
                    <a:cubicBezTo>
                      <a:pt x="131180" y="742153"/>
                      <a:pt x="196903" y="731675"/>
                      <a:pt x="217858" y="757393"/>
                    </a:cubicBezTo>
                    <a:cubicBezTo>
                      <a:pt x="236908" y="783110"/>
                      <a:pt x="197647" y="952538"/>
                      <a:pt x="173835" y="10239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 dirty="0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79248F5-92F6-4CD2-BAF4-37327B4E7647}"/>
                  </a:ext>
                </a:extLst>
              </p:cNvPr>
              <p:cNvGrpSpPr/>
              <p:nvPr/>
            </p:nvGrpSpPr>
            <p:grpSpPr>
              <a:xfrm>
                <a:off x="1684786" y="2516290"/>
                <a:ext cx="702035" cy="687994"/>
                <a:chOff x="1684786" y="2516290"/>
                <a:chExt cx="702035" cy="687994"/>
              </a:xfrm>
              <a:grpFill/>
            </p:grpSpPr>
            <p:sp>
              <p:nvSpPr>
                <p:cNvPr id="42" name="Graphic 4">
                  <a:extLst>
                    <a:ext uri="{FF2B5EF4-FFF2-40B4-BE49-F238E27FC236}">
                      <a16:creationId xmlns:a16="http://schemas.microsoft.com/office/drawing/2014/main" id="{18927834-337B-4774-B8C4-66F5BF0CE3E4}"/>
                    </a:ext>
                  </a:extLst>
                </p:cNvPr>
                <p:cNvSpPr/>
                <p:nvPr/>
              </p:nvSpPr>
              <p:spPr>
                <a:xfrm>
                  <a:off x="1684786" y="2516290"/>
                  <a:ext cx="702035" cy="687994"/>
                </a:xfrm>
                <a:custGeom>
                  <a:avLst/>
                  <a:gdLst>
                    <a:gd name="connsiteX0" fmla="*/ 462439 w 476250"/>
                    <a:gd name="connsiteY0" fmla="*/ 160496 h 466725"/>
                    <a:gd name="connsiteX1" fmla="*/ 469106 w 476250"/>
                    <a:gd name="connsiteY1" fmla="*/ 153829 h 466725"/>
                    <a:gd name="connsiteX2" fmla="*/ 469106 w 476250"/>
                    <a:gd name="connsiteY2" fmla="*/ 149066 h 466725"/>
                    <a:gd name="connsiteX3" fmla="*/ 462439 w 476250"/>
                    <a:gd name="connsiteY3" fmla="*/ 142399 h 466725"/>
                    <a:gd name="connsiteX4" fmla="*/ 415766 w 476250"/>
                    <a:gd name="connsiteY4" fmla="*/ 142399 h 466725"/>
                    <a:gd name="connsiteX5" fmla="*/ 415766 w 476250"/>
                    <a:gd name="connsiteY5" fmla="*/ 93821 h 466725"/>
                    <a:gd name="connsiteX6" fmla="*/ 391954 w 476250"/>
                    <a:gd name="connsiteY6" fmla="*/ 70009 h 466725"/>
                    <a:gd name="connsiteX7" fmla="*/ 333851 w 476250"/>
                    <a:gd name="connsiteY7" fmla="*/ 70009 h 466725"/>
                    <a:gd name="connsiteX8" fmla="*/ 333851 w 476250"/>
                    <a:gd name="connsiteY8" fmla="*/ 13811 h 466725"/>
                    <a:gd name="connsiteX9" fmla="*/ 327184 w 476250"/>
                    <a:gd name="connsiteY9" fmla="*/ 7144 h 466725"/>
                    <a:gd name="connsiteX10" fmla="*/ 322421 w 476250"/>
                    <a:gd name="connsiteY10" fmla="*/ 7144 h 466725"/>
                    <a:gd name="connsiteX11" fmla="*/ 315754 w 476250"/>
                    <a:gd name="connsiteY11" fmla="*/ 13811 h 466725"/>
                    <a:gd name="connsiteX12" fmla="*/ 315754 w 476250"/>
                    <a:gd name="connsiteY12" fmla="*/ 70009 h 466725"/>
                    <a:gd name="connsiteX13" fmla="*/ 290989 w 476250"/>
                    <a:gd name="connsiteY13" fmla="*/ 70009 h 466725"/>
                    <a:gd name="connsiteX14" fmla="*/ 290989 w 476250"/>
                    <a:gd name="connsiteY14" fmla="*/ 13811 h 466725"/>
                    <a:gd name="connsiteX15" fmla="*/ 283369 w 476250"/>
                    <a:gd name="connsiteY15" fmla="*/ 7144 h 466725"/>
                    <a:gd name="connsiteX16" fmla="*/ 278606 w 476250"/>
                    <a:gd name="connsiteY16" fmla="*/ 7144 h 466725"/>
                    <a:gd name="connsiteX17" fmla="*/ 271939 w 476250"/>
                    <a:gd name="connsiteY17" fmla="*/ 13811 h 466725"/>
                    <a:gd name="connsiteX18" fmla="*/ 271939 w 476250"/>
                    <a:gd name="connsiteY18" fmla="*/ 70009 h 466725"/>
                    <a:gd name="connsiteX19" fmla="*/ 247174 w 476250"/>
                    <a:gd name="connsiteY19" fmla="*/ 70009 h 466725"/>
                    <a:gd name="connsiteX20" fmla="*/ 247174 w 476250"/>
                    <a:gd name="connsiteY20" fmla="*/ 13811 h 466725"/>
                    <a:gd name="connsiteX21" fmla="*/ 240506 w 476250"/>
                    <a:gd name="connsiteY21" fmla="*/ 7144 h 466725"/>
                    <a:gd name="connsiteX22" fmla="*/ 235744 w 476250"/>
                    <a:gd name="connsiteY22" fmla="*/ 7144 h 466725"/>
                    <a:gd name="connsiteX23" fmla="*/ 229076 w 476250"/>
                    <a:gd name="connsiteY23" fmla="*/ 13811 h 466725"/>
                    <a:gd name="connsiteX24" fmla="*/ 229076 w 476250"/>
                    <a:gd name="connsiteY24" fmla="*/ 70009 h 466725"/>
                    <a:gd name="connsiteX25" fmla="*/ 204311 w 476250"/>
                    <a:gd name="connsiteY25" fmla="*/ 70009 h 466725"/>
                    <a:gd name="connsiteX26" fmla="*/ 204311 w 476250"/>
                    <a:gd name="connsiteY26" fmla="*/ 13811 h 466725"/>
                    <a:gd name="connsiteX27" fmla="*/ 197644 w 476250"/>
                    <a:gd name="connsiteY27" fmla="*/ 7144 h 466725"/>
                    <a:gd name="connsiteX28" fmla="*/ 192881 w 476250"/>
                    <a:gd name="connsiteY28" fmla="*/ 7144 h 466725"/>
                    <a:gd name="connsiteX29" fmla="*/ 186214 w 476250"/>
                    <a:gd name="connsiteY29" fmla="*/ 13811 h 466725"/>
                    <a:gd name="connsiteX30" fmla="*/ 186214 w 476250"/>
                    <a:gd name="connsiteY30" fmla="*/ 70009 h 466725"/>
                    <a:gd name="connsiteX31" fmla="*/ 161449 w 476250"/>
                    <a:gd name="connsiteY31" fmla="*/ 70009 h 466725"/>
                    <a:gd name="connsiteX32" fmla="*/ 161449 w 476250"/>
                    <a:gd name="connsiteY32" fmla="*/ 13811 h 466725"/>
                    <a:gd name="connsiteX33" fmla="*/ 154781 w 476250"/>
                    <a:gd name="connsiteY33" fmla="*/ 7144 h 466725"/>
                    <a:gd name="connsiteX34" fmla="*/ 150019 w 476250"/>
                    <a:gd name="connsiteY34" fmla="*/ 7144 h 466725"/>
                    <a:gd name="connsiteX35" fmla="*/ 143351 w 476250"/>
                    <a:gd name="connsiteY35" fmla="*/ 13811 h 466725"/>
                    <a:gd name="connsiteX36" fmla="*/ 143351 w 476250"/>
                    <a:gd name="connsiteY36" fmla="*/ 70009 h 466725"/>
                    <a:gd name="connsiteX37" fmla="*/ 88106 w 476250"/>
                    <a:gd name="connsiteY37" fmla="*/ 70009 h 466725"/>
                    <a:gd name="connsiteX38" fmla="*/ 64294 w 476250"/>
                    <a:gd name="connsiteY38" fmla="*/ 93821 h 466725"/>
                    <a:gd name="connsiteX39" fmla="*/ 64294 w 476250"/>
                    <a:gd name="connsiteY39" fmla="*/ 142399 h 466725"/>
                    <a:gd name="connsiteX40" fmla="*/ 13811 w 476250"/>
                    <a:gd name="connsiteY40" fmla="*/ 142399 h 466725"/>
                    <a:gd name="connsiteX41" fmla="*/ 7144 w 476250"/>
                    <a:gd name="connsiteY41" fmla="*/ 149066 h 466725"/>
                    <a:gd name="connsiteX42" fmla="*/ 7144 w 476250"/>
                    <a:gd name="connsiteY42" fmla="*/ 153829 h 466725"/>
                    <a:gd name="connsiteX43" fmla="*/ 13811 w 476250"/>
                    <a:gd name="connsiteY43" fmla="*/ 160496 h 466725"/>
                    <a:gd name="connsiteX44" fmla="*/ 64294 w 476250"/>
                    <a:gd name="connsiteY44" fmla="*/ 160496 h 466725"/>
                    <a:gd name="connsiteX45" fmla="*/ 64294 w 476250"/>
                    <a:gd name="connsiteY45" fmla="*/ 185261 h 466725"/>
                    <a:gd name="connsiteX46" fmla="*/ 13811 w 476250"/>
                    <a:gd name="connsiteY46" fmla="*/ 185261 h 466725"/>
                    <a:gd name="connsiteX47" fmla="*/ 7144 w 476250"/>
                    <a:gd name="connsiteY47" fmla="*/ 191929 h 466725"/>
                    <a:gd name="connsiteX48" fmla="*/ 7144 w 476250"/>
                    <a:gd name="connsiteY48" fmla="*/ 196691 h 466725"/>
                    <a:gd name="connsiteX49" fmla="*/ 13811 w 476250"/>
                    <a:gd name="connsiteY49" fmla="*/ 203359 h 466725"/>
                    <a:gd name="connsiteX50" fmla="*/ 64294 w 476250"/>
                    <a:gd name="connsiteY50" fmla="*/ 203359 h 466725"/>
                    <a:gd name="connsiteX51" fmla="*/ 64294 w 476250"/>
                    <a:gd name="connsiteY51" fmla="*/ 228124 h 466725"/>
                    <a:gd name="connsiteX52" fmla="*/ 13811 w 476250"/>
                    <a:gd name="connsiteY52" fmla="*/ 228124 h 466725"/>
                    <a:gd name="connsiteX53" fmla="*/ 7144 w 476250"/>
                    <a:gd name="connsiteY53" fmla="*/ 235744 h 466725"/>
                    <a:gd name="connsiteX54" fmla="*/ 7144 w 476250"/>
                    <a:gd name="connsiteY54" fmla="*/ 240506 h 466725"/>
                    <a:gd name="connsiteX55" fmla="*/ 13811 w 476250"/>
                    <a:gd name="connsiteY55" fmla="*/ 247174 h 466725"/>
                    <a:gd name="connsiteX56" fmla="*/ 64294 w 476250"/>
                    <a:gd name="connsiteY56" fmla="*/ 247174 h 466725"/>
                    <a:gd name="connsiteX57" fmla="*/ 64294 w 476250"/>
                    <a:gd name="connsiteY57" fmla="*/ 271939 h 466725"/>
                    <a:gd name="connsiteX58" fmla="*/ 13811 w 476250"/>
                    <a:gd name="connsiteY58" fmla="*/ 271939 h 466725"/>
                    <a:gd name="connsiteX59" fmla="*/ 7144 w 476250"/>
                    <a:gd name="connsiteY59" fmla="*/ 278606 h 466725"/>
                    <a:gd name="connsiteX60" fmla="*/ 7144 w 476250"/>
                    <a:gd name="connsiteY60" fmla="*/ 283369 h 466725"/>
                    <a:gd name="connsiteX61" fmla="*/ 13811 w 476250"/>
                    <a:gd name="connsiteY61" fmla="*/ 290036 h 466725"/>
                    <a:gd name="connsiteX62" fmla="*/ 64294 w 476250"/>
                    <a:gd name="connsiteY62" fmla="*/ 290036 h 466725"/>
                    <a:gd name="connsiteX63" fmla="*/ 64294 w 476250"/>
                    <a:gd name="connsiteY63" fmla="*/ 314801 h 466725"/>
                    <a:gd name="connsiteX64" fmla="*/ 13811 w 476250"/>
                    <a:gd name="connsiteY64" fmla="*/ 314801 h 466725"/>
                    <a:gd name="connsiteX65" fmla="*/ 7144 w 476250"/>
                    <a:gd name="connsiteY65" fmla="*/ 321469 h 466725"/>
                    <a:gd name="connsiteX66" fmla="*/ 7144 w 476250"/>
                    <a:gd name="connsiteY66" fmla="*/ 326231 h 466725"/>
                    <a:gd name="connsiteX67" fmla="*/ 13811 w 476250"/>
                    <a:gd name="connsiteY67" fmla="*/ 332899 h 466725"/>
                    <a:gd name="connsiteX68" fmla="*/ 64294 w 476250"/>
                    <a:gd name="connsiteY68" fmla="*/ 332899 h 466725"/>
                    <a:gd name="connsiteX69" fmla="*/ 64294 w 476250"/>
                    <a:gd name="connsiteY69" fmla="*/ 380524 h 466725"/>
                    <a:gd name="connsiteX70" fmla="*/ 88106 w 476250"/>
                    <a:gd name="connsiteY70" fmla="*/ 404336 h 466725"/>
                    <a:gd name="connsiteX71" fmla="*/ 142399 w 476250"/>
                    <a:gd name="connsiteY71" fmla="*/ 404336 h 466725"/>
                    <a:gd name="connsiteX72" fmla="*/ 142399 w 476250"/>
                    <a:gd name="connsiteY72" fmla="*/ 461486 h 466725"/>
                    <a:gd name="connsiteX73" fmla="*/ 149066 w 476250"/>
                    <a:gd name="connsiteY73" fmla="*/ 468154 h 466725"/>
                    <a:gd name="connsiteX74" fmla="*/ 153829 w 476250"/>
                    <a:gd name="connsiteY74" fmla="*/ 468154 h 466725"/>
                    <a:gd name="connsiteX75" fmla="*/ 160496 w 476250"/>
                    <a:gd name="connsiteY75" fmla="*/ 461486 h 466725"/>
                    <a:gd name="connsiteX76" fmla="*/ 160496 w 476250"/>
                    <a:gd name="connsiteY76" fmla="*/ 404336 h 466725"/>
                    <a:gd name="connsiteX77" fmla="*/ 185261 w 476250"/>
                    <a:gd name="connsiteY77" fmla="*/ 404336 h 466725"/>
                    <a:gd name="connsiteX78" fmla="*/ 185261 w 476250"/>
                    <a:gd name="connsiteY78" fmla="*/ 461486 h 466725"/>
                    <a:gd name="connsiteX79" fmla="*/ 191929 w 476250"/>
                    <a:gd name="connsiteY79" fmla="*/ 468154 h 466725"/>
                    <a:gd name="connsiteX80" fmla="*/ 196691 w 476250"/>
                    <a:gd name="connsiteY80" fmla="*/ 468154 h 466725"/>
                    <a:gd name="connsiteX81" fmla="*/ 203359 w 476250"/>
                    <a:gd name="connsiteY81" fmla="*/ 461486 h 466725"/>
                    <a:gd name="connsiteX82" fmla="*/ 203359 w 476250"/>
                    <a:gd name="connsiteY82" fmla="*/ 404336 h 466725"/>
                    <a:gd name="connsiteX83" fmla="*/ 228124 w 476250"/>
                    <a:gd name="connsiteY83" fmla="*/ 404336 h 466725"/>
                    <a:gd name="connsiteX84" fmla="*/ 228124 w 476250"/>
                    <a:gd name="connsiteY84" fmla="*/ 461486 h 466725"/>
                    <a:gd name="connsiteX85" fmla="*/ 234791 w 476250"/>
                    <a:gd name="connsiteY85" fmla="*/ 468154 h 466725"/>
                    <a:gd name="connsiteX86" fmla="*/ 239554 w 476250"/>
                    <a:gd name="connsiteY86" fmla="*/ 468154 h 466725"/>
                    <a:gd name="connsiteX87" fmla="*/ 246221 w 476250"/>
                    <a:gd name="connsiteY87" fmla="*/ 461486 h 466725"/>
                    <a:gd name="connsiteX88" fmla="*/ 246221 w 476250"/>
                    <a:gd name="connsiteY88" fmla="*/ 404336 h 466725"/>
                    <a:gd name="connsiteX89" fmla="*/ 270986 w 476250"/>
                    <a:gd name="connsiteY89" fmla="*/ 404336 h 466725"/>
                    <a:gd name="connsiteX90" fmla="*/ 270986 w 476250"/>
                    <a:gd name="connsiteY90" fmla="*/ 461486 h 466725"/>
                    <a:gd name="connsiteX91" fmla="*/ 277654 w 476250"/>
                    <a:gd name="connsiteY91" fmla="*/ 468154 h 466725"/>
                    <a:gd name="connsiteX92" fmla="*/ 283369 w 476250"/>
                    <a:gd name="connsiteY92" fmla="*/ 468154 h 466725"/>
                    <a:gd name="connsiteX93" fmla="*/ 290036 w 476250"/>
                    <a:gd name="connsiteY93" fmla="*/ 461486 h 466725"/>
                    <a:gd name="connsiteX94" fmla="*/ 290036 w 476250"/>
                    <a:gd name="connsiteY94" fmla="*/ 404336 h 466725"/>
                    <a:gd name="connsiteX95" fmla="*/ 314801 w 476250"/>
                    <a:gd name="connsiteY95" fmla="*/ 404336 h 466725"/>
                    <a:gd name="connsiteX96" fmla="*/ 314801 w 476250"/>
                    <a:gd name="connsiteY96" fmla="*/ 461486 h 466725"/>
                    <a:gd name="connsiteX97" fmla="*/ 321469 w 476250"/>
                    <a:gd name="connsiteY97" fmla="*/ 468154 h 466725"/>
                    <a:gd name="connsiteX98" fmla="*/ 326231 w 476250"/>
                    <a:gd name="connsiteY98" fmla="*/ 468154 h 466725"/>
                    <a:gd name="connsiteX99" fmla="*/ 332899 w 476250"/>
                    <a:gd name="connsiteY99" fmla="*/ 461486 h 466725"/>
                    <a:gd name="connsiteX100" fmla="*/ 332899 w 476250"/>
                    <a:gd name="connsiteY100" fmla="*/ 404336 h 466725"/>
                    <a:gd name="connsiteX101" fmla="*/ 391001 w 476250"/>
                    <a:gd name="connsiteY101" fmla="*/ 404336 h 466725"/>
                    <a:gd name="connsiteX102" fmla="*/ 414814 w 476250"/>
                    <a:gd name="connsiteY102" fmla="*/ 380524 h 466725"/>
                    <a:gd name="connsiteX103" fmla="*/ 414814 w 476250"/>
                    <a:gd name="connsiteY103" fmla="*/ 332899 h 466725"/>
                    <a:gd name="connsiteX104" fmla="*/ 461486 w 476250"/>
                    <a:gd name="connsiteY104" fmla="*/ 332899 h 466725"/>
                    <a:gd name="connsiteX105" fmla="*/ 468154 w 476250"/>
                    <a:gd name="connsiteY105" fmla="*/ 326231 h 466725"/>
                    <a:gd name="connsiteX106" fmla="*/ 468154 w 476250"/>
                    <a:gd name="connsiteY106" fmla="*/ 321469 h 466725"/>
                    <a:gd name="connsiteX107" fmla="*/ 461486 w 476250"/>
                    <a:gd name="connsiteY107" fmla="*/ 314801 h 466725"/>
                    <a:gd name="connsiteX108" fmla="*/ 414814 w 476250"/>
                    <a:gd name="connsiteY108" fmla="*/ 314801 h 466725"/>
                    <a:gd name="connsiteX109" fmla="*/ 414814 w 476250"/>
                    <a:gd name="connsiteY109" fmla="*/ 290036 h 466725"/>
                    <a:gd name="connsiteX110" fmla="*/ 461486 w 476250"/>
                    <a:gd name="connsiteY110" fmla="*/ 290036 h 466725"/>
                    <a:gd name="connsiteX111" fmla="*/ 468154 w 476250"/>
                    <a:gd name="connsiteY111" fmla="*/ 283369 h 466725"/>
                    <a:gd name="connsiteX112" fmla="*/ 468154 w 476250"/>
                    <a:gd name="connsiteY112" fmla="*/ 278606 h 466725"/>
                    <a:gd name="connsiteX113" fmla="*/ 461486 w 476250"/>
                    <a:gd name="connsiteY113" fmla="*/ 271939 h 466725"/>
                    <a:gd name="connsiteX114" fmla="*/ 414814 w 476250"/>
                    <a:gd name="connsiteY114" fmla="*/ 271939 h 466725"/>
                    <a:gd name="connsiteX115" fmla="*/ 414814 w 476250"/>
                    <a:gd name="connsiteY115" fmla="*/ 247174 h 466725"/>
                    <a:gd name="connsiteX116" fmla="*/ 461486 w 476250"/>
                    <a:gd name="connsiteY116" fmla="*/ 247174 h 466725"/>
                    <a:gd name="connsiteX117" fmla="*/ 468154 w 476250"/>
                    <a:gd name="connsiteY117" fmla="*/ 240506 h 466725"/>
                    <a:gd name="connsiteX118" fmla="*/ 468154 w 476250"/>
                    <a:gd name="connsiteY118" fmla="*/ 235744 h 466725"/>
                    <a:gd name="connsiteX119" fmla="*/ 461486 w 476250"/>
                    <a:gd name="connsiteY119" fmla="*/ 229076 h 466725"/>
                    <a:gd name="connsiteX120" fmla="*/ 414814 w 476250"/>
                    <a:gd name="connsiteY120" fmla="*/ 229076 h 466725"/>
                    <a:gd name="connsiteX121" fmla="*/ 414814 w 476250"/>
                    <a:gd name="connsiteY121" fmla="*/ 204311 h 466725"/>
                    <a:gd name="connsiteX122" fmla="*/ 461486 w 476250"/>
                    <a:gd name="connsiteY122" fmla="*/ 204311 h 466725"/>
                    <a:gd name="connsiteX123" fmla="*/ 468154 w 476250"/>
                    <a:gd name="connsiteY123" fmla="*/ 197644 h 466725"/>
                    <a:gd name="connsiteX124" fmla="*/ 468154 w 476250"/>
                    <a:gd name="connsiteY124" fmla="*/ 192881 h 466725"/>
                    <a:gd name="connsiteX125" fmla="*/ 461486 w 476250"/>
                    <a:gd name="connsiteY125" fmla="*/ 186214 h 466725"/>
                    <a:gd name="connsiteX126" fmla="*/ 414814 w 476250"/>
                    <a:gd name="connsiteY126" fmla="*/ 186214 h 466725"/>
                    <a:gd name="connsiteX127" fmla="*/ 414814 w 476250"/>
                    <a:gd name="connsiteY127" fmla="*/ 161449 h 466725"/>
                    <a:gd name="connsiteX128" fmla="*/ 462439 w 476250"/>
                    <a:gd name="connsiteY128" fmla="*/ 161449 h 466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</a:cxnLst>
                  <a:rect l="l" t="t" r="r" b="b"/>
                  <a:pathLst>
                    <a:path w="476250" h="466725">
                      <a:moveTo>
                        <a:pt x="462439" y="160496"/>
                      </a:moveTo>
                      <a:cubicBezTo>
                        <a:pt x="466249" y="160496"/>
                        <a:pt x="469106" y="157639"/>
                        <a:pt x="469106" y="153829"/>
                      </a:cubicBezTo>
                      <a:lnTo>
                        <a:pt x="469106" y="149066"/>
                      </a:lnTo>
                      <a:cubicBezTo>
                        <a:pt x="469106" y="145256"/>
                        <a:pt x="466249" y="142399"/>
                        <a:pt x="462439" y="142399"/>
                      </a:cubicBezTo>
                      <a:lnTo>
                        <a:pt x="415766" y="142399"/>
                      </a:lnTo>
                      <a:lnTo>
                        <a:pt x="415766" y="93821"/>
                      </a:lnTo>
                      <a:cubicBezTo>
                        <a:pt x="415766" y="80486"/>
                        <a:pt x="405289" y="70009"/>
                        <a:pt x="391954" y="70009"/>
                      </a:cubicBezTo>
                      <a:lnTo>
                        <a:pt x="333851" y="70009"/>
                      </a:lnTo>
                      <a:lnTo>
                        <a:pt x="333851" y="13811"/>
                      </a:lnTo>
                      <a:cubicBezTo>
                        <a:pt x="333851" y="10001"/>
                        <a:pt x="330994" y="7144"/>
                        <a:pt x="327184" y="7144"/>
                      </a:cubicBezTo>
                      <a:lnTo>
                        <a:pt x="322421" y="7144"/>
                      </a:lnTo>
                      <a:cubicBezTo>
                        <a:pt x="318611" y="7144"/>
                        <a:pt x="315754" y="10001"/>
                        <a:pt x="315754" y="13811"/>
                      </a:cubicBezTo>
                      <a:lnTo>
                        <a:pt x="315754" y="70009"/>
                      </a:lnTo>
                      <a:lnTo>
                        <a:pt x="290989" y="70009"/>
                      </a:lnTo>
                      <a:lnTo>
                        <a:pt x="290989" y="13811"/>
                      </a:lnTo>
                      <a:cubicBezTo>
                        <a:pt x="290989" y="10001"/>
                        <a:pt x="287179" y="7144"/>
                        <a:pt x="283369" y="7144"/>
                      </a:cubicBezTo>
                      <a:lnTo>
                        <a:pt x="278606" y="7144"/>
                      </a:lnTo>
                      <a:cubicBezTo>
                        <a:pt x="274796" y="7144"/>
                        <a:pt x="271939" y="10001"/>
                        <a:pt x="271939" y="13811"/>
                      </a:cubicBezTo>
                      <a:lnTo>
                        <a:pt x="271939" y="70009"/>
                      </a:lnTo>
                      <a:lnTo>
                        <a:pt x="247174" y="70009"/>
                      </a:lnTo>
                      <a:lnTo>
                        <a:pt x="247174" y="13811"/>
                      </a:lnTo>
                      <a:cubicBezTo>
                        <a:pt x="247174" y="10001"/>
                        <a:pt x="244316" y="7144"/>
                        <a:pt x="240506" y="7144"/>
                      </a:cubicBezTo>
                      <a:lnTo>
                        <a:pt x="235744" y="7144"/>
                      </a:lnTo>
                      <a:cubicBezTo>
                        <a:pt x="231934" y="7144"/>
                        <a:pt x="229076" y="10001"/>
                        <a:pt x="229076" y="13811"/>
                      </a:cubicBezTo>
                      <a:lnTo>
                        <a:pt x="229076" y="70009"/>
                      </a:lnTo>
                      <a:lnTo>
                        <a:pt x="204311" y="70009"/>
                      </a:lnTo>
                      <a:lnTo>
                        <a:pt x="204311" y="13811"/>
                      </a:lnTo>
                      <a:cubicBezTo>
                        <a:pt x="204311" y="10001"/>
                        <a:pt x="201454" y="7144"/>
                        <a:pt x="197644" y="7144"/>
                      </a:cubicBezTo>
                      <a:lnTo>
                        <a:pt x="192881" y="7144"/>
                      </a:lnTo>
                      <a:cubicBezTo>
                        <a:pt x="189071" y="7144"/>
                        <a:pt x="186214" y="10001"/>
                        <a:pt x="186214" y="13811"/>
                      </a:cubicBezTo>
                      <a:lnTo>
                        <a:pt x="186214" y="70009"/>
                      </a:lnTo>
                      <a:lnTo>
                        <a:pt x="161449" y="70009"/>
                      </a:lnTo>
                      <a:lnTo>
                        <a:pt x="161449" y="13811"/>
                      </a:lnTo>
                      <a:cubicBezTo>
                        <a:pt x="161449" y="10001"/>
                        <a:pt x="158591" y="7144"/>
                        <a:pt x="154781" y="7144"/>
                      </a:cubicBezTo>
                      <a:lnTo>
                        <a:pt x="150019" y="7144"/>
                      </a:lnTo>
                      <a:cubicBezTo>
                        <a:pt x="146209" y="7144"/>
                        <a:pt x="143351" y="10001"/>
                        <a:pt x="143351" y="13811"/>
                      </a:cubicBezTo>
                      <a:lnTo>
                        <a:pt x="143351" y="70009"/>
                      </a:lnTo>
                      <a:lnTo>
                        <a:pt x="88106" y="70009"/>
                      </a:lnTo>
                      <a:cubicBezTo>
                        <a:pt x="74771" y="70009"/>
                        <a:pt x="64294" y="81439"/>
                        <a:pt x="64294" y="93821"/>
                      </a:cubicBezTo>
                      <a:lnTo>
                        <a:pt x="64294" y="142399"/>
                      </a:lnTo>
                      <a:lnTo>
                        <a:pt x="13811" y="142399"/>
                      </a:lnTo>
                      <a:cubicBezTo>
                        <a:pt x="10001" y="142399"/>
                        <a:pt x="7144" y="145256"/>
                        <a:pt x="7144" y="149066"/>
                      </a:cubicBezTo>
                      <a:lnTo>
                        <a:pt x="7144" y="153829"/>
                      </a:lnTo>
                      <a:cubicBezTo>
                        <a:pt x="7144" y="157639"/>
                        <a:pt x="10001" y="160496"/>
                        <a:pt x="13811" y="160496"/>
                      </a:cubicBezTo>
                      <a:lnTo>
                        <a:pt x="64294" y="160496"/>
                      </a:lnTo>
                      <a:lnTo>
                        <a:pt x="64294" y="185261"/>
                      </a:lnTo>
                      <a:lnTo>
                        <a:pt x="13811" y="185261"/>
                      </a:lnTo>
                      <a:cubicBezTo>
                        <a:pt x="10001" y="185261"/>
                        <a:pt x="7144" y="188119"/>
                        <a:pt x="7144" y="191929"/>
                      </a:cubicBezTo>
                      <a:lnTo>
                        <a:pt x="7144" y="196691"/>
                      </a:lnTo>
                      <a:cubicBezTo>
                        <a:pt x="7144" y="200501"/>
                        <a:pt x="10001" y="203359"/>
                        <a:pt x="13811" y="203359"/>
                      </a:cubicBezTo>
                      <a:lnTo>
                        <a:pt x="64294" y="203359"/>
                      </a:lnTo>
                      <a:lnTo>
                        <a:pt x="64294" y="228124"/>
                      </a:lnTo>
                      <a:lnTo>
                        <a:pt x="13811" y="228124"/>
                      </a:lnTo>
                      <a:cubicBezTo>
                        <a:pt x="10001" y="229076"/>
                        <a:pt x="7144" y="231934"/>
                        <a:pt x="7144" y="235744"/>
                      </a:cubicBezTo>
                      <a:lnTo>
                        <a:pt x="7144" y="240506"/>
                      </a:lnTo>
                      <a:cubicBezTo>
                        <a:pt x="7144" y="244316"/>
                        <a:pt x="10001" y="247174"/>
                        <a:pt x="13811" y="247174"/>
                      </a:cubicBezTo>
                      <a:lnTo>
                        <a:pt x="64294" y="247174"/>
                      </a:lnTo>
                      <a:lnTo>
                        <a:pt x="64294" y="271939"/>
                      </a:lnTo>
                      <a:lnTo>
                        <a:pt x="13811" y="271939"/>
                      </a:lnTo>
                      <a:cubicBezTo>
                        <a:pt x="10001" y="271939"/>
                        <a:pt x="7144" y="274796"/>
                        <a:pt x="7144" y="278606"/>
                      </a:cubicBezTo>
                      <a:lnTo>
                        <a:pt x="7144" y="283369"/>
                      </a:lnTo>
                      <a:cubicBezTo>
                        <a:pt x="7144" y="287179"/>
                        <a:pt x="10001" y="290036"/>
                        <a:pt x="13811" y="290036"/>
                      </a:cubicBezTo>
                      <a:lnTo>
                        <a:pt x="64294" y="290036"/>
                      </a:lnTo>
                      <a:lnTo>
                        <a:pt x="64294" y="314801"/>
                      </a:lnTo>
                      <a:lnTo>
                        <a:pt x="13811" y="314801"/>
                      </a:lnTo>
                      <a:cubicBezTo>
                        <a:pt x="10001" y="314801"/>
                        <a:pt x="7144" y="317659"/>
                        <a:pt x="7144" y="321469"/>
                      </a:cubicBezTo>
                      <a:lnTo>
                        <a:pt x="7144" y="326231"/>
                      </a:lnTo>
                      <a:cubicBezTo>
                        <a:pt x="7144" y="330041"/>
                        <a:pt x="10001" y="332899"/>
                        <a:pt x="13811" y="332899"/>
                      </a:cubicBezTo>
                      <a:lnTo>
                        <a:pt x="64294" y="332899"/>
                      </a:lnTo>
                      <a:lnTo>
                        <a:pt x="64294" y="380524"/>
                      </a:lnTo>
                      <a:cubicBezTo>
                        <a:pt x="64294" y="393859"/>
                        <a:pt x="74771" y="404336"/>
                        <a:pt x="88106" y="404336"/>
                      </a:cubicBezTo>
                      <a:lnTo>
                        <a:pt x="142399" y="404336"/>
                      </a:lnTo>
                      <a:lnTo>
                        <a:pt x="142399" y="461486"/>
                      </a:lnTo>
                      <a:cubicBezTo>
                        <a:pt x="142399" y="465296"/>
                        <a:pt x="145256" y="468154"/>
                        <a:pt x="149066" y="468154"/>
                      </a:cubicBezTo>
                      <a:lnTo>
                        <a:pt x="153829" y="468154"/>
                      </a:lnTo>
                      <a:cubicBezTo>
                        <a:pt x="157639" y="468154"/>
                        <a:pt x="160496" y="465296"/>
                        <a:pt x="160496" y="461486"/>
                      </a:cubicBezTo>
                      <a:lnTo>
                        <a:pt x="160496" y="404336"/>
                      </a:lnTo>
                      <a:lnTo>
                        <a:pt x="185261" y="404336"/>
                      </a:lnTo>
                      <a:lnTo>
                        <a:pt x="185261" y="461486"/>
                      </a:lnTo>
                      <a:cubicBezTo>
                        <a:pt x="185261" y="465296"/>
                        <a:pt x="188119" y="468154"/>
                        <a:pt x="191929" y="468154"/>
                      </a:cubicBezTo>
                      <a:lnTo>
                        <a:pt x="196691" y="468154"/>
                      </a:lnTo>
                      <a:cubicBezTo>
                        <a:pt x="200501" y="468154"/>
                        <a:pt x="203359" y="465296"/>
                        <a:pt x="203359" y="461486"/>
                      </a:cubicBezTo>
                      <a:lnTo>
                        <a:pt x="203359" y="404336"/>
                      </a:lnTo>
                      <a:lnTo>
                        <a:pt x="228124" y="404336"/>
                      </a:lnTo>
                      <a:lnTo>
                        <a:pt x="228124" y="461486"/>
                      </a:lnTo>
                      <a:cubicBezTo>
                        <a:pt x="228124" y="465296"/>
                        <a:pt x="230981" y="468154"/>
                        <a:pt x="234791" y="468154"/>
                      </a:cubicBezTo>
                      <a:lnTo>
                        <a:pt x="239554" y="468154"/>
                      </a:lnTo>
                      <a:cubicBezTo>
                        <a:pt x="243364" y="468154"/>
                        <a:pt x="246221" y="465296"/>
                        <a:pt x="246221" y="461486"/>
                      </a:cubicBezTo>
                      <a:lnTo>
                        <a:pt x="246221" y="404336"/>
                      </a:lnTo>
                      <a:lnTo>
                        <a:pt x="270986" y="404336"/>
                      </a:lnTo>
                      <a:lnTo>
                        <a:pt x="270986" y="461486"/>
                      </a:lnTo>
                      <a:cubicBezTo>
                        <a:pt x="270986" y="465296"/>
                        <a:pt x="273844" y="468154"/>
                        <a:pt x="277654" y="468154"/>
                      </a:cubicBezTo>
                      <a:lnTo>
                        <a:pt x="283369" y="468154"/>
                      </a:lnTo>
                      <a:cubicBezTo>
                        <a:pt x="287179" y="468154"/>
                        <a:pt x="290036" y="465296"/>
                        <a:pt x="290036" y="461486"/>
                      </a:cubicBezTo>
                      <a:lnTo>
                        <a:pt x="290036" y="404336"/>
                      </a:lnTo>
                      <a:lnTo>
                        <a:pt x="314801" y="404336"/>
                      </a:lnTo>
                      <a:lnTo>
                        <a:pt x="314801" y="461486"/>
                      </a:lnTo>
                      <a:cubicBezTo>
                        <a:pt x="314801" y="465296"/>
                        <a:pt x="317659" y="468154"/>
                        <a:pt x="321469" y="468154"/>
                      </a:cubicBezTo>
                      <a:lnTo>
                        <a:pt x="326231" y="468154"/>
                      </a:lnTo>
                      <a:cubicBezTo>
                        <a:pt x="330041" y="468154"/>
                        <a:pt x="332899" y="465296"/>
                        <a:pt x="332899" y="461486"/>
                      </a:cubicBezTo>
                      <a:lnTo>
                        <a:pt x="332899" y="404336"/>
                      </a:lnTo>
                      <a:lnTo>
                        <a:pt x="391001" y="404336"/>
                      </a:lnTo>
                      <a:cubicBezTo>
                        <a:pt x="404336" y="404336"/>
                        <a:pt x="414814" y="393859"/>
                        <a:pt x="414814" y="380524"/>
                      </a:cubicBezTo>
                      <a:lnTo>
                        <a:pt x="414814" y="332899"/>
                      </a:lnTo>
                      <a:lnTo>
                        <a:pt x="461486" y="332899"/>
                      </a:lnTo>
                      <a:cubicBezTo>
                        <a:pt x="465296" y="332899"/>
                        <a:pt x="468154" y="330041"/>
                        <a:pt x="468154" y="326231"/>
                      </a:cubicBezTo>
                      <a:lnTo>
                        <a:pt x="468154" y="321469"/>
                      </a:lnTo>
                      <a:cubicBezTo>
                        <a:pt x="468154" y="317659"/>
                        <a:pt x="465296" y="314801"/>
                        <a:pt x="461486" y="314801"/>
                      </a:cubicBezTo>
                      <a:lnTo>
                        <a:pt x="414814" y="314801"/>
                      </a:lnTo>
                      <a:lnTo>
                        <a:pt x="414814" y="290036"/>
                      </a:lnTo>
                      <a:lnTo>
                        <a:pt x="461486" y="290036"/>
                      </a:lnTo>
                      <a:cubicBezTo>
                        <a:pt x="465296" y="290036"/>
                        <a:pt x="468154" y="287179"/>
                        <a:pt x="468154" y="283369"/>
                      </a:cubicBezTo>
                      <a:lnTo>
                        <a:pt x="468154" y="278606"/>
                      </a:lnTo>
                      <a:cubicBezTo>
                        <a:pt x="468154" y="274796"/>
                        <a:pt x="465296" y="271939"/>
                        <a:pt x="461486" y="271939"/>
                      </a:cubicBezTo>
                      <a:lnTo>
                        <a:pt x="414814" y="271939"/>
                      </a:lnTo>
                      <a:lnTo>
                        <a:pt x="414814" y="247174"/>
                      </a:lnTo>
                      <a:lnTo>
                        <a:pt x="461486" y="247174"/>
                      </a:lnTo>
                      <a:cubicBezTo>
                        <a:pt x="465296" y="247174"/>
                        <a:pt x="468154" y="244316"/>
                        <a:pt x="468154" y="240506"/>
                      </a:cubicBezTo>
                      <a:lnTo>
                        <a:pt x="468154" y="235744"/>
                      </a:lnTo>
                      <a:cubicBezTo>
                        <a:pt x="468154" y="231934"/>
                        <a:pt x="465296" y="229076"/>
                        <a:pt x="461486" y="229076"/>
                      </a:cubicBezTo>
                      <a:lnTo>
                        <a:pt x="414814" y="229076"/>
                      </a:lnTo>
                      <a:lnTo>
                        <a:pt x="414814" y="204311"/>
                      </a:lnTo>
                      <a:lnTo>
                        <a:pt x="461486" y="204311"/>
                      </a:lnTo>
                      <a:cubicBezTo>
                        <a:pt x="465296" y="204311"/>
                        <a:pt x="468154" y="201454"/>
                        <a:pt x="468154" y="197644"/>
                      </a:cubicBezTo>
                      <a:lnTo>
                        <a:pt x="468154" y="192881"/>
                      </a:lnTo>
                      <a:cubicBezTo>
                        <a:pt x="468154" y="189071"/>
                        <a:pt x="465296" y="186214"/>
                        <a:pt x="461486" y="186214"/>
                      </a:cubicBezTo>
                      <a:lnTo>
                        <a:pt x="414814" y="186214"/>
                      </a:lnTo>
                      <a:lnTo>
                        <a:pt x="414814" y="161449"/>
                      </a:lnTo>
                      <a:lnTo>
                        <a:pt x="462439" y="16144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93BEA3D9-9AE5-46B2-A231-8B49AC2E558A}"/>
                    </a:ext>
                  </a:extLst>
                </p:cNvPr>
                <p:cNvSpPr/>
                <p:nvPr/>
              </p:nvSpPr>
              <p:spPr>
                <a:xfrm>
                  <a:off x="1855157" y="2765044"/>
                  <a:ext cx="330249" cy="218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49" h="218182">
                      <a:moveTo>
                        <a:pt x="117946" y="56554"/>
                      </a:moveTo>
                      <a:lnTo>
                        <a:pt x="94115" y="134987"/>
                      </a:lnTo>
                      <a:lnTo>
                        <a:pt x="142028" y="134987"/>
                      </a:lnTo>
                      <a:close/>
                      <a:moveTo>
                        <a:pt x="262681" y="0"/>
                      </a:moveTo>
                      <a:lnTo>
                        <a:pt x="330249" y="0"/>
                      </a:lnTo>
                      <a:lnTo>
                        <a:pt x="330249" y="218182"/>
                      </a:lnTo>
                      <a:lnTo>
                        <a:pt x="262681" y="218182"/>
                      </a:lnTo>
                      <a:close/>
                      <a:moveTo>
                        <a:pt x="82004" y="0"/>
                      </a:moveTo>
                      <a:lnTo>
                        <a:pt x="155544" y="0"/>
                      </a:lnTo>
                      <a:lnTo>
                        <a:pt x="237529" y="218182"/>
                      </a:lnTo>
                      <a:lnTo>
                        <a:pt x="166929" y="218182"/>
                      </a:lnTo>
                      <a:lnTo>
                        <a:pt x="156013" y="182165"/>
                      </a:lnTo>
                      <a:lnTo>
                        <a:pt x="79472" y="182165"/>
                      </a:lnTo>
                      <a:lnTo>
                        <a:pt x="68837" y="218182"/>
                      </a:lnTo>
                      <a:lnTo>
                        <a:pt x="0" y="218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16EB048-7D81-463A-970A-20BB88838548}"/>
                </a:ext>
              </a:extLst>
            </p:cNvPr>
            <p:cNvSpPr/>
            <p:nvPr/>
          </p:nvSpPr>
          <p:spPr>
            <a:xfrm>
              <a:off x="1912556" y="2967547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19F564-C784-4AD8-912A-2FD004D79F20}"/>
                </a:ext>
              </a:extLst>
            </p:cNvPr>
            <p:cNvSpPr/>
            <p:nvPr/>
          </p:nvSpPr>
          <p:spPr>
            <a:xfrm>
              <a:off x="1093177" y="4613033"/>
              <a:ext cx="10005646" cy="6770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02F4B8E-9B3E-4F0F-A7A3-4E4CCE2F61D7}"/>
              </a:ext>
            </a:extLst>
          </p:cNvPr>
          <p:cNvSpPr txBox="1"/>
          <p:nvPr/>
        </p:nvSpPr>
        <p:spPr>
          <a:xfrm>
            <a:off x="1030086" y="3704061"/>
            <a:ext cx="6865108" cy="5078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27000" tIns="0" rIns="27000" bIns="0" rtlCol="0">
            <a:spAutoFit/>
          </a:bodyPr>
          <a:lstStyle/>
          <a:p>
            <a:r>
              <a:rPr lang="en-US" altLang="ko-KR" sz="3300" dirty="0">
                <a:solidFill>
                  <a:schemeClr val="bg1"/>
                </a:solidFill>
                <a:cs typeface="Arial" pitchFamily="34" charset="0"/>
              </a:rPr>
              <a:t>Advanced Artificial Intelligence</a:t>
            </a:r>
            <a:endParaRPr lang="ko-KR" altLang="en-US" sz="33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B9F391-7E1F-4012-B14B-0323F1643F27}"/>
              </a:ext>
            </a:extLst>
          </p:cNvPr>
          <p:cNvSpPr txBox="1"/>
          <p:nvPr/>
        </p:nvSpPr>
        <p:spPr>
          <a:xfrm>
            <a:off x="6233113" y="4846588"/>
            <a:ext cx="2910887" cy="11541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27000" tIns="0" rIns="27000" bIns="0" rtlCol="0">
            <a:spAutoFit/>
          </a:bodyPr>
          <a:lstStyle/>
          <a:p>
            <a:r>
              <a:rPr lang="en-US" altLang="ko-KR" sz="1500" b="1" dirty="0">
                <a:solidFill>
                  <a:schemeClr val="bg1"/>
                </a:solidFill>
                <a:cs typeface="Arial" pitchFamily="34" charset="0"/>
              </a:rPr>
              <a:t>Dr. Qurat Ul Ain</a:t>
            </a:r>
          </a:p>
          <a:p>
            <a: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  <a:t>Assistant Professor</a:t>
            </a:r>
            <a:b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</a:br>
            <a: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  <a:t>Dept. of AI &amp; DS</a:t>
            </a:r>
          </a:p>
          <a:p>
            <a: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  <a:t>FAST NUCES, Islamabad</a:t>
            </a:r>
          </a:p>
          <a:p>
            <a:r>
              <a:rPr lang="en-US" sz="1500" dirty="0">
                <a:solidFill>
                  <a:schemeClr val="bg1"/>
                </a:solidFill>
              </a:rPr>
              <a:t>Email: quratul.ain@isb.nu.edu.pk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87D2B-81E8-6A6D-CC3C-D10A47D9498F}"/>
              </a:ext>
            </a:extLst>
          </p:cNvPr>
          <p:cNvSpPr txBox="1"/>
          <p:nvPr/>
        </p:nvSpPr>
        <p:spPr>
          <a:xfrm>
            <a:off x="3528583" y="4342761"/>
            <a:ext cx="1546698" cy="276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27000" tIns="0" rIns="27000" bIns="0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   Week </a:t>
            </a:r>
            <a:r>
              <a:rPr lang="en-US" altLang="ko-KR">
                <a:solidFill>
                  <a:schemeClr val="bg1"/>
                </a:solidFill>
                <a:cs typeface="Arial" pitchFamily="34" charset="0"/>
              </a:rPr>
              <a:t># 8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55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1076325" algn="l" fontAlgn="t">
              <a:lnSpc>
                <a:spcPct val="150000"/>
              </a:lnSpc>
            </a:pPr>
            <a:endParaRPr lang="en-US" sz="1800" b="1" i="0" u="none" strike="noStrike" spc="-35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62075" indent="-285750" algn="l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i="0" u="none" strike="noStrike" spc="-3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1362075" indent="-285750" algn="l" fontAlgn="t">
              <a:lnSpc>
                <a:spcPct val="150000"/>
              </a:lnSpc>
              <a:spcBef>
                <a:spcPts val="295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spc="-12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Instance</a:t>
            </a:r>
            <a:r>
              <a:rPr lang="en-US" sz="1800" b="1" i="0" u="none" strike="noStrike" spc="4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spc="-12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en-US" sz="1800" b="1" i="0" u="none" strike="noStrike" spc="3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spc="-7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1362075" indent="-285750" algn="l" fontAlgn="t">
              <a:lnSpc>
                <a:spcPct val="150000"/>
              </a:lnSpc>
              <a:spcBef>
                <a:spcPts val="284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spc="-9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KNN</a:t>
            </a:r>
            <a:r>
              <a:rPr lang="en-US" sz="1800" b="1" i="0" u="none" strike="noStrike" spc="1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spc="-1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1362075" indent="-285750" algn="l" fontAlgn="t">
              <a:lnSpc>
                <a:spcPct val="150000"/>
              </a:lnSpc>
              <a:spcBef>
                <a:spcPts val="284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spc="-12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  <a:r>
              <a:rPr lang="en-US" sz="1800" b="1" i="0" u="none" strike="noStrike" spc="5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spc="-3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1362075" indent="-285750" algn="l" fontAlgn="t">
              <a:lnSpc>
                <a:spcPct val="150000"/>
              </a:lnSpc>
              <a:spcBef>
                <a:spcPts val="235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spc="-12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en-US" sz="1800" b="1" i="0" u="none" strike="noStrike" spc="4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spc="-3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Boundaries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1362075" indent="-285750" algn="l" fontAlgn="t">
              <a:lnSpc>
                <a:spcPct val="150000"/>
              </a:lnSpc>
              <a:spcBef>
                <a:spcPts val="284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spc="-12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Effect</a:t>
            </a:r>
            <a:r>
              <a:rPr lang="en-US" sz="1800" b="1" i="0" u="none" strike="noStrike" spc="-1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800" b="1" i="0" u="none" strike="noStrike" spc="-2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spc="-6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1362075" indent="-285750" algn="l" fontAlgn="t">
              <a:lnSpc>
                <a:spcPct val="150000"/>
              </a:lnSpc>
              <a:spcBef>
                <a:spcPts val="284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spc="-13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r>
              <a:rPr lang="en-US" sz="1800" b="1" i="0" u="none" strike="noStrike" spc="-2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800" b="1" i="0" u="none" strike="noStrike" spc="-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spc="-5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1362075" indent="-285750" algn="l" fontAlgn="t">
              <a:lnSpc>
                <a:spcPct val="150000"/>
              </a:lnSpc>
              <a:spcBef>
                <a:spcPts val="284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spc="-16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r>
              <a:rPr lang="en-US" sz="1800" b="1" i="0" u="none" strike="noStrike" spc="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spc="-95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8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none" strike="noStrike" spc="-2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2667000"/>
            <a:chOff x="0" y="0"/>
            <a:chExt cx="9144000" cy="2667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1524000"/>
            </a:xfrm>
            <a:custGeom>
              <a:avLst/>
              <a:gdLst/>
              <a:ahLst/>
              <a:cxnLst/>
              <a:rect l="l" t="t" r="r" b="b"/>
              <a:pathLst>
                <a:path w="9144000" h="1524000">
                  <a:moveTo>
                    <a:pt x="91440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9144000" y="1524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718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24000"/>
              <a:ext cx="9144000" cy="1143000"/>
            </a:xfrm>
            <a:custGeom>
              <a:avLst/>
              <a:gdLst/>
              <a:ahLst/>
              <a:cxnLst/>
              <a:rect l="l" t="t" r="r" b="b"/>
              <a:pathLst>
                <a:path w="9144000" h="1143000">
                  <a:moveTo>
                    <a:pt x="91440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9144000" y="1143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rgbClr val="7D96AC"/>
          </a:solidFill>
        </p:spPr>
        <p:txBody>
          <a:bodyPr vert="horz" wrap="square" lIns="0" tIns="1022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05"/>
              </a:spcBef>
            </a:pPr>
            <a:r>
              <a:rPr spc="-530" dirty="0">
                <a:solidFill>
                  <a:srgbClr val="FFFFFF"/>
                </a:solidFill>
              </a:rPr>
              <a:t>K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254" dirty="0">
                <a:solidFill>
                  <a:srgbClr val="FFFFFF"/>
                </a:solidFill>
              </a:rPr>
              <a:t>Nearest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55" dirty="0">
                <a:solidFill>
                  <a:srgbClr val="FFFFFF"/>
                </a:solidFill>
              </a:rPr>
              <a:t>Neighbor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rgbClr val="CC8E5F"/>
          </a:solidFill>
        </p:spPr>
        <p:txBody>
          <a:bodyPr vert="horz" wrap="square" lIns="0" tIns="289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80"/>
              </a:spcBef>
            </a:pP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282190" marR="5080" indent="-1256030">
              <a:lnSpc>
                <a:spcPct val="101299"/>
              </a:lnSpc>
              <a:spcBef>
                <a:spcPts val="50"/>
              </a:spcBef>
            </a:pPr>
            <a:r>
              <a:rPr sz="3200" b="1" spc="-170" dirty="0">
                <a:solidFill>
                  <a:srgbClr val="000000"/>
                </a:solidFill>
                <a:latin typeface="Arial"/>
                <a:cs typeface="Arial"/>
              </a:rPr>
              <a:t>“Tell</a:t>
            </a:r>
            <a:r>
              <a:rPr sz="3200" b="1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300" dirty="0">
                <a:solidFill>
                  <a:srgbClr val="000000"/>
                </a:solidFill>
                <a:latin typeface="Arial"/>
                <a:cs typeface="Arial"/>
              </a:rPr>
              <a:t>me</a:t>
            </a:r>
            <a:r>
              <a:rPr sz="3200" b="1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160" dirty="0">
                <a:solidFill>
                  <a:srgbClr val="000000"/>
                </a:solidFill>
                <a:latin typeface="Arial"/>
                <a:cs typeface="Arial"/>
              </a:rPr>
              <a:t>who</a:t>
            </a:r>
            <a:r>
              <a:rPr sz="3200" b="1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215" dirty="0">
                <a:solidFill>
                  <a:srgbClr val="000000"/>
                </a:solidFill>
                <a:latin typeface="Arial"/>
                <a:cs typeface="Arial"/>
              </a:rPr>
              <a:t>your</a:t>
            </a:r>
            <a:r>
              <a:rPr sz="3200" b="1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254" dirty="0">
                <a:solidFill>
                  <a:srgbClr val="000000"/>
                </a:solidFill>
                <a:latin typeface="Arial"/>
                <a:cs typeface="Arial"/>
              </a:rPr>
              <a:t>neighbors</a:t>
            </a:r>
            <a:r>
              <a:rPr sz="3200" b="1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165" dirty="0">
                <a:solidFill>
                  <a:srgbClr val="000000"/>
                </a:solidFill>
                <a:latin typeface="Arial"/>
                <a:cs typeface="Arial"/>
              </a:rPr>
              <a:t>are,</a:t>
            </a:r>
            <a:r>
              <a:rPr sz="3200" b="1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204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3200" b="1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20" dirty="0">
                <a:solidFill>
                  <a:srgbClr val="000000"/>
                </a:solidFill>
                <a:latin typeface="Arial"/>
                <a:cs typeface="Arial"/>
              </a:rPr>
              <a:t>I’ll </a:t>
            </a:r>
            <a:r>
              <a:rPr sz="3200" b="1" spc="-140" dirty="0">
                <a:solidFill>
                  <a:srgbClr val="000000"/>
                </a:solidFill>
                <a:latin typeface="Arial"/>
                <a:cs typeface="Arial"/>
              </a:rPr>
              <a:t>tell</a:t>
            </a:r>
            <a:r>
              <a:rPr sz="3200" b="1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204" dirty="0">
                <a:solidFill>
                  <a:srgbClr val="000000"/>
                </a:solidFill>
                <a:latin typeface="Arial"/>
                <a:cs typeface="Arial"/>
              </a:rPr>
              <a:t>you</a:t>
            </a:r>
            <a:r>
              <a:rPr sz="320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155" dirty="0">
                <a:solidFill>
                  <a:srgbClr val="000000"/>
                </a:solidFill>
                <a:latin typeface="Arial"/>
                <a:cs typeface="Arial"/>
              </a:rPr>
              <a:t>who</a:t>
            </a:r>
            <a:r>
              <a:rPr sz="320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210" dirty="0">
                <a:solidFill>
                  <a:srgbClr val="000000"/>
                </a:solidFill>
                <a:latin typeface="Arial"/>
                <a:cs typeface="Arial"/>
              </a:rPr>
              <a:t>you</a:t>
            </a:r>
            <a:r>
              <a:rPr sz="320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20" dirty="0">
                <a:solidFill>
                  <a:srgbClr val="000000"/>
                </a:solidFill>
                <a:latin typeface="Arial"/>
                <a:cs typeface="Arial"/>
              </a:rPr>
              <a:t>are”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784" y="1835149"/>
            <a:ext cx="6400800" cy="44132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561" y="1650491"/>
            <a:ext cx="8255634" cy="438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000" spc="-160" dirty="0">
                <a:latin typeface="Arial MT"/>
                <a:cs typeface="Arial MT"/>
              </a:rPr>
              <a:t>Most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 </a:t>
            </a:r>
            <a:r>
              <a:rPr sz="2000" spc="-130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machine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learning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20" dirty="0">
                <a:latin typeface="Arial MT"/>
                <a:cs typeface="Arial MT"/>
              </a:rPr>
              <a:t>algorithms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are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b="1" spc="-30" dirty="0">
                <a:latin typeface="Arial"/>
                <a:cs typeface="Arial"/>
              </a:rPr>
              <a:t>parametric.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"/>
              <a:cs typeface="Arial"/>
            </a:endParaRPr>
          </a:p>
          <a:p>
            <a:pPr marL="354965" indent="-342265" algn="just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000" spc="-20" dirty="0">
                <a:latin typeface="Arial MT"/>
                <a:cs typeface="Arial MT"/>
              </a:rPr>
              <a:t>What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do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mean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parametric?</a:t>
            </a:r>
            <a:endParaRPr sz="2000">
              <a:latin typeface="Arial MT"/>
              <a:cs typeface="Arial MT"/>
            </a:endParaRPr>
          </a:p>
          <a:p>
            <a:pPr marL="812165" marR="5080" lvl="1" indent="-342900" algn="just">
              <a:lnSpc>
                <a:spcPct val="99400"/>
              </a:lnSpc>
              <a:spcBef>
                <a:spcPts val="20"/>
              </a:spcBef>
              <a:buFont typeface="Wingdings"/>
              <a:buChar char=""/>
              <a:tabLst>
                <a:tab pos="812165" algn="l"/>
              </a:tabLst>
            </a:pPr>
            <a:r>
              <a:rPr sz="1800" spc="-150" dirty="0">
                <a:latin typeface="Arial MT"/>
                <a:cs typeface="Arial MT"/>
              </a:rPr>
              <a:t>Let’s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say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trying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model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linear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regression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model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one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dependent </a:t>
            </a:r>
            <a:r>
              <a:rPr sz="1800" dirty="0">
                <a:latin typeface="Arial MT"/>
                <a:cs typeface="Arial MT"/>
              </a:rPr>
              <a:t>variable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one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independent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variable. </a:t>
            </a:r>
            <a:r>
              <a:rPr sz="1800" spc="-160" dirty="0">
                <a:latin typeface="Arial MT"/>
                <a:cs typeface="Arial MT"/>
              </a:rPr>
              <a:t>The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best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looking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line </a:t>
            </a:r>
            <a:r>
              <a:rPr sz="1800" spc="-120" dirty="0">
                <a:latin typeface="Arial MT"/>
                <a:cs typeface="Arial MT"/>
              </a:rPr>
              <a:t>equations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with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optimized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parameters.</a:t>
            </a:r>
            <a:endParaRPr sz="1800">
              <a:latin typeface="Arial MT"/>
              <a:cs typeface="Arial MT"/>
            </a:endParaRPr>
          </a:p>
          <a:p>
            <a:pPr marL="812165" marR="5080" lvl="1" indent="-342900" algn="just">
              <a:lnSpc>
                <a:spcPct val="99400"/>
              </a:lnSpc>
              <a:spcBef>
                <a:spcPts val="60"/>
              </a:spcBef>
              <a:buFont typeface="Wingdings"/>
              <a:buChar char=""/>
              <a:tabLst>
                <a:tab pos="812165" algn="l"/>
              </a:tabLst>
            </a:pPr>
            <a:r>
              <a:rPr sz="1800" spc="-55" dirty="0">
                <a:latin typeface="Arial MT"/>
                <a:cs typeface="Arial MT"/>
              </a:rPr>
              <a:t>The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parameters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could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intercept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coefficient.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classification </a:t>
            </a:r>
            <a:r>
              <a:rPr sz="1800" spc="-55" dirty="0">
                <a:latin typeface="Arial MT"/>
                <a:cs typeface="Arial MT"/>
              </a:rPr>
              <a:t>algorithm,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try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get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boundary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which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successfully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separates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different </a:t>
            </a:r>
            <a:r>
              <a:rPr sz="1800" spc="-20" dirty="0">
                <a:latin typeface="Arial MT"/>
                <a:cs typeface="Arial MT"/>
              </a:rPr>
              <a:t>target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classes.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Font typeface="Wingdings"/>
              <a:buChar char=""/>
            </a:pPr>
            <a:endParaRPr sz="1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000" spc="-100" dirty="0">
                <a:latin typeface="Arial MT"/>
                <a:cs typeface="Arial MT"/>
              </a:rPr>
              <a:t>KNN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is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non-</a:t>
            </a:r>
            <a:r>
              <a:rPr sz="2000" spc="-60" dirty="0">
                <a:latin typeface="Arial MT"/>
                <a:cs typeface="Arial MT"/>
              </a:rPr>
              <a:t>parametric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70" dirty="0">
                <a:latin typeface="Arial MT"/>
                <a:cs typeface="Arial MT"/>
              </a:rPr>
              <a:t>algorithm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that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265" dirty="0">
                <a:latin typeface="Arial MT"/>
                <a:cs typeface="Arial MT"/>
              </a:rPr>
              <a:t>uses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the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neighbor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0" dirty="0">
                <a:latin typeface="Arial MT"/>
                <a:cs typeface="Arial MT"/>
              </a:rPr>
              <a:t>points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information </a:t>
            </a:r>
            <a:r>
              <a:rPr sz="2000" spc="-20" dirty="0">
                <a:latin typeface="Arial MT"/>
                <a:cs typeface="Arial MT"/>
              </a:rPr>
              <a:t>to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predict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target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class.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000" spc="-105" dirty="0">
                <a:latin typeface="Arial MT"/>
                <a:cs typeface="Arial MT"/>
              </a:rPr>
              <a:t>Fix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Hodges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proposed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35" dirty="0">
                <a:latin typeface="Arial MT"/>
                <a:cs typeface="Arial MT"/>
              </a:rPr>
              <a:t>K-</a:t>
            </a:r>
            <a:r>
              <a:rPr sz="2000" spc="-120" dirty="0">
                <a:latin typeface="Arial MT"/>
                <a:cs typeface="Arial MT"/>
              </a:rPr>
              <a:t>nearest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neighbor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00" dirty="0">
                <a:latin typeface="Arial MT"/>
                <a:cs typeface="Arial MT"/>
              </a:rPr>
              <a:t>classifier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algorithm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in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the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year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1951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performing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pattern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classification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task.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763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0"/>
              </a:spcBef>
            </a:pPr>
            <a:r>
              <a:rPr sz="3600" spc="-200" dirty="0">
                <a:solidFill>
                  <a:srgbClr val="000000"/>
                </a:solidFill>
              </a:rPr>
              <a:t>Introduction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395" dirty="0">
                <a:solidFill>
                  <a:srgbClr val="000000"/>
                </a:solidFill>
                <a:latin typeface="Verdana"/>
                <a:cs typeface="Verdana"/>
              </a:rPr>
              <a:t>Different</a:t>
            </a:r>
            <a:r>
              <a:rPr sz="400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80" dirty="0">
                <a:solidFill>
                  <a:srgbClr val="000000"/>
                </a:solidFill>
                <a:latin typeface="Verdana"/>
                <a:cs typeface="Verdana"/>
              </a:rPr>
              <a:t>Learning</a:t>
            </a:r>
            <a:r>
              <a:rPr sz="400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15" dirty="0">
                <a:solidFill>
                  <a:srgbClr val="000000"/>
                </a:solidFill>
                <a:latin typeface="Verdana"/>
                <a:cs typeface="Verdana"/>
              </a:rPr>
              <a:t>Methods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/>
          <p:nvPr/>
        </p:nvSpPr>
        <p:spPr>
          <a:xfrm>
            <a:off x="511175" y="1581403"/>
            <a:ext cx="7567295" cy="350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spc="-229" dirty="0">
                <a:latin typeface="Arial"/>
                <a:cs typeface="Arial"/>
              </a:rPr>
              <a:t>Eager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75" dirty="0">
                <a:latin typeface="Arial"/>
                <a:cs typeface="Arial"/>
              </a:rPr>
              <a:t>Learning</a:t>
            </a:r>
            <a:endParaRPr sz="2400">
              <a:latin typeface="Arial"/>
              <a:cs typeface="Arial"/>
            </a:endParaRPr>
          </a:p>
          <a:p>
            <a:pPr marL="812165" lvl="1" indent="-342265">
              <a:lnSpc>
                <a:spcPct val="100000"/>
              </a:lnSpc>
              <a:spcBef>
                <a:spcPts val="15"/>
              </a:spcBef>
              <a:buFont typeface="Wingdings"/>
              <a:buChar char=""/>
              <a:tabLst>
                <a:tab pos="812165" algn="l"/>
              </a:tabLst>
            </a:pPr>
            <a:r>
              <a:rPr sz="2000" spc="-135" dirty="0">
                <a:latin typeface="Arial MT"/>
                <a:cs typeface="Arial MT"/>
              </a:rPr>
              <a:t>When</a:t>
            </a:r>
            <a:r>
              <a:rPr sz="2000" dirty="0">
                <a:latin typeface="Arial MT"/>
                <a:cs typeface="Arial MT"/>
              </a:rPr>
              <a:t> it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receives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dataset,</a:t>
            </a:r>
            <a:r>
              <a:rPr sz="2000" dirty="0">
                <a:latin typeface="Arial MT"/>
                <a:cs typeface="Arial MT"/>
              </a:rPr>
              <a:t> it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starts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classifying</a:t>
            </a:r>
            <a:endParaRPr sz="2000">
              <a:latin typeface="Arial MT"/>
              <a:cs typeface="Arial MT"/>
            </a:endParaRPr>
          </a:p>
          <a:p>
            <a:pPr marL="812165" lvl="1" indent="-342265">
              <a:lnSpc>
                <a:spcPct val="100000"/>
              </a:lnSpc>
              <a:buFont typeface="Wingdings"/>
              <a:buChar char=""/>
              <a:tabLst>
                <a:tab pos="812165" algn="l"/>
              </a:tabLst>
            </a:pPr>
            <a:r>
              <a:rPr sz="2000" spc="-215" dirty="0">
                <a:latin typeface="Arial MT"/>
                <a:cs typeface="Arial MT"/>
              </a:rPr>
              <a:t>Does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35" dirty="0">
                <a:latin typeface="Arial MT"/>
                <a:cs typeface="Arial MT"/>
              </a:rPr>
              <a:t>not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wait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test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learn</a:t>
            </a:r>
            <a:endParaRPr sz="2000">
              <a:latin typeface="Arial MT"/>
              <a:cs typeface="Arial MT"/>
            </a:endParaRPr>
          </a:p>
          <a:p>
            <a:pPr marL="812165" lvl="1" indent="-342265">
              <a:lnSpc>
                <a:spcPct val="100000"/>
              </a:lnSpc>
              <a:buFont typeface="Wingdings"/>
              <a:buChar char=""/>
              <a:tabLst>
                <a:tab pos="812165" algn="l"/>
              </a:tabLst>
            </a:pPr>
            <a:r>
              <a:rPr sz="2000" spc="-240" dirty="0">
                <a:latin typeface="Arial MT"/>
                <a:cs typeface="Arial MT"/>
              </a:rPr>
              <a:t>So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takes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50" dirty="0">
                <a:latin typeface="Arial MT"/>
                <a:cs typeface="Arial MT"/>
              </a:rPr>
              <a:t>more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time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learning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and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215" dirty="0">
                <a:latin typeface="Arial MT"/>
                <a:cs typeface="Arial MT"/>
              </a:rPr>
              <a:t>less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time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classifying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"/>
            </a:pP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Wingdings"/>
              <a:buChar char="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spc="-195" dirty="0">
                <a:latin typeface="Arial"/>
                <a:cs typeface="Arial"/>
              </a:rPr>
              <a:t>Instance-</a:t>
            </a:r>
            <a:r>
              <a:rPr sz="2400" b="1" spc="-204" dirty="0">
                <a:latin typeface="Arial"/>
                <a:cs typeface="Arial"/>
              </a:rPr>
              <a:t>based</a:t>
            </a:r>
            <a:r>
              <a:rPr sz="2400" b="1" spc="85" dirty="0">
                <a:latin typeface="Arial"/>
                <a:cs typeface="Arial"/>
              </a:rPr>
              <a:t> </a:t>
            </a:r>
            <a:r>
              <a:rPr sz="2400" b="1" spc="-65" dirty="0">
                <a:latin typeface="Arial"/>
                <a:cs typeface="Arial"/>
              </a:rPr>
              <a:t>Learning</a:t>
            </a:r>
            <a:endParaRPr sz="2400">
              <a:latin typeface="Arial"/>
              <a:cs typeface="Arial"/>
            </a:endParaRPr>
          </a:p>
          <a:p>
            <a:pPr marL="812165" lvl="1" indent="-342265">
              <a:lnSpc>
                <a:spcPct val="100000"/>
              </a:lnSpc>
              <a:spcBef>
                <a:spcPts val="15"/>
              </a:spcBef>
              <a:buFont typeface="Wingdings"/>
              <a:buChar char=""/>
              <a:tabLst>
                <a:tab pos="812165" algn="l"/>
              </a:tabLst>
            </a:pPr>
            <a:r>
              <a:rPr sz="2000" spc="-100" dirty="0">
                <a:latin typeface="Arial MT"/>
                <a:cs typeface="Arial MT"/>
              </a:rPr>
              <a:t>Learning=storing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training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instances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(store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without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learning)</a:t>
            </a:r>
            <a:endParaRPr sz="2000">
              <a:latin typeface="Arial MT"/>
              <a:cs typeface="Arial MT"/>
            </a:endParaRPr>
          </a:p>
          <a:p>
            <a:pPr marL="812165" lvl="1" indent="-342265">
              <a:lnSpc>
                <a:spcPct val="100000"/>
              </a:lnSpc>
              <a:buFont typeface="Wingdings"/>
              <a:buChar char=""/>
              <a:tabLst>
                <a:tab pos="812165" algn="l"/>
              </a:tabLst>
            </a:pPr>
            <a:r>
              <a:rPr sz="2000" spc="-90" dirty="0">
                <a:latin typeface="Arial MT"/>
                <a:cs typeface="Arial MT"/>
              </a:rPr>
              <a:t>Classification=start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classifying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when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receive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test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812165" lvl="1" indent="-342265">
              <a:lnSpc>
                <a:spcPct val="100000"/>
              </a:lnSpc>
              <a:buFont typeface="Wingdings"/>
              <a:buChar char=""/>
              <a:tabLst>
                <a:tab pos="812165" algn="l"/>
              </a:tabLst>
            </a:pPr>
            <a:r>
              <a:rPr sz="2000" spc="-240" dirty="0">
                <a:latin typeface="Arial MT"/>
                <a:cs typeface="Arial MT"/>
              </a:rPr>
              <a:t>So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takes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215" dirty="0">
                <a:latin typeface="Arial MT"/>
                <a:cs typeface="Arial MT"/>
              </a:rPr>
              <a:t>less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time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learning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and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50" dirty="0">
                <a:latin typeface="Arial MT"/>
                <a:cs typeface="Arial MT"/>
              </a:rPr>
              <a:t>more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time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classifying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812165" lvl="1" indent="-342265">
              <a:lnSpc>
                <a:spcPct val="100000"/>
              </a:lnSpc>
              <a:spcBef>
                <a:spcPts val="120"/>
              </a:spcBef>
              <a:buFont typeface="Wingdings"/>
              <a:buChar char=""/>
              <a:tabLst>
                <a:tab pos="812165" algn="l"/>
              </a:tabLst>
            </a:pPr>
            <a:r>
              <a:rPr sz="2000" spc="-95" dirty="0">
                <a:latin typeface="Arial MT"/>
                <a:cs typeface="Arial MT"/>
              </a:rPr>
              <a:t>Referred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to </a:t>
            </a:r>
            <a:r>
              <a:rPr sz="2000" spc="-185" dirty="0">
                <a:latin typeface="Arial MT"/>
                <a:cs typeface="Arial MT"/>
              </a:rPr>
              <a:t>as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85" dirty="0">
                <a:latin typeface="MS PGothic"/>
                <a:cs typeface="MS PGothic"/>
              </a:rPr>
              <a:t>“</a:t>
            </a:r>
            <a:r>
              <a:rPr sz="2000" spc="-85" dirty="0">
                <a:latin typeface="Arial MT"/>
                <a:cs typeface="Arial MT"/>
              </a:rPr>
              <a:t>Lazy</a:t>
            </a:r>
            <a:r>
              <a:rPr sz="2000" spc="-85" dirty="0">
                <a:latin typeface="MS PGothic"/>
                <a:cs typeface="MS PGothic"/>
              </a:rPr>
              <a:t>”</a:t>
            </a:r>
            <a:r>
              <a:rPr sz="2000" spc="-70" dirty="0">
                <a:latin typeface="MS PGothic"/>
                <a:cs typeface="MS PGothic"/>
              </a:rPr>
              <a:t> </a:t>
            </a:r>
            <a:r>
              <a:rPr sz="2000" spc="-10" dirty="0">
                <a:latin typeface="Arial MT"/>
                <a:cs typeface="Arial MT"/>
              </a:rPr>
              <a:t>learning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6211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sz="4000" spc="-395" dirty="0">
                <a:solidFill>
                  <a:srgbClr val="000000"/>
                </a:solidFill>
                <a:latin typeface="Verdana"/>
                <a:cs typeface="Verdana"/>
              </a:rPr>
              <a:t>Different</a:t>
            </a:r>
            <a:r>
              <a:rPr sz="400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80" dirty="0">
                <a:solidFill>
                  <a:srgbClr val="000000"/>
                </a:solidFill>
                <a:latin typeface="Verdana"/>
                <a:cs typeface="Verdana"/>
              </a:rPr>
              <a:t>Learning</a:t>
            </a:r>
            <a:r>
              <a:rPr sz="400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15" dirty="0">
                <a:solidFill>
                  <a:srgbClr val="000000"/>
                </a:solidFill>
                <a:latin typeface="Verdana"/>
                <a:cs typeface="Verdana"/>
              </a:rPr>
              <a:t>Methods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945" y="1517396"/>
            <a:ext cx="191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9" dirty="0">
                <a:latin typeface="Arial"/>
                <a:cs typeface="Arial"/>
              </a:rPr>
              <a:t>Eager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180" dirty="0">
                <a:latin typeface="Arial"/>
                <a:cs typeface="Arial"/>
              </a:rPr>
              <a:t>Learning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02821" y="2586037"/>
            <a:ext cx="5565140" cy="3281679"/>
            <a:chOff x="1602821" y="2586037"/>
            <a:chExt cx="5565140" cy="3281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7607" y="3439880"/>
              <a:ext cx="177275" cy="1640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2821" y="2586037"/>
              <a:ext cx="5564741" cy="32813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98886" y="2833115"/>
            <a:ext cx="24606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Any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movement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=&gt;It</a:t>
            </a:r>
            <a:r>
              <a:rPr sz="2000" dirty="0">
                <a:latin typeface="MS PGothic"/>
                <a:cs typeface="MS PGothic"/>
              </a:rPr>
              <a:t>’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mouse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9419" y="4433316"/>
            <a:ext cx="1564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I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saw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mouse!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90041" y="3957698"/>
            <a:ext cx="2363470" cy="411480"/>
          </a:xfrm>
          <a:custGeom>
            <a:avLst/>
            <a:gdLst/>
            <a:ahLst/>
            <a:cxnLst/>
            <a:rect l="l" t="t" r="r" b="b"/>
            <a:pathLst>
              <a:path w="2363470" h="411479">
                <a:moveTo>
                  <a:pt x="2286971" y="378269"/>
                </a:moveTo>
                <a:lnTo>
                  <a:pt x="2281662" y="411181"/>
                </a:lnTo>
                <a:lnTo>
                  <a:pt x="2362958" y="385701"/>
                </a:lnTo>
                <a:lnTo>
                  <a:pt x="2355438" y="380292"/>
                </a:lnTo>
                <a:lnTo>
                  <a:pt x="2299512" y="380292"/>
                </a:lnTo>
                <a:lnTo>
                  <a:pt x="2286971" y="378269"/>
                </a:lnTo>
                <a:close/>
              </a:path>
              <a:path w="2363470" h="411479">
                <a:moveTo>
                  <a:pt x="2288488" y="368865"/>
                </a:moveTo>
                <a:lnTo>
                  <a:pt x="2286971" y="378269"/>
                </a:lnTo>
                <a:lnTo>
                  <a:pt x="2299512" y="380292"/>
                </a:lnTo>
                <a:lnTo>
                  <a:pt x="2301029" y="370888"/>
                </a:lnTo>
                <a:lnTo>
                  <a:pt x="2288488" y="368865"/>
                </a:lnTo>
                <a:close/>
              </a:path>
              <a:path w="2363470" h="411479">
                <a:moveTo>
                  <a:pt x="2293796" y="335954"/>
                </a:moveTo>
                <a:lnTo>
                  <a:pt x="2288488" y="368865"/>
                </a:lnTo>
                <a:lnTo>
                  <a:pt x="2301029" y="370888"/>
                </a:lnTo>
                <a:lnTo>
                  <a:pt x="2299512" y="380292"/>
                </a:lnTo>
                <a:lnTo>
                  <a:pt x="2355438" y="380292"/>
                </a:lnTo>
                <a:lnTo>
                  <a:pt x="2293796" y="335954"/>
                </a:lnTo>
                <a:close/>
              </a:path>
              <a:path w="2363470" h="411479">
                <a:moveTo>
                  <a:pt x="1516" y="0"/>
                </a:moveTo>
                <a:lnTo>
                  <a:pt x="0" y="9403"/>
                </a:lnTo>
                <a:lnTo>
                  <a:pt x="2286971" y="378269"/>
                </a:lnTo>
                <a:lnTo>
                  <a:pt x="2288488" y="368865"/>
                </a:lnTo>
                <a:lnTo>
                  <a:pt x="15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7067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600" dirty="0">
                <a:solidFill>
                  <a:srgbClr val="000000"/>
                </a:solidFill>
                <a:latin typeface="Verdana"/>
                <a:cs typeface="Verdana"/>
              </a:rPr>
              <a:t>Instance-</a:t>
            </a:r>
            <a:r>
              <a:rPr sz="4000" spc="-395" dirty="0">
                <a:solidFill>
                  <a:srgbClr val="000000"/>
                </a:solidFill>
                <a:latin typeface="Verdana"/>
                <a:cs typeface="Verdana"/>
              </a:rPr>
              <a:t>based</a:t>
            </a:r>
            <a:r>
              <a:rPr sz="4000" spc="-26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90" dirty="0">
                <a:solidFill>
                  <a:srgbClr val="000000"/>
                </a:solidFill>
                <a:latin typeface="Verdana"/>
                <a:cs typeface="Verdana"/>
              </a:rPr>
              <a:t>Learning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5434" y="3729037"/>
            <a:ext cx="4726940" cy="2138680"/>
            <a:chOff x="1145434" y="3729037"/>
            <a:chExt cx="4726940" cy="2138680"/>
          </a:xfrm>
        </p:grpSpPr>
        <p:sp>
          <p:nvSpPr>
            <p:cNvPr id="4" name="object 4"/>
            <p:cNvSpPr/>
            <p:nvPr/>
          </p:nvSpPr>
          <p:spPr>
            <a:xfrm>
              <a:off x="1330833" y="4440999"/>
              <a:ext cx="1153795" cy="1426845"/>
            </a:xfrm>
            <a:custGeom>
              <a:avLst/>
              <a:gdLst/>
              <a:ahLst/>
              <a:cxnLst/>
              <a:rect l="l" t="t" r="r" b="b"/>
              <a:pathLst>
                <a:path w="1153795" h="1426845">
                  <a:moveTo>
                    <a:pt x="451319" y="580682"/>
                  </a:moveTo>
                  <a:lnTo>
                    <a:pt x="429590" y="549046"/>
                  </a:lnTo>
                  <a:lnTo>
                    <a:pt x="377532" y="540677"/>
                  </a:lnTo>
                  <a:lnTo>
                    <a:pt x="302806" y="553783"/>
                  </a:lnTo>
                  <a:lnTo>
                    <a:pt x="196811" y="613968"/>
                  </a:lnTo>
                  <a:lnTo>
                    <a:pt x="130530" y="667943"/>
                  </a:lnTo>
                  <a:lnTo>
                    <a:pt x="90817" y="694956"/>
                  </a:lnTo>
                  <a:lnTo>
                    <a:pt x="66294" y="664121"/>
                  </a:lnTo>
                  <a:lnTo>
                    <a:pt x="70027" y="587692"/>
                  </a:lnTo>
                  <a:lnTo>
                    <a:pt x="98501" y="493598"/>
                  </a:lnTo>
                  <a:lnTo>
                    <a:pt x="130530" y="462762"/>
                  </a:lnTo>
                  <a:lnTo>
                    <a:pt x="176034" y="434949"/>
                  </a:lnTo>
                  <a:lnTo>
                    <a:pt x="204304" y="412610"/>
                  </a:lnTo>
                  <a:lnTo>
                    <a:pt x="125844" y="368668"/>
                  </a:lnTo>
                  <a:lnTo>
                    <a:pt x="55803" y="314706"/>
                  </a:lnTo>
                  <a:lnTo>
                    <a:pt x="41757" y="265353"/>
                  </a:lnTo>
                  <a:lnTo>
                    <a:pt x="10477" y="267690"/>
                  </a:lnTo>
                  <a:lnTo>
                    <a:pt x="0" y="332422"/>
                  </a:lnTo>
                  <a:lnTo>
                    <a:pt x="58801" y="372491"/>
                  </a:lnTo>
                  <a:lnTo>
                    <a:pt x="123037" y="415696"/>
                  </a:lnTo>
                  <a:lnTo>
                    <a:pt x="90817" y="459689"/>
                  </a:lnTo>
                  <a:lnTo>
                    <a:pt x="58801" y="513600"/>
                  </a:lnTo>
                  <a:lnTo>
                    <a:pt x="37820" y="583133"/>
                  </a:lnTo>
                  <a:lnTo>
                    <a:pt x="23774" y="654024"/>
                  </a:lnTo>
                  <a:lnTo>
                    <a:pt x="37820" y="714959"/>
                  </a:lnTo>
                  <a:lnTo>
                    <a:pt x="55803" y="743508"/>
                  </a:lnTo>
                  <a:lnTo>
                    <a:pt x="88011" y="758215"/>
                  </a:lnTo>
                  <a:lnTo>
                    <a:pt x="111607" y="743508"/>
                  </a:lnTo>
                  <a:lnTo>
                    <a:pt x="172275" y="681850"/>
                  </a:lnTo>
                  <a:lnTo>
                    <a:pt x="278091" y="627748"/>
                  </a:lnTo>
                  <a:lnTo>
                    <a:pt x="351878" y="617042"/>
                  </a:lnTo>
                  <a:lnTo>
                    <a:pt x="436143" y="610031"/>
                  </a:lnTo>
                  <a:lnTo>
                    <a:pt x="451319" y="580682"/>
                  </a:lnTo>
                  <a:close/>
                </a:path>
                <a:path w="1153795" h="1426845">
                  <a:moveTo>
                    <a:pt x="647039" y="333222"/>
                  </a:moveTo>
                  <a:lnTo>
                    <a:pt x="631875" y="294576"/>
                  </a:lnTo>
                  <a:lnTo>
                    <a:pt x="604481" y="247510"/>
                  </a:lnTo>
                  <a:lnTo>
                    <a:pt x="579069" y="206705"/>
                  </a:lnTo>
                  <a:lnTo>
                    <a:pt x="575068" y="198145"/>
                  </a:lnTo>
                  <a:lnTo>
                    <a:pt x="587438" y="151130"/>
                  </a:lnTo>
                  <a:lnTo>
                    <a:pt x="623417" y="104051"/>
                  </a:lnTo>
                  <a:lnTo>
                    <a:pt x="629005" y="90335"/>
                  </a:lnTo>
                  <a:lnTo>
                    <a:pt x="610146" y="79438"/>
                  </a:lnTo>
                  <a:lnTo>
                    <a:pt x="587438" y="79438"/>
                  </a:lnTo>
                  <a:lnTo>
                    <a:pt x="561060" y="140423"/>
                  </a:lnTo>
                  <a:lnTo>
                    <a:pt x="549630" y="180428"/>
                  </a:lnTo>
                  <a:lnTo>
                    <a:pt x="516483" y="153530"/>
                  </a:lnTo>
                  <a:lnTo>
                    <a:pt x="490080" y="133413"/>
                  </a:lnTo>
                  <a:lnTo>
                    <a:pt x="433336" y="117170"/>
                  </a:lnTo>
                  <a:lnTo>
                    <a:pt x="392696" y="117170"/>
                  </a:lnTo>
                  <a:lnTo>
                    <a:pt x="330161" y="140423"/>
                  </a:lnTo>
                  <a:lnTo>
                    <a:pt x="312166" y="205168"/>
                  </a:lnTo>
                  <a:lnTo>
                    <a:pt x="327342" y="287693"/>
                  </a:lnTo>
                  <a:lnTo>
                    <a:pt x="353745" y="366331"/>
                  </a:lnTo>
                  <a:lnTo>
                    <a:pt x="380339" y="388670"/>
                  </a:lnTo>
                  <a:lnTo>
                    <a:pt x="419100" y="422579"/>
                  </a:lnTo>
                  <a:lnTo>
                    <a:pt x="481469" y="453415"/>
                  </a:lnTo>
                  <a:lnTo>
                    <a:pt x="534466" y="460425"/>
                  </a:lnTo>
                  <a:lnTo>
                    <a:pt x="575068" y="453415"/>
                  </a:lnTo>
                  <a:lnTo>
                    <a:pt x="623417" y="427316"/>
                  </a:lnTo>
                  <a:lnTo>
                    <a:pt x="640473" y="373227"/>
                  </a:lnTo>
                  <a:lnTo>
                    <a:pt x="647039" y="333222"/>
                  </a:lnTo>
                  <a:close/>
                </a:path>
                <a:path w="1153795" h="1426845">
                  <a:moveTo>
                    <a:pt x="893114" y="1382102"/>
                  </a:moveTo>
                  <a:lnTo>
                    <a:pt x="860894" y="1373543"/>
                  </a:lnTo>
                  <a:lnTo>
                    <a:pt x="710476" y="1359649"/>
                  </a:lnTo>
                  <a:lnTo>
                    <a:pt x="653745" y="1348955"/>
                  </a:lnTo>
                  <a:lnTo>
                    <a:pt x="647941" y="1328940"/>
                  </a:lnTo>
                  <a:lnTo>
                    <a:pt x="745553" y="1272565"/>
                  </a:lnTo>
                  <a:lnTo>
                    <a:pt x="851319" y="1219403"/>
                  </a:lnTo>
                  <a:lnTo>
                    <a:pt x="875080" y="1199235"/>
                  </a:lnTo>
                  <a:lnTo>
                    <a:pt x="884516" y="1172349"/>
                  </a:lnTo>
                  <a:lnTo>
                    <a:pt x="875080" y="1134465"/>
                  </a:lnTo>
                  <a:lnTo>
                    <a:pt x="842873" y="1105141"/>
                  </a:lnTo>
                  <a:lnTo>
                    <a:pt x="736879" y="1007211"/>
                  </a:lnTo>
                  <a:lnTo>
                    <a:pt x="663105" y="944727"/>
                  </a:lnTo>
                  <a:lnTo>
                    <a:pt x="646125" y="936244"/>
                  </a:lnTo>
                  <a:lnTo>
                    <a:pt x="661212" y="925487"/>
                  </a:lnTo>
                  <a:lnTo>
                    <a:pt x="705650" y="870026"/>
                  </a:lnTo>
                  <a:lnTo>
                    <a:pt x="735063" y="771194"/>
                  </a:lnTo>
                  <a:lnTo>
                    <a:pt x="735063" y="657047"/>
                  </a:lnTo>
                  <a:lnTo>
                    <a:pt x="726617" y="594588"/>
                  </a:lnTo>
                  <a:lnTo>
                    <a:pt x="705650" y="536054"/>
                  </a:lnTo>
                  <a:lnTo>
                    <a:pt x="682040" y="502958"/>
                  </a:lnTo>
                  <a:lnTo>
                    <a:pt x="599808" y="475869"/>
                  </a:lnTo>
                  <a:lnTo>
                    <a:pt x="537273" y="486587"/>
                  </a:lnTo>
                  <a:lnTo>
                    <a:pt x="505244" y="515937"/>
                  </a:lnTo>
                  <a:lnTo>
                    <a:pt x="478650" y="560679"/>
                  </a:lnTo>
                  <a:lnTo>
                    <a:pt x="478650" y="614768"/>
                  </a:lnTo>
                  <a:lnTo>
                    <a:pt x="492887" y="688682"/>
                  </a:lnTo>
                  <a:lnTo>
                    <a:pt x="484276" y="775944"/>
                  </a:lnTo>
                  <a:lnTo>
                    <a:pt x="460679" y="842987"/>
                  </a:lnTo>
                  <a:lnTo>
                    <a:pt x="434276" y="903173"/>
                  </a:lnTo>
                  <a:lnTo>
                    <a:pt x="435279" y="910526"/>
                  </a:lnTo>
                  <a:lnTo>
                    <a:pt x="397383" y="926249"/>
                  </a:lnTo>
                  <a:lnTo>
                    <a:pt x="329209" y="971003"/>
                  </a:lnTo>
                  <a:lnTo>
                    <a:pt x="293255" y="1011186"/>
                  </a:lnTo>
                  <a:lnTo>
                    <a:pt x="266852" y="1053503"/>
                  </a:lnTo>
                  <a:lnTo>
                    <a:pt x="237451" y="1120559"/>
                  </a:lnTo>
                  <a:lnTo>
                    <a:pt x="237451" y="1160741"/>
                  </a:lnTo>
                  <a:lnTo>
                    <a:pt x="255435" y="1187780"/>
                  </a:lnTo>
                  <a:lnTo>
                    <a:pt x="361429" y="1299616"/>
                  </a:lnTo>
                  <a:lnTo>
                    <a:pt x="391579" y="1348955"/>
                  </a:lnTo>
                  <a:lnTo>
                    <a:pt x="382219" y="1359649"/>
                  </a:lnTo>
                  <a:lnTo>
                    <a:pt x="347192" y="1359649"/>
                  </a:lnTo>
                  <a:lnTo>
                    <a:pt x="272478" y="1352778"/>
                  </a:lnTo>
                  <a:lnTo>
                    <a:pt x="130530" y="1372781"/>
                  </a:lnTo>
                  <a:lnTo>
                    <a:pt x="95681" y="1388973"/>
                  </a:lnTo>
                  <a:lnTo>
                    <a:pt x="95681" y="1409141"/>
                  </a:lnTo>
                  <a:lnTo>
                    <a:pt x="164185" y="1426400"/>
                  </a:lnTo>
                  <a:lnTo>
                    <a:pt x="193611" y="1426400"/>
                  </a:lnTo>
                  <a:lnTo>
                    <a:pt x="213855" y="1409141"/>
                  </a:lnTo>
                  <a:lnTo>
                    <a:pt x="326402" y="1388973"/>
                  </a:lnTo>
                  <a:lnTo>
                    <a:pt x="400189" y="1386687"/>
                  </a:lnTo>
                  <a:lnTo>
                    <a:pt x="423786" y="1372781"/>
                  </a:lnTo>
                  <a:lnTo>
                    <a:pt x="423786" y="1359649"/>
                  </a:lnTo>
                  <a:lnTo>
                    <a:pt x="423786" y="1352778"/>
                  </a:lnTo>
                  <a:lnTo>
                    <a:pt x="415366" y="1319618"/>
                  </a:lnTo>
                  <a:lnTo>
                    <a:pt x="379399" y="1265694"/>
                  </a:lnTo>
                  <a:lnTo>
                    <a:pt x="329209" y="1207795"/>
                  </a:lnTo>
                  <a:lnTo>
                    <a:pt x="282028" y="1167612"/>
                  </a:lnTo>
                  <a:lnTo>
                    <a:pt x="290449" y="1133703"/>
                  </a:lnTo>
                  <a:lnTo>
                    <a:pt x="326402" y="1078255"/>
                  </a:lnTo>
                  <a:lnTo>
                    <a:pt x="379399" y="1031201"/>
                  </a:lnTo>
                  <a:lnTo>
                    <a:pt x="468363" y="993317"/>
                  </a:lnTo>
                  <a:lnTo>
                    <a:pt x="511251" y="977658"/>
                  </a:lnTo>
                  <a:lnTo>
                    <a:pt x="553681" y="979119"/>
                  </a:lnTo>
                  <a:lnTo>
                    <a:pt x="556196" y="991019"/>
                  </a:lnTo>
                  <a:lnTo>
                    <a:pt x="603580" y="1031201"/>
                  </a:lnTo>
                  <a:lnTo>
                    <a:pt x="700976" y="1067396"/>
                  </a:lnTo>
                  <a:lnTo>
                    <a:pt x="813523" y="1145311"/>
                  </a:lnTo>
                  <a:lnTo>
                    <a:pt x="831481" y="1179233"/>
                  </a:lnTo>
                  <a:lnTo>
                    <a:pt x="822121" y="1194650"/>
                  </a:lnTo>
                  <a:lnTo>
                    <a:pt x="736879" y="1246289"/>
                  </a:lnTo>
                  <a:lnTo>
                    <a:pt x="636701" y="1306487"/>
                  </a:lnTo>
                  <a:lnTo>
                    <a:pt x="612940" y="1333525"/>
                  </a:lnTo>
                  <a:lnTo>
                    <a:pt x="612940" y="1359649"/>
                  </a:lnTo>
                  <a:lnTo>
                    <a:pt x="689737" y="1388973"/>
                  </a:lnTo>
                  <a:lnTo>
                    <a:pt x="807872" y="1422133"/>
                  </a:lnTo>
                  <a:lnTo>
                    <a:pt x="848525" y="1422133"/>
                  </a:lnTo>
                  <a:lnTo>
                    <a:pt x="893114" y="1399819"/>
                  </a:lnTo>
                  <a:lnTo>
                    <a:pt x="893114" y="1382102"/>
                  </a:lnTo>
                  <a:close/>
                </a:path>
                <a:path w="1153795" h="1426845">
                  <a:moveTo>
                    <a:pt x="1153604" y="384187"/>
                  </a:moveTo>
                  <a:lnTo>
                    <a:pt x="1132255" y="346341"/>
                  </a:lnTo>
                  <a:lnTo>
                    <a:pt x="1079449" y="286156"/>
                  </a:lnTo>
                  <a:lnTo>
                    <a:pt x="998880" y="234518"/>
                  </a:lnTo>
                  <a:lnTo>
                    <a:pt x="940257" y="214337"/>
                  </a:lnTo>
                  <a:lnTo>
                    <a:pt x="883526" y="178892"/>
                  </a:lnTo>
                  <a:lnTo>
                    <a:pt x="875080" y="165785"/>
                  </a:lnTo>
                  <a:lnTo>
                    <a:pt x="887298" y="151866"/>
                  </a:lnTo>
                  <a:lnTo>
                    <a:pt x="948855" y="127254"/>
                  </a:lnTo>
                  <a:lnTo>
                    <a:pt x="981824" y="118706"/>
                  </a:lnTo>
                  <a:lnTo>
                    <a:pt x="1016901" y="87071"/>
                  </a:lnTo>
                  <a:lnTo>
                    <a:pt x="1005662" y="44792"/>
                  </a:lnTo>
                  <a:lnTo>
                    <a:pt x="972477" y="4610"/>
                  </a:lnTo>
                  <a:lnTo>
                    <a:pt x="948855" y="0"/>
                  </a:lnTo>
                  <a:lnTo>
                    <a:pt x="954519" y="17716"/>
                  </a:lnTo>
                  <a:lnTo>
                    <a:pt x="954519" y="64795"/>
                  </a:lnTo>
                  <a:lnTo>
                    <a:pt x="945921" y="98704"/>
                  </a:lnTo>
                  <a:lnTo>
                    <a:pt x="883526" y="131876"/>
                  </a:lnTo>
                  <a:lnTo>
                    <a:pt x="833361" y="141160"/>
                  </a:lnTo>
                  <a:lnTo>
                    <a:pt x="812546" y="158889"/>
                  </a:lnTo>
                  <a:lnTo>
                    <a:pt x="816317" y="178892"/>
                  </a:lnTo>
                  <a:lnTo>
                    <a:pt x="851319" y="205968"/>
                  </a:lnTo>
                  <a:lnTo>
                    <a:pt x="913853" y="232981"/>
                  </a:lnTo>
                  <a:lnTo>
                    <a:pt x="993292" y="281597"/>
                  </a:lnTo>
                  <a:lnTo>
                    <a:pt x="1069860" y="340055"/>
                  </a:lnTo>
                  <a:lnTo>
                    <a:pt x="1108633" y="380238"/>
                  </a:lnTo>
                  <a:lnTo>
                    <a:pt x="1100188" y="393407"/>
                  </a:lnTo>
                  <a:lnTo>
                    <a:pt x="1016901" y="409600"/>
                  </a:lnTo>
                  <a:lnTo>
                    <a:pt x="875080" y="435686"/>
                  </a:lnTo>
                  <a:lnTo>
                    <a:pt x="759587" y="467321"/>
                  </a:lnTo>
                  <a:lnTo>
                    <a:pt x="733183" y="494398"/>
                  </a:lnTo>
                  <a:lnTo>
                    <a:pt x="733183" y="529844"/>
                  </a:lnTo>
                  <a:lnTo>
                    <a:pt x="751141" y="534517"/>
                  </a:lnTo>
                  <a:lnTo>
                    <a:pt x="786142" y="527507"/>
                  </a:lnTo>
                  <a:lnTo>
                    <a:pt x="842873" y="502958"/>
                  </a:lnTo>
                  <a:lnTo>
                    <a:pt x="927887" y="474332"/>
                  </a:lnTo>
                  <a:lnTo>
                    <a:pt x="1064285" y="440423"/>
                  </a:lnTo>
                  <a:lnTo>
                    <a:pt x="1132255" y="420306"/>
                  </a:lnTo>
                  <a:lnTo>
                    <a:pt x="1150200" y="409600"/>
                  </a:lnTo>
                  <a:lnTo>
                    <a:pt x="1153604" y="403212"/>
                  </a:lnTo>
                  <a:lnTo>
                    <a:pt x="1153604" y="3841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3376" y="4235817"/>
              <a:ext cx="164605" cy="1234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434" y="4299079"/>
              <a:ext cx="164607" cy="1241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0454" y="4539696"/>
              <a:ext cx="164614" cy="1241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19399" y="3733800"/>
              <a:ext cx="3048000" cy="990600"/>
            </a:xfrm>
            <a:custGeom>
              <a:avLst/>
              <a:gdLst/>
              <a:ahLst/>
              <a:cxnLst/>
              <a:rect l="l" t="t" r="r" b="b"/>
              <a:pathLst>
                <a:path w="3048000" h="990600">
                  <a:moveTo>
                    <a:pt x="1524000" y="0"/>
                  </a:moveTo>
                  <a:lnTo>
                    <a:pt x="1454239" y="509"/>
                  </a:lnTo>
                  <a:lnTo>
                    <a:pt x="1385284" y="2024"/>
                  </a:lnTo>
                  <a:lnTo>
                    <a:pt x="1317202" y="4521"/>
                  </a:lnTo>
                  <a:lnTo>
                    <a:pt x="1250058" y="7979"/>
                  </a:lnTo>
                  <a:lnTo>
                    <a:pt x="1183922" y="12377"/>
                  </a:lnTo>
                  <a:lnTo>
                    <a:pt x="1118860" y="17692"/>
                  </a:lnTo>
                  <a:lnTo>
                    <a:pt x="1054939" y="23903"/>
                  </a:lnTo>
                  <a:lnTo>
                    <a:pt x="992226" y="30987"/>
                  </a:lnTo>
                  <a:lnTo>
                    <a:pt x="930790" y="38923"/>
                  </a:lnTo>
                  <a:lnTo>
                    <a:pt x="870696" y="47688"/>
                  </a:lnTo>
                  <a:lnTo>
                    <a:pt x="812013" y="57262"/>
                  </a:lnTo>
                  <a:lnTo>
                    <a:pt x="754807" y="67622"/>
                  </a:lnTo>
                  <a:lnTo>
                    <a:pt x="699147" y="78747"/>
                  </a:lnTo>
                  <a:lnTo>
                    <a:pt x="645098" y="90614"/>
                  </a:lnTo>
                  <a:lnTo>
                    <a:pt x="592728" y="103201"/>
                  </a:lnTo>
                  <a:lnTo>
                    <a:pt x="542106" y="116488"/>
                  </a:lnTo>
                  <a:lnTo>
                    <a:pt x="493297" y="130451"/>
                  </a:lnTo>
                  <a:lnTo>
                    <a:pt x="446369" y="145070"/>
                  </a:lnTo>
                  <a:lnTo>
                    <a:pt x="401389" y="160321"/>
                  </a:lnTo>
                  <a:lnTo>
                    <a:pt x="358425" y="176184"/>
                  </a:lnTo>
                  <a:lnTo>
                    <a:pt x="317544" y="192636"/>
                  </a:lnTo>
                  <a:lnTo>
                    <a:pt x="278813" y="209657"/>
                  </a:lnTo>
                  <a:lnTo>
                    <a:pt x="242299" y="227222"/>
                  </a:lnTo>
                  <a:lnTo>
                    <a:pt x="208070" y="245312"/>
                  </a:lnTo>
                  <a:lnTo>
                    <a:pt x="146735" y="282976"/>
                  </a:lnTo>
                  <a:lnTo>
                    <a:pt x="95345" y="322473"/>
                  </a:lnTo>
                  <a:lnTo>
                    <a:pt x="54438" y="363629"/>
                  </a:lnTo>
                  <a:lnTo>
                    <a:pt x="24553" y="406269"/>
                  </a:lnTo>
                  <a:lnTo>
                    <a:pt x="6228" y="450217"/>
                  </a:lnTo>
                  <a:lnTo>
                    <a:pt x="0" y="495300"/>
                  </a:lnTo>
                  <a:lnTo>
                    <a:pt x="1568" y="517972"/>
                  </a:lnTo>
                  <a:lnTo>
                    <a:pt x="13912" y="562509"/>
                  </a:lnTo>
                  <a:lnTo>
                    <a:pt x="38084" y="605825"/>
                  </a:lnTo>
                  <a:lnTo>
                    <a:pt x="73547" y="647744"/>
                  </a:lnTo>
                  <a:lnTo>
                    <a:pt x="119763" y="688093"/>
                  </a:lnTo>
                  <a:lnTo>
                    <a:pt x="176193" y="726695"/>
                  </a:lnTo>
                  <a:lnTo>
                    <a:pt x="242299" y="763377"/>
                  </a:lnTo>
                  <a:lnTo>
                    <a:pt x="278813" y="780942"/>
                  </a:lnTo>
                  <a:lnTo>
                    <a:pt x="317544" y="797963"/>
                  </a:lnTo>
                  <a:lnTo>
                    <a:pt x="358425" y="814415"/>
                  </a:lnTo>
                  <a:lnTo>
                    <a:pt x="401389" y="830278"/>
                  </a:lnTo>
                  <a:lnTo>
                    <a:pt x="446369" y="845529"/>
                  </a:lnTo>
                  <a:lnTo>
                    <a:pt x="493297" y="860148"/>
                  </a:lnTo>
                  <a:lnTo>
                    <a:pt x="542106" y="874111"/>
                  </a:lnTo>
                  <a:lnTo>
                    <a:pt x="592728" y="887398"/>
                  </a:lnTo>
                  <a:lnTo>
                    <a:pt x="645098" y="899985"/>
                  </a:lnTo>
                  <a:lnTo>
                    <a:pt x="699147" y="911852"/>
                  </a:lnTo>
                  <a:lnTo>
                    <a:pt x="754807" y="922977"/>
                  </a:lnTo>
                  <a:lnTo>
                    <a:pt x="812013" y="933337"/>
                  </a:lnTo>
                  <a:lnTo>
                    <a:pt x="870696" y="942911"/>
                  </a:lnTo>
                  <a:lnTo>
                    <a:pt x="930790" y="951676"/>
                  </a:lnTo>
                  <a:lnTo>
                    <a:pt x="992226" y="959612"/>
                  </a:lnTo>
                  <a:lnTo>
                    <a:pt x="1054939" y="966696"/>
                  </a:lnTo>
                  <a:lnTo>
                    <a:pt x="1118860" y="972907"/>
                  </a:lnTo>
                  <a:lnTo>
                    <a:pt x="1183922" y="978222"/>
                  </a:lnTo>
                  <a:lnTo>
                    <a:pt x="1250058" y="982620"/>
                  </a:lnTo>
                  <a:lnTo>
                    <a:pt x="1317202" y="986078"/>
                  </a:lnTo>
                  <a:lnTo>
                    <a:pt x="1385284" y="988575"/>
                  </a:lnTo>
                  <a:lnTo>
                    <a:pt x="1454239" y="990090"/>
                  </a:lnTo>
                  <a:lnTo>
                    <a:pt x="1524000" y="990600"/>
                  </a:lnTo>
                  <a:lnTo>
                    <a:pt x="1593759" y="990090"/>
                  </a:lnTo>
                  <a:lnTo>
                    <a:pt x="1662714" y="988575"/>
                  </a:lnTo>
                  <a:lnTo>
                    <a:pt x="1730797" y="986078"/>
                  </a:lnTo>
                  <a:lnTo>
                    <a:pt x="1797940" y="982620"/>
                  </a:lnTo>
                  <a:lnTo>
                    <a:pt x="1864077" y="978222"/>
                  </a:lnTo>
                  <a:lnTo>
                    <a:pt x="1929139" y="972907"/>
                  </a:lnTo>
                  <a:lnTo>
                    <a:pt x="1993060" y="966696"/>
                  </a:lnTo>
                  <a:lnTo>
                    <a:pt x="2055772" y="959612"/>
                  </a:lnTo>
                  <a:lnTo>
                    <a:pt x="2117209" y="951676"/>
                  </a:lnTo>
                  <a:lnTo>
                    <a:pt x="2177302" y="942911"/>
                  </a:lnTo>
                  <a:lnTo>
                    <a:pt x="2235985" y="933337"/>
                  </a:lnTo>
                  <a:lnTo>
                    <a:pt x="2293191" y="922977"/>
                  </a:lnTo>
                  <a:lnTo>
                    <a:pt x="2348852" y="911852"/>
                  </a:lnTo>
                  <a:lnTo>
                    <a:pt x="2402901" y="899985"/>
                  </a:lnTo>
                  <a:lnTo>
                    <a:pt x="2455270" y="887398"/>
                  </a:lnTo>
                  <a:lnTo>
                    <a:pt x="2505893" y="874111"/>
                  </a:lnTo>
                  <a:lnTo>
                    <a:pt x="2554702" y="860148"/>
                  </a:lnTo>
                  <a:lnTo>
                    <a:pt x="2601630" y="845529"/>
                  </a:lnTo>
                  <a:lnTo>
                    <a:pt x="2646610" y="830278"/>
                  </a:lnTo>
                  <a:lnTo>
                    <a:pt x="2689574" y="814415"/>
                  </a:lnTo>
                  <a:lnTo>
                    <a:pt x="2730455" y="797963"/>
                  </a:lnTo>
                  <a:lnTo>
                    <a:pt x="2769186" y="780942"/>
                  </a:lnTo>
                  <a:lnTo>
                    <a:pt x="2805699" y="763377"/>
                  </a:lnTo>
                  <a:lnTo>
                    <a:pt x="2839929" y="745287"/>
                  </a:lnTo>
                  <a:lnTo>
                    <a:pt x="2901264" y="707623"/>
                  </a:lnTo>
                  <a:lnTo>
                    <a:pt x="2952654" y="668126"/>
                  </a:lnTo>
                  <a:lnTo>
                    <a:pt x="2993561" y="626970"/>
                  </a:lnTo>
                  <a:lnTo>
                    <a:pt x="3023446" y="584330"/>
                  </a:lnTo>
                  <a:lnTo>
                    <a:pt x="3041771" y="540382"/>
                  </a:lnTo>
                  <a:lnTo>
                    <a:pt x="3048000" y="495300"/>
                  </a:lnTo>
                  <a:lnTo>
                    <a:pt x="3046431" y="472627"/>
                  </a:lnTo>
                  <a:lnTo>
                    <a:pt x="3034087" y="428090"/>
                  </a:lnTo>
                  <a:lnTo>
                    <a:pt x="3009915" y="384774"/>
                  </a:lnTo>
                  <a:lnTo>
                    <a:pt x="2974451" y="342855"/>
                  </a:lnTo>
                  <a:lnTo>
                    <a:pt x="2928236" y="302506"/>
                  </a:lnTo>
                  <a:lnTo>
                    <a:pt x="2871806" y="263904"/>
                  </a:lnTo>
                  <a:lnTo>
                    <a:pt x="2805699" y="227222"/>
                  </a:lnTo>
                  <a:lnTo>
                    <a:pt x="2769186" y="209657"/>
                  </a:lnTo>
                  <a:lnTo>
                    <a:pt x="2730455" y="192636"/>
                  </a:lnTo>
                  <a:lnTo>
                    <a:pt x="2689574" y="176184"/>
                  </a:lnTo>
                  <a:lnTo>
                    <a:pt x="2646610" y="160321"/>
                  </a:lnTo>
                  <a:lnTo>
                    <a:pt x="2601630" y="145070"/>
                  </a:lnTo>
                  <a:lnTo>
                    <a:pt x="2554702" y="130451"/>
                  </a:lnTo>
                  <a:lnTo>
                    <a:pt x="2505893" y="116488"/>
                  </a:lnTo>
                  <a:lnTo>
                    <a:pt x="2455270" y="103201"/>
                  </a:lnTo>
                  <a:lnTo>
                    <a:pt x="2402901" y="90614"/>
                  </a:lnTo>
                  <a:lnTo>
                    <a:pt x="2348852" y="78747"/>
                  </a:lnTo>
                  <a:lnTo>
                    <a:pt x="2293191" y="67622"/>
                  </a:lnTo>
                  <a:lnTo>
                    <a:pt x="2235985" y="57262"/>
                  </a:lnTo>
                  <a:lnTo>
                    <a:pt x="2177302" y="47688"/>
                  </a:lnTo>
                  <a:lnTo>
                    <a:pt x="2117209" y="38923"/>
                  </a:lnTo>
                  <a:lnTo>
                    <a:pt x="2055772" y="30987"/>
                  </a:lnTo>
                  <a:lnTo>
                    <a:pt x="1993060" y="23903"/>
                  </a:lnTo>
                  <a:lnTo>
                    <a:pt x="1929139" y="17692"/>
                  </a:lnTo>
                  <a:lnTo>
                    <a:pt x="1864077" y="12377"/>
                  </a:lnTo>
                  <a:lnTo>
                    <a:pt x="1797940" y="7979"/>
                  </a:lnTo>
                  <a:lnTo>
                    <a:pt x="1730797" y="4521"/>
                  </a:lnTo>
                  <a:lnTo>
                    <a:pt x="1662714" y="2024"/>
                  </a:lnTo>
                  <a:lnTo>
                    <a:pt x="1593759" y="509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19399" y="3733800"/>
              <a:ext cx="3048000" cy="990600"/>
            </a:xfrm>
            <a:custGeom>
              <a:avLst/>
              <a:gdLst/>
              <a:ahLst/>
              <a:cxnLst/>
              <a:rect l="l" t="t" r="r" b="b"/>
              <a:pathLst>
                <a:path w="3048000" h="990600">
                  <a:moveTo>
                    <a:pt x="0" y="495300"/>
                  </a:moveTo>
                  <a:lnTo>
                    <a:pt x="6228" y="450217"/>
                  </a:lnTo>
                  <a:lnTo>
                    <a:pt x="24553" y="406269"/>
                  </a:lnTo>
                  <a:lnTo>
                    <a:pt x="54438" y="363629"/>
                  </a:lnTo>
                  <a:lnTo>
                    <a:pt x="95345" y="322473"/>
                  </a:lnTo>
                  <a:lnTo>
                    <a:pt x="146735" y="282976"/>
                  </a:lnTo>
                  <a:lnTo>
                    <a:pt x="208070" y="245312"/>
                  </a:lnTo>
                  <a:lnTo>
                    <a:pt x="242299" y="227222"/>
                  </a:lnTo>
                  <a:lnTo>
                    <a:pt x="278813" y="209657"/>
                  </a:lnTo>
                  <a:lnTo>
                    <a:pt x="317544" y="192636"/>
                  </a:lnTo>
                  <a:lnTo>
                    <a:pt x="358425" y="176184"/>
                  </a:lnTo>
                  <a:lnTo>
                    <a:pt x="401389" y="160321"/>
                  </a:lnTo>
                  <a:lnTo>
                    <a:pt x="446369" y="145070"/>
                  </a:lnTo>
                  <a:lnTo>
                    <a:pt x="493297" y="130451"/>
                  </a:lnTo>
                  <a:lnTo>
                    <a:pt x="542106" y="116488"/>
                  </a:lnTo>
                  <a:lnTo>
                    <a:pt x="592729" y="103201"/>
                  </a:lnTo>
                  <a:lnTo>
                    <a:pt x="645098" y="90614"/>
                  </a:lnTo>
                  <a:lnTo>
                    <a:pt x="699147" y="78747"/>
                  </a:lnTo>
                  <a:lnTo>
                    <a:pt x="754808" y="67622"/>
                  </a:lnTo>
                  <a:lnTo>
                    <a:pt x="812013" y="57262"/>
                  </a:lnTo>
                  <a:lnTo>
                    <a:pt x="870696" y="47688"/>
                  </a:lnTo>
                  <a:lnTo>
                    <a:pt x="930790" y="38923"/>
                  </a:lnTo>
                  <a:lnTo>
                    <a:pt x="992227" y="30987"/>
                  </a:lnTo>
                  <a:lnTo>
                    <a:pt x="1054939" y="23903"/>
                  </a:lnTo>
                  <a:lnTo>
                    <a:pt x="1118860" y="17692"/>
                  </a:lnTo>
                  <a:lnTo>
                    <a:pt x="1183922" y="12377"/>
                  </a:lnTo>
                  <a:lnTo>
                    <a:pt x="1250059" y="7979"/>
                  </a:lnTo>
                  <a:lnTo>
                    <a:pt x="1317202" y="4521"/>
                  </a:lnTo>
                  <a:lnTo>
                    <a:pt x="1385284" y="2024"/>
                  </a:lnTo>
                  <a:lnTo>
                    <a:pt x="1454239" y="509"/>
                  </a:lnTo>
                  <a:lnTo>
                    <a:pt x="1524000" y="0"/>
                  </a:lnTo>
                  <a:lnTo>
                    <a:pt x="1593760" y="509"/>
                  </a:lnTo>
                  <a:lnTo>
                    <a:pt x="1662715" y="2024"/>
                  </a:lnTo>
                  <a:lnTo>
                    <a:pt x="1730797" y="4521"/>
                  </a:lnTo>
                  <a:lnTo>
                    <a:pt x="1797940" y="7979"/>
                  </a:lnTo>
                  <a:lnTo>
                    <a:pt x="1864077" y="12377"/>
                  </a:lnTo>
                  <a:lnTo>
                    <a:pt x="1929139" y="17692"/>
                  </a:lnTo>
                  <a:lnTo>
                    <a:pt x="1993060" y="23903"/>
                  </a:lnTo>
                  <a:lnTo>
                    <a:pt x="2055773" y="30987"/>
                  </a:lnTo>
                  <a:lnTo>
                    <a:pt x="2117209" y="38923"/>
                  </a:lnTo>
                  <a:lnTo>
                    <a:pt x="2177303" y="47688"/>
                  </a:lnTo>
                  <a:lnTo>
                    <a:pt x="2235986" y="57262"/>
                  </a:lnTo>
                  <a:lnTo>
                    <a:pt x="2293192" y="67622"/>
                  </a:lnTo>
                  <a:lnTo>
                    <a:pt x="2348852" y="78747"/>
                  </a:lnTo>
                  <a:lnTo>
                    <a:pt x="2402901" y="90614"/>
                  </a:lnTo>
                  <a:lnTo>
                    <a:pt x="2455271" y="103201"/>
                  </a:lnTo>
                  <a:lnTo>
                    <a:pt x="2505893" y="116488"/>
                  </a:lnTo>
                  <a:lnTo>
                    <a:pt x="2554702" y="130451"/>
                  </a:lnTo>
                  <a:lnTo>
                    <a:pt x="2601630" y="145070"/>
                  </a:lnTo>
                  <a:lnTo>
                    <a:pt x="2646610" y="160321"/>
                  </a:lnTo>
                  <a:lnTo>
                    <a:pt x="2689574" y="176184"/>
                  </a:lnTo>
                  <a:lnTo>
                    <a:pt x="2730455" y="192636"/>
                  </a:lnTo>
                  <a:lnTo>
                    <a:pt x="2769186" y="209657"/>
                  </a:lnTo>
                  <a:lnTo>
                    <a:pt x="2805700" y="227222"/>
                  </a:lnTo>
                  <a:lnTo>
                    <a:pt x="2839929" y="245312"/>
                  </a:lnTo>
                  <a:lnTo>
                    <a:pt x="2901264" y="282976"/>
                  </a:lnTo>
                  <a:lnTo>
                    <a:pt x="2952654" y="322473"/>
                  </a:lnTo>
                  <a:lnTo>
                    <a:pt x="2993561" y="363629"/>
                  </a:lnTo>
                  <a:lnTo>
                    <a:pt x="3023446" y="406269"/>
                  </a:lnTo>
                  <a:lnTo>
                    <a:pt x="3041771" y="450217"/>
                  </a:lnTo>
                  <a:lnTo>
                    <a:pt x="3048000" y="495300"/>
                  </a:lnTo>
                  <a:lnTo>
                    <a:pt x="3046431" y="517972"/>
                  </a:lnTo>
                  <a:lnTo>
                    <a:pt x="3034087" y="562509"/>
                  </a:lnTo>
                  <a:lnTo>
                    <a:pt x="3009915" y="605825"/>
                  </a:lnTo>
                  <a:lnTo>
                    <a:pt x="2974452" y="647744"/>
                  </a:lnTo>
                  <a:lnTo>
                    <a:pt x="2928236" y="688093"/>
                  </a:lnTo>
                  <a:lnTo>
                    <a:pt x="2871806" y="726695"/>
                  </a:lnTo>
                  <a:lnTo>
                    <a:pt x="2805700" y="763377"/>
                  </a:lnTo>
                  <a:lnTo>
                    <a:pt x="2769186" y="780943"/>
                  </a:lnTo>
                  <a:lnTo>
                    <a:pt x="2730455" y="797963"/>
                  </a:lnTo>
                  <a:lnTo>
                    <a:pt x="2689574" y="814415"/>
                  </a:lnTo>
                  <a:lnTo>
                    <a:pt x="2646610" y="830278"/>
                  </a:lnTo>
                  <a:lnTo>
                    <a:pt x="2601630" y="845529"/>
                  </a:lnTo>
                  <a:lnTo>
                    <a:pt x="2554702" y="860148"/>
                  </a:lnTo>
                  <a:lnTo>
                    <a:pt x="2505893" y="874111"/>
                  </a:lnTo>
                  <a:lnTo>
                    <a:pt x="2455271" y="887398"/>
                  </a:lnTo>
                  <a:lnTo>
                    <a:pt x="2402901" y="899985"/>
                  </a:lnTo>
                  <a:lnTo>
                    <a:pt x="2348852" y="911852"/>
                  </a:lnTo>
                  <a:lnTo>
                    <a:pt x="2293192" y="922977"/>
                  </a:lnTo>
                  <a:lnTo>
                    <a:pt x="2235986" y="933337"/>
                  </a:lnTo>
                  <a:lnTo>
                    <a:pt x="2177303" y="942911"/>
                  </a:lnTo>
                  <a:lnTo>
                    <a:pt x="2117209" y="951676"/>
                  </a:lnTo>
                  <a:lnTo>
                    <a:pt x="2055773" y="959612"/>
                  </a:lnTo>
                  <a:lnTo>
                    <a:pt x="1993060" y="966696"/>
                  </a:lnTo>
                  <a:lnTo>
                    <a:pt x="1929139" y="972907"/>
                  </a:lnTo>
                  <a:lnTo>
                    <a:pt x="1864077" y="978222"/>
                  </a:lnTo>
                  <a:lnTo>
                    <a:pt x="1797940" y="982620"/>
                  </a:lnTo>
                  <a:lnTo>
                    <a:pt x="1730797" y="986078"/>
                  </a:lnTo>
                  <a:lnTo>
                    <a:pt x="1662715" y="988575"/>
                  </a:lnTo>
                  <a:lnTo>
                    <a:pt x="1593760" y="990090"/>
                  </a:lnTo>
                  <a:lnTo>
                    <a:pt x="1524000" y="990600"/>
                  </a:lnTo>
                  <a:lnTo>
                    <a:pt x="1454239" y="990090"/>
                  </a:lnTo>
                  <a:lnTo>
                    <a:pt x="1385284" y="988575"/>
                  </a:lnTo>
                  <a:lnTo>
                    <a:pt x="1317202" y="986078"/>
                  </a:lnTo>
                  <a:lnTo>
                    <a:pt x="1250059" y="982620"/>
                  </a:lnTo>
                  <a:lnTo>
                    <a:pt x="1183922" y="978222"/>
                  </a:lnTo>
                  <a:lnTo>
                    <a:pt x="1118860" y="972907"/>
                  </a:lnTo>
                  <a:lnTo>
                    <a:pt x="1054939" y="966696"/>
                  </a:lnTo>
                  <a:lnTo>
                    <a:pt x="992227" y="959612"/>
                  </a:lnTo>
                  <a:lnTo>
                    <a:pt x="930790" y="951676"/>
                  </a:lnTo>
                  <a:lnTo>
                    <a:pt x="870696" y="942911"/>
                  </a:lnTo>
                  <a:lnTo>
                    <a:pt x="812013" y="933337"/>
                  </a:lnTo>
                  <a:lnTo>
                    <a:pt x="754808" y="922977"/>
                  </a:lnTo>
                  <a:lnTo>
                    <a:pt x="699147" y="911852"/>
                  </a:lnTo>
                  <a:lnTo>
                    <a:pt x="645098" y="899985"/>
                  </a:lnTo>
                  <a:lnTo>
                    <a:pt x="592729" y="887398"/>
                  </a:lnTo>
                  <a:lnTo>
                    <a:pt x="542106" y="874111"/>
                  </a:lnTo>
                  <a:lnTo>
                    <a:pt x="493297" y="860148"/>
                  </a:lnTo>
                  <a:lnTo>
                    <a:pt x="446369" y="845529"/>
                  </a:lnTo>
                  <a:lnTo>
                    <a:pt x="401389" y="830278"/>
                  </a:lnTo>
                  <a:lnTo>
                    <a:pt x="358425" y="814415"/>
                  </a:lnTo>
                  <a:lnTo>
                    <a:pt x="317544" y="797963"/>
                  </a:lnTo>
                  <a:lnTo>
                    <a:pt x="278813" y="780943"/>
                  </a:lnTo>
                  <a:lnTo>
                    <a:pt x="242299" y="763377"/>
                  </a:lnTo>
                  <a:lnTo>
                    <a:pt x="208070" y="745287"/>
                  </a:lnTo>
                  <a:lnTo>
                    <a:pt x="146735" y="707623"/>
                  </a:lnTo>
                  <a:lnTo>
                    <a:pt x="95345" y="668126"/>
                  </a:lnTo>
                  <a:lnTo>
                    <a:pt x="54438" y="626970"/>
                  </a:lnTo>
                  <a:lnTo>
                    <a:pt x="24553" y="584330"/>
                  </a:lnTo>
                  <a:lnTo>
                    <a:pt x="6228" y="540382"/>
                  </a:lnTo>
                  <a:lnTo>
                    <a:pt x="0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5151" y="4008368"/>
            <a:ext cx="164447" cy="1240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4844" y="3962092"/>
            <a:ext cx="164613" cy="12418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33450" y="4028370"/>
            <a:ext cx="164612" cy="12424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00065" y="2479430"/>
            <a:ext cx="587828" cy="74089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66457" y="2522761"/>
            <a:ext cx="1045028" cy="83253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67321" y="2750137"/>
            <a:ext cx="491176" cy="67616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53000" y="5030906"/>
            <a:ext cx="1066800" cy="81585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13832" y="2979964"/>
            <a:ext cx="841247" cy="56333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355435" y="3899916"/>
            <a:ext cx="19754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330" marR="5080" indent="-4692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similar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Desktop!!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79946" y="4250491"/>
            <a:ext cx="839469" cy="250190"/>
          </a:xfrm>
          <a:custGeom>
            <a:avLst/>
            <a:gdLst/>
            <a:ahLst/>
            <a:cxnLst/>
            <a:rect l="l" t="t" r="r" b="b"/>
            <a:pathLst>
              <a:path w="839469" h="250189">
                <a:moveTo>
                  <a:pt x="764685" y="32162"/>
                </a:moveTo>
                <a:lnTo>
                  <a:pt x="0" y="240713"/>
                </a:lnTo>
                <a:lnTo>
                  <a:pt x="2506" y="249902"/>
                </a:lnTo>
                <a:lnTo>
                  <a:pt x="767192" y="41352"/>
                </a:lnTo>
                <a:lnTo>
                  <a:pt x="764685" y="32162"/>
                </a:lnTo>
                <a:close/>
              </a:path>
              <a:path w="839469" h="250189">
                <a:moveTo>
                  <a:pt x="825915" y="28821"/>
                </a:moveTo>
                <a:lnTo>
                  <a:pt x="776937" y="28821"/>
                </a:lnTo>
                <a:lnTo>
                  <a:pt x="779443" y="38011"/>
                </a:lnTo>
                <a:lnTo>
                  <a:pt x="767192" y="41352"/>
                </a:lnTo>
                <a:lnTo>
                  <a:pt x="775963" y="73515"/>
                </a:lnTo>
                <a:lnTo>
                  <a:pt x="825915" y="28821"/>
                </a:lnTo>
                <a:close/>
              </a:path>
              <a:path w="839469" h="250189">
                <a:moveTo>
                  <a:pt x="776937" y="28821"/>
                </a:moveTo>
                <a:lnTo>
                  <a:pt x="764685" y="32162"/>
                </a:lnTo>
                <a:lnTo>
                  <a:pt x="767192" y="41352"/>
                </a:lnTo>
                <a:lnTo>
                  <a:pt x="779443" y="38011"/>
                </a:lnTo>
                <a:lnTo>
                  <a:pt x="776937" y="28821"/>
                </a:lnTo>
                <a:close/>
              </a:path>
              <a:path w="839469" h="250189">
                <a:moveTo>
                  <a:pt x="755914" y="0"/>
                </a:moveTo>
                <a:lnTo>
                  <a:pt x="764685" y="32162"/>
                </a:lnTo>
                <a:lnTo>
                  <a:pt x="776937" y="28821"/>
                </a:lnTo>
                <a:lnTo>
                  <a:pt x="825915" y="28821"/>
                </a:lnTo>
                <a:lnTo>
                  <a:pt x="839453" y="16708"/>
                </a:lnTo>
                <a:lnTo>
                  <a:pt x="7559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4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35" dirty="0">
                <a:solidFill>
                  <a:srgbClr val="000000"/>
                </a:solidFill>
                <a:latin typeface="Verdana"/>
                <a:cs typeface="Verdana"/>
              </a:rPr>
              <a:t>K-</a:t>
            </a:r>
            <a:r>
              <a:rPr sz="4000" spc="-430" dirty="0">
                <a:solidFill>
                  <a:srgbClr val="000000"/>
                </a:solidFill>
                <a:latin typeface="Verdana"/>
                <a:cs typeface="Verdana"/>
              </a:rPr>
              <a:t>Nearest</a:t>
            </a:r>
            <a:r>
              <a:rPr sz="4000" spc="-2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09" dirty="0">
                <a:solidFill>
                  <a:srgbClr val="000000"/>
                </a:solidFill>
                <a:latin typeface="Verdana"/>
                <a:cs typeface="Verdana"/>
              </a:rPr>
              <a:t>Neighbor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/>
          <p:nvPr/>
        </p:nvSpPr>
        <p:spPr>
          <a:xfrm>
            <a:off x="675640" y="1516379"/>
            <a:ext cx="55321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000" spc="-145" dirty="0">
                <a:latin typeface="Arial MT"/>
                <a:cs typeface="Arial MT"/>
              </a:rPr>
              <a:t>Simple,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but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very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powerful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classification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algorithm</a:t>
            </a:r>
            <a:endParaRPr sz="20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6590" y="2164352"/>
          <a:ext cx="7967980" cy="44627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309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200"/>
                        </a:lnSpc>
                        <a:buFont typeface="Wingdings"/>
                        <a:buChar char=""/>
                        <a:tabLst>
                          <a:tab pos="374015" algn="l"/>
                        </a:tabLst>
                      </a:pPr>
                      <a:r>
                        <a:rPr sz="2000" spc="-145" dirty="0">
                          <a:latin typeface="Arial MT"/>
                          <a:cs typeface="Arial MT"/>
                        </a:rPr>
                        <a:t>Classifies</a:t>
                      </a:r>
                      <a:r>
                        <a:rPr sz="20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20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85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20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0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80" dirty="0">
                          <a:latin typeface="Arial MT"/>
                          <a:cs typeface="Arial MT"/>
                        </a:rPr>
                        <a:t>similarity</a:t>
                      </a:r>
                      <a:r>
                        <a:rPr sz="20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measure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1065"/>
                        </a:spcBef>
                        <a:buFont typeface="Wingdings"/>
                        <a:buChar char=""/>
                        <a:tabLst>
                          <a:tab pos="374015" algn="l"/>
                        </a:tabLst>
                      </a:pPr>
                      <a:r>
                        <a:rPr sz="2000" spc="-160" dirty="0">
                          <a:latin typeface="Arial MT"/>
                          <a:cs typeface="Arial MT"/>
                        </a:rPr>
                        <a:t>Most</a:t>
                      </a:r>
                      <a:r>
                        <a:rPr sz="2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25" dirty="0">
                          <a:latin typeface="Arial MT"/>
                          <a:cs typeface="Arial MT"/>
                        </a:rPr>
                        <a:t>basic</a:t>
                      </a:r>
                      <a:r>
                        <a:rPr sz="20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45" dirty="0">
                          <a:latin typeface="Arial MT"/>
                          <a:cs typeface="Arial MT"/>
                        </a:rPr>
                        <a:t>instance-</a:t>
                      </a:r>
                      <a:r>
                        <a:rPr sz="2000" spc="-10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20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method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1065"/>
                        </a:spcBef>
                        <a:buFont typeface="Wingdings"/>
                        <a:buChar char=""/>
                        <a:tabLst>
                          <a:tab pos="374015" algn="l"/>
                        </a:tabLst>
                      </a:pPr>
                      <a:r>
                        <a:rPr sz="2000" spc="-145" dirty="0">
                          <a:latin typeface="Arial MT"/>
                          <a:cs typeface="Arial MT"/>
                        </a:rPr>
                        <a:t>Supervised</a:t>
                      </a:r>
                      <a:r>
                        <a:rPr sz="20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learning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1065"/>
                        </a:spcBef>
                        <a:buFont typeface="Wingdings"/>
                        <a:buChar char=""/>
                        <a:tabLst>
                          <a:tab pos="374015" algn="l"/>
                        </a:tabLst>
                      </a:pPr>
                      <a:r>
                        <a:rPr sz="2000" spc="-130" dirty="0">
                          <a:latin typeface="Arial MT"/>
                          <a:cs typeface="Arial MT"/>
                        </a:rPr>
                        <a:t>Non-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parametric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1065"/>
                        </a:spcBef>
                        <a:buFont typeface="Wingdings"/>
                        <a:buChar char=""/>
                        <a:tabLst>
                          <a:tab pos="374015" algn="l"/>
                        </a:tabLst>
                      </a:pPr>
                      <a:r>
                        <a:rPr sz="2000" spc="-120" dirty="0">
                          <a:latin typeface="Arial MT"/>
                          <a:cs typeface="Arial MT"/>
                        </a:rPr>
                        <a:t>Lazy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learning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1065"/>
                        </a:spcBef>
                        <a:buFont typeface="Wingdings"/>
                        <a:buChar char=""/>
                        <a:tabLst>
                          <a:tab pos="374015" algn="l"/>
                        </a:tabLst>
                      </a:pPr>
                      <a:r>
                        <a:rPr sz="2000" spc="-215" dirty="0">
                          <a:latin typeface="Arial MT"/>
                          <a:cs typeface="Arial MT"/>
                        </a:rPr>
                        <a:t>Does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35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“learn”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5" dirty="0">
                          <a:latin typeface="Arial MT"/>
                          <a:cs typeface="Arial MT"/>
                        </a:rPr>
                        <a:t>until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3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25" dirty="0">
                          <a:latin typeface="Arial MT"/>
                          <a:cs typeface="Arial MT"/>
                        </a:rPr>
                        <a:t>test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90" dirty="0">
                          <a:latin typeface="Arial MT"/>
                          <a:cs typeface="Arial MT"/>
                        </a:rPr>
                        <a:t>example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85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 given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6469">
                <a:tc>
                  <a:txBody>
                    <a:bodyPr/>
                    <a:lstStyle/>
                    <a:p>
                      <a:pPr marL="374650" marR="67310" indent="-342900">
                        <a:lnSpc>
                          <a:spcPct val="100000"/>
                        </a:lnSpc>
                        <a:spcBef>
                          <a:spcPts val="1065"/>
                        </a:spcBef>
                        <a:buFont typeface="Wingdings"/>
                        <a:buChar char=""/>
                        <a:tabLst>
                          <a:tab pos="374650" algn="l"/>
                          <a:tab pos="1577975" algn="l"/>
                          <a:tab pos="2025650" algn="l"/>
                          <a:tab pos="2665730" algn="l"/>
                          <a:tab pos="2956560" algn="l"/>
                          <a:tab pos="3515995" algn="l"/>
                          <a:tab pos="4154170" algn="l"/>
                          <a:tab pos="4500880" algn="l"/>
                        </a:tabLst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Whenever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we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114" dirty="0">
                          <a:latin typeface="Arial MT"/>
                          <a:cs typeface="Arial MT"/>
                        </a:rPr>
                        <a:t>classify, </a:t>
                      </a:r>
                      <a:r>
                        <a:rPr sz="2000" spc="-130" dirty="0">
                          <a:latin typeface="Arial MT"/>
                          <a:cs typeface="Arial MT"/>
                        </a:rPr>
                        <a:t>neighbors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3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75" dirty="0">
                          <a:latin typeface="Arial MT"/>
                          <a:cs typeface="Arial MT"/>
                        </a:rPr>
                        <a:t>training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data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we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065"/>
                        </a:spcBef>
                        <a:tabLst>
                          <a:tab pos="616585" algn="l"/>
                          <a:tab pos="975360" algn="l"/>
                        </a:tabLst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find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its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135" dirty="0">
                          <a:latin typeface="Arial MT"/>
                          <a:cs typeface="Arial MT"/>
                        </a:rPr>
                        <a:t>K-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nearest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200" spc="-25" dirty="0">
                          <a:solidFill>
                            <a:srgbClr val="1F497D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3525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6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spc="-635" dirty="0">
                <a:solidFill>
                  <a:srgbClr val="000000"/>
                </a:solidFill>
                <a:latin typeface="Verdana"/>
                <a:cs typeface="Verdana"/>
              </a:rPr>
              <a:t>KNN</a:t>
            </a:r>
            <a:r>
              <a:rPr sz="4000" spc="-5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625" dirty="0">
                <a:solidFill>
                  <a:srgbClr val="000000"/>
                </a:solidFill>
                <a:latin typeface="Verdana"/>
                <a:cs typeface="Verdana"/>
              </a:rPr>
              <a:t>Classification</a:t>
            </a:r>
            <a:r>
              <a:rPr sz="4000" spc="-51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615" dirty="0">
                <a:solidFill>
                  <a:srgbClr val="000000"/>
                </a:solidFill>
                <a:latin typeface="Verdana"/>
                <a:cs typeface="Verdana"/>
              </a:rPr>
              <a:t>Approach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0751" y="1599691"/>
            <a:ext cx="7764780" cy="31191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69265" marR="5080" indent="-457200" algn="just">
              <a:lnSpc>
                <a:spcPct val="102200"/>
              </a:lnSpc>
              <a:spcBef>
                <a:spcPts val="50"/>
              </a:spcBef>
              <a:buClr>
                <a:srgbClr val="DD8046"/>
              </a:buClr>
              <a:buSzPct val="61111"/>
              <a:buFont typeface="Wingdings"/>
              <a:buChar char="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K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nearest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neighbors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simple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algorithm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stores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available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cases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spc="-125" dirty="0">
                <a:latin typeface="Arial MT"/>
                <a:cs typeface="Arial MT"/>
              </a:rPr>
              <a:t>classifies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new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00" dirty="0">
                <a:latin typeface="Arial MT"/>
                <a:cs typeface="Arial MT"/>
              </a:rPr>
              <a:t>cases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based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on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-60" dirty="0">
                <a:latin typeface="Arial MT"/>
                <a:cs typeface="Arial MT"/>
              </a:rPr>
              <a:t>similarity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measure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(e.g.,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distance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functions).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469265" marR="5715" indent="-457200" algn="just">
              <a:lnSpc>
                <a:spcPts val="2110"/>
              </a:lnSpc>
              <a:buClr>
                <a:srgbClr val="DD8046"/>
              </a:buClr>
              <a:buSzPct val="61111"/>
              <a:buFont typeface="Wingdings"/>
              <a:buChar char=""/>
              <a:tabLst>
                <a:tab pos="469265" algn="l"/>
              </a:tabLst>
            </a:pPr>
            <a:r>
              <a:rPr sz="1800" spc="-200" dirty="0">
                <a:latin typeface="Arial MT"/>
                <a:cs typeface="Arial MT"/>
              </a:rPr>
              <a:t>The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KNN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algorithm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20" dirty="0">
                <a:latin typeface="Arial MT"/>
                <a:cs typeface="Arial MT"/>
              </a:rPr>
              <a:t>assumes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similar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things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exist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close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proximity.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 </a:t>
            </a:r>
            <a:r>
              <a:rPr sz="1800" spc="-125" dirty="0">
                <a:latin typeface="Arial MT"/>
                <a:cs typeface="Arial MT"/>
              </a:rPr>
              <a:t>words,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similar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things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are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near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each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Clr>
                <a:srgbClr val="DD8046"/>
              </a:buClr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469265" marR="5080" indent="-457200" algn="just">
              <a:lnSpc>
                <a:spcPct val="99400"/>
              </a:lnSpc>
              <a:buClr>
                <a:srgbClr val="DD8046"/>
              </a:buClr>
              <a:buSzPct val="61111"/>
              <a:buFont typeface="Wingdings"/>
              <a:buChar char="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case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classified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majority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vote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neighbors,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case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being </a:t>
            </a:r>
            <a:r>
              <a:rPr sz="1800" spc="-100" dirty="0">
                <a:latin typeface="Arial MT"/>
                <a:cs typeface="Arial MT"/>
              </a:rPr>
              <a:t>assigned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class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most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95" dirty="0">
                <a:latin typeface="Arial MT"/>
                <a:cs typeface="Arial MT"/>
              </a:rPr>
              <a:t>common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amongst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nearest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neighbors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measured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distance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function.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DD8046"/>
              </a:buClr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SzPct val="61111"/>
              <a:buFont typeface="Wingdings"/>
              <a:buChar char="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25" dirty="0">
                <a:latin typeface="Arial MT"/>
                <a:cs typeface="Arial MT"/>
              </a:rPr>
              <a:t>K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45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then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case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is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simply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assigned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class</a:t>
            </a:r>
            <a:r>
              <a:rPr sz="1800" dirty="0">
                <a:latin typeface="Arial MT"/>
                <a:cs typeface="Arial MT"/>
              </a:rPr>
              <a:t> of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its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nearest</a:t>
            </a:r>
            <a:r>
              <a:rPr sz="1800" spc="-10" dirty="0">
                <a:latin typeface="Arial MT"/>
                <a:cs typeface="Arial MT"/>
              </a:rPr>
              <a:t> neighbor.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4724400"/>
            <a:ext cx="2590800" cy="2133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4771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65" dirty="0">
                <a:solidFill>
                  <a:srgbClr val="000000"/>
                </a:solidFill>
                <a:latin typeface="Verdana"/>
                <a:cs typeface="Verdana"/>
              </a:rPr>
              <a:t>Guess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8578" y="3685522"/>
            <a:ext cx="4704106" cy="2916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0471" y="1621028"/>
            <a:ext cx="6838950" cy="139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7815" algn="l"/>
              </a:tabLst>
            </a:pPr>
            <a:r>
              <a:rPr sz="1800" spc="-114" dirty="0">
                <a:latin typeface="Arial MT"/>
                <a:cs typeface="Arial MT"/>
              </a:rPr>
              <a:t>Learning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just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storing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the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representations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the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training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examples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in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"/>
              <a:tabLst>
                <a:tab pos="297815" algn="l"/>
              </a:tabLst>
            </a:pPr>
            <a:r>
              <a:rPr sz="1800" spc="-170" dirty="0">
                <a:latin typeface="Arial MT"/>
                <a:cs typeface="Arial MT"/>
              </a:rPr>
              <a:t>Testing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instance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x:</a:t>
            </a:r>
            <a:endParaRPr sz="1800">
              <a:latin typeface="Arial MT"/>
              <a:cs typeface="Arial MT"/>
            </a:endParaRPr>
          </a:p>
          <a:p>
            <a:pPr marL="755015" lvl="1" indent="-285115">
              <a:lnSpc>
                <a:spcPts val="2125"/>
              </a:lnSpc>
              <a:spcBef>
                <a:spcPts val="50"/>
              </a:spcBef>
              <a:buFont typeface="Wingdings"/>
              <a:buChar char=""/>
              <a:tabLst>
                <a:tab pos="755015" algn="l"/>
              </a:tabLst>
            </a:pPr>
            <a:r>
              <a:rPr sz="1800" spc="-150" dirty="0">
                <a:latin typeface="Arial MT"/>
                <a:cs typeface="Arial MT"/>
              </a:rPr>
              <a:t>Compute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similarity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between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 </a:t>
            </a:r>
            <a:r>
              <a:rPr sz="1800" spc="-120" dirty="0">
                <a:latin typeface="Arial MT"/>
                <a:cs typeface="Arial MT"/>
              </a:rPr>
              <a:t>examples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D.</a:t>
            </a:r>
            <a:endParaRPr sz="1800">
              <a:latin typeface="Arial MT"/>
              <a:cs typeface="Arial MT"/>
            </a:endParaRPr>
          </a:p>
          <a:p>
            <a:pPr marL="755015" lvl="1" indent="-285115">
              <a:lnSpc>
                <a:spcPts val="2125"/>
              </a:lnSpc>
              <a:buFont typeface="Wingdings"/>
              <a:buChar char=""/>
              <a:tabLst>
                <a:tab pos="755015" algn="l"/>
              </a:tabLst>
            </a:pPr>
            <a:r>
              <a:rPr sz="1800" spc="-175" dirty="0">
                <a:latin typeface="Arial MT"/>
                <a:cs typeface="Arial MT"/>
              </a:rPr>
              <a:t>Assign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category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90" dirty="0">
                <a:latin typeface="Arial MT"/>
                <a:cs typeface="Arial MT"/>
              </a:rPr>
              <a:t>most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similar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example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483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4000" spc="-440" dirty="0">
                <a:solidFill>
                  <a:srgbClr val="000000"/>
                </a:solidFill>
                <a:latin typeface="Verdana"/>
                <a:cs typeface="Verdana"/>
              </a:rPr>
              <a:t>KNN-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395" dirty="0">
                <a:solidFill>
                  <a:srgbClr val="000000"/>
                </a:solidFill>
                <a:latin typeface="Verdana"/>
                <a:cs typeface="Verdana"/>
              </a:rPr>
              <a:t>Different</a:t>
            </a:r>
            <a:r>
              <a:rPr sz="4000" spc="-2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705" dirty="0">
                <a:solidFill>
                  <a:srgbClr val="000000"/>
                </a:solidFill>
                <a:latin typeface="Verdana"/>
                <a:cs typeface="Verdana"/>
              </a:rPr>
              <a:t>names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/>
          <p:nvPr/>
        </p:nvSpPr>
        <p:spPr>
          <a:xfrm>
            <a:off x="675640" y="1516379"/>
            <a:ext cx="3033395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000" spc="-135" dirty="0">
                <a:latin typeface="Arial MT"/>
                <a:cs typeface="Arial MT"/>
              </a:rPr>
              <a:t>K-</a:t>
            </a:r>
            <a:r>
              <a:rPr sz="2000" spc="-110" dirty="0">
                <a:latin typeface="Arial MT"/>
                <a:cs typeface="Arial MT"/>
              </a:rPr>
              <a:t>Nearest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Neighbors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000" spc="-110" dirty="0">
                <a:latin typeface="Arial MT"/>
                <a:cs typeface="Arial MT"/>
              </a:rPr>
              <a:t>Memory-</a:t>
            </a:r>
            <a:r>
              <a:rPr sz="2000" spc="-180" dirty="0">
                <a:latin typeface="Arial MT"/>
                <a:cs typeface="Arial MT"/>
              </a:rPr>
              <a:t>Based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Reasoning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000" spc="-130" dirty="0">
                <a:latin typeface="Arial MT"/>
                <a:cs typeface="Arial MT"/>
              </a:rPr>
              <a:t>Example-</a:t>
            </a:r>
            <a:r>
              <a:rPr sz="2000" spc="-180" dirty="0">
                <a:latin typeface="Arial MT"/>
                <a:cs typeface="Arial MT"/>
              </a:rPr>
              <a:t>Based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Reasoning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000" spc="-160" dirty="0">
                <a:latin typeface="Arial MT"/>
                <a:cs typeface="Arial MT"/>
              </a:rPr>
              <a:t>Instance-</a:t>
            </a:r>
            <a:r>
              <a:rPr sz="2000" spc="-180" dirty="0">
                <a:latin typeface="Arial MT"/>
                <a:cs typeface="Arial MT"/>
              </a:rPr>
              <a:t>Based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Learning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000" spc="-155" dirty="0">
                <a:latin typeface="Arial MT"/>
                <a:cs typeface="Arial MT"/>
              </a:rPr>
              <a:t>Case-</a:t>
            </a:r>
            <a:r>
              <a:rPr sz="2000" spc="-180" dirty="0">
                <a:latin typeface="Arial MT"/>
                <a:cs typeface="Arial MT"/>
              </a:rPr>
              <a:t>Based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spc="-65" dirty="0">
                <a:latin typeface="Arial MT"/>
                <a:cs typeface="Arial MT"/>
              </a:rPr>
              <a:t>Reasoning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000" spc="-130" dirty="0">
                <a:latin typeface="Arial MT"/>
                <a:cs typeface="Arial MT"/>
              </a:rPr>
              <a:t>Lazy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Learning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4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415" dirty="0">
                <a:solidFill>
                  <a:srgbClr val="000000"/>
                </a:solidFill>
                <a:latin typeface="Verdana"/>
                <a:cs typeface="Verdana"/>
              </a:rPr>
              <a:t>KNN</a:t>
            </a:r>
            <a:r>
              <a:rPr sz="4000" spc="-31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09" dirty="0">
                <a:solidFill>
                  <a:srgbClr val="000000"/>
                </a:solidFill>
                <a:latin typeface="Verdana"/>
                <a:cs typeface="Verdana"/>
              </a:rPr>
              <a:t>Algorithm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/>
          <p:nvPr/>
        </p:nvSpPr>
        <p:spPr>
          <a:xfrm>
            <a:off x="624840" y="1516379"/>
            <a:ext cx="7846059" cy="240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05765" algn="l"/>
              </a:tabLst>
            </a:pPr>
            <a:r>
              <a:rPr sz="2000" spc="-145" dirty="0">
                <a:latin typeface="Arial MT"/>
                <a:cs typeface="Arial MT"/>
              </a:rPr>
              <a:t>Determine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parameter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k=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number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nearest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neighbors.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406400" marR="55880" indent="-342900">
              <a:lnSpc>
                <a:spcPct val="100000"/>
              </a:lnSpc>
              <a:buFont typeface="Wingdings"/>
              <a:buChar char=""/>
              <a:tabLst>
                <a:tab pos="406400" algn="l"/>
              </a:tabLst>
            </a:pPr>
            <a:r>
              <a:rPr sz="2000" spc="-80" dirty="0">
                <a:latin typeface="Arial MT"/>
                <a:cs typeface="Arial MT"/>
              </a:rPr>
              <a:t>Calculate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the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0" dirty="0">
                <a:latin typeface="Arial MT"/>
                <a:cs typeface="Arial MT"/>
              </a:rPr>
              <a:t>distance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between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the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query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instance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and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the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training </a:t>
            </a:r>
            <a:r>
              <a:rPr sz="2000" spc="-50" dirty="0">
                <a:latin typeface="Arial MT"/>
                <a:cs typeface="Arial MT"/>
              </a:rPr>
              <a:t>samples.</a:t>
            </a:r>
            <a:endParaRPr sz="2000">
              <a:latin typeface="Arial MT"/>
              <a:cs typeface="Arial MT"/>
            </a:endParaRPr>
          </a:p>
          <a:p>
            <a:pPr marL="862965" lvl="1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862965" algn="l"/>
              </a:tabLst>
            </a:pPr>
            <a:r>
              <a:rPr sz="1800" spc="-165" dirty="0">
                <a:latin typeface="Arial MT"/>
                <a:cs typeface="Arial MT"/>
              </a:rPr>
              <a:t>An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arbitrary </a:t>
            </a:r>
            <a:r>
              <a:rPr sz="1800" spc="-145" dirty="0">
                <a:latin typeface="Arial MT"/>
                <a:cs typeface="Arial MT"/>
              </a:rPr>
              <a:t>instance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is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represented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 </a:t>
            </a:r>
            <a:r>
              <a:rPr sz="1800" spc="-70" dirty="0">
                <a:latin typeface="Arial MT"/>
                <a:cs typeface="Arial MT"/>
              </a:rPr>
              <a:t>(a</a:t>
            </a:r>
            <a:r>
              <a:rPr sz="1800" spc="-104" baseline="-13888" dirty="0">
                <a:latin typeface="Arial MT"/>
                <a:cs typeface="Arial MT"/>
              </a:rPr>
              <a:t>1</a:t>
            </a:r>
            <a:r>
              <a:rPr sz="1800" spc="-70" dirty="0">
                <a:latin typeface="Arial MT"/>
                <a:cs typeface="Arial MT"/>
              </a:rPr>
              <a:t>(x),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a</a:t>
            </a:r>
            <a:r>
              <a:rPr sz="1800" spc="-89" baseline="-13888" dirty="0">
                <a:latin typeface="Arial MT"/>
                <a:cs typeface="Arial MT"/>
              </a:rPr>
              <a:t>2</a:t>
            </a:r>
            <a:r>
              <a:rPr sz="1800" spc="-60" dirty="0">
                <a:latin typeface="Arial MT"/>
                <a:cs typeface="Arial MT"/>
              </a:rPr>
              <a:t>(x),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a</a:t>
            </a:r>
            <a:r>
              <a:rPr sz="1800" spc="-120" baseline="-13888" dirty="0">
                <a:latin typeface="Arial MT"/>
                <a:cs typeface="Arial MT"/>
              </a:rPr>
              <a:t>3</a:t>
            </a:r>
            <a:r>
              <a:rPr sz="1800" spc="-80" dirty="0">
                <a:latin typeface="Arial MT"/>
                <a:cs typeface="Arial MT"/>
              </a:rPr>
              <a:t>(x),..,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</a:t>
            </a:r>
            <a:r>
              <a:rPr sz="1800" spc="-15" baseline="-13888" dirty="0">
                <a:latin typeface="Arial MT"/>
                <a:cs typeface="Arial MT"/>
              </a:rPr>
              <a:t>n</a:t>
            </a:r>
            <a:r>
              <a:rPr sz="1800" spc="-10" dirty="0">
                <a:latin typeface="Arial MT"/>
                <a:cs typeface="Arial MT"/>
              </a:rPr>
              <a:t>(x))</a:t>
            </a:r>
            <a:endParaRPr sz="1800">
              <a:latin typeface="Arial MT"/>
              <a:cs typeface="Arial MT"/>
            </a:endParaRPr>
          </a:p>
          <a:p>
            <a:pPr marL="1320165" lvl="2" indent="-342265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1320165" algn="l"/>
              </a:tabLst>
            </a:pPr>
            <a:r>
              <a:rPr sz="1800" spc="-45" dirty="0">
                <a:latin typeface="Arial MT"/>
                <a:cs typeface="Arial MT"/>
              </a:rPr>
              <a:t>a</a:t>
            </a:r>
            <a:r>
              <a:rPr sz="1800" spc="-67" baseline="-13888" dirty="0">
                <a:latin typeface="Arial MT"/>
                <a:cs typeface="Arial MT"/>
              </a:rPr>
              <a:t>i</a:t>
            </a:r>
            <a:r>
              <a:rPr sz="1800" spc="-45" dirty="0">
                <a:latin typeface="Arial MT"/>
                <a:cs typeface="Arial MT"/>
              </a:rPr>
              <a:t>(x)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denotes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features</a:t>
            </a:r>
            <a:endParaRPr sz="18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275"/>
              </a:spcBef>
              <a:buFont typeface="Wingdings"/>
              <a:buChar char=""/>
            </a:pPr>
            <a:endParaRPr sz="1800">
              <a:latin typeface="Arial MT"/>
              <a:cs typeface="Arial MT"/>
            </a:endParaRPr>
          </a:p>
          <a:p>
            <a:pPr marL="405765" indent="-342265">
              <a:lnSpc>
                <a:spcPct val="100000"/>
              </a:lnSpc>
              <a:buFont typeface="Wingdings"/>
              <a:buChar char=""/>
              <a:tabLst>
                <a:tab pos="405765" algn="l"/>
              </a:tabLst>
            </a:pPr>
            <a:r>
              <a:rPr sz="2000" spc="-120" dirty="0">
                <a:latin typeface="Arial MT"/>
                <a:cs typeface="Arial MT"/>
              </a:rPr>
              <a:t>Sort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the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35" dirty="0">
                <a:latin typeface="Arial MT"/>
                <a:cs typeface="Arial MT"/>
              </a:rPr>
              <a:t>distance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determine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the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nearest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neighbors.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5640" y="4195572"/>
            <a:ext cx="573722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000" spc="-65" dirty="0">
                <a:latin typeface="Arial MT"/>
                <a:cs typeface="Arial MT"/>
              </a:rPr>
              <a:t>Gather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category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0" dirty="0">
                <a:latin typeface="Arial MT"/>
                <a:cs typeface="Arial MT"/>
              </a:rPr>
              <a:t>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nearest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neighbors.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  <a:tab pos="886460" algn="l"/>
                <a:tab pos="1684020" algn="l"/>
                <a:tab pos="2677160" algn="l"/>
                <a:tab pos="3054350" algn="l"/>
                <a:tab pos="3526790" algn="l"/>
                <a:tab pos="4604385" algn="l"/>
                <a:tab pos="4981575" algn="l"/>
              </a:tabLst>
            </a:pPr>
            <a:r>
              <a:rPr sz="2000" spc="-25" dirty="0">
                <a:latin typeface="Arial MT"/>
                <a:cs typeface="Arial MT"/>
              </a:rPr>
              <a:t>Use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simple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majority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category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30" dirty="0">
                <a:latin typeface="Arial MT"/>
                <a:cs typeface="Arial MT"/>
              </a:rPr>
              <a:t>nearest </a:t>
            </a:r>
            <a:r>
              <a:rPr sz="2000" spc="-85" dirty="0">
                <a:latin typeface="Arial MT"/>
                <a:cs typeface="Arial MT"/>
              </a:rPr>
              <a:t>prediction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value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70" dirty="0">
                <a:latin typeface="Arial MT"/>
                <a:cs typeface="Arial MT"/>
              </a:rPr>
              <a:t>query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instance.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2246" y="4805172"/>
            <a:ext cx="18675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7605" algn="l"/>
                <a:tab pos="1547495" algn="l"/>
              </a:tabLst>
            </a:pPr>
            <a:r>
              <a:rPr sz="2000" spc="-10" dirty="0">
                <a:latin typeface="Arial MT"/>
                <a:cs typeface="Arial MT"/>
              </a:rPr>
              <a:t>neighbors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10" dirty="0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25815" y="6421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F497D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483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4000" spc="-525" dirty="0">
                <a:solidFill>
                  <a:srgbClr val="000000"/>
                </a:solidFill>
                <a:latin typeface="Verdana"/>
                <a:cs typeface="Verdana"/>
              </a:rPr>
              <a:t>Distance</a:t>
            </a:r>
            <a:r>
              <a:rPr sz="4000" spc="-28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620" dirty="0">
                <a:solidFill>
                  <a:srgbClr val="000000"/>
                </a:solidFill>
                <a:latin typeface="Verdana"/>
                <a:cs typeface="Verdana"/>
              </a:rPr>
              <a:t>Functions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521" y="1682935"/>
            <a:ext cx="5868167" cy="4203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dirty="0"/>
              <a:t>It</a:t>
            </a:r>
            <a:r>
              <a:rPr spc="-30" dirty="0"/>
              <a:t> </a:t>
            </a:r>
            <a:r>
              <a:rPr spc="-130" dirty="0"/>
              <a:t>should</a:t>
            </a:r>
            <a:r>
              <a:rPr spc="10" dirty="0"/>
              <a:t> </a:t>
            </a:r>
            <a:r>
              <a:rPr spc="-55" dirty="0"/>
              <a:t>also</a:t>
            </a:r>
            <a:r>
              <a:rPr spc="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spc="-40" dirty="0"/>
              <a:t>noted</a:t>
            </a:r>
            <a:r>
              <a:rPr spc="5" dirty="0"/>
              <a:t> </a:t>
            </a:r>
            <a:r>
              <a:rPr dirty="0"/>
              <a:t>that</a:t>
            </a:r>
            <a:r>
              <a:rPr spc="5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spc="-40" dirty="0"/>
              <a:t>three</a:t>
            </a:r>
            <a:r>
              <a:rPr spc="5" dirty="0"/>
              <a:t> </a:t>
            </a:r>
            <a:r>
              <a:rPr spc="-100" dirty="0"/>
              <a:t>distance</a:t>
            </a:r>
            <a:r>
              <a:rPr spc="5" dirty="0"/>
              <a:t> </a:t>
            </a:r>
            <a:r>
              <a:rPr spc="-170" dirty="0"/>
              <a:t>measures</a:t>
            </a:r>
            <a:r>
              <a:rPr spc="3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spc="-10" dirty="0"/>
              <a:t>only</a:t>
            </a:r>
            <a:r>
              <a:rPr spc="5" dirty="0"/>
              <a:t> </a:t>
            </a:r>
            <a:r>
              <a:rPr spc="-10" dirty="0"/>
              <a:t>valid </a:t>
            </a:r>
            <a:r>
              <a:rPr dirty="0"/>
              <a:t>for</a:t>
            </a:r>
            <a:r>
              <a:rPr spc="15" dirty="0"/>
              <a:t> </a:t>
            </a:r>
            <a:r>
              <a:rPr spc="-190" dirty="0"/>
              <a:t>continuous</a:t>
            </a:r>
            <a:r>
              <a:rPr spc="20" dirty="0"/>
              <a:t> </a:t>
            </a:r>
            <a:r>
              <a:rPr spc="-10" dirty="0"/>
              <a:t>variables.</a:t>
            </a: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pc="-10" dirty="0"/>
          </a:p>
          <a:p>
            <a:pPr marL="355600" marR="5715" indent="-342900" algn="just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dirty="0"/>
              <a:t>In</a:t>
            </a:r>
            <a:r>
              <a:rPr spc="-105" dirty="0"/>
              <a:t> </a:t>
            </a:r>
            <a:r>
              <a:rPr spc="-10" dirty="0"/>
              <a:t>the </a:t>
            </a:r>
            <a:r>
              <a:rPr spc="-130" dirty="0"/>
              <a:t>instance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50" dirty="0"/>
              <a:t>categorical</a:t>
            </a:r>
            <a:r>
              <a:rPr spc="-10" dirty="0"/>
              <a:t> </a:t>
            </a:r>
            <a:r>
              <a:rPr spc="-50" dirty="0"/>
              <a:t>variables,</a:t>
            </a:r>
            <a:r>
              <a:rPr spc="-10" dirty="0"/>
              <a:t> the </a:t>
            </a:r>
            <a:r>
              <a:rPr spc="-145" dirty="0"/>
              <a:t>Hamming</a:t>
            </a:r>
            <a:r>
              <a:rPr spc="10" dirty="0"/>
              <a:t> </a:t>
            </a:r>
            <a:r>
              <a:rPr spc="-100" dirty="0"/>
              <a:t>distance</a:t>
            </a:r>
            <a:r>
              <a:rPr spc="-10" dirty="0"/>
              <a:t> </a:t>
            </a:r>
            <a:r>
              <a:rPr spc="-200" dirty="0"/>
              <a:t>must</a:t>
            </a:r>
            <a:r>
              <a:rPr spc="65" dirty="0"/>
              <a:t> </a:t>
            </a:r>
            <a:r>
              <a:rPr spc="-25" dirty="0"/>
              <a:t>be </a:t>
            </a:r>
            <a:r>
              <a:rPr spc="-10" dirty="0"/>
              <a:t>used.</a:t>
            </a: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pc="-10" dirty="0"/>
          </a:p>
          <a:p>
            <a:pPr marL="355600" marR="5080" indent="-342900" algn="just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dirty="0"/>
              <a:t>It</a:t>
            </a:r>
            <a:r>
              <a:rPr spc="-40" dirty="0"/>
              <a:t> </a:t>
            </a:r>
            <a:r>
              <a:rPr spc="-70" dirty="0"/>
              <a:t>also</a:t>
            </a:r>
            <a:r>
              <a:rPr spc="5" dirty="0"/>
              <a:t> </a:t>
            </a:r>
            <a:r>
              <a:rPr spc="-75" dirty="0"/>
              <a:t>brings</a:t>
            </a:r>
            <a:r>
              <a:rPr spc="10" dirty="0"/>
              <a:t> </a:t>
            </a:r>
            <a:r>
              <a:rPr dirty="0"/>
              <a:t>up</a:t>
            </a:r>
            <a:r>
              <a:rPr spc="5" dirty="0"/>
              <a:t> </a:t>
            </a:r>
            <a:r>
              <a:rPr spc="-40" dirty="0"/>
              <a:t>the</a:t>
            </a:r>
            <a:r>
              <a:rPr spc="10" dirty="0"/>
              <a:t> </a:t>
            </a:r>
            <a:r>
              <a:rPr spc="-190" dirty="0"/>
              <a:t>issue</a:t>
            </a:r>
            <a:r>
              <a:rPr spc="5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70" dirty="0"/>
              <a:t>standardization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40" dirty="0"/>
              <a:t>the</a:t>
            </a:r>
            <a:r>
              <a:rPr spc="5" dirty="0"/>
              <a:t> </a:t>
            </a:r>
            <a:r>
              <a:rPr spc="-125" dirty="0"/>
              <a:t>numerical</a:t>
            </a:r>
            <a:r>
              <a:rPr spc="10" dirty="0"/>
              <a:t> </a:t>
            </a:r>
            <a:r>
              <a:rPr spc="-35" dirty="0"/>
              <a:t>variables </a:t>
            </a:r>
            <a:r>
              <a:rPr spc="-85" dirty="0"/>
              <a:t>between</a:t>
            </a:r>
            <a:r>
              <a:rPr spc="25" dirty="0"/>
              <a:t> </a:t>
            </a:r>
            <a:r>
              <a:rPr dirty="0"/>
              <a:t>0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spc="-155" dirty="0"/>
              <a:t>when</a:t>
            </a:r>
            <a:r>
              <a:rPr spc="25" dirty="0"/>
              <a:t> </a:t>
            </a:r>
            <a:r>
              <a:rPr spc="-65" dirty="0"/>
              <a:t>there</a:t>
            </a:r>
            <a:r>
              <a:rPr spc="25" dirty="0"/>
              <a:t> </a:t>
            </a:r>
            <a:r>
              <a:rPr spc="-75" dirty="0"/>
              <a:t>is</a:t>
            </a:r>
            <a:r>
              <a:rPr spc="2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85" dirty="0"/>
              <a:t>mixture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25" dirty="0"/>
              <a:t>numerical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40" dirty="0"/>
              <a:t>categorical </a:t>
            </a:r>
            <a:r>
              <a:rPr spc="-80" dirty="0"/>
              <a:t>variables</a:t>
            </a:r>
            <a:r>
              <a:rPr spc="5" dirty="0"/>
              <a:t> </a:t>
            </a:r>
            <a:r>
              <a:rPr spc="-135" dirty="0"/>
              <a:t>in</a:t>
            </a:r>
            <a:r>
              <a:rPr spc="10" dirty="0"/>
              <a:t> </a:t>
            </a:r>
            <a:r>
              <a:rPr spc="-130" dirty="0"/>
              <a:t>the</a:t>
            </a:r>
            <a:r>
              <a:rPr spc="5" dirty="0"/>
              <a:t> </a:t>
            </a:r>
            <a:r>
              <a:rPr spc="-10" dirty="0"/>
              <a:t>dataset.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483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4000" spc="-525" dirty="0">
                <a:solidFill>
                  <a:srgbClr val="000000"/>
                </a:solidFill>
                <a:latin typeface="Verdana"/>
                <a:cs typeface="Verdana"/>
              </a:rPr>
              <a:t>Distance</a:t>
            </a:r>
            <a:r>
              <a:rPr sz="4000" spc="-28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620" dirty="0">
                <a:solidFill>
                  <a:srgbClr val="000000"/>
                </a:solidFill>
                <a:latin typeface="Verdana"/>
                <a:cs typeface="Verdana"/>
              </a:rPr>
              <a:t>Functions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4000" spc="-660" dirty="0">
                <a:solidFill>
                  <a:srgbClr val="000000"/>
                </a:solidFill>
                <a:latin typeface="Verdana"/>
                <a:cs typeface="Verdana"/>
              </a:rPr>
              <a:t>Hamming</a:t>
            </a:r>
            <a:r>
              <a:rPr sz="4000" spc="-2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35" dirty="0">
                <a:solidFill>
                  <a:srgbClr val="000000"/>
                </a:solidFill>
                <a:latin typeface="Verdana"/>
                <a:cs typeface="Verdana"/>
              </a:rPr>
              <a:t>Distance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5088" y="1875929"/>
            <a:ext cx="4177747" cy="35025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4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415" dirty="0">
                <a:solidFill>
                  <a:srgbClr val="000000"/>
                </a:solidFill>
                <a:latin typeface="Verdana"/>
                <a:cs typeface="Verdana"/>
              </a:rPr>
              <a:t>KNN</a:t>
            </a:r>
            <a:r>
              <a:rPr sz="4000" spc="-31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20" dirty="0">
                <a:solidFill>
                  <a:srgbClr val="000000"/>
                </a:solidFill>
                <a:latin typeface="Verdana"/>
                <a:cs typeface="Verdana"/>
              </a:rPr>
              <a:t>Example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5815" y="6421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F497D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1825751"/>
            <a:ext cx="4358640" cy="35844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1752599"/>
            <a:ext cx="4457842" cy="440126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443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100"/>
              </a:spcBef>
            </a:pPr>
            <a:r>
              <a:rPr sz="4000" spc="-590" dirty="0">
                <a:solidFill>
                  <a:srgbClr val="000000"/>
                </a:solidFill>
                <a:latin typeface="Verdana"/>
                <a:cs typeface="Verdana"/>
              </a:rPr>
              <a:t>Effect</a:t>
            </a:r>
            <a:r>
              <a:rPr sz="4000" spc="-54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275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4000" spc="-16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635" dirty="0">
                <a:solidFill>
                  <a:srgbClr val="000000"/>
                </a:solidFill>
                <a:latin typeface="Verdana"/>
                <a:cs typeface="Verdana"/>
              </a:rPr>
              <a:t>K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8686" y="1599691"/>
            <a:ext cx="6249670" cy="114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"/>
              <a:tabLst>
                <a:tab pos="354965" algn="l"/>
              </a:tabLst>
            </a:pPr>
            <a:r>
              <a:rPr sz="2400" spc="-100" dirty="0">
                <a:latin typeface="Arial MT"/>
                <a:cs typeface="Arial MT"/>
              </a:rPr>
              <a:t>Larger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k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80" dirty="0">
                <a:latin typeface="Arial MT"/>
                <a:cs typeface="Arial MT"/>
              </a:rPr>
              <a:t>produces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smoother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boundary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effect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Clr>
                <a:srgbClr val="DD8046"/>
              </a:buClr>
              <a:buSzPct val="58333"/>
              <a:buFont typeface="Wingdings"/>
              <a:buChar char=""/>
              <a:tabLst>
                <a:tab pos="354965" algn="l"/>
              </a:tabLst>
            </a:pPr>
            <a:r>
              <a:rPr sz="2400" spc="-160" dirty="0">
                <a:latin typeface="Arial MT"/>
                <a:cs typeface="Arial MT"/>
              </a:rPr>
              <a:t>When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K==N,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always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predict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majority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Clr>
                <a:srgbClr val="DD8046"/>
              </a:buClr>
              <a:buSzPct val="58333"/>
              <a:buFont typeface="Wingdings"/>
              <a:buChar char=""/>
              <a:tabLst>
                <a:tab pos="354965" algn="l"/>
              </a:tabLst>
            </a:pPr>
            <a:r>
              <a:rPr sz="2400" spc="-135" dirty="0">
                <a:latin typeface="Arial MT"/>
                <a:cs typeface="Arial MT"/>
              </a:rPr>
              <a:t>Which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model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better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between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K=1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K=15?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5500" y="3228107"/>
            <a:ext cx="6532998" cy="2971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4000" spc="-480" dirty="0">
                <a:solidFill>
                  <a:srgbClr val="000000"/>
                </a:solidFill>
                <a:latin typeface="Verdana"/>
                <a:cs typeface="Verdana"/>
              </a:rPr>
              <a:t>Selection</a:t>
            </a:r>
            <a:r>
              <a:rPr sz="4000" spc="-3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27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635" dirty="0">
                <a:solidFill>
                  <a:srgbClr val="000000"/>
                </a:solidFill>
                <a:latin typeface="Verdana"/>
                <a:cs typeface="Verdana"/>
              </a:rPr>
              <a:t>K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1800" spc="-160" dirty="0"/>
              <a:t>Choosing</a:t>
            </a:r>
            <a:r>
              <a:rPr sz="1800" spc="-15" dirty="0"/>
              <a:t> </a:t>
            </a:r>
            <a:r>
              <a:rPr sz="1800" spc="-114" dirty="0"/>
              <a:t>the</a:t>
            </a:r>
            <a:r>
              <a:rPr sz="1800" dirty="0"/>
              <a:t> </a:t>
            </a:r>
            <a:r>
              <a:rPr sz="1800" spc="-70" dirty="0"/>
              <a:t>optimal</a:t>
            </a:r>
            <a:r>
              <a:rPr sz="1800" spc="5" dirty="0"/>
              <a:t> </a:t>
            </a:r>
            <a:r>
              <a:rPr sz="1800" spc="-95" dirty="0"/>
              <a:t>value</a:t>
            </a:r>
            <a:r>
              <a:rPr sz="1800" dirty="0"/>
              <a:t> for</a:t>
            </a:r>
            <a:r>
              <a:rPr sz="1800" spc="5" dirty="0"/>
              <a:t> </a:t>
            </a:r>
            <a:r>
              <a:rPr sz="1800" spc="-225" dirty="0"/>
              <a:t>K</a:t>
            </a:r>
            <a:r>
              <a:rPr sz="1800" spc="-5" dirty="0"/>
              <a:t> </a:t>
            </a:r>
            <a:r>
              <a:rPr sz="1800" spc="-160" dirty="0"/>
              <a:t>is</a:t>
            </a:r>
            <a:r>
              <a:rPr sz="1800" spc="10" dirty="0"/>
              <a:t> </a:t>
            </a:r>
            <a:r>
              <a:rPr sz="1800" spc="-120" dirty="0"/>
              <a:t>best</a:t>
            </a:r>
            <a:r>
              <a:rPr sz="1800" dirty="0"/>
              <a:t> </a:t>
            </a:r>
            <a:r>
              <a:rPr sz="1800" spc="-110" dirty="0"/>
              <a:t>done</a:t>
            </a:r>
            <a:r>
              <a:rPr sz="1800" dirty="0"/>
              <a:t> by</a:t>
            </a:r>
            <a:r>
              <a:rPr sz="1800" spc="5" dirty="0"/>
              <a:t> </a:t>
            </a:r>
            <a:r>
              <a:rPr sz="1800" spc="-30" dirty="0"/>
              <a:t>first</a:t>
            </a:r>
            <a:r>
              <a:rPr sz="1800" spc="5" dirty="0"/>
              <a:t> </a:t>
            </a:r>
            <a:r>
              <a:rPr sz="1800" spc="-120" dirty="0"/>
              <a:t>inspecting</a:t>
            </a:r>
            <a:r>
              <a:rPr sz="1800" spc="-5" dirty="0"/>
              <a:t> </a:t>
            </a:r>
            <a:r>
              <a:rPr sz="1800" spc="-114" dirty="0"/>
              <a:t>the</a:t>
            </a:r>
            <a:r>
              <a:rPr sz="1800" spc="5" dirty="0"/>
              <a:t> </a:t>
            </a:r>
            <a:r>
              <a:rPr sz="1800" spc="-10" dirty="0"/>
              <a:t>data.</a:t>
            </a:r>
            <a:endParaRPr sz="1800"/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"/>
            </a:pPr>
            <a:endParaRPr sz="1800"/>
          </a:p>
          <a:p>
            <a:pPr marL="355600" marR="5080" indent="-342900" algn="just">
              <a:lnSpc>
                <a:spcPct val="102200"/>
              </a:lnSpc>
              <a:buFont typeface="Wingdings"/>
              <a:buChar char=""/>
              <a:tabLst>
                <a:tab pos="355600" algn="l"/>
              </a:tabLst>
            </a:pPr>
            <a:r>
              <a:rPr sz="1800" dirty="0"/>
              <a:t>In</a:t>
            </a:r>
            <a:r>
              <a:rPr sz="1800" spc="-30" dirty="0"/>
              <a:t> </a:t>
            </a:r>
            <a:r>
              <a:rPr sz="1800" spc="-40" dirty="0"/>
              <a:t>general,</a:t>
            </a:r>
            <a:r>
              <a:rPr sz="1800" spc="-10" dirty="0"/>
              <a:t> </a:t>
            </a:r>
            <a:r>
              <a:rPr sz="1800" dirty="0"/>
              <a:t>a</a:t>
            </a:r>
            <a:r>
              <a:rPr sz="1800" spc="-20" dirty="0"/>
              <a:t> </a:t>
            </a:r>
            <a:r>
              <a:rPr sz="1800" dirty="0"/>
              <a:t>large</a:t>
            </a:r>
            <a:r>
              <a:rPr sz="1800" spc="-15" dirty="0"/>
              <a:t> </a:t>
            </a:r>
            <a:r>
              <a:rPr sz="1800" dirty="0"/>
              <a:t>K</a:t>
            </a:r>
            <a:r>
              <a:rPr sz="1800" spc="-20" dirty="0"/>
              <a:t> </a:t>
            </a:r>
            <a:r>
              <a:rPr sz="1800" spc="-45" dirty="0"/>
              <a:t>value</a:t>
            </a:r>
            <a:r>
              <a:rPr sz="1800" spc="-15" dirty="0"/>
              <a:t> </a:t>
            </a:r>
            <a:r>
              <a:rPr sz="1800" dirty="0"/>
              <a:t>is</a:t>
            </a:r>
            <a:r>
              <a:rPr sz="1800" spc="-15" dirty="0"/>
              <a:t> </a:t>
            </a:r>
            <a:r>
              <a:rPr sz="1800" spc="-65" dirty="0"/>
              <a:t>more</a:t>
            </a:r>
            <a:r>
              <a:rPr sz="1800" spc="-15" dirty="0"/>
              <a:t> </a:t>
            </a:r>
            <a:r>
              <a:rPr sz="1800" spc="-80" dirty="0"/>
              <a:t>precise</a:t>
            </a:r>
            <a:r>
              <a:rPr sz="1800" spc="-15" dirty="0"/>
              <a:t> </a:t>
            </a:r>
            <a:r>
              <a:rPr sz="1800" spc="-10" dirty="0"/>
              <a:t>as</a:t>
            </a:r>
            <a:r>
              <a:rPr sz="1800" spc="-15" dirty="0"/>
              <a:t> </a:t>
            </a:r>
            <a:r>
              <a:rPr sz="1800" dirty="0"/>
              <a:t>it</a:t>
            </a:r>
            <a:r>
              <a:rPr sz="1800" spc="-20" dirty="0"/>
              <a:t> </a:t>
            </a:r>
            <a:r>
              <a:rPr sz="1800" spc="-120" dirty="0"/>
              <a:t>reduces</a:t>
            </a:r>
            <a:r>
              <a:rPr sz="1800" spc="-5" dirty="0"/>
              <a:t> </a:t>
            </a:r>
            <a:r>
              <a:rPr sz="1800" spc="-10" dirty="0"/>
              <a:t>the</a:t>
            </a:r>
            <a:r>
              <a:rPr sz="1800" spc="-15" dirty="0"/>
              <a:t> </a:t>
            </a:r>
            <a:r>
              <a:rPr sz="1800" spc="-10" dirty="0"/>
              <a:t>overall </a:t>
            </a:r>
            <a:r>
              <a:rPr sz="1800" spc="-105" dirty="0"/>
              <a:t>noise</a:t>
            </a:r>
            <a:r>
              <a:rPr sz="1800" spc="-15" dirty="0"/>
              <a:t> </a:t>
            </a:r>
            <a:r>
              <a:rPr sz="1800" spc="-25" dirty="0"/>
              <a:t>but </a:t>
            </a:r>
            <a:r>
              <a:rPr sz="1800" spc="-85" dirty="0"/>
              <a:t>there</a:t>
            </a:r>
            <a:r>
              <a:rPr sz="1800" spc="-5" dirty="0"/>
              <a:t> </a:t>
            </a:r>
            <a:r>
              <a:rPr sz="1800" spc="-160" dirty="0"/>
              <a:t>is</a:t>
            </a:r>
            <a:r>
              <a:rPr sz="1800" dirty="0"/>
              <a:t> </a:t>
            </a:r>
            <a:r>
              <a:rPr sz="1800" spc="-170" dirty="0"/>
              <a:t>no</a:t>
            </a:r>
            <a:r>
              <a:rPr sz="1800" spc="-5" dirty="0"/>
              <a:t> </a:t>
            </a:r>
            <a:r>
              <a:rPr sz="1800" spc="-10" dirty="0"/>
              <a:t>guarantee.</a:t>
            </a:r>
            <a:endParaRPr sz="1800"/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"/>
            </a:pPr>
            <a:endParaRPr sz="1800"/>
          </a:p>
          <a:p>
            <a:pPr marL="355600" marR="5715" indent="-342900" algn="just">
              <a:lnSpc>
                <a:spcPct val="101099"/>
              </a:lnSpc>
              <a:buFont typeface="Wingdings"/>
              <a:buChar char=""/>
              <a:tabLst>
                <a:tab pos="355600" algn="l"/>
              </a:tabLst>
            </a:pPr>
            <a:r>
              <a:rPr sz="1800" spc="-160" dirty="0"/>
              <a:t>Cross-</a:t>
            </a:r>
            <a:r>
              <a:rPr sz="1800" spc="-55" dirty="0"/>
              <a:t>validation</a:t>
            </a:r>
            <a:r>
              <a:rPr sz="1800" spc="80" dirty="0"/>
              <a:t> </a:t>
            </a:r>
            <a:r>
              <a:rPr sz="1800" spc="-155" dirty="0"/>
              <a:t>is</a:t>
            </a:r>
            <a:r>
              <a:rPr sz="1800" spc="85" dirty="0"/>
              <a:t> </a:t>
            </a:r>
            <a:r>
              <a:rPr sz="1800" spc="-105" dirty="0"/>
              <a:t>another</a:t>
            </a:r>
            <a:r>
              <a:rPr sz="1800" spc="85" dirty="0"/>
              <a:t> </a:t>
            </a:r>
            <a:r>
              <a:rPr sz="1800" spc="-45" dirty="0"/>
              <a:t>way</a:t>
            </a:r>
            <a:r>
              <a:rPr sz="1800" spc="80" dirty="0"/>
              <a:t> </a:t>
            </a:r>
            <a:r>
              <a:rPr sz="1800" spc="-65" dirty="0"/>
              <a:t>to</a:t>
            </a:r>
            <a:r>
              <a:rPr sz="1800" spc="85" dirty="0"/>
              <a:t> </a:t>
            </a:r>
            <a:r>
              <a:rPr sz="1800" spc="-80" dirty="0"/>
              <a:t>retrospectively</a:t>
            </a:r>
            <a:r>
              <a:rPr sz="1800" spc="85" dirty="0"/>
              <a:t> </a:t>
            </a:r>
            <a:r>
              <a:rPr sz="1800" spc="-100" dirty="0"/>
              <a:t>determine</a:t>
            </a:r>
            <a:r>
              <a:rPr sz="1800" spc="85" dirty="0"/>
              <a:t> </a:t>
            </a:r>
            <a:r>
              <a:rPr sz="1800" spc="-10" dirty="0"/>
              <a:t>a</a:t>
            </a:r>
            <a:r>
              <a:rPr sz="1800" spc="75" dirty="0"/>
              <a:t> </a:t>
            </a:r>
            <a:r>
              <a:rPr sz="1800" spc="-60" dirty="0"/>
              <a:t>good</a:t>
            </a:r>
            <a:r>
              <a:rPr sz="1800" spc="75" dirty="0"/>
              <a:t> </a:t>
            </a:r>
            <a:r>
              <a:rPr sz="1800" spc="-220" dirty="0"/>
              <a:t>K</a:t>
            </a:r>
            <a:r>
              <a:rPr sz="1800" spc="75" dirty="0"/>
              <a:t> </a:t>
            </a:r>
            <a:r>
              <a:rPr sz="1800" spc="-100" dirty="0"/>
              <a:t>value</a:t>
            </a:r>
            <a:r>
              <a:rPr sz="1800" spc="80" dirty="0"/>
              <a:t> </a:t>
            </a:r>
            <a:r>
              <a:rPr sz="1800" spc="-20" dirty="0"/>
              <a:t>by</a:t>
            </a:r>
            <a:r>
              <a:rPr sz="1800" spc="-15" dirty="0"/>
              <a:t> </a:t>
            </a:r>
            <a:r>
              <a:rPr sz="1800" spc="-150" dirty="0"/>
              <a:t>using</a:t>
            </a:r>
            <a:r>
              <a:rPr sz="1800" spc="-10" dirty="0"/>
              <a:t> </a:t>
            </a:r>
            <a:r>
              <a:rPr sz="1800" spc="-114" dirty="0"/>
              <a:t>an</a:t>
            </a:r>
            <a:r>
              <a:rPr sz="1800" spc="-5" dirty="0"/>
              <a:t> </a:t>
            </a:r>
            <a:r>
              <a:rPr sz="1800" spc="-100" dirty="0"/>
              <a:t>independent</a:t>
            </a:r>
            <a:r>
              <a:rPr sz="1800" spc="-5" dirty="0"/>
              <a:t> </a:t>
            </a:r>
            <a:r>
              <a:rPr sz="1800" spc="-75" dirty="0"/>
              <a:t>dataset</a:t>
            </a:r>
            <a:r>
              <a:rPr sz="1800" spc="-5" dirty="0"/>
              <a:t> </a:t>
            </a:r>
            <a:r>
              <a:rPr sz="1800" spc="-65" dirty="0"/>
              <a:t>to</a:t>
            </a:r>
            <a:r>
              <a:rPr sz="1800" dirty="0"/>
              <a:t> </a:t>
            </a:r>
            <a:r>
              <a:rPr sz="1800" spc="-40" dirty="0"/>
              <a:t>validate</a:t>
            </a:r>
            <a:r>
              <a:rPr sz="1800" spc="-5" dirty="0"/>
              <a:t> </a:t>
            </a:r>
            <a:r>
              <a:rPr sz="1800" spc="-114" dirty="0"/>
              <a:t>the</a:t>
            </a:r>
            <a:r>
              <a:rPr sz="1800" spc="-5" dirty="0"/>
              <a:t> </a:t>
            </a:r>
            <a:r>
              <a:rPr sz="1800" spc="-220" dirty="0"/>
              <a:t>K</a:t>
            </a:r>
            <a:r>
              <a:rPr sz="1800" spc="-10" dirty="0"/>
              <a:t> </a:t>
            </a:r>
            <a:r>
              <a:rPr sz="1800" spc="-100" dirty="0"/>
              <a:t>value.</a:t>
            </a:r>
            <a:endParaRPr sz="1800"/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z="1800"/>
          </a:p>
          <a:p>
            <a:pPr marL="355600" marR="5080" indent="-342900" algn="just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1800" spc="-215" dirty="0"/>
              <a:t>To</a:t>
            </a:r>
            <a:r>
              <a:rPr sz="1800" spc="15" dirty="0"/>
              <a:t> </a:t>
            </a:r>
            <a:r>
              <a:rPr sz="1800" spc="-130" dirty="0"/>
              <a:t>select</a:t>
            </a:r>
            <a:r>
              <a:rPr sz="1800" spc="15" dirty="0"/>
              <a:t> </a:t>
            </a:r>
            <a:r>
              <a:rPr sz="1800" spc="-114" dirty="0"/>
              <a:t>the</a:t>
            </a:r>
            <a:r>
              <a:rPr sz="1800" spc="15" dirty="0"/>
              <a:t> </a:t>
            </a:r>
            <a:r>
              <a:rPr sz="1800" spc="-220" dirty="0"/>
              <a:t>K</a:t>
            </a:r>
            <a:r>
              <a:rPr sz="1800" spc="10" dirty="0"/>
              <a:t> </a:t>
            </a:r>
            <a:r>
              <a:rPr sz="1800" spc="-100" dirty="0"/>
              <a:t>that’s</a:t>
            </a:r>
            <a:r>
              <a:rPr sz="1800" spc="15" dirty="0"/>
              <a:t> </a:t>
            </a:r>
            <a:r>
              <a:rPr sz="1800" spc="-55" dirty="0"/>
              <a:t>right</a:t>
            </a:r>
            <a:r>
              <a:rPr sz="1800" spc="15" dirty="0"/>
              <a:t> </a:t>
            </a:r>
            <a:r>
              <a:rPr sz="1800" spc="-10" dirty="0"/>
              <a:t>for</a:t>
            </a:r>
            <a:r>
              <a:rPr sz="1800" spc="15" dirty="0"/>
              <a:t> </a:t>
            </a:r>
            <a:r>
              <a:rPr sz="1800" spc="-85" dirty="0"/>
              <a:t>your</a:t>
            </a:r>
            <a:r>
              <a:rPr sz="1800" spc="15" dirty="0"/>
              <a:t> </a:t>
            </a:r>
            <a:r>
              <a:rPr sz="1800" spc="-45" dirty="0"/>
              <a:t>data,</a:t>
            </a:r>
            <a:r>
              <a:rPr sz="1800" spc="20" dirty="0"/>
              <a:t> </a:t>
            </a:r>
            <a:r>
              <a:rPr sz="1800" spc="-110" dirty="0"/>
              <a:t>we</a:t>
            </a:r>
            <a:r>
              <a:rPr sz="1800" spc="15" dirty="0"/>
              <a:t> </a:t>
            </a:r>
            <a:r>
              <a:rPr sz="1800" spc="-150" dirty="0"/>
              <a:t>run</a:t>
            </a:r>
            <a:r>
              <a:rPr sz="1800" spc="15" dirty="0"/>
              <a:t> </a:t>
            </a:r>
            <a:r>
              <a:rPr sz="1800" spc="-114" dirty="0"/>
              <a:t>the</a:t>
            </a:r>
            <a:r>
              <a:rPr sz="1800" spc="15" dirty="0"/>
              <a:t> </a:t>
            </a:r>
            <a:r>
              <a:rPr sz="1800" spc="-150" dirty="0"/>
              <a:t>KNN</a:t>
            </a:r>
            <a:r>
              <a:rPr sz="1800" spc="15" dirty="0"/>
              <a:t> </a:t>
            </a:r>
            <a:r>
              <a:rPr sz="1800" spc="-80" dirty="0"/>
              <a:t>algorithm</a:t>
            </a:r>
            <a:r>
              <a:rPr sz="1800" spc="15" dirty="0"/>
              <a:t> </a:t>
            </a:r>
            <a:r>
              <a:rPr sz="1800" spc="-100" dirty="0"/>
              <a:t>several</a:t>
            </a:r>
            <a:r>
              <a:rPr sz="1800" spc="20" dirty="0"/>
              <a:t> </a:t>
            </a:r>
            <a:r>
              <a:rPr sz="1800" spc="-150" dirty="0"/>
              <a:t>times</a:t>
            </a:r>
            <a:r>
              <a:rPr sz="1800" spc="-110" dirty="0"/>
              <a:t> </a:t>
            </a:r>
            <a:r>
              <a:rPr sz="1800" spc="-90" dirty="0"/>
              <a:t>with</a:t>
            </a:r>
            <a:r>
              <a:rPr sz="1800" spc="20" dirty="0"/>
              <a:t> </a:t>
            </a:r>
            <a:r>
              <a:rPr sz="1800" spc="-35" dirty="0"/>
              <a:t>different</a:t>
            </a:r>
            <a:r>
              <a:rPr sz="1800" spc="20" dirty="0"/>
              <a:t> </a:t>
            </a:r>
            <a:r>
              <a:rPr sz="1800" spc="-135" dirty="0"/>
              <a:t>values</a:t>
            </a:r>
            <a:r>
              <a:rPr sz="1800" spc="20" dirty="0"/>
              <a:t> </a:t>
            </a:r>
            <a:r>
              <a:rPr sz="1800" spc="-10" dirty="0"/>
              <a:t>of</a:t>
            </a:r>
            <a:r>
              <a:rPr sz="1800" spc="20" dirty="0"/>
              <a:t> </a:t>
            </a:r>
            <a:r>
              <a:rPr sz="1800" spc="-220" dirty="0"/>
              <a:t>K</a:t>
            </a:r>
            <a:r>
              <a:rPr sz="1800" spc="15" dirty="0"/>
              <a:t> </a:t>
            </a:r>
            <a:r>
              <a:rPr sz="1800" spc="-85" dirty="0"/>
              <a:t>and</a:t>
            </a:r>
            <a:r>
              <a:rPr sz="1800" spc="15" dirty="0"/>
              <a:t> </a:t>
            </a:r>
            <a:r>
              <a:rPr sz="1800" spc="-180" dirty="0"/>
              <a:t>choose</a:t>
            </a:r>
            <a:r>
              <a:rPr sz="1800" spc="20" dirty="0"/>
              <a:t> </a:t>
            </a:r>
            <a:r>
              <a:rPr sz="1800" spc="-114" dirty="0"/>
              <a:t>the</a:t>
            </a:r>
            <a:r>
              <a:rPr sz="1800" spc="20" dirty="0"/>
              <a:t> </a:t>
            </a:r>
            <a:r>
              <a:rPr sz="1800" spc="-220" dirty="0"/>
              <a:t>K</a:t>
            </a:r>
            <a:r>
              <a:rPr sz="1800" spc="15" dirty="0"/>
              <a:t> </a:t>
            </a:r>
            <a:r>
              <a:rPr sz="1800" spc="-70" dirty="0"/>
              <a:t>that</a:t>
            </a:r>
            <a:r>
              <a:rPr sz="1800" spc="20" dirty="0"/>
              <a:t> </a:t>
            </a:r>
            <a:r>
              <a:rPr sz="1800" spc="-145" dirty="0"/>
              <a:t>reduces</a:t>
            </a:r>
            <a:r>
              <a:rPr sz="1800" spc="20" dirty="0"/>
              <a:t> </a:t>
            </a:r>
            <a:r>
              <a:rPr sz="1800" spc="-114" dirty="0"/>
              <a:t>the</a:t>
            </a:r>
            <a:r>
              <a:rPr sz="1800" spc="20" dirty="0"/>
              <a:t> </a:t>
            </a:r>
            <a:r>
              <a:rPr sz="1800" spc="-150" dirty="0"/>
              <a:t>number</a:t>
            </a:r>
            <a:r>
              <a:rPr sz="1800" spc="20" dirty="0"/>
              <a:t> </a:t>
            </a:r>
            <a:r>
              <a:rPr sz="1800" spc="-10" dirty="0"/>
              <a:t>of</a:t>
            </a:r>
            <a:r>
              <a:rPr sz="1800" spc="20" dirty="0"/>
              <a:t> </a:t>
            </a:r>
            <a:r>
              <a:rPr sz="1800" spc="-90" dirty="0"/>
              <a:t>errors</a:t>
            </a:r>
            <a:r>
              <a:rPr sz="1800" spc="20" dirty="0"/>
              <a:t> </a:t>
            </a:r>
            <a:r>
              <a:rPr sz="1800" spc="-110" dirty="0"/>
              <a:t>we</a:t>
            </a:r>
            <a:r>
              <a:rPr sz="1800" spc="-50" dirty="0"/>
              <a:t> </a:t>
            </a:r>
            <a:r>
              <a:rPr sz="1800" spc="-140" dirty="0"/>
              <a:t>encounter</a:t>
            </a:r>
            <a:r>
              <a:rPr sz="1800" spc="1019" dirty="0"/>
              <a:t> </a:t>
            </a:r>
            <a:r>
              <a:rPr sz="1800" spc="-90" dirty="0"/>
              <a:t>while</a:t>
            </a:r>
            <a:r>
              <a:rPr sz="1800" spc="1015" dirty="0"/>
              <a:t> </a:t>
            </a:r>
            <a:r>
              <a:rPr sz="1800" spc="-100" dirty="0"/>
              <a:t>maintaining</a:t>
            </a:r>
            <a:r>
              <a:rPr sz="1800" spc="1005" dirty="0"/>
              <a:t> </a:t>
            </a:r>
            <a:r>
              <a:rPr sz="1800" spc="-114" dirty="0"/>
              <a:t>the</a:t>
            </a:r>
            <a:r>
              <a:rPr sz="1800" spc="1015" dirty="0"/>
              <a:t> </a:t>
            </a:r>
            <a:r>
              <a:rPr sz="1800" spc="-95" dirty="0"/>
              <a:t>algorithm’s</a:t>
            </a:r>
            <a:r>
              <a:rPr sz="1800" spc="1019" dirty="0"/>
              <a:t> </a:t>
            </a:r>
            <a:r>
              <a:rPr sz="1800" spc="-10" dirty="0"/>
              <a:t>ability</a:t>
            </a:r>
            <a:r>
              <a:rPr sz="1800" spc="1015" dirty="0"/>
              <a:t> </a:t>
            </a:r>
            <a:r>
              <a:rPr sz="1800" spc="-65" dirty="0"/>
              <a:t>to</a:t>
            </a:r>
            <a:r>
              <a:rPr sz="1800" spc="1015" dirty="0"/>
              <a:t> </a:t>
            </a:r>
            <a:r>
              <a:rPr sz="1800" spc="-90" dirty="0"/>
              <a:t>accurately</a:t>
            </a:r>
            <a:r>
              <a:rPr sz="1800" spc="1019" dirty="0"/>
              <a:t> </a:t>
            </a:r>
            <a:r>
              <a:rPr sz="1800" spc="-145" dirty="0"/>
              <a:t>make</a:t>
            </a:r>
            <a:r>
              <a:rPr sz="1800" spc="-65" dirty="0"/>
              <a:t> </a:t>
            </a:r>
            <a:r>
              <a:rPr sz="1800" spc="-95" dirty="0"/>
              <a:t>predictions</a:t>
            </a:r>
            <a:r>
              <a:rPr sz="1800" dirty="0"/>
              <a:t> </a:t>
            </a:r>
            <a:r>
              <a:rPr sz="1800" spc="-165" dirty="0"/>
              <a:t>when</a:t>
            </a:r>
            <a:r>
              <a:rPr sz="1800" spc="-5" dirty="0"/>
              <a:t> </a:t>
            </a:r>
            <a:r>
              <a:rPr sz="1800" spc="-80" dirty="0"/>
              <a:t>it’s</a:t>
            </a:r>
            <a:r>
              <a:rPr sz="1800" spc="-5" dirty="0"/>
              <a:t> </a:t>
            </a:r>
            <a:r>
              <a:rPr sz="1800" spc="-95" dirty="0"/>
              <a:t>given</a:t>
            </a:r>
            <a:r>
              <a:rPr sz="1800" spc="-5" dirty="0"/>
              <a:t> </a:t>
            </a:r>
            <a:r>
              <a:rPr sz="1800" spc="-25" dirty="0"/>
              <a:t>data</a:t>
            </a:r>
            <a:r>
              <a:rPr sz="1800" spc="-5" dirty="0"/>
              <a:t> </a:t>
            </a:r>
            <a:r>
              <a:rPr sz="1800" spc="-10" dirty="0"/>
              <a:t>it</a:t>
            </a:r>
            <a:r>
              <a:rPr sz="1800" spc="-5" dirty="0"/>
              <a:t> </a:t>
            </a:r>
            <a:r>
              <a:rPr sz="1800" spc="-130" dirty="0"/>
              <a:t>hasn’t</a:t>
            </a:r>
            <a:r>
              <a:rPr sz="1800" spc="-5" dirty="0"/>
              <a:t> </a:t>
            </a:r>
            <a:r>
              <a:rPr sz="1800" spc="-185" dirty="0"/>
              <a:t>seen</a:t>
            </a:r>
            <a:r>
              <a:rPr sz="1800" spc="-5" dirty="0"/>
              <a:t> </a:t>
            </a:r>
            <a:r>
              <a:rPr sz="1800" spc="-55" dirty="0"/>
              <a:t>before.</a:t>
            </a:r>
            <a:endParaRPr sz="1800"/>
          </a:p>
          <a:p>
            <a:pPr>
              <a:lnSpc>
                <a:spcPct val="100000"/>
              </a:lnSpc>
              <a:spcBef>
                <a:spcPts val="215"/>
              </a:spcBef>
              <a:buFont typeface="Wingdings"/>
              <a:buChar char=""/>
            </a:pPr>
            <a:endParaRPr sz="1800"/>
          </a:p>
          <a:p>
            <a:pPr marL="355600" marR="5080" indent="-342900" algn="just">
              <a:lnSpc>
                <a:spcPts val="209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1800" spc="-40" dirty="0"/>
              <a:t>Historically,</a:t>
            </a:r>
            <a:r>
              <a:rPr sz="1800" spc="95" dirty="0"/>
              <a:t> </a:t>
            </a:r>
            <a:r>
              <a:rPr sz="1800" dirty="0"/>
              <a:t>the</a:t>
            </a:r>
            <a:r>
              <a:rPr sz="1800" spc="95" dirty="0"/>
              <a:t> </a:t>
            </a:r>
            <a:r>
              <a:rPr sz="1800" dirty="0"/>
              <a:t>optimal</a:t>
            </a:r>
            <a:r>
              <a:rPr sz="1800" spc="95" dirty="0"/>
              <a:t> </a:t>
            </a:r>
            <a:r>
              <a:rPr sz="1800" dirty="0"/>
              <a:t>K</a:t>
            </a:r>
            <a:r>
              <a:rPr sz="1800" spc="95" dirty="0"/>
              <a:t> </a:t>
            </a:r>
            <a:r>
              <a:rPr sz="1800" dirty="0"/>
              <a:t>for</a:t>
            </a:r>
            <a:r>
              <a:rPr sz="1800" spc="95" dirty="0"/>
              <a:t> </a:t>
            </a:r>
            <a:r>
              <a:rPr sz="1800" spc="-50" dirty="0"/>
              <a:t>most</a:t>
            </a:r>
            <a:r>
              <a:rPr sz="1800" spc="95" dirty="0"/>
              <a:t> </a:t>
            </a:r>
            <a:r>
              <a:rPr sz="1800" spc="-35" dirty="0"/>
              <a:t>datasets</a:t>
            </a:r>
            <a:r>
              <a:rPr sz="1800" spc="95" dirty="0"/>
              <a:t> </a:t>
            </a:r>
            <a:r>
              <a:rPr sz="1800" dirty="0"/>
              <a:t>has</a:t>
            </a:r>
            <a:r>
              <a:rPr sz="1800" spc="95" dirty="0"/>
              <a:t> </a:t>
            </a:r>
            <a:r>
              <a:rPr sz="1800" dirty="0"/>
              <a:t>been</a:t>
            </a:r>
            <a:r>
              <a:rPr sz="1800" spc="90" dirty="0"/>
              <a:t> </a:t>
            </a:r>
            <a:r>
              <a:rPr sz="1800" spc="-20" dirty="0"/>
              <a:t>between</a:t>
            </a:r>
            <a:r>
              <a:rPr sz="1800" spc="90" dirty="0"/>
              <a:t> </a:t>
            </a:r>
            <a:r>
              <a:rPr sz="1800" spc="-20" dirty="0"/>
              <a:t>3-</a:t>
            </a:r>
            <a:r>
              <a:rPr sz="1800" dirty="0"/>
              <a:t>10.</a:t>
            </a:r>
            <a:r>
              <a:rPr sz="1800" spc="100" dirty="0"/>
              <a:t> </a:t>
            </a:r>
            <a:r>
              <a:rPr sz="1800" spc="-65" dirty="0"/>
              <a:t>That </a:t>
            </a:r>
            <a:r>
              <a:rPr sz="1800" spc="-135" dirty="0"/>
              <a:t>produces</a:t>
            </a:r>
            <a:r>
              <a:rPr sz="1800" spc="10" dirty="0"/>
              <a:t> </a:t>
            </a:r>
            <a:r>
              <a:rPr sz="1800" spc="-254" dirty="0"/>
              <a:t>much</a:t>
            </a:r>
            <a:r>
              <a:rPr sz="1800" spc="5" dirty="0"/>
              <a:t> </a:t>
            </a:r>
            <a:r>
              <a:rPr sz="1800" spc="-35" dirty="0"/>
              <a:t>better</a:t>
            </a:r>
            <a:r>
              <a:rPr sz="1800" spc="10" dirty="0"/>
              <a:t> </a:t>
            </a:r>
            <a:r>
              <a:rPr sz="1800" spc="-145" dirty="0"/>
              <a:t>results</a:t>
            </a:r>
            <a:r>
              <a:rPr sz="1800" spc="15" dirty="0"/>
              <a:t> </a:t>
            </a:r>
            <a:r>
              <a:rPr sz="1800" spc="-120" dirty="0"/>
              <a:t>than</a:t>
            </a:r>
            <a:r>
              <a:rPr sz="1800" spc="5" dirty="0"/>
              <a:t> </a:t>
            </a:r>
            <a:r>
              <a:rPr sz="1800" spc="-20" dirty="0"/>
              <a:t>1NN.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4000" spc="-480" dirty="0">
                <a:solidFill>
                  <a:srgbClr val="000000"/>
                </a:solidFill>
                <a:latin typeface="Verdana"/>
                <a:cs typeface="Verdana"/>
              </a:rPr>
              <a:t>Selection</a:t>
            </a:r>
            <a:r>
              <a:rPr sz="4000" spc="-3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27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85" dirty="0">
                <a:solidFill>
                  <a:srgbClr val="000000"/>
                </a:solidFill>
                <a:latin typeface="Verdana"/>
                <a:cs typeface="Verdana"/>
              </a:rPr>
              <a:t>K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/>
          <p:nvPr/>
        </p:nvSpPr>
        <p:spPr>
          <a:xfrm>
            <a:off x="675640" y="1516379"/>
            <a:ext cx="7745095" cy="3894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000" spc="-125" dirty="0">
                <a:latin typeface="Arial MT"/>
                <a:cs typeface="Arial MT"/>
              </a:rPr>
              <a:t>Here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are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35" dirty="0">
                <a:latin typeface="Arial MT"/>
                <a:cs typeface="Arial MT"/>
              </a:rPr>
              <a:t>some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things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keep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35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mind:</a:t>
            </a:r>
            <a:endParaRPr sz="2000">
              <a:latin typeface="Arial MT"/>
              <a:cs typeface="Arial MT"/>
            </a:endParaRPr>
          </a:p>
          <a:p>
            <a:pPr marL="812800" marR="5080" lvl="1" indent="-342900" algn="just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812800" algn="l"/>
              </a:tabLst>
            </a:pPr>
            <a:r>
              <a:rPr sz="1800" spc="-210" dirty="0">
                <a:latin typeface="Arial MT"/>
                <a:cs typeface="Arial MT"/>
              </a:rPr>
              <a:t>As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we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decrease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value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of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220" dirty="0">
                <a:latin typeface="Arial MT"/>
                <a:cs typeface="Arial MT"/>
              </a:rPr>
              <a:t>K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to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1,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our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predictions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become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less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stable.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95" dirty="0">
                <a:latin typeface="Arial MT"/>
                <a:cs typeface="Arial MT"/>
              </a:rPr>
              <a:t>Just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think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minute,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imagine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K=1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and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we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have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query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point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surrounded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several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reds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and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one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green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(which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can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be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noisy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label),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but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green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is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single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nearest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neighbor.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Reasonably,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we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would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think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query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point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is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most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likely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red,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but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because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K=1,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KNN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incorrectly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predicts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that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query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point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is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green.</a:t>
            </a:r>
            <a:endParaRPr sz="1800">
              <a:latin typeface="Arial MT"/>
              <a:cs typeface="Arial MT"/>
            </a:endParaRPr>
          </a:p>
          <a:p>
            <a:pPr marL="812800" marR="5715" lvl="1" indent="-342900" algn="just">
              <a:lnSpc>
                <a:spcPct val="99700"/>
              </a:lnSpc>
              <a:spcBef>
                <a:spcPts val="30"/>
              </a:spcBef>
              <a:buFont typeface="Wingdings"/>
              <a:buChar char=""/>
              <a:tabLst>
                <a:tab pos="812800" algn="l"/>
              </a:tabLst>
            </a:pPr>
            <a:r>
              <a:rPr sz="1800" spc="-70" dirty="0">
                <a:latin typeface="Arial MT"/>
                <a:cs typeface="Arial MT"/>
              </a:rPr>
              <a:t>Inversely,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increase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K,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our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predictions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become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more </a:t>
            </a:r>
            <a:r>
              <a:rPr sz="1800" spc="-50" dirty="0">
                <a:latin typeface="Arial MT"/>
                <a:cs typeface="Arial MT"/>
              </a:rPr>
              <a:t>stable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due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majority </a:t>
            </a:r>
            <a:r>
              <a:rPr sz="1800" spc="-70" dirty="0">
                <a:latin typeface="Arial MT"/>
                <a:cs typeface="Arial MT"/>
              </a:rPr>
              <a:t>voting,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thus,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more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likely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make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more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accurate </a:t>
            </a:r>
            <a:r>
              <a:rPr sz="1800" spc="-45" dirty="0">
                <a:latin typeface="Arial MT"/>
                <a:cs typeface="Arial MT"/>
              </a:rPr>
              <a:t>predictions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(up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certain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point).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Eventually,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begin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witness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 </a:t>
            </a:r>
            <a:r>
              <a:rPr sz="1800" spc="-110" dirty="0">
                <a:latin typeface="Arial MT"/>
                <a:cs typeface="Arial MT"/>
              </a:rPr>
              <a:t>increasing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number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errors.</a:t>
            </a:r>
            <a:r>
              <a:rPr sz="1800" dirty="0">
                <a:latin typeface="Arial MT"/>
                <a:cs typeface="Arial MT"/>
              </a:rPr>
              <a:t> It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is</a:t>
            </a:r>
            <a:r>
              <a:rPr sz="1800" dirty="0">
                <a:latin typeface="Arial MT"/>
                <a:cs typeface="Arial MT"/>
              </a:rPr>
              <a:t> at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this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point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know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have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pushed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spc="-95" dirty="0">
                <a:latin typeface="Arial MT"/>
                <a:cs typeface="Arial MT"/>
              </a:rPr>
              <a:t>value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25" dirty="0">
                <a:latin typeface="Arial MT"/>
                <a:cs typeface="Arial MT"/>
              </a:rPr>
              <a:t>K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too</a:t>
            </a:r>
            <a:r>
              <a:rPr sz="1800" spc="-20" dirty="0">
                <a:latin typeface="Arial MT"/>
                <a:cs typeface="Arial MT"/>
              </a:rPr>
              <a:t> far.</a:t>
            </a:r>
            <a:endParaRPr sz="1800">
              <a:latin typeface="Arial MT"/>
              <a:cs typeface="Arial MT"/>
            </a:endParaRPr>
          </a:p>
          <a:p>
            <a:pPr marL="812800" marR="5080" lvl="1" indent="-342900" algn="just">
              <a:lnSpc>
                <a:spcPts val="2110"/>
              </a:lnSpc>
              <a:spcBef>
                <a:spcPts val="140"/>
              </a:spcBef>
              <a:buFont typeface="Wingdings"/>
              <a:buChar char=""/>
              <a:tabLst>
                <a:tab pos="812800" algn="l"/>
              </a:tabLst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35" dirty="0">
                <a:solidFill>
                  <a:srgbClr val="FF0000"/>
                </a:solidFill>
                <a:latin typeface="Arial MT"/>
                <a:cs typeface="Arial MT"/>
              </a:rPr>
              <a:t>cases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Arial MT"/>
                <a:cs typeface="Arial MT"/>
              </a:rPr>
              <a:t>where</a:t>
            </a:r>
            <a:r>
              <a:rPr sz="18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we</a:t>
            </a:r>
            <a:r>
              <a:rPr sz="18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18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taking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majority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vote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65" dirty="0">
                <a:solidFill>
                  <a:srgbClr val="FF0000"/>
                </a:solidFill>
                <a:latin typeface="Arial MT"/>
                <a:cs typeface="Arial MT"/>
              </a:rPr>
              <a:t>among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labels,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we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FF0000"/>
                </a:solidFill>
                <a:latin typeface="Arial MT"/>
                <a:cs typeface="Arial MT"/>
              </a:rPr>
              <a:t>usually </a:t>
            </a:r>
            <a:r>
              <a:rPr sz="1800" spc="-150" dirty="0">
                <a:solidFill>
                  <a:srgbClr val="FF0000"/>
                </a:solidFill>
                <a:latin typeface="Arial MT"/>
                <a:cs typeface="Arial MT"/>
              </a:rPr>
              <a:t>make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25" dirty="0">
                <a:solidFill>
                  <a:srgbClr val="FF0000"/>
                </a:solidFill>
                <a:latin typeface="Arial MT"/>
                <a:cs typeface="Arial MT"/>
              </a:rPr>
              <a:t>K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14" dirty="0">
                <a:solidFill>
                  <a:srgbClr val="FF0000"/>
                </a:solidFill>
                <a:latin typeface="Arial MT"/>
                <a:cs typeface="Arial MT"/>
              </a:rPr>
              <a:t>an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odd</a:t>
            </a:r>
            <a:r>
              <a:rPr sz="18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55" dirty="0">
                <a:solidFill>
                  <a:srgbClr val="FF0000"/>
                </a:solidFill>
                <a:latin typeface="Arial MT"/>
                <a:cs typeface="Arial MT"/>
              </a:rPr>
              <a:t>number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 to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25" dirty="0">
                <a:solidFill>
                  <a:srgbClr val="FF0000"/>
                </a:solidFill>
                <a:latin typeface="Arial MT"/>
                <a:cs typeface="Arial MT"/>
              </a:rPr>
              <a:t>have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tiebreaker.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KNN</a:t>
            </a:r>
            <a:r>
              <a:rPr sz="40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sz="40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Number</a:t>
            </a:r>
            <a:r>
              <a:rPr sz="40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40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Calibri"/>
                <a:cs typeface="Calibri"/>
              </a:rPr>
              <a:t>Neighbors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/>
          <p:nvPr/>
        </p:nvSpPr>
        <p:spPr>
          <a:xfrm>
            <a:off x="675640" y="1517396"/>
            <a:ext cx="6710680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K=1,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select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nearest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neighbour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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K&gt;1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755015" algn="l"/>
              </a:tabLst>
            </a:pPr>
            <a:r>
              <a:rPr sz="1800" spc="-155" dirty="0">
                <a:latin typeface="Arial MT"/>
                <a:cs typeface="Arial MT"/>
              </a:rPr>
              <a:t>For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classification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select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the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90" dirty="0">
                <a:latin typeface="Arial MT"/>
                <a:cs typeface="Arial MT"/>
              </a:rPr>
              <a:t>most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frequent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neighbour.</a:t>
            </a:r>
            <a:endParaRPr sz="1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0"/>
              </a:spcBef>
              <a:buFont typeface="Wingdings"/>
              <a:buChar char=""/>
              <a:tabLst>
                <a:tab pos="755015" algn="l"/>
              </a:tabLst>
            </a:pPr>
            <a:r>
              <a:rPr sz="1800" spc="-155" dirty="0">
                <a:latin typeface="Arial MT"/>
                <a:cs typeface="Arial MT"/>
              </a:rPr>
              <a:t>For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regression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calculate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the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average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25" dirty="0">
                <a:latin typeface="Arial MT"/>
                <a:cs typeface="Arial MT"/>
              </a:rPr>
              <a:t>K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neighbours.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760"/>
              </a:spcBef>
              <a:buFont typeface="Wingdings"/>
              <a:buChar char=""/>
            </a:pP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400" spc="-254" dirty="0">
                <a:latin typeface="Arial MT"/>
                <a:cs typeface="Arial MT"/>
              </a:rPr>
              <a:t>Rule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thumb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k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195" dirty="0">
                <a:latin typeface="Arial MT"/>
                <a:cs typeface="Arial MT"/>
              </a:rPr>
              <a:t>&lt;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sqrt(n),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295" dirty="0">
                <a:latin typeface="Arial MT"/>
                <a:cs typeface="Arial MT"/>
              </a:rPr>
              <a:t>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number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examples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55" dirty="0">
                <a:solidFill>
                  <a:srgbClr val="000000"/>
                </a:solidFill>
                <a:latin typeface="Verdana"/>
                <a:cs typeface="Verdana"/>
              </a:rPr>
              <a:t>Cross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365" dirty="0">
                <a:solidFill>
                  <a:srgbClr val="000000"/>
                </a:solidFill>
                <a:latin typeface="Verdana"/>
                <a:cs typeface="Verdana"/>
              </a:rPr>
              <a:t>Validation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pc="-20" dirty="0"/>
              <a:t>In</a:t>
            </a:r>
            <a:r>
              <a:rPr spc="-15" dirty="0"/>
              <a:t> </a:t>
            </a:r>
            <a:r>
              <a:rPr dirty="0"/>
              <a:t>order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better</a:t>
            </a:r>
            <a:r>
              <a:rPr spc="-15" dirty="0"/>
              <a:t> </a:t>
            </a:r>
            <a:r>
              <a:rPr spc="-110" dirty="0"/>
              <a:t>understand</a:t>
            </a:r>
            <a:r>
              <a:rPr spc="-10" dirty="0"/>
              <a:t> </a:t>
            </a:r>
            <a:r>
              <a:rPr spc="-20" dirty="0"/>
              <a:t>the</a:t>
            </a:r>
            <a:r>
              <a:rPr spc="-15" dirty="0"/>
              <a:t> </a:t>
            </a:r>
            <a:r>
              <a:rPr spc="-60" dirty="0"/>
              <a:t>need</a:t>
            </a:r>
            <a:r>
              <a:rPr spc="-1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spc="-185" dirty="0"/>
              <a:t>cross-</a:t>
            </a:r>
            <a:r>
              <a:rPr spc="-45" dirty="0"/>
              <a:t>validation,</a:t>
            </a:r>
            <a:r>
              <a:rPr spc="-15" dirty="0"/>
              <a:t> </a:t>
            </a:r>
            <a:r>
              <a:rPr dirty="0"/>
              <a:t>let</a:t>
            </a:r>
            <a:r>
              <a:rPr spc="-10" dirty="0"/>
              <a:t> </a:t>
            </a:r>
            <a:r>
              <a:rPr spc="-100" dirty="0"/>
              <a:t>me</a:t>
            </a:r>
            <a:r>
              <a:rPr spc="-10" dirty="0"/>
              <a:t> first </a:t>
            </a:r>
            <a:r>
              <a:rPr spc="-70" dirty="0"/>
              <a:t>recap</a:t>
            </a:r>
            <a:r>
              <a:rPr spc="-55" dirty="0"/>
              <a:t> </a:t>
            </a:r>
            <a:r>
              <a:rPr spc="-185" dirty="0"/>
              <a:t>on</a:t>
            </a:r>
            <a:r>
              <a:rPr spc="-10" dirty="0"/>
              <a:t> </a:t>
            </a:r>
            <a:r>
              <a:rPr spc="-170" dirty="0"/>
              <a:t>how</a:t>
            </a:r>
            <a:r>
              <a:rPr spc="-5" dirty="0"/>
              <a:t> </a:t>
            </a:r>
            <a:r>
              <a:rPr spc="-20" dirty="0"/>
              <a:t>to</a:t>
            </a:r>
            <a:r>
              <a:rPr spc="-25" dirty="0"/>
              <a:t> </a:t>
            </a:r>
            <a:r>
              <a:rPr spc="-114" dirty="0"/>
              <a:t>determine</a:t>
            </a:r>
            <a:r>
              <a:rPr spc="-20" dirty="0"/>
              <a:t> </a:t>
            </a:r>
            <a:r>
              <a:rPr spc="-130" dirty="0"/>
              <a:t>the</a:t>
            </a:r>
            <a:r>
              <a:rPr spc="-10" dirty="0"/>
              <a:t> </a:t>
            </a:r>
            <a:r>
              <a:rPr spc="-55" dirty="0"/>
              <a:t>right</a:t>
            </a:r>
            <a:r>
              <a:rPr spc="-25" dirty="0"/>
              <a:t> </a:t>
            </a:r>
            <a:r>
              <a:rPr spc="-105" dirty="0"/>
              <a:t>value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20" dirty="0"/>
              <a:t>“K”?</a:t>
            </a: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pc="-20" dirty="0"/>
          </a:p>
          <a:p>
            <a:pPr marL="355600" marR="5080" indent="-342900" algn="just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pc="-155" dirty="0"/>
              <a:t>Suppose,</a:t>
            </a:r>
            <a:r>
              <a:rPr spc="15" dirty="0"/>
              <a:t> </a:t>
            </a:r>
            <a:r>
              <a:rPr dirty="0"/>
              <a:t>we</a:t>
            </a:r>
            <a:r>
              <a:rPr spc="-6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spc="-70" dirty="0"/>
              <a:t>given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55" dirty="0"/>
              <a:t>dataset</a:t>
            </a:r>
            <a:r>
              <a:rPr spc="-25" dirty="0"/>
              <a:t> </a:t>
            </a:r>
            <a:r>
              <a:rPr spc="-10" dirty="0"/>
              <a:t>and</a:t>
            </a:r>
            <a:r>
              <a:rPr spc="-25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spc="-35" dirty="0"/>
              <a:t>split</a:t>
            </a:r>
            <a:r>
              <a:rPr spc="-20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50" dirty="0"/>
              <a:t>into</a:t>
            </a:r>
            <a:r>
              <a:rPr spc="-20" dirty="0"/>
              <a:t> </a:t>
            </a:r>
            <a:r>
              <a:rPr spc="-50" dirty="0"/>
              <a:t>training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and </a:t>
            </a:r>
            <a:r>
              <a:rPr spc="-70" dirty="0"/>
              <a:t>test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45" dirty="0"/>
              <a:t>the</a:t>
            </a:r>
            <a:r>
              <a:rPr spc="-10" dirty="0"/>
              <a:t> </a:t>
            </a:r>
            <a:r>
              <a:rPr dirty="0"/>
              <a:t>ratio</a:t>
            </a:r>
            <a:r>
              <a:rPr spc="-10" dirty="0"/>
              <a:t> </a:t>
            </a:r>
            <a:r>
              <a:rPr dirty="0"/>
              <a:t>70:30.</a:t>
            </a:r>
            <a:r>
              <a:rPr spc="-10" dirty="0"/>
              <a:t> </a:t>
            </a:r>
            <a:r>
              <a:rPr spc="-95" dirty="0"/>
              <a:t>Meaning,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spc="-35" dirty="0"/>
              <a:t>keep</a:t>
            </a:r>
            <a:r>
              <a:rPr spc="-15" dirty="0"/>
              <a:t> </a:t>
            </a:r>
            <a:r>
              <a:rPr dirty="0"/>
              <a:t>70%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0" dirty="0"/>
              <a:t>my</a:t>
            </a:r>
            <a:r>
              <a:rPr spc="-10" dirty="0"/>
              <a:t> </a:t>
            </a:r>
            <a:r>
              <a:rPr dirty="0"/>
              <a:t>total</a:t>
            </a:r>
            <a:r>
              <a:rPr spc="-1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25" dirty="0"/>
              <a:t>to </a:t>
            </a:r>
            <a:r>
              <a:rPr spc="-55" dirty="0"/>
              <a:t>train</a:t>
            </a:r>
            <a:r>
              <a:rPr spc="-85" dirty="0"/>
              <a:t> </a:t>
            </a:r>
            <a:r>
              <a:rPr spc="-180" dirty="0"/>
              <a:t>my</a:t>
            </a:r>
            <a:r>
              <a:rPr spc="-10" dirty="0"/>
              <a:t> </a:t>
            </a:r>
            <a:r>
              <a:rPr spc="-120" dirty="0"/>
              <a:t>model</a:t>
            </a:r>
            <a:r>
              <a:rPr spc="-15" dirty="0"/>
              <a:t> </a:t>
            </a:r>
            <a:r>
              <a:rPr spc="-85" dirty="0"/>
              <a:t>and</a:t>
            </a:r>
            <a:r>
              <a:rPr spc="-55" dirty="0"/>
              <a:t> </a:t>
            </a:r>
            <a:r>
              <a:rPr spc="-130" dirty="0"/>
              <a:t>rest</a:t>
            </a:r>
            <a:r>
              <a:rPr spc="-15" dirty="0"/>
              <a:t> </a:t>
            </a:r>
            <a:r>
              <a:rPr spc="-20" dirty="0"/>
              <a:t>30%</a:t>
            </a:r>
            <a:r>
              <a:rPr spc="-65" dirty="0"/>
              <a:t> </a:t>
            </a:r>
            <a:r>
              <a:rPr spc="-20" dirty="0"/>
              <a:t>to</a:t>
            </a:r>
            <a:r>
              <a:rPr spc="-40" dirty="0"/>
              <a:t> </a:t>
            </a:r>
            <a:r>
              <a:rPr spc="-125" dirty="0"/>
              <a:t>test</a:t>
            </a:r>
            <a:r>
              <a:rPr spc="-15" dirty="0"/>
              <a:t> </a:t>
            </a:r>
            <a:r>
              <a:rPr spc="-25" dirty="0"/>
              <a:t>it.</a:t>
            </a: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pc="-25" dirty="0"/>
          </a:p>
          <a:p>
            <a:pPr marL="355600" marR="5080" indent="-342900" algn="just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dirty="0"/>
              <a:t>Next,</a:t>
            </a:r>
            <a:r>
              <a:rPr spc="145" dirty="0"/>
              <a:t> </a:t>
            </a:r>
            <a:r>
              <a:rPr dirty="0"/>
              <a:t>I</a:t>
            </a:r>
            <a:r>
              <a:rPr spc="150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my</a:t>
            </a:r>
            <a:r>
              <a:rPr spc="150" dirty="0"/>
              <a:t> </a:t>
            </a:r>
            <a:r>
              <a:rPr dirty="0"/>
              <a:t>model</a:t>
            </a:r>
            <a:r>
              <a:rPr spc="145" dirty="0"/>
              <a:t> </a:t>
            </a:r>
            <a:r>
              <a:rPr dirty="0"/>
              <a:t>with</a:t>
            </a:r>
            <a:r>
              <a:rPr spc="150" dirty="0"/>
              <a:t> </a:t>
            </a:r>
            <a:r>
              <a:rPr dirty="0"/>
              <a:t>different</a:t>
            </a:r>
            <a:r>
              <a:rPr spc="145" dirty="0"/>
              <a:t> </a:t>
            </a:r>
            <a:r>
              <a:rPr spc="-65" dirty="0"/>
              <a:t>values</a:t>
            </a:r>
            <a:r>
              <a:rPr spc="145" dirty="0"/>
              <a:t> </a:t>
            </a:r>
            <a:r>
              <a:rPr dirty="0"/>
              <a:t>of</a:t>
            </a:r>
            <a:r>
              <a:rPr spc="140" dirty="0"/>
              <a:t> </a:t>
            </a:r>
            <a:r>
              <a:rPr dirty="0"/>
              <a:t>“K”</a:t>
            </a:r>
            <a:r>
              <a:rPr spc="155" dirty="0"/>
              <a:t> </a:t>
            </a:r>
            <a:r>
              <a:rPr dirty="0"/>
              <a:t>and</a:t>
            </a:r>
            <a:r>
              <a:rPr spc="140" dirty="0"/>
              <a:t> </a:t>
            </a:r>
            <a:r>
              <a:rPr spc="-20" dirty="0"/>
              <a:t>capture</a:t>
            </a:r>
            <a:r>
              <a:rPr spc="150" dirty="0"/>
              <a:t> </a:t>
            </a:r>
            <a:r>
              <a:rPr spc="-25" dirty="0"/>
              <a:t>its </a:t>
            </a:r>
            <a:r>
              <a:rPr spc="-130" dirty="0"/>
              <a:t>accuracy</a:t>
            </a:r>
            <a:r>
              <a:rPr spc="-10" dirty="0"/>
              <a:t> </a:t>
            </a:r>
            <a:r>
              <a:rPr spc="-185" dirty="0"/>
              <a:t>on</a:t>
            </a:r>
            <a:r>
              <a:rPr spc="-10" dirty="0"/>
              <a:t> </a:t>
            </a:r>
            <a:r>
              <a:rPr spc="-180" dirty="0"/>
              <a:t>my</a:t>
            </a:r>
            <a:r>
              <a:rPr spc="-10" dirty="0"/>
              <a:t> </a:t>
            </a:r>
            <a:r>
              <a:rPr spc="-125" dirty="0"/>
              <a:t>test</a:t>
            </a:r>
            <a:r>
              <a:rPr spc="-15" dirty="0"/>
              <a:t> </a:t>
            </a:r>
            <a:r>
              <a:rPr spc="-20" dirty="0"/>
              <a:t>data.</a:t>
            </a:r>
            <a:r>
              <a:rPr spc="-120" dirty="0"/>
              <a:t> </a:t>
            </a:r>
            <a:r>
              <a:rPr spc="-254" dirty="0"/>
              <a:t>Assume</a:t>
            </a:r>
            <a:r>
              <a:rPr spc="-5" dirty="0"/>
              <a:t> </a:t>
            </a:r>
            <a:r>
              <a:rPr spc="-105" dirty="0"/>
              <a:t>we</a:t>
            </a:r>
            <a:r>
              <a:rPr spc="-30" dirty="0"/>
              <a:t> </a:t>
            </a:r>
            <a:r>
              <a:rPr spc="-20" dirty="0"/>
              <a:t>get</a:t>
            </a:r>
            <a:r>
              <a:rPr spc="-9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20" dirty="0"/>
              <a:t>table</a:t>
            </a:r>
            <a:r>
              <a:rPr spc="-30" dirty="0"/>
              <a:t> </a:t>
            </a:r>
            <a:r>
              <a:rPr spc="-55" dirty="0"/>
              <a:t>like</a:t>
            </a:r>
            <a:r>
              <a:rPr spc="-35" dirty="0"/>
              <a:t> </a:t>
            </a:r>
            <a:r>
              <a:rPr spc="-10" dirty="0"/>
              <a:t>below: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2384" y="4479035"/>
            <a:ext cx="2261616" cy="22616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55" dirty="0">
                <a:solidFill>
                  <a:srgbClr val="000000"/>
                </a:solidFill>
                <a:latin typeface="Verdana"/>
                <a:cs typeface="Verdana"/>
              </a:rPr>
              <a:t>Cross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365" dirty="0">
                <a:solidFill>
                  <a:srgbClr val="000000"/>
                </a:solidFill>
                <a:latin typeface="Verdana"/>
                <a:cs typeface="Verdana"/>
              </a:rPr>
              <a:t>Validation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2900" algn="just">
              <a:lnSpc>
                <a:spcPct val="99400"/>
              </a:lnSpc>
              <a:spcBef>
                <a:spcPts val="110"/>
              </a:spcBef>
              <a:buFont typeface="Wingdings"/>
              <a:buChar char=""/>
              <a:tabLst>
                <a:tab pos="355600" algn="l"/>
              </a:tabLst>
            </a:pPr>
            <a:r>
              <a:rPr sz="1800" spc="-60" dirty="0"/>
              <a:t>Now,</a:t>
            </a:r>
            <a:r>
              <a:rPr sz="1800" spc="5" dirty="0"/>
              <a:t> </a:t>
            </a:r>
            <a:r>
              <a:rPr sz="1800" dirty="0"/>
              <a:t>if</a:t>
            </a:r>
            <a:r>
              <a:rPr sz="1800" spc="10" dirty="0"/>
              <a:t> </a:t>
            </a:r>
            <a:r>
              <a:rPr sz="1800" spc="-35" dirty="0"/>
              <a:t>you</a:t>
            </a:r>
            <a:r>
              <a:rPr sz="1800" spc="5" dirty="0"/>
              <a:t> </a:t>
            </a:r>
            <a:r>
              <a:rPr sz="1800" spc="-90" dirty="0"/>
              <a:t>observe</a:t>
            </a:r>
            <a:r>
              <a:rPr sz="1800" spc="5" dirty="0"/>
              <a:t> </a:t>
            </a:r>
            <a:r>
              <a:rPr sz="1800" spc="-105" dirty="0"/>
              <a:t>then</a:t>
            </a:r>
            <a:r>
              <a:rPr sz="1800" spc="5" dirty="0"/>
              <a:t> </a:t>
            </a:r>
            <a:r>
              <a:rPr sz="1800" dirty="0"/>
              <a:t>at</a:t>
            </a:r>
            <a:r>
              <a:rPr sz="1800" spc="5" dirty="0"/>
              <a:t> </a:t>
            </a:r>
            <a:r>
              <a:rPr sz="1800" dirty="0"/>
              <a:t>K=3,</a:t>
            </a:r>
            <a:r>
              <a:rPr sz="1800" spc="10" dirty="0"/>
              <a:t> </a:t>
            </a:r>
            <a:r>
              <a:rPr sz="1800" dirty="0"/>
              <a:t>I</a:t>
            </a:r>
            <a:r>
              <a:rPr sz="1800" spc="10" dirty="0"/>
              <a:t> </a:t>
            </a:r>
            <a:r>
              <a:rPr sz="1800" dirty="0"/>
              <a:t>get</a:t>
            </a:r>
            <a:r>
              <a:rPr sz="1800" spc="5" dirty="0"/>
              <a:t> </a:t>
            </a:r>
            <a:r>
              <a:rPr sz="1800" spc="-45" dirty="0"/>
              <a:t>the</a:t>
            </a:r>
            <a:r>
              <a:rPr sz="1800" spc="5" dirty="0"/>
              <a:t> </a:t>
            </a:r>
            <a:r>
              <a:rPr sz="1800" spc="-114" dirty="0"/>
              <a:t>highest</a:t>
            </a:r>
            <a:r>
              <a:rPr sz="1800" spc="10" dirty="0"/>
              <a:t> </a:t>
            </a:r>
            <a:r>
              <a:rPr sz="1800" spc="-100" dirty="0"/>
              <a:t>accuracy</a:t>
            </a:r>
            <a:r>
              <a:rPr sz="1800" spc="10" dirty="0"/>
              <a:t> </a:t>
            </a:r>
            <a:r>
              <a:rPr sz="1800" dirty="0"/>
              <a:t>of</a:t>
            </a:r>
            <a:r>
              <a:rPr sz="1800" spc="5" dirty="0"/>
              <a:t> </a:t>
            </a:r>
            <a:r>
              <a:rPr sz="1800" dirty="0"/>
              <a:t>90%</a:t>
            </a:r>
            <a:r>
              <a:rPr sz="1800" spc="5" dirty="0"/>
              <a:t> </a:t>
            </a:r>
            <a:r>
              <a:rPr sz="1800" dirty="0"/>
              <a:t>and </a:t>
            </a:r>
            <a:r>
              <a:rPr sz="1800" spc="-10" dirty="0"/>
              <a:t>after </a:t>
            </a:r>
            <a:r>
              <a:rPr sz="1800" spc="-30" dirty="0"/>
              <a:t>that,</a:t>
            </a:r>
            <a:r>
              <a:rPr sz="1800" spc="-95" dirty="0"/>
              <a:t> </a:t>
            </a:r>
            <a:r>
              <a:rPr sz="1800" dirty="0"/>
              <a:t>we</a:t>
            </a:r>
            <a:r>
              <a:rPr sz="1800" spc="-35" dirty="0"/>
              <a:t> </a:t>
            </a:r>
            <a:r>
              <a:rPr sz="1800" spc="-120" dirty="0"/>
              <a:t>see</a:t>
            </a:r>
            <a:r>
              <a:rPr sz="1800" spc="-5" dirty="0"/>
              <a:t> </a:t>
            </a:r>
            <a:r>
              <a:rPr sz="1800" dirty="0"/>
              <a:t>a</a:t>
            </a:r>
            <a:r>
              <a:rPr sz="1800" spc="-25" dirty="0"/>
              <a:t> </a:t>
            </a:r>
            <a:r>
              <a:rPr sz="1800" spc="-85" dirty="0"/>
              <a:t>decreasing</a:t>
            </a:r>
            <a:r>
              <a:rPr sz="1800" spc="-25" dirty="0"/>
              <a:t> trend </a:t>
            </a:r>
            <a:r>
              <a:rPr sz="1800" dirty="0"/>
              <a:t>in</a:t>
            </a:r>
            <a:r>
              <a:rPr sz="1800" spc="-20" dirty="0"/>
              <a:t> </a:t>
            </a:r>
            <a:r>
              <a:rPr sz="1800" spc="-35" dirty="0"/>
              <a:t>the</a:t>
            </a:r>
            <a:r>
              <a:rPr sz="1800" spc="-25" dirty="0"/>
              <a:t> </a:t>
            </a:r>
            <a:r>
              <a:rPr sz="1800" spc="-100" dirty="0"/>
              <a:t>accuracy.</a:t>
            </a:r>
            <a:r>
              <a:rPr sz="1800" spc="-15" dirty="0"/>
              <a:t> </a:t>
            </a:r>
            <a:r>
              <a:rPr sz="1800" spc="-120" dirty="0"/>
              <a:t>So,</a:t>
            </a:r>
            <a:r>
              <a:rPr sz="1800" spc="-5" dirty="0"/>
              <a:t> </a:t>
            </a:r>
            <a:r>
              <a:rPr sz="1800" spc="-95" dirty="0"/>
              <a:t>basis</a:t>
            </a:r>
            <a:r>
              <a:rPr sz="1800" spc="-25" dirty="0"/>
              <a:t> </a:t>
            </a:r>
            <a:r>
              <a:rPr sz="1800" dirty="0"/>
              <a:t>that</a:t>
            </a:r>
            <a:r>
              <a:rPr sz="1800" spc="-20" dirty="0"/>
              <a:t> </a:t>
            </a:r>
            <a:r>
              <a:rPr sz="1800" dirty="0"/>
              <a:t>we</a:t>
            </a:r>
            <a:r>
              <a:rPr sz="1800" spc="-20" dirty="0"/>
              <a:t> </a:t>
            </a:r>
            <a:r>
              <a:rPr sz="1800" spc="-160" dirty="0"/>
              <a:t>come</a:t>
            </a:r>
            <a:r>
              <a:rPr sz="1800" spc="35" dirty="0"/>
              <a:t> </a:t>
            </a:r>
            <a:r>
              <a:rPr sz="1800" dirty="0"/>
              <a:t>to</a:t>
            </a:r>
            <a:r>
              <a:rPr sz="1800" spc="-25" dirty="0"/>
              <a:t> the </a:t>
            </a:r>
            <a:r>
              <a:rPr sz="1800" spc="-170" dirty="0"/>
              <a:t>conclusion</a:t>
            </a:r>
            <a:r>
              <a:rPr sz="1800" spc="-5" dirty="0"/>
              <a:t> </a:t>
            </a:r>
            <a:r>
              <a:rPr sz="1800" spc="-55" dirty="0"/>
              <a:t>that</a:t>
            </a:r>
            <a:r>
              <a:rPr sz="1800" spc="-10" dirty="0"/>
              <a:t> </a:t>
            </a:r>
            <a:r>
              <a:rPr sz="1800" spc="-165" dirty="0"/>
              <a:t>my</a:t>
            </a:r>
            <a:r>
              <a:rPr sz="1800" spc="-5" dirty="0"/>
              <a:t> </a:t>
            </a:r>
            <a:r>
              <a:rPr sz="1800" spc="-30" dirty="0"/>
              <a:t>appropriate</a:t>
            </a:r>
            <a:r>
              <a:rPr sz="1800" spc="-10" dirty="0"/>
              <a:t> </a:t>
            </a:r>
            <a:r>
              <a:rPr sz="1800" spc="-95" dirty="0"/>
              <a:t>value</a:t>
            </a:r>
            <a:r>
              <a:rPr sz="1800" spc="-5" dirty="0"/>
              <a:t> </a:t>
            </a:r>
            <a:r>
              <a:rPr sz="1800" dirty="0"/>
              <a:t>for </a:t>
            </a:r>
            <a:r>
              <a:rPr sz="1800" spc="-20" dirty="0"/>
              <a:t>K=3.</a:t>
            </a:r>
            <a:endParaRPr sz="1800"/>
          </a:p>
          <a:p>
            <a:pPr>
              <a:lnSpc>
                <a:spcPct val="100000"/>
              </a:lnSpc>
              <a:spcBef>
                <a:spcPts val="65"/>
              </a:spcBef>
              <a:buFont typeface="Wingdings"/>
              <a:buChar char=""/>
            </a:pPr>
            <a:endParaRPr sz="1800"/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4965" algn="l"/>
              </a:tabLst>
            </a:pPr>
            <a:r>
              <a:rPr sz="1800" spc="-225" dirty="0"/>
              <a:t>This</a:t>
            </a:r>
            <a:r>
              <a:rPr sz="1800" dirty="0"/>
              <a:t> all</a:t>
            </a:r>
            <a:r>
              <a:rPr sz="1800" spc="-40" dirty="0"/>
              <a:t> </a:t>
            </a:r>
            <a:r>
              <a:rPr sz="1800" spc="-204" dirty="0"/>
              <a:t>sounds</a:t>
            </a:r>
            <a:r>
              <a:rPr sz="1800" dirty="0"/>
              <a:t> </a:t>
            </a:r>
            <a:r>
              <a:rPr sz="1800" spc="-45" dirty="0"/>
              <a:t>good</a:t>
            </a:r>
            <a:r>
              <a:rPr sz="1800" spc="-15" dirty="0"/>
              <a:t> </a:t>
            </a:r>
            <a:r>
              <a:rPr sz="1800" spc="-65" dirty="0"/>
              <a:t>but</a:t>
            </a:r>
            <a:r>
              <a:rPr sz="1800" spc="-15" dirty="0"/>
              <a:t> </a:t>
            </a:r>
            <a:r>
              <a:rPr sz="1800" spc="-85" dirty="0"/>
              <a:t>there</a:t>
            </a:r>
            <a:r>
              <a:rPr sz="1800" spc="-5" dirty="0"/>
              <a:t> </a:t>
            </a:r>
            <a:r>
              <a:rPr sz="1800" spc="-160" dirty="0"/>
              <a:t>is</a:t>
            </a:r>
            <a:r>
              <a:rPr sz="1800" dirty="0"/>
              <a:t> a</a:t>
            </a:r>
            <a:r>
              <a:rPr sz="1800" spc="-20" dirty="0"/>
              <a:t> </a:t>
            </a:r>
            <a:r>
              <a:rPr sz="1800" spc="-130" dirty="0"/>
              <a:t>small</a:t>
            </a:r>
            <a:r>
              <a:rPr sz="1800" spc="5" dirty="0"/>
              <a:t> </a:t>
            </a:r>
            <a:r>
              <a:rPr sz="1800" spc="-80" dirty="0"/>
              <a:t>problem</a:t>
            </a:r>
            <a:r>
              <a:rPr sz="1800" spc="-10" dirty="0"/>
              <a:t> </a:t>
            </a:r>
            <a:r>
              <a:rPr sz="1800" spc="-80" dirty="0"/>
              <a:t>with</a:t>
            </a:r>
            <a:r>
              <a:rPr sz="1800" spc="-15" dirty="0"/>
              <a:t> </a:t>
            </a:r>
            <a:r>
              <a:rPr sz="1800" spc="-25" dirty="0"/>
              <a:t>it.</a:t>
            </a:r>
            <a:endParaRPr sz="1800"/>
          </a:p>
          <a:p>
            <a:pPr>
              <a:lnSpc>
                <a:spcPct val="100000"/>
              </a:lnSpc>
              <a:spcBef>
                <a:spcPts val="160"/>
              </a:spcBef>
              <a:buFont typeface="Wingdings"/>
              <a:buChar char=""/>
            </a:pPr>
            <a:endParaRPr sz="1800"/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1800" i="1" spc="-260" dirty="0">
                <a:latin typeface="Arial"/>
                <a:cs typeface="Arial"/>
              </a:rPr>
              <a:t>The</a:t>
            </a:r>
            <a:r>
              <a:rPr sz="1800" i="1" spc="10" dirty="0">
                <a:latin typeface="Arial"/>
                <a:cs typeface="Arial"/>
              </a:rPr>
              <a:t> </a:t>
            </a:r>
            <a:r>
              <a:rPr sz="1800" i="1" spc="-160" dirty="0">
                <a:latin typeface="Arial"/>
                <a:cs typeface="Arial"/>
              </a:rPr>
              <a:t>whole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spc="-120" dirty="0">
                <a:latin typeface="Arial"/>
                <a:cs typeface="Arial"/>
              </a:rPr>
              <a:t>objective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of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i="1" spc="-195" dirty="0">
                <a:latin typeface="Arial"/>
                <a:cs typeface="Arial"/>
              </a:rPr>
              <a:t>machine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spc="-100" dirty="0">
                <a:latin typeface="Arial"/>
                <a:cs typeface="Arial"/>
              </a:rPr>
              <a:t>learning</a:t>
            </a:r>
            <a:r>
              <a:rPr sz="1800" i="1" spc="10" dirty="0">
                <a:latin typeface="Arial"/>
                <a:cs typeface="Arial"/>
              </a:rPr>
              <a:t> </a:t>
            </a:r>
            <a:r>
              <a:rPr sz="1800" i="1" spc="-160" dirty="0">
                <a:latin typeface="Arial"/>
                <a:cs typeface="Arial"/>
              </a:rPr>
              <a:t>is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generalizing.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1800">
              <a:latin typeface="Arial"/>
              <a:cs typeface="Arial"/>
            </a:endParaRPr>
          </a:p>
          <a:p>
            <a:pPr marL="355600" marR="5080" indent="-342900" algn="just">
              <a:lnSpc>
                <a:spcPct val="994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1800" spc="-5" dirty="0"/>
              <a:t>If</a:t>
            </a:r>
            <a:r>
              <a:rPr sz="1800" spc="175" dirty="0"/>
              <a:t> </a:t>
            </a:r>
            <a:r>
              <a:rPr sz="1800" spc="-110" dirty="0"/>
              <a:t>you</a:t>
            </a:r>
            <a:r>
              <a:rPr sz="1800" spc="175" dirty="0"/>
              <a:t> </a:t>
            </a:r>
            <a:r>
              <a:rPr sz="1800" spc="-125" dirty="0"/>
              <a:t>think</a:t>
            </a:r>
            <a:r>
              <a:rPr sz="1800" spc="175" dirty="0"/>
              <a:t> </a:t>
            </a:r>
            <a:r>
              <a:rPr sz="1800" spc="-80" dirty="0"/>
              <a:t>about</a:t>
            </a:r>
            <a:r>
              <a:rPr sz="1800" spc="175" dirty="0"/>
              <a:t> </a:t>
            </a:r>
            <a:r>
              <a:rPr sz="1800" spc="-140" dirty="0"/>
              <a:t>KNN,</a:t>
            </a:r>
            <a:r>
              <a:rPr sz="1800" spc="180" dirty="0"/>
              <a:t> </a:t>
            </a:r>
            <a:r>
              <a:rPr sz="1800" spc="-110" dirty="0"/>
              <a:t>we</a:t>
            </a:r>
            <a:r>
              <a:rPr sz="1800" spc="175" dirty="0"/>
              <a:t> </a:t>
            </a:r>
            <a:r>
              <a:rPr sz="1800" spc="-165" dirty="0"/>
              <a:t>used</a:t>
            </a:r>
            <a:r>
              <a:rPr sz="1800" spc="170" dirty="0"/>
              <a:t> </a:t>
            </a:r>
            <a:r>
              <a:rPr sz="1800" spc="-114" dirty="0"/>
              <a:t>the</a:t>
            </a:r>
            <a:r>
              <a:rPr sz="1800" spc="175" dirty="0"/>
              <a:t> </a:t>
            </a:r>
            <a:r>
              <a:rPr sz="1800" spc="-114" dirty="0"/>
              <a:t>test</a:t>
            </a:r>
            <a:r>
              <a:rPr sz="1800" spc="175" dirty="0"/>
              <a:t> </a:t>
            </a:r>
            <a:r>
              <a:rPr sz="1800" spc="-25" dirty="0"/>
              <a:t>data</a:t>
            </a:r>
            <a:r>
              <a:rPr sz="1800" spc="170" dirty="0"/>
              <a:t> </a:t>
            </a:r>
            <a:r>
              <a:rPr sz="1800" spc="-65" dirty="0"/>
              <a:t>to</a:t>
            </a:r>
            <a:r>
              <a:rPr sz="1800" spc="175" dirty="0"/>
              <a:t> </a:t>
            </a:r>
            <a:r>
              <a:rPr sz="1800" spc="-70" dirty="0"/>
              <a:t>basically</a:t>
            </a:r>
            <a:r>
              <a:rPr sz="1800" spc="175" dirty="0"/>
              <a:t> </a:t>
            </a:r>
            <a:r>
              <a:rPr sz="1800" spc="-100" dirty="0"/>
              <a:t>determine</a:t>
            </a:r>
            <a:r>
              <a:rPr sz="1800" spc="175" dirty="0"/>
              <a:t> </a:t>
            </a:r>
            <a:r>
              <a:rPr sz="1800" spc="-114" dirty="0"/>
              <a:t>the</a:t>
            </a:r>
            <a:r>
              <a:rPr sz="1800" spc="175" dirty="0"/>
              <a:t> </a:t>
            </a:r>
            <a:r>
              <a:rPr sz="1800" spc="-55" dirty="0"/>
              <a:t>right</a:t>
            </a:r>
            <a:r>
              <a:rPr sz="1800" spc="-15" dirty="0"/>
              <a:t> </a:t>
            </a:r>
            <a:r>
              <a:rPr sz="1800" spc="-100" dirty="0"/>
              <a:t>value</a:t>
            </a:r>
            <a:r>
              <a:rPr sz="1800" dirty="0"/>
              <a:t> </a:t>
            </a:r>
            <a:r>
              <a:rPr sz="1800" spc="-10" dirty="0"/>
              <a:t>of</a:t>
            </a:r>
            <a:r>
              <a:rPr sz="1800" dirty="0"/>
              <a:t> </a:t>
            </a:r>
            <a:r>
              <a:rPr sz="1800" spc="-220" dirty="0"/>
              <a:t>K</a:t>
            </a:r>
            <a:r>
              <a:rPr sz="1800" spc="-5" dirty="0"/>
              <a:t> </a:t>
            </a:r>
            <a:r>
              <a:rPr sz="1800" spc="-85" dirty="0"/>
              <a:t>and</a:t>
            </a:r>
            <a:r>
              <a:rPr sz="1800" spc="-5" dirty="0"/>
              <a:t> </a:t>
            </a:r>
            <a:r>
              <a:rPr sz="1800" spc="-114" dirty="0"/>
              <a:t>the</a:t>
            </a:r>
            <a:r>
              <a:rPr sz="1800" dirty="0"/>
              <a:t> </a:t>
            </a:r>
            <a:r>
              <a:rPr sz="1800" spc="-55" dirty="0"/>
              <a:t>train</a:t>
            </a:r>
            <a:r>
              <a:rPr sz="1800" dirty="0"/>
              <a:t> </a:t>
            </a:r>
            <a:r>
              <a:rPr sz="1800" spc="-25" dirty="0"/>
              <a:t>data</a:t>
            </a:r>
            <a:r>
              <a:rPr sz="1800" spc="-5" dirty="0"/>
              <a:t> </a:t>
            </a:r>
            <a:r>
              <a:rPr sz="1800" spc="-65" dirty="0"/>
              <a:t>to</a:t>
            </a:r>
            <a:r>
              <a:rPr sz="1800" dirty="0"/>
              <a:t> </a:t>
            </a:r>
            <a:r>
              <a:rPr sz="1800" spc="-35" dirty="0"/>
              <a:t>find</a:t>
            </a:r>
            <a:r>
              <a:rPr sz="1800" spc="-5" dirty="0"/>
              <a:t> </a:t>
            </a:r>
            <a:r>
              <a:rPr sz="1800" spc="-114" dirty="0"/>
              <a:t>the</a:t>
            </a:r>
            <a:r>
              <a:rPr sz="1800" dirty="0"/>
              <a:t> </a:t>
            </a:r>
            <a:r>
              <a:rPr sz="1800" spc="-114" dirty="0"/>
              <a:t>nearest</a:t>
            </a:r>
            <a:r>
              <a:rPr sz="1800" dirty="0"/>
              <a:t> </a:t>
            </a:r>
            <a:r>
              <a:rPr sz="1800" spc="-114" dirty="0"/>
              <a:t>neighbors.</a:t>
            </a:r>
            <a:r>
              <a:rPr sz="1800" spc="5" dirty="0"/>
              <a:t> </a:t>
            </a:r>
            <a:r>
              <a:rPr sz="1800" dirty="0"/>
              <a:t>We </a:t>
            </a:r>
            <a:r>
              <a:rPr sz="1800" spc="-50" dirty="0"/>
              <a:t>got</a:t>
            </a:r>
            <a:r>
              <a:rPr sz="1800" dirty="0"/>
              <a:t> </a:t>
            </a:r>
            <a:r>
              <a:rPr sz="1800" spc="-114" dirty="0"/>
              <a:t>the</a:t>
            </a:r>
            <a:r>
              <a:rPr sz="1800" dirty="0"/>
              <a:t> </a:t>
            </a:r>
            <a:r>
              <a:rPr sz="1800" spc="-120" dirty="0"/>
              <a:t>accuracy</a:t>
            </a:r>
            <a:r>
              <a:rPr sz="1800" spc="-50" dirty="0"/>
              <a:t> </a:t>
            </a:r>
            <a:r>
              <a:rPr sz="1800" spc="-10" dirty="0"/>
              <a:t>of</a:t>
            </a:r>
            <a:r>
              <a:rPr sz="1800" dirty="0"/>
              <a:t> </a:t>
            </a:r>
            <a:r>
              <a:rPr sz="1800" spc="-55" dirty="0"/>
              <a:t>90%</a:t>
            </a:r>
            <a:r>
              <a:rPr sz="1800" dirty="0"/>
              <a:t> </a:t>
            </a:r>
            <a:r>
              <a:rPr sz="1800" spc="-160" dirty="0"/>
              <a:t>on</a:t>
            </a:r>
            <a:r>
              <a:rPr sz="1800" spc="-5" dirty="0"/>
              <a:t> </a:t>
            </a:r>
            <a:r>
              <a:rPr sz="1800" spc="-114" dirty="0"/>
              <a:t>the</a:t>
            </a:r>
            <a:r>
              <a:rPr sz="1800" spc="-5" dirty="0"/>
              <a:t> </a:t>
            </a:r>
            <a:r>
              <a:rPr sz="1800" spc="-114" dirty="0"/>
              <a:t>test</a:t>
            </a:r>
            <a:r>
              <a:rPr sz="1800" spc="-5" dirty="0"/>
              <a:t> </a:t>
            </a:r>
            <a:r>
              <a:rPr sz="1800" spc="-25" dirty="0"/>
              <a:t>data</a:t>
            </a:r>
            <a:r>
              <a:rPr sz="1800" spc="-5" dirty="0"/>
              <a:t> </a:t>
            </a:r>
            <a:r>
              <a:rPr sz="1800" spc="-155" dirty="0"/>
              <a:t>which</a:t>
            </a:r>
            <a:r>
              <a:rPr sz="1800" spc="-5" dirty="0"/>
              <a:t> </a:t>
            </a:r>
            <a:r>
              <a:rPr sz="1800" spc="-110" dirty="0"/>
              <a:t>we</a:t>
            </a:r>
            <a:r>
              <a:rPr sz="1800" spc="-5" dirty="0"/>
              <a:t> </a:t>
            </a:r>
            <a:r>
              <a:rPr sz="1800" spc="-110" dirty="0"/>
              <a:t>also</a:t>
            </a:r>
            <a:r>
              <a:rPr sz="1800" spc="-5" dirty="0"/>
              <a:t> </a:t>
            </a:r>
            <a:r>
              <a:rPr sz="1800" spc="-165" dirty="0"/>
              <a:t>used</a:t>
            </a:r>
            <a:r>
              <a:rPr sz="1800" spc="-10" dirty="0"/>
              <a:t> </a:t>
            </a:r>
            <a:r>
              <a:rPr sz="1800" spc="-65" dirty="0"/>
              <a:t>to</a:t>
            </a:r>
            <a:r>
              <a:rPr sz="1800" dirty="0"/>
              <a:t> </a:t>
            </a:r>
            <a:r>
              <a:rPr sz="1800" spc="-100" dirty="0"/>
              <a:t>determine</a:t>
            </a:r>
            <a:r>
              <a:rPr sz="1800" dirty="0"/>
              <a:t> </a:t>
            </a:r>
            <a:r>
              <a:rPr sz="1800" spc="-114" dirty="0"/>
              <a:t>the</a:t>
            </a:r>
            <a:r>
              <a:rPr sz="1800" spc="-5" dirty="0"/>
              <a:t> </a:t>
            </a:r>
            <a:r>
              <a:rPr sz="1800" spc="-55" dirty="0"/>
              <a:t>right</a:t>
            </a:r>
            <a:r>
              <a:rPr sz="1800" dirty="0"/>
              <a:t> </a:t>
            </a:r>
            <a:r>
              <a:rPr sz="1800" spc="-100" dirty="0"/>
              <a:t>value</a:t>
            </a:r>
            <a:r>
              <a:rPr sz="1800" spc="-5" dirty="0"/>
              <a:t> </a:t>
            </a:r>
            <a:r>
              <a:rPr sz="1800" spc="-10" dirty="0"/>
              <a:t>of</a:t>
            </a:r>
            <a:r>
              <a:rPr sz="1800" dirty="0"/>
              <a:t> </a:t>
            </a:r>
            <a:r>
              <a:rPr sz="1800" spc="-45" dirty="0"/>
              <a:t>“K”.</a:t>
            </a:r>
            <a:endParaRPr sz="1800"/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"/>
            </a:pPr>
            <a:endParaRPr sz="1800"/>
          </a:p>
          <a:p>
            <a:pPr marL="355600" marR="5715" indent="-342900" algn="just">
              <a:lnSpc>
                <a:spcPct val="102200"/>
              </a:lnSpc>
              <a:buFont typeface="Wingdings"/>
              <a:buChar char=""/>
              <a:tabLst>
                <a:tab pos="355600" algn="l"/>
              </a:tabLst>
            </a:pPr>
            <a:r>
              <a:rPr sz="1800" spc="-90" dirty="0"/>
              <a:t>Can</a:t>
            </a:r>
            <a:r>
              <a:rPr sz="1800" spc="-30" dirty="0"/>
              <a:t> </a:t>
            </a:r>
            <a:r>
              <a:rPr sz="1800" dirty="0"/>
              <a:t>I</a:t>
            </a:r>
            <a:r>
              <a:rPr sz="1800" spc="-5" dirty="0"/>
              <a:t> </a:t>
            </a:r>
            <a:r>
              <a:rPr sz="1800" spc="-20" dirty="0"/>
              <a:t>say</a:t>
            </a:r>
            <a:r>
              <a:rPr sz="1800" spc="-5" dirty="0"/>
              <a:t> </a:t>
            </a:r>
            <a:r>
              <a:rPr sz="1800" dirty="0"/>
              <a:t>that</a:t>
            </a:r>
            <a:r>
              <a:rPr sz="1800" spc="-5" dirty="0"/>
              <a:t> </a:t>
            </a:r>
            <a:r>
              <a:rPr sz="1800" spc="-140" dirty="0"/>
              <a:t>since</a:t>
            </a:r>
            <a:r>
              <a:rPr sz="1800" spc="15" dirty="0"/>
              <a:t> </a:t>
            </a:r>
            <a:r>
              <a:rPr sz="1800" dirty="0"/>
              <a:t>I</a:t>
            </a:r>
            <a:r>
              <a:rPr sz="1800" spc="-5" dirty="0"/>
              <a:t> </a:t>
            </a:r>
            <a:r>
              <a:rPr sz="1800" spc="-85" dirty="0"/>
              <a:t>achieved</a:t>
            </a:r>
            <a:r>
              <a:rPr sz="1800" spc="-10" dirty="0"/>
              <a:t> </a:t>
            </a:r>
            <a:r>
              <a:rPr sz="1800" dirty="0"/>
              <a:t>an</a:t>
            </a:r>
            <a:r>
              <a:rPr sz="1800" spc="-5" dirty="0"/>
              <a:t> </a:t>
            </a:r>
            <a:r>
              <a:rPr sz="1800" spc="-95" dirty="0"/>
              <a:t>accuracy</a:t>
            </a:r>
            <a:r>
              <a:rPr sz="1800" spc="-5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90%</a:t>
            </a:r>
            <a:r>
              <a:rPr sz="1800" spc="-5" dirty="0"/>
              <a:t> </a:t>
            </a:r>
            <a:r>
              <a:rPr sz="1800" spc="-20" dirty="0"/>
              <a:t>on</a:t>
            </a:r>
            <a:r>
              <a:rPr sz="1800" spc="-5" dirty="0"/>
              <a:t> </a:t>
            </a:r>
            <a:r>
              <a:rPr sz="1800" spc="-20" dirty="0"/>
              <a:t>my</a:t>
            </a:r>
            <a:r>
              <a:rPr sz="1800" spc="-5" dirty="0"/>
              <a:t> </a:t>
            </a:r>
            <a:r>
              <a:rPr sz="1800" spc="-55" dirty="0"/>
              <a:t>test</a:t>
            </a:r>
            <a:r>
              <a:rPr sz="1800" spc="-5" dirty="0"/>
              <a:t> </a:t>
            </a:r>
            <a:r>
              <a:rPr sz="1800" dirty="0"/>
              <a:t>data, I</a:t>
            </a:r>
            <a:r>
              <a:rPr sz="1800" spc="-5" dirty="0"/>
              <a:t> </a:t>
            </a:r>
            <a:r>
              <a:rPr sz="1800" dirty="0"/>
              <a:t>will</a:t>
            </a:r>
            <a:r>
              <a:rPr sz="1800" spc="-5" dirty="0"/>
              <a:t> </a:t>
            </a:r>
            <a:r>
              <a:rPr sz="1800" spc="-25" dirty="0"/>
              <a:t>be </a:t>
            </a:r>
            <a:r>
              <a:rPr sz="1800" spc="-10" dirty="0"/>
              <a:t>able</a:t>
            </a:r>
            <a:r>
              <a:rPr sz="1800" spc="-114" dirty="0"/>
              <a:t> </a:t>
            </a:r>
            <a:r>
              <a:rPr sz="1800" dirty="0"/>
              <a:t>to</a:t>
            </a:r>
            <a:r>
              <a:rPr sz="1800" spc="-30" dirty="0"/>
              <a:t> </a:t>
            </a:r>
            <a:r>
              <a:rPr sz="1800" spc="-60" dirty="0"/>
              <a:t>retain</a:t>
            </a:r>
            <a:r>
              <a:rPr sz="1800" spc="-25" dirty="0"/>
              <a:t> </a:t>
            </a:r>
            <a:r>
              <a:rPr sz="1800" spc="-145" dirty="0"/>
              <a:t>this</a:t>
            </a:r>
            <a:r>
              <a:rPr sz="1800" dirty="0"/>
              <a:t> </a:t>
            </a:r>
            <a:r>
              <a:rPr sz="1800" spc="-55" dirty="0"/>
              <a:t>approximate</a:t>
            </a:r>
            <a:r>
              <a:rPr sz="1800" spc="-20" dirty="0"/>
              <a:t> </a:t>
            </a:r>
            <a:r>
              <a:rPr sz="1800" spc="-60" dirty="0"/>
              <a:t>level</a:t>
            </a:r>
            <a:r>
              <a:rPr sz="1800" spc="-15" dirty="0"/>
              <a:t> </a:t>
            </a:r>
            <a:r>
              <a:rPr sz="1800" dirty="0"/>
              <a:t>of</a:t>
            </a:r>
            <a:r>
              <a:rPr sz="1800" spc="-20" dirty="0"/>
              <a:t> </a:t>
            </a:r>
            <a:r>
              <a:rPr sz="1800" spc="-120" dirty="0"/>
              <a:t>accuracy</a:t>
            </a:r>
            <a:r>
              <a:rPr sz="1800" spc="-5" dirty="0"/>
              <a:t> </a:t>
            </a:r>
            <a:r>
              <a:rPr sz="1800" spc="-160" dirty="0"/>
              <a:t>on</a:t>
            </a:r>
            <a:r>
              <a:rPr sz="1800" spc="-5" dirty="0"/>
              <a:t> </a:t>
            </a:r>
            <a:r>
              <a:rPr sz="1800" spc="-165" dirty="0"/>
              <a:t>my</a:t>
            </a:r>
            <a:r>
              <a:rPr sz="1800" spc="-5" dirty="0"/>
              <a:t> </a:t>
            </a:r>
            <a:r>
              <a:rPr sz="1800" spc="-75" dirty="0"/>
              <a:t>future</a:t>
            </a:r>
            <a:r>
              <a:rPr sz="1800" spc="-25" dirty="0"/>
              <a:t> </a:t>
            </a:r>
            <a:r>
              <a:rPr sz="1800" spc="-204" dirty="0"/>
              <a:t>unseen</a:t>
            </a:r>
            <a:r>
              <a:rPr sz="1800" spc="-5" dirty="0"/>
              <a:t> </a:t>
            </a:r>
            <a:r>
              <a:rPr sz="1800" spc="-10" dirty="0"/>
              <a:t>data?</a:t>
            </a:r>
            <a:endParaRPr sz="1800"/>
          </a:p>
          <a:p>
            <a:pPr>
              <a:lnSpc>
                <a:spcPct val="100000"/>
              </a:lnSpc>
              <a:spcBef>
                <a:spcPts val="65"/>
              </a:spcBef>
              <a:buFont typeface="Wingdings"/>
              <a:buChar char=""/>
            </a:pPr>
            <a:endParaRPr sz="1800"/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4965" algn="l"/>
              </a:tabLst>
            </a:pPr>
            <a:r>
              <a:rPr sz="1800" spc="-229" dirty="0">
                <a:solidFill>
                  <a:srgbClr val="FF0000"/>
                </a:solidFill>
              </a:rPr>
              <a:t>The</a:t>
            </a:r>
            <a:r>
              <a:rPr sz="1800" spc="20" dirty="0">
                <a:solidFill>
                  <a:srgbClr val="FF0000"/>
                </a:solidFill>
              </a:rPr>
              <a:t> </a:t>
            </a:r>
            <a:r>
              <a:rPr sz="1800" spc="-135" dirty="0">
                <a:solidFill>
                  <a:srgbClr val="FF0000"/>
                </a:solidFill>
              </a:rPr>
              <a:t>answer</a:t>
            </a:r>
            <a:r>
              <a:rPr sz="1800" spc="25" dirty="0">
                <a:solidFill>
                  <a:srgbClr val="FF0000"/>
                </a:solidFill>
              </a:rPr>
              <a:t> </a:t>
            </a:r>
            <a:r>
              <a:rPr sz="1800" spc="-160" dirty="0">
                <a:solidFill>
                  <a:srgbClr val="FF0000"/>
                </a:solidFill>
              </a:rPr>
              <a:t>is</a:t>
            </a:r>
            <a:r>
              <a:rPr sz="1800" spc="30" dirty="0">
                <a:solidFill>
                  <a:srgbClr val="FF0000"/>
                </a:solidFill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NO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55" dirty="0">
                <a:solidFill>
                  <a:srgbClr val="000000"/>
                </a:solidFill>
                <a:latin typeface="Verdana"/>
                <a:cs typeface="Verdana"/>
              </a:rPr>
              <a:t>Cross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365" dirty="0">
                <a:solidFill>
                  <a:srgbClr val="000000"/>
                </a:solidFill>
                <a:latin typeface="Verdana"/>
                <a:cs typeface="Verdana"/>
              </a:rPr>
              <a:t>Validation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dirty="0"/>
              <a:t>In</a:t>
            </a:r>
            <a:r>
              <a:rPr spc="295" dirty="0"/>
              <a:t> </a:t>
            </a:r>
            <a:r>
              <a:rPr dirty="0"/>
              <a:t>order</a:t>
            </a:r>
            <a:r>
              <a:rPr spc="300" dirty="0"/>
              <a:t> </a:t>
            </a:r>
            <a:r>
              <a:rPr dirty="0"/>
              <a:t>to</a:t>
            </a:r>
            <a:r>
              <a:rPr spc="305" dirty="0"/>
              <a:t> </a:t>
            </a:r>
            <a:r>
              <a:rPr spc="-10" dirty="0"/>
              <a:t>confidently</a:t>
            </a:r>
            <a:r>
              <a:rPr spc="305" dirty="0"/>
              <a:t> </a:t>
            </a:r>
            <a:r>
              <a:rPr dirty="0"/>
              <a:t>say</a:t>
            </a:r>
            <a:r>
              <a:rPr spc="300" dirty="0"/>
              <a:t> </a:t>
            </a:r>
            <a:r>
              <a:rPr dirty="0"/>
              <a:t>that</a:t>
            </a:r>
            <a:r>
              <a:rPr spc="300" dirty="0"/>
              <a:t> </a:t>
            </a:r>
            <a:r>
              <a:rPr dirty="0"/>
              <a:t>we</a:t>
            </a:r>
            <a:r>
              <a:rPr spc="305" dirty="0"/>
              <a:t> </a:t>
            </a:r>
            <a:r>
              <a:rPr dirty="0"/>
              <a:t>can</a:t>
            </a:r>
            <a:r>
              <a:rPr spc="305" dirty="0"/>
              <a:t> </a:t>
            </a:r>
            <a:r>
              <a:rPr spc="-10" dirty="0"/>
              <a:t>achieve</a:t>
            </a:r>
            <a:r>
              <a:rPr spc="300" dirty="0"/>
              <a:t> </a:t>
            </a:r>
            <a:r>
              <a:rPr dirty="0"/>
              <a:t>an</a:t>
            </a:r>
            <a:r>
              <a:rPr spc="305" dirty="0"/>
              <a:t> </a:t>
            </a:r>
            <a:r>
              <a:rPr spc="-20" dirty="0"/>
              <a:t>accuracy</a:t>
            </a:r>
            <a:r>
              <a:rPr spc="300" dirty="0"/>
              <a:t> </a:t>
            </a:r>
            <a:r>
              <a:rPr spc="-25" dirty="0"/>
              <a:t>of </a:t>
            </a:r>
            <a:r>
              <a:rPr spc="-45" dirty="0"/>
              <a:t>approximately</a:t>
            </a:r>
            <a:r>
              <a:rPr spc="-95" dirty="0"/>
              <a:t> </a:t>
            </a:r>
            <a:r>
              <a:rPr dirty="0"/>
              <a:t>90%</a:t>
            </a:r>
            <a:r>
              <a:rPr spc="-135" dirty="0"/>
              <a:t> </a:t>
            </a:r>
            <a:r>
              <a:rPr spc="-170" dirty="0"/>
              <a:t>on</a:t>
            </a:r>
            <a:r>
              <a:rPr spc="30" dirty="0"/>
              <a:t> </a:t>
            </a:r>
            <a:r>
              <a:rPr spc="-75" dirty="0"/>
              <a:t>future</a:t>
            </a:r>
            <a:r>
              <a:rPr spc="-60" dirty="0"/>
              <a:t> </a:t>
            </a:r>
            <a:r>
              <a:rPr spc="-225" dirty="0"/>
              <a:t>unseen</a:t>
            </a:r>
            <a:r>
              <a:rPr spc="85" dirty="0"/>
              <a:t> </a:t>
            </a:r>
            <a:r>
              <a:rPr spc="-10" dirty="0"/>
              <a:t>data,</a:t>
            </a:r>
            <a:r>
              <a:rPr spc="-100" dirty="0"/>
              <a:t> </a:t>
            </a:r>
            <a:r>
              <a:rPr dirty="0"/>
              <a:t>I</a:t>
            </a:r>
            <a:r>
              <a:rPr spc="-35" dirty="0"/>
              <a:t> </a:t>
            </a:r>
            <a:r>
              <a:rPr spc="-120" dirty="0"/>
              <a:t>need</a:t>
            </a:r>
            <a:r>
              <a:rPr spc="-1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25" dirty="0"/>
              <a:t>first</a:t>
            </a:r>
            <a:r>
              <a:rPr spc="-35" dirty="0"/>
              <a:t> </a:t>
            </a:r>
            <a:r>
              <a:rPr spc="-105" dirty="0"/>
              <a:t>test</a:t>
            </a:r>
            <a:r>
              <a:rPr spc="-35" dirty="0"/>
              <a:t> </a:t>
            </a:r>
            <a:r>
              <a:rPr spc="-155" dirty="0"/>
              <a:t>this</a:t>
            </a:r>
            <a:r>
              <a:rPr spc="20" dirty="0"/>
              <a:t> </a:t>
            </a:r>
            <a:r>
              <a:rPr spc="-40" dirty="0"/>
              <a:t>model </a:t>
            </a:r>
            <a:r>
              <a:rPr spc="-185" dirty="0"/>
              <a:t>on</a:t>
            </a:r>
            <a:r>
              <a:rPr spc="15" dirty="0"/>
              <a:t> </a:t>
            </a:r>
            <a:r>
              <a:rPr spc="-225" dirty="0"/>
              <a:t>unseen</a:t>
            </a:r>
            <a:r>
              <a:rPr spc="15" dirty="0"/>
              <a:t> </a:t>
            </a:r>
            <a:r>
              <a:rPr spc="-20" dirty="0"/>
              <a:t>data.</a:t>
            </a: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pc="-20" dirty="0"/>
          </a:p>
          <a:p>
            <a:pPr marL="355600" marR="5080" indent="-342900" algn="just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pc="-204" dirty="0"/>
              <a:t>But</a:t>
            </a:r>
            <a:r>
              <a:rPr spc="65" dirty="0"/>
              <a:t> </a:t>
            </a:r>
            <a:r>
              <a:rPr spc="-140" dirty="0"/>
              <a:t>how</a:t>
            </a:r>
            <a:r>
              <a:rPr spc="5" dirty="0"/>
              <a:t> </a:t>
            </a:r>
            <a:r>
              <a:rPr dirty="0"/>
              <a:t>do</a:t>
            </a:r>
            <a:r>
              <a:rPr spc="-140" dirty="0"/>
              <a:t> </a:t>
            </a:r>
            <a:r>
              <a:rPr spc="-30" dirty="0"/>
              <a:t>we</a:t>
            </a:r>
            <a:r>
              <a:rPr spc="-105" dirty="0"/>
              <a:t> </a:t>
            </a:r>
            <a:r>
              <a:rPr dirty="0"/>
              <a:t>do</a:t>
            </a:r>
            <a:r>
              <a:rPr spc="-140" dirty="0"/>
              <a:t> </a:t>
            </a:r>
            <a:r>
              <a:rPr spc="-110" dirty="0"/>
              <a:t>that?</a:t>
            </a:r>
            <a:r>
              <a:rPr spc="-25" dirty="0"/>
              <a:t> </a:t>
            </a:r>
            <a:r>
              <a:rPr spc="-30" dirty="0"/>
              <a:t>we</a:t>
            </a:r>
            <a:r>
              <a:rPr spc="-65" dirty="0"/>
              <a:t> </a:t>
            </a:r>
            <a:r>
              <a:rPr spc="-50" dirty="0"/>
              <a:t>had </a:t>
            </a:r>
            <a:r>
              <a:rPr spc="-95" dirty="0"/>
              <a:t>the</a:t>
            </a:r>
            <a:r>
              <a:rPr spc="-45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spc="-150" dirty="0"/>
              <a:t>set</a:t>
            </a:r>
            <a:r>
              <a:rPr spc="10" dirty="0"/>
              <a:t> </a:t>
            </a:r>
            <a:r>
              <a:rPr spc="-55" dirty="0"/>
              <a:t>splitted</a:t>
            </a:r>
            <a:r>
              <a:rPr spc="-50" dirty="0"/>
              <a:t> </a:t>
            </a:r>
            <a:r>
              <a:rPr spc="-70" dirty="0"/>
              <a:t>into</a:t>
            </a:r>
            <a:r>
              <a:rPr spc="-45" dirty="0"/>
              <a:t> </a:t>
            </a:r>
            <a:r>
              <a:rPr dirty="0"/>
              <a:t>70:30</a:t>
            </a:r>
            <a:r>
              <a:rPr spc="-55" dirty="0"/>
              <a:t> </a:t>
            </a:r>
            <a:r>
              <a:rPr dirty="0"/>
              <a:t>ratio</a:t>
            </a:r>
            <a:r>
              <a:rPr spc="-45" dirty="0"/>
              <a:t> </a:t>
            </a:r>
            <a:r>
              <a:rPr spc="-25" dirty="0"/>
              <a:t>of </a:t>
            </a:r>
            <a:r>
              <a:rPr spc="-75" dirty="0"/>
              <a:t>training</a:t>
            </a:r>
            <a:r>
              <a:rPr spc="-65" dirty="0"/>
              <a:t> </a:t>
            </a:r>
            <a:r>
              <a:rPr spc="-85" dirty="0"/>
              <a:t>and</a:t>
            </a:r>
            <a:r>
              <a:rPr spc="-45" dirty="0"/>
              <a:t> </a:t>
            </a:r>
            <a:r>
              <a:rPr spc="-125" dirty="0"/>
              <a:t>test</a:t>
            </a:r>
            <a:r>
              <a:rPr spc="-15" dirty="0"/>
              <a:t> </a:t>
            </a:r>
            <a:r>
              <a:rPr spc="-20" dirty="0"/>
              <a:t>data. </a:t>
            </a:r>
            <a:r>
              <a:rPr dirty="0"/>
              <a:t>We</a:t>
            </a:r>
            <a:r>
              <a:rPr spc="-25" dirty="0"/>
              <a:t> </a:t>
            </a:r>
            <a:r>
              <a:rPr spc="-135" dirty="0"/>
              <a:t>have</a:t>
            </a:r>
            <a:r>
              <a:rPr spc="-10" dirty="0"/>
              <a:t> </a:t>
            </a:r>
            <a:r>
              <a:rPr spc="-190" dirty="0"/>
              <a:t>no</a:t>
            </a:r>
            <a:r>
              <a:rPr spc="-10" dirty="0"/>
              <a:t> </a:t>
            </a:r>
            <a:r>
              <a:rPr spc="-150" dirty="0"/>
              <a:t>more</a:t>
            </a:r>
            <a:r>
              <a:rPr spc="-1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40" dirty="0"/>
              <a:t>available</a:t>
            </a:r>
            <a:r>
              <a:rPr spc="-15" dirty="0"/>
              <a:t> </a:t>
            </a:r>
            <a:r>
              <a:rPr spc="-100" dirty="0"/>
              <a:t>with</a:t>
            </a:r>
            <a:r>
              <a:rPr spc="-25" dirty="0"/>
              <a:t> me.</a:t>
            </a: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pc="-25" dirty="0"/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pc="-185" dirty="0"/>
              <a:t>In</a:t>
            </a:r>
            <a:r>
              <a:rPr spc="-10" dirty="0"/>
              <a:t> </a:t>
            </a:r>
            <a:r>
              <a:rPr spc="-45" dirty="0"/>
              <a:t>order</a:t>
            </a:r>
            <a:r>
              <a:rPr spc="-5" dirty="0"/>
              <a:t> </a:t>
            </a:r>
            <a:r>
              <a:rPr spc="-20" dirty="0"/>
              <a:t>to</a:t>
            </a:r>
            <a:r>
              <a:rPr spc="-10" dirty="0"/>
              <a:t> </a:t>
            </a:r>
            <a:r>
              <a:rPr spc="-155" dirty="0"/>
              <a:t>solve</a:t>
            </a:r>
            <a:r>
              <a:rPr spc="-5" dirty="0"/>
              <a:t> </a:t>
            </a:r>
            <a:r>
              <a:rPr spc="-160" dirty="0"/>
              <a:t>this</a:t>
            </a:r>
            <a:r>
              <a:rPr spc="-10" dirty="0"/>
              <a:t> </a:t>
            </a:r>
            <a:r>
              <a:rPr spc="-95" dirty="0"/>
              <a:t>problem,</a:t>
            </a:r>
            <a:r>
              <a:rPr spc="-5" dirty="0"/>
              <a:t> </a:t>
            </a:r>
            <a:r>
              <a:rPr spc="-105" dirty="0"/>
              <a:t>we</a:t>
            </a:r>
            <a:r>
              <a:rPr spc="-10" dirty="0"/>
              <a:t> </a:t>
            </a:r>
            <a:r>
              <a:rPr spc="-170" dirty="0"/>
              <a:t>can</a:t>
            </a:r>
            <a:r>
              <a:rPr spc="-5" dirty="0"/>
              <a:t> </a:t>
            </a:r>
            <a:r>
              <a:rPr spc="-250" dirty="0"/>
              <a:t>use</a:t>
            </a:r>
            <a:r>
              <a:rPr spc="-5" dirty="0"/>
              <a:t> </a:t>
            </a:r>
            <a:r>
              <a:rPr b="1" spc="-215" dirty="0">
                <a:latin typeface="Arial"/>
                <a:cs typeface="Arial"/>
              </a:rPr>
              <a:t>cross-</a:t>
            </a:r>
            <a:r>
              <a:rPr b="1" spc="-10" dirty="0">
                <a:latin typeface="Arial"/>
                <a:cs typeface="Arial"/>
              </a:rPr>
              <a:t>validation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pc="-10" dirty="0"/>
          </a:p>
          <a:p>
            <a:pPr marL="355600" marR="5080" indent="-342900" algn="just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pc="-155" dirty="0"/>
              <a:t>In</a:t>
            </a:r>
            <a:r>
              <a:rPr spc="15" dirty="0"/>
              <a:t> </a:t>
            </a:r>
            <a:r>
              <a:rPr spc="-185" dirty="0"/>
              <a:t>cross-</a:t>
            </a:r>
            <a:r>
              <a:rPr spc="-55" dirty="0"/>
              <a:t>validation,</a:t>
            </a:r>
            <a:r>
              <a:rPr spc="-75" dirty="0"/>
              <a:t> </a:t>
            </a:r>
            <a:r>
              <a:rPr spc="-100" dirty="0"/>
              <a:t>instead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65" dirty="0"/>
              <a:t>splitting</a:t>
            </a:r>
            <a:r>
              <a:rPr spc="-30" dirty="0"/>
              <a:t> </a:t>
            </a:r>
            <a:r>
              <a:rPr spc="-95" dirty="0"/>
              <a:t>the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70" dirty="0"/>
              <a:t>into</a:t>
            </a:r>
            <a:r>
              <a:rPr spc="-30" dirty="0"/>
              <a:t> two </a:t>
            </a:r>
            <a:r>
              <a:rPr spc="-70" dirty="0"/>
              <a:t>parts,</a:t>
            </a:r>
            <a:r>
              <a:rPr spc="-25" dirty="0"/>
              <a:t> </a:t>
            </a:r>
            <a:r>
              <a:rPr spc="-30" dirty="0"/>
              <a:t>we </a:t>
            </a:r>
            <a:r>
              <a:rPr spc="-55" dirty="0"/>
              <a:t>split</a:t>
            </a:r>
            <a:r>
              <a:rPr spc="-30" dirty="0"/>
              <a:t> </a:t>
            </a:r>
            <a:r>
              <a:rPr spc="-25" dirty="0"/>
              <a:t>it </a:t>
            </a:r>
            <a:r>
              <a:rPr spc="-60" dirty="0"/>
              <a:t>into</a:t>
            </a:r>
            <a:r>
              <a:rPr spc="-80" dirty="0"/>
              <a:t> </a:t>
            </a:r>
            <a:r>
              <a:rPr dirty="0"/>
              <a:t>3.</a:t>
            </a:r>
            <a:r>
              <a:rPr spc="-120" dirty="0"/>
              <a:t> </a:t>
            </a:r>
            <a:r>
              <a:rPr spc="-105" dirty="0"/>
              <a:t>Training</a:t>
            </a:r>
            <a:r>
              <a:rPr spc="-30" dirty="0"/>
              <a:t> </a:t>
            </a:r>
            <a:r>
              <a:rPr dirty="0"/>
              <a:t>data,</a:t>
            </a:r>
            <a:r>
              <a:rPr spc="-65" dirty="0"/>
              <a:t> </a:t>
            </a:r>
            <a:r>
              <a:rPr spc="-185" dirty="0"/>
              <a:t>cross-</a:t>
            </a:r>
            <a:r>
              <a:rPr spc="-45" dirty="0"/>
              <a:t>validation</a:t>
            </a:r>
            <a:r>
              <a:rPr spc="-60" dirty="0"/>
              <a:t> </a:t>
            </a:r>
            <a:r>
              <a:rPr dirty="0"/>
              <a:t>data,</a:t>
            </a:r>
            <a:r>
              <a:rPr spc="-60" dirty="0"/>
              <a:t> </a:t>
            </a:r>
            <a:r>
              <a:rPr spc="-35" dirty="0"/>
              <a:t>and</a:t>
            </a:r>
            <a:r>
              <a:rPr spc="-65" dirty="0"/>
              <a:t> </a:t>
            </a:r>
            <a:r>
              <a:rPr spc="-90" dirty="0"/>
              <a:t>test</a:t>
            </a:r>
            <a:r>
              <a:rPr spc="-50" dirty="0"/>
              <a:t> </a:t>
            </a:r>
            <a:r>
              <a:rPr dirty="0"/>
              <a:t>data.</a:t>
            </a:r>
            <a:r>
              <a:rPr spc="-60" dirty="0"/>
              <a:t> </a:t>
            </a:r>
            <a:r>
              <a:rPr spc="-100" dirty="0"/>
              <a:t>Here,</a:t>
            </a:r>
            <a:r>
              <a:rPr spc="-35" dirty="0"/>
              <a:t> </a:t>
            </a:r>
            <a:r>
              <a:rPr dirty="0"/>
              <a:t>we</a:t>
            </a:r>
            <a:r>
              <a:rPr spc="-65" dirty="0"/>
              <a:t> </a:t>
            </a:r>
            <a:r>
              <a:rPr spc="-100" dirty="0"/>
              <a:t>use </a:t>
            </a:r>
            <a:r>
              <a:rPr spc="-60" dirty="0"/>
              <a:t>training</a:t>
            </a:r>
            <a:r>
              <a:rPr spc="-80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spc="-55" dirty="0"/>
              <a:t>finding</a:t>
            </a:r>
            <a:r>
              <a:rPr spc="-5" dirty="0"/>
              <a:t> </a:t>
            </a:r>
            <a:r>
              <a:rPr spc="-120" dirty="0"/>
              <a:t>nearest</a:t>
            </a:r>
            <a:r>
              <a:rPr spc="-5" dirty="0"/>
              <a:t> </a:t>
            </a:r>
            <a:r>
              <a:rPr spc="-125" dirty="0"/>
              <a:t>neighbors,</a:t>
            </a:r>
            <a:r>
              <a:rPr dirty="0"/>
              <a:t> </a:t>
            </a:r>
            <a:r>
              <a:rPr spc="-55" dirty="0"/>
              <a:t>we</a:t>
            </a:r>
            <a:r>
              <a:rPr dirty="0"/>
              <a:t> </a:t>
            </a:r>
            <a:r>
              <a:rPr spc="-280" dirty="0"/>
              <a:t>use</a:t>
            </a:r>
            <a:r>
              <a:rPr spc="145" dirty="0"/>
              <a:t> </a:t>
            </a:r>
            <a:r>
              <a:rPr spc="-185" dirty="0"/>
              <a:t>cross-</a:t>
            </a:r>
            <a:r>
              <a:rPr spc="-50" dirty="0"/>
              <a:t>validation</a:t>
            </a:r>
            <a:r>
              <a:rPr dirty="0"/>
              <a:t> </a:t>
            </a:r>
            <a:r>
              <a:rPr spc="-20" dirty="0"/>
              <a:t>data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find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30" dirty="0"/>
              <a:t>best</a:t>
            </a:r>
            <a:r>
              <a:rPr spc="20" dirty="0"/>
              <a:t> </a:t>
            </a:r>
            <a:r>
              <a:rPr spc="-35" dirty="0"/>
              <a:t>value</a:t>
            </a:r>
            <a:r>
              <a:rPr spc="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“K”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finally</a:t>
            </a:r>
            <a:r>
              <a:rPr spc="15" dirty="0"/>
              <a:t> </a:t>
            </a:r>
            <a:r>
              <a:rPr dirty="0"/>
              <a:t>we</a:t>
            </a:r>
            <a:r>
              <a:rPr spc="20" dirty="0"/>
              <a:t> </a:t>
            </a:r>
            <a:r>
              <a:rPr spc="-30" dirty="0"/>
              <a:t>test</a:t>
            </a:r>
            <a:r>
              <a:rPr spc="15" dirty="0"/>
              <a:t> </a:t>
            </a:r>
            <a:r>
              <a:rPr dirty="0"/>
              <a:t>our</a:t>
            </a:r>
            <a:r>
              <a:rPr spc="20" dirty="0"/>
              <a:t> </a:t>
            </a:r>
            <a:r>
              <a:rPr spc="-55" dirty="0"/>
              <a:t>model</a:t>
            </a:r>
            <a:r>
              <a:rPr spc="10" dirty="0"/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spc="-10" dirty="0"/>
              <a:t>totally </a:t>
            </a:r>
            <a:r>
              <a:rPr spc="-200" dirty="0"/>
              <a:t>unseen</a:t>
            </a:r>
            <a:r>
              <a:rPr spc="60" dirty="0"/>
              <a:t> </a:t>
            </a:r>
            <a:r>
              <a:rPr spc="-55" dirty="0"/>
              <a:t>test</a:t>
            </a:r>
            <a:r>
              <a:rPr spc="-80" dirty="0"/>
              <a:t> </a:t>
            </a:r>
            <a:r>
              <a:rPr dirty="0"/>
              <a:t>data.</a:t>
            </a:r>
            <a:r>
              <a:rPr spc="-40" dirty="0"/>
              <a:t> </a:t>
            </a:r>
            <a:r>
              <a:rPr spc="-204" dirty="0"/>
              <a:t>This</a:t>
            </a:r>
            <a:r>
              <a:rPr spc="65" dirty="0"/>
              <a:t> </a:t>
            </a:r>
            <a:r>
              <a:rPr spc="-55" dirty="0"/>
              <a:t>test</a:t>
            </a:r>
            <a:r>
              <a:rPr spc="15" dirty="0"/>
              <a:t> </a:t>
            </a:r>
            <a:r>
              <a:rPr dirty="0"/>
              <a:t>data</a:t>
            </a:r>
            <a:r>
              <a:rPr spc="10" dirty="0"/>
              <a:t> </a:t>
            </a:r>
            <a:r>
              <a:rPr spc="-10" dirty="0"/>
              <a:t>is</a:t>
            </a:r>
            <a:r>
              <a:rPr spc="15" dirty="0"/>
              <a:t> </a:t>
            </a:r>
            <a:r>
              <a:rPr spc="-75" dirty="0"/>
              <a:t>equivalent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20" dirty="0"/>
              <a:t>the</a:t>
            </a:r>
            <a:r>
              <a:rPr spc="20" dirty="0"/>
              <a:t> </a:t>
            </a:r>
            <a:r>
              <a:rPr spc="-40" dirty="0"/>
              <a:t>future</a:t>
            </a:r>
            <a:r>
              <a:rPr spc="15" dirty="0"/>
              <a:t> </a:t>
            </a:r>
            <a:r>
              <a:rPr spc="-200" dirty="0"/>
              <a:t>unseen</a:t>
            </a:r>
            <a:r>
              <a:rPr spc="60" dirty="0"/>
              <a:t> </a:t>
            </a:r>
            <a:r>
              <a:rPr spc="-20" dirty="0"/>
              <a:t>data </a:t>
            </a:r>
            <a:r>
              <a:rPr spc="-10" dirty="0"/>
              <a:t>points.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55" dirty="0">
                <a:solidFill>
                  <a:srgbClr val="000000"/>
                </a:solidFill>
                <a:latin typeface="Verdana"/>
                <a:cs typeface="Verdana"/>
              </a:rPr>
              <a:t>Cross</a:t>
            </a:r>
            <a:r>
              <a:rPr sz="400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365" dirty="0">
                <a:solidFill>
                  <a:srgbClr val="000000"/>
                </a:solidFill>
                <a:latin typeface="Verdana"/>
                <a:cs typeface="Verdana"/>
              </a:rPr>
              <a:t>Validation-</a:t>
            </a:r>
            <a:r>
              <a:rPr sz="4000" spc="-480" dirty="0">
                <a:solidFill>
                  <a:srgbClr val="000000"/>
                </a:solidFill>
                <a:latin typeface="Verdana"/>
                <a:cs typeface="Verdana"/>
              </a:rPr>
              <a:t>Holdout</a:t>
            </a:r>
            <a:r>
              <a:rPr sz="4000" spc="-2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700" dirty="0">
                <a:solidFill>
                  <a:srgbClr val="000000"/>
                </a:solidFill>
                <a:latin typeface="Verdana"/>
                <a:cs typeface="Verdana"/>
              </a:rPr>
              <a:t>vs</a:t>
            </a:r>
            <a:r>
              <a:rPr sz="4000" spc="-2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55" dirty="0">
                <a:solidFill>
                  <a:srgbClr val="000000"/>
                </a:solidFill>
                <a:latin typeface="Verdana"/>
                <a:cs typeface="Verdana"/>
              </a:rPr>
              <a:t>k-</a:t>
            </a:r>
            <a:r>
              <a:rPr sz="4000" spc="-265" dirty="0">
                <a:solidFill>
                  <a:srgbClr val="000000"/>
                </a:solidFill>
                <a:latin typeface="Verdana"/>
                <a:cs typeface="Verdana"/>
              </a:rPr>
              <a:t>fold</a:t>
            </a:r>
            <a:r>
              <a:rPr sz="4000" spc="-2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700" y="1499108"/>
            <a:ext cx="4217670" cy="4960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2900" algn="just">
              <a:lnSpc>
                <a:spcPct val="99400"/>
              </a:lnSpc>
              <a:spcBef>
                <a:spcPts val="110"/>
              </a:spcBef>
              <a:buFont typeface="Wingdings"/>
              <a:buChar char=""/>
              <a:tabLst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you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above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image,</a:t>
            </a:r>
            <a:r>
              <a:rPr sz="1800" spc="-30" dirty="0">
                <a:latin typeface="Arial MT"/>
                <a:cs typeface="Arial MT"/>
              </a:rPr>
              <a:t> we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have </a:t>
            </a:r>
            <a:r>
              <a:rPr sz="1800" dirty="0">
                <a:latin typeface="Arial MT"/>
                <a:cs typeface="Arial MT"/>
              </a:rPr>
              <a:t>split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ratio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60:20:20, </a:t>
            </a:r>
            <a:r>
              <a:rPr sz="1800" spc="-45" dirty="0">
                <a:latin typeface="Arial MT"/>
                <a:cs typeface="Arial MT"/>
              </a:rPr>
              <a:t>where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use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60%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train </a:t>
            </a:r>
            <a:r>
              <a:rPr sz="1800" spc="-20" dirty="0">
                <a:latin typeface="Arial MT"/>
                <a:cs typeface="Arial MT"/>
              </a:rPr>
              <a:t>our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model,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20%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cross-</a:t>
            </a:r>
            <a:r>
              <a:rPr sz="1800" spc="-40" dirty="0">
                <a:latin typeface="Arial MT"/>
                <a:cs typeface="Arial MT"/>
              </a:rPr>
              <a:t>validation,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spc="-114" dirty="0">
                <a:latin typeface="Arial MT"/>
                <a:cs typeface="Arial MT"/>
              </a:rPr>
              <a:t>rest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20%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testing.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99700"/>
              </a:lnSpc>
              <a:buFont typeface="Wingdings"/>
              <a:buChar char=""/>
              <a:tabLst>
                <a:tab pos="355600" algn="l"/>
              </a:tabLst>
            </a:pPr>
            <a:r>
              <a:rPr sz="1800" spc="-50" dirty="0">
                <a:latin typeface="Arial MT"/>
                <a:cs typeface="Arial MT"/>
              </a:rPr>
              <a:t>In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this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process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cross-</a:t>
            </a:r>
            <a:r>
              <a:rPr sz="1800" spc="-40" dirty="0">
                <a:latin typeface="Arial MT"/>
                <a:cs typeface="Arial MT"/>
              </a:rPr>
              <a:t>validation,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are </a:t>
            </a:r>
            <a:r>
              <a:rPr sz="1800" spc="-80" dirty="0">
                <a:latin typeface="Arial MT"/>
                <a:cs typeface="Arial MT"/>
              </a:rPr>
              <a:t>losing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almost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20%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which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we </a:t>
            </a:r>
            <a:r>
              <a:rPr sz="1800" dirty="0">
                <a:latin typeface="Arial MT"/>
                <a:cs typeface="Arial MT"/>
              </a:rPr>
              <a:t>would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otherwise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used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training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43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it’s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43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known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fact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the </a:t>
            </a:r>
            <a:r>
              <a:rPr sz="1800" spc="-65" dirty="0">
                <a:latin typeface="Arial MT"/>
                <a:cs typeface="Arial MT"/>
              </a:rPr>
              <a:t>training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data,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better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is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algorithm.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99400"/>
              </a:lnSpc>
              <a:buFont typeface="Wingdings"/>
              <a:buChar char=""/>
              <a:tabLst>
                <a:tab pos="355600" algn="l"/>
              </a:tabLst>
            </a:pPr>
            <a:r>
              <a:rPr sz="1800" spc="-45" dirty="0">
                <a:latin typeface="Arial MT"/>
                <a:cs typeface="Arial MT"/>
              </a:rPr>
              <a:t>So,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there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way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somehow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use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that </a:t>
            </a:r>
            <a:r>
              <a:rPr sz="1800" dirty="0">
                <a:latin typeface="Arial MT"/>
                <a:cs typeface="Arial MT"/>
              </a:rPr>
              <a:t>20%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cross-</a:t>
            </a:r>
            <a:r>
              <a:rPr sz="1800" spc="-10" dirty="0">
                <a:latin typeface="Arial MT"/>
                <a:cs typeface="Arial MT"/>
              </a:rPr>
              <a:t>validation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under </a:t>
            </a:r>
            <a:r>
              <a:rPr sz="1800" spc="-65" dirty="0">
                <a:latin typeface="Arial MT"/>
                <a:cs typeface="Arial MT"/>
              </a:rPr>
              <a:t>training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data?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355600" marR="5715" indent="-342900" algn="just">
              <a:lnSpc>
                <a:spcPts val="211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1800" i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800" i="1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114" dirty="0">
                <a:solidFill>
                  <a:srgbClr val="FF0000"/>
                </a:solidFill>
                <a:latin typeface="Arial"/>
                <a:cs typeface="Arial"/>
              </a:rPr>
              <a:t>answer</a:t>
            </a:r>
            <a:r>
              <a:rPr sz="1800" i="1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800" i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800" i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100" dirty="0">
                <a:solidFill>
                  <a:srgbClr val="FF0000"/>
                </a:solidFill>
                <a:latin typeface="Arial"/>
                <a:cs typeface="Arial"/>
              </a:rPr>
              <a:t>question</a:t>
            </a:r>
            <a:r>
              <a:rPr sz="1800" i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800" i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70" dirty="0">
                <a:solidFill>
                  <a:srgbClr val="FF0000"/>
                </a:solidFill>
                <a:latin typeface="Arial"/>
                <a:cs typeface="Arial"/>
              </a:rPr>
              <a:t>k-</a:t>
            </a:r>
            <a:r>
              <a:rPr sz="1800" i="1" spc="-20" dirty="0">
                <a:solidFill>
                  <a:srgbClr val="FF0000"/>
                </a:solidFill>
                <a:latin typeface="Arial"/>
                <a:cs typeface="Arial"/>
              </a:rPr>
              <a:t>fold </a:t>
            </a:r>
            <a:r>
              <a:rPr sz="1800" i="1" spc="-170" dirty="0">
                <a:solidFill>
                  <a:srgbClr val="FF0000"/>
                </a:solidFill>
                <a:latin typeface="Arial"/>
                <a:cs typeface="Arial"/>
              </a:rPr>
              <a:t>cross-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validation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2341073"/>
            <a:ext cx="4648200" cy="32040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55" dirty="0">
                <a:solidFill>
                  <a:srgbClr val="000000"/>
                </a:solidFill>
                <a:latin typeface="Verdana"/>
                <a:cs typeface="Verdana"/>
              </a:rPr>
              <a:t>k-</a:t>
            </a:r>
            <a:r>
              <a:rPr sz="4000" spc="-265" dirty="0">
                <a:solidFill>
                  <a:srgbClr val="000000"/>
                </a:solidFill>
                <a:latin typeface="Verdana"/>
                <a:cs typeface="Verdana"/>
              </a:rPr>
              <a:t>fold</a:t>
            </a:r>
            <a:r>
              <a:rPr sz="4000" spc="-2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55" dirty="0">
                <a:solidFill>
                  <a:srgbClr val="000000"/>
                </a:solidFill>
                <a:latin typeface="Verdana"/>
                <a:cs typeface="Verdana"/>
              </a:rPr>
              <a:t>Cross</a:t>
            </a:r>
            <a:r>
              <a:rPr sz="4000" spc="-2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355" dirty="0">
                <a:solidFill>
                  <a:srgbClr val="000000"/>
                </a:solidFill>
                <a:latin typeface="Verdana"/>
                <a:cs typeface="Verdana"/>
              </a:rPr>
              <a:t>Validation</a:t>
            </a:r>
            <a:r>
              <a:rPr sz="400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2600" y="1516379"/>
            <a:ext cx="8331834" cy="1296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43180" indent="-3429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93700" algn="l"/>
              </a:tabLst>
            </a:pP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splitting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total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set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(D</a:t>
            </a:r>
            <a:r>
              <a:rPr sz="1950" spc="-187" baseline="-17094" dirty="0">
                <a:latin typeface="Arial MT"/>
                <a:cs typeface="Arial MT"/>
              </a:rPr>
              <a:t>n</a:t>
            </a:r>
            <a:r>
              <a:rPr sz="2000" spc="-125" dirty="0">
                <a:latin typeface="Arial MT"/>
                <a:cs typeface="Arial MT"/>
              </a:rPr>
              <a:t>)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into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training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(D</a:t>
            </a:r>
            <a:r>
              <a:rPr sz="1950" spc="-135" baseline="-17094" dirty="0">
                <a:latin typeface="Arial MT"/>
                <a:cs typeface="Arial MT"/>
              </a:rPr>
              <a:t>Train</a:t>
            </a:r>
            <a:r>
              <a:rPr sz="2000" spc="-90" dirty="0">
                <a:latin typeface="Arial MT"/>
                <a:cs typeface="Arial MT"/>
              </a:rPr>
              <a:t>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test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(D</a:t>
            </a:r>
            <a:r>
              <a:rPr sz="1950" spc="-187" baseline="-17094" dirty="0">
                <a:latin typeface="Arial MT"/>
                <a:cs typeface="Arial MT"/>
              </a:rPr>
              <a:t>Test</a:t>
            </a:r>
            <a:r>
              <a:rPr sz="2000" spc="-125" dirty="0">
                <a:latin typeface="Arial MT"/>
                <a:cs typeface="Arial MT"/>
              </a:rPr>
              <a:t>)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data </a:t>
            </a:r>
            <a:r>
              <a:rPr sz="2000" spc="-105" dirty="0">
                <a:latin typeface="Arial MT"/>
                <a:cs typeface="Arial MT"/>
              </a:rPr>
              <a:t>set,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5" dirty="0">
                <a:latin typeface="Arial MT"/>
                <a:cs typeface="Arial MT"/>
              </a:rPr>
              <a:t> 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ratio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80:20,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further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spc="-110" dirty="0">
                <a:latin typeface="Arial"/>
                <a:cs typeface="Arial"/>
              </a:rPr>
              <a:t>randomly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spc="-30" dirty="0">
                <a:latin typeface="Arial MT"/>
                <a:cs typeface="Arial MT"/>
              </a:rPr>
              <a:t>split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training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into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4 </a:t>
            </a:r>
            <a:r>
              <a:rPr sz="2000" spc="-75" dirty="0">
                <a:latin typeface="Arial MT"/>
                <a:cs typeface="Arial MT"/>
              </a:rPr>
              <a:t>equal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parts.</a:t>
            </a:r>
            <a:endParaRPr sz="2000">
              <a:latin typeface="Arial MT"/>
              <a:cs typeface="Arial MT"/>
            </a:endParaRPr>
          </a:p>
          <a:p>
            <a:pPr marL="747395" algn="ctr">
              <a:lnSpc>
                <a:spcPct val="100000"/>
              </a:lnSpc>
              <a:spcBef>
                <a:spcPts val="405"/>
              </a:spcBef>
            </a:pPr>
            <a:r>
              <a:rPr sz="3000" b="1" spc="-15" baseline="11111" dirty="0">
                <a:latin typeface="Arial"/>
                <a:cs typeface="Arial"/>
              </a:rPr>
              <a:t>D</a:t>
            </a:r>
            <a:r>
              <a:rPr sz="1300" b="1" spc="-10" dirty="0">
                <a:latin typeface="Arial"/>
                <a:cs typeface="Arial"/>
              </a:rPr>
              <a:t>Train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300" y="3954779"/>
            <a:ext cx="8306434" cy="267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81000" algn="l"/>
              </a:tabLst>
            </a:pP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17094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,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17094" dirty="0">
                <a:latin typeface="Arial MT"/>
                <a:cs typeface="Arial MT"/>
              </a:rPr>
              <a:t>2</a:t>
            </a:r>
            <a:r>
              <a:rPr sz="2000" spc="-25" dirty="0">
                <a:latin typeface="Arial MT"/>
                <a:cs typeface="Arial MT"/>
              </a:rPr>
              <a:t>,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17094" dirty="0">
                <a:latin typeface="Arial MT"/>
                <a:cs typeface="Arial MT"/>
              </a:rPr>
              <a:t>3</a:t>
            </a:r>
            <a:r>
              <a:rPr sz="2000" spc="-25" dirty="0">
                <a:latin typeface="Arial MT"/>
                <a:cs typeface="Arial MT"/>
              </a:rPr>
              <a:t>,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</a:t>
            </a:r>
            <a:r>
              <a:rPr sz="1950" baseline="-17094" dirty="0">
                <a:latin typeface="Arial MT"/>
                <a:cs typeface="Arial MT"/>
              </a:rPr>
              <a:t>4</a:t>
            </a:r>
            <a:r>
              <a:rPr sz="1950" spc="412" baseline="-1709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the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four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65" dirty="0">
                <a:latin typeface="Arial MT"/>
                <a:cs typeface="Arial MT"/>
              </a:rPr>
              <a:t>randomly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split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equal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parts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70" dirty="0">
                <a:latin typeface="Arial MT"/>
                <a:cs typeface="Arial MT"/>
              </a:rPr>
              <a:t>D</a:t>
            </a:r>
            <a:r>
              <a:rPr sz="1950" spc="-104" baseline="-17094" dirty="0">
                <a:latin typeface="Arial MT"/>
                <a:cs typeface="Arial MT"/>
              </a:rPr>
              <a:t>Train</a:t>
            </a:r>
            <a:r>
              <a:rPr sz="2000" spc="-70" dirty="0">
                <a:latin typeface="Arial MT"/>
                <a:cs typeface="Arial MT"/>
              </a:rPr>
              <a:t>.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Once </a:t>
            </a:r>
            <a:r>
              <a:rPr sz="2000" spc="-125" dirty="0">
                <a:latin typeface="Arial MT"/>
                <a:cs typeface="Arial MT"/>
              </a:rPr>
              <a:t>done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splitting,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we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proceed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as</a:t>
            </a:r>
            <a:r>
              <a:rPr sz="2000" spc="-10" dirty="0">
                <a:latin typeface="Arial MT"/>
                <a:cs typeface="Arial MT"/>
              </a:rPr>
              <a:t> follows:</a:t>
            </a:r>
            <a:endParaRPr sz="2000">
              <a:latin typeface="Arial MT"/>
              <a:cs typeface="Arial MT"/>
            </a:endParaRPr>
          </a:p>
          <a:p>
            <a:pPr marL="495300" marR="31115">
              <a:lnSpc>
                <a:spcPts val="1920"/>
              </a:lnSpc>
              <a:spcBef>
                <a:spcPts val="55"/>
              </a:spcBef>
            </a:pPr>
            <a:r>
              <a:rPr sz="1600" spc="-200" dirty="0">
                <a:latin typeface="Verdana"/>
                <a:cs typeface="Verdana"/>
              </a:rPr>
              <a:t>Step-</a:t>
            </a:r>
            <a:r>
              <a:rPr sz="1600" spc="-254" dirty="0">
                <a:latin typeface="Verdana"/>
                <a:cs typeface="Verdana"/>
              </a:rPr>
              <a:t>1: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85" dirty="0">
                <a:latin typeface="Verdana"/>
                <a:cs typeface="Verdana"/>
              </a:rPr>
              <a:t>For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K=1,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210" dirty="0">
                <a:latin typeface="Verdana"/>
                <a:cs typeface="Verdana"/>
              </a:rPr>
              <a:t>we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75" dirty="0">
                <a:latin typeface="Verdana"/>
                <a:cs typeface="Verdana"/>
              </a:rPr>
              <a:t>pick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D1,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D2,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60" dirty="0">
                <a:latin typeface="Verdana"/>
                <a:cs typeface="Verdana"/>
              </a:rPr>
              <a:t>and</a:t>
            </a:r>
            <a:r>
              <a:rPr sz="1600" spc="60" dirty="0">
                <a:latin typeface="Verdana"/>
                <a:cs typeface="Verdana"/>
              </a:rPr>
              <a:t> </a:t>
            </a:r>
            <a:r>
              <a:rPr sz="1600" spc="-210" dirty="0">
                <a:latin typeface="Verdana"/>
                <a:cs typeface="Verdana"/>
              </a:rPr>
              <a:t>D3</a:t>
            </a:r>
            <a:r>
              <a:rPr sz="1600" spc="60" dirty="0">
                <a:latin typeface="Verdana"/>
                <a:cs typeface="Verdana"/>
              </a:rPr>
              <a:t> </a:t>
            </a:r>
            <a:r>
              <a:rPr sz="1600" spc="-195" dirty="0">
                <a:latin typeface="Verdana"/>
                <a:cs typeface="Verdana"/>
              </a:rPr>
              <a:t>as</a:t>
            </a:r>
            <a:r>
              <a:rPr sz="1600" spc="6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our</a:t>
            </a:r>
            <a:r>
              <a:rPr sz="1600" spc="60" dirty="0">
                <a:latin typeface="Verdana"/>
                <a:cs typeface="Verdana"/>
              </a:rPr>
              <a:t> </a:t>
            </a:r>
            <a:r>
              <a:rPr sz="1600" spc="-170" dirty="0">
                <a:latin typeface="Verdana"/>
                <a:cs typeface="Verdana"/>
              </a:rPr>
              <a:t>training</a:t>
            </a:r>
            <a:r>
              <a:rPr sz="1600" spc="65" dirty="0">
                <a:latin typeface="Verdana"/>
                <a:cs typeface="Verdana"/>
              </a:rPr>
              <a:t> </a:t>
            </a:r>
            <a:r>
              <a:rPr sz="1600" spc="-100" dirty="0">
                <a:latin typeface="Verdana"/>
                <a:cs typeface="Verdana"/>
              </a:rPr>
              <a:t>data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set</a:t>
            </a:r>
            <a:r>
              <a:rPr sz="1600" spc="60" dirty="0">
                <a:latin typeface="Verdana"/>
                <a:cs typeface="Verdana"/>
              </a:rPr>
              <a:t> </a:t>
            </a:r>
            <a:r>
              <a:rPr sz="1600" spc="-160" dirty="0">
                <a:latin typeface="Verdana"/>
                <a:cs typeface="Verdana"/>
              </a:rPr>
              <a:t>and</a:t>
            </a:r>
            <a:r>
              <a:rPr sz="1600" spc="60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set</a:t>
            </a:r>
            <a:r>
              <a:rPr sz="1600" spc="60" dirty="0">
                <a:latin typeface="Verdana"/>
                <a:cs typeface="Verdana"/>
              </a:rPr>
              <a:t> </a:t>
            </a:r>
            <a:r>
              <a:rPr sz="1600" spc="-210" dirty="0">
                <a:latin typeface="Verdana"/>
                <a:cs typeface="Verdana"/>
              </a:rPr>
              <a:t>D4</a:t>
            </a:r>
            <a:r>
              <a:rPr sz="1600" spc="60" dirty="0">
                <a:latin typeface="Verdana"/>
                <a:cs typeface="Verdana"/>
              </a:rPr>
              <a:t> </a:t>
            </a:r>
            <a:r>
              <a:rPr sz="1600" spc="-195" dirty="0">
                <a:latin typeface="Verdana"/>
                <a:cs typeface="Verdana"/>
              </a:rPr>
              <a:t>as</a:t>
            </a:r>
            <a:r>
              <a:rPr sz="1600" spc="6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our</a:t>
            </a:r>
            <a:r>
              <a:rPr sz="1600" spc="60" dirty="0">
                <a:latin typeface="Verdana"/>
                <a:cs typeface="Verdana"/>
              </a:rPr>
              <a:t> </a:t>
            </a:r>
            <a:r>
              <a:rPr sz="1600" spc="-165" dirty="0">
                <a:latin typeface="Verdana"/>
                <a:cs typeface="Verdana"/>
              </a:rPr>
              <a:t>cross- </a:t>
            </a:r>
            <a:r>
              <a:rPr sz="1600" spc="-160" dirty="0">
                <a:latin typeface="Verdana"/>
                <a:cs typeface="Verdana"/>
              </a:rPr>
              <a:t>validation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130" dirty="0">
                <a:latin typeface="Verdana"/>
                <a:cs typeface="Verdana"/>
              </a:rPr>
              <a:t>data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175" dirty="0">
                <a:latin typeface="Verdana"/>
                <a:cs typeface="Verdana"/>
              </a:rPr>
              <a:t>and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145" dirty="0">
                <a:latin typeface="Verdana"/>
                <a:cs typeface="Verdana"/>
              </a:rPr>
              <a:t>find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the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nearest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neighbors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75" dirty="0">
                <a:latin typeface="Verdana"/>
                <a:cs typeface="Verdana"/>
              </a:rPr>
              <a:t>and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170" dirty="0">
                <a:latin typeface="Verdana"/>
                <a:cs typeface="Verdana"/>
              </a:rPr>
              <a:t>calculate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its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70" dirty="0">
                <a:latin typeface="Verdana"/>
                <a:cs typeface="Verdana"/>
              </a:rPr>
              <a:t>accuracy.</a:t>
            </a:r>
            <a:endParaRPr sz="1600">
              <a:latin typeface="Verdana"/>
              <a:cs typeface="Verdana"/>
            </a:endParaRPr>
          </a:p>
          <a:p>
            <a:pPr marL="495300">
              <a:lnSpc>
                <a:spcPts val="1830"/>
              </a:lnSpc>
            </a:pPr>
            <a:r>
              <a:rPr sz="1600" spc="-200" dirty="0">
                <a:latin typeface="Verdana"/>
                <a:cs typeface="Verdana"/>
              </a:rPr>
              <a:t>Step-</a:t>
            </a:r>
            <a:r>
              <a:rPr sz="1600" spc="-254" dirty="0">
                <a:latin typeface="Verdana"/>
                <a:cs typeface="Verdana"/>
              </a:rPr>
              <a:t>2: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65" dirty="0">
                <a:latin typeface="Verdana"/>
                <a:cs typeface="Verdana"/>
              </a:rPr>
              <a:t>Again,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0" dirty="0">
                <a:latin typeface="Verdana"/>
                <a:cs typeface="Verdana"/>
              </a:rPr>
              <a:t>for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220" dirty="0">
                <a:latin typeface="Verdana"/>
                <a:cs typeface="Verdana"/>
              </a:rPr>
              <a:t>K=1,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215" dirty="0">
                <a:latin typeface="Verdana"/>
                <a:cs typeface="Verdana"/>
              </a:rPr>
              <a:t>we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85" dirty="0">
                <a:latin typeface="Verdana"/>
                <a:cs typeface="Verdana"/>
              </a:rPr>
              <a:t>pick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D1,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D2,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70" dirty="0">
                <a:latin typeface="Verdana"/>
                <a:cs typeface="Verdana"/>
              </a:rPr>
              <a:t>and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D4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as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220" dirty="0">
                <a:latin typeface="Verdana"/>
                <a:cs typeface="Verdana"/>
              </a:rPr>
              <a:t>our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75" dirty="0">
                <a:latin typeface="Verdana"/>
                <a:cs typeface="Verdana"/>
              </a:rPr>
              <a:t>training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14" dirty="0">
                <a:latin typeface="Verdana"/>
                <a:cs typeface="Verdana"/>
              </a:rPr>
              <a:t>data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220" dirty="0">
                <a:latin typeface="Verdana"/>
                <a:cs typeface="Verdana"/>
              </a:rPr>
              <a:t>set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70" dirty="0">
                <a:latin typeface="Verdana"/>
                <a:cs typeface="Verdana"/>
              </a:rPr>
              <a:t>and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220" dirty="0">
                <a:latin typeface="Verdana"/>
                <a:cs typeface="Verdana"/>
              </a:rPr>
              <a:t>set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D3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as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our</a:t>
            </a:r>
            <a:endParaRPr sz="1600">
              <a:latin typeface="Verdana"/>
              <a:cs typeface="Verdana"/>
            </a:endParaRPr>
          </a:p>
          <a:p>
            <a:pPr marL="495300">
              <a:lnSpc>
                <a:spcPts val="1910"/>
              </a:lnSpc>
              <a:spcBef>
                <a:spcPts val="70"/>
              </a:spcBef>
            </a:pPr>
            <a:r>
              <a:rPr sz="1600" spc="-240" dirty="0">
                <a:latin typeface="Verdana"/>
                <a:cs typeface="Verdana"/>
              </a:rPr>
              <a:t>cross-</a:t>
            </a:r>
            <a:r>
              <a:rPr sz="1600" spc="-160" dirty="0">
                <a:latin typeface="Verdana"/>
                <a:cs typeface="Verdana"/>
              </a:rPr>
              <a:t>validation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155" dirty="0">
                <a:latin typeface="Verdana"/>
                <a:cs typeface="Verdana"/>
              </a:rPr>
              <a:t>data,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215" dirty="0">
                <a:latin typeface="Verdana"/>
                <a:cs typeface="Verdana"/>
              </a:rPr>
              <a:t>we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45" dirty="0">
                <a:latin typeface="Verdana"/>
                <a:cs typeface="Verdana"/>
              </a:rPr>
              <a:t>find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the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nearest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neighbors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75" dirty="0">
                <a:latin typeface="Verdana"/>
                <a:cs typeface="Verdana"/>
              </a:rPr>
              <a:t>and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70" dirty="0">
                <a:latin typeface="Verdana"/>
                <a:cs typeface="Verdana"/>
              </a:rPr>
              <a:t>calculate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its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accuracy.</a:t>
            </a:r>
            <a:endParaRPr sz="1600">
              <a:latin typeface="Verdana"/>
              <a:cs typeface="Verdana"/>
            </a:endParaRPr>
          </a:p>
          <a:p>
            <a:pPr marL="495300" marR="30480" algn="just">
              <a:lnSpc>
                <a:spcPct val="99400"/>
              </a:lnSpc>
            </a:pPr>
            <a:r>
              <a:rPr sz="1600" spc="-175" dirty="0">
                <a:latin typeface="Verdana"/>
                <a:cs typeface="Verdana"/>
              </a:rPr>
              <a:t>Repeat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the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165" dirty="0">
                <a:latin typeface="Verdana"/>
                <a:cs typeface="Verdana"/>
              </a:rPr>
              <a:t>above</a:t>
            </a:r>
            <a:r>
              <a:rPr sz="1600" spc="315" dirty="0">
                <a:latin typeface="Verdana"/>
                <a:cs typeface="Verdana"/>
              </a:rPr>
              <a:t> </a:t>
            </a:r>
            <a:r>
              <a:rPr sz="1600" spc="-220" dirty="0">
                <a:latin typeface="Verdana"/>
                <a:cs typeface="Verdana"/>
              </a:rPr>
              <a:t>steps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215" dirty="0">
                <a:latin typeface="Verdana"/>
                <a:cs typeface="Verdana"/>
              </a:rPr>
              <a:t>with</a:t>
            </a:r>
            <a:r>
              <a:rPr sz="1600" spc="315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D2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175" dirty="0">
                <a:latin typeface="Verdana"/>
                <a:cs typeface="Verdana"/>
              </a:rPr>
              <a:t>and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204" dirty="0">
                <a:latin typeface="Verdana"/>
                <a:cs typeface="Verdana"/>
              </a:rPr>
              <a:t>D1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200" dirty="0">
                <a:latin typeface="Verdana"/>
                <a:cs typeface="Verdana"/>
              </a:rPr>
              <a:t>as</a:t>
            </a:r>
            <a:r>
              <a:rPr sz="1600" spc="325" dirty="0">
                <a:latin typeface="Verdana"/>
                <a:cs typeface="Verdana"/>
              </a:rPr>
              <a:t> </a:t>
            </a:r>
            <a:r>
              <a:rPr sz="1600" spc="-235" dirty="0">
                <a:latin typeface="Verdana"/>
                <a:cs typeface="Verdana"/>
              </a:rPr>
              <a:t>cross-</a:t>
            </a:r>
            <a:r>
              <a:rPr sz="1600" spc="-155" dirty="0">
                <a:latin typeface="Verdana"/>
                <a:cs typeface="Verdana"/>
              </a:rPr>
              <a:t>validation</a:t>
            </a:r>
            <a:r>
              <a:rPr sz="1600" spc="315" dirty="0">
                <a:latin typeface="Verdana"/>
                <a:cs typeface="Verdana"/>
              </a:rPr>
              <a:t> </a:t>
            </a:r>
            <a:r>
              <a:rPr sz="1600" spc="-125" dirty="0">
                <a:latin typeface="Verdana"/>
                <a:cs typeface="Verdana"/>
              </a:rPr>
              <a:t>data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220" dirty="0">
                <a:latin typeface="Verdana"/>
                <a:cs typeface="Verdana"/>
              </a:rPr>
              <a:t>set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175" dirty="0">
                <a:latin typeface="Verdana"/>
                <a:cs typeface="Verdana"/>
              </a:rPr>
              <a:t>and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165" dirty="0">
                <a:latin typeface="Verdana"/>
                <a:cs typeface="Verdana"/>
              </a:rPr>
              <a:t>calculate</a:t>
            </a:r>
            <a:r>
              <a:rPr sz="1600" spc="31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the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190" dirty="0">
                <a:latin typeface="Verdana"/>
                <a:cs typeface="Verdana"/>
              </a:rPr>
              <a:t>corresponding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95" dirty="0">
                <a:latin typeface="Verdana"/>
                <a:cs typeface="Verdana"/>
              </a:rPr>
              <a:t>accuracy.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185" dirty="0">
                <a:latin typeface="Verdana"/>
                <a:cs typeface="Verdana"/>
              </a:rPr>
              <a:t>Once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195" dirty="0">
                <a:latin typeface="Verdana"/>
                <a:cs typeface="Verdana"/>
              </a:rPr>
              <a:t>done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215" dirty="0">
                <a:latin typeface="Verdana"/>
                <a:cs typeface="Verdana"/>
              </a:rPr>
              <a:t>with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180" dirty="0">
                <a:latin typeface="Verdana"/>
                <a:cs typeface="Verdana"/>
              </a:rPr>
              <a:t>it,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210" dirty="0">
                <a:latin typeface="Verdana"/>
                <a:cs typeface="Verdana"/>
              </a:rPr>
              <a:t>we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160" dirty="0">
                <a:latin typeface="Verdana"/>
                <a:cs typeface="Verdana"/>
              </a:rPr>
              <a:t>get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35" dirty="0">
                <a:latin typeface="Verdana"/>
                <a:cs typeface="Verdana"/>
              </a:rPr>
              <a:t>4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95" dirty="0">
                <a:latin typeface="Verdana"/>
                <a:cs typeface="Verdana"/>
              </a:rPr>
              <a:t>accuracies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25" dirty="0">
                <a:latin typeface="Verdana"/>
                <a:cs typeface="Verdana"/>
              </a:rPr>
              <a:t>for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the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270" dirty="0">
                <a:latin typeface="Verdana"/>
                <a:cs typeface="Verdana"/>
              </a:rPr>
              <a:t>same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185" dirty="0">
                <a:latin typeface="Verdana"/>
                <a:cs typeface="Verdana"/>
              </a:rPr>
              <a:t>value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110" dirty="0">
                <a:latin typeface="Verdana"/>
                <a:cs typeface="Verdana"/>
              </a:rPr>
              <a:t>of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220" dirty="0">
                <a:latin typeface="Verdana"/>
                <a:cs typeface="Verdana"/>
              </a:rPr>
              <a:t>K=1.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240" dirty="0">
                <a:latin typeface="Verdana"/>
                <a:cs typeface="Verdana"/>
              </a:rPr>
              <a:t>So</a:t>
            </a:r>
            <a:r>
              <a:rPr sz="1600" spc="-130" dirty="0">
                <a:latin typeface="Verdana"/>
                <a:cs typeface="Verdana"/>
              </a:rPr>
              <a:t> </a:t>
            </a:r>
            <a:r>
              <a:rPr sz="1600" spc="-210" dirty="0">
                <a:latin typeface="Verdana"/>
                <a:cs typeface="Verdana"/>
              </a:rPr>
              <a:t>we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00" dirty="0">
                <a:latin typeface="Verdana"/>
                <a:cs typeface="Verdana"/>
              </a:rPr>
              <a:t>consider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the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70" dirty="0">
                <a:latin typeface="Verdana"/>
                <a:cs typeface="Verdana"/>
              </a:rPr>
              <a:t>mean</a:t>
            </a:r>
            <a:r>
              <a:rPr sz="1600" spc="-130" dirty="0">
                <a:latin typeface="Verdana"/>
                <a:cs typeface="Verdana"/>
              </a:rPr>
              <a:t> </a:t>
            </a:r>
            <a:r>
              <a:rPr sz="1600" spc="-110" dirty="0">
                <a:latin typeface="Verdana"/>
                <a:cs typeface="Verdana"/>
              </a:rPr>
              <a:t>of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29" dirty="0">
                <a:latin typeface="Verdana"/>
                <a:cs typeface="Verdana"/>
              </a:rPr>
              <a:t>these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195" dirty="0">
                <a:latin typeface="Verdana"/>
                <a:cs typeface="Verdana"/>
              </a:rPr>
              <a:t>accuracies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175" dirty="0">
                <a:latin typeface="Verdana"/>
                <a:cs typeface="Verdana"/>
              </a:rPr>
              <a:t>and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10" dirty="0">
                <a:latin typeface="Verdana"/>
                <a:cs typeface="Verdana"/>
              </a:rPr>
              <a:t>assign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150" dirty="0">
                <a:latin typeface="Verdana"/>
                <a:cs typeface="Verdana"/>
              </a:rPr>
              <a:t>it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00" dirty="0">
                <a:latin typeface="Verdana"/>
                <a:cs typeface="Verdana"/>
              </a:rPr>
              <a:t>as</a:t>
            </a:r>
            <a:r>
              <a:rPr sz="1600" spc="-120" dirty="0">
                <a:latin typeface="Verdana"/>
                <a:cs typeface="Verdana"/>
              </a:rPr>
              <a:t> </a:t>
            </a:r>
            <a:r>
              <a:rPr sz="1600" spc="-225" dirty="0">
                <a:latin typeface="Verdana"/>
                <a:cs typeface="Verdana"/>
              </a:rPr>
              <a:t>the</a:t>
            </a:r>
            <a:r>
              <a:rPr sz="1600" spc="-125" dirty="0">
                <a:latin typeface="Verdana"/>
                <a:cs typeface="Verdana"/>
              </a:rPr>
              <a:t> final</a:t>
            </a:r>
            <a:r>
              <a:rPr sz="1600" spc="-130" dirty="0">
                <a:latin typeface="Verdana"/>
                <a:cs typeface="Verdana"/>
              </a:rPr>
              <a:t> </a:t>
            </a:r>
            <a:r>
              <a:rPr sz="1600" spc="-185" dirty="0">
                <a:latin typeface="Verdana"/>
                <a:cs typeface="Verdana"/>
              </a:rPr>
              <a:t>value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65" dirty="0">
                <a:latin typeface="Verdana"/>
                <a:cs typeface="Verdana"/>
              </a:rPr>
              <a:t>when</a:t>
            </a:r>
            <a:r>
              <a:rPr sz="1600" spc="-130" dirty="0">
                <a:latin typeface="Verdana"/>
                <a:cs typeface="Verdana"/>
              </a:rPr>
              <a:t> </a:t>
            </a:r>
            <a:r>
              <a:rPr sz="1600" spc="-330" dirty="0">
                <a:latin typeface="Verdana"/>
                <a:cs typeface="Verdana"/>
              </a:rPr>
              <a:t>my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20" dirty="0">
                <a:latin typeface="Verdana"/>
                <a:cs typeface="Verdana"/>
              </a:rPr>
              <a:t>K=1.</a:t>
            </a:r>
            <a:endParaRPr sz="1600">
              <a:latin typeface="Verdana"/>
              <a:cs typeface="Verdana"/>
            </a:endParaRPr>
          </a:p>
          <a:p>
            <a:pPr marR="199390" algn="r">
              <a:lnSpc>
                <a:spcPct val="100000"/>
              </a:lnSpc>
              <a:spcBef>
                <a:spcPts val="1195"/>
              </a:spcBef>
            </a:pPr>
            <a:r>
              <a:rPr sz="1200" spc="-25" dirty="0">
                <a:solidFill>
                  <a:srgbClr val="1F497D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01963" y="2918313"/>
          <a:ext cx="3058159" cy="450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4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800" b="1" spc="-37" baseline="-13888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 baseline="-13888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800" b="1" spc="-37" baseline="-13888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 baseline="-13888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800" b="1" spc="-37" baseline="-13888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 baseline="-13888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800" b="1" spc="-37" baseline="-13888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 baseline="-13888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08050" y="2715740"/>
          <a:ext cx="1529080" cy="901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800" b="1" spc="-37" baseline="-13888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800" baseline="-13888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700" b="1" spc="-15" baseline="9259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700" spc="-15" baseline="9259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Test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657600" y="2630346"/>
            <a:ext cx="1066800" cy="76200"/>
          </a:xfrm>
          <a:custGeom>
            <a:avLst/>
            <a:gdLst/>
            <a:ahLst/>
            <a:cxnLst/>
            <a:rect l="l" t="t" r="r" b="b"/>
            <a:pathLst>
              <a:path w="10668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862"/>
                </a:lnTo>
                <a:lnTo>
                  <a:pt x="63500" y="42862"/>
                </a:lnTo>
                <a:lnTo>
                  <a:pt x="63500" y="33337"/>
                </a:lnTo>
                <a:lnTo>
                  <a:pt x="76200" y="33337"/>
                </a:lnTo>
                <a:lnTo>
                  <a:pt x="76200" y="0"/>
                </a:lnTo>
                <a:close/>
              </a:path>
              <a:path w="1066800" h="76200">
                <a:moveTo>
                  <a:pt x="76200" y="33337"/>
                </a:moveTo>
                <a:lnTo>
                  <a:pt x="63500" y="33337"/>
                </a:lnTo>
                <a:lnTo>
                  <a:pt x="63500" y="42862"/>
                </a:lnTo>
                <a:lnTo>
                  <a:pt x="76200" y="42862"/>
                </a:lnTo>
                <a:lnTo>
                  <a:pt x="76200" y="33337"/>
                </a:lnTo>
                <a:close/>
              </a:path>
              <a:path w="1066800" h="76200">
                <a:moveTo>
                  <a:pt x="1066800" y="33337"/>
                </a:moveTo>
                <a:lnTo>
                  <a:pt x="76200" y="33337"/>
                </a:lnTo>
                <a:lnTo>
                  <a:pt x="76200" y="42862"/>
                </a:lnTo>
                <a:lnTo>
                  <a:pt x="1066800" y="42862"/>
                </a:lnTo>
                <a:lnTo>
                  <a:pt x="1066800" y="33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47507" y="2630787"/>
            <a:ext cx="1106170" cy="76200"/>
          </a:xfrm>
          <a:custGeom>
            <a:avLst/>
            <a:gdLst/>
            <a:ahLst/>
            <a:cxnLst/>
            <a:rect l="l" t="t" r="r" b="b"/>
            <a:pathLst>
              <a:path w="1106170" h="76200">
                <a:moveTo>
                  <a:pt x="1096773" y="33263"/>
                </a:moveTo>
                <a:lnTo>
                  <a:pt x="1042165" y="33263"/>
                </a:lnTo>
                <a:lnTo>
                  <a:pt x="1042220" y="42788"/>
                </a:lnTo>
                <a:lnTo>
                  <a:pt x="1029520" y="42862"/>
                </a:lnTo>
                <a:lnTo>
                  <a:pt x="1029713" y="76198"/>
                </a:lnTo>
                <a:lnTo>
                  <a:pt x="1105692" y="37659"/>
                </a:lnTo>
                <a:lnTo>
                  <a:pt x="1096773" y="33263"/>
                </a:lnTo>
                <a:close/>
              </a:path>
              <a:path w="1106170" h="76200">
                <a:moveTo>
                  <a:pt x="1029465" y="33337"/>
                </a:moveTo>
                <a:lnTo>
                  <a:pt x="0" y="39289"/>
                </a:lnTo>
                <a:lnTo>
                  <a:pt x="54" y="48814"/>
                </a:lnTo>
                <a:lnTo>
                  <a:pt x="1029520" y="42862"/>
                </a:lnTo>
                <a:lnTo>
                  <a:pt x="1029465" y="33337"/>
                </a:lnTo>
                <a:close/>
              </a:path>
              <a:path w="1106170" h="76200">
                <a:moveTo>
                  <a:pt x="1042165" y="33263"/>
                </a:moveTo>
                <a:lnTo>
                  <a:pt x="1029465" y="33337"/>
                </a:lnTo>
                <a:lnTo>
                  <a:pt x="1029520" y="42862"/>
                </a:lnTo>
                <a:lnTo>
                  <a:pt x="1042220" y="42788"/>
                </a:lnTo>
                <a:lnTo>
                  <a:pt x="1042165" y="33263"/>
                </a:lnTo>
                <a:close/>
              </a:path>
              <a:path w="1106170" h="76200">
                <a:moveTo>
                  <a:pt x="1029272" y="0"/>
                </a:moveTo>
                <a:lnTo>
                  <a:pt x="1029465" y="33337"/>
                </a:lnTo>
                <a:lnTo>
                  <a:pt x="1096773" y="33263"/>
                </a:lnTo>
                <a:lnTo>
                  <a:pt x="1029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401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415" dirty="0">
                <a:solidFill>
                  <a:srgbClr val="000000"/>
                </a:solidFill>
                <a:latin typeface="Verdana"/>
                <a:cs typeface="Verdana"/>
              </a:rPr>
              <a:t>KNN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09" dirty="0">
                <a:solidFill>
                  <a:srgbClr val="000000"/>
                </a:solidFill>
                <a:latin typeface="Verdana"/>
                <a:cs typeface="Verdana"/>
              </a:rPr>
              <a:t>Classification</a:t>
            </a:r>
            <a:r>
              <a:rPr sz="400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60" dirty="0">
                <a:solidFill>
                  <a:srgbClr val="000000"/>
                </a:solidFill>
                <a:latin typeface="Verdana"/>
                <a:cs typeface="Verdana"/>
              </a:rPr>
              <a:t>–</a:t>
            </a:r>
            <a:r>
              <a:rPr sz="4000" spc="-2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35" dirty="0">
                <a:solidFill>
                  <a:srgbClr val="000000"/>
                </a:solidFill>
                <a:latin typeface="Verdana"/>
                <a:cs typeface="Verdana"/>
              </a:rPr>
              <a:t>Distance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00420" y="1576083"/>
            <a:ext cx="6426200" cy="3999229"/>
            <a:chOff x="1300420" y="1576083"/>
            <a:chExt cx="6426200" cy="3999229"/>
          </a:xfrm>
        </p:grpSpPr>
        <p:sp>
          <p:nvSpPr>
            <p:cNvPr id="4" name="object 4"/>
            <p:cNvSpPr/>
            <p:nvPr/>
          </p:nvSpPr>
          <p:spPr>
            <a:xfrm>
              <a:off x="1313116" y="1588795"/>
              <a:ext cx="6400800" cy="283845"/>
            </a:xfrm>
            <a:custGeom>
              <a:avLst/>
              <a:gdLst/>
              <a:ahLst/>
              <a:cxnLst/>
              <a:rect l="l" t="t" r="r" b="b"/>
              <a:pathLst>
                <a:path w="6400800" h="283844">
                  <a:moveTo>
                    <a:pt x="6400800" y="0"/>
                  </a:moveTo>
                  <a:lnTo>
                    <a:pt x="4646142" y="0"/>
                  </a:lnTo>
                  <a:lnTo>
                    <a:pt x="3097428" y="0"/>
                  </a:lnTo>
                  <a:lnTo>
                    <a:pt x="1548714" y="0"/>
                  </a:lnTo>
                  <a:lnTo>
                    <a:pt x="0" y="0"/>
                  </a:lnTo>
                  <a:lnTo>
                    <a:pt x="0" y="283832"/>
                  </a:lnTo>
                  <a:lnTo>
                    <a:pt x="1548714" y="283832"/>
                  </a:lnTo>
                  <a:lnTo>
                    <a:pt x="3097428" y="283832"/>
                  </a:lnTo>
                  <a:lnTo>
                    <a:pt x="4646142" y="283832"/>
                  </a:lnTo>
                  <a:lnTo>
                    <a:pt x="6400800" y="283832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EBF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06770" y="1582433"/>
              <a:ext cx="6413500" cy="3986529"/>
            </a:xfrm>
            <a:custGeom>
              <a:avLst/>
              <a:gdLst/>
              <a:ahLst/>
              <a:cxnLst/>
              <a:rect l="l" t="t" r="r" b="b"/>
              <a:pathLst>
                <a:path w="6413500" h="3986529">
                  <a:moveTo>
                    <a:pt x="0" y="290194"/>
                  </a:moveTo>
                  <a:lnTo>
                    <a:pt x="6413500" y="290194"/>
                  </a:lnTo>
                </a:path>
                <a:path w="6413500" h="3986529">
                  <a:moveTo>
                    <a:pt x="0" y="574038"/>
                  </a:moveTo>
                  <a:lnTo>
                    <a:pt x="6413500" y="574038"/>
                  </a:lnTo>
                </a:path>
                <a:path w="6413500" h="3986529">
                  <a:moveTo>
                    <a:pt x="0" y="857882"/>
                  </a:moveTo>
                  <a:lnTo>
                    <a:pt x="6413500" y="857882"/>
                  </a:lnTo>
                </a:path>
                <a:path w="6413500" h="3986529">
                  <a:moveTo>
                    <a:pt x="0" y="1141726"/>
                  </a:moveTo>
                  <a:lnTo>
                    <a:pt x="6413500" y="1141726"/>
                  </a:lnTo>
                </a:path>
                <a:path w="6413500" h="3986529">
                  <a:moveTo>
                    <a:pt x="0" y="1425570"/>
                  </a:moveTo>
                  <a:lnTo>
                    <a:pt x="6413500" y="1425570"/>
                  </a:lnTo>
                </a:path>
                <a:path w="6413500" h="3986529">
                  <a:moveTo>
                    <a:pt x="0" y="1709414"/>
                  </a:moveTo>
                  <a:lnTo>
                    <a:pt x="6413500" y="1709414"/>
                  </a:lnTo>
                </a:path>
                <a:path w="6413500" h="3986529">
                  <a:moveTo>
                    <a:pt x="0" y="1993258"/>
                  </a:moveTo>
                  <a:lnTo>
                    <a:pt x="6413500" y="1993258"/>
                  </a:lnTo>
                </a:path>
                <a:path w="6413500" h="3986529">
                  <a:moveTo>
                    <a:pt x="0" y="2277102"/>
                  </a:moveTo>
                  <a:lnTo>
                    <a:pt x="6413500" y="2277102"/>
                  </a:lnTo>
                </a:path>
                <a:path w="6413500" h="3986529">
                  <a:moveTo>
                    <a:pt x="0" y="2560946"/>
                  </a:moveTo>
                  <a:lnTo>
                    <a:pt x="6413500" y="2560946"/>
                  </a:lnTo>
                </a:path>
                <a:path w="6413500" h="3986529">
                  <a:moveTo>
                    <a:pt x="0" y="2844790"/>
                  </a:moveTo>
                  <a:lnTo>
                    <a:pt x="6413500" y="2844790"/>
                  </a:lnTo>
                </a:path>
                <a:path w="6413500" h="3986529">
                  <a:moveTo>
                    <a:pt x="0" y="3128634"/>
                  </a:moveTo>
                  <a:lnTo>
                    <a:pt x="6413500" y="3128634"/>
                  </a:lnTo>
                </a:path>
                <a:path w="6413500" h="3986529">
                  <a:moveTo>
                    <a:pt x="0" y="3412478"/>
                  </a:moveTo>
                  <a:lnTo>
                    <a:pt x="6413500" y="3412478"/>
                  </a:lnTo>
                </a:path>
                <a:path w="6413500" h="3986529">
                  <a:moveTo>
                    <a:pt x="0" y="3696322"/>
                  </a:moveTo>
                  <a:lnTo>
                    <a:pt x="6413500" y="3696322"/>
                  </a:lnTo>
                </a:path>
                <a:path w="6413500" h="3986529">
                  <a:moveTo>
                    <a:pt x="6350" y="0"/>
                  </a:moveTo>
                  <a:lnTo>
                    <a:pt x="6350" y="3986516"/>
                  </a:lnTo>
                </a:path>
                <a:path w="6413500" h="3986529">
                  <a:moveTo>
                    <a:pt x="6407150" y="0"/>
                  </a:moveTo>
                  <a:lnTo>
                    <a:pt x="6407150" y="3986516"/>
                  </a:lnTo>
                </a:path>
                <a:path w="6413500" h="3986529">
                  <a:moveTo>
                    <a:pt x="0" y="6350"/>
                  </a:moveTo>
                  <a:lnTo>
                    <a:pt x="6413500" y="6350"/>
                  </a:lnTo>
                </a:path>
                <a:path w="6413500" h="3986529">
                  <a:moveTo>
                    <a:pt x="0" y="3980166"/>
                  </a:moveTo>
                  <a:lnTo>
                    <a:pt x="6413500" y="3980166"/>
                  </a:lnTo>
                </a:path>
              </a:pathLst>
            </a:custGeom>
            <a:ln w="12700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97769" y="1572259"/>
            <a:ext cx="5819140" cy="3990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4475" algn="l"/>
                <a:tab pos="2944495" algn="l"/>
                <a:tab pos="4538345" algn="l"/>
              </a:tabLst>
            </a:pPr>
            <a:r>
              <a:rPr sz="1800" spc="-25" dirty="0">
                <a:latin typeface="Calibri"/>
                <a:cs typeface="Calibri"/>
              </a:rPr>
              <a:t>Age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Loan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Default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Distance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70"/>
              </a:spcBef>
              <a:tabLst>
                <a:tab pos="1749425" algn="l"/>
                <a:tab pos="3213100" algn="l"/>
                <a:tab pos="5110480" algn="l"/>
              </a:tabLst>
            </a:pPr>
            <a:r>
              <a:rPr sz="1800" spc="-25" dirty="0">
                <a:latin typeface="Calibri"/>
                <a:cs typeface="Calibri"/>
              </a:rPr>
              <a:t>25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$40,000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102000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75"/>
              </a:spcBef>
              <a:tabLst>
                <a:tab pos="1749425" algn="l"/>
                <a:tab pos="3213100" algn="l"/>
                <a:tab pos="5226050" algn="l"/>
              </a:tabLst>
            </a:pPr>
            <a:r>
              <a:rPr sz="1800" spc="-25" dirty="0">
                <a:latin typeface="Calibri"/>
                <a:cs typeface="Calibri"/>
              </a:rPr>
              <a:t>35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$60,000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82000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95"/>
              </a:spcBef>
              <a:tabLst>
                <a:tab pos="1749425" algn="l"/>
                <a:tab pos="3213100" algn="l"/>
                <a:tab pos="5226050" algn="l"/>
              </a:tabLst>
            </a:pPr>
            <a:r>
              <a:rPr sz="1800" spc="-25" dirty="0">
                <a:latin typeface="Calibri"/>
                <a:cs typeface="Calibri"/>
              </a:rPr>
              <a:t>45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$80,000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62000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70"/>
              </a:spcBef>
              <a:tabLst>
                <a:tab pos="1749425" algn="l"/>
                <a:tab pos="3213100" algn="l"/>
                <a:tab pos="5110480" algn="l"/>
              </a:tabLst>
            </a:pPr>
            <a:r>
              <a:rPr sz="1800" spc="-25" dirty="0">
                <a:latin typeface="Calibri"/>
                <a:cs typeface="Calibri"/>
              </a:rPr>
              <a:t>20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$20,000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122000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75"/>
              </a:spcBef>
              <a:tabLst>
                <a:tab pos="1633855" algn="l"/>
                <a:tab pos="3213100" algn="l"/>
                <a:tab pos="5226050" algn="l"/>
              </a:tabLst>
            </a:pPr>
            <a:r>
              <a:rPr sz="1800" spc="-25" dirty="0">
                <a:latin typeface="Calibri"/>
                <a:cs typeface="Calibri"/>
              </a:rPr>
              <a:t>35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$120,000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22000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70"/>
              </a:spcBef>
              <a:tabLst>
                <a:tab pos="1749425" algn="l"/>
                <a:tab pos="3213100" algn="l"/>
                <a:tab pos="5110480" algn="l"/>
              </a:tabLst>
            </a:pPr>
            <a:r>
              <a:rPr sz="1800" spc="-25" dirty="0">
                <a:latin typeface="Calibri"/>
                <a:cs typeface="Calibri"/>
              </a:rPr>
              <a:t>52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$18,000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124000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70"/>
              </a:spcBef>
              <a:tabLst>
                <a:tab pos="1749425" algn="l"/>
                <a:tab pos="3231515" algn="l"/>
                <a:tab pos="5226050" algn="l"/>
              </a:tabLst>
            </a:pPr>
            <a:r>
              <a:rPr sz="1800" spc="-25" dirty="0">
                <a:latin typeface="Calibri"/>
                <a:cs typeface="Calibri"/>
              </a:rPr>
              <a:t>23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$95,000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47000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75"/>
              </a:spcBef>
              <a:tabLst>
                <a:tab pos="1749425" algn="l"/>
                <a:tab pos="3231515" algn="l"/>
                <a:tab pos="5226050" algn="l"/>
              </a:tabLst>
            </a:pPr>
            <a:r>
              <a:rPr sz="1800" spc="-25" dirty="0">
                <a:latin typeface="Calibri"/>
                <a:cs typeface="Calibri"/>
              </a:rPr>
              <a:t>40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$62,000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80000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70"/>
              </a:spcBef>
              <a:tabLst>
                <a:tab pos="1633855" algn="l"/>
                <a:tab pos="3231515" algn="l"/>
                <a:tab pos="5226050" algn="l"/>
              </a:tabLst>
            </a:pPr>
            <a:r>
              <a:rPr sz="1800" spc="-25" dirty="0">
                <a:latin typeface="Calibri"/>
                <a:cs typeface="Calibri"/>
              </a:rPr>
              <a:t>60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$100,000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42000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75"/>
              </a:spcBef>
              <a:tabLst>
                <a:tab pos="1633855" algn="l"/>
                <a:tab pos="3231515" algn="l"/>
                <a:tab pos="5226050" algn="l"/>
              </a:tabLst>
            </a:pPr>
            <a:r>
              <a:rPr sz="1800" spc="-25" dirty="0">
                <a:latin typeface="Calibri"/>
                <a:cs typeface="Calibri"/>
              </a:rPr>
              <a:t>48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$220,000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78000</a:t>
            </a: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95"/>
              </a:spcBef>
              <a:tabLst>
                <a:tab pos="1633855" algn="l"/>
                <a:tab pos="3231515" algn="l"/>
                <a:tab pos="5342255" algn="l"/>
              </a:tabLst>
            </a:pPr>
            <a:r>
              <a:rPr sz="1800" spc="-25" dirty="0">
                <a:latin typeface="Calibri"/>
                <a:cs typeface="Calibri"/>
              </a:rPr>
              <a:t>33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$150,000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8000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 dirty="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tabLst>
                <a:tab pos="1631950" algn="l"/>
                <a:tab pos="3233420" algn="l"/>
              </a:tabLst>
            </a:pPr>
            <a:r>
              <a:rPr sz="1800" b="1" spc="-25" dirty="0">
                <a:solidFill>
                  <a:srgbClr val="006600"/>
                </a:solidFill>
                <a:latin typeface="Calibri"/>
                <a:cs typeface="Calibri"/>
              </a:rPr>
              <a:t>48</a:t>
            </a:r>
            <a:r>
              <a:rPr sz="1800" b="1" dirty="0">
                <a:solidFill>
                  <a:srgbClr val="006600"/>
                </a:solidFill>
                <a:latin typeface="Calibri"/>
                <a:cs typeface="Calibri"/>
              </a:rPr>
              <a:t>	</a:t>
            </a:r>
            <a:r>
              <a:rPr sz="1800" b="1" spc="-10" dirty="0">
                <a:solidFill>
                  <a:srgbClr val="006600"/>
                </a:solidFill>
                <a:latin typeface="Calibri"/>
                <a:cs typeface="Calibri"/>
              </a:rPr>
              <a:t>$142,000</a:t>
            </a:r>
            <a:r>
              <a:rPr sz="1800" b="1" dirty="0">
                <a:solidFill>
                  <a:srgbClr val="0066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006600"/>
                </a:solidFill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53405" y="4803927"/>
            <a:ext cx="3725545" cy="1595120"/>
            <a:chOff x="3577863" y="4565903"/>
            <a:chExt cx="3725545" cy="15951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9616" y="4565903"/>
              <a:ext cx="1993391" cy="3566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6341" y="4665536"/>
              <a:ext cx="1753235" cy="118110"/>
            </a:xfrm>
            <a:custGeom>
              <a:avLst/>
              <a:gdLst/>
              <a:ahLst/>
              <a:cxnLst/>
              <a:rect l="l" t="t" r="r" b="b"/>
              <a:pathLst>
                <a:path w="1753234" h="118110">
                  <a:moveTo>
                    <a:pt x="101117" y="0"/>
                  </a:moveTo>
                  <a:lnTo>
                    <a:pt x="0" y="58863"/>
                  </a:lnTo>
                  <a:lnTo>
                    <a:pt x="101010" y="117909"/>
                  </a:lnTo>
                  <a:lnTo>
                    <a:pt x="108788" y="115869"/>
                  </a:lnTo>
                  <a:lnTo>
                    <a:pt x="115868" y="103759"/>
                  </a:lnTo>
                  <a:lnTo>
                    <a:pt x="113828" y="95980"/>
                  </a:lnTo>
                  <a:lnTo>
                    <a:pt x="72169" y="71628"/>
                  </a:lnTo>
                  <a:lnTo>
                    <a:pt x="25181" y="71586"/>
                  </a:lnTo>
                  <a:lnTo>
                    <a:pt x="25204" y="46186"/>
                  </a:lnTo>
                  <a:lnTo>
                    <a:pt x="72264" y="46186"/>
                  </a:lnTo>
                  <a:lnTo>
                    <a:pt x="113896" y="21951"/>
                  </a:lnTo>
                  <a:lnTo>
                    <a:pt x="115948" y="14177"/>
                  </a:lnTo>
                  <a:lnTo>
                    <a:pt x="108891" y="2053"/>
                  </a:lnTo>
                  <a:lnTo>
                    <a:pt x="101117" y="0"/>
                  </a:lnTo>
                  <a:close/>
                </a:path>
                <a:path w="1753234" h="118110">
                  <a:moveTo>
                    <a:pt x="72191" y="46228"/>
                  </a:moveTo>
                  <a:lnTo>
                    <a:pt x="50408" y="58908"/>
                  </a:lnTo>
                  <a:lnTo>
                    <a:pt x="72169" y="71628"/>
                  </a:lnTo>
                  <a:lnTo>
                    <a:pt x="1752646" y="73150"/>
                  </a:lnTo>
                  <a:lnTo>
                    <a:pt x="1752669" y="47750"/>
                  </a:lnTo>
                  <a:lnTo>
                    <a:pt x="72191" y="46228"/>
                  </a:lnTo>
                  <a:close/>
                </a:path>
                <a:path w="1753234" h="118110">
                  <a:moveTo>
                    <a:pt x="25204" y="46186"/>
                  </a:moveTo>
                  <a:lnTo>
                    <a:pt x="25181" y="71586"/>
                  </a:lnTo>
                  <a:lnTo>
                    <a:pt x="72169" y="71628"/>
                  </a:lnTo>
                  <a:lnTo>
                    <a:pt x="69145" y="69861"/>
                  </a:lnTo>
                  <a:lnTo>
                    <a:pt x="31593" y="69861"/>
                  </a:lnTo>
                  <a:lnTo>
                    <a:pt x="31612" y="47922"/>
                  </a:lnTo>
                  <a:lnTo>
                    <a:pt x="69282" y="47922"/>
                  </a:lnTo>
                  <a:lnTo>
                    <a:pt x="72191" y="46228"/>
                  </a:lnTo>
                  <a:lnTo>
                    <a:pt x="25204" y="46186"/>
                  </a:lnTo>
                  <a:close/>
                </a:path>
                <a:path w="1753234" h="118110">
                  <a:moveTo>
                    <a:pt x="31612" y="47922"/>
                  </a:moveTo>
                  <a:lnTo>
                    <a:pt x="31593" y="69861"/>
                  </a:lnTo>
                  <a:lnTo>
                    <a:pt x="50408" y="58908"/>
                  </a:lnTo>
                  <a:lnTo>
                    <a:pt x="31612" y="47922"/>
                  </a:lnTo>
                  <a:close/>
                </a:path>
                <a:path w="1753234" h="118110">
                  <a:moveTo>
                    <a:pt x="50408" y="58908"/>
                  </a:moveTo>
                  <a:lnTo>
                    <a:pt x="31593" y="69861"/>
                  </a:lnTo>
                  <a:lnTo>
                    <a:pt x="69145" y="69861"/>
                  </a:lnTo>
                  <a:lnTo>
                    <a:pt x="50408" y="58908"/>
                  </a:lnTo>
                  <a:close/>
                </a:path>
                <a:path w="1753234" h="118110">
                  <a:moveTo>
                    <a:pt x="69282" y="47922"/>
                  </a:moveTo>
                  <a:lnTo>
                    <a:pt x="31612" y="47922"/>
                  </a:lnTo>
                  <a:lnTo>
                    <a:pt x="50408" y="58908"/>
                  </a:lnTo>
                  <a:lnTo>
                    <a:pt x="69282" y="47922"/>
                  </a:lnTo>
                  <a:close/>
                </a:path>
                <a:path w="1753234" h="118110">
                  <a:moveTo>
                    <a:pt x="72264" y="46186"/>
                  </a:moveTo>
                  <a:lnTo>
                    <a:pt x="25204" y="46186"/>
                  </a:lnTo>
                  <a:lnTo>
                    <a:pt x="72191" y="46228"/>
                  </a:lnTo>
                  <a:close/>
                </a:path>
              </a:pathLst>
            </a:custGeom>
            <a:solidFill>
              <a:srgbClr val="F7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4168" y="4831079"/>
              <a:ext cx="356615" cy="5516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73983" y="4876733"/>
              <a:ext cx="118110" cy="306705"/>
            </a:xfrm>
            <a:custGeom>
              <a:avLst/>
              <a:gdLst/>
              <a:ahLst/>
              <a:cxnLst/>
              <a:rect l="l" t="t" r="r" b="b"/>
              <a:pathLst>
                <a:path w="118110" h="306704">
                  <a:moveTo>
                    <a:pt x="14239" y="190373"/>
                  </a:moveTo>
                  <a:lnTo>
                    <a:pt x="2086" y="197378"/>
                  </a:lnTo>
                  <a:lnTo>
                    <a:pt x="0" y="205144"/>
                  </a:lnTo>
                  <a:lnTo>
                    <a:pt x="58428" y="306511"/>
                  </a:lnTo>
                  <a:lnTo>
                    <a:pt x="73268" y="281373"/>
                  </a:lnTo>
                  <a:lnTo>
                    <a:pt x="45859" y="281241"/>
                  </a:lnTo>
                  <a:lnTo>
                    <a:pt x="46103" y="234265"/>
                  </a:lnTo>
                  <a:lnTo>
                    <a:pt x="22005" y="192459"/>
                  </a:lnTo>
                  <a:lnTo>
                    <a:pt x="14239" y="190373"/>
                  </a:lnTo>
                  <a:close/>
                </a:path>
                <a:path w="118110" h="306704">
                  <a:moveTo>
                    <a:pt x="46103" y="234265"/>
                  </a:moveTo>
                  <a:lnTo>
                    <a:pt x="45859" y="281241"/>
                  </a:lnTo>
                  <a:lnTo>
                    <a:pt x="71259" y="281373"/>
                  </a:lnTo>
                  <a:lnTo>
                    <a:pt x="71292" y="274965"/>
                  </a:lnTo>
                  <a:lnTo>
                    <a:pt x="47623" y="274852"/>
                  </a:lnTo>
                  <a:lnTo>
                    <a:pt x="58690" y="256103"/>
                  </a:lnTo>
                  <a:lnTo>
                    <a:pt x="46103" y="234265"/>
                  </a:lnTo>
                  <a:close/>
                </a:path>
                <a:path w="118110" h="306704">
                  <a:moveTo>
                    <a:pt x="103819" y="190836"/>
                  </a:moveTo>
                  <a:lnTo>
                    <a:pt x="96032" y="192843"/>
                  </a:lnTo>
                  <a:lnTo>
                    <a:pt x="71503" y="234398"/>
                  </a:lnTo>
                  <a:lnTo>
                    <a:pt x="71259" y="281373"/>
                  </a:lnTo>
                  <a:lnTo>
                    <a:pt x="73268" y="281373"/>
                  </a:lnTo>
                  <a:lnTo>
                    <a:pt x="117906" y="205755"/>
                  </a:lnTo>
                  <a:lnTo>
                    <a:pt x="115900" y="197967"/>
                  </a:lnTo>
                  <a:lnTo>
                    <a:pt x="103819" y="190836"/>
                  </a:lnTo>
                  <a:close/>
                </a:path>
                <a:path w="118110" h="306704">
                  <a:moveTo>
                    <a:pt x="58690" y="256103"/>
                  </a:moveTo>
                  <a:lnTo>
                    <a:pt x="47623" y="274852"/>
                  </a:lnTo>
                  <a:lnTo>
                    <a:pt x="69562" y="274965"/>
                  </a:lnTo>
                  <a:lnTo>
                    <a:pt x="58690" y="256103"/>
                  </a:lnTo>
                  <a:close/>
                </a:path>
                <a:path w="118110" h="306704">
                  <a:moveTo>
                    <a:pt x="71503" y="234398"/>
                  </a:moveTo>
                  <a:lnTo>
                    <a:pt x="58690" y="256103"/>
                  </a:lnTo>
                  <a:lnTo>
                    <a:pt x="69562" y="274965"/>
                  </a:lnTo>
                  <a:lnTo>
                    <a:pt x="71292" y="274965"/>
                  </a:lnTo>
                  <a:lnTo>
                    <a:pt x="71503" y="234398"/>
                  </a:lnTo>
                  <a:close/>
                </a:path>
                <a:path w="118110" h="306704">
                  <a:moveTo>
                    <a:pt x="47316" y="0"/>
                  </a:moveTo>
                  <a:lnTo>
                    <a:pt x="46294" y="197378"/>
                  </a:lnTo>
                  <a:lnTo>
                    <a:pt x="46179" y="234398"/>
                  </a:lnTo>
                  <a:lnTo>
                    <a:pt x="58690" y="256103"/>
                  </a:lnTo>
                  <a:lnTo>
                    <a:pt x="71503" y="234398"/>
                  </a:lnTo>
                  <a:lnTo>
                    <a:pt x="72716" y="130"/>
                  </a:lnTo>
                  <a:lnTo>
                    <a:pt x="47316" y="0"/>
                  </a:lnTo>
                  <a:close/>
                </a:path>
              </a:pathLst>
            </a:custGeom>
            <a:solidFill>
              <a:srgbClr val="F7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85801" y="5940824"/>
              <a:ext cx="49530" cy="29209"/>
            </a:xfrm>
            <a:custGeom>
              <a:avLst/>
              <a:gdLst/>
              <a:ahLst/>
              <a:cxnLst/>
              <a:rect l="l" t="t" r="r" b="b"/>
              <a:pathLst>
                <a:path w="49529" h="29210">
                  <a:moveTo>
                    <a:pt x="0" y="29140"/>
                  </a:moveTo>
                  <a:lnTo>
                    <a:pt x="49390" y="0"/>
                  </a:lnTo>
                </a:path>
              </a:pathLst>
            </a:custGeom>
            <a:ln w="15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35191" y="5949488"/>
              <a:ext cx="71755" cy="194945"/>
            </a:xfrm>
            <a:custGeom>
              <a:avLst/>
              <a:gdLst/>
              <a:ahLst/>
              <a:cxnLst/>
              <a:rect l="l" t="t" r="r" b="b"/>
              <a:pathLst>
                <a:path w="71754" h="194945">
                  <a:moveTo>
                    <a:pt x="0" y="0"/>
                  </a:moveTo>
                  <a:lnTo>
                    <a:pt x="71694" y="194530"/>
                  </a:lnTo>
                </a:path>
              </a:pathLst>
            </a:custGeom>
            <a:ln w="32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14877" y="5588778"/>
              <a:ext cx="3408045" cy="555625"/>
            </a:xfrm>
            <a:custGeom>
              <a:avLst/>
              <a:gdLst/>
              <a:ahLst/>
              <a:cxnLst/>
              <a:rect l="l" t="t" r="r" b="b"/>
              <a:pathLst>
                <a:path w="3408045" h="555625">
                  <a:moveTo>
                    <a:pt x="0" y="555239"/>
                  </a:moveTo>
                  <a:lnTo>
                    <a:pt x="95603" y="0"/>
                  </a:lnTo>
                </a:path>
                <a:path w="3408045" h="555625">
                  <a:moveTo>
                    <a:pt x="95603" y="0"/>
                  </a:moveTo>
                  <a:lnTo>
                    <a:pt x="3407485" y="0"/>
                  </a:lnTo>
                </a:path>
              </a:pathLst>
            </a:custGeom>
            <a:ln w="158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28417" y="5874659"/>
            <a:ext cx="4294505" cy="579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ts val="2940"/>
              </a:lnSpc>
              <a:spcBef>
                <a:spcPts val="135"/>
              </a:spcBef>
              <a:tabLst>
                <a:tab pos="988694" algn="l"/>
                <a:tab pos="1497965" algn="l"/>
                <a:tab pos="2127885" algn="l"/>
                <a:tab pos="3307079" algn="l"/>
                <a:tab pos="3962400" algn="l"/>
              </a:tabLst>
            </a:pPr>
            <a:r>
              <a:rPr sz="3150" i="1" dirty="0">
                <a:latin typeface="Times New Roman"/>
                <a:cs typeface="Times New Roman"/>
              </a:rPr>
              <a:t>D</a:t>
            </a:r>
            <a:r>
              <a:rPr sz="3150" i="1" spc="-105" dirty="0">
                <a:latin typeface="Times New Roman"/>
                <a:cs typeface="Times New Roman"/>
              </a:rPr>
              <a:t> </a:t>
            </a:r>
            <a:r>
              <a:rPr sz="3150" spc="-50" dirty="0">
                <a:latin typeface="Symbol"/>
                <a:cs typeface="Symbol"/>
              </a:rPr>
              <a:t>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80" dirty="0">
                <a:latin typeface="Times New Roman"/>
                <a:cs typeface="Times New Roman"/>
              </a:rPr>
              <a:t>(</a:t>
            </a:r>
            <a:r>
              <a:rPr sz="3150" i="1" spc="80" dirty="0">
                <a:latin typeface="Times New Roman"/>
                <a:cs typeface="Times New Roman"/>
              </a:rPr>
              <a:t>x</a:t>
            </a:r>
            <a:r>
              <a:rPr sz="3150" i="1" dirty="0">
                <a:latin typeface="Times New Roman"/>
                <a:cs typeface="Times New Roman"/>
              </a:rPr>
              <a:t>	</a:t>
            </a:r>
            <a:r>
              <a:rPr sz="3150" dirty="0">
                <a:latin typeface="Symbol"/>
                <a:cs typeface="Symbol"/>
              </a:rPr>
              <a:t></a:t>
            </a:r>
            <a:r>
              <a:rPr sz="3150" spc="-185" dirty="0">
                <a:latin typeface="Times New Roman"/>
                <a:cs typeface="Times New Roman"/>
              </a:rPr>
              <a:t> </a:t>
            </a:r>
            <a:r>
              <a:rPr sz="3150" i="1" spc="-50" dirty="0">
                <a:latin typeface="Times New Roman"/>
                <a:cs typeface="Times New Roman"/>
              </a:rPr>
              <a:t>x</a:t>
            </a:r>
            <a:r>
              <a:rPr sz="3150" i="1" dirty="0">
                <a:latin typeface="Times New Roman"/>
                <a:cs typeface="Times New Roman"/>
              </a:rPr>
              <a:t>	</a:t>
            </a:r>
            <a:r>
              <a:rPr sz="3150" spc="60" dirty="0">
                <a:latin typeface="Times New Roman"/>
                <a:cs typeface="Times New Roman"/>
              </a:rPr>
              <a:t>)</a:t>
            </a:r>
            <a:r>
              <a:rPr sz="2775" spc="89" baseline="43543" dirty="0">
                <a:latin typeface="Times New Roman"/>
                <a:cs typeface="Times New Roman"/>
              </a:rPr>
              <a:t>2</a:t>
            </a:r>
            <a:r>
              <a:rPr sz="2775" spc="502" baseline="43543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Symbol"/>
                <a:cs typeface="Symbol"/>
              </a:rPr>
              <a:t></a:t>
            </a:r>
            <a:r>
              <a:rPr sz="3150" spc="-34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(</a:t>
            </a:r>
            <a:r>
              <a:rPr sz="3150" spc="-455" dirty="0">
                <a:latin typeface="Times New Roman"/>
                <a:cs typeface="Times New Roman"/>
              </a:rPr>
              <a:t> </a:t>
            </a:r>
            <a:r>
              <a:rPr sz="3150" i="1" spc="-50" dirty="0">
                <a:latin typeface="Times New Roman"/>
                <a:cs typeface="Times New Roman"/>
              </a:rPr>
              <a:t>y</a:t>
            </a:r>
            <a:r>
              <a:rPr sz="3150" i="1" dirty="0">
                <a:latin typeface="Times New Roman"/>
                <a:cs typeface="Times New Roman"/>
              </a:rPr>
              <a:t>	</a:t>
            </a:r>
            <a:r>
              <a:rPr sz="3150" dirty="0">
                <a:latin typeface="Symbol"/>
                <a:cs typeface="Symbol"/>
              </a:rPr>
              <a:t></a:t>
            </a:r>
            <a:r>
              <a:rPr sz="3150" spc="-40" dirty="0">
                <a:latin typeface="Times New Roman"/>
                <a:cs typeface="Times New Roman"/>
              </a:rPr>
              <a:t> </a:t>
            </a:r>
            <a:r>
              <a:rPr sz="3150" i="1" spc="-50" dirty="0">
                <a:latin typeface="Times New Roman"/>
                <a:cs typeface="Times New Roman"/>
              </a:rPr>
              <a:t>y</a:t>
            </a:r>
            <a:r>
              <a:rPr sz="3150" i="1" dirty="0">
                <a:latin typeface="Times New Roman"/>
                <a:cs typeface="Times New Roman"/>
              </a:rPr>
              <a:t>	</a:t>
            </a:r>
            <a:r>
              <a:rPr sz="3150" spc="35" dirty="0">
                <a:latin typeface="Times New Roman"/>
                <a:cs typeface="Times New Roman"/>
              </a:rPr>
              <a:t>)</a:t>
            </a:r>
            <a:r>
              <a:rPr sz="2775" spc="52" baseline="43543" dirty="0">
                <a:latin typeface="Times New Roman"/>
                <a:cs typeface="Times New Roman"/>
              </a:rPr>
              <a:t>2</a:t>
            </a:r>
            <a:endParaRPr sz="2775" baseline="43543" dirty="0">
              <a:latin typeface="Times New Roman"/>
              <a:cs typeface="Times New Roman"/>
            </a:endParaRPr>
          </a:p>
          <a:p>
            <a:pPr marL="1297305">
              <a:lnSpc>
                <a:spcPts val="1380"/>
              </a:lnSpc>
              <a:tabLst>
                <a:tab pos="1971039" algn="l"/>
                <a:tab pos="3107055" algn="l"/>
                <a:tab pos="3805554" algn="l"/>
              </a:tabLst>
            </a:pPr>
            <a:r>
              <a:rPr sz="1850" spc="-50" dirty="0">
                <a:latin typeface="Times New Roman"/>
                <a:cs typeface="Times New Roman"/>
              </a:rPr>
              <a:t>1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50" dirty="0">
                <a:latin typeface="Times New Roman"/>
                <a:cs typeface="Times New Roman"/>
              </a:rPr>
              <a:t>2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50" dirty="0">
                <a:latin typeface="Times New Roman"/>
                <a:cs typeface="Times New Roman"/>
              </a:rPr>
              <a:t>1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50" dirty="0">
                <a:latin typeface="Times New Roman"/>
                <a:cs typeface="Times New Roman"/>
              </a:rPr>
              <a:t>2</a:t>
            </a:r>
            <a:endParaRPr sz="1850" dirty="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96007" y="5508456"/>
            <a:ext cx="1926589" cy="1320165"/>
            <a:chOff x="1261872" y="5169407"/>
            <a:chExt cx="1926589" cy="132016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1872" y="5169407"/>
              <a:ext cx="1926336" cy="131978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0640" y="5315711"/>
              <a:ext cx="1658112" cy="113995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1496" y="5187695"/>
              <a:ext cx="1847088" cy="12405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1599" y="5257799"/>
              <a:ext cx="1706980" cy="11011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371600" y="5257800"/>
              <a:ext cx="1707514" cy="1101725"/>
            </a:xfrm>
            <a:custGeom>
              <a:avLst/>
              <a:gdLst/>
              <a:ahLst/>
              <a:cxnLst/>
              <a:rect l="l" t="t" r="r" b="b"/>
              <a:pathLst>
                <a:path w="1707514" h="1101725">
                  <a:moveTo>
                    <a:pt x="0" y="800222"/>
                  </a:moveTo>
                  <a:lnTo>
                    <a:pt x="1551814" y="0"/>
                  </a:lnTo>
                  <a:lnTo>
                    <a:pt x="1706980" y="300902"/>
                  </a:lnTo>
                  <a:lnTo>
                    <a:pt x="155166" y="1101125"/>
                  </a:lnTo>
                  <a:lnTo>
                    <a:pt x="0" y="800222"/>
                  </a:lnTo>
                  <a:close/>
                </a:path>
              </a:pathLst>
            </a:custGeom>
            <a:ln w="952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 rot="19980000">
            <a:off x="1179101" y="6097578"/>
            <a:ext cx="137174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400" spc="-10" dirty="0">
                <a:latin typeface="Calibri"/>
                <a:cs typeface="Calibri"/>
              </a:rPr>
              <a:t>Euclidean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2100" spc="-15" baseline="1984" dirty="0">
                <a:latin typeface="Calibri"/>
                <a:cs typeface="Calibri"/>
              </a:rPr>
              <a:t>Distance</a:t>
            </a:r>
            <a:endParaRPr sz="2100" baseline="1984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2AD2-0EDC-554B-3AA3-5E3A6BC6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088A90-77BE-5A7A-2CA4-C261CC62F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3047" y="107791"/>
            <a:ext cx="8035004" cy="1048511"/>
          </a:xfrm>
          <a:prstGeom prst="rect">
            <a:avLst/>
          </a:prstGeom>
        </p:spPr>
        <p:txBody>
          <a:bodyPr vert="horz" wrap="square" lIns="0" tIns="41401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415" dirty="0">
                <a:solidFill>
                  <a:srgbClr val="000000"/>
                </a:solidFill>
                <a:latin typeface="Verdana"/>
                <a:cs typeface="Verdana"/>
              </a:rPr>
              <a:t>KNN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09" dirty="0">
                <a:solidFill>
                  <a:srgbClr val="000000"/>
                </a:solidFill>
                <a:latin typeface="Verdana"/>
                <a:cs typeface="Verdana"/>
              </a:rPr>
              <a:t>Classification</a:t>
            </a:r>
            <a:r>
              <a:rPr sz="400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60" dirty="0">
                <a:solidFill>
                  <a:srgbClr val="000000"/>
                </a:solidFill>
                <a:latin typeface="Verdana"/>
                <a:cs typeface="Verdana"/>
              </a:rPr>
              <a:t>–</a:t>
            </a:r>
            <a:r>
              <a:rPr sz="4000" spc="-2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35" dirty="0">
                <a:solidFill>
                  <a:srgbClr val="000000"/>
                </a:solidFill>
                <a:latin typeface="Verdana"/>
                <a:cs typeface="Verdana"/>
              </a:rPr>
              <a:t>Distance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3A7C757-6BDD-A140-BC50-45E87AA2BE0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16EEF50-1363-33B7-0CCD-82DC71AD8A2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C891069-E0D8-6BBB-71AE-CEE876111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56080"/>
            <a:ext cx="4343400" cy="116221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42BAC0C-561A-C9DF-120D-6FBAB15C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56080"/>
            <a:ext cx="472660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43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25230-6335-90FF-B35F-17CFB835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7E66ED-FBDD-2F5A-EE64-70CB8523CD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3047" y="107791"/>
            <a:ext cx="8035004" cy="1048511"/>
          </a:xfrm>
          <a:prstGeom prst="rect">
            <a:avLst/>
          </a:prstGeom>
        </p:spPr>
        <p:txBody>
          <a:bodyPr vert="horz" wrap="square" lIns="0" tIns="41401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415" dirty="0">
                <a:solidFill>
                  <a:srgbClr val="000000"/>
                </a:solidFill>
                <a:latin typeface="Verdana"/>
                <a:cs typeface="Verdana"/>
              </a:rPr>
              <a:t>KNN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09" dirty="0">
                <a:solidFill>
                  <a:srgbClr val="000000"/>
                </a:solidFill>
                <a:latin typeface="Verdana"/>
                <a:cs typeface="Verdana"/>
              </a:rPr>
              <a:t>Classification</a:t>
            </a:r>
            <a:r>
              <a:rPr sz="400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60" dirty="0">
                <a:solidFill>
                  <a:srgbClr val="000000"/>
                </a:solidFill>
                <a:latin typeface="Verdana"/>
                <a:cs typeface="Verdana"/>
              </a:rPr>
              <a:t>–</a:t>
            </a:r>
            <a:r>
              <a:rPr sz="4000" spc="-2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535" dirty="0">
                <a:solidFill>
                  <a:srgbClr val="000000"/>
                </a:solidFill>
                <a:latin typeface="Verdana"/>
                <a:cs typeface="Verdana"/>
              </a:rPr>
              <a:t>Distance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0CF5C4E-BC9B-6619-B415-1BA0B2F6498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B5D26FBE-F138-A3EE-D43F-4BAD76D5CB9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E21C29A-FA51-C402-ADA3-968A2534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549510"/>
            <a:ext cx="4687570" cy="52703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8B1A17-DEAD-96FC-1C64-62B64B7A6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385" y="5000222"/>
            <a:ext cx="5659134" cy="1619331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910848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29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20" dirty="0">
                <a:solidFill>
                  <a:srgbClr val="000000"/>
                </a:solidFill>
                <a:latin typeface="Verdana"/>
                <a:cs typeface="Verdana"/>
              </a:rPr>
              <a:t>Example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538732"/>
            <a:ext cx="2081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u="sng" spc="-17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Question:</a:t>
            </a:r>
            <a:r>
              <a:rPr sz="2400" u="sng" spc="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k=3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07108" y="1985220"/>
          <a:ext cx="7010400" cy="445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Gender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Ahmed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Amir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Ayesha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Usman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Umer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Angelina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Laura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Kristine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29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20" dirty="0">
                <a:solidFill>
                  <a:srgbClr val="000000"/>
                </a:solidFill>
                <a:latin typeface="Verdana"/>
                <a:cs typeface="Verdana"/>
              </a:rPr>
              <a:t>Example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5815" y="6421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F497D"/>
                </a:solidFill>
                <a:latin typeface="Calibri"/>
                <a:cs typeface="Calibri"/>
              </a:rPr>
              <a:t>38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538732"/>
            <a:ext cx="8223884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2900" algn="just">
              <a:lnSpc>
                <a:spcPct val="99400"/>
              </a:lnSpc>
              <a:spcBef>
                <a:spcPts val="110"/>
              </a:spcBef>
              <a:buFont typeface="Wingdings"/>
              <a:buChar char=""/>
              <a:tabLst>
                <a:tab pos="355600" algn="l"/>
              </a:tabLst>
            </a:pPr>
            <a:r>
              <a:rPr sz="1800" spc="-155" dirty="0">
                <a:latin typeface="Arial MT"/>
                <a:cs typeface="Arial MT"/>
              </a:rPr>
              <a:t>Since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both</a:t>
            </a:r>
            <a:r>
              <a:rPr sz="1800" spc="-65" dirty="0">
                <a:latin typeface="Arial MT"/>
                <a:cs typeface="Arial MT"/>
              </a:rPr>
              <a:t> features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categories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(numerical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categorical,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therefore </a:t>
            </a:r>
            <a:r>
              <a:rPr sz="1800" spc="-25" dirty="0">
                <a:latin typeface="Arial MT"/>
                <a:cs typeface="Arial MT"/>
              </a:rPr>
              <a:t>first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transform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one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category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80" dirty="0">
                <a:latin typeface="Arial MT"/>
                <a:cs typeface="Arial MT"/>
              </a:rPr>
              <a:t>so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we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change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gender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numerical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form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example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select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male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female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60450" y="2434021"/>
          <a:ext cx="7010400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Gender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Ahmed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Amir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Ayesha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Usman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Umer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Angelina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Laura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Kristine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0" y="6590283"/>
            <a:ext cx="10991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140" dirty="0">
                <a:solidFill>
                  <a:srgbClr val="1F2022"/>
                </a:solidFill>
                <a:latin typeface="Arial"/>
                <a:cs typeface="Arial"/>
              </a:rPr>
              <a:t> 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29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20" dirty="0">
                <a:solidFill>
                  <a:srgbClr val="000000"/>
                </a:solidFill>
                <a:latin typeface="Verdana"/>
                <a:cs typeface="Verdana"/>
              </a:rPr>
              <a:t>Example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538732"/>
            <a:ext cx="8223884" cy="55181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>
              <a:lnSpc>
                <a:spcPct val="101099"/>
              </a:lnSpc>
              <a:spcBef>
                <a:spcPts val="75"/>
              </a:spcBef>
              <a:buFont typeface="Wingdings"/>
              <a:buChar char=""/>
              <a:tabLst>
                <a:tab pos="355600" algn="l"/>
                <a:tab pos="895350" algn="l"/>
                <a:tab pos="1564640" algn="l"/>
                <a:tab pos="2546350" algn="l"/>
                <a:tab pos="3415665" algn="l"/>
                <a:tab pos="3719829" algn="l"/>
                <a:tab pos="4603750" algn="l"/>
                <a:tab pos="5007610" algn="l"/>
                <a:tab pos="5876925" algn="l"/>
                <a:tab pos="6202045" algn="l"/>
                <a:tab pos="6985634" algn="l"/>
                <a:tab pos="7774305" algn="l"/>
              </a:tabLst>
            </a:pPr>
            <a:r>
              <a:rPr sz="1800" spc="-25" dirty="0">
                <a:latin typeface="Arial MT"/>
                <a:cs typeface="Arial MT"/>
              </a:rPr>
              <a:t>Now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apply</a:t>
            </a:r>
            <a:r>
              <a:rPr lang="en-US" spc="-2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Euclidean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distance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to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compute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the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distance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of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Kristine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against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25" dirty="0">
                <a:latin typeface="Arial MT"/>
                <a:cs typeface="Arial MT"/>
              </a:rPr>
              <a:t>each </a:t>
            </a:r>
            <a:r>
              <a:rPr sz="1800" spc="-145" dirty="0">
                <a:latin typeface="Arial MT"/>
                <a:cs typeface="Arial MT"/>
              </a:rPr>
              <a:t>instance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our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dataset.</a:t>
            </a:r>
            <a:endParaRPr sz="18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84250" y="2160979"/>
          <a:ext cx="7010398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Gender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Distance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Ahmed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27.02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Amir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35.01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Ayesha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Usman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50.01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Umer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35.01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Angelina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Laura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10.05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Kristine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29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20" dirty="0">
                <a:solidFill>
                  <a:srgbClr val="000000"/>
                </a:solidFill>
                <a:latin typeface="Verdana"/>
                <a:cs typeface="Verdana"/>
              </a:rPr>
              <a:t>Example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538732"/>
            <a:ext cx="822261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>
              <a:lnSpc>
                <a:spcPct val="101099"/>
              </a:lnSpc>
              <a:spcBef>
                <a:spcPts val="75"/>
              </a:spcBef>
              <a:buFont typeface="Wingdings"/>
              <a:buChar char=""/>
              <a:tabLst>
                <a:tab pos="355600" algn="l"/>
              </a:tabLst>
            </a:pPr>
            <a:r>
              <a:rPr sz="1800" spc="-45" dirty="0">
                <a:latin typeface="Arial MT"/>
                <a:cs typeface="Arial MT"/>
              </a:rPr>
              <a:t>Now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select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the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three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closest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instances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(as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k=3)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from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Kristine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based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on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this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distance </a:t>
            </a:r>
            <a:r>
              <a:rPr sz="1800" spc="-25" dirty="0">
                <a:latin typeface="Arial MT"/>
                <a:cs typeface="Arial MT"/>
              </a:rPr>
              <a:t>computed.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90600" y="3630369"/>
            <a:ext cx="7010400" cy="365760"/>
            <a:chOff x="990600" y="3630369"/>
            <a:chExt cx="7010400" cy="365760"/>
          </a:xfrm>
        </p:grpSpPr>
        <p:sp>
          <p:nvSpPr>
            <p:cNvPr id="5" name="object 5"/>
            <p:cNvSpPr/>
            <p:nvPr/>
          </p:nvSpPr>
          <p:spPr>
            <a:xfrm>
              <a:off x="990600" y="3630370"/>
              <a:ext cx="7010400" cy="365760"/>
            </a:xfrm>
            <a:custGeom>
              <a:avLst/>
              <a:gdLst/>
              <a:ahLst/>
              <a:cxnLst/>
              <a:rect l="l" t="t" r="r" b="b"/>
              <a:pathLst>
                <a:path w="7010400" h="365760">
                  <a:moveTo>
                    <a:pt x="7010400" y="0"/>
                  </a:moveTo>
                  <a:lnTo>
                    <a:pt x="7010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7010400" y="365760"/>
                  </a:lnTo>
                  <a:lnTo>
                    <a:pt x="7010400" y="0"/>
                  </a:lnTo>
                  <a:close/>
                </a:path>
              </a:pathLst>
            </a:custGeom>
            <a:solidFill>
              <a:srgbClr val="F4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2040" y="3676090"/>
              <a:ext cx="6252845" cy="279400"/>
            </a:xfrm>
            <a:custGeom>
              <a:avLst/>
              <a:gdLst/>
              <a:ahLst/>
              <a:cxnLst/>
              <a:rect l="l" t="t" r="r" b="b"/>
              <a:pathLst>
                <a:path w="6252845" h="279400">
                  <a:moveTo>
                    <a:pt x="4445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444500" y="279400"/>
                  </a:lnTo>
                  <a:lnTo>
                    <a:pt x="444500" y="0"/>
                  </a:lnTo>
                  <a:close/>
                </a:path>
                <a:path w="6252845" h="279400">
                  <a:moveTo>
                    <a:pt x="1633855" y="0"/>
                  </a:moveTo>
                  <a:lnTo>
                    <a:pt x="1402080" y="0"/>
                  </a:lnTo>
                  <a:lnTo>
                    <a:pt x="1402080" y="279400"/>
                  </a:lnTo>
                  <a:lnTo>
                    <a:pt x="1633855" y="279400"/>
                  </a:lnTo>
                  <a:lnTo>
                    <a:pt x="1633855" y="0"/>
                  </a:lnTo>
                  <a:close/>
                </a:path>
                <a:path w="6252845" h="279400">
                  <a:moveTo>
                    <a:pt x="2920034" y="0"/>
                  </a:moveTo>
                  <a:lnTo>
                    <a:pt x="2804160" y="0"/>
                  </a:lnTo>
                  <a:lnTo>
                    <a:pt x="2804160" y="279400"/>
                  </a:lnTo>
                  <a:lnTo>
                    <a:pt x="2920034" y="279400"/>
                  </a:lnTo>
                  <a:lnTo>
                    <a:pt x="2920034" y="0"/>
                  </a:lnTo>
                  <a:close/>
                </a:path>
                <a:path w="6252845" h="279400">
                  <a:moveTo>
                    <a:pt x="4322115" y="0"/>
                  </a:moveTo>
                  <a:lnTo>
                    <a:pt x="4206240" y="0"/>
                  </a:lnTo>
                  <a:lnTo>
                    <a:pt x="4206240" y="279400"/>
                  </a:lnTo>
                  <a:lnTo>
                    <a:pt x="4322115" y="279400"/>
                  </a:lnTo>
                  <a:lnTo>
                    <a:pt x="4322115" y="0"/>
                  </a:lnTo>
                  <a:close/>
                </a:path>
                <a:path w="6252845" h="279400">
                  <a:moveTo>
                    <a:pt x="6252845" y="0"/>
                  </a:moveTo>
                  <a:lnTo>
                    <a:pt x="5608320" y="0"/>
                  </a:lnTo>
                  <a:lnTo>
                    <a:pt x="5608320" y="279400"/>
                  </a:lnTo>
                  <a:lnTo>
                    <a:pt x="6252845" y="279400"/>
                  </a:lnTo>
                  <a:lnTo>
                    <a:pt x="625284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90600" y="5093410"/>
            <a:ext cx="7010400" cy="365760"/>
            <a:chOff x="990600" y="5093410"/>
            <a:chExt cx="7010400" cy="365760"/>
          </a:xfrm>
        </p:grpSpPr>
        <p:sp>
          <p:nvSpPr>
            <p:cNvPr id="8" name="object 8"/>
            <p:cNvSpPr/>
            <p:nvPr/>
          </p:nvSpPr>
          <p:spPr>
            <a:xfrm>
              <a:off x="990600" y="5093411"/>
              <a:ext cx="7010400" cy="365760"/>
            </a:xfrm>
            <a:custGeom>
              <a:avLst/>
              <a:gdLst/>
              <a:ahLst/>
              <a:cxnLst/>
              <a:rect l="l" t="t" r="r" b="b"/>
              <a:pathLst>
                <a:path w="7010400" h="365760">
                  <a:moveTo>
                    <a:pt x="7010400" y="0"/>
                  </a:moveTo>
                  <a:lnTo>
                    <a:pt x="7010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7010400" y="365760"/>
                  </a:lnTo>
                  <a:lnTo>
                    <a:pt x="7010400" y="0"/>
                  </a:lnTo>
                  <a:close/>
                </a:path>
              </a:pathLst>
            </a:custGeom>
            <a:solidFill>
              <a:srgbClr val="F4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2040" y="5139131"/>
              <a:ext cx="6252845" cy="279400"/>
            </a:xfrm>
            <a:custGeom>
              <a:avLst/>
              <a:gdLst/>
              <a:ahLst/>
              <a:cxnLst/>
              <a:rect l="l" t="t" r="r" b="b"/>
              <a:pathLst>
                <a:path w="6252845" h="279400">
                  <a:moveTo>
                    <a:pt x="809625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809625" y="279400"/>
                  </a:lnTo>
                  <a:lnTo>
                    <a:pt x="809625" y="0"/>
                  </a:lnTo>
                  <a:close/>
                </a:path>
                <a:path w="6252845" h="279400">
                  <a:moveTo>
                    <a:pt x="1633855" y="0"/>
                  </a:moveTo>
                  <a:lnTo>
                    <a:pt x="1402080" y="0"/>
                  </a:lnTo>
                  <a:lnTo>
                    <a:pt x="1402080" y="279400"/>
                  </a:lnTo>
                  <a:lnTo>
                    <a:pt x="1633855" y="279400"/>
                  </a:lnTo>
                  <a:lnTo>
                    <a:pt x="1633855" y="0"/>
                  </a:lnTo>
                  <a:close/>
                </a:path>
                <a:path w="6252845" h="279400">
                  <a:moveTo>
                    <a:pt x="2920034" y="0"/>
                  </a:moveTo>
                  <a:lnTo>
                    <a:pt x="2804160" y="0"/>
                  </a:lnTo>
                  <a:lnTo>
                    <a:pt x="2804160" y="279400"/>
                  </a:lnTo>
                  <a:lnTo>
                    <a:pt x="2920034" y="279400"/>
                  </a:lnTo>
                  <a:lnTo>
                    <a:pt x="2920034" y="0"/>
                  </a:lnTo>
                  <a:close/>
                </a:path>
                <a:path w="6252845" h="279400">
                  <a:moveTo>
                    <a:pt x="4438015" y="0"/>
                  </a:moveTo>
                  <a:lnTo>
                    <a:pt x="4206240" y="0"/>
                  </a:lnTo>
                  <a:lnTo>
                    <a:pt x="4206240" y="279400"/>
                  </a:lnTo>
                  <a:lnTo>
                    <a:pt x="4438015" y="279400"/>
                  </a:lnTo>
                  <a:lnTo>
                    <a:pt x="4438015" y="0"/>
                  </a:lnTo>
                  <a:close/>
                </a:path>
                <a:path w="6252845" h="279400">
                  <a:moveTo>
                    <a:pt x="6252845" y="0"/>
                  </a:moveTo>
                  <a:lnTo>
                    <a:pt x="5608320" y="0"/>
                  </a:lnTo>
                  <a:lnTo>
                    <a:pt x="5608320" y="279400"/>
                  </a:lnTo>
                  <a:lnTo>
                    <a:pt x="6252845" y="279400"/>
                  </a:lnTo>
                  <a:lnTo>
                    <a:pt x="625284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90600" y="5824930"/>
            <a:ext cx="7010400" cy="365760"/>
            <a:chOff x="990600" y="5824930"/>
            <a:chExt cx="7010400" cy="365760"/>
          </a:xfrm>
        </p:grpSpPr>
        <p:sp>
          <p:nvSpPr>
            <p:cNvPr id="11" name="object 11"/>
            <p:cNvSpPr/>
            <p:nvPr/>
          </p:nvSpPr>
          <p:spPr>
            <a:xfrm>
              <a:off x="990600" y="5824931"/>
              <a:ext cx="7010400" cy="365760"/>
            </a:xfrm>
            <a:custGeom>
              <a:avLst/>
              <a:gdLst/>
              <a:ahLst/>
              <a:cxnLst/>
              <a:rect l="l" t="t" r="r" b="b"/>
              <a:pathLst>
                <a:path w="7010400" h="365760">
                  <a:moveTo>
                    <a:pt x="7010400" y="0"/>
                  </a:moveTo>
                  <a:lnTo>
                    <a:pt x="7010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7010400" y="365760"/>
                  </a:lnTo>
                  <a:lnTo>
                    <a:pt x="7010400" y="0"/>
                  </a:lnTo>
                  <a:close/>
                </a:path>
              </a:pathLst>
            </a:custGeom>
            <a:solidFill>
              <a:srgbClr val="F4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82040" y="5870651"/>
              <a:ext cx="6365875" cy="279400"/>
            </a:xfrm>
            <a:custGeom>
              <a:avLst/>
              <a:gdLst/>
              <a:ahLst/>
              <a:cxnLst/>
              <a:rect l="l" t="t" r="r" b="b"/>
              <a:pathLst>
                <a:path w="6365875" h="279400">
                  <a:moveTo>
                    <a:pt x="515937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515937" y="279400"/>
                  </a:lnTo>
                  <a:lnTo>
                    <a:pt x="515937" y="0"/>
                  </a:lnTo>
                  <a:close/>
                </a:path>
                <a:path w="6365875" h="279400">
                  <a:moveTo>
                    <a:pt x="1633855" y="0"/>
                  </a:moveTo>
                  <a:lnTo>
                    <a:pt x="1402080" y="0"/>
                  </a:lnTo>
                  <a:lnTo>
                    <a:pt x="1402080" y="279400"/>
                  </a:lnTo>
                  <a:lnTo>
                    <a:pt x="1633855" y="279400"/>
                  </a:lnTo>
                  <a:lnTo>
                    <a:pt x="1633855" y="0"/>
                  </a:lnTo>
                  <a:close/>
                </a:path>
                <a:path w="6365875" h="279400">
                  <a:moveTo>
                    <a:pt x="2920034" y="0"/>
                  </a:moveTo>
                  <a:lnTo>
                    <a:pt x="2804160" y="0"/>
                  </a:lnTo>
                  <a:lnTo>
                    <a:pt x="2804160" y="279400"/>
                  </a:lnTo>
                  <a:lnTo>
                    <a:pt x="2920034" y="279400"/>
                  </a:lnTo>
                  <a:lnTo>
                    <a:pt x="2920034" y="0"/>
                  </a:lnTo>
                  <a:close/>
                </a:path>
                <a:path w="6365875" h="279400">
                  <a:moveTo>
                    <a:pt x="4726940" y="0"/>
                  </a:moveTo>
                  <a:lnTo>
                    <a:pt x="4206240" y="0"/>
                  </a:lnTo>
                  <a:lnTo>
                    <a:pt x="4206240" y="279400"/>
                  </a:lnTo>
                  <a:lnTo>
                    <a:pt x="4726940" y="279400"/>
                  </a:lnTo>
                  <a:lnTo>
                    <a:pt x="4726940" y="0"/>
                  </a:lnTo>
                  <a:close/>
                </a:path>
                <a:path w="6365875" h="279400">
                  <a:moveTo>
                    <a:pt x="6365557" y="0"/>
                  </a:moveTo>
                  <a:lnTo>
                    <a:pt x="5608320" y="0"/>
                  </a:lnTo>
                  <a:lnTo>
                    <a:pt x="5608320" y="279400"/>
                  </a:lnTo>
                  <a:lnTo>
                    <a:pt x="6365557" y="279400"/>
                  </a:lnTo>
                  <a:lnTo>
                    <a:pt x="636555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84250" y="2160979"/>
          <a:ext cx="7010398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Gender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Distance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Ahmed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27.02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Amir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35.01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Ayesha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Usman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50.01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Umer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35.01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Angelina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Laura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10.05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Kristine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29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520" dirty="0">
                <a:solidFill>
                  <a:srgbClr val="000000"/>
                </a:solidFill>
                <a:latin typeface="Verdana"/>
                <a:cs typeface="Verdana"/>
              </a:rPr>
              <a:t>Example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538732"/>
            <a:ext cx="822261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>
              <a:lnSpc>
                <a:spcPct val="101099"/>
              </a:lnSpc>
              <a:spcBef>
                <a:spcPts val="75"/>
              </a:spcBef>
              <a:buFont typeface="Wingdings"/>
              <a:buChar char=""/>
              <a:tabLst>
                <a:tab pos="355600" algn="l"/>
              </a:tabLst>
            </a:pPr>
            <a:r>
              <a:rPr sz="1800" spc="-55" dirty="0">
                <a:latin typeface="Arial MT"/>
                <a:cs typeface="Arial MT"/>
              </a:rPr>
              <a:t>Finally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majority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voting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rule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applied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decide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the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the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test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instance, </a:t>
            </a:r>
            <a:r>
              <a:rPr sz="1800" spc="-145" dirty="0">
                <a:latin typeface="Arial MT"/>
                <a:cs typeface="Arial MT"/>
              </a:rPr>
              <a:t>which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is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cricket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this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case.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90600" y="3630369"/>
            <a:ext cx="7010400" cy="365760"/>
            <a:chOff x="990600" y="3630369"/>
            <a:chExt cx="7010400" cy="365760"/>
          </a:xfrm>
        </p:grpSpPr>
        <p:sp>
          <p:nvSpPr>
            <p:cNvPr id="5" name="object 5"/>
            <p:cNvSpPr/>
            <p:nvPr/>
          </p:nvSpPr>
          <p:spPr>
            <a:xfrm>
              <a:off x="990600" y="3630370"/>
              <a:ext cx="7010400" cy="365760"/>
            </a:xfrm>
            <a:custGeom>
              <a:avLst/>
              <a:gdLst/>
              <a:ahLst/>
              <a:cxnLst/>
              <a:rect l="l" t="t" r="r" b="b"/>
              <a:pathLst>
                <a:path w="7010400" h="365760">
                  <a:moveTo>
                    <a:pt x="7010400" y="0"/>
                  </a:moveTo>
                  <a:lnTo>
                    <a:pt x="7010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7010400" y="365760"/>
                  </a:lnTo>
                  <a:lnTo>
                    <a:pt x="7010400" y="0"/>
                  </a:lnTo>
                  <a:close/>
                </a:path>
              </a:pathLst>
            </a:custGeom>
            <a:solidFill>
              <a:srgbClr val="F4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2040" y="3676090"/>
              <a:ext cx="6252845" cy="279400"/>
            </a:xfrm>
            <a:custGeom>
              <a:avLst/>
              <a:gdLst/>
              <a:ahLst/>
              <a:cxnLst/>
              <a:rect l="l" t="t" r="r" b="b"/>
              <a:pathLst>
                <a:path w="6252845" h="279400">
                  <a:moveTo>
                    <a:pt x="4445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444500" y="279400"/>
                  </a:lnTo>
                  <a:lnTo>
                    <a:pt x="444500" y="0"/>
                  </a:lnTo>
                  <a:close/>
                </a:path>
                <a:path w="6252845" h="279400">
                  <a:moveTo>
                    <a:pt x="1633855" y="0"/>
                  </a:moveTo>
                  <a:lnTo>
                    <a:pt x="1402080" y="0"/>
                  </a:lnTo>
                  <a:lnTo>
                    <a:pt x="1402080" y="279400"/>
                  </a:lnTo>
                  <a:lnTo>
                    <a:pt x="1633855" y="279400"/>
                  </a:lnTo>
                  <a:lnTo>
                    <a:pt x="1633855" y="0"/>
                  </a:lnTo>
                  <a:close/>
                </a:path>
                <a:path w="6252845" h="279400">
                  <a:moveTo>
                    <a:pt x="2920034" y="0"/>
                  </a:moveTo>
                  <a:lnTo>
                    <a:pt x="2804160" y="0"/>
                  </a:lnTo>
                  <a:lnTo>
                    <a:pt x="2804160" y="279400"/>
                  </a:lnTo>
                  <a:lnTo>
                    <a:pt x="2920034" y="279400"/>
                  </a:lnTo>
                  <a:lnTo>
                    <a:pt x="2920034" y="0"/>
                  </a:lnTo>
                  <a:close/>
                </a:path>
                <a:path w="6252845" h="279400">
                  <a:moveTo>
                    <a:pt x="4322115" y="0"/>
                  </a:moveTo>
                  <a:lnTo>
                    <a:pt x="4206240" y="0"/>
                  </a:lnTo>
                  <a:lnTo>
                    <a:pt x="4206240" y="279400"/>
                  </a:lnTo>
                  <a:lnTo>
                    <a:pt x="4322115" y="279400"/>
                  </a:lnTo>
                  <a:lnTo>
                    <a:pt x="4322115" y="0"/>
                  </a:lnTo>
                  <a:close/>
                </a:path>
                <a:path w="6252845" h="279400">
                  <a:moveTo>
                    <a:pt x="6252845" y="0"/>
                  </a:moveTo>
                  <a:lnTo>
                    <a:pt x="5608320" y="0"/>
                  </a:lnTo>
                  <a:lnTo>
                    <a:pt x="5608320" y="279400"/>
                  </a:lnTo>
                  <a:lnTo>
                    <a:pt x="6252845" y="279400"/>
                  </a:lnTo>
                  <a:lnTo>
                    <a:pt x="625284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90600" y="5093410"/>
            <a:ext cx="7010400" cy="365760"/>
            <a:chOff x="990600" y="5093410"/>
            <a:chExt cx="7010400" cy="365760"/>
          </a:xfrm>
        </p:grpSpPr>
        <p:sp>
          <p:nvSpPr>
            <p:cNvPr id="8" name="object 8"/>
            <p:cNvSpPr/>
            <p:nvPr/>
          </p:nvSpPr>
          <p:spPr>
            <a:xfrm>
              <a:off x="990600" y="5093411"/>
              <a:ext cx="7010400" cy="365760"/>
            </a:xfrm>
            <a:custGeom>
              <a:avLst/>
              <a:gdLst/>
              <a:ahLst/>
              <a:cxnLst/>
              <a:rect l="l" t="t" r="r" b="b"/>
              <a:pathLst>
                <a:path w="7010400" h="365760">
                  <a:moveTo>
                    <a:pt x="7010400" y="0"/>
                  </a:moveTo>
                  <a:lnTo>
                    <a:pt x="7010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7010400" y="365760"/>
                  </a:lnTo>
                  <a:lnTo>
                    <a:pt x="7010400" y="0"/>
                  </a:lnTo>
                  <a:close/>
                </a:path>
              </a:pathLst>
            </a:custGeom>
            <a:solidFill>
              <a:srgbClr val="F4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2040" y="5139131"/>
              <a:ext cx="6252845" cy="279400"/>
            </a:xfrm>
            <a:custGeom>
              <a:avLst/>
              <a:gdLst/>
              <a:ahLst/>
              <a:cxnLst/>
              <a:rect l="l" t="t" r="r" b="b"/>
              <a:pathLst>
                <a:path w="6252845" h="279400">
                  <a:moveTo>
                    <a:pt x="809625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809625" y="279400"/>
                  </a:lnTo>
                  <a:lnTo>
                    <a:pt x="809625" y="0"/>
                  </a:lnTo>
                  <a:close/>
                </a:path>
                <a:path w="6252845" h="279400">
                  <a:moveTo>
                    <a:pt x="1633855" y="0"/>
                  </a:moveTo>
                  <a:lnTo>
                    <a:pt x="1402080" y="0"/>
                  </a:lnTo>
                  <a:lnTo>
                    <a:pt x="1402080" y="279400"/>
                  </a:lnTo>
                  <a:lnTo>
                    <a:pt x="1633855" y="279400"/>
                  </a:lnTo>
                  <a:lnTo>
                    <a:pt x="1633855" y="0"/>
                  </a:lnTo>
                  <a:close/>
                </a:path>
                <a:path w="6252845" h="279400">
                  <a:moveTo>
                    <a:pt x="2920034" y="0"/>
                  </a:moveTo>
                  <a:lnTo>
                    <a:pt x="2804160" y="0"/>
                  </a:lnTo>
                  <a:lnTo>
                    <a:pt x="2804160" y="279400"/>
                  </a:lnTo>
                  <a:lnTo>
                    <a:pt x="2920034" y="279400"/>
                  </a:lnTo>
                  <a:lnTo>
                    <a:pt x="2920034" y="0"/>
                  </a:lnTo>
                  <a:close/>
                </a:path>
                <a:path w="6252845" h="279400">
                  <a:moveTo>
                    <a:pt x="4438015" y="0"/>
                  </a:moveTo>
                  <a:lnTo>
                    <a:pt x="4206240" y="0"/>
                  </a:lnTo>
                  <a:lnTo>
                    <a:pt x="4206240" y="279400"/>
                  </a:lnTo>
                  <a:lnTo>
                    <a:pt x="4438015" y="279400"/>
                  </a:lnTo>
                  <a:lnTo>
                    <a:pt x="4438015" y="0"/>
                  </a:lnTo>
                  <a:close/>
                </a:path>
                <a:path w="6252845" h="279400">
                  <a:moveTo>
                    <a:pt x="6252845" y="0"/>
                  </a:moveTo>
                  <a:lnTo>
                    <a:pt x="5608320" y="0"/>
                  </a:lnTo>
                  <a:lnTo>
                    <a:pt x="5608320" y="279400"/>
                  </a:lnTo>
                  <a:lnTo>
                    <a:pt x="6252845" y="279400"/>
                  </a:lnTo>
                  <a:lnTo>
                    <a:pt x="625284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90600" y="5824930"/>
            <a:ext cx="7010400" cy="365760"/>
            <a:chOff x="990600" y="5824930"/>
            <a:chExt cx="7010400" cy="365760"/>
          </a:xfrm>
        </p:grpSpPr>
        <p:sp>
          <p:nvSpPr>
            <p:cNvPr id="11" name="object 11"/>
            <p:cNvSpPr/>
            <p:nvPr/>
          </p:nvSpPr>
          <p:spPr>
            <a:xfrm>
              <a:off x="990600" y="5824931"/>
              <a:ext cx="7010400" cy="365760"/>
            </a:xfrm>
            <a:custGeom>
              <a:avLst/>
              <a:gdLst/>
              <a:ahLst/>
              <a:cxnLst/>
              <a:rect l="l" t="t" r="r" b="b"/>
              <a:pathLst>
                <a:path w="7010400" h="365760">
                  <a:moveTo>
                    <a:pt x="7010400" y="0"/>
                  </a:moveTo>
                  <a:lnTo>
                    <a:pt x="7010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7010400" y="365760"/>
                  </a:lnTo>
                  <a:lnTo>
                    <a:pt x="7010400" y="0"/>
                  </a:lnTo>
                  <a:close/>
                </a:path>
              </a:pathLst>
            </a:custGeom>
            <a:solidFill>
              <a:srgbClr val="F4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82040" y="5870651"/>
              <a:ext cx="6365875" cy="279400"/>
            </a:xfrm>
            <a:custGeom>
              <a:avLst/>
              <a:gdLst/>
              <a:ahLst/>
              <a:cxnLst/>
              <a:rect l="l" t="t" r="r" b="b"/>
              <a:pathLst>
                <a:path w="6365875" h="279400">
                  <a:moveTo>
                    <a:pt x="515937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515937" y="279400"/>
                  </a:lnTo>
                  <a:lnTo>
                    <a:pt x="515937" y="0"/>
                  </a:lnTo>
                  <a:close/>
                </a:path>
                <a:path w="6365875" h="279400">
                  <a:moveTo>
                    <a:pt x="1633855" y="0"/>
                  </a:moveTo>
                  <a:lnTo>
                    <a:pt x="1402080" y="0"/>
                  </a:lnTo>
                  <a:lnTo>
                    <a:pt x="1402080" y="279400"/>
                  </a:lnTo>
                  <a:lnTo>
                    <a:pt x="1633855" y="279400"/>
                  </a:lnTo>
                  <a:lnTo>
                    <a:pt x="1633855" y="0"/>
                  </a:lnTo>
                  <a:close/>
                </a:path>
                <a:path w="6365875" h="279400">
                  <a:moveTo>
                    <a:pt x="2920034" y="0"/>
                  </a:moveTo>
                  <a:lnTo>
                    <a:pt x="2804160" y="0"/>
                  </a:lnTo>
                  <a:lnTo>
                    <a:pt x="2804160" y="279400"/>
                  </a:lnTo>
                  <a:lnTo>
                    <a:pt x="2920034" y="279400"/>
                  </a:lnTo>
                  <a:lnTo>
                    <a:pt x="2920034" y="0"/>
                  </a:lnTo>
                  <a:close/>
                </a:path>
                <a:path w="6365875" h="279400">
                  <a:moveTo>
                    <a:pt x="4726940" y="0"/>
                  </a:moveTo>
                  <a:lnTo>
                    <a:pt x="4206240" y="0"/>
                  </a:lnTo>
                  <a:lnTo>
                    <a:pt x="4206240" y="279400"/>
                  </a:lnTo>
                  <a:lnTo>
                    <a:pt x="4726940" y="279400"/>
                  </a:lnTo>
                  <a:lnTo>
                    <a:pt x="4726940" y="0"/>
                  </a:lnTo>
                  <a:close/>
                </a:path>
                <a:path w="6365875" h="279400">
                  <a:moveTo>
                    <a:pt x="6365557" y="0"/>
                  </a:moveTo>
                  <a:lnTo>
                    <a:pt x="5608320" y="0"/>
                  </a:lnTo>
                  <a:lnTo>
                    <a:pt x="5608320" y="279400"/>
                  </a:lnTo>
                  <a:lnTo>
                    <a:pt x="6365557" y="279400"/>
                  </a:lnTo>
                  <a:lnTo>
                    <a:pt x="636555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84250" y="2160979"/>
          <a:ext cx="7010398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Gender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Distance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Ahmed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27.02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Amir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35.01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Ayesha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9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Usman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50.01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Umer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35.01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Neither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Angelina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Laura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10.05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Football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Kristine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Cricket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00" spc="-490" dirty="0">
                <a:solidFill>
                  <a:srgbClr val="000000"/>
                </a:solidFill>
                <a:latin typeface="Verdana"/>
                <a:cs typeface="Verdana"/>
              </a:rPr>
              <a:t>Computational</a:t>
            </a:r>
            <a:r>
              <a:rPr sz="4000" spc="-28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65" dirty="0">
                <a:solidFill>
                  <a:srgbClr val="000000"/>
                </a:solidFill>
                <a:latin typeface="Verdana"/>
                <a:cs typeface="Verdana"/>
              </a:rPr>
              <a:t>Complexity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2326134"/>
            <a:ext cx="6680834" cy="157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000" spc="-204" dirty="0">
                <a:latin typeface="Arial MT"/>
                <a:cs typeface="Arial MT"/>
              </a:rPr>
              <a:t>Basic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KNN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algorithm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65" dirty="0">
                <a:latin typeface="Arial MT"/>
                <a:cs typeface="Arial MT"/>
              </a:rPr>
              <a:t>stores</a:t>
            </a:r>
            <a:r>
              <a:rPr sz="2000" dirty="0">
                <a:latin typeface="Arial MT"/>
                <a:cs typeface="Arial MT"/>
              </a:rPr>
              <a:t> all </a:t>
            </a:r>
            <a:r>
              <a:rPr sz="2000" spc="-10" dirty="0">
                <a:latin typeface="Arial MT"/>
                <a:cs typeface="Arial MT"/>
              </a:rPr>
              <a:t>examples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000" spc="-50" dirty="0">
                <a:latin typeface="Arial MT"/>
                <a:cs typeface="Arial MT"/>
              </a:rPr>
              <a:t>Very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expensive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large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number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samples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000" spc="-210" dirty="0">
                <a:latin typeface="Arial MT"/>
                <a:cs typeface="Arial MT"/>
              </a:rPr>
              <a:t>But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we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need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large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number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samples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KNN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work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well!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683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4000" spc="-509" dirty="0">
                <a:solidFill>
                  <a:srgbClr val="000000"/>
                </a:solidFill>
                <a:latin typeface="Verdana"/>
                <a:cs typeface="Verdana"/>
              </a:rPr>
              <a:t>Pros</a:t>
            </a:r>
            <a:r>
              <a:rPr sz="4000" spc="-3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34" dirty="0">
                <a:solidFill>
                  <a:srgbClr val="000000"/>
                </a:solidFill>
                <a:latin typeface="Verdana"/>
                <a:cs typeface="Verdana"/>
              </a:rPr>
              <a:t>and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605" dirty="0">
                <a:solidFill>
                  <a:srgbClr val="000000"/>
                </a:solidFill>
                <a:latin typeface="Verdana"/>
                <a:cs typeface="Verdana"/>
              </a:rPr>
              <a:t>Cons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27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4000" spc="-3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000" spc="-440" dirty="0">
                <a:solidFill>
                  <a:srgbClr val="000000"/>
                </a:solidFill>
                <a:latin typeface="Verdana"/>
                <a:cs typeface="Verdana"/>
              </a:rPr>
              <a:t>KNN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38515" y="6441620"/>
            <a:ext cx="155575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200" spc="-25" dirty="0">
                <a:solidFill>
                  <a:srgbClr val="1F497D"/>
                </a:solidFill>
                <a:latin typeface="Calibri"/>
                <a:cs typeface="Calibri"/>
              </a:rPr>
              <a:t>56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24000"/>
            <a:ext cx="8305800" cy="50774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8340" y="3144011"/>
            <a:ext cx="3468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4" dirty="0">
                <a:solidFill>
                  <a:srgbClr val="FFFFFF"/>
                </a:solidFill>
                <a:latin typeface="Verdana"/>
                <a:cs typeface="Verdana"/>
              </a:rPr>
              <a:t>1.The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algorithm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7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simple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5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60" dirty="0">
                <a:solidFill>
                  <a:srgbClr val="FFFFFF"/>
                </a:solidFill>
                <a:latin typeface="Verdana"/>
                <a:cs typeface="Verdana"/>
              </a:rPr>
              <a:t>easy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6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implement.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3576828"/>
            <a:ext cx="349821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75"/>
              </a:spcBef>
            </a:pP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2.There’s</a:t>
            </a:r>
            <a:r>
              <a:rPr sz="14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25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need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7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40" dirty="0">
                <a:solidFill>
                  <a:srgbClr val="FFFFFF"/>
                </a:solidFill>
                <a:latin typeface="Verdana"/>
                <a:cs typeface="Verdana"/>
              </a:rPr>
              <a:t>build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4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95" dirty="0">
                <a:solidFill>
                  <a:srgbClr val="FFFFFF"/>
                </a:solidFill>
                <a:latin typeface="Verdana"/>
                <a:cs typeface="Verdana"/>
              </a:rPr>
              <a:t>model,</a:t>
            </a: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25" dirty="0">
                <a:solidFill>
                  <a:srgbClr val="FFFFFF"/>
                </a:solidFill>
                <a:latin typeface="Verdana"/>
                <a:cs typeface="Verdana"/>
              </a:rPr>
              <a:t>tune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40" dirty="0">
                <a:solidFill>
                  <a:srgbClr val="FFFFFF"/>
                </a:solidFill>
                <a:latin typeface="Verdana"/>
                <a:cs typeface="Verdana"/>
              </a:rPr>
              <a:t>several 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parameters,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29" dirty="0">
                <a:solidFill>
                  <a:srgbClr val="FFFFFF"/>
                </a:solidFill>
                <a:latin typeface="Verdana"/>
                <a:cs typeface="Verdana"/>
              </a:rPr>
              <a:t>make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Verdana"/>
                <a:cs typeface="Verdana"/>
              </a:rPr>
              <a:t>additional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35" dirty="0">
                <a:solidFill>
                  <a:srgbClr val="FFFFFF"/>
                </a:solidFill>
                <a:latin typeface="Verdana"/>
                <a:cs typeface="Verdana"/>
              </a:rPr>
              <a:t>assumptions.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4210811"/>
            <a:ext cx="349948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75"/>
              </a:spcBef>
            </a:pP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3.The</a:t>
            </a:r>
            <a:r>
              <a:rPr sz="14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60" dirty="0">
                <a:solidFill>
                  <a:srgbClr val="FFFFFF"/>
                </a:solidFill>
                <a:latin typeface="Verdana"/>
                <a:cs typeface="Verdana"/>
              </a:rPr>
              <a:t>algorithm</a:t>
            </a:r>
            <a:r>
              <a:rPr sz="14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50" dirty="0">
                <a:solidFill>
                  <a:srgbClr val="FFFFFF"/>
                </a:solidFill>
                <a:latin typeface="Verdana"/>
                <a:cs typeface="Verdana"/>
              </a:rPr>
              <a:t>versatile.</a:t>
            </a:r>
            <a:r>
              <a:rPr sz="14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0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14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14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14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used</a:t>
            </a:r>
            <a:r>
              <a:rPr sz="14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Verdana"/>
                <a:cs typeface="Verdana"/>
              </a:rPr>
              <a:t>for </a:t>
            </a:r>
            <a:r>
              <a:rPr sz="1400" spc="-155" dirty="0">
                <a:solidFill>
                  <a:srgbClr val="FFFFFF"/>
                </a:solidFill>
                <a:latin typeface="Verdana"/>
                <a:cs typeface="Verdana"/>
              </a:rPr>
              <a:t>classification,</a:t>
            </a:r>
            <a:r>
              <a:rPr sz="14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regression,</a:t>
            </a:r>
            <a:r>
              <a:rPr sz="14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5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searching.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4860035"/>
            <a:ext cx="3498850" cy="7721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-8890">
              <a:lnSpc>
                <a:spcPts val="1580"/>
              </a:lnSpc>
              <a:spcBef>
                <a:spcPts val="235"/>
              </a:spcBef>
              <a:buSzPct val="75000"/>
              <a:buAutoNum type="arabicPeriod" startAt="4"/>
              <a:tabLst>
                <a:tab pos="149860" algn="l"/>
              </a:tabLst>
            </a:pPr>
            <a:r>
              <a:rPr sz="1400" spc="-235" dirty="0">
                <a:solidFill>
                  <a:srgbClr val="FFFFFF"/>
                </a:solidFill>
                <a:latin typeface="Verdana"/>
                <a:cs typeface="Verdana"/>
              </a:rPr>
              <a:t>	The</a:t>
            </a:r>
            <a:r>
              <a:rPr sz="140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Verdana"/>
                <a:cs typeface="Verdana"/>
              </a:rPr>
              <a:t>KNN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65" dirty="0">
                <a:solidFill>
                  <a:srgbClr val="FFFFFF"/>
                </a:solidFill>
                <a:latin typeface="Verdana"/>
                <a:cs typeface="Verdana"/>
              </a:rPr>
              <a:t>algorithm</a:t>
            </a:r>
            <a:r>
              <a:rPr sz="14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4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robust</a:t>
            </a:r>
            <a:r>
              <a:rPr sz="14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4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noisy</a:t>
            </a:r>
            <a:r>
              <a:rPr sz="14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35" dirty="0">
                <a:solidFill>
                  <a:srgbClr val="FFFFFF"/>
                </a:solidFill>
                <a:latin typeface="Verdana"/>
                <a:cs typeface="Verdana"/>
              </a:rPr>
              <a:t>training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data.</a:t>
            </a:r>
            <a:endParaRPr sz="1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905"/>
              </a:spcBef>
              <a:buSzPct val="75000"/>
              <a:buAutoNum type="arabicPeriod" startAt="4"/>
              <a:tabLst>
                <a:tab pos="354965" algn="l"/>
              </a:tabLst>
            </a:pPr>
            <a:r>
              <a:rPr sz="1400" spc="-2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35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algorithm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65" dirty="0">
                <a:solidFill>
                  <a:srgbClr val="FFFFFF"/>
                </a:solidFill>
                <a:latin typeface="Verdana"/>
                <a:cs typeface="Verdana"/>
              </a:rPr>
              <a:t>learns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65" dirty="0">
                <a:solidFill>
                  <a:srgbClr val="FFFFFF"/>
                </a:solidFill>
                <a:latin typeface="Verdana"/>
                <a:cs typeface="Verdana"/>
              </a:rPr>
              <a:t>very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Verdana"/>
                <a:cs typeface="Verdana"/>
              </a:rPr>
              <a:t>quickly.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50740" y="3144011"/>
            <a:ext cx="3804920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1.</a:t>
            </a:r>
            <a:r>
              <a:rPr sz="1400" spc="8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400" spc="-15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4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Verdana"/>
                <a:cs typeface="Verdana"/>
              </a:rPr>
              <a:t>algorithm</a:t>
            </a:r>
            <a:r>
              <a:rPr sz="14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gets</a:t>
            </a:r>
            <a:r>
              <a:rPr sz="14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30" dirty="0">
                <a:solidFill>
                  <a:srgbClr val="FFFFFF"/>
                </a:solidFill>
                <a:latin typeface="Verdana"/>
                <a:cs typeface="Verdana"/>
              </a:rPr>
              <a:t>significantly</a:t>
            </a:r>
            <a:r>
              <a:rPr sz="14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40" dirty="0">
                <a:solidFill>
                  <a:srgbClr val="FFFFFF"/>
                </a:solidFill>
                <a:latin typeface="Verdana"/>
                <a:cs typeface="Verdana"/>
              </a:rPr>
              <a:t>slower</a:t>
            </a:r>
            <a:r>
              <a:rPr sz="14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14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1400" spc="-265" dirty="0">
                <a:solidFill>
                  <a:srgbClr val="FFFFFF"/>
                </a:solidFill>
                <a:latin typeface="Verdana"/>
                <a:cs typeface="Verdana"/>
              </a:rPr>
              <a:t>number</a:t>
            </a:r>
            <a:r>
              <a:rPr sz="14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examples</a:t>
            </a:r>
            <a:r>
              <a:rPr sz="14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and/or</a:t>
            </a:r>
            <a:r>
              <a:rPr sz="14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50" dirty="0">
                <a:solidFill>
                  <a:srgbClr val="FFFFFF"/>
                </a:solidFill>
                <a:latin typeface="Verdana"/>
                <a:cs typeface="Verdana"/>
              </a:rPr>
              <a:t>predictors/independent </a:t>
            </a:r>
            <a:r>
              <a:rPr sz="1400" spc="-140" dirty="0">
                <a:solidFill>
                  <a:srgbClr val="FFFFFF"/>
                </a:solidFill>
                <a:latin typeface="Verdana"/>
                <a:cs typeface="Verdana"/>
              </a:rPr>
              <a:t>variables</a:t>
            </a:r>
            <a:r>
              <a:rPr sz="14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/>
                <a:cs typeface="Verdana"/>
              </a:rPr>
              <a:t>increase.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0740" y="3793235"/>
            <a:ext cx="3804285" cy="165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340360" algn="just">
              <a:lnSpc>
                <a:spcPct val="97900"/>
              </a:lnSpc>
              <a:spcBef>
                <a:spcPts val="135"/>
              </a:spcBef>
              <a:buAutoNum type="arabicPeriod" startAt="2"/>
              <a:tabLst>
                <a:tab pos="353060" algn="l"/>
              </a:tabLst>
            </a:pP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Expensive-</a:t>
            </a:r>
            <a:r>
              <a:rPr sz="1400" spc="-26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4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60" dirty="0">
                <a:solidFill>
                  <a:srgbClr val="FFFFFF"/>
                </a:solidFill>
                <a:latin typeface="Verdana"/>
                <a:cs typeface="Verdana"/>
              </a:rPr>
              <a:t>determine</a:t>
            </a:r>
            <a:r>
              <a:rPr sz="14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400" spc="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50" dirty="0">
                <a:solidFill>
                  <a:srgbClr val="FFFFFF"/>
                </a:solidFill>
                <a:latin typeface="Verdana"/>
                <a:cs typeface="Verdana"/>
              </a:rPr>
              <a:t>nearest</a:t>
            </a:r>
            <a:r>
              <a:rPr sz="140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55" dirty="0">
                <a:solidFill>
                  <a:srgbClr val="FFFFFF"/>
                </a:solidFill>
                <a:latin typeface="Verdana"/>
                <a:cs typeface="Verdana"/>
              </a:rPr>
              <a:t>neighbour </a:t>
            </a:r>
            <a:r>
              <a:rPr sz="1400" spc="-3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4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70" dirty="0">
                <a:solidFill>
                  <a:srgbClr val="FFFFFF"/>
                </a:solidFill>
                <a:latin typeface="Verdana"/>
                <a:cs typeface="Verdana"/>
              </a:rPr>
              <a:t>query</a:t>
            </a:r>
            <a:r>
              <a:rPr sz="14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point</a:t>
            </a:r>
            <a:r>
              <a:rPr sz="14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00" dirty="0">
                <a:solidFill>
                  <a:srgbClr val="FFFFFF"/>
                </a:solidFill>
                <a:latin typeface="Verdana"/>
                <a:cs typeface="Verdana"/>
              </a:rPr>
              <a:t>q,</a:t>
            </a:r>
            <a:r>
              <a:rPr sz="14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345" dirty="0">
                <a:solidFill>
                  <a:srgbClr val="FFFFFF"/>
                </a:solidFill>
                <a:latin typeface="Verdana"/>
                <a:cs typeface="Verdana"/>
              </a:rPr>
              <a:t>must</a:t>
            </a:r>
            <a:r>
              <a:rPr sz="1400" spc="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35" dirty="0">
                <a:solidFill>
                  <a:srgbClr val="FFFFFF"/>
                </a:solidFill>
                <a:latin typeface="Verdana"/>
                <a:cs typeface="Verdana"/>
              </a:rPr>
              <a:t>compute</a:t>
            </a:r>
            <a:r>
              <a:rPr sz="1400" spc="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400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distance</a:t>
            </a:r>
            <a:r>
              <a:rPr sz="14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1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400" spc="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all </a:t>
            </a:r>
            <a:r>
              <a:rPr sz="1400" spc="-1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60" dirty="0">
                <a:solidFill>
                  <a:srgbClr val="FFFFFF"/>
                </a:solidFill>
                <a:latin typeface="Verdana"/>
                <a:cs typeface="Verdana"/>
              </a:rPr>
              <a:t>training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Verdana"/>
                <a:cs typeface="Verdana"/>
              </a:rPr>
              <a:t>examples</a:t>
            </a:r>
            <a:endParaRPr sz="1400">
              <a:latin typeface="Verdana"/>
              <a:cs typeface="Verdana"/>
            </a:endParaRPr>
          </a:p>
          <a:p>
            <a:pPr marL="12700" marR="6350" indent="340360" algn="just">
              <a:lnSpc>
                <a:spcPct val="101400"/>
              </a:lnSpc>
              <a:buAutoNum type="arabicPeriod" startAt="2"/>
              <a:tabLst>
                <a:tab pos="353060" algn="l"/>
              </a:tabLst>
            </a:pP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Storage</a:t>
            </a:r>
            <a:r>
              <a:rPr sz="14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15" dirty="0">
                <a:solidFill>
                  <a:srgbClr val="FFFFFF"/>
                </a:solidFill>
                <a:latin typeface="Verdana"/>
                <a:cs typeface="Verdana"/>
              </a:rPr>
              <a:t>Requirements-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Must</a:t>
            </a:r>
            <a:r>
              <a:rPr sz="14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store</a:t>
            </a:r>
            <a:r>
              <a:rPr sz="14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sz="14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35" dirty="0">
                <a:solidFill>
                  <a:srgbClr val="FFFFFF"/>
                </a:solidFill>
                <a:latin typeface="Verdana"/>
                <a:cs typeface="Verdana"/>
              </a:rPr>
              <a:t>training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data.</a:t>
            </a:r>
            <a:endParaRPr sz="1400">
              <a:latin typeface="Verdana"/>
              <a:cs typeface="Verdana"/>
            </a:endParaRPr>
          </a:p>
          <a:p>
            <a:pPr marL="353060" indent="-340360" algn="just">
              <a:lnSpc>
                <a:spcPts val="1405"/>
              </a:lnSpc>
              <a:buAutoNum type="arabicPeriod" startAt="2"/>
              <a:tabLst>
                <a:tab pos="353060" algn="l"/>
              </a:tabLst>
            </a:pP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High</a:t>
            </a:r>
            <a:r>
              <a:rPr sz="1400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70" dirty="0">
                <a:solidFill>
                  <a:srgbClr val="FFFFFF"/>
                </a:solidFill>
                <a:latin typeface="Verdana"/>
                <a:cs typeface="Verdana"/>
              </a:rPr>
              <a:t>Dimensional</a:t>
            </a:r>
            <a:r>
              <a:rPr sz="1400" spc="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Verdana"/>
                <a:cs typeface="Verdana"/>
              </a:rPr>
              <a:t>Data-</a:t>
            </a:r>
            <a:r>
              <a:rPr sz="1400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35" dirty="0">
                <a:solidFill>
                  <a:srgbClr val="FFFFFF"/>
                </a:solidFill>
                <a:latin typeface="Verdana"/>
                <a:cs typeface="Verdana"/>
              </a:rPr>
              <a:t>Required</a:t>
            </a:r>
            <a:r>
              <a:rPr sz="1400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amount</a:t>
            </a:r>
            <a:r>
              <a:rPr sz="1400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endParaRPr sz="1400">
              <a:latin typeface="Verdana"/>
              <a:cs typeface="Verdana"/>
            </a:endParaRPr>
          </a:p>
          <a:p>
            <a:pPr marL="12700" marR="5715" algn="just">
              <a:lnSpc>
                <a:spcPts val="1490"/>
              </a:lnSpc>
              <a:spcBef>
                <a:spcPts val="125"/>
              </a:spcBef>
            </a:pPr>
            <a:r>
              <a:rPr sz="1400" spc="-165" dirty="0">
                <a:solidFill>
                  <a:srgbClr val="FFFFFF"/>
                </a:solidFill>
                <a:latin typeface="Verdana"/>
                <a:cs typeface="Verdana"/>
              </a:rPr>
              <a:t>training</a:t>
            </a:r>
            <a:r>
              <a:rPr sz="14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14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95" dirty="0">
                <a:solidFill>
                  <a:srgbClr val="FFFFFF"/>
                </a:solidFill>
                <a:latin typeface="Verdana"/>
                <a:cs typeface="Verdana"/>
              </a:rPr>
              <a:t>increases</a:t>
            </a:r>
            <a:r>
              <a:rPr sz="14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55" dirty="0">
                <a:solidFill>
                  <a:srgbClr val="FFFFFF"/>
                </a:solidFill>
                <a:latin typeface="Verdana"/>
                <a:cs typeface="Verdana"/>
              </a:rPr>
              <a:t>exponentially</a:t>
            </a:r>
            <a:r>
              <a:rPr sz="14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29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40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dimension, </a:t>
            </a:r>
            <a:r>
              <a:rPr sz="1400" spc="-225" dirty="0">
                <a:solidFill>
                  <a:srgbClr val="FFFFFF"/>
                </a:solidFill>
                <a:latin typeface="Verdana"/>
                <a:cs typeface="Verdana"/>
              </a:rPr>
              <a:t>so,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computational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00" dirty="0">
                <a:solidFill>
                  <a:srgbClr val="FFFFFF"/>
                </a:solidFill>
                <a:latin typeface="Verdana"/>
                <a:cs typeface="Verdana"/>
              </a:rPr>
              <a:t>cost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Verdana"/>
                <a:cs typeface="Verdana"/>
              </a:rPr>
              <a:t>also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increases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Verdana"/>
                <a:cs typeface="Verdana"/>
              </a:rPr>
              <a:t>dramatically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6938" y="4963"/>
            <a:ext cx="1477062" cy="156971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100"/>
              </a:spcBef>
            </a:pPr>
            <a:r>
              <a:rPr spc="-355" dirty="0"/>
              <a:t>For</a:t>
            </a:r>
            <a:r>
              <a:rPr spc="-45" dirty="0"/>
              <a:t> </a:t>
            </a:r>
            <a:r>
              <a:rPr spc="-235" dirty="0"/>
              <a:t>any</a:t>
            </a:r>
            <a:r>
              <a:rPr spc="-110" dirty="0"/>
              <a:t> </a:t>
            </a:r>
            <a:r>
              <a:rPr spc="-140" dirty="0"/>
              <a:t>query</a:t>
            </a:r>
            <a:r>
              <a:rPr spc="-170" dirty="0"/>
              <a:t> </a:t>
            </a:r>
            <a:r>
              <a:rPr spc="-320" dirty="0"/>
              <a:t>Feel</a:t>
            </a:r>
            <a:r>
              <a:rPr spc="15" dirty="0"/>
              <a:t> </a:t>
            </a:r>
            <a:r>
              <a:rPr spc="-350" dirty="0"/>
              <a:t>Free</a:t>
            </a:r>
            <a:r>
              <a:rPr spc="-45" dirty="0"/>
              <a:t> </a:t>
            </a:r>
            <a:r>
              <a:rPr spc="-35" dirty="0"/>
              <a:t>to</a:t>
            </a:r>
            <a:r>
              <a:rPr spc="-204" dirty="0"/>
              <a:t> </a:t>
            </a:r>
            <a:r>
              <a:rPr spc="-400" dirty="0"/>
              <a:t>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312" y="1252220"/>
            <a:ext cx="186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1768937"/>
            <a:ext cx="5181600" cy="446215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lang="en-US" spc="-140" dirty="0"/>
              <a:t> </a:t>
            </a:r>
            <a:endParaRPr spc="-10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2647</Words>
  <Application>Microsoft Office PowerPoint</Application>
  <PresentationFormat>On-screen Show (4:3)</PresentationFormat>
  <Paragraphs>572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MS PGothic</vt:lpstr>
      <vt:lpstr>Aptos</vt:lpstr>
      <vt:lpstr>Arial</vt:lpstr>
      <vt:lpstr>Arial MT</vt:lpstr>
      <vt:lpstr>Calibri</vt:lpstr>
      <vt:lpstr>Symbol</vt:lpstr>
      <vt:lpstr>Times New Roman</vt:lpstr>
      <vt:lpstr>Verdana</vt:lpstr>
      <vt:lpstr>Wingdings</vt:lpstr>
      <vt:lpstr>Office Theme</vt:lpstr>
      <vt:lpstr>PowerPoint Presentation</vt:lpstr>
      <vt:lpstr>K Nearest Neighbor</vt:lpstr>
      <vt:lpstr>“Tell me who your neighbors are, and I’ll tell you who you are”</vt:lpstr>
      <vt:lpstr>Introduction</vt:lpstr>
      <vt:lpstr>Different Learning Methods</vt:lpstr>
      <vt:lpstr>Different Learning Methods</vt:lpstr>
      <vt:lpstr>Instance-based Learning</vt:lpstr>
      <vt:lpstr>K-Nearest Neighbor</vt:lpstr>
      <vt:lpstr>KNN Classification Approach</vt:lpstr>
      <vt:lpstr>Guess</vt:lpstr>
      <vt:lpstr>KNN- Different names</vt:lpstr>
      <vt:lpstr>KNN Algorithm</vt:lpstr>
      <vt:lpstr>Distance Functions</vt:lpstr>
      <vt:lpstr>Distance Functions</vt:lpstr>
      <vt:lpstr>Hamming Distance</vt:lpstr>
      <vt:lpstr>KNN Example</vt:lpstr>
      <vt:lpstr>Effect of K</vt:lpstr>
      <vt:lpstr>Selection of K</vt:lpstr>
      <vt:lpstr>Selection of K</vt:lpstr>
      <vt:lpstr>KNN – Number of Neighbors</vt:lpstr>
      <vt:lpstr>Cross Validation</vt:lpstr>
      <vt:lpstr>Cross Validation</vt:lpstr>
      <vt:lpstr>Cross Validation</vt:lpstr>
      <vt:lpstr>Cross Validation-Holdout vs k-fold </vt:lpstr>
      <vt:lpstr>k-fold Cross Validation </vt:lpstr>
      <vt:lpstr>KNN Classification – Distance</vt:lpstr>
      <vt:lpstr>KNN Classification – Distance</vt:lpstr>
      <vt:lpstr>KNN Classification – Distance</vt:lpstr>
      <vt:lpstr>Example</vt:lpstr>
      <vt:lpstr>Example</vt:lpstr>
      <vt:lpstr>Example</vt:lpstr>
      <vt:lpstr>Example</vt:lpstr>
      <vt:lpstr>Example</vt:lpstr>
      <vt:lpstr>Computational Complexity</vt:lpstr>
      <vt:lpstr>Pros and Cons of KNN</vt:lpstr>
      <vt:lpstr>For any query Feel Free to 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Qurat-ul-Ain</cp:lastModifiedBy>
  <cp:revision>6</cp:revision>
  <dcterms:created xsi:type="dcterms:W3CDTF">2024-11-28T05:04:02Z</dcterms:created>
  <dcterms:modified xsi:type="dcterms:W3CDTF">2025-10-18T05:37:43Z</dcterms:modified>
</cp:coreProperties>
</file>