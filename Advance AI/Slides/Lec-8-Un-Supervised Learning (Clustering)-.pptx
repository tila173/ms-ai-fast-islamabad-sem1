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media/image6.jpg" ContentType="image/jpg"/>
  <Override PartName="/ppt/media/image8.jpg" ContentType="image/jpg"/>
  <Override PartName="/ppt/media/image9.jpg" ContentType="image/jpg"/>
  <Override PartName="/ppt/media/image10.jpg" ContentType="image/jpg"/>
  <Override PartName="/ppt/media/image11.jpg" ContentType="image/jpg"/>
  <Override PartName="/ppt/media/image12.jpg" ContentType="image/jpg"/>
  <Override PartName="/ppt/media/image13.jpg" ContentType="image/jpg"/>
  <Override PartName="/ppt/media/image15.jpg" ContentType="image/jpg"/>
  <Override PartName="/ppt/media/image21.jpg" ContentType="image/jpg"/>
  <Override PartName="/ppt/media/image23.jpg" ContentType="image/jpg"/>
  <Override PartName="/ppt/media/image24.jpg" ContentType="image/jpg"/>
  <Override PartName="/ppt/media/image25.jpg" ContentType="image/jpg"/>
  <Override PartName="/ppt/media/image26.jpg" ContentType="image/jpg"/>
  <Override PartName="/ppt/media/image34.jpg" ContentType="image/jpg"/>
  <Override PartName="/ppt/media/image35.jpg" ContentType="image/jpg"/>
  <Override PartName="/ppt/media/image42.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20.jpg" ContentType="image/jpg"/>
  <Override PartName="/ppt/media/image121.jpg" ContentType="image/jpg"/>
  <Override PartName="/ppt/media/image122.jpg" ContentType="image/jpg"/>
  <Override PartName="/ppt/media/image123.jpg" ContentType="image/jpg"/>
  <Override PartName="/ppt/media/image124.jpg" ContentType="image/jpg"/>
  <Override PartName="/ppt/media/image144.jpg" ContentType="image/jpg"/>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60" r:id="rId2"/>
    <p:sldMasterId id="2147483688" r:id="rId3"/>
  </p:sldMasterIdLst>
  <p:notesMasterIdLst>
    <p:notesMasterId r:id="rId63"/>
  </p:notesMasterIdLst>
  <p:handoutMasterIdLst>
    <p:handoutMasterId r:id="rId64"/>
  </p:handoutMasterIdLst>
  <p:sldIdLst>
    <p:sldId id="275" r:id="rId4"/>
    <p:sldId id="423" r:id="rId5"/>
    <p:sldId id="428" r:id="rId6"/>
    <p:sldId id="446" r:id="rId7"/>
    <p:sldId id="429" r:id="rId8"/>
    <p:sldId id="404" r:id="rId9"/>
    <p:sldId id="400" r:id="rId10"/>
    <p:sldId id="401" r:id="rId11"/>
    <p:sldId id="402" r:id="rId12"/>
    <p:sldId id="352" r:id="rId13"/>
    <p:sldId id="447" r:id="rId14"/>
    <p:sldId id="465" r:id="rId15"/>
    <p:sldId id="433" r:id="rId16"/>
    <p:sldId id="443" r:id="rId17"/>
    <p:sldId id="434" r:id="rId18"/>
    <p:sldId id="435" r:id="rId19"/>
    <p:sldId id="466" r:id="rId20"/>
    <p:sldId id="473" r:id="rId21"/>
    <p:sldId id="449" r:id="rId22"/>
    <p:sldId id="450" r:id="rId23"/>
    <p:sldId id="451" r:id="rId24"/>
    <p:sldId id="475" r:id="rId25"/>
    <p:sldId id="456" r:id="rId26"/>
    <p:sldId id="467" r:id="rId27"/>
    <p:sldId id="444" r:id="rId28"/>
    <p:sldId id="445" r:id="rId29"/>
    <p:sldId id="458" r:id="rId30"/>
    <p:sldId id="356" r:id="rId31"/>
    <p:sldId id="468" r:id="rId32"/>
    <p:sldId id="412" r:id="rId33"/>
    <p:sldId id="420" r:id="rId34"/>
    <p:sldId id="421" r:id="rId35"/>
    <p:sldId id="422" r:id="rId36"/>
    <p:sldId id="424" r:id="rId37"/>
    <p:sldId id="425" r:id="rId38"/>
    <p:sldId id="471" r:id="rId39"/>
    <p:sldId id="472" r:id="rId40"/>
    <p:sldId id="426" r:id="rId41"/>
    <p:sldId id="427" r:id="rId42"/>
    <p:sldId id="357" r:id="rId43"/>
    <p:sldId id="358" r:id="rId44"/>
    <p:sldId id="359" r:id="rId45"/>
    <p:sldId id="360" r:id="rId46"/>
    <p:sldId id="361" r:id="rId47"/>
    <p:sldId id="362" r:id="rId48"/>
    <p:sldId id="363" r:id="rId49"/>
    <p:sldId id="364" r:id="rId50"/>
    <p:sldId id="365" r:id="rId51"/>
    <p:sldId id="366" r:id="rId52"/>
    <p:sldId id="416" r:id="rId53"/>
    <p:sldId id="474" r:id="rId54"/>
    <p:sldId id="461" r:id="rId55"/>
    <p:sldId id="469" r:id="rId56"/>
    <p:sldId id="462" r:id="rId57"/>
    <p:sldId id="417" r:id="rId58"/>
    <p:sldId id="470" r:id="rId59"/>
    <p:sldId id="418" r:id="rId60"/>
    <p:sldId id="419" r:id="rId61"/>
    <p:sldId id="464"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5076" autoAdjust="0"/>
  </p:normalViewPr>
  <p:slideViewPr>
    <p:cSldViewPr>
      <p:cViewPr varScale="1">
        <p:scale>
          <a:sx n="75" d="100"/>
          <a:sy n="75" d="100"/>
        </p:scale>
        <p:origin x="1685"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6D97F04-B7F0-46D7-ADDD-D83F3A551FDC}" type="datetimeFigureOut">
              <a:rPr lang="en-US" smtClean="0"/>
              <a:pPr/>
              <a:t>10/18/2025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C8A15A-E4B5-414C-837E-C6BB1B7F0900}" type="slidenum">
              <a:rPr lang="en-US" smtClean="0"/>
              <a:pPr/>
              <a:t>‹#›</a:t>
            </a:fld>
            <a:endParaRPr lang="en-US" dirty="0"/>
          </a:p>
        </p:txBody>
      </p:sp>
    </p:spTree>
    <p:extLst>
      <p:ext uri="{BB962C8B-B14F-4D97-AF65-F5344CB8AC3E}">
        <p14:creationId xmlns:p14="http://schemas.microsoft.com/office/powerpoint/2010/main" val="25368806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655BC4-54A9-44EE-A205-5278EB21D91F}" type="datetimeFigureOut">
              <a:rPr lang="en-US" smtClean="0"/>
              <a:pPr/>
              <a:t>10/18/2025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D87BF1-B511-42D4-934F-D4C71937D3ED}" type="slidenum">
              <a:rPr lang="en-US" smtClean="0"/>
              <a:pPr/>
              <a:t>‹#›</a:t>
            </a:fld>
            <a:endParaRPr lang="en-US" dirty="0"/>
          </a:p>
        </p:txBody>
      </p:sp>
    </p:spTree>
    <p:extLst>
      <p:ext uri="{BB962C8B-B14F-4D97-AF65-F5344CB8AC3E}">
        <p14:creationId xmlns:p14="http://schemas.microsoft.com/office/powerpoint/2010/main" val="257285378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Probability" TargetMode="External"/><Relationship Id="rId7" Type="http://schemas.openxmlformats.org/officeDocument/2006/relationships/hyperlink" Target="https://en.wikipedia.org/wiki/Probability_density_function"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en.wikipedia.org/wiki/Data" TargetMode="External"/><Relationship Id="rId5" Type="http://schemas.openxmlformats.org/officeDocument/2006/relationships/hyperlink" Target="https://en.wikipedia.org/wiki/Estimate" TargetMode="External"/><Relationship Id="rId4" Type="http://schemas.openxmlformats.org/officeDocument/2006/relationships/hyperlink" Target="https://en.wikipedia.org/wiki/Statistic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a:hlinkClick r:id="rId3" tooltip="Probability"/>
              </a:rPr>
              <a:t>probability</a:t>
            </a:r>
            <a:r>
              <a:rPr lang="en-US" dirty="0"/>
              <a:t> and </a:t>
            </a:r>
            <a:r>
              <a:rPr lang="en-US" dirty="0">
                <a:hlinkClick r:id="rId4" tooltip="Statistics"/>
              </a:rPr>
              <a:t>statistics</a:t>
            </a:r>
            <a:r>
              <a:rPr lang="en-US" dirty="0"/>
              <a:t>, </a:t>
            </a:r>
            <a:r>
              <a:rPr lang="en-US" b="1" dirty="0"/>
              <a:t>density estimation</a:t>
            </a:r>
            <a:r>
              <a:rPr lang="en-US" dirty="0"/>
              <a:t> is the construction of an </a:t>
            </a:r>
            <a:r>
              <a:rPr lang="en-US" dirty="0">
                <a:hlinkClick r:id="rId5" tooltip="Estimate"/>
              </a:rPr>
              <a:t>estimate</a:t>
            </a:r>
            <a:r>
              <a:rPr lang="en-US" dirty="0"/>
              <a:t>, based on observed </a:t>
            </a:r>
            <a:r>
              <a:rPr lang="en-US" dirty="0">
                <a:hlinkClick r:id="rId6" tooltip="Data"/>
              </a:rPr>
              <a:t>data</a:t>
            </a:r>
            <a:r>
              <a:rPr lang="en-US" dirty="0"/>
              <a:t>, of an unobservable underlying </a:t>
            </a:r>
            <a:r>
              <a:rPr lang="en-US" dirty="0">
                <a:hlinkClick r:id="rId7" tooltip="Probability density function"/>
              </a:rPr>
              <a:t>probability density function</a:t>
            </a:r>
            <a:r>
              <a:rPr lang="en-US" dirty="0"/>
              <a:t>. The unobservable density function is thought of as the density according to which a large population is distributed; the data are usually thought of as a random sample from that population. </a:t>
            </a:r>
            <a:endParaRPr lang="en-GB" dirty="0"/>
          </a:p>
        </p:txBody>
      </p:sp>
    </p:spTree>
    <p:extLst>
      <p:ext uri="{BB962C8B-B14F-4D97-AF65-F5344CB8AC3E}">
        <p14:creationId xmlns:p14="http://schemas.microsoft.com/office/powerpoint/2010/main" val="24703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to determine k using the Elbow </a:t>
            </a:r>
            <a:r>
              <a:rPr lang="en-US" b="1"/>
              <a:t>Method?</a:t>
            </a:r>
            <a:endParaRPr lang="en-US" dirty="0"/>
          </a:p>
          <a:p>
            <a:r>
              <a:rPr lang="en-US" dirty="0"/>
              <a:t>Calculate the </a:t>
            </a:r>
            <a:r>
              <a:rPr lang="en-US" b="1" dirty="0"/>
              <a:t>Within-Cluster-Sum of Squared</a:t>
            </a:r>
            <a:r>
              <a:rPr lang="en-US" dirty="0"/>
              <a:t> Errors (WSS) for </a:t>
            </a:r>
            <a:r>
              <a:rPr lang="en-US" b="1" dirty="0"/>
              <a:t>different values of k</a:t>
            </a:r>
            <a:r>
              <a:rPr lang="en-US" dirty="0"/>
              <a:t>, and choose the k for which WSS becomes first starts to diminish. </a:t>
            </a:r>
            <a:endParaRPr lang="en-GB" dirty="0"/>
          </a:p>
        </p:txBody>
      </p:sp>
    </p:spTree>
    <p:extLst>
      <p:ext uri="{BB962C8B-B14F-4D97-AF65-F5344CB8AC3E}">
        <p14:creationId xmlns:p14="http://schemas.microsoft.com/office/powerpoint/2010/main" val="1192712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60857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8121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692701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CS229: Machine Learning</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CS229: Machine Learning</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CS229: Machine Learning</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CS229: Machine Learning</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r>
              <a:rPr lang="en-US"/>
              <a:t>CS229: Machine Learning</a:t>
            </a:r>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r>
              <a:rPr lang="en-US"/>
              <a:t>CS229: Machine Learning</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CS229: Machine Learning</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42AC90BD-678B-495C-AC87-66050D917D79}"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931360-7E41-4248-8AEF-AC858AB643B6}"/>
              </a:ext>
            </a:extLst>
          </p:cNvPr>
          <p:cNvSpPr/>
          <p:nvPr userDrawn="1"/>
        </p:nvSpPr>
        <p:spPr>
          <a:xfrm>
            <a:off x="0" y="0"/>
            <a:ext cx="9144000" cy="6858000"/>
          </a:xfrm>
          <a:prstGeom prst="rect">
            <a:avLst/>
          </a:prstGeom>
          <a:gradFill flip="none" rotWithShape="1">
            <a:gsLst>
              <a:gs pos="29000">
                <a:schemeClr val="accent1">
                  <a:lumMod val="5000"/>
                  <a:lumOff val="95000"/>
                  <a:alpha val="0"/>
                </a:schemeClr>
              </a:gs>
              <a:gs pos="66000">
                <a:schemeClr val="accent1">
                  <a:alpha val="58000"/>
                </a:schemeClr>
              </a:gs>
              <a:gs pos="80000">
                <a:schemeClr val="accent1">
                  <a:alpha val="61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89798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CS229: Machine Learning</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686890-B78D-4F12-914E-2C09982F997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CS229: Machine Learning</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2E1E52-8D30-4AFD-A16C-1D30B72FDE1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CS229: Machine Learning</a:t>
            </a:r>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2AC90BD-678B-495C-AC87-66050D917D79}"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672" r:id="rId12"/>
    <p:sldLayoutId id="2147483673" r:id="rId13"/>
    <p:sldLayoutId id="2147483674" r:id="rId14"/>
    <p:sldLayoutId id="2147483675" r:id="rId15"/>
    <p:sldLayoutId id="2147483700" r:id="rId16"/>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image" Target="../media/image8.jpg"/><Relationship Id="rId1" Type="http://schemas.openxmlformats.org/officeDocument/2006/relationships/slideLayout" Target="../slideLayouts/slideLayout24.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 Id="rId9"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37.png"/><Relationship Id="rId26" Type="http://schemas.openxmlformats.org/officeDocument/2006/relationships/image" Target="../media/image45.png"/><Relationship Id="rId3" Type="http://schemas.openxmlformats.org/officeDocument/2006/relationships/image" Target="../media/image22.png"/><Relationship Id="rId21" Type="http://schemas.openxmlformats.org/officeDocument/2006/relationships/image" Target="../media/image40.png"/><Relationship Id="rId34" Type="http://schemas.openxmlformats.org/officeDocument/2006/relationships/image" Target="../media/image53.png"/><Relationship Id="rId7" Type="http://schemas.openxmlformats.org/officeDocument/2006/relationships/image" Target="../media/image26.jp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2" Type="http://schemas.openxmlformats.org/officeDocument/2006/relationships/image" Target="../media/image21.jpg"/><Relationship Id="rId16" Type="http://schemas.openxmlformats.org/officeDocument/2006/relationships/image" Target="../media/image35.jpg"/><Relationship Id="rId20" Type="http://schemas.openxmlformats.org/officeDocument/2006/relationships/image" Target="../media/image39.png"/><Relationship Id="rId29" Type="http://schemas.openxmlformats.org/officeDocument/2006/relationships/image" Target="../media/image48.png"/><Relationship Id="rId1" Type="http://schemas.openxmlformats.org/officeDocument/2006/relationships/slideLayout" Target="../slideLayouts/slideLayout24.xml"/><Relationship Id="rId6" Type="http://schemas.openxmlformats.org/officeDocument/2006/relationships/image" Target="../media/image25.jpg"/><Relationship Id="rId11" Type="http://schemas.openxmlformats.org/officeDocument/2006/relationships/image" Target="../media/image30.png"/><Relationship Id="rId24" Type="http://schemas.openxmlformats.org/officeDocument/2006/relationships/image" Target="../media/image43.png"/><Relationship Id="rId32" Type="http://schemas.openxmlformats.org/officeDocument/2006/relationships/image" Target="../media/image51.png"/><Relationship Id="rId5" Type="http://schemas.openxmlformats.org/officeDocument/2006/relationships/image" Target="../media/image24.jpg"/><Relationship Id="rId15" Type="http://schemas.openxmlformats.org/officeDocument/2006/relationships/image" Target="../media/image34.jpg"/><Relationship Id="rId23" Type="http://schemas.openxmlformats.org/officeDocument/2006/relationships/image" Target="../media/image42.jpg"/><Relationship Id="rId28" Type="http://schemas.openxmlformats.org/officeDocument/2006/relationships/image" Target="../media/image47.png"/><Relationship Id="rId36" Type="http://schemas.openxmlformats.org/officeDocument/2006/relationships/image" Target="../media/image55.png"/><Relationship Id="rId10" Type="http://schemas.openxmlformats.org/officeDocument/2006/relationships/image" Target="../media/image29.png"/><Relationship Id="rId19" Type="http://schemas.openxmlformats.org/officeDocument/2006/relationships/image" Target="../media/image38.png"/><Relationship Id="rId31" Type="http://schemas.openxmlformats.org/officeDocument/2006/relationships/image" Target="../media/image50.png"/><Relationship Id="rId4" Type="http://schemas.openxmlformats.org/officeDocument/2006/relationships/image" Target="../media/image23.jp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image" Target="../media/image49.png"/><Relationship Id="rId35" Type="http://schemas.openxmlformats.org/officeDocument/2006/relationships/image" Target="../media/image54.png"/><Relationship Id="rId8"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4.xml"/><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9.png"/><Relationship Id="rId1" Type="http://schemas.openxmlformats.org/officeDocument/2006/relationships/slideLayout" Target="../slideLayouts/slideLayout24.xml"/><Relationship Id="rId5" Type="http://schemas.openxmlformats.org/officeDocument/2006/relationships/image" Target="../media/image69.pn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4.xml"/><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24.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2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5.png"/><Relationship Id="rId1" Type="http://schemas.openxmlformats.org/officeDocument/2006/relationships/slideLayout" Target="../slideLayouts/slideLayout24.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3.png"/><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4.xml"/><Relationship Id="rId4" Type="http://schemas.openxmlformats.org/officeDocument/2006/relationships/image" Target="../media/image9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24.xml"/><Relationship Id="rId5" Type="http://schemas.openxmlformats.org/officeDocument/2006/relationships/image" Target="../media/image99.jpeg"/><Relationship Id="rId4" Type="http://schemas.openxmlformats.org/officeDocument/2006/relationships/image" Target="../media/image98.jpeg"/></Relationships>
</file>

<file path=ppt/slides/_rels/slide3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4.xml"/><Relationship Id="rId4" Type="http://schemas.openxmlformats.org/officeDocument/2006/relationships/image" Target="../media/image10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106.wmf"/><Relationship Id="rId7" Type="http://schemas.openxmlformats.org/officeDocument/2006/relationships/image" Target="../media/image109.png"/><Relationship Id="rId2" Type="http://schemas.openxmlformats.org/officeDocument/2006/relationships/oleObject" Target="../embeddings/oleObject1.bin"/><Relationship Id="rId1" Type="http://schemas.openxmlformats.org/officeDocument/2006/relationships/slideLayout" Target="../slideLayouts/slideLayout24.xml"/><Relationship Id="rId6" Type="http://schemas.openxmlformats.org/officeDocument/2006/relationships/image" Target="../media/image108.wmf"/><Relationship Id="rId5" Type="http://schemas.openxmlformats.org/officeDocument/2006/relationships/oleObject" Target="../embeddings/oleObject2.bin"/><Relationship Id="rId4" Type="http://schemas.openxmlformats.org/officeDocument/2006/relationships/image" Target="../media/image107.png"/></Relationships>
</file>

<file path=ppt/slides/_rels/slide4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113.png"/><Relationship Id="rId4" Type="http://schemas.openxmlformats.org/officeDocument/2006/relationships/image" Target="../media/image112.wmf"/></Relationships>
</file>

<file path=ppt/slides/_rels/slide4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4.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oleObject" Target="../embeddings/oleObject4.bin"/><Relationship Id="rId1" Type="http://schemas.openxmlformats.org/officeDocument/2006/relationships/slideLayout" Target="../slideLayouts/slideLayout24.xml"/><Relationship Id="rId4" Type="http://schemas.openxmlformats.org/officeDocument/2006/relationships/image" Target="../media/image116.png"/></Relationships>
</file>

<file path=ppt/slides/_rels/slide4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8.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3" Type="http://schemas.openxmlformats.org/officeDocument/2006/relationships/image" Target="file:///C:\Documents%20and%20Settings\Debashree\My%20Documents\SEMINAR\k-means%20clustering\K-Means%20Clustering%20Numerical%20Example_files\NumericalExample_clip_image032.gif" TargetMode="External"/><Relationship Id="rId2" Type="http://schemas.openxmlformats.org/officeDocument/2006/relationships/image" Target="../media/image119.png"/><Relationship Id="rId1" Type="http://schemas.openxmlformats.org/officeDocument/2006/relationships/slideLayout" Target="../slideLayouts/slideLayout24.xml"/><Relationship Id="rId4" Type="http://schemas.openxmlformats.org/officeDocument/2006/relationships/image" Target="../media/image1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3" Type="http://schemas.openxmlformats.org/officeDocument/2006/relationships/image" Target="../media/image121.jpg"/><Relationship Id="rId2" Type="http://schemas.openxmlformats.org/officeDocument/2006/relationships/image" Target="../media/image120.jpg"/><Relationship Id="rId1" Type="http://schemas.openxmlformats.org/officeDocument/2006/relationships/slideLayout" Target="../slideLayouts/slideLayout24.xml"/><Relationship Id="rId6" Type="http://schemas.openxmlformats.org/officeDocument/2006/relationships/image" Target="../media/image124.jpg"/><Relationship Id="rId5" Type="http://schemas.openxmlformats.org/officeDocument/2006/relationships/image" Target="../media/image123.jpg"/><Relationship Id="rId4" Type="http://schemas.openxmlformats.org/officeDocument/2006/relationships/image" Target="../media/image12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image" Target="../media/image125.png"/><Relationship Id="rId1" Type="http://schemas.openxmlformats.org/officeDocument/2006/relationships/slideLayout" Target="../slideLayouts/slideLayout24.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53.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image" Target="../media/image132.png"/><Relationship Id="rId1" Type="http://schemas.openxmlformats.org/officeDocument/2006/relationships/slideLayout" Target="../slideLayouts/slideLayout24.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 Id="rId9" Type="http://schemas.openxmlformats.org/officeDocument/2006/relationships/image" Target="../media/image139.png"/></Relationships>
</file>

<file path=ppt/slides/_rels/slide54.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image" Target="../media/image140.png"/><Relationship Id="rId1" Type="http://schemas.openxmlformats.org/officeDocument/2006/relationships/slideLayout" Target="../slideLayouts/slideLayout24.xml"/><Relationship Id="rId6" Type="http://schemas.openxmlformats.org/officeDocument/2006/relationships/image" Target="../media/image144.jpg"/><Relationship Id="rId5" Type="http://schemas.openxmlformats.org/officeDocument/2006/relationships/image" Target="../media/image143.png"/><Relationship Id="rId4" Type="http://schemas.openxmlformats.org/officeDocument/2006/relationships/image" Target="../media/image142.png"/><Relationship Id="rId9" Type="http://schemas.openxmlformats.org/officeDocument/2006/relationships/image" Target="../media/image147.png"/></Relationships>
</file>

<file path=ppt/slides/_rels/slide55.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image" Target="../media/image148.png"/><Relationship Id="rId1" Type="http://schemas.openxmlformats.org/officeDocument/2006/relationships/slideLayout" Target="../slideLayouts/slideLayout24.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 Id="rId9" Type="http://schemas.openxmlformats.org/officeDocument/2006/relationships/image" Target="../media/image155.png"/></Relationships>
</file>

<file path=ppt/slides/_rels/slide56.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image" Target="../media/image156.png"/><Relationship Id="rId1" Type="http://schemas.openxmlformats.org/officeDocument/2006/relationships/slideLayout" Target="../slideLayouts/slideLayout24.xml"/><Relationship Id="rId6" Type="http://schemas.openxmlformats.org/officeDocument/2006/relationships/image" Target="../media/image160.png"/><Relationship Id="rId11" Type="http://schemas.openxmlformats.org/officeDocument/2006/relationships/image" Target="../media/image165.png"/><Relationship Id="rId5" Type="http://schemas.openxmlformats.org/officeDocument/2006/relationships/image" Target="../media/image159.png"/><Relationship Id="rId10" Type="http://schemas.openxmlformats.org/officeDocument/2006/relationships/image" Target="../media/image164.png"/><Relationship Id="rId4" Type="http://schemas.openxmlformats.org/officeDocument/2006/relationships/image" Target="../media/image158.png"/><Relationship Id="rId9" Type="http://schemas.openxmlformats.org/officeDocument/2006/relationships/image" Target="../media/image163.png"/></Relationships>
</file>

<file path=ppt/slides/_rels/slide57.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52.png"/><Relationship Id="rId7" Type="http://schemas.openxmlformats.org/officeDocument/2006/relationships/image" Target="../media/image168.png"/><Relationship Id="rId12" Type="http://schemas.openxmlformats.org/officeDocument/2006/relationships/image" Target="../media/image172.png"/><Relationship Id="rId2" Type="http://schemas.openxmlformats.org/officeDocument/2006/relationships/image" Target="../media/image154.png"/><Relationship Id="rId1" Type="http://schemas.openxmlformats.org/officeDocument/2006/relationships/slideLayout" Target="../slideLayouts/slideLayout24.xml"/><Relationship Id="rId6" Type="http://schemas.openxmlformats.org/officeDocument/2006/relationships/image" Target="../media/image167.png"/><Relationship Id="rId11" Type="http://schemas.openxmlformats.org/officeDocument/2006/relationships/image" Target="../media/image171.png"/><Relationship Id="rId5" Type="http://schemas.openxmlformats.org/officeDocument/2006/relationships/image" Target="../media/image166.png"/><Relationship Id="rId10" Type="http://schemas.openxmlformats.org/officeDocument/2006/relationships/image" Target="../media/image170.png"/><Relationship Id="rId4" Type="http://schemas.openxmlformats.org/officeDocument/2006/relationships/image" Target="../media/image153.png"/><Relationship Id="rId9" Type="http://schemas.openxmlformats.org/officeDocument/2006/relationships/image" Target="../media/image16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9E7AF35-8116-4962-B1EC-6B1FF6F1DC08}"/>
              </a:ext>
            </a:extLst>
          </p:cNvPr>
          <p:cNvGrpSpPr/>
          <p:nvPr/>
        </p:nvGrpSpPr>
        <p:grpSpPr>
          <a:xfrm>
            <a:off x="941197" y="996984"/>
            <a:ext cx="7051431" cy="2601248"/>
            <a:chOff x="1093177" y="989695"/>
            <a:chExt cx="10005646" cy="3691046"/>
          </a:xfrm>
          <a:solidFill>
            <a:schemeClr val="accent1">
              <a:lumMod val="50000"/>
            </a:schemeClr>
          </a:solidFill>
        </p:grpSpPr>
        <p:sp>
          <p:nvSpPr>
            <p:cNvPr id="34" name="Freeform: Shape 33">
              <a:extLst>
                <a:ext uri="{FF2B5EF4-FFF2-40B4-BE49-F238E27FC236}">
                  <a16:creationId xmlns:a16="http://schemas.microsoft.com/office/drawing/2014/main" id="{74302FF1-D9B6-4C53-A2F6-0E3993A2689C}"/>
                </a:ext>
              </a:extLst>
            </p:cNvPr>
            <p:cNvSpPr/>
            <p:nvPr/>
          </p:nvSpPr>
          <p:spPr>
            <a:xfrm flipH="1" flipV="1">
              <a:off x="6623408" y="1349111"/>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sp>
          <p:nvSpPr>
            <p:cNvPr id="35" name="Freeform: Shape 34">
              <a:extLst>
                <a:ext uri="{FF2B5EF4-FFF2-40B4-BE49-F238E27FC236}">
                  <a16:creationId xmlns:a16="http://schemas.microsoft.com/office/drawing/2014/main" id="{C7903A63-4FFE-45B1-82B1-6934A2CAAEAC}"/>
                </a:ext>
              </a:extLst>
            </p:cNvPr>
            <p:cNvSpPr/>
            <p:nvPr/>
          </p:nvSpPr>
          <p:spPr>
            <a:xfrm>
              <a:off x="1667706" y="1575962"/>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dirty="0"/>
            </a:p>
          </p:txBody>
        </p:sp>
        <p:sp>
          <p:nvSpPr>
            <p:cNvPr id="36" name="Freeform: Shape 35">
              <a:extLst>
                <a:ext uri="{FF2B5EF4-FFF2-40B4-BE49-F238E27FC236}">
                  <a16:creationId xmlns:a16="http://schemas.microsoft.com/office/drawing/2014/main" id="{0A1C6270-AAE8-43D7-B33E-A9AC33F2D067}"/>
                </a:ext>
              </a:extLst>
            </p:cNvPr>
            <p:cNvSpPr/>
            <p:nvPr/>
          </p:nvSpPr>
          <p:spPr>
            <a:xfrm flipH="1" flipV="1">
              <a:off x="6724533" y="2670316"/>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grpSp>
          <p:nvGrpSpPr>
            <p:cNvPr id="37" name="Group 36">
              <a:extLst>
                <a:ext uri="{FF2B5EF4-FFF2-40B4-BE49-F238E27FC236}">
                  <a16:creationId xmlns:a16="http://schemas.microsoft.com/office/drawing/2014/main" id="{3473D73F-D2DE-4109-91E2-410C80B504F3}"/>
                </a:ext>
              </a:extLst>
            </p:cNvPr>
            <p:cNvGrpSpPr/>
            <p:nvPr/>
          </p:nvGrpSpPr>
          <p:grpSpPr>
            <a:xfrm>
              <a:off x="4692156" y="989695"/>
              <a:ext cx="2795565" cy="3631621"/>
              <a:chOff x="1257518" y="2316205"/>
              <a:chExt cx="1389446" cy="1804981"/>
            </a:xfrm>
            <a:grpFill/>
          </p:grpSpPr>
          <p:sp>
            <p:nvSpPr>
              <p:cNvPr id="40" name="Graphic 2">
                <a:extLst>
                  <a:ext uri="{FF2B5EF4-FFF2-40B4-BE49-F238E27FC236}">
                    <a16:creationId xmlns:a16="http://schemas.microsoft.com/office/drawing/2014/main" id="{53347B15-B39D-4B3A-92A7-16F069593A4D}"/>
                  </a:ext>
                </a:extLst>
              </p:cNvPr>
              <p:cNvSpPr/>
              <p:nvPr/>
            </p:nvSpPr>
            <p:spPr>
              <a:xfrm>
                <a:off x="1257518" y="2316205"/>
                <a:ext cx="1389446" cy="1804981"/>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 name="connsiteX0" fmla="*/ 173835 w 788240"/>
                  <a:gd name="connsiteY0" fmla="*/ 1023975 h 1023975"/>
                  <a:gd name="connsiteX1" fmla="*/ 639815 w 788240"/>
                  <a:gd name="connsiteY1" fmla="*/ 954560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8932"/>
                  <a:gd name="connsiteX1" fmla="*/ 654690 w 788240"/>
                  <a:gd name="connsiteY1" fmla="*/ 1028932 h 1028932"/>
                  <a:gd name="connsiteX2" fmla="*/ 603620 w 788240"/>
                  <a:gd name="connsiteY2" fmla="*/ 878360 h 1028932"/>
                  <a:gd name="connsiteX3" fmla="*/ 679820 w 788240"/>
                  <a:gd name="connsiteY3" fmla="*/ 618328 h 1028932"/>
                  <a:gd name="connsiteX4" fmla="*/ 778880 w 788240"/>
                  <a:gd name="connsiteY4" fmla="*/ 276380 h 1028932"/>
                  <a:gd name="connsiteX5" fmla="*/ 352160 w 788240"/>
                  <a:gd name="connsiteY5" fmla="*/ 7775 h 1028932"/>
                  <a:gd name="connsiteX6" fmla="*/ 116893 w 788240"/>
                  <a:gd name="connsiteY6" fmla="*/ 203990 h 1028932"/>
                  <a:gd name="connsiteX7" fmla="*/ 109273 w 788240"/>
                  <a:gd name="connsiteY7" fmla="*/ 263045 h 1028932"/>
                  <a:gd name="connsiteX8" fmla="*/ 52123 w 788240"/>
                  <a:gd name="connsiteY8" fmla="*/ 360200 h 1028932"/>
                  <a:gd name="connsiteX9" fmla="*/ 6403 w 788240"/>
                  <a:gd name="connsiteY9" fmla="*/ 420208 h 1028932"/>
                  <a:gd name="connsiteX10" fmla="*/ 16880 w 788240"/>
                  <a:gd name="connsiteY10" fmla="*/ 508790 h 1028932"/>
                  <a:gd name="connsiteX11" fmla="*/ 55933 w 788240"/>
                  <a:gd name="connsiteY11" fmla="*/ 544985 h 1028932"/>
                  <a:gd name="connsiteX12" fmla="*/ 11165 w 788240"/>
                  <a:gd name="connsiteY12" fmla="*/ 563083 h 1028932"/>
                  <a:gd name="connsiteX13" fmla="*/ 23548 w 788240"/>
                  <a:gd name="connsiteY13" fmla="*/ 602135 h 1028932"/>
                  <a:gd name="connsiteX14" fmla="*/ 22595 w 788240"/>
                  <a:gd name="connsiteY14" fmla="*/ 665953 h 1028932"/>
                  <a:gd name="connsiteX15" fmla="*/ 78793 w 788240"/>
                  <a:gd name="connsiteY15" fmla="*/ 737390 h 1028932"/>
                  <a:gd name="connsiteX16" fmla="*/ 217858 w 788240"/>
                  <a:gd name="connsiteY16" fmla="*/ 757393 h 1028932"/>
                  <a:gd name="connsiteX17" fmla="*/ 173835 w 788240"/>
                  <a:gd name="connsiteY17" fmla="*/ 1023975 h 1028932"/>
                  <a:gd name="connsiteX0" fmla="*/ 173835 w 788240"/>
                  <a:gd name="connsiteY0" fmla="*/ 1023975 h 1023975"/>
                  <a:gd name="connsiteX1" fmla="*/ 674523 w 788240"/>
                  <a:gd name="connsiteY1" fmla="*/ 1023974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4058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9016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21495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240" h="1023975">
                    <a:moveTo>
                      <a:pt x="173835" y="1023975"/>
                    </a:moveTo>
                    <a:lnTo>
                      <a:pt x="679481" y="1021495"/>
                    </a:lnTo>
                    <a:cubicBezTo>
                      <a:pt x="666146" y="995778"/>
                      <a:pt x="612193" y="896458"/>
                      <a:pt x="603620" y="878360"/>
                    </a:cubicBezTo>
                    <a:cubicBezTo>
                      <a:pt x="579808" y="822163"/>
                      <a:pt x="596953" y="699290"/>
                      <a:pt x="679820" y="618328"/>
                    </a:cubicBezTo>
                    <a:cubicBezTo>
                      <a:pt x="758878" y="541175"/>
                      <a:pt x="810313" y="391633"/>
                      <a:pt x="778880" y="276380"/>
                    </a:cubicBezTo>
                    <a:cubicBezTo>
                      <a:pt x="727445" y="85880"/>
                      <a:pt x="555995" y="-32230"/>
                      <a:pt x="352160" y="7775"/>
                    </a:cubicBezTo>
                    <a:cubicBezTo>
                      <a:pt x="352160" y="7775"/>
                      <a:pt x="175948" y="29683"/>
                      <a:pt x="116893" y="203990"/>
                    </a:cubicBezTo>
                    <a:cubicBezTo>
                      <a:pt x="116893" y="203990"/>
                      <a:pt x="107368" y="229708"/>
                      <a:pt x="109273" y="263045"/>
                    </a:cubicBezTo>
                    <a:cubicBezTo>
                      <a:pt x="114035" y="316385"/>
                      <a:pt x="75935" y="347818"/>
                      <a:pt x="52123" y="360200"/>
                    </a:cubicBezTo>
                    <a:cubicBezTo>
                      <a:pt x="27358" y="373535"/>
                      <a:pt x="-16457" y="395443"/>
                      <a:pt x="6403" y="420208"/>
                    </a:cubicBezTo>
                    <a:cubicBezTo>
                      <a:pt x="34025" y="450688"/>
                      <a:pt x="32120" y="489740"/>
                      <a:pt x="16880" y="508790"/>
                    </a:cubicBezTo>
                    <a:cubicBezTo>
                      <a:pt x="-2170" y="531650"/>
                      <a:pt x="53075" y="532603"/>
                      <a:pt x="55933" y="544985"/>
                    </a:cubicBezTo>
                    <a:cubicBezTo>
                      <a:pt x="58790" y="558320"/>
                      <a:pt x="14975" y="547843"/>
                      <a:pt x="11165" y="563083"/>
                    </a:cubicBezTo>
                    <a:cubicBezTo>
                      <a:pt x="7355" y="579275"/>
                      <a:pt x="19738" y="583085"/>
                      <a:pt x="23548" y="602135"/>
                    </a:cubicBezTo>
                    <a:cubicBezTo>
                      <a:pt x="27358" y="621185"/>
                      <a:pt x="24500" y="656428"/>
                      <a:pt x="22595" y="665953"/>
                    </a:cubicBezTo>
                    <a:cubicBezTo>
                      <a:pt x="20690" y="675478"/>
                      <a:pt x="26405" y="732628"/>
                      <a:pt x="78793" y="737390"/>
                    </a:cubicBezTo>
                    <a:cubicBezTo>
                      <a:pt x="131180" y="742153"/>
                      <a:pt x="196903" y="731675"/>
                      <a:pt x="217858" y="757393"/>
                    </a:cubicBezTo>
                    <a:cubicBezTo>
                      <a:pt x="236908" y="783110"/>
                      <a:pt x="197647" y="952538"/>
                      <a:pt x="173835" y="1023975"/>
                    </a:cubicBezTo>
                    <a:close/>
                  </a:path>
                </a:pathLst>
              </a:custGeom>
              <a:grpFill/>
              <a:ln w="9525" cap="flat">
                <a:noFill/>
                <a:prstDash val="solid"/>
                <a:miter/>
              </a:ln>
            </p:spPr>
            <p:txBody>
              <a:bodyPr rtlCol="0" anchor="ctr"/>
              <a:lstStyle/>
              <a:p>
                <a:endParaRPr lang="en-US" sz="1350" dirty="0"/>
              </a:p>
            </p:txBody>
          </p:sp>
          <p:grpSp>
            <p:nvGrpSpPr>
              <p:cNvPr id="41" name="Group 40">
                <a:extLst>
                  <a:ext uri="{FF2B5EF4-FFF2-40B4-BE49-F238E27FC236}">
                    <a16:creationId xmlns:a16="http://schemas.microsoft.com/office/drawing/2014/main" id="{079248F5-92F6-4CD2-BAF4-37327B4E7647}"/>
                  </a:ext>
                </a:extLst>
              </p:cNvPr>
              <p:cNvGrpSpPr/>
              <p:nvPr/>
            </p:nvGrpSpPr>
            <p:grpSpPr>
              <a:xfrm>
                <a:off x="1684786" y="2516290"/>
                <a:ext cx="702035" cy="687994"/>
                <a:chOff x="1684786" y="2516290"/>
                <a:chExt cx="702035" cy="687994"/>
              </a:xfrm>
              <a:grpFill/>
            </p:grpSpPr>
            <p:sp>
              <p:nvSpPr>
                <p:cNvPr id="42" name="Graphic 4">
                  <a:extLst>
                    <a:ext uri="{FF2B5EF4-FFF2-40B4-BE49-F238E27FC236}">
                      <a16:creationId xmlns:a16="http://schemas.microsoft.com/office/drawing/2014/main" id="{18927834-337B-4774-B8C4-66F5BF0CE3E4}"/>
                    </a:ext>
                  </a:extLst>
                </p:cNvPr>
                <p:cNvSpPr/>
                <p:nvPr/>
              </p:nvSpPr>
              <p:spPr>
                <a:xfrm>
                  <a:off x="1684786" y="2516290"/>
                  <a:ext cx="702035" cy="68799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solidFill>
                  <a:schemeClr val="bg1"/>
                </a:solidFill>
                <a:ln w="9525" cap="flat">
                  <a:noFill/>
                  <a:prstDash val="solid"/>
                  <a:miter/>
                </a:ln>
              </p:spPr>
              <p:txBody>
                <a:bodyPr rtlCol="0" anchor="ctr"/>
                <a:lstStyle/>
                <a:p>
                  <a:endParaRPr lang="en-US" sz="1350"/>
                </a:p>
              </p:txBody>
            </p:sp>
            <p:sp>
              <p:nvSpPr>
                <p:cNvPr id="43" name="Freeform: Shape 42">
                  <a:extLst>
                    <a:ext uri="{FF2B5EF4-FFF2-40B4-BE49-F238E27FC236}">
                      <a16:creationId xmlns:a16="http://schemas.microsoft.com/office/drawing/2014/main" id="{93BEA3D9-9AE5-46B2-A231-8B49AC2E558A}"/>
                    </a:ext>
                  </a:extLst>
                </p:cNvPr>
                <p:cNvSpPr/>
                <p:nvPr/>
              </p:nvSpPr>
              <p:spPr>
                <a:xfrm>
                  <a:off x="1855157" y="2765044"/>
                  <a:ext cx="330249" cy="218182"/>
                </a:xfrm>
                <a:custGeom>
                  <a:avLst/>
                  <a:gdLst/>
                  <a:ahLst/>
                  <a:cxnLst/>
                  <a:rect l="l" t="t" r="r" b="b"/>
                  <a:pathLst>
                    <a:path w="330249" h="218182">
                      <a:moveTo>
                        <a:pt x="117946" y="56554"/>
                      </a:moveTo>
                      <a:lnTo>
                        <a:pt x="94115" y="134987"/>
                      </a:lnTo>
                      <a:lnTo>
                        <a:pt x="142028" y="134987"/>
                      </a:lnTo>
                      <a:close/>
                      <a:moveTo>
                        <a:pt x="262681" y="0"/>
                      </a:moveTo>
                      <a:lnTo>
                        <a:pt x="330249" y="0"/>
                      </a:lnTo>
                      <a:lnTo>
                        <a:pt x="330249" y="218182"/>
                      </a:lnTo>
                      <a:lnTo>
                        <a:pt x="262681" y="218182"/>
                      </a:lnTo>
                      <a:close/>
                      <a:moveTo>
                        <a:pt x="82004" y="0"/>
                      </a:moveTo>
                      <a:lnTo>
                        <a:pt x="155544" y="0"/>
                      </a:lnTo>
                      <a:lnTo>
                        <a:pt x="237529" y="218182"/>
                      </a:lnTo>
                      <a:lnTo>
                        <a:pt x="166929" y="218182"/>
                      </a:lnTo>
                      <a:lnTo>
                        <a:pt x="156013" y="182165"/>
                      </a:lnTo>
                      <a:lnTo>
                        <a:pt x="79472" y="182165"/>
                      </a:lnTo>
                      <a:lnTo>
                        <a:pt x="68837" y="218182"/>
                      </a:lnTo>
                      <a:lnTo>
                        <a:pt x="0" y="21818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38" name="Freeform: Shape 37">
              <a:extLst>
                <a:ext uri="{FF2B5EF4-FFF2-40B4-BE49-F238E27FC236}">
                  <a16:creationId xmlns:a16="http://schemas.microsoft.com/office/drawing/2014/main" id="{616EB048-7D81-463A-970A-20BB88838548}"/>
                </a:ext>
              </a:extLst>
            </p:cNvPr>
            <p:cNvSpPr/>
            <p:nvPr/>
          </p:nvSpPr>
          <p:spPr>
            <a:xfrm>
              <a:off x="1912556" y="2967547"/>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sp>
          <p:nvSpPr>
            <p:cNvPr id="39" name="Rectangle 38">
              <a:extLst>
                <a:ext uri="{FF2B5EF4-FFF2-40B4-BE49-F238E27FC236}">
                  <a16:creationId xmlns:a16="http://schemas.microsoft.com/office/drawing/2014/main" id="{EA19F564-C784-4AD8-912A-2FD004D79F20}"/>
                </a:ext>
              </a:extLst>
            </p:cNvPr>
            <p:cNvSpPr/>
            <p:nvPr/>
          </p:nvSpPr>
          <p:spPr>
            <a:xfrm>
              <a:off x="1093177" y="4613033"/>
              <a:ext cx="10005646" cy="6770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44" name="TextBox 43">
            <a:extLst>
              <a:ext uri="{FF2B5EF4-FFF2-40B4-BE49-F238E27FC236}">
                <a16:creationId xmlns:a16="http://schemas.microsoft.com/office/drawing/2014/main" id="{D02F4B8E-9B3E-4F0F-A7A3-4E4CCE2F61D7}"/>
              </a:ext>
            </a:extLst>
          </p:cNvPr>
          <p:cNvSpPr txBox="1"/>
          <p:nvPr/>
        </p:nvSpPr>
        <p:spPr>
          <a:xfrm>
            <a:off x="1030086" y="3704061"/>
            <a:ext cx="6865108" cy="507831"/>
          </a:xfrm>
          <a:prstGeom prst="rect">
            <a:avLst/>
          </a:prstGeom>
          <a:solidFill>
            <a:schemeClr val="accent1">
              <a:lumMod val="50000"/>
            </a:schemeClr>
          </a:solidFill>
        </p:spPr>
        <p:txBody>
          <a:bodyPr wrap="square" lIns="27000" tIns="0" rIns="27000" bIns="0" rtlCol="0">
            <a:spAutoFit/>
          </a:bodyPr>
          <a:lstStyle/>
          <a:p>
            <a:r>
              <a:rPr lang="en-US" altLang="ko-KR" sz="3300" dirty="0">
                <a:solidFill>
                  <a:schemeClr val="bg1"/>
                </a:solidFill>
                <a:cs typeface="Arial" pitchFamily="34" charset="0"/>
              </a:rPr>
              <a:t>Advanced Artificial Intelligence</a:t>
            </a:r>
            <a:endParaRPr lang="ko-KR" altLang="en-US" sz="3300" dirty="0">
              <a:solidFill>
                <a:schemeClr val="bg1"/>
              </a:solidFill>
              <a:cs typeface="Arial" pitchFamily="34" charset="0"/>
            </a:endParaRPr>
          </a:p>
        </p:txBody>
      </p:sp>
      <p:sp>
        <p:nvSpPr>
          <p:cNvPr id="2" name="TextBox 1">
            <a:extLst>
              <a:ext uri="{FF2B5EF4-FFF2-40B4-BE49-F238E27FC236}">
                <a16:creationId xmlns:a16="http://schemas.microsoft.com/office/drawing/2014/main" id="{EDB9F391-7E1F-4012-B14B-0323F1643F27}"/>
              </a:ext>
            </a:extLst>
          </p:cNvPr>
          <p:cNvSpPr txBox="1"/>
          <p:nvPr/>
        </p:nvSpPr>
        <p:spPr>
          <a:xfrm>
            <a:off x="6233113" y="4846588"/>
            <a:ext cx="2910887" cy="1154162"/>
          </a:xfrm>
          <a:prstGeom prst="rect">
            <a:avLst/>
          </a:prstGeom>
          <a:solidFill>
            <a:schemeClr val="accent1">
              <a:lumMod val="50000"/>
            </a:schemeClr>
          </a:solidFill>
        </p:spPr>
        <p:txBody>
          <a:bodyPr wrap="square" lIns="27000" tIns="0" rIns="27000" bIns="0" rtlCol="0">
            <a:spAutoFit/>
          </a:bodyPr>
          <a:lstStyle/>
          <a:p>
            <a:r>
              <a:rPr lang="en-US" altLang="ko-KR" sz="1500" b="1" dirty="0">
                <a:solidFill>
                  <a:schemeClr val="bg1"/>
                </a:solidFill>
                <a:cs typeface="Arial" pitchFamily="34" charset="0"/>
              </a:rPr>
              <a:t>Dr. Qurat Ul Ain</a:t>
            </a:r>
          </a:p>
          <a:p>
            <a:r>
              <a:rPr lang="en-US" altLang="ko-KR" sz="1500" dirty="0">
                <a:solidFill>
                  <a:schemeClr val="bg1"/>
                </a:solidFill>
                <a:cs typeface="Arial" pitchFamily="34" charset="0"/>
              </a:rPr>
              <a:t>Assistant Professor</a:t>
            </a:r>
            <a:br>
              <a:rPr lang="en-US" altLang="ko-KR" sz="1500" dirty="0">
                <a:solidFill>
                  <a:schemeClr val="bg1"/>
                </a:solidFill>
                <a:cs typeface="Arial" pitchFamily="34" charset="0"/>
              </a:rPr>
            </a:br>
            <a:r>
              <a:rPr lang="en-US" altLang="ko-KR" sz="1500" dirty="0">
                <a:solidFill>
                  <a:schemeClr val="bg1"/>
                </a:solidFill>
                <a:cs typeface="Arial" pitchFamily="34" charset="0"/>
              </a:rPr>
              <a:t>Dept. of AI &amp; DS</a:t>
            </a:r>
          </a:p>
          <a:p>
            <a:r>
              <a:rPr lang="en-US" altLang="ko-KR" sz="1500" dirty="0">
                <a:solidFill>
                  <a:schemeClr val="bg1"/>
                </a:solidFill>
                <a:cs typeface="Arial" pitchFamily="34" charset="0"/>
              </a:rPr>
              <a:t>FAST NUCES, Islamabad</a:t>
            </a:r>
          </a:p>
          <a:p>
            <a:r>
              <a:rPr lang="en-US" sz="1500" dirty="0">
                <a:solidFill>
                  <a:schemeClr val="bg1"/>
                </a:solidFill>
              </a:rPr>
              <a:t>Email: quratul.ain@isb.nu.edu.pk</a:t>
            </a:r>
          </a:p>
        </p:txBody>
      </p:sp>
      <p:sp>
        <p:nvSpPr>
          <p:cNvPr id="3" name="TextBox 2">
            <a:extLst>
              <a:ext uri="{FF2B5EF4-FFF2-40B4-BE49-F238E27FC236}">
                <a16:creationId xmlns:a16="http://schemas.microsoft.com/office/drawing/2014/main" id="{F5587D2B-81E8-6A6D-CC3C-D10A47D9498F}"/>
              </a:ext>
            </a:extLst>
          </p:cNvPr>
          <p:cNvSpPr txBox="1"/>
          <p:nvPr/>
        </p:nvSpPr>
        <p:spPr>
          <a:xfrm>
            <a:off x="3528583" y="4342761"/>
            <a:ext cx="1546698" cy="276999"/>
          </a:xfrm>
          <a:prstGeom prst="rect">
            <a:avLst/>
          </a:prstGeom>
          <a:solidFill>
            <a:schemeClr val="accent1">
              <a:lumMod val="50000"/>
            </a:schemeClr>
          </a:solidFill>
        </p:spPr>
        <p:txBody>
          <a:bodyPr wrap="square" lIns="27000" tIns="0" rIns="27000" bIns="0" rtlCol="0">
            <a:spAutoFit/>
          </a:bodyPr>
          <a:lstStyle/>
          <a:p>
            <a:r>
              <a:rPr lang="en-US" altLang="ko-KR" dirty="0">
                <a:solidFill>
                  <a:schemeClr val="bg1"/>
                </a:solidFill>
                <a:cs typeface="Arial" pitchFamily="34" charset="0"/>
              </a:rPr>
              <a:t>   </a:t>
            </a:r>
            <a:r>
              <a:rPr lang="en-US" altLang="ko-KR">
                <a:solidFill>
                  <a:schemeClr val="bg1"/>
                </a:solidFill>
                <a:cs typeface="Arial" pitchFamily="34" charset="0"/>
              </a:rPr>
              <a:t>Week # 9</a:t>
            </a:r>
            <a:endParaRPr lang="ko-KR" altLang="en-US" dirty="0">
              <a:solidFill>
                <a:schemeClr val="bg1"/>
              </a:solidFill>
              <a:cs typeface="Arial" pitchFamily="34" charset="0"/>
            </a:endParaRPr>
          </a:p>
        </p:txBody>
      </p:sp>
    </p:spTree>
    <p:extLst>
      <p:ext uri="{BB962C8B-B14F-4D97-AF65-F5344CB8AC3E}">
        <p14:creationId xmlns:p14="http://schemas.microsoft.com/office/powerpoint/2010/main" val="364955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GB" sz="4400" dirty="0">
                <a:latin typeface="+mn-lt"/>
              </a:rPr>
              <a:t>Outline</a:t>
            </a:r>
          </a:p>
        </p:txBody>
      </p:sp>
      <p:sp>
        <p:nvSpPr>
          <p:cNvPr id="3" name="Content Placeholder 2"/>
          <p:cNvSpPr>
            <a:spLocks noGrp="1"/>
          </p:cNvSpPr>
          <p:nvPr>
            <p:ph idx="1"/>
          </p:nvPr>
        </p:nvSpPr>
        <p:spPr>
          <a:xfrm>
            <a:off x="457200" y="1295400"/>
            <a:ext cx="8229600" cy="5410200"/>
          </a:xfrm>
        </p:spPr>
        <p:txBody>
          <a:bodyPr>
            <a:normAutofit/>
          </a:bodyPr>
          <a:lstStyle/>
          <a:p>
            <a:pPr marL="50358" algn="just">
              <a:lnSpc>
                <a:spcPct val="150000"/>
              </a:lnSpc>
              <a:spcBef>
                <a:spcPts val="188"/>
              </a:spcBef>
            </a:pPr>
            <a:r>
              <a:rPr lang="en-GB" sz="2000" spc="-69" dirty="0">
                <a:cs typeface="Tahoma"/>
              </a:rPr>
              <a:t>Unsu</a:t>
            </a:r>
            <a:r>
              <a:rPr lang="en-GB" sz="2000" spc="-20" dirty="0">
                <a:cs typeface="Tahoma"/>
              </a:rPr>
              <a:t>p</a:t>
            </a:r>
            <a:r>
              <a:rPr lang="en-GB" sz="2000" spc="-99" dirty="0">
                <a:cs typeface="Tahoma"/>
              </a:rPr>
              <a:t>ervised</a:t>
            </a:r>
            <a:r>
              <a:rPr lang="en-GB" sz="2000" spc="30" dirty="0">
                <a:cs typeface="Tahoma"/>
              </a:rPr>
              <a:t> </a:t>
            </a:r>
            <a:r>
              <a:rPr lang="en-GB" sz="2000" spc="-79" dirty="0">
                <a:cs typeface="Tahoma"/>
              </a:rPr>
              <a:t>le</a:t>
            </a:r>
            <a:r>
              <a:rPr lang="en-GB" sz="2000" spc="-169" dirty="0">
                <a:cs typeface="Tahoma"/>
              </a:rPr>
              <a:t>a</a:t>
            </a:r>
            <a:r>
              <a:rPr lang="en-GB" sz="2000" spc="-59" dirty="0">
                <a:cs typeface="Tahoma"/>
              </a:rPr>
              <a:t>rning</a:t>
            </a:r>
          </a:p>
          <a:p>
            <a:pPr marL="50358" algn="just">
              <a:lnSpc>
                <a:spcPct val="150000"/>
              </a:lnSpc>
              <a:spcBef>
                <a:spcPts val="188"/>
              </a:spcBef>
            </a:pPr>
            <a:r>
              <a:rPr lang="en-GB" sz="2000" spc="-59" dirty="0">
                <a:cs typeface="Tahoma"/>
              </a:rPr>
              <a:t>Clustering</a:t>
            </a:r>
          </a:p>
          <a:p>
            <a:pPr marL="50358" algn="just">
              <a:lnSpc>
                <a:spcPct val="150000"/>
              </a:lnSpc>
              <a:spcBef>
                <a:spcPts val="188"/>
              </a:spcBef>
            </a:pPr>
            <a:r>
              <a:rPr lang="en-GB" sz="2000" spc="-59" dirty="0">
                <a:cs typeface="Tahoma"/>
              </a:rPr>
              <a:t>Clustering Methods</a:t>
            </a:r>
          </a:p>
          <a:p>
            <a:pPr marL="50358" algn="just">
              <a:lnSpc>
                <a:spcPct val="150000"/>
              </a:lnSpc>
              <a:spcBef>
                <a:spcPts val="188"/>
              </a:spcBef>
            </a:pPr>
            <a:r>
              <a:rPr lang="en-GB" sz="2000" spc="-59" dirty="0">
                <a:cs typeface="Tahoma"/>
              </a:rPr>
              <a:t>Evaluation of Clustering</a:t>
            </a:r>
          </a:p>
          <a:p>
            <a:pPr marL="50358" algn="just">
              <a:lnSpc>
                <a:spcPct val="150000"/>
              </a:lnSpc>
              <a:spcBef>
                <a:spcPts val="188"/>
              </a:spcBef>
            </a:pPr>
            <a:r>
              <a:rPr lang="en-GB" sz="2000" spc="-99" dirty="0">
                <a:cs typeface="Tahoma"/>
              </a:rPr>
              <a:t>K-means Clustering</a:t>
            </a:r>
          </a:p>
          <a:p>
            <a:pPr marL="50358" algn="just">
              <a:lnSpc>
                <a:spcPct val="150000"/>
              </a:lnSpc>
              <a:spcBef>
                <a:spcPts val="188"/>
              </a:spcBef>
            </a:pPr>
            <a:r>
              <a:rPr lang="en-GB" sz="2000" spc="-99" dirty="0">
                <a:cs typeface="Tahoma"/>
              </a:rPr>
              <a:t>K-means Clustering  Algorithm</a:t>
            </a:r>
          </a:p>
          <a:p>
            <a:pPr marL="50358" algn="just">
              <a:lnSpc>
                <a:spcPct val="150000"/>
              </a:lnSpc>
              <a:spcBef>
                <a:spcPts val="188"/>
              </a:spcBef>
            </a:pPr>
            <a:r>
              <a:rPr lang="en-GB" sz="2000" spc="-50" dirty="0"/>
              <a:t>Why</a:t>
            </a:r>
            <a:r>
              <a:rPr lang="en-GB" sz="2000" spc="10" dirty="0"/>
              <a:t> </a:t>
            </a:r>
            <a:r>
              <a:rPr lang="en-GB" sz="2000" spc="-89" dirty="0"/>
              <a:t>K-means</a:t>
            </a:r>
            <a:r>
              <a:rPr lang="en-GB" sz="2000" spc="20" dirty="0"/>
              <a:t> </a:t>
            </a:r>
            <a:r>
              <a:rPr lang="en-GB" sz="2000" spc="-129" dirty="0"/>
              <a:t>Converges</a:t>
            </a:r>
          </a:p>
          <a:p>
            <a:pPr marL="50358" algn="just">
              <a:lnSpc>
                <a:spcPct val="150000"/>
              </a:lnSpc>
              <a:spcBef>
                <a:spcPts val="188"/>
              </a:spcBef>
            </a:pPr>
            <a:r>
              <a:rPr lang="en-US" sz="2000" dirty="0"/>
              <a:t>K-means – Examples</a:t>
            </a:r>
          </a:p>
          <a:p>
            <a:pPr marL="50358" algn="just">
              <a:lnSpc>
                <a:spcPct val="150000"/>
              </a:lnSpc>
              <a:spcBef>
                <a:spcPts val="188"/>
              </a:spcBef>
            </a:pPr>
            <a:r>
              <a:rPr lang="en-US" sz="2000" dirty="0">
                <a:cs typeface="Tahoma"/>
              </a:rPr>
              <a:t>Evaluation of K-means Clustering</a:t>
            </a:r>
          </a:p>
          <a:p>
            <a:pPr marL="50358" algn="just">
              <a:lnSpc>
                <a:spcPct val="150000"/>
              </a:lnSpc>
              <a:spcBef>
                <a:spcPts val="188"/>
              </a:spcBef>
            </a:pPr>
            <a:r>
              <a:rPr lang="en-US" sz="2000" dirty="0">
                <a:cs typeface="Tahoma"/>
              </a:rPr>
              <a:t>Limitation of K-means Clustering</a:t>
            </a:r>
          </a:p>
          <a:p>
            <a:pPr marL="50358" algn="just">
              <a:lnSpc>
                <a:spcPct val="150000"/>
              </a:lnSpc>
              <a:spcBef>
                <a:spcPts val="188"/>
              </a:spcBef>
            </a:pPr>
            <a:r>
              <a:rPr lang="en-US" sz="2000" dirty="0">
                <a:cs typeface="Tahoma"/>
              </a:rPr>
              <a:t>Summary</a:t>
            </a:r>
            <a:endParaRPr lang="en-GB" sz="2000" dirty="0">
              <a:cs typeface="Tahoma"/>
            </a:endParaRPr>
          </a:p>
        </p:txBody>
      </p:sp>
    </p:spTree>
    <p:extLst>
      <p:ext uri="{BB962C8B-B14F-4D97-AF65-F5344CB8AC3E}">
        <p14:creationId xmlns:p14="http://schemas.microsoft.com/office/powerpoint/2010/main" val="248975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024" y="126768"/>
            <a:ext cx="8040575" cy="711432"/>
          </a:xfrm>
          <a:prstGeom prst="rect">
            <a:avLst/>
          </a:prstGeom>
        </p:spPr>
        <p:txBody>
          <a:bodyPr vert="horz" wrap="square" lIns="0" tIns="33992" rIns="0" bIns="0" rtlCol="0">
            <a:spAutoFit/>
          </a:bodyPr>
          <a:lstStyle/>
          <a:p>
            <a:pPr marL="25179">
              <a:spcBef>
                <a:spcPts val="268"/>
              </a:spcBef>
            </a:pPr>
            <a:r>
              <a:rPr lang="en-GB" sz="4400" spc="-109" dirty="0">
                <a:solidFill>
                  <a:schemeClr val="accent2">
                    <a:lumMod val="75000"/>
                  </a:schemeClr>
                </a:solidFill>
                <a:latin typeface="+mn-lt"/>
              </a:rPr>
              <a:t>Unsupervised</a:t>
            </a:r>
            <a:r>
              <a:rPr lang="en-GB" sz="4400" dirty="0">
                <a:solidFill>
                  <a:schemeClr val="accent2">
                    <a:lumMod val="75000"/>
                  </a:schemeClr>
                </a:solidFill>
                <a:latin typeface="+mn-lt"/>
              </a:rPr>
              <a:t> </a:t>
            </a:r>
            <a:r>
              <a:rPr lang="en-GB" sz="4400" spc="-99" dirty="0">
                <a:solidFill>
                  <a:schemeClr val="accent2">
                    <a:lumMod val="75000"/>
                  </a:schemeClr>
                </a:solidFill>
                <a:latin typeface="+mn-lt"/>
              </a:rPr>
              <a:t>Learning</a:t>
            </a:r>
            <a:endParaRPr lang="en-GB" sz="4400" dirty="0">
              <a:solidFill>
                <a:schemeClr val="accent2">
                  <a:lumMod val="75000"/>
                </a:schemeClr>
              </a:solidFill>
              <a:latin typeface="+mn-lt"/>
            </a:endParaRPr>
          </a:p>
        </p:txBody>
      </p:sp>
      <p:pic>
        <p:nvPicPr>
          <p:cNvPr id="3" name="object 3"/>
          <p:cNvPicPr/>
          <p:nvPr/>
        </p:nvPicPr>
        <p:blipFill>
          <a:blip r:embed="rId2" cstate="print"/>
          <a:stretch>
            <a:fillRect/>
          </a:stretch>
        </p:blipFill>
        <p:spPr>
          <a:xfrm>
            <a:off x="557533" y="1129947"/>
            <a:ext cx="129451" cy="129332"/>
          </a:xfrm>
          <a:prstGeom prst="rect">
            <a:avLst/>
          </a:prstGeom>
        </p:spPr>
      </p:pic>
      <p:sp>
        <p:nvSpPr>
          <p:cNvPr id="4" name="object 4"/>
          <p:cNvSpPr txBox="1"/>
          <p:nvPr/>
        </p:nvSpPr>
        <p:spPr>
          <a:xfrm>
            <a:off x="748824" y="988417"/>
            <a:ext cx="8191815" cy="5461540"/>
          </a:xfrm>
          <a:prstGeom prst="rect">
            <a:avLst/>
          </a:prstGeom>
        </p:spPr>
        <p:txBody>
          <a:bodyPr vert="horz" wrap="square" lIns="0" tIns="23920" rIns="0" bIns="0" rtlCol="0">
            <a:spAutoFit/>
          </a:bodyPr>
          <a:lstStyle/>
          <a:p>
            <a:pPr marL="75537" marR="60430">
              <a:spcBef>
                <a:spcPts val="188"/>
              </a:spcBef>
            </a:pPr>
            <a:r>
              <a:rPr sz="2000" spc="-79" dirty="0">
                <a:solidFill>
                  <a:srgbClr val="0000FF"/>
                </a:solidFill>
                <a:cs typeface="Tahoma"/>
              </a:rPr>
              <a:t>Supervised</a:t>
            </a:r>
            <a:r>
              <a:rPr sz="2000" spc="10" dirty="0">
                <a:solidFill>
                  <a:srgbClr val="0000FF"/>
                </a:solidFill>
                <a:cs typeface="Tahoma"/>
              </a:rPr>
              <a:t> </a:t>
            </a:r>
            <a:r>
              <a:rPr sz="2000" spc="-79" dirty="0">
                <a:solidFill>
                  <a:srgbClr val="0000FF"/>
                </a:solidFill>
                <a:cs typeface="Tahoma"/>
              </a:rPr>
              <a:t>learning</a:t>
            </a:r>
            <a:r>
              <a:rPr sz="2000" spc="10" dirty="0">
                <a:solidFill>
                  <a:srgbClr val="0000FF"/>
                </a:solidFill>
                <a:cs typeface="Tahoma"/>
              </a:rPr>
              <a:t> </a:t>
            </a:r>
            <a:r>
              <a:rPr sz="2000" spc="-69" dirty="0">
                <a:cs typeface="Tahoma"/>
              </a:rPr>
              <a:t>algorithms</a:t>
            </a:r>
            <a:r>
              <a:rPr sz="2000" spc="20" dirty="0">
                <a:cs typeface="Tahoma"/>
              </a:rPr>
              <a:t> </a:t>
            </a:r>
            <a:r>
              <a:rPr sz="2000" spc="-109" dirty="0">
                <a:cs typeface="Tahoma"/>
              </a:rPr>
              <a:t>have</a:t>
            </a:r>
            <a:r>
              <a:rPr sz="2000" spc="10" dirty="0">
                <a:cs typeface="Tahoma"/>
              </a:rPr>
              <a:t> </a:t>
            </a:r>
            <a:r>
              <a:rPr sz="2000" spc="-99" dirty="0">
                <a:cs typeface="Tahoma"/>
              </a:rPr>
              <a:t>a</a:t>
            </a:r>
            <a:r>
              <a:rPr sz="2000" spc="20" dirty="0">
                <a:cs typeface="Tahoma"/>
              </a:rPr>
              <a:t> </a:t>
            </a:r>
            <a:r>
              <a:rPr sz="2000" spc="-79" dirty="0">
                <a:cs typeface="Tahoma"/>
              </a:rPr>
              <a:t>clear</a:t>
            </a:r>
            <a:r>
              <a:rPr sz="2000" spc="10" dirty="0">
                <a:cs typeface="Tahoma"/>
              </a:rPr>
              <a:t> </a:t>
            </a:r>
            <a:r>
              <a:rPr sz="2000" spc="-89" dirty="0">
                <a:cs typeface="Tahoma"/>
              </a:rPr>
              <a:t>goal:</a:t>
            </a:r>
            <a:r>
              <a:rPr sz="2000" spc="258" dirty="0">
                <a:cs typeface="Tahoma"/>
              </a:rPr>
              <a:t> </a:t>
            </a:r>
            <a:r>
              <a:rPr sz="2000" spc="-89" dirty="0">
                <a:cs typeface="Tahoma"/>
              </a:rPr>
              <a:t>produce</a:t>
            </a:r>
            <a:r>
              <a:rPr sz="2000" spc="10" dirty="0">
                <a:cs typeface="Tahoma"/>
              </a:rPr>
              <a:t> </a:t>
            </a:r>
            <a:r>
              <a:rPr sz="2000" spc="-99" dirty="0">
                <a:cs typeface="Tahoma"/>
              </a:rPr>
              <a:t>desired</a:t>
            </a:r>
            <a:r>
              <a:rPr sz="2000" spc="20" dirty="0">
                <a:cs typeface="Tahoma"/>
              </a:rPr>
              <a:t> </a:t>
            </a:r>
            <a:r>
              <a:rPr sz="2000" spc="-59" dirty="0">
                <a:cs typeface="Tahoma"/>
              </a:rPr>
              <a:t>outputs</a:t>
            </a:r>
            <a:r>
              <a:rPr sz="2000" spc="10" dirty="0">
                <a:cs typeface="Tahoma"/>
              </a:rPr>
              <a:t> </a:t>
            </a:r>
            <a:r>
              <a:rPr sz="2000" spc="-79" dirty="0">
                <a:cs typeface="Tahoma"/>
              </a:rPr>
              <a:t>for </a:t>
            </a:r>
            <a:r>
              <a:rPr sz="2000" spc="-585" dirty="0">
                <a:cs typeface="Tahoma"/>
              </a:rPr>
              <a:t> </a:t>
            </a:r>
            <a:r>
              <a:rPr sz="2000" spc="-89" dirty="0">
                <a:cs typeface="Tahoma"/>
              </a:rPr>
              <a:t>given</a:t>
            </a:r>
            <a:r>
              <a:rPr sz="2000" spc="20" dirty="0">
                <a:cs typeface="Tahoma"/>
              </a:rPr>
              <a:t> </a:t>
            </a:r>
            <a:r>
              <a:rPr sz="2000" spc="-59" dirty="0">
                <a:cs typeface="Tahoma"/>
              </a:rPr>
              <a:t>inputs.</a:t>
            </a:r>
            <a:endParaRPr sz="2000" dirty="0">
              <a:cs typeface="Tahoma"/>
            </a:endParaRPr>
          </a:p>
          <a:p>
            <a:pPr marL="638256" indent="-285750">
              <a:spcBef>
                <a:spcPts val="773"/>
              </a:spcBef>
              <a:buFont typeface="Arial" pitchFamily="34" charset="0"/>
              <a:buChar char="•"/>
            </a:pPr>
            <a:r>
              <a:rPr sz="2000" spc="1084" baseline="13888" dirty="0">
                <a:solidFill>
                  <a:srgbClr val="3333B2"/>
                </a:solidFill>
                <a:cs typeface="Lucida Sans Unicode"/>
              </a:rPr>
              <a:t> </a:t>
            </a:r>
            <a:r>
              <a:rPr sz="2000" spc="-59" dirty="0">
                <a:cs typeface="Tahoma"/>
              </a:rPr>
              <a:t>You</a:t>
            </a:r>
            <a:r>
              <a:rPr sz="2000" spc="40" dirty="0">
                <a:cs typeface="Tahoma"/>
              </a:rPr>
              <a:t> </a:t>
            </a:r>
            <a:r>
              <a:rPr sz="2000" spc="-129" dirty="0">
                <a:cs typeface="Tahoma"/>
              </a:rPr>
              <a:t>are</a:t>
            </a:r>
            <a:r>
              <a:rPr sz="2000" spc="50" dirty="0">
                <a:cs typeface="Tahoma"/>
              </a:rPr>
              <a:t> </a:t>
            </a:r>
            <a:r>
              <a:rPr sz="2000" spc="-89" dirty="0">
                <a:cs typeface="Tahoma"/>
              </a:rPr>
              <a:t>given</a:t>
            </a:r>
            <a:r>
              <a:rPr sz="2000" spc="59" dirty="0">
                <a:cs typeface="Tahoma"/>
              </a:rPr>
              <a:t> </a:t>
            </a:r>
            <a:r>
              <a:rPr sz="2000" spc="89" dirty="0">
                <a:cs typeface="Lucida Sans Unicode"/>
              </a:rPr>
              <a:t>{</a:t>
            </a:r>
            <a:r>
              <a:rPr sz="2000" spc="89" dirty="0">
                <a:cs typeface="Tahoma"/>
              </a:rPr>
              <a:t>(</a:t>
            </a:r>
            <a:r>
              <a:rPr sz="2000" i="1" spc="89" dirty="0">
                <a:cs typeface="Arial"/>
              </a:rPr>
              <a:t>x</a:t>
            </a:r>
            <a:r>
              <a:rPr sz="2000" i="1" spc="-377" dirty="0">
                <a:cs typeface="Arial"/>
              </a:rPr>
              <a:t> </a:t>
            </a:r>
            <a:r>
              <a:rPr sz="2000" spc="59" baseline="27777" dirty="0">
                <a:cs typeface="Tahoma"/>
              </a:rPr>
              <a:t>(</a:t>
            </a:r>
            <a:r>
              <a:rPr sz="2000" i="1" spc="59" baseline="27777" dirty="0">
                <a:cs typeface="Arial"/>
              </a:rPr>
              <a:t>i</a:t>
            </a:r>
            <a:r>
              <a:rPr sz="2000" i="1" spc="-387" baseline="27777" dirty="0">
                <a:cs typeface="Arial"/>
              </a:rPr>
              <a:t> </a:t>
            </a:r>
            <a:r>
              <a:rPr sz="2000" spc="87" baseline="27777" dirty="0">
                <a:cs typeface="Tahoma"/>
              </a:rPr>
              <a:t>)</a:t>
            </a:r>
            <a:r>
              <a:rPr sz="2000" i="1" spc="59" dirty="0">
                <a:cs typeface="Arial"/>
              </a:rPr>
              <a:t>,</a:t>
            </a:r>
            <a:r>
              <a:rPr sz="2000" i="1" spc="-218" dirty="0">
                <a:cs typeface="Arial"/>
              </a:rPr>
              <a:t> </a:t>
            </a:r>
            <a:r>
              <a:rPr sz="2000" i="1" spc="119" dirty="0">
                <a:cs typeface="Arial"/>
              </a:rPr>
              <a:t>t</a:t>
            </a:r>
            <a:r>
              <a:rPr sz="2000" spc="176" baseline="27777" dirty="0">
                <a:cs typeface="Tahoma"/>
              </a:rPr>
              <a:t>(</a:t>
            </a:r>
            <a:r>
              <a:rPr sz="2000" i="1" spc="176" baseline="27777" dirty="0">
                <a:cs typeface="Arial"/>
              </a:rPr>
              <a:t>i</a:t>
            </a:r>
            <a:r>
              <a:rPr sz="2000" i="1" spc="-387" baseline="27777" dirty="0">
                <a:cs typeface="Arial"/>
              </a:rPr>
              <a:t> </a:t>
            </a:r>
            <a:r>
              <a:rPr sz="2000" spc="238" baseline="27777" dirty="0">
                <a:cs typeface="Tahoma"/>
              </a:rPr>
              <a:t>)</a:t>
            </a:r>
            <a:r>
              <a:rPr sz="2000" spc="159" dirty="0">
                <a:cs typeface="Tahoma"/>
              </a:rPr>
              <a:t>)</a:t>
            </a:r>
            <a:r>
              <a:rPr sz="2000" spc="159" dirty="0">
                <a:cs typeface="Lucida Sans Unicode"/>
              </a:rPr>
              <a:t>}</a:t>
            </a:r>
            <a:r>
              <a:rPr sz="2000" spc="40" dirty="0">
                <a:cs typeface="Lucida Sans Unicode"/>
              </a:rPr>
              <a:t> </a:t>
            </a:r>
            <a:r>
              <a:rPr sz="2000" spc="-69" dirty="0">
                <a:cs typeface="Tahoma"/>
              </a:rPr>
              <a:t>during</a:t>
            </a:r>
            <a:r>
              <a:rPr sz="2000" spc="59" dirty="0">
                <a:cs typeface="Tahoma"/>
              </a:rPr>
              <a:t> </a:t>
            </a:r>
            <a:r>
              <a:rPr sz="2000" spc="-50" dirty="0">
                <a:cs typeface="Tahoma"/>
              </a:rPr>
              <a:t>training</a:t>
            </a:r>
            <a:r>
              <a:rPr sz="2000" spc="40" dirty="0">
                <a:cs typeface="Tahoma"/>
              </a:rPr>
              <a:t> </a:t>
            </a:r>
            <a:r>
              <a:rPr sz="2000" spc="-50" dirty="0">
                <a:cs typeface="Tahoma"/>
              </a:rPr>
              <a:t>(inputs</a:t>
            </a:r>
            <a:r>
              <a:rPr sz="2000" spc="50" dirty="0">
                <a:cs typeface="Tahoma"/>
              </a:rPr>
              <a:t> </a:t>
            </a:r>
            <a:r>
              <a:rPr sz="2000" spc="-89" dirty="0">
                <a:cs typeface="Tahoma"/>
              </a:rPr>
              <a:t>and</a:t>
            </a:r>
            <a:r>
              <a:rPr sz="2000" spc="50" dirty="0">
                <a:cs typeface="Tahoma"/>
              </a:rPr>
              <a:t> </a:t>
            </a:r>
            <a:r>
              <a:rPr sz="2000" spc="-69" dirty="0">
                <a:cs typeface="Tahoma"/>
              </a:rPr>
              <a:t>targets)</a:t>
            </a:r>
            <a:endParaRPr sz="2000" dirty="0">
              <a:cs typeface="Tahoma"/>
            </a:endParaRPr>
          </a:p>
          <a:p>
            <a:pPr marL="75537" marR="686128">
              <a:spcBef>
                <a:spcPts val="1051"/>
              </a:spcBef>
            </a:pPr>
            <a:r>
              <a:rPr sz="2000" spc="-59" dirty="0">
                <a:cs typeface="Tahoma"/>
              </a:rPr>
              <a:t>Goal</a:t>
            </a:r>
            <a:r>
              <a:rPr sz="2000" spc="40" dirty="0">
                <a:cs typeface="Tahoma"/>
              </a:rPr>
              <a:t> </a:t>
            </a:r>
            <a:r>
              <a:rPr sz="2000" spc="-59" dirty="0">
                <a:cs typeface="Tahoma"/>
              </a:rPr>
              <a:t>of</a:t>
            </a:r>
            <a:r>
              <a:rPr sz="2000" spc="50" dirty="0">
                <a:cs typeface="Tahoma"/>
              </a:rPr>
              <a:t> </a:t>
            </a:r>
            <a:r>
              <a:rPr sz="2000" spc="-89" dirty="0">
                <a:solidFill>
                  <a:srgbClr val="0000FF"/>
                </a:solidFill>
                <a:cs typeface="Tahoma"/>
              </a:rPr>
              <a:t>unsupervised</a:t>
            </a:r>
            <a:r>
              <a:rPr sz="2000" spc="50" dirty="0">
                <a:solidFill>
                  <a:srgbClr val="0000FF"/>
                </a:solidFill>
                <a:cs typeface="Tahoma"/>
              </a:rPr>
              <a:t> </a:t>
            </a:r>
            <a:r>
              <a:rPr sz="2000" spc="-79" dirty="0">
                <a:solidFill>
                  <a:srgbClr val="0000FF"/>
                </a:solidFill>
                <a:cs typeface="Tahoma"/>
              </a:rPr>
              <a:t>learning</a:t>
            </a:r>
            <a:r>
              <a:rPr sz="2000" spc="50" dirty="0">
                <a:solidFill>
                  <a:srgbClr val="0000FF"/>
                </a:solidFill>
                <a:cs typeface="Tahoma"/>
              </a:rPr>
              <a:t> </a:t>
            </a:r>
            <a:r>
              <a:rPr sz="2000" spc="-69" dirty="0">
                <a:cs typeface="Tahoma"/>
              </a:rPr>
              <a:t>algorithms</a:t>
            </a:r>
            <a:r>
              <a:rPr sz="2000" spc="50" dirty="0">
                <a:cs typeface="Tahoma"/>
              </a:rPr>
              <a:t> </a:t>
            </a:r>
            <a:r>
              <a:rPr sz="2000" spc="-59" dirty="0">
                <a:cs typeface="Tahoma"/>
              </a:rPr>
              <a:t>(no</a:t>
            </a:r>
            <a:r>
              <a:rPr sz="2000" spc="50" dirty="0">
                <a:cs typeface="Tahoma"/>
              </a:rPr>
              <a:t> </a:t>
            </a:r>
            <a:r>
              <a:rPr sz="2000" spc="-40" dirty="0">
                <a:cs typeface="Tahoma"/>
              </a:rPr>
              <a:t>explicit</a:t>
            </a:r>
            <a:r>
              <a:rPr sz="2000" spc="40" dirty="0">
                <a:cs typeface="Tahoma"/>
              </a:rPr>
              <a:t> </a:t>
            </a:r>
            <a:r>
              <a:rPr sz="2000" spc="-89" dirty="0">
                <a:cs typeface="Tahoma"/>
              </a:rPr>
              <a:t>feedback</a:t>
            </a:r>
            <a:r>
              <a:rPr sz="2000" spc="50" dirty="0">
                <a:cs typeface="Tahoma"/>
              </a:rPr>
              <a:t> </a:t>
            </a:r>
            <a:r>
              <a:rPr sz="2000" spc="-89" dirty="0">
                <a:cs typeface="Tahoma"/>
              </a:rPr>
              <a:t>whether </a:t>
            </a:r>
            <a:r>
              <a:rPr sz="2000" spc="-585" dirty="0">
                <a:cs typeface="Tahoma"/>
              </a:rPr>
              <a:t> </a:t>
            </a:r>
            <a:r>
              <a:rPr sz="2000" spc="-59" dirty="0">
                <a:cs typeface="Tahoma"/>
              </a:rPr>
              <a:t>outputs</a:t>
            </a:r>
            <a:r>
              <a:rPr sz="2000" spc="30" dirty="0">
                <a:cs typeface="Tahoma"/>
              </a:rPr>
              <a:t> </a:t>
            </a:r>
            <a:r>
              <a:rPr sz="2000" spc="-59" dirty="0">
                <a:cs typeface="Tahoma"/>
              </a:rPr>
              <a:t>of</a:t>
            </a:r>
            <a:r>
              <a:rPr sz="2000" spc="40" dirty="0">
                <a:cs typeface="Tahoma"/>
              </a:rPr>
              <a:t> </a:t>
            </a:r>
            <a:r>
              <a:rPr sz="2000" spc="-99" dirty="0">
                <a:cs typeface="Tahoma"/>
              </a:rPr>
              <a:t>system</a:t>
            </a:r>
            <a:r>
              <a:rPr sz="2000" spc="30" dirty="0">
                <a:cs typeface="Tahoma"/>
              </a:rPr>
              <a:t> </a:t>
            </a:r>
            <a:r>
              <a:rPr sz="2000" spc="-129" dirty="0">
                <a:cs typeface="Tahoma"/>
              </a:rPr>
              <a:t>are</a:t>
            </a:r>
            <a:r>
              <a:rPr sz="2000" spc="40" dirty="0">
                <a:cs typeface="Tahoma"/>
              </a:rPr>
              <a:t> </a:t>
            </a:r>
            <a:r>
              <a:rPr sz="2000" spc="-59" dirty="0">
                <a:cs typeface="Tahoma"/>
              </a:rPr>
              <a:t>correct)</a:t>
            </a:r>
            <a:r>
              <a:rPr sz="2000" spc="40" dirty="0">
                <a:cs typeface="Tahoma"/>
              </a:rPr>
              <a:t> </a:t>
            </a:r>
            <a:r>
              <a:rPr sz="2000" spc="-109" dirty="0">
                <a:cs typeface="Tahoma"/>
              </a:rPr>
              <a:t>less</a:t>
            </a:r>
            <a:r>
              <a:rPr sz="2000" spc="40" dirty="0">
                <a:cs typeface="Tahoma"/>
              </a:rPr>
              <a:t> </a:t>
            </a:r>
            <a:r>
              <a:rPr sz="2000" spc="-79" dirty="0">
                <a:cs typeface="Tahoma"/>
              </a:rPr>
              <a:t>clear.</a:t>
            </a:r>
            <a:endParaRPr sz="2000" dirty="0">
              <a:cs typeface="Tahoma"/>
            </a:endParaRPr>
          </a:p>
          <a:p>
            <a:pPr marL="638256" indent="-285750">
              <a:spcBef>
                <a:spcPts val="773"/>
              </a:spcBef>
              <a:buFont typeface="Arial" pitchFamily="34" charset="0"/>
              <a:buChar char="•"/>
            </a:pPr>
            <a:r>
              <a:rPr sz="2000" spc="1071" baseline="13888" dirty="0">
                <a:solidFill>
                  <a:srgbClr val="3333B2"/>
                </a:solidFill>
                <a:cs typeface="Lucida Sans Unicode"/>
              </a:rPr>
              <a:t> </a:t>
            </a:r>
            <a:r>
              <a:rPr sz="2000" spc="-59" dirty="0">
                <a:cs typeface="Tahoma"/>
              </a:rPr>
              <a:t>You</a:t>
            </a:r>
            <a:r>
              <a:rPr sz="2000" spc="40" dirty="0">
                <a:cs typeface="Tahoma"/>
              </a:rPr>
              <a:t> </a:t>
            </a:r>
            <a:r>
              <a:rPr sz="2000" spc="-129" dirty="0">
                <a:cs typeface="Tahoma"/>
              </a:rPr>
              <a:t>are</a:t>
            </a:r>
            <a:r>
              <a:rPr sz="2000" spc="50" dirty="0">
                <a:cs typeface="Tahoma"/>
              </a:rPr>
              <a:t> </a:t>
            </a:r>
            <a:r>
              <a:rPr sz="2000" spc="-89" dirty="0">
                <a:cs typeface="Tahoma"/>
              </a:rPr>
              <a:t>given</a:t>
            </a:r>
            <a:r>
              <a:rPr sz="2000" spc="50" dirty="0">
                <a:cs typeface="Tahoma"/>
              </a:rPr>
              <a:t> </a:t>
            </a:r>
            <a:r>
              <a:rPr sz="2000" spc="-69" dirty="0">
                <a:cs typeface="Tahoma"/>
              </a:rPr>
              <a:t>the</a:t>
            </a:r>
            <a:r>
              <a:rPr sz="2000" spc="40" dirty="0">
                <a:cs typeface="Tahoma"/>
              </a:rPr>
              <a:t> </a:t>
            </a:r>
            <a:r>
              <a:rPr sz="2000" spc="-59" dirty="0">
                <a:cs typeface="Tahoma"/>
              </a:rPr>
              <a:t>inputs</a:t>
            </a:r>
            <a:r>
              <a:rPr sz="2000" spc="50" dirty="0">
                <a:cs typeface="Tahoma"/>
              </a:rPr>
              <a:t> </a:t>
            </a:r>
            <a:r>
              <a:rPr sz="2000" spc="129" dirty="0">
                <a:cs typeface="Lucida Sans Unicode"/>
              </a:rPr>
              <a:t>{</a:t>
            </a:r>
            <a:r>
              <a:rPr sz="2000" i="1" spc="129" dirty="0">
                <a:cs typeface="Arial"/>
              </a:rPr>
              <a:t>x</a:t>
            </a:r>
            <a:r>
              <a:rPr sz="2000" i="1" spc="-377" dirty="0">
                <a:cs typeface="Arial"/>
              </a:rPr>
              <a:t> </a:t>
            </a:r>
            <a:r>
              <a:rPr sz="2000" spc="59" baseline="27777" dirty="0">
                <a:cs typeface="Tahoma"/>
              </a:rPr>
              <a:t>(</a:t>
            </a:r>
            <a:r>
              <a:rPr sz="2000" i="1" spc="59" baseline="27777" dirty="0">
                <a:cs typeface="Arial"/>
              </a:rPr>
              <a:t>i</a:t>
            </a:r>
            <a:r>
              <a:rPr sz="2000" i="1" spc="-387" baseline="27777" dirty="0">
                <a:cs typeface="Arial"/>
              </a:rPr>
              <a:t> </a:t>
            </a:r>
            <a:r>
              <a:rPr sz="2000" spc="341" baseline="27777" dirty="0">
                <a:cs typeface="Tahoma"/>
              </a:rPr>
              <a:t>)</a:t>
            </a:r>
            <a:r>
              <a:rPr sz="2000" spc="226" dirty="0">
                <a:cs typeface="Lucida Sans Unicode"/>
              </a:rPr>
              <a:t>}</a:t>
            </a:r>
            <a:r>
              <a:rPr sz="2000" spc="40" dirty="0">
                <a:cs typeface="Lucida Sans Unicode"/>
              </a:rPr>
              <a:t> </a:t>
            </a:r>
            <a:r>
              <a:rPr sz="2000" spc="-69" dirty="0">
                <a:cs typeface="Tahoma"/>
              </a:rPr>
              <a:t>during</a:t>
            </a:r>
            <a:r>
              <a:rPr sz="2000" spc="50" dirty="0">
                <a:cs typeface="Tahoma"/>
              </a:rPr>
              <a:t> </a:t>
            </a:r>
            <a:r>
              <a:rPr sz="2000" spc="-50" dirty="0">
                <a:cs typeface="Tahoma"/>
              </a:rPr>
              <a:t>training,</a:t>
            </a:r>
            <a:r>
              <a:rPr sz="2000" spc="40" dirty="0">
                <a:cs typeface="Tahoma"/>
              </a:rPr>
              <a:t> </a:t>
            </a:r>
            <a:r>
              <a:rPr sz="2000" spc="-69" dirty="0">
                <a:cs typeface="Tahoma"/>
              </a:rPr>
              <a:t>labels</a:t>
            </a:r>
            <a:r>
              <a:rPr sz="2000" spc="40" dirty="0">
                <a:cs typeface="Tahoma"/>
              </a:rPr>
              <a:t> </a:t>
            </a:r>
            <a:r>
              <a:rPr sz="2000" spc="-129" dirty="0">
                <a:cs typeface="Tahoma"/>
              </a:rPr>
              <a:t>are</a:t>
            </a:r>
            <a:r>
              <a:rPr sz="2000" spc="50" dirty="0">
                <a:cs typeface="Tahoma"/>
              </a:rPr>
              <a:t> </a:t>
            </a:r>
            <a:r>
              <a:rPr sz="2000" spc="-89" dirty="0">
                <a:cs typeface="Tahoma"/>
              </a:rPr>
              <a:t>unknown.</a:t>
            </a:r>
            <a:endParaRPr sz="2000" dirty="0">
              <a:cs typeface="Tahoma"/>
            </a:endParaRPr>
          </a:p>
          <a:p>
            <a:pPr marL="75537">
              <a:spcBef>
                <a:spcPts val="1051"/>
              </a:spcBef>
            </a:pPr>
            <a:r>
              <a:rPr sz="2000" spc="-79" dirty="0">
                <a:cs typeface="Tahoma"/>
              </a:rPr>
              <a:t>Tasks</a:t>
            </a:r>
            <a:r>
              <a:rPr sz="2000" spc="-10" dirty="0">
                <a:cs typeface="Tahoma"/>
              </a:rPr>
              <a:t> </a:t>
            </a:r>
            <a:r>
              <a:rPr sz="2000" spc="-20" dirty="0">
                <a:cs typeface="Tahoma"/>
              </a:rPr>
              <a:t>to</a:t>
            </a:r>
            <a:r>
              <a:rPr sz="2000" spc="-10" dirty="0">
                <a:cs typeface="Tahoma"/>
              </a:rPr>
              <a:t> </a:t>
            </a:r>
            <a:r>
              <a:rPr sz="2000" spc="-89" dirty="0">
                <a:cs typeface="Tahoma"/>
              </a:rPr>
              <a:t>consider:</a:t>
            </a:r>
            <a:endParaRPr sz="2000" dirty="0">
              <a:cs typeface="Tahoma"/>
            </a:endParaRPr>
          </a:p>
          <a:p>
            <a:pPr marL="638256" indent="-285750">
              <a:lnSpc>
                <a:spcPts val="2379"/>
              </a:lnSpc>
              <a:spcBef>
                <a:spcPts val="783"/>
              </a:spcBef>
              <a:buFont typeface="Arial" pitchFamily="34" charset="0"/>
              <a:buChar char="•"/>
            </a:pPr>
            <a:r>
              <a:rPr sz="2000" spc="1041" baseline="13888" dirty="0">
                <a:solidFill>
                  <a:srgbClr val="3333B2"/>
                </a:solidFill>
                <a:cs typeface="Lucida Sans Unicode"/>
              </a:rPr>
              <a:t> </a:t>
            </a:r>
            <a:r>
              <a:rPr sz="2000" spc="-89" dirty="0">
                <a:cs typeface="Tahoma"/>
              </a:rPr>
              <a:t>Reduce</a:t>
            </a:r>
            <a:r>
              <a:rPr sz="2000" spc="30" dirty="0">
                <a:cs typeface="Tahoma"/>
              </a:rPr>
              <a:t> </a:t>
            </a:r>
            <a:r>
              <a:rPr sz="2000" spc="-69" dirty="0">
                <a:cs typeface="Tahoma"/>
              </a:rPr>
              <a:t>dimensionality</a:t>
            </a:r>
            <a:endParaRPr sz="2000" dirty="0">
              <a:cs typeface="Tahoma"/>
            </a:endParaRPr>
          </a:p>
          <a:p>
            <a:pPr marL="638256" indent="-285750">
              <a:lnSpc>
                <a:spcPts val="2369"/>
              </a:lnSpc>
              <a:buFont typeface="Arial" pitchFamily="34" charset="0"/>
              <a:buChar char="•"/>
            </a:pPr>
            <a:r>
              <a:rPr sz="2000" spc="952" baseline="13888" dirty="0">
                <a:solidFill>
                  <a:srgbClr val="3333B2"/>
                </a:solidFill>
                <a:cs typeface="Lucida Sans Unicode"/>
              </a:rPr>
              <a:t> </a:t>
            </a:r>
            <a:r>
              <a:rPr sz="2000" spc="-20" dirty="0">
                <a:cs typeface="Tahoma"/>
              </a:rPr>
              <a:t>Find </a:t>
            </a:r>
            <a:r>
              <a:rPr sz="2000" spc="-69" dirty="0">
                <a:cs typeface="Tahoma"/>
              </a:rPr>
              <a:t>clusters</a:t>
            </a:r>
            <a:endParaRPr sz="2000" dirty="0">
              <a:cs typeface="Tahoma"/>
            </a:endParaRPr>
          </a:p>
          <a:p>
            <a:pPr marL="638256" indent="-285750">
              <a:lnSpc>
                <a:spcPts val="2369"/>
              </a:lnSpc>
              <a:buFont typeface="Arial" pitchFamily="34" charset="0"/>
              <a:buChar char="•"/>
            </a:pPr>
            <a:r>
              <a:rPr sz="2000" spc="979" baseline="13888" dirty="0">
                <a:solidFill>
                  <a:srgbClr val="3333B2"/>
                </a:solidFill>
                <a:cs typeface="Lucida Sans Unicode"/>
              </a:rPr>
              <a:t> </a:t>
            </a:r>
            <a:r>
              <a:rPr sz="2000" spc="-20" dirty="0">
                <a:cs typeface="Tahoma"/>
              </a:rPr>
              <a:t>Model</a:t>
            </a:r>
            <a:r>
              <a:rPr sz="2000" spc="10" dirty="0">
                <a:cs typeface="Tahoma"/>
              </a:rPr>
              <a:t> </a:t>
            </a:r>
            <a:r>
              <a:rPr sz="2000" spc="-59" dirty="0">
                <a:cs typeface="Tahoma"/>
              </a:rPr>
              <a:t>data</a:t>
            </a:r>
            <a:r>
              <a:rPr sz="2000" spc="10" dirty="0">
                <a:cs typeface="Tahoma"/>
              </a:rPr>
              <a:t> </a:t>
            </a:r>
            <a:r>
              <a:rPr sz="2000" spc="-79" dirty="0">
                <a:cs typeface="Tahoma"/>
              </a:rPr>
              <a:t>density</a:t>
            </a:r>
            <a:endParaRPr sz="2000" dirty="0">
              <a:cs typeface="Tahoma"/>
            </a:endParaRPr>
          </a:p>
          <a:p>
            <a:pPr marL="638256" indent="-285750">
              <a:lnSpc>
                <a:spcPts val="2379"/>
              </a:lnSpc>
              <a:buFont typeface="Arial" pitchFamily="34" charset="0"/>
              <a:buChar char="•"/>
            </a:pPr>
            <a:r>
              <a:rPr sz="2000" spc="936" baseline="13888" dirty="0">
                <a:solidFill>
                  <a:srgbClr val="3333B2"/>
                </a:solidFill>
                <a:cs typeface="Lucida Sans Unicode"/>
              </a:rPr>
              <a:t> </a:t>
            </a:r>
            <a:r>
              <a:rPr sz="2000" spc="-20" dirty="0">
                <a:cs typeface="Tahoma"/>
              </a:rPr>
              <a:t>Find </a:t>
            </a:r>
            <a:r>
              <a:rPr sz="2000" spc="-79" dirty="0">
                <a:cs typeface="Tahoma"/>
              </a:rPr>
              <a:t>hidden</a:t>
            </a:r>
            <a:r>
              <a:rPr sz="2000" dirty="0">
                <a:cs typeface="Tahoma"/>
              </a:rPr>
              <a:t> </a:t>
            </a:r>
            <a:r>
              <a:rPr sz="2000" spc="-109" dirty="0">
                <a:cs typeface="Tahoma"/>
              </a:rPr>
              <a:t>causes</a:t>
            </a:r>
            <a:endParaRPr sz="2000" dirty="0">
              <a:cs typeface="Tahoma"/>
            </a:endParaRPr>
          </a:p>
          <a:p>
            <a:pPr marL="75537">
              <a:spcBef>
                <a:spcPts val="1041"/>
              </a:spcBef>
            </a:pPr>
            <a:r>
              <a:rPr sz="2000" spc="-20" dirty="0">
                <a:cs typeface="Tahoma"/>
              </a:rPr>
              <a:t>Key</a:t>
            </a:r>
            <a:r>
              <a:rPr sz="2000" spc="-30" dirty="0">
                <a:cs typeface="Tahoma"/>
              </a:rPr>
              <a:t> </a:t>
            </a:r>
            <a:r>
              <a:rPr sz="2000" spc="-20" dirty="0">
                <a:cs typeface="Tahoma"/>
              </a:rPr>
              <a:t>utility</a:t>
            </a:r>
            <a:endParaRPr sz="2000" dirty="0">
              <a:cs typeface="Tahoma"/>
            </a:endParaRPr>
          </a:p>
          <a:p>
            <a:pPr marL="638256" indent="-285750">
              <a:lnSpc>
                <a:spcPts val="2379"/>
              </a:lnSpc>
              <a:spcBef>
                <a:spcPts val="783"/>
              </a:spcBef>
              <a:buFont typeface="Arial" pitchFamily="34" charset="0"/>
              <a:buChar char="•"/>
            </a:pPr>
            <a:r>
              <a:rPr sz="2000" spc="936" baseline="13888" dirty="0">
                <a:solidFill>
                  <a:srgbClr val="3333B2"/>
                </a:solidFill>
                <a:cs typeface="Lucida Sans Unicode"/>
              </a:rPr>
              <a:t> </a:t>
            </a:r>
            <a:r>
              <a:rPr sz="2000" spc="-99" dirty="0">
                <a:cs typeface="Tahoma"/>
              </a:rPr>
              <a:t>Compress</a:t>
            </a:r>
            <a:r>
              <a:rPr sz="2000" dirty="0">
                <a:cs typeface="Tahoma"/>
              </a:rPr>
              <a:t> </a:t>
            </a:r>
            <a:r>
              <a:rPr sz="2000" spc="-59" dirty="0">
                <a:cs typeface="Tahoma"/>
              </a:rPr>
              <a:t>data</a:t>
            </a:r>
            <a:endParaRPr sz="2000" dirty="0">
              <a:cs typeface="Tahoma"/>
            </a:endParaRPr>
          </a:p>
          <a:p>
            <a:pPr marL="638256" indent="-285750">
              <a:lnSpc>
                <a:spcPts val="2369"/>
              </a:lnSpc>
              <a:buFont typeface="Arial" pitchFamily="34" charset="0"/>
              <a:buChar char="•"/>
            </a:pPr>
            <a:r>
              <a:rPr sz="2000" spc="952" baseline="13888" dirty="0">
                <a:solidFill>
                  <a:srgbClr val="3333B2"/>
                </a:solidFill>
                <a:cs typeface="Lucida Sans Unicode"/>
              </a:rPr>
              <a:t> </a:t>
            </a:r>
            <a:r>
              <a:rPr sz="2000" spc="-40" dirty="0">
                <a:cs typeface="Tahoma"/>
              </a:rPr>
              <a:t>Detect</a:t>
            </a:r>
            <a:r>
              <a:rPr sz="2000" dirty="0">
                <a:cs typeface="Tahoma"/>
              </a:rPr>
              <a:t> </a:t>
            </a:r>
            <a:r>
              <a:rPr sz="2000" spc="-59" dirty="0">
                <a:cs typeface="Tahoma"/>
              </a:rPr>
              <a:t>outliers</a:t>
            </a:r>
            <a:endParaRPr sz="2000" dirty="0">
              <a:cs typeface="Tahoma"/>
            </a:endParaRPr>
          </a:p>
          <a:p>
            <a:pPr marL="638256" indent="-285750">
              <a:lnSpc>
                <a:spcPts val="2379"/>
              </a:lnSpc>
              <a:buFont typeface="Arial" pitchFamily="34" charset="0"/>
              <a:buChar char="•"/>
            </a:pPr>
            <a:r>
              <a:rPr sz="2000" spc="1009" baseline="13888" dirty="0">
                <a:solidFill>
                  <a:srgbClr val="3333B2"/>
                </a:solidFill>
                <a:cs typeface="Lucida Sans Unicode"/>
              </a:rPr>
              <a:t> </a:t>
            </a:r>
            <a:r>
              <a:rPr sz="2000" spc="-30" dirty="0">
                <a:cs typeface="Tahoma"/>
              </a:rPr>
              <a:t>Facilitate</a:t>
            </a:r>
            <a:r>
              <a:rPr sz="2000" spc="30" dirty="0">
                <a:cs typeface="Tahoma"/>
              </a:rPr>
              <a:t> </a:t>
            </a:r>
            <a:r>
              <a:rPr sz="2000" spc="-69" dirty="0">
                <a:cs typeface="Tahoma"/>
              </a:rPr>
              <a:t>other</a:t>
            </a:r>
            <a:r>
              <a:rPr sz="2000" spc="10" dirty="0">
                <a:cs typeface="Tahoma"/>
              </a:rPr>
              <a:t> </a:t>
            </a:r>
            <a:r>
              <a:rPr sz="2000" spc="-79" dirty="0">
                <a:cs typeface="Tahoma"/>
              </a:rPr>
              <a:t>learning</a:t>
            </a:r>
            <a:endParaRPr sz="2000" dirty="0">
              <a:cs typeface="Tahoma"/>
            </a:endParaRPr>
          </a:p>
        </p:txBody>
      </p:sp>
      <p:pic>
        <p:nvPicPr>
          <p:cNvPr id="5" name="object 5"/>
          <p:cNvPicPr/>
          <p:nvPr/>
        </p:nvPicPr>
        <p:blipFill>
          <a:blip r:embed="rId3" cstate="print"/>
          <a:stretch>
            <a:fillRect/>
          </a:stretch>
        </p:blipFill>
        <p:spPr>
          <a:xfrm>
            <a:off x="557533" y="2267268"/>
            <a:ext cx="129451" cy="129332"/>
          </a:xfrm>
          <a:prstGeom prst="rect">
            <a:avLst/>
          </a:prstGeom>
        </p:spPr>
      </p:pic>
      <p:pic>
        <p:nvPicPr>
          <p:cNvPr id="6" name="object 6"/>
          <p:cNvPicPr/>
          <p:nvPr/>
        </p:nvPicPr>
        <p:blipFill>
          <a:blip r:embed="rId2" cstate="print"/>
          <a:stretch>
            <a:fillRect/>
          </a:stretch>
        </p:blipFill>
        <p:spPr>
          <a:xfrm>
            <a:off x="557533" y="3404564"/>
            <a:ext cx="129451" cy="129332"/>
          </a:xfrm>
          <a:prstGeom prst="rect">
            <a:avLst/>
          </a:prstGeom>
        </p:spPr>
      </p:pic>
      <p:pic>
        <p:nvPicPr>
          <p:cNvPr id="7" name="object 7"/>
          <p:cNvPicPr/>
          <p:nvPr/>
        </p:nvPicPr>
        <p:blipFill>
          <a:blip r:embed="rId2" cstate="print"/>
          <a:stretch>
            <a:fillRect/>
          </a:stretch>
        </p:blipFill>
        <p:spPr>
          <a:xfrm>
            <a:off x="557533" y="5143601"/>
            <a:ext cx="129451" cy="129332"/>
          </a:xfrm>
          <a:prstGeom prst="rect">
            <a:avLst/>
          </a:prstGeom>
        </p:spPr>
      </p:pic>
      <p:sp>
        <p:nvSpPr>
          <p:cNvPr id="14" name="object 14"/>
          <p:cNvSpPr txBox="1"/>
          <p:nvPr/>
        </p:nvSpPr>
        <p:spPr>
          <a:xfrm>
            <a:off x="8554024" y="6642068"/>
            <a:ext cx="477352" cy="166712"/>
          </a:xfrm>
          <a:prstGeom prst="rect">
            <a:avLst/>
          </a:prstGeom>
        </p:spPr>
        <p:txBody>
          <a:bodyPr vert="horz" wrap="square" lIns="0" tIns="0" rIns="0" bIns="0" rtlCol="0">
            <a:spAutoFit/>
          </a:bodyPr>
          <a:lstStyle/>
          <a:p>
            <a:pPr marL="25179">
              <a:lnSpc>
                <a:spcPts val="1338"/>
              </a:lnSpc>
            </a:pPr>
            <a:r>
              <a:rPr sz="1200" spc="-30" dirty="0">
                <a:solidFill>
                  <a:srgbClr val="FFFFFF"/>
                </a:solidFill>
                <a:latin typeface="Tahoma"/>
                <a:cs typeface="Tahoma"/>
              </a:rPr>
              <a:t>4 </a:t>
            </a:r>
            <a:r>
              <a:rPr sz="1200" spc="169" dirty="0">
                <a:solidFill>
                  <a:srgbClr val="FFFFFF"/>
                </a:solidFill>
                <a:latin typeface="Tahoma"/>
                <a:cs typeface="Tahoma"/>
              </a:rPr>
              <a:t>/</a:t>
            </a:r>
            <a:r>
              <a:rPr sz="1200" spc="-30" dirty="0">
                <a:solidFill>
                  <a:srgbClr val="FFFFFF"/>
                </a:solidFill>
                <a:latin typeface="Tahoma"/>
                <a:cs typeface="Tahoma"/>
              </a:rPr>
              <a:t> 20</a:t>
            </a:r>
            <a:endParaRPr sz="1200" dirty="0">
              <a:latin typeface="Tahoma"/>
              <a:cs typeface="Tahoma"/>
            </a:endParaRPr>
          </a:p>
        </p:txBody>
      </p:sp>
    </p:spTree>
    <p:extLst>
      <p:ext uri="{BB962C8B-B14F-4D97-AF65-F5344CB8AC3E}">
        <p14:creationId xmlns:p14="http://schemas.microsoft.com/office/powerpoint/2010/main" val="587512062"/>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229600" cy="1143000"/>
          </a:xfrm>
        </p:spPr>
        <p:txBody>
          <a:bodyPr>
            <a:normAutofit/>
          </a:bodyPr>
          <a:lstStyle/>
          <a:p>
            <a:r>
              <a:rPr lang="en-GB" dirty="0">
                <a:latin typeface="+mn-lt"/>
              </a:rPr>
              <a:t>Unsupervised</a:t>
            </a:r>
            <a:r>
              <a:rPr lang="en-GB" spc="-75" dirty="0">
                <a:latin typeface="+mn-lt"/>
              </a:rPr>
              <a:t> </a:t>
            </a:r>
            <a:r>
              <a:rPr lang="en-GB" dirty="0">
                <a:latin typeface="+mn-lt"/>
              </a:rPr>
              <a:t>Learning</a:t>
            </a:r>
          </a:p>
        </p:txBody>
      </p:sp>
      <p:grpSp>
        <p:nvGrpSpPr>
          <p:cNvPr id="24" name="object 3"/>
          <p:cNvGrpSpPr/>
          <p:nvPr/>
        </p:nvGrpSpPr>
        <p:grpSpPr>
          <a:xfrm>
            <a:off x="327056" y="3511169"/>
            <a:ext cx="8623300" cy="1551940"/>
            <a:chOff x="1569085" y="2057526"/>
            <a:chExt cx="8623300" cy="1551940"/>
          </a:xfrm>
        </p:grpSpPr>
        <p:sp>
          <p:nvSpPr>
            <p:cNvPr id="25" name="object 4"/>
            <p:cNvSpPr/>
            <p:nvPr/>
          </p:nvSpPr>
          <p:spPr>
            <a:xfrm>
              <a:off x="1575435" y="2063876"/>
              <a:ext cx="8610600" cy="1539240"/>
            </a:xfrm>
            <a:custGeom>
              <a:avLst/>
              <a:gdLst/>
              <a:ahLst/>
              <a:cxnLst/>
              <a:rect l="l" t="t" r="r" b="b"/>
              <a:pathLst>
                <a:path w="8610600" h="1539239">
                  <a:moveTo>
                    <a:pt x="8354060" y="0"/>
                  </a:moveTo>
                  <a:lnTo>
                    <a:pt x="256540" y="0"/>
                  </a:lnTo>
                  <a:lnTo>
                    <a:pt x="210413" y="4131"/>
                  </a:lnTo>
                  <a:lnTo>
                    <a:pt x="167005" y="16044"/>
                  </a:lnTo>
                  <a:lnTo>
                    <a:pt x="127037" y="35014"/>
                  </a:lnTo>
                  <a:lnTo>
                    <a:pt x="91234" y="60318"/>
                  </a:lnTo>
                  <a:lnTo>
                    <a:pt x="60318" y="91234"/>
                  </a:lnTo>
                  <a:lnTo>
                    <a:pt x="35014" y="127037"/>
                  </a:lnTo>
                  <a:lnTo>
                    <a:pt x="16044" y="167005"/>
                  </a:lnTo>
                  <a:lnTo>
                    <a:pt x="4131" y="210413"/>
                  </a:lnTo>
                  <a:lnTo>
                    <a:pt x="0" y="256539"/>
                  </a:lnTo>
                  <a:lnTo>
                    <a:pt x="0" y="1282700"/>
                  </a:lnTo>
                  <a:lnTo>
                    <a:pt x="4131" y="1328826"/>
                  </a:lnTo>
                  <a:lnTo>
                    <a:pt x="16044" y="1372234"/>
                  </a:lnTo>
                  <a:lnTo>
                    <a:pt x="35014" y="1412202"/>
                  </a:lnTo>
                  <a:lnTo>
                    <a:pt x="60318" y="1448005"/>
                  </a:lnTo>
                  <a:lnTo>
                    <a:pt x="91234" y="1478921"/>
                  </a:lnTo>
                  <a:lnTo>
                    <a:pt x="127037" y="1504225"/>
                  </a:lnTo>
                  <a:lnTo>
                    <a:pt x="167005" y="1523195"/>
                  </a:lnTo>
                  <a:lnTo>
                    <a:pt x="210413" y="1535108"/>
                  </a:lnTo>
                  <a:lnTo>
                    <a:pt x="256540" y="1539239"/>
                  </a:lnTo>
                  <a:lnTo>
                    <a:pt x="8354060" y="1539239"/>
                  </a:lnTo>
                  <a:lnTo>
                    <a:pt x="8400186" y="1535108"/>
                  </a:lnTo>
                  <a:lnTo>
                    <a:pt x="8443594" y="1523195"/>
                  </a:lnTo>
                  <a:lnTo>
                    <a:pt x="8483562" y="1504225"/>
                  </a:lnTo>
                  <a:lnTo>
                    <a:pt x="8519365" y="1478921"/>
                  </a:lnTo>
                  <a:lnTo>
                    <a:pt x="8550281" y="1448005"/>
                  </a:lnTo>
                  <a:lnTo>
                    <a:pt x="8575585" y="1412202"/>
                  </a:lnTo>
                  <a:lnTo>
                    <a:pt x="8594555" y="1372234"/>
                  </a:lnTo>
                  <a:lnTo>
                    <a:pt x="8606468" y="1328826"/>
                  </a:lnTo>
                  <a:lnTo>
                    <a:pt x="8610600" y="1282700"/>
                  </a:lnTo>
                  <a:lnTo>
                    <a:pt x="8610600" y="256539"/>
                  </a:lnTo>
                  <a:lnTo>
                    <a:pt x="8606468" y="210413"/>
                  </a:lnTo>
                  <a:lnTo>
                    <a:pt x="8594555" y="167005"/>
                  </a:lnTo>
                  <a:lnTo>
                    <a:pt x="8575585" y="127037"/>
                  </a:lnTo>
                  <a:lnTo>
                    <a:pt x="8550281" y="91234"/>
                  </a:lnTo>
                  <a:lnTo>
                    <a:pt x="8519365" y="60318"/>
                  </a:lnTo>
                  <a:lnTo>
                    <a:pt x="8483562" y="35014"/>
                  </a:lnTo>
                  <a:lnTo>
                    <a:pt x="8443594" y="16044"/>
                  </a:lnTo>
                  <a:lnTo>
                    <a:pt x="8400186" y="4131"/>
                  </a:lnTo>
                  <a:lnTo>
                    <a:pt x="8354060" y="0"/>
                  </a:lnTo>
                  <a:close/>
                </a:path>
              </a:pathLst>
            </a:custGeom>
            <a:solidFill>
              <a:srgbClr val="D9D9D9"/>
            </a:solidFill>
          </p:spPr>
          <p:txBody>
            <a:bodyPr wrap="square" lIns="0" tIns="0" rIns="0" bIns="0" rtlCol="0"/>
            <a:lstStyle/>
            <a:p>
              <a:endParaRPr/>
            </a:p>
          </p:txBody>
        </p:sp>
        <p:sp>
          <p:nvSpPr>
            <p:cNvPr id="26" name="object 5"/>
            <p:cNvSpPr/>
            <p:nvPr/>
          </p:nvSpPr>
          <p:spPr>
            <a:xfrm>
              <a:off x="1575435" y="2063876"/>
              <a:ext cx="8610600" cy="1539240"/>
            </a:xfrm>
            <a:custGeom>
              <a:avLst/>
              <a:gdLst/>
              <a:ahLst/>
              <a:cxnLst/>
              <a:rect l="l" t="t" r="r" b="b"/>
              <a:pathLst>
                <a:path w="8610600" h="1539239">
                  <a:moveTo>
                    <a:pt x="0" y="256539"/>
                  </a:moveTo>
                  <a:lnTo>
                    <a:pt x="4131" y="210413"/>
                  </a:lnTo>
                  <a:lnTo>
                    <a:pt x="16044" y="167005"/>
                  </a:lnTo>
                  <a:lnTo>
                    <a:pt x="35014" y="127037"/>
                  </a:lnTo>
                  <a:lnTo>
                    <a:pt x="60318" y="91234"/>
                  </a:lnTo>
                  <a:lnTo>
                    <a:pt x="91234" y="60318"/>
                  </a:lnTo>
                  <a:lnTo>
                    <a:pt x="127037" y="35014"/>
                  </a:lnTo>
                  <a:lnTo>
                    <a:pt x="167005" y="16044"/>
                  </a:lnTo>
                  <a:lnTo>
                    <a:pt x="210413" y="4131"/>
                  </a:lnTo>
                  <a:lnTo>
                    <a:pt x="256540" y="0"/>
                  </a:lnTo>
                  <a:lnTo>
                    <a:pt x="8354060" y="0"/>
                  </a:lnTo>
                  <a:lnTo>
                    <a:pt x="8400186" y="4131"/>
                  </a:lnTo>
                  <a:lnTo>
                    <a:pt x="8443594" y="16044"/>
                  </a:lnTo>
                  <a:lnTo>
                    <a:pt x="8483562" y="35014"/>
                  </a:lnTo>
                  <a:lnTo>
                    <a:pt x="8519365" y="60318"/>
                  </a:lnTo>
                  <a:lnTo>
                    <a:pt x="8550281" y="91234"/>
                  </a:lnTo>
                  <a:lnTo>
                    <a:pt x="8575585" y="127037"/>
                  </a:lnTo>
                  <a:lnTo>
                    <a:pt x="8594555" y="167005"/>
                  </a:lnTo>
                  <a:lnTo>
                    <a:pt x="8606468" y="210413"/>
                  </a:lnTo>
                  <a:lnTo>
                    <a:pt x="8610600" y="256539"/>
                  </a:lnTo>
                  <a:lnTo>
                    <a:pt x="8610600" y="1282700"/>
                  </a:lnTo>
                  <a:lnTo>
                    <a:pt x="8606468" y="1328826"/>
                  </a:lnTo>
                  <a:lnTo>
                    <a:pt x="8594555" y="1372234"/>
                  </a:lnTo>
                  <a:lnTo>
                    <a:pt x="8575585" y="1412202"/>
                  </a:lnTo>
                  <a:lnTo>
                    <a:pt x="8550281" y="1448005"/>
                  </a:lnTo>
                  <a:lnTo>
                    <a:pt x="8519365" y="1478921"/>
                  </a:lnTo>
                  <a:lnTo>
                    <a:pt x="8483562" y="1504225"/>
                  </a:lnTo>
                  <a:lnTo>
                    <a:pt x="8443594" y="1523195"/>
                  </a:lnTo>
                  <a:lnTo>
                    <a:pt x="8400186" y="1535108"/>
                  </a:lnTo>
                  <a:lnTo>
                    <a:pt x="8354060" y="1539239"/>
                  </a:lnTo>
                  <a:lnTo>
                    <a:pt x="256540" y="1539239"/>
                  </a:lnTo>
                  <a:lnTo>
                    <a:pt x="210413" y="1535108"/>
                  </a:lnTo>
                  <a:lnTo>
                    <a:pt x="167005" y="1523195"/>
                  </a:lnTo>
                  <a:lnTo>
                    <a:pt x="127037" y="1504225"/>
                  </a:lnTo>
                  <a:lnTo>
                    <a:pt x="91234" y="1478921"/>
                  </a:lnTo>
                  <a:lnTo>
                    <a:pt x="60318" y="1448005"/>
                  </a:lnTo>
                  <a:lnTo>
                    <a:pt x="35014" y="1412202"/>
                  </a:lnTo>
                  <a:lnTo>
                    <a:pt x="16044" y="1372234"/>
                  </a:lnTo>
                  <a:lnTo>
                    <a:pt x="4131" y="1328826"/>
                  </a:lnTo>
                  <a:lnTo>
                    <a:pt x="0" y="1282700"/>
                  </a:lnTo>
                  <a:lnTo>
                    <a:pt x="0" y="256539"/>
                  </a:lnTo>
                  <a:close/>
                </a:path>
              </a:pathLst>
            </a:custGeom>
            <a:ln w="12700">
              <a:solidFill>
                <a:srgbClr val="FAE4D5"/>
              </a:solidFill>
            </a:ln>
          </p:spPr>
          <p:txBody>
            <a:bodyPr wrap="square" lIns="0" tIns="0" rIns="0" bIns="0" rtlCol="0"/>
            <a:lstStyle/>
            <a:p>
              <a:endParaRPr/>
            </a:p>
          </p:txBody>
        </p:sp>
        <p:sp>
          <p:nvSpPr>
            <p:cNvPr id="27" name="object 6"/>
            <p:cNvSpPr/>
            <p:nvPr/>
          </p:nvSpPr>
          <p:spPr>
            <a:xfrm>
              <a:off x="2219325" y="2525648"/>
              <a:ext cx="1371600" cy="838200"/>
            </a:xfrm>
            <a:custGeom>
              <a:avLst/>
              <a:gdLst/>
              <a:ahLst/>
              <a:cxnLst/>
              <a:rect l="l" t="t" r="r" b="b"/>
              <a:pathLst>
                <a:path w="1371600" h="838200">
                  <a:moveTo>
                    <a:pt x="1231900" y="0"/>
                  </a:moveTo>
                  <a:lnTo>
                    <a:pt x="139700" y="0"/>
                  </a:lnTo>
                  <a:lnTo>
                    <a:pt x="95520" y="7116"/>
                  </a:lnTo>
                  <a:lnTo>
                    <a:pt x="57168" y="26936"/>
                  </a:lnTo>
                  <a:lnTo>
                    <a:pt x="26936" y="57168"/>
                  </a:lnTo>
                  <a:lnTo>
                    <a:pt x="7116" y="95520"/>
                  </a:lnTo>
                  <a:lnTo>
                    <a:pt x="0" y="139700"/>
                  </a:lnTo>
                  <a:lnTo>
                    <a:pt x="0" y="698500"/>
                  </a:lnTo>
                  <a:lnTo>
                    <a:pt x="7116" y="742679"/>
                  </a:lnTo>
                  <a:lnTo>
                    <a:pt x="26936" y="781031"/>
                  </a:lnTo>
                  <a:lnTo>
                    <a:pt x="57168" y="811263"/>
                  </a:lnTo>
                  <a:lnTo>
                    <a:pt x="95520" y="831083"/>
                  </a:lnTo>
                  <a:lnTo>
                    <a:pt x="139700" y="838200"/>
                  </a:lnTo>
                  <a:lnTo>
                    <a:pt x="1231900" y="838200"/>
                  </a:lnTo>
                  <a:lnTo>
                    <a:pt x="1276079" y="831083"/>
                  </a:lnTo>
                  <a:lnTo>
                    <a:pt x="1314431" y="811263"/>
                  </a:lnTo>
                  <a:lnTo>
                    <a:pt x="1344663" y="781031"/>
                  </a:lnTo>
                  <a:lnTo>
                    <a:pt x="1364483" y="742679"/>
                  </a:lnTo>
                  <a:lnTo>
                    <a:pt x="1371600" y="698500"/>
                  </a:lnTo>
                  <a:lnTo>
                    <a:pt x="1371600" y="139700"/>
                  </a:lnTo>
                  <a:lnTo>
                    <a:pt x="1364483" y="95520"/>
                  </a:lnTo>
                  <a:lnTo>
                    <a:pt x="1344663" y="57168"/>
                  </a:lnTo>
                  <a:lnTo>
                    <a:pt x="1314431" y="26936"/>
                  </a:lnTo>
                  <a:lnTo>
                    <a:pt x="1276079" y="7116"/>
                  </a:lnTo>
                  <a:lnTo>
                    <a:pt x="1231900" y="0"/>
                  </a:lnTo>
                  <a:close/>
                </a:path>
              </a:pathLst>
            </a:custGeom>
            <a:solidFill>
              <a:srgbClr val="FFFFFF"/>
            </a:solidFill>
          </p:spPr>
          <p:txBody>
            <a:bodyPr wrap="square" lIns="0" tIns="0" rIns="0" bIns="0" rtlCol="0"/>
            <a:lstStyle/>
            <a:p>
              <a:endParaRPr/>
            </a:p>
          </p:txBody>
        </p:sp>
        <p:sp>
          <p:nvSpPr>
            <p:cNvPr id="28" name="object 7"/>
            <p:cNvSpPr/>
            <p:nvPr/>
          </p:nvSpPr>
          <p:spPr>
            <a:xfrm>
              <a:off x="2219325" y="2525648"/>
              <a:ext cx="1371600" cy="838200"/>
            </a:xfrm>
            <a:custGeom>
              <a:avLst/>
              <a:gdLst/>
              <a:ahLst/>
              <a:cxnLst/>
              <a:rect l="l" t="t" r="r" b="b"/>
              <a:pathLst>
                <a:path w="1371600" h="838200">
                  <a:moveTo>
                    <a:pt x="0" y="139700"/>
                  </a:moveTo>
                  <a:lnTo>
                    <a:pt x="7116" y="95520"/>
                  </a:lnTo>
                  <a:lnTo>
                    <a:pt x="26936" y="57168"/>
                  </a:lnTo>
                  <a:lnTo>
                    <a:pt x="57168" y="26936"/>
                  </a:lnTo>
                  <a:lnTo>
                    <a:pt x="95520" y="7116"/>
                  </a:lnTo>
                  <a:lnTo>
                    <a:pt x="139700" y="0"/>
                  </a:lnTo>
                  <a:lnTo>
                    <a:pt x="1231900" y="0"/>
                  </a:lnTo>
                  <a:lnTo>
                    <a:pt x="1276079" y="7116"/>
                  </a:lnTo>
                  <a:lnTo>
                    <a:pt x="1314431" y="26936"/>
                  </a:lnTo>
                  <a:lnTo>
                    <a:pt x="1344663" y="57168"/>
                  </a:lnTo>
                  <a:lnTo>
                    <a:pt x="1364483" y="95520"/>
                  </a:lnTo>
                  <a:lnTo>
                    <a:pt x="1371600" y="139700"/>
                  </a:lnTo>
                  <a:lnTo>
                    <a:pt x="1371600" y="698500"/>
                  </a:lnTo>
                  <a:lnTo>
                    <a:pt x="1364483" y="742679"/>
                  </a:lnTo>
                  <a:lnTo>
                    <a:pt x="1344663" y="781031"/>
                  </a:lnTo>
                  <a:lnTo>
                    <a:pt x="1314431" y="811263"/>
                  </a:lnTo>
                  <a:lnTo>
                    <a:pt x="1276079" y="831083"/>
                  </a:lnTo>
                  <a:lnTo>
                    <a:pt x="1231900" y="838200"/>
                  </a:lnTo>
                  <a:lnTo>
                    <a:pt x="139700" y="838200"/>
                  </a:lnTo>
                  <a:lnTo>
                    <a:pt x="95520" y="831083"/>
                  </a:lnTo>
                  <a:lnTo>
                    <a:pt x="57168" y="811263"/>
                  </a:lnTo>
                  <a:lnTo>
                    <a:pt x="26936" y="781031"/>
                  </a:lnTo>
                  <a:lnTo>
                    <a:pt x="7116" y="742679"/>
                  </a:lnTo>
                  <a:lnTo>
                    <a:pt x="0" y="698500"/>
                  </a:lnTo>
                  <a:lnTo>
                    <a:pt x="0" y="139700"/>
                  </a:lnTo>
                  <a:close/>
                </a:path>
              </a:pathLst>
            </a:custGeom>
            <a:ln w="12700">
              <a:solidFill>
                <a:srgbClr val="6FAC46"/>
              </a:solidFill>
            </a:ln>
          </p:spPr>
          <p:txBody>
            <a:bodyPr wrap="square" lIns="0" tIns="0" rIns="0" bIns="0" rtlCol="0"/>
            <a:lstStyle/>
            <a:p>
              <a:endParaRPr/>
            </a:p>
          </p:txBody>
        </p:sp>
      </p:grpSp>
      <p:sp>
        <p:nvSpPr>
          <p:cNvPr id="29" name="object 8"/>
          <p:cNvSpPr txBox="1"/>
          <p:nvPr/>
        </p:nvSpPr>
        <p:spPr>
          <a:xfrm>
            <a:off x="977296" y="3959607"/>
            <a:ext cx="1160907" cy="848360"/>
          </a:xfrm>
          <a:prstGeom prst="rect">
            <a:avLst/>
          </a:prstGeom>
        </p:spPr>
        <p:txBody>
          <a:bodyPr vert="horz" wrap="square" lIns="0" tIns="12700" rIns="0" bIns="0" rtlCol="0">
            <a:spAutoFit/>
          </a:bodyPr>
          <a:lstStyle/>
          <a:p>
            <a:pPr marL="12700" marR="5080" indent="-1270" algn="ctr">
              <a:lnSpc>
                <a:spcPct val="100000"/>
              </a:lnSpc>
              <a:spcBef>
                <a:spcPts val="100"/>
              </a:spcBef>
            </a:pPr>
            <a:r>
              <a:rPr sz="1800" dirty="0">
                <a:cs typeface="Calibri"/>
              </a:rPr>
              <a:t>All </a:t>
            </a:r>
            <a:r>
              <a:rPr sz="1800" spc="5" dirty="0">
                <a:cs typeface="Calibri"/>
              </a:rPr>
              <a:t> </a:t>
            </a:r>
            <a:r>
              <a:rPr sz="1800" spc="-5" dirty="0">
                <a:cs typeface="Calibri"/>
              </a:rPr>
              <a:t>u</a:t>
            </a:r>
            <a:r>
              <a:rPr sz="1800" dirty="0">
                <a:cs typeface="Calibri"/>
              </a:rPr>
              <a:t>nlabeled  </a:t>
            </a:r>
            <a:r>
              <a:rPr sz="1800" spc="-15" dirty="0">
                <a:cs typeface="Calibri"/>
              </a:rPr>
              <a:t>data</a:t>
            </a:r>
            <a:endParaRPr sz="1800" dirty="0">
              <a:cs typeface="Calibri"/>
            </a:endParaRPr>
          </a:p>
        </p:txBody>
      </p:sp>
      <p:sp>
        <p:nvSpPr>
          <p:cNvPr id="30" name="object 9"/>
          <p:cNvSpPr txBox="1"/>
          <p:nvPr/>
        </p:nvSpPr>
        <p:spPr>
          <a:xfrm>
            <a:off x="349806" y="1682401"/>
            <a:ext cx="8217312" cy="1363194"/>
          </a:xfrm>
          <a:prstGeom prst="rect">
            <a:avLst/>
          </a:prstGeom>
        </p:spPr>
        <p:txBody>
          <a:bodyPr vert="horz" wrap="square" lIns="0" tIns="146050" rIns="0" bIns="0" rtlCol="0">
            <a:spAutoFit/>
          </a:bodyPr>
          <a:lstStyle/>
          <a:p>
            <a:pPr marL="36830" marR="5080">
              <a:lnSpc>
                <a:spcPct val="100000"/>
              </a:lnSpc>
              <a:spcBef>
                <a:spcPts val="790"/>
              </a:spcBef>
            </a:pPr>
            <a:r>
              <a:rPr sz="1800">
                <a:cs typeface="Segoe Print"/>
              </a:rPr>
              <a:t>The </a:t>
            </a:r>
            <a:r>
              <a:rPr sz="1800" spc="-5" dirty="0">
                <a:cs typeface="Segoe Print"/>
              </a:rPr>
              <a:t>learning algorithm</a:t>
            </a:r>
            <a:r>
              <a:rPr sz="1800" dirty="0">
                <a:cs typeface="Segoe Print"/>
              </a:rPr>
              <a:t> </a:t>
            </a:r>
            <a:r>
              <a:rPr sz="1800" spc="-5" dirty="0">
                <a:cs typeface="Segoe Print"/>
              </a:rPr>
              <a:t>would</a:t>
            </a:r>
            <a:r>
              <a:rPr sz="1800" dirty="0">
                <a:cs typeface="Segoe Print"/>
              </a:rPr>
              <a:t> </a:t>
            </a:r>
            <a:r>
              <a:rPr sz="1800" spc="-5" dirty="0">
                <a:cs typeface="Segoe Print"/>
              </a:rPr>
              <a:t>receive</a:t>
            </a:r>
            <a:r>
              <a:rPr sz="1800" spc="5" dirty="0">
                <a:cs typeface="Segoe Print"/>
              </a:rPr>
              <a:t> </a:t>
            </a:r>
            <a:r>
              <a:rPr sz="1800" dirty="0">
                <a:cs typeface="Segoe Print"/>
              </a:rPr>
              <a:t>unlabeled</a:t>
            </a:r>
            <a:r>
              <a:rPr sz="1800" spc="5" dirty="0">
                <a:cs typeface="Segoe Print"/>
              </a:rPr>
              <a:t> </a:t>
            </a:r>
            <a:r>
              <a:rPr sz="1800" spc="-5" dirty="0">
                <a:cs typeface="Segoe Print"/>
              </a:rPr>
              <a:t>raw data</a:t>
            </a:r>
            <a:r>
              <a:rPr sz="1800" spc="25" dirty="0">
                <a:cs typeface="Segoe Print"/>
              </a:rPr>
              <a:t> </a:t>
            </a:r>
            <a:r>
              <a:rPr sz="1800" dirty="0">
                <a:cs typeface="Segoe Print"/>
              </a:rPr>
              <a:t>to </a:t>
            </a:r>
            <a:r>
              <a:rPr sz="1800" spc="-5" dirty="0">
                <a:cs typeface="Segoe Print"/>
              </a:rPr>
              <a:t>train</a:t>
            </a:r>
            <a:r>
              <a:rPr sz="1800" spc="5" dirty="0">
                <a:cs typeface="Segoe Print"/>
              </a:rPr>
              <a:t> </a:t>
            </a:r>
            <a:r>
              <a:rPr sz="1800" dirty="0">
                <a:cs typeface="Segoe Print"/>
              </a:rPr>
              <a:t>a</a:t>
            </a:r>
            <a:r>
              <a:rPr sz="1800" spc="5" dirty="0">
                <a:cs typeface="Segoe Print"/>
              </a:rPr>
              <a:t> </a:t>
            </a:r>
            <a:r>
              <a:rPr sz="1800" dirty="0">
                <a:cs typeface="Segoe Print"/>
              </a:rPr>
              <a:t>model </a:t>
            </a:r>
            <a:r>
              <a:rPr sz="1800" spc="-705" dirty="0">
                <a:cs typeface="Segoe Print"/>
              </a:rPr>
              <a:t> </a:t>
            </a:r>
            <a:r>
              <a:rPr sz="1800" dirty="0">
                <a:cs typeface="Segoe Print"/>
              </a:rPr>
              <a:t>and</a:t>
            </a:r>
            <a:r>
              <a:rPr sz="1800" spc="-5" dirty="0">
                <a:cs typeface="Segoe Print"/>
              </a:rPr>
              <a:t> </a:t>
            </a:r>
            <a:r>
              <a:rPr sz="1800" dirty="0">
                <a:cs typeface="Segoe Print"/>
              </a:rPr>
              <a:t>to</a:t>
            </a:r>
            <a:r>
              <a:rPr sz="1800" spc="-5" dirty="0">
                <a:cs typeface="Segoe Print"/>
              </a:rPr>
              <a:t> </a:t>
            </a:r>
            <a:r>
              <a:rPr sz="1800" dirty="0">
                <a:cs typeface="Segoe Print"/>
              </a:rPr>
              <a:t>find</a:t>
            </a:r>
            <a:r>
              <a:rPr sz="1800" spc="-5" dirty="0">
                <a:cs typeface="Segoe Print"/>
              </a:rPr>
              <a:t> </a:t>
            </a:r>
            <a:r>
              <a:rPr sz="1800" dirty="0">
                <a:cs typeface="Segoe Print"/>
              </a:rPr>
              <a:t>patterns</a:t>
            </a:r>
            <a:r>
              <a:rPr sz="1800" spc="-10" dirty="0">
                <a:cs typeface="Segoe Print"/>
              </a:rPr>
              <a:t> </a:t>
            </a:r>
            <a:r>
              <a:rPr sz="1800" dirty="0">
                <a:cs typeface="Segoe Print"/>
              </a:rPr>
              <a:t>in</a:t>
            </a:r>
            <a:r>
              <a:rPr sz="1800" spc="-5" dirty="0">
                <a:cs typeface="Segoe Print"/>
              </a:rPr>
              <a:t> </a:t>
            </a:r>
            <a:r>
              <a:rPr sz="1800" dirty="0">
                <a:cs typeface="Segoe Print"/>
              </a:rPr>
              <a:t>the</a:t>
            </a:r>
            <a:r>
              <a:rPr sz="1800" spc="15" dirty="0">
                <a:cs typeface="Segoe Print"/>
              </a:rPr>
              <a:t> </a:t>
            </a:r>
            <a:r>
              <a:rPr sz="1800" spc="-5" dirty="0">
                <a:cs typeface="Segoe Print"/>
              </a:rPr>
              <a:t>data</a:t>
            </a:r>
            <a:endParaRPr sz="1800" dirty="0">
              <a:cs typeface="Segoe Print"/>
            </a:endParaRPr>
          </a:p>
          <a:p>
            <a:pPr>
              <a:lnSpc>
                <a:spcPct val="100000"/>
              </a:lnSpc>
            </a:pPr>
            <a:endParaRPr sz="2500" dirty="0">
              <a:cs typeface="Segoe Print"/>
            </a:endParaRPr>
          </a:p>
          <a:p>
            <a:pPr marL="2050414">
              <a:lnSpc>
                <a:spcPct val="100000"/>
              </a:lnSpc>
            </a:pPr>
            <a:r>
              <a:rPr sz="1800" spc="-20" dirty="0">
                <a:cs typeface="Calibri"/>
              </a:rPr>
              <a:t>Training</a:t>
            </a:r>
            <a:r>
              <a:rPr sz="1800" spc="-30" dirty="0">
                <a:cs typeface="Calibri"/>
              </a:rPr>
              <a:t> </a:t>
            </a:r>
            <a:r>
              <a:rPr sz="1800" spc="-15" dirty="0">
                <a:cs typeface="Calibri"/>
              </a:rPr>
              <a:t>Data</a:t>
            </a:r>
            <a:endParaRPr sz="1800" dirty="0">
              <a:cs typeface="Calibri"/>
            </a:endParaRPr>
          </a:p>
        </p:txBody>
      </p:sp>
      <p:grpSp>
        <p:nvGrpSpPr>
          <p:cNvPr id="31" name="object 10"/>
          <p:cNvGrpSpPr/>
          <p:nvPr/>
        </p:nvGrpSpPr>
        <p:grpSpPr>
          <a:xfrm>
            <a:off x="2567971" y="4070985"/>
            <a:ext cx="3136900" cy="686435"/>
            <a:chOff x="3810000" y="2617342"/>
            <a:chExt cx="3136900" cy="686435"/>
          </a:xfrm>
        </p:grpSpPr>
        <p:sp>
          <p:nvSpPr>
            <p:cNvPr id="32" name="object 11"/>
            <p:cNvSpPr/>
            <p:nvPr/>
          </p:nvSpPr>
          <p:spPr>
            <a:xfrm>
              <a:off x="3819525" y="2848736"/>
              <a:ext cx="914400" cy="224154"/>
            </a:xfrm>
            <a:custGeom>
              <a:avLst/>
              <a:gdLst/>
              <a:ahLst/>
              <a:cxnLst/>
              <a:rect l="l" t="t" r="r" b="b"/>
              <a:pathLst>
                <a:path w="914400" h="224155">
                  <a:moveTo>
                    <a:pt x="802386" y="0"/>
                  </a:moveTo>
                  <a:lnTo>
                    <a:pt x="802386" y="56007"/>
                  </a:lnTo>
                  <a:lnTo>
                    <a:pt x="0" y="56007"/>
                  </a:lnTo>
                  <a:lnTo>
                    <a:pt x="0" y="168021"/>
                  </a:lnTo>
                  <a:lnTo>
                    <a:pt x="802386" y="168021"/>
                  </a:lnTo>
                  <a:lnTo>
                    <a:pt x="802386" y="224027"/>
                  </a:lnTo>
                  <a:lnTo>
                    <a:pt x="914400" y="112013"/>
                  </a:lnTo>
                  <a:lnTo>
                    <a:pt x="802386" y="0"/>
                  </a:lnTo>
                  <a:close/>
                </a:path>
              </a:pathLst>
            </a:custGeom>
            <a:solidFill>
              <a:srgbClr val="6FAC46"/>
            </a:solidFill>
          </p:spPr>
          <p:txBody>
            <a:bodyPr wrap="square" lIns="0" tIns="0" rIns="0" bIns="0" rtlCol="0"/>
            <a:lstStyle/>
            <a:p>
              <a:endParaRPr/>
            </a:p>
          </p:txBody>
        </p:sp>
        <p:sp>
          <p:nvSpPr>
            <p:cNvPr id="33" name="object 12"/>
            <p:cNvSpPr/>
            <p:nvPr/>
          </p:nvSpPr>
          <p:spPr>
            <a:xfrm>
              <a:off x="3819525" y="2848736"/>
              <a:ext cx="914400" cy="224154"/>
            </a:xfrm>
            <a:custGeom>
              <a:avLst/>
              <a:gdLst/>
              <a:ahLst/>
              <a:cxnLst/>
              <a:rect l="l" t="t" r="r" b="b"/>
              <a:pathLst>
                <a:path w="914400" h="224155">
                  <a:moveTo>
                    <a:pt x="0" y="56007"/>
                  </a:moveTo>
                  <a:lnTo>
                    <a:pt x="802386" y="56007"/>
                  </a:lnTo>
                  <a:lnTo>
                    <a:pt x="802386" y="0"/>
                  </a:lnTo>
                  <a:lnTo>
                    <a:pt x="914400" y="112013"/>
                  </a:lnTo>
                  <a:lnTo>
                    <a:pt x="802386" y="224027"/>
                  </a:lnTo>
                  <a:lnTo>
                    <a:pt x="802386" y="168021"/>
                  </a:lnTo>
                  <a:lnTo>
                    <a:pt x="0" y="168021"/>
                  </a:lnTo>
                  <a:lnTo>
                    <a:pt x="0" y="56007"/>
                  </a:lnTo>
                  <a:close/>
                </a:path>
              </a:pathLst>
            </a:custGeom>
            <a:ln w="19050">
              <a:solidFill>
                <a:srgbClr val="FFFFFF"/>
              </a:solidFill>
            </a:ln>
          </p:spPr>
          <p:txBody>
            <a:bodyPr wrap="square" lIns="0" tIns="0" rIns="0" bIns="0" rtlCol="0"/>
            <a:lstStyle/>
            <a:p>
              <a:endParaRPr/>
            </a:p>
          </p:txBody>
        </p:sp>
        <p:pic>
          <p:nvPicPr>
            <p:cNvPr id="34" name="object 13"/>
            <p:cNvPicPr/>
            <p:nvPr/>
          </p:nvPicPr>
          <p:blipFill>
            <a:blip r:embed="rId2" cstate="print"/>
            <a:stretch>
              <a:fillRect/>
            </a:stretch>
          </p:blipFill>
          <p:spPr>
            <a:xfrm>
              <a:off x="4962144" y="2620517"/>
              <a:ext cx="1981200" cy="679704"/>
            </a:xfrm>
            <a:prstGeom prst="rect">
              <a:avLst/>
            </a:prstGeom>
          </p:spPr>
        </p:pic>
        <p:sp>
          <p:nvSpPr>
            <p:cNvPr id="35" name="object 14"/>
            <p:cNvSpPr/>
            <p:nvPr/>
          </p:nvSpPr>
          <p:spPr>
            <a:xfrm>
              <a:off x="4962144" y="2620517"/>
              <a:ext cx="1981200" cy="680085"/>
            </a:xfrm>
            <a:custGeom>
              <a:avLst/>
              <a:gdLst/>
              <a:ahLst/>
              <a:cxnLst/>
              <a:rect l="l" t="t" r="r" b="b"/>
              <a:pathLst>
                <a:path w="1981200" h="680085">
                  <a:moveTo>
                    <a:pt x="0" y="339852"/>
                  </a:moveTo>
                  <a:lnTo>
                    <a:pt x="9042" y="293733"/>
                  </a:lnTo>
                  <a:lnTo>
                    <a:pt x="35383" y="249502"/>
                  </a:lnTo>
                  <a:lnTo>
                    <a:pt x="77843" y="207561"/>
                  </a:lnTo>
                  <a:lnTo>
                    <a:pt x="135240" y="168317"/>
                  </a:lnTo>
                  <a:lnTo>
                    <a:pt x="169172" y="149832"/>
                  </a:lnTo>
                  <a:lnTo>
                    <a:pt x="206397" y="132173"/>
                  </a:lnTo>
                  <a:lnTo>
                    <a:pt x="246765" y="115391"/>
                  </a:lnTo>
                  <a:lnTo>
                    <a:pt x="290131" y="99536"/>
                  </a:lnTo>
                  <a:lnTo>
                    <a:pt x="336346" y="84658"/>
                  </a:lnTo>
                  <a:lnTo>
                    <a:pt x="385264" y="70809"/>
                  </a:lnTo>
                  <a:lnTo>
                    <a:pt x="436736" y="58038"/>
                  </a:lnTo>
                  <a:lnTo>
                    <a:pt x="490615" y="46397"/>
                  </a:lnTo>
                  <a:lnTo>
                    <a:pt x="546753" y="35936"/>
                  </a:lnTo>
                  <a:lnTo>
                    <a:pt x="605004" y="26705"/>
                  </a:lnTo>
                  <a:lnTo>
                    <a:pt x="665219" y="18756"/>
                  </a:lnTo>
                  <a:lnTo>
                    <a:pt x="727251" y="12139"/>
                  </a:lnTo>
                  <a:lnTo>
                    <a:pt x="790953" y="6904"/>
                  </a:lnTo>
                  <a:lnTo>
                    <a:pt x="856176" y="3102"/>
                  </a:lnTo>
                  <a:lnTo>
                    <a:pt x="922774" y="783"/>
                  </a:lnTo>
                  <a:lnTo>
                    <a:pt x="990600" y="0"/>
                  </a:lnTo>
                  <a:lnTo>
                    <a:pt x="1058425" y="783"/>
                  </a:lnTo>
                  <a:lnTo>
                    <a:pt x="1125023" y="3102"/>
                  </a:lnTo>
                  <a:lnTo>
                    <a:pt x="1190246" y="6904"/>
                  </a:lnTo>
                  <a:lnTo>
                    <a:pt x="1253948" y="12139"/>
                  </a:lnTo>
                  <a:lnTo>
                    <a:pt x="1315980" y="18756"/>
                  </a:lnTo>
                  <a:lnTo>
                    <a:pt x="1376195" y="26705"/>
                  </a:lnTo>
                  <a:lnTo>
                    <a:pt x="1434446" y="35936"/>
                  </a:lnTo>
                  <a:lnTo>
                    <a:pt x="1490584" y="46397"/>
                  </a:lnTo>
                  <a:lnTo>
                    <a:pt x="1544463" y="58038"/>
                  </a:lnTo>
                  <a:lnTo>
                    <a:pt x="1595935" y="70809"/>
                  </a:lnTo>
                  <a:lnTo>
                    <a:pt x="1644853" y="84658"/>
                  </a:lnTo>
                  <a:lnTo>
                    <a:pt x="1691068" y="99536"/>
                  </a:lnTo>
                  <a:lnTo>
                    <a:pt x="1734434" y="115391"/>
                  </a:lnTo>
                  <a:lnTo>
                    <a:pt x="1774802" y="132173"/>
                  </a:lnTo>
                  <a:lnTo>
                    <a:pt x="1812027" y="149832"/>
                  </a:lnTo>
                  <a:lnTo>
                    <a:pt x="1845959" y="168317"/>
                  </a:lnTo>
                  <a:lnTo>
                    <a:pt x="1903356" y="207561"/>
                  </a:lnTo>
                  <a:lnTo>
                    <a:pt x="1945816" y="249502"/>
                  </a:lnTo>
                  <a:lnTo>
                    <a:pt x="1972157" y="293733"/>
                  </a:lnTo>
                  <a:lnTo>
                    <a:pt x="1981200" y="339852"/>
                  </a:lnTo>
                  <a:lnTo>
                    <a:pt x="1978914" y="363121"/>
                  </a:lnTo>
                  <a:lnTo>
                    <a:pt x="1961075" y="408347"/>
                  </a:lnTo>
                  <a:lnTo>
                    <a:pt x="1926527" y="451483"/>
                  </a:lnTo>
                  <a:lnTo>
                    <a:pt x="1876451" y="492126"/>
                  </a:lnTo>
                  <a:lnTo>
                    <a:pt x="1812027" y="529871"/>
                  </a:lnTo>
                  <a:lnTo>
                    <a:pt x="1774802" y="547530"/>
                  </a:lnTo>
                  <a:lnTo>
                    <a:pt x="1734434" y="564312"/>
                  </a:lnTo>
                  <a:lnTo>
                    <a:pt x="1691068" y="580167"/>
                  </a:lnTo>
                  <a:lnTo>
                    <a:pt x="1644853" y="595045"/>
                  </a:lnTo>
                  <a:lnTo>
                    <a:pt x="1595935" y="608894"/>
                  </a:lnTo>
                  <a:lnTo>
                    <a:pt x="1544463" y="621665"/>
                  </a:lnTo>
                  <a:lnTo>
                    <a:pt x="1490584" y="633306"/>
                  </a:lnTo>
                  <a:lnTo>
                    <a:pt x="1434446" y="643767"/>
                  </a:lnTo>
                  <a:lnTo>
                    <a:pt x="1376195" y="652998"/>
                  </a:lnTo>
                  <a:lnTo>
                    <a:pt x="1315980" y="660947"/>
                  </a:lnTo>
                  <a:lnTo>
                    <a:pt x="1253948" y="667564"/>
                  </a:lnTo>
                  <a:lnTo>
                    <a:pt x="1190246" y="672799"/>
                  </a:lnTo>
                  <a:lnTo>
                    <a:pt x="1125023" y="676601"/>
                  </a:lnTo>
                  <a:lnTo>
                    <a:pt x="1058425" y="678920"/>
                  </a:lnTo>
                  <a:lnTo>
                    <a:pt x="990600" y="679704"/>
                  </a:lnTo>
                  <a:lnTo>
                    <a:pt x="922774" y="678920"/>
                  </a:lnTo>
                  <a:lnTo>
                    <a:pt x="856176" y="676601"/>
                  </a:lnTo>
                  <a:lnTo>
                    <a:pt x="790953" y="672799"/>
                  </a:lnTo>
                  <a:lnTo>
                    <a:pt x="727251" y="667564"/>
                  </a:lnTo>
                  <a:lnTo>
                    <a:pt x="665219" y="660947"/>
                  </a:lnTo>
                  <a:lnTo>
                    <a:pt x="605004" y="652998"/>
                  </a:lnTo>
                  <a:lnTo>
                    <a:pt x="546753" y="643767"/>
                  </a:lnTo>
                  <a:lnTo>
                    <a:pt x="490615" y="633306"/>
                  </a:lnTo>
                  <a:lnTo>
                    <a:pt x="436736" y="621665"/>
                  </a:lnTo>
                  <a:lnTo>
                    <a:pt x="385264" y="608894"/>
                  </a:lnTo>
                  <a:lnTo>
                    <a:pt x="336346" y="595045"/>
                  </a:lnTo>
                  <a:lnTo>
                    <a:pt x="290131" y="580167"/>
                  </a:lnTo>
                  <a:lnTo>
                    <a:pt x="246765" y="564312"/>
                  </a:lnTo>
                  <a:lnTo>
                    <a:pt x="206397" y="547530"/>
                  </a:lnTo>
                  <a:lnTo>
                    <a:pt x="169172" y="529871"/>
                  </a:lnTo>
                  <a:lnTo>
                    <a:pt x="135240" y="511386"/>
                  </a:lnTo>
                  <a:lnTo>
                    <a:pt x="77843" y="472142"/>
                  </a:lnTo>
                  <a:lnTo>
                    <a:pt x="35383" y="430201"/>
                  </a:lnTo>
                  <a:lnTo>
                    <a:pt x="9042" y="385970"/>
                  </a:lnTo>
                  <a:lnTo>
                    <a:pt x="0" y="339852"/>
                  </a:lnTo>
                  <a:close/>
                </a:path>
              </a:pathLst>
            </a:custGeom>
            <a:ln w="6350">
              <a:solidFill>
                <a:srgbClr val="FFFFFF"/>
              </a:solidFill>
            </a:ln>
          </p:spPr>
          <p:txBody>
            <a:bodyPr wrap="square" lIns="0" tIns="0" rIns="0" bIns="0" rtlCol="0"/>
            <a:lstStyle/>
            <a:p>
              <a:endParaRPr/>
            </a:p>
          </p:txBody>
        </p:sp>
      </p:grpSp>
      <p:sp>
        <p:nvSpPr>
          <p:cNvPr id="36" name="object 15"/>
          <p:cNvSpPr txBox="1"/>
          <p:nvPr/>
        </p:nvSpPr>
        <p:spPr>
          <a:xfrm>
            <a:off x="4179331" y="4249928"/>
            <a:ext cx="1062767" cy="289823"/>
          </a:xfrm>
          <a:prstGeom prst="rect">
            <a:avLst/>
          </a:prstGeom>
        </p:spPr>
        <p:txBody>
          <a:bodyPr vert="horz" wrap="square" lIns="0" tIns="12700" rIns="0" bIns="0" rtlCol="0">
            <a:spAutoFit/>
          </a:bodyPr>
          <a:lstStyle/>
          <a:p>
            <a:pPr marL="12700">
              <a:lnSpc>
                <a:spcPct val="100000"/>
              </a:lnSpc>
              <a:spcBef>
                <a:spcPts val="100"/>
              </a:spcBef>
            </a:pPr>
            <a:r>
              <a:rPr sz="1800" dirty="0">
                <a:cs typeface="Calibri"/>
              </a:rPr>
              <a:t>Model</a:t>
            </a:r>
          </a:p>
        </p:txBody>
      </p:sp>
      <p:sp>
        <p:nvSpPr>
          <p:cNvPr id="37" name="object 16"/>
          <p:cNvSpPr txBox="1"/>
          <p:nvPr/>
        </p:nvSpPr>
        <p:spPr>
          <a:xfrm>
            <a:off x="6999763" y="3989071"/>
            <a:ext cx="1530985" cy="1120820"/>
          </a:xfrm>
          <a:prstGeom prst="rect">
            <a:avLst/>
          </a:prstGeom>
        </p:spPr>
        <p:txBody>
          <a:bodyPr vert="horz" wrap="square" lIns="0" tIns="12700" rIns="0" bIns="0" rtlCol="0">
            <a:spAutoFit/>
          </a:bodyPr>
          <a:lstStyle/>
          <a:p>
            <a:pPr marL="12700" marR="5080">
              <a:lnSpc>
                <a:spcPct val="100000"/>
              </a:lnSpc>
              <a:spcBef>
                <a:spcPts val="100"/>
              </a:spcBef>
            </a:pPr>
            <a:r>
              <a:rPr sz="1800" spc="-10" dirty="0">
                <a:cs typeface="Calibri"/>
              </a:rPr>
              <a:t>Structured data, </a:t>
            </a:r>
            <a:r>
              <a:rPr sz="1800" spc="-400" dirty="0">
                <a:cs typeface="Calibri"/>
              </a:rPr>
              <a:t> </a:t>
            </a:r>
            <a:r>
              <a:rPr sz="1800" spc="-5" dirty="0">
                <a:cs typeface="Calibri"/>
              </a:rPr>
              <a:t>Labeled</a:t>
            </a:r>
            <a:r>
              <a:rPr sz="1800" spc="5" dirty="0">
                <a:cs typeface="Calibri"/>
              </a:rPr>
              <a:t> </a:t>
            </a:r>
            <a:r>
              <a:rPr sz="1800" spc="-10" dirty="0">
                <a:cs typeface="Calibri"/>
              </a:rPr>
              <a:t>data, </a:t>
            </a:r>
            <a:r>
              <a:rPr sz="1800" spc="-5" dirty="0">
                <a:cs typeface="Calibri"/>
              </a:rPr>
              <a:t> </a:t>
            </a:r>
            <a:r>
              <a:rPr sz="1800" spc="-10" dirty="0">
                <a:cs typeface="Calibri"/>
              </a:rPr>
              <a:t>Clustering</a:t>
            </a:r>
            <a:endParaRPr sz="1800">
              <a:cs typeface="Calibri"/>
            </a:endParaRPr>
          </a:p>
        </p:txBody>
      </p:sp>
      <p:grpSp>
        <p:nvGrpSpPr>
          <p:cNvPr id="38" name="object 17"/>
          <p:cNvGrpSpPr/>
          <p:nvPr/>
        </p:nvGrpSpPr>
        <p:grpSpPr>
          <a:xfrm>
            <a:off x="5844571" y="4292854"/>
            <a:ext cx="933450" cy="243204"/>
            <a:chOff x="7086600" y="2839211"/>
            <a:chExt cx="933450" cy="243204"/>
          </a:xfrm>
        </p:grpSpPr>
        <p:sp>
          <p:nvSpPr>
            <p:cNvPr id="39" name="object 18"/>
            <p:cNvSpPr/>
            <p:nvPr/>
          </p:nvSpPr>
          <p:spPr>
            <a:xfrm>
              <a:off x="7096125" y="2848736"/>
              <a:ext cx="914400" cy="224154"/>
            </a:xfrm>
            <a:custGeom>
              <a:avLst/>
              <a:gdLst/>
              <a:ahLst/>
              <a:cxnLst/>
              <a:rect l="l" t="t" r="r" b="b"/>
              <a:pathLst>
                <a:path w="914400" h="224155">
                  <a:moveTo>
                    <a:pt x="802385" y="0"/>
                  </a:moveTo>
                  <a:lnTo>
                    <a:pt x="802385" y="56007"/>
                  </a:lnTo>
                  <a:lnTo>
                    <a:pt x="0" y="56007"/>
                  </a:lnTo>
                  <a:lnTo>
                    <a:pt x="0" y="168021"/>
                  </a:lnTo>
                  <a:lnTo>
                    <a:pt x="802385" y="168021"/>
                  </a:lnTo>
                  <a:lnTo>
                    <a:pt x="802385" y="224027"/>
                  </a:lnTo>
                  <a:lnTo>
                    <a:pt x="914400" y="112013"/>
                  </a:lnTo>
                  <a:lnTo>
                    <a:pt x="802385" y="0"/>
                  </a:lnTo>
                  <a:close/>
                </a:path>
              </a:pathLst>
            </a:custGeom>
            <a:solidFill>
              <a:srgbClr val="6FAC46"/>
            </a:solidFill>
          </p:spPr>
          <p:txBody>
            <a:bodyPr wrap="square" lIns="0" tIns="0" rIns="0" bIns="0" rtlCol="0"/>
            <a:lstStyle/>
            <a:p>
              <a:endParaRPr/>
            </a:p>
          </p:txBody>
        </p:sp>
        <p:sp>
          <p:nvSpPr>
            <p:cNvPr id="40" name="object 19"/>
            <p:cNvSpPr/>
            <p:nvPr/>
          </p:nvSpPr>
          <p:spPr>
            <a:xfrm>
              <a:off x="7096125" y="2848736"/>
              <a:ext cx="914400" cy="224154"/>
            </a:xfrm>
            <a:custGeom>
              <a:avLst/>
              <a:gdLst/>
              <a:ahLst/>
              <a:cxnLst/>
              <a:rect l="l" t="t" r="r" b="b"/>
              <a:pathLst>
                <a:path w="914400" h="224155">
                  <a:moveTo>
                    <a:pt x="0" y="56007"/>
                  </a:moveTo>
                  <a:lnTo>
                    <a:pt x="802385" y="56007"/>
                  </a:lnTo>
                  <a:lnTo>
                    <a:pt x="802385" y="0"/>
                  </a:lnTo>
                  <a:lnTo>
                    <a:pt x="914400" y="112013"/>
                  </a:lnTo>
                  <a:lnTo>
                    <a:pt x="802385" y="224027"/>
                  </a:lnTo>
                  <a:lnTo>
                    <a:pt x="802385" y="168021"/>
                  </a:lnTo>
                  <a:lnTo>
                    <a:pt x="0" y="168021"/>
                  </a:lnTo>
                  <a:lnTo>
                    <a:pt x="0" y="56007"/>
                  </a:lnTo>
                  <a:close/>
                </a:path>
              </a:pathLst>
            </a:custGeom>
            <a:ln w="19050">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1486460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984" y="609600"/>
            <a:ext cx="6704416" cy="711432"/>
          </a:xfrm>
          <a:prstGeom prst="rect">
            <a:avLst/>
          </a:prstGeom>
        </p:spPr>
        <p:txBody>
          <a:bodyPr vert="horz" wrap="square" lIns="0" tIns="33992" rIns="0" bIns="0" rtlCol="0">
            <a:spAutoFit/>
          </a:bodyPr>
          <a:lstStyle/>
          <a:p>
            <a:pPr marL="25179">
              <a:spcBef>
                <a:spcPts val="268"/>
              </a:spcBef>
            </a:pPr>
            <a:r>
              <a:rPr sz="4400" spc="-40" dirty="0">
                <a:solidFill>
                  <a:schemeClr val="accent2">
                    <a:lumMod val="75000"/>
                  </a:schemeClr>
                </a:solidFill>
                <a:latin typeface="+mn-lt"/>
              </a:rPr>
              <a:t>Major</a:t>
            </a:r>
            <a:r>
              <a:rPr sz="4400" spc="-69" dirty="0">
                <a:solidFill>
                  <a:schemeClr val="accent2">
                    <a:lumMod val="75000"/>
                  </a:schemeClr>
                </a:solidFill>
                <a:latin typeface="+mn-lt"/>
              </a:rPr>
              <a:t> </a:t>
            </a:r>
            <a:r>
              <a:rPr sz="4400" spc="-99" dirty="0">
                <a:solidFill>
                  <a:schemeClr val="accent2">
                    <a:lumMod val="75000"/>
                  </a:schemeClr>
                </a:solidFill>
                <a:latin typeface="+mn-lt"/>
              </a:rPr>
              <a:t>Types</a:t>
            </a:r>
            <a:endParaRPr sz="4400" dirty="0">
              <a:solidFill>
                <a:schemeClr val="accent2">
                  <a:lumMod val="75000"/>
                </a:schemeClr>
              </a:solidFill>
              <a:latin typeface="+mn-lt"/>
            </a:endParaRPr>
          </a:p>
        </p:txBody>
      </p:sp>
      <p:sp>
        <p:nvSpPr>
          <p:cNvPr id="4" name="object 4"/>
          <p:cNvSpPr txBox="1">
            <a:spLocks noGrp="1"/>
          </p:cNvSpPr>
          <p:nvPr>
            <p:ph type="body" idx="1"/>
          </p:nvPr>
        </p:nvSpPr>
        <p:spPr>
          <a:xfrm>
            <a:off x="457200" y="1600200"/>
            <a:ext cx="8229600" cy="4376627"/>
          </a:xfrm>
          <a:prstGeom prst="rect">
            <a:avLst/>
          </a:prstGeom>
        </p:spPr>
        <p:txBody>
          <a:bodyPr vert="horz" wrap="square" lIns="0" tIns="23920" rIns="0" bIns="0" rtlCol="0">
            <a:spAutoFit/>
          </a:bodyPr>
          <a:lstStyle/>
          <a:p>
            <a:pPr marL="571564" algn="just">
              <a:lnSpc>
                <a:spcPct val="150000"/>
              </a:lnSpc>
              <a:spcBef>
                <a:spcPts val="188"/>
              </a:spcBef>
            </a:pPr>
            <a:r>
              <a:rPr sz="2000" spc="-40" dirty="0"/>
              <a:t>Primary</a:t>
            </a:r>
            <a:r>
              <a:rPr sz="2000" spc="10" dirty="0"/>
              <a:t> </a:t>
            </a:r>
            <a:r>
              <a:rPr sz="2000" spc="-89" dirty="0"/>
              <a:t>problems,</a:t>
            </a:r>
            <a:r>
              <a:rPr sz="2000" spc="20" dirty="0"/>
              <a:t> </a:t>
            </a:r>
            <a:r>
              <a:rPr sz="2000" spc="-99" dirty="0"/>
              <a:t>approaches</a:t>
            </a:r>
            <a:r>
              <a:rPr sz="2000" spc="10" dirty="0"/>
              <a:t> </a:t>
            </a:r>
            <a:r>
              <a:rPr sz="2000" spc="-40" dirty="0"/>
              <a:t>in</a:t>
            </a:r>
            <a:r>
              <a:rPr sz="2000" spc="20" dirty="0"/>
              <a:t> </a:t>
            </a:r>
            <a:r>
              <a:rPr sz="2000" spc="-89" dirty="0"/>
              <a:t>unsupervised</a:t>
            </a:r>
            <a:r>
              <a:rPr sz="2000" spc="10" dirty="0"/>
              <a:t> </a:t>
            </a:r>
            <a:r>
              <a:rPr sz="2000" spc="-79" dirty="0"/>
              <a:t>learning</a:t>
            </a:r>
            <a:r>
              <a:rPr sz="2000" spc="10" dirty="0"/>
              <a:t> </a:t>
            </a:r>
            <a:r>
              <a:rPr sz="2000" spc="-30" dirty="0"/>
              <a:t>fall</a:t>
            </a:r>
            <a:r>
              <a:rPr sz="2000" spc="10" dirty="0"/>
              <a:t> </a:t>
            </a:r>
            <a:r>
              <a:rPr sz="2000" spc="-30" dirty="0"/>
              <a:t>into</a:t>
            </a:r>
            <a:r>
              <a:rPr sz="2000" spc="20" dirty="0"/>
              <a:t> </a:t>
            </a:r>
            <a:r>
              <a:rPr sz="2000" spc="-89" dirty="0"/>
              <a:t>three</a:t>
            </a:r>
            <a:r>
              <a:rPr sz="2000" spc="10" dirty="0"/>
              <a:t> </a:t>
            </a:r>
            <a:r>
              <a:rPr sz="2000" spc="-109" dirty="0"/>
              <a:t>classes:</a:t>
            </a:r>
          </a:p>
          <a:p>
            <a:pPr marL="1120466" marR="631993" indent="-333622" algn="just">
              <a:lnSpc>
                <a:spcPct val="150000"/>
              </a:lnSpc>
              <a:buClr>
                <a:srgbClr val="3333B2"/>
              </a:buClr>
              <a:buAutoNum type="arabicPeriod"/>
              <a:tabLst>
                <a:tab pos="1121725" algn="l"/>
              </a:tabLst>
            </a:pPr>
            <a:r>
              <a:rPr sz="2000" spc="-50" dirty="0">
                <a:solidFill>
                  <a:srgbClr val="0000FF"/>
                </a:solidFill>
              </a:rPr>
              <a:t>Dimensionality</a:t>
            </a:r>
            <a:r>
              <a:rPr sz="2000" spc="10" dirty="0">
                <a:solidFill>
                  <a:srgbClr val="0000FF"/>
                </a:solidFill>
              </a:rPr>
              <a:t> </a:t>
            </a:r>
            <a:r>
              <a:rPr sz="2000" spc="-69" dirty="0">
                <a:solidFill>
                  <a:srgbClr val="0000FF"/>
                </a:solidFill>
              </a:rPr>
              <a:t>reduction</a:t>
            </a:r>
            <a:r>
              <a:rPr sz="2000" spc="-69" dirty="0"/>
              <a:t>:</a:t>
            </a:r>
            <a:r>
              <a:rPr sz="2000" spc="248" dirty="0"/>
              <a:t> </a:t>
            </a:r>
            <a:r>
              <a:rPr sz="2000" spc="-99" dirty="0"/>
              <a:t>represent</a:t>
            </a:r>
            <a:r>
              <a:rPr sz="2000" spc="30" dirty="0"/>
              <a:t> </a:t>
            </a:r>
            <a:r>
              <a:rPr sz="2000" spc="-99" dirty="0"/>
              <a:t>each</a:t>
            </a:r>
            <a:r>
              <a:rPr sz="2000" spc="10" dirty="0"/>
              <a:t> </a:t>
            </a:r>
            <a:r>
              <a:rPr sz="2000" spc="-40" dirty="0"/>
              <a:t>input</a:t>
            </a:r>
            <a:r>
              <a:rPr sz="2000" spc="30" dirty="0"/>
              <a:t> </a:t>
            </a:r>
            <a:r>
              <a:rPr sz="2000" spc="-109" dirty="0"/>
              <a:t>case</a:t>
            </a:r>
            <a:r>
              <a:rPr sz="2000" spc="20" dirty="0"/>
              <a:t> </a:t>
            </a:r>
            <a:r>
              <a:rPr sz="2000" spc="-79" dirty="0"/>
              <a:t>using</a:t>
            </a:r>
            <a:r>
              <a:rPr sz="2000" spc="30" dirty="0"/>
              <a:t> </a:t>
            </a:r>
            <a:r>
              <a:rPr sz="2000" spc="-99" dirty="0"/>
              <a:t>a</a:t>
            </a:r>
            <a:r>
              <a:rPr sz="2000" spc="30" dirty="0"/>
              <a:t> </a:t>
            </a:r>
            <a:r>
              <a:rPr sz="2000" spc="-59" dirty="0"/>
              <a:t>small </a:t>
            </a:r>
            <a:r>
              <a:rPr sz="2000" spc="-595" dirty="0"/>
              <a:t> </a:t>
            </a:r>
            <a:r>
              <a:rPr sz="2000" spc="-89" dirty="0"/>
              <a:t>number</a:t>
            </a:r>
            <a:r>
              <a:rPr sz="2000" spc="30" dirty="0"/>
              <a:t> </a:t>
            </a:r>
            <a:r>
              <a:rPr sz="2000" spc="-59" dirty="0"/>
              <a:t>of</a:t>
            </a:r>
            <a:r>
              <a:rPr sz="2000" spc="30" dirty="0"/>
              <a:t> </a:t>
            </a:r>
            <a:r>
              <a:rPr sz="2000" spc="-79" dirty="0"/>
              <a:t>variables</a:t>
            </a:r>
            <a:r>
              <a:rPr sz="2000" spc="40" dirty="0"/>
              <a:t> </a:t>
            </a:r>
            <a:r>
              <a:rPr sz="2000" spc="-79" dirty="0"/>
              <a:t>(e.g.,</a:t>
            </a:r>
            <a:r>
              <a:rPr sz="2000" spc="40" dirty="0"/>
              <a:t> </a:t>
            </a:r>
            <a:r>
              <a:rPr sz="2000" spc="-50" dirty="0"/>
              <a:t>principal</a:t>
            </a:r>
            <a:r>
              <a:rPr sz="2000" spc="40" dirty="0"/>
              <a:t> </a:t>
            </a:r>
            <a:r>
              <a:rPr sz="2000" spc="-79" dirty="0"/>
              <a:t>components</a:t>
            </a:r>
            <a:r>
              <a:rPr sz="2000" spc="40" dirty="0"/>
              <a:t> </a:t>
            </a:r>
            <a:r>
              <a:rPr sz="2000" spc="-69" dirty="0"/>
              <a:t>analysis,</a:t>
            </a:r>
            <a:r>
              <a:rPr sz="2000" spc="30" dirty="0"/>
              <a:t> </a:t>
            </a:r>
            <a:r>
              <a:rPr sz="2000" spc="-59" dirty="0"/>
              <a:t>factor </a:t>
            </a:r>
            <a:r>
              <a:rPr sz="2000" spc="-50" dirty="0"/>
              <a:t> </a:t>
            </a:r>
            <a:r>
              <a:rPr sz="2000" spc="-69" dirty="0"/>
              <a:t>analysis,</a:t>
            </a:r>
            <a:r>
              <a:rPr sz="2000" spc="20" dirty="0"/>
              <a:t> </a:t>
            </a:r>
            <a:r>
              <a:rPr sz="2000" spc="-79" dirty="0"/>
              <a:t>independent</a:t>
            </a:r>
            <a:r>
              <a:rPr sz="2000" spc="30" dirty="0"/>
              <a:t> </a:t>
            </a:r>
            <a:r>
              <a:rPr sz="2000" spc="-79" dirty="0"/>
              <a:t>components</a:t>
            </a:r>
            <a:r>
              <a:rPr sz="2000" spc="30" dirty="0"/>
              <a:t> </a:t>
            </a:r>
            <a:r>
              <a:rPr sz="2000" spc="-69" dirty="0"/>
              <a:t>analysis)</a:t>
            </a:r>
          </a:p>
          <a:p>
            <a:pPr marL="1120466" marR="151074" indent="-333622" algn="just">
              <a:lnSpc>
                <a:spcPct val="150000"/>
              </a:lnSpc>
              <a:spcBef>
                <a:spcPts val="50"/>
              </a:spcBef>
              <a:buClr>
                <a:srgbClr val="3333B2"/>
              </a:buClr>
              <a:buAutoNum type="arabicPeriod"/>
              <a:tabLst>
                <a:tab pos="1121725" algn="l"/>
              </a:tabLst>
            </a:pPr>
            <a:r>
              <a:rPr sz="2000" spc="-59" dirty="0">
                <a:solidFill>
                  <a:srgbClr val="0000FF"/>
                </a:solidFill>
              </a:rPr>
              <a:t>Clustering</a:t>
            </a:r>
            <a:r>
              <a:rPr sz="2000" spc="-59" dirty="0"/>
              <a:t>:</a:t>
            </a:r>
            <a:r>
              <a:rPr sz="2000" spc="258" dirty="0"/>
              <a:t> </a:t>
            </a:r>
            <a:r>
              <a:rPr sz="2000" spc="-99" dirty="0"/>
              <a:t>represent</a:t>
            </a:r>
            <a:r>
              <a:rPr sz="2000" spc="40" dirty="0"/>
              <a:t> </a:t>
            </a:r>
            <a:r>
              <a:rPr sz="2000" spc="-99" dirty="0"/>
              <a:t>each</a:t>
            </a:r>
            <a:r>
              <a:rPr sz="2000" spc="30" dirty="0"/>
              <a:t> </a:t>
            </a:r>
            <a:r>
              <a:rPr sz="2000" spc="-40" dirty="0"/>
              <a:t>input</a:t>
            </a:r>
            <a:r>
              <a:rPr sz="2000" spc="40" dirty="0"/>
              <a:t> </a:t>
            </a:r>
            <a:r>
              <a:rPr sz="2000" spc="-109" dirty="0"/>
              <a:t>case</a:t>
            </a:r>
            <a:r>
              <a:rPr sz="2000" spc="40" dirty="0"/>
              <a:t> </a:t>
            </a:r>
            <a:r>
              <a:rPr sz="2000" spc="-79" dirty="0"/>
              <a:t>using</a:t>
            </a:r>
            <a:r>
              <a:rPr sz="2000" spc="40" dirty="0"/>
              <a:t> </a:t>
            </a:r>
            <a:r>
              <a:rPr sz="2000" spc="-99" dirty="0"/>
              <a:t>a</a:t>
            </a:r>
            <a:r>
              <a:rPr sz="2000" spc="30" dirty="0"/>
              <a:t> </a:t>
            </a:r>
            <a:r>
              <a:rPr sz="2000" spc="-69" dirty="0"/>
              <a:t>prototype</a:t>
            </a:r>
            <a:r>
              <a:rPr sz="2000" spc="40" dirty="0"/>
              <a:t> </a:t>
            </a:r>
            <a:r>
              <a:rPr sz="2000" spc="-99" dirty="0"/>
              <a:t>example</a:t>
            </a:r>
            <a:r>
              <a:rPr sz="2000" spc="30" dirty="0"/>
              <a:t> </a:t>
            </a:r>
            <a:r>
              <a:rPr sz="2000" spc="-79" dirty="0"/>
              <a:t>(e.g., </a:t>
            </a:r>
            <a:r>
              <a:rPr sz="2000" spc="-595" dirty="0"/>
              <a:t> </a:t>
            </a:r>
            <a:r>
              <a:rPr sz="2000" spc="-89" dirty="0"/>
              <a:t>k-means,</a:t>
            </a:r>
            <a:r>
              <a:rPr sz="2000" spc="30" dirty="0"/>
              <a:t> </a:t>
            </a:r>
            <a:r>
              <a:rPr sz="2000" spc="-59" dirty="0"/>
              <a:t>mixture</a:t>
            </a:r>
            <a:r>
              <a:rPr sz="2000" spc="40" dirty="0"/>
              <a:t> </a:t>
            </a:r>
            <a:r>
              <a:rPr sz="2000" spc="-69" dirty="0"/>
              <a:t>models)</a:t>
            </a:r>
          </a:p>
          <a:p>
            <a:pPr marL="1120466" indent="-333622" algn="just">
              <a:lnSpc>
                <a:spcPct val="150000"/>
              </a:lnSpc>
              <a:buClr>
                <a:srgbClr val="3333B2"/>
              </a:buClr>
              <a:buAutoNum type="arabicPeriod"/>
              <a:tabLst>
                <a:tab pos="1121725" algn="l"/>
              </a:tabLst>
            </a:pPr>
            <a:r>
              <a:rPr sz="2000" spc="-59" dirty="0">
                <a:solidFill>
                  <a:srgbClr val="0000FF"/>
                </a:solidFill>
              </a:rPr>
              <a:t>Density</a:t>
            </a:r>
            <a:r>
              <a:rPr sz="2000" spc="40" dirty="0">
                <a:solidFill>
                  <a:srgbClr val="0000FF"/>
                </a:solidFill>
              </a:rPr>
              <a:t> </a:t>
            </a:r>
            <a:r>
              <a:rPr sz="2000" spc="-69" dirty="0">
                <a:solidFill>
                  <a:srgbClr val="0000FF"/>
                </a:solidFill>
              </a:rPr>
              <a:t>estimation</a:t>
            </a:r>
            <a:r>
              <a:rPr sz="2000" spc="-69" dirty="0"/>
              <a:t>:</a:t>
            </a:r>
            <a:r>
              <a:rPr sz="2000" spc="287" dirty="0"/>
              <a:t> </a:t>
            </a:r>
            <a:r>
              <a:rPr sz="2000" spc="-59" dirty="0"/>
              <a:t>estimating</a:t>
            </a:r>
            <a:r>
              <a:rPr sz="2000" spc="50" dirty="0"/>
              <a:t> </a:t>
            </a:r>
            <a:r>
              <a:rPr sz="2000" spc="-69" dirty="0"/>
              <a:t>the</a:t>
            </a:r>
            <a:r>
              <a:rPr sz="2000" spc="50" dirty="0"/>
              <a:t> </a:t>
            </a:r>
            <a:r>
              <a:rPr sz="2000" spc="-59" dirty="0"/>
              <a:t>probability</a:t>
            </a:r>
            <a:r>
              <a:rPr sz="2000" spc="50" dirty="0"/>
              <a:t> </a:t>
            </a:r>
            <a:r>
              <a:rPr sz="2000" spc="-40" dirty="0"/>
              <a:t>distribution</a:t>
            </a:r>
            <a:r>
              <a:rPr sz="2000" spc="50" dirty="0"/>
              <a:t> </a:t>
            </a:r>
            <a:r>
              <a:rPr sz="2000" spc="-99" dirty="0"/>
              <a:t>over</a:t>
            </a:r>
            <a:r>
              <a:rPr sz="2000" spc="59" dirty="0"/>
              <a:t> </a:t>
            </a:r>
            <a:r>
              <a:rPr sz="2000" spc="-69" dirty="0"/>
              <a:t>the</a:t>
            </a:r>
            <a:r>
              <a:rPr lang="en-US" sz="2000" spc="-69" dirty="0"/>
              <a:t> </a:t>
            </a:r>
            <a:r>
              <a:rPr sz="2000" spc="-59" dirty="0"/>
              <a:t>data</a:t>
            </a:r>
            <a:r>
              <a:rPr sz="2000" spc="-30" dirty="0"/>
              <a:t> </a:t>
            </a:r>
            <a:r>
              <a:rPr sz="2000" spc="-109" dirty="0"/>
              <a:t>space</a:t>
            </a:r>
          </a:p>
        </p:txBody>
      </p:sp>
      <p:sp>
        <p:nvSpPr>
          <p:cNvPr id="11" name="object 11"/>
          <p:cNvSpPr txBox="1"/>
          <p:nvPr/>
        </p:nvSpPr>
        <p:spPr>
          <a:xfrm>
            <a:off x="8554024" y="6642068"/>
            <a:ext cx="477352" cy="166712"/>
          </a:xfrm>
          <a:prstGeom prst="rect">
            <a:avLst/>
          </a:prstGeom>
        </p:spPr>
        <p:txBody>
          <a:bodyPr vert="horz" wrap="square" lIns="0" tIns="0" rIns="0" bIns="0" rtlCol="0">
            <a:spAutoFit/>
          </a:bodyPr>
          <a:lstStyle/>
          <a:p>
            <a:pPr marL="25179">
              <a:lnSpc>
                <a:spcPts val="1338"/>
              </a:lnSpc>
            </a:pPr>
            <a:r>
              <a:rPr sz="1200" spc="-30" dirty="0">
                <a:solidFill>
                  <a:srgbClr val="FFFFFF"/>
                </a:solidFill>
                <a:latin typeface="Tahoma"/>
                <a:cs typeface="Tahoma"/>
              </a:rPr>
              <a:t>5 </a:t>
            </a:r>
            <a:r>
              <a:rPr sz="1200" spc="169" dirty="0">
                <a:solidFill>
                  <a:srgbClr val="FFFFFF"/>
                </a:solidFill>
                <a:latin typeface="Tahoma"/>
                <a:cs typeface="Tahoma"/>
              </a:rPr>
              <a:t>/</a:t>
            </a:r>
            <a:r>
              <a:rPr sz="1200" spc="-30" dirty="0">
                <a:solidFill>
                  <a:srgbClr val="FFFFFF"/>
                </a:solidFill>
                <a:latin typeface="Tahoma"/>
                <a:cs typeface="Tahoma"/>
              </a:rPr>
              <a:t> 20</a:t>
            </a:r>
            <a:endParaRPr sz="1200" dirty="0">
              <a:latin typeface="Tahoma"/>
              <a:cs typeface="Tahoma"/>
            </a:endParaRPr>
          </a:p>
        </p:txBody>
      </p:sp>
    </p:spTree>
    <p:extLst>
      <p:ext uri="{BB962C8B-B14F-4D97-AF65-F5344CB8AC3E}">
        <p14:creationId xmlns:p14="http://schemas.microsoft.com/office/powerpoint/2010/main" val="1830187001"/>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381000"/>
            <a:ext cx="7264216" cy="711432"/>
          </a:xfrm>
          <a:prstGeom prst="rect">
            <a:avLst/>
          </a:prstGeom>
        </p:spPr>
        <p:txBody>
          <a:bodyPr vert="horz" wrap="square" lIns="0" tIns="33992" rIns="0" bIns="0" rtlCol="0">
            <a:spAutoFit/>
          </a:bodyPr>
          <a:lstStyle/>
          <a:p>
            <a:pPr marL="25179">
              <a:spcBef>
                <a:spcPts val="268"/>
              </a:spcBef>
            </a:pPr>
            <a:r>
              <a:rPr sz="4400" spc="-20" dirty="0">
                <a:solidFill>
                  <a:schemeClr val="accent2">
                    <a:lumMod val="75000"/>
                  </a:schemeClr>
                </a:solidFill>
                <a:latin typeface="+mn-lt"/>
              </a:rPr>
              <a:t>Motivating </a:t>
            </a:r>
            <a:r>
              <a:rPr sz="4400" spc="-99" dirty="0">
                <a:solidFill>
                  <a:schemeClr val="accent2">
                    <a:lumMod val="75000"/>
                  </a:schemeClr>
                </a:solidFill>
                <a:latin typeface="+mn-lt"/>
              </a:rPr>
              <a:t>Examples</a:t>
            </a:r>
            <a:endParaRPr sz="4400" dirty="0">
              <a:solidFill>
                <a:schemeClr val="accent2">
                  <a:lumMod val="75000"/>
                </a:schemeClr>
              </a:solidFill>
              <a:latin typeface="+mn-lt"/>
            </a:endParaRPr>
          </a:p>
        </p:txBody>
      </p:sp>
      <p:pic>
        <p:nvPicPr>
          <p:cNvPr id="3" name="object 3"/>
          <p:cNvPicPr/>
          <p:nvPr/>
        </p:nvPicPr>
        <p:blipFill>
          <a:blip r:embed="rId2" cstate="print"/>
          <a:stretch>
            <a:fillRect/>
          </a:stretch>
        </p:blipFill>
        <p:spPr>
          <a:xfrm>
            <a:off x="572453" y="1379556"/>
            <a:ext cx="8114147" cy="1820844"/>
          </a:xfrm>
          <a:prstGeom prst="rect">
            <a:avLst/>
          </a:prstGeom>
        </p:spPr>
      </p:pic>
      <p:sp>
        <p:nvSpPr>
          <p:cNvPr id="5" name="object 5"/>
          <p:cNvSpPr txBox="1"/>
          <p:nvPr/>
        </p:nvSpPr>
        <p:spPr>
          <a:xfrm>
            <a:off x="748825" y="3200400"/>
            <a:ext cx="4719362" cy="1053238"/>
          </a:xfrm>
          <a:prstGeom prst="rect">
            <a:avLst/>
          </a:prstGeom>
        </p:spPr>
        <p:txBody>
          <a:bodyPr vert="horz" wrap="square" lIns="0" tIns="74278" rIns="0" bIns="0" rtlCol="0">
            <a:spAutoFit/>
          </a:bodyPr>
          <a:lstStyle/>
          <a:p>
            <a:pPr marL="75537" algn="just">
              <a:spcBef>
                <a:spcPts val="585"/>
              </a:spcBef>
            </a:pPr>
            <a:r>
              <a:rPr sz="2000" spc="-69" dirty="0">
                <a:cs typeface="Tahoma"/>
              </a:rPr>
              <a:t>Determine</a:t>
            </a:r>
            <a:r>
              <a:rPr sz="2000" spc="40" dirty="0">
                <a:cs typeface="Tahoma"/>
              </a:rPr>
              <a:t> </a:t>
            </a:r>
            <a:r>
              <a:rPr sz="2000" spc="-99" dirty="0">
                <a:cs typeface="Tahoma"/>
              </a:rPr>
              <a:t>groups</a:t>
            </a:r>
            <a:r>
              <a:rPr sz="2000" spc="50" dirty="0">
                <a:cs typeface="Tahoma"/>
              </a:rPr>
              <a:t> </a:t>
            </a:r>
            <a:r>
              <a:rPr sz="2000" spc="-59" dirty="0">
                <a:cs typeface="Tahoma"/>
              </a:rPr>
              <a:t>of</a:t>
            </a:r>
            <a:r>
              <a:rPr sz="2000" spc="30" dirty="0">
                <a:cs typeface="Tahoma"/>
              </a:rPr>
              <a:t> </a:t>
            </a:r>
            <a:r>
              <a:rPr sz="2000" spc="-89" dirty="0">
                <a:cs typeface="Tahoma"/>
              </a:rPr>
              <a:t>people</a:t>
            </a:r>
            <a:r>
              <a:rPr sz="2000" spc="40" dirty="0">
                <a:cs typeface="Tahoma"/>
              </a:rPr>
              <a:t> </a:t>
            </a:r>
            <a:r>
              <a:rPr sz="2000" spc="-40" dirty="0">
                <a:cs typeface="Tahoma"/>
              </a:rPr>
              <a:t>in</a:t>
            </a:r>
            <a:r>
              <a:rPr sz="2000" spc="40" dirty="0">
                <a:cs typeface="Tahoma"/>
              </a:rPr>
              <a:t> </a:t>
            </a:r>
            <a:r>
              <a:rPr sz="2000" spc="-99" dirty="0">
                <a:cs typeface="Tahoma"/>
              </a:rPr>
              <a:t>image</a:t>
            </a:r>
            <a:r>
              <a:rPr sz="2000" spc="50" dirty="0">
                <a:cs typeface="Tahoma"/>
              </a:rPr>
              <a:t> </a:t>
            </a:r>
            <a:r>
              <a:rPr sz="2000" spc="-99" dirty="0">
                <a:cs typeface="Tahoma"/>
              </a:rPr>
              <a:t>above</a:t>
            </a:r>
            <a:endParaRPr sz="2000" dirty="0">
              <a:cs typeface="Tahoma"/>
            </a:endParaRPr>
          </a:p>
          <a:p>
            <a:pPr marL="352506" algn="just">
              <a:lnSpc>
                <a:spcPts val="2379"/>
              </a:lnSpc>
              <a:spcBef>
                <a:spcPts val="387"/>
              </a:spcBef>
            </a:pPr>
            <a:r>
              <a:rPr sz="2000" spc="-109" dirty="0">
                <a:cs typeface="Tahoma"/>
              </a:rPr>
              <a:t>based</a:t>
            </a:r>
            <a:r>
              <a:rPr sz="2000" spc="30" dirty="0">
                <a:cs typeface="Tahoma"/>
              </a:rPr>
              <a:t> </a:t>
            </a:r>
            <a:r>
              <a:rPr sz="2000" spc="-89" dirty="0">
                <a:cs typeface="Tahoma"/>
              </a:rPr>
              <a:t>on</a:t>
            </a:r>
            <a:r>
              <a:rPr sz="2000" spc="30" dirty="0">
                <a:cs typeface="Tahoma"/>
              </a:rPr>
              <a:t> </a:t>
            </a:r>
            <a:r>
              <a:rPr sz="2000" spc="-50" dirty="0">
                <a:cs typeface="Tahoma"/>
              </a:rPr>
              <a:t>clothing</a:t>
            </a:r>
            <a:r>
              <a:rPr sz="2000" spc="10" dirty="0">
                <a:cs typeface="Tahoma"/>
              </a:rPr>
              <a:t> </a:t>
            </a:r>
            <a:r>
              <a:rPr sz="2000" spc="-89" dirty="0">
                <a:cs typeface="Tahoma"/>
              </a:rPr>
              <a:t>styles</a:t>
            </a:r>
            <a:endParaRPr sz="2000" dirty="0">
              <a:cs typeface="Tahoma"/>
            </a:endParaRPr>
          </a:p>
          <a:p>
            <a:pPr marL="352506" algn="just">
              <a:lnSpc>
                <a:spcPts val="2379"/>
              </a:lnSpc>
            </a:pPr>
            <a:r>
              <a:rPr sz="2000" spc="-109" dirty="0">
                <a:cs typeface="Tahoma"/>
              </a:rPr>
              <a:t>gender,</a:t>
            </a:r>
            <a:r>
              <a:rPr sz="2000" spc="10" dirty="0">
                <a:cs typeface="Tahoma"/>
              </a:rPr>
              <a:t> </a:t>
            </a:r>
            <a:r>
              <a:rPr sz="2000" spc="-109" dirty="0">
                <a:cs typeface="Tahoma"/>
              </a:rPr>
              <a:t>age,</a:t>
            </a:r>
            <a:r>
              <a:rPr sz="2000" spc="20" dirty="0">
                <a:cs typeface="Tahoma"/>
              </a:rPr>
              <a:t> </a:t>
            </a:r>
            <a:r>
              <a:rPr sz="2000" spc="-59" dirty="0">
                <a:cs typeface="Tahoma"/>
              </a:rPr>
              <a:t>etc</a:t>
            </a:r>
            <a:endParaRPr sz="2000" dirty="0">
              <a:cs typeface="Tahoma"/>
            </a:endParaRPr>
          </a:p>
        </p:txBody>
      </p:sp>
      <p:pic>
        <p:nvPicPr>
          <p:cNvPr id="6" name="object 6"/>
          <p:cNvPicPr/>
          <p:nvPr/>
        </p:nvPicPr>
        <p:blipFill>
          <a:blip r:embed="rId3" cstate="print"/>
          <a:stretch>
            <a:fillRect/>
          </a:stretch>
        </p:blipFill>
        <p:spPr>
          <a:xfrm>
            <a:off x="572453" y="4408798"/>
            <a:ext cx="7981571" cy="1382402"/>
          </a:xfrm>
          <a:prstGeom prst="rect">
            <a:avLst/>
          </a:prstGeom>
        </p:spPr>
      </p:pic>
      <p:sp>
        <p:nvSpPr>
          <p:cNvPr id="8" name="object 8"/>
          <p:cNvSpPr txBox="1"/>
          <p:nvPr/>
        </p:nvSpPr>
        <p:spPr>
          <a:xfrm>
            <a:off x="876569" y="6053055"/>
            <a:ext cx="3781031" cy="331930"/>
          </a:xfrm>
          <a:prstGeom prst="rect">
            <a:avLst/>
          </a:prstGeom>
        </p:spPr>
        <p:txBody>
          <a:bodyPr vert="horz" wrap="square" lIns="0" tIns="23920" rIns="0" bIns="0" rtlCol="0">
            <a:spAutoFit/>
          </a:bodyPr>
          <a:lstStyle/>
          <a:p>
            <a:pPr marL="25179">
              <a:spcBef>
                <a:spcPts val="188"/>
              </a:spcBef>
            </a:pPr>
            <a:r>
              <a:rPr sz="2000" spc="-69" dirty="0">
                <a:cs typeface="Tahoma"/>
              </a:rPr>
              <a:t>Determine</a:t>
            </a:r>
            <a:r>
              <a:rPr sz="2000" spc="20" dirty="0">
                <a:cs typeface="Tahoma"/>
              </a:rPr>
              <a:t> </a:t>
            </a:r>
            <a:r>
              <a:rPr sz="2000" spc="-79" dirty="0">
                <a:cs typeface="Tahoma"/>
              </a:rPr>
              <a:t>moving</a:t>
            </a:r>
            <a:r>
              <a:rPr sz="2000" spc="10" dirty="0">
                <a:cs typeface="Tahoma"/>
              </a:rPr>
              <a:t> </a:t>
            </a:r>
            <a:r>
              <a:rPr sz="2000" spc="-69" dirty="0">
                <a:cs typeface="Tahoma"/>
              </a:rPr>
              <a:t>objects</a:t>
            </a:r>
            <a:r>
              <a:rPr sz="2000" spc="10" dirty="0">
                <a:cs typeface="Tahoma"/>
              </a:rPr>
              <a:t> </a:t>
            </a:r>
            <a:r>
              <a:rPr sz="2000" spc="-40" dirty="0">
                <a:cs typeface="Tahoma"/>
              </a:rPr>
              <a:t>in</a:t>
            </a:r>
            <a:r>
              <a:rPr sz="2000" spc="20" dirty="0">
                <a:cs typeface="Tahoma"/>
              </a:rPr>
              <a:t> </a:t>
            </a:r>
            <a:r>
              <a:rPr sz="2000" spc="-89" dirty="0">
                <a:cs typeface="Tahoma"/>
              </a:rPr>
              <a:t>videos</a:t>
            </a:r>
            <a:endParaRPr sz="2000" dirty="0">
              <a:cs typeface="Tahoma"/>
            </a:endParaRPr>
          </a:p>
        </p:txBody>
      </p:sp>
      <p:sp>
        <p:nvSpPr>
          <p:cNvPr id="15" name="object 15"/>
          <p:cNvSpPr txBox="1"/>
          <p:nvPr/>
        </p:nvSpPr>
        <p:spPr>
          <a:xfrm>
            <a:off x="8554024" y="6642068"/>
            <a:ext cx="477352" cy="166712"/>
          </a:xfrm>
          <a:prstGeom prst="rect">
            <a:avLst/>
          </a:prstGeom>
        </p:spPr>
        <p:txBody>
          <a:bodyPr vert="horz" wrap="square" lIns="0" tIns="0" rIns="0" bIns="0" rtlCol="0">
            <a:spAutoFit/>
          </a:bodyPr>
          <a:lstStyle/>
          <a:p>
            <a:pPr marL="25179">
              <a:lnSpc>
                <a:spcPts val="1338"/>
              </a:lnSpc>
            </a:pPr>
            <a:r>
              <a:rPr sz="1200" spc="-30" dirty="0">
                <a:solidFill>
                  <a:srgbClr val="FFFFFF"/>
                </a:solidFill>
                <a:latin typeface="Tahoma"/>
                <a:cs typeface="Tahoma"/>
              </a:rPr>
              <a:t>3 </a:t>
            </a:r>
            <a:r>
              <a:rPr sz="1200" spc="169" dirty="0">
                <a:solidFill>
                  <a:srgbClr val="FFFFFF"/>
                </a:solidFill>
                <a:latin typeface="Tahoma"/>
                <a:cs typeface="Tahoma"/>
              </a:rPr>
              <a:t>/</a:t>
            </a:r>
            <a:r>
              <a:rPr sz="1200" spc="-30" dirty="0">
                <a:solidFill>
                  <a:srgbClr val="FFFFFF"/>
                </a:solidFill>
                <a:latin typeface="Tahoma"/>
                <a:cs typeface="Tahoma"/>
              </a:rPr>
              <a:t> 20</a:t>
            </a:r>
            <a:endParaRPr sz="1200" dirty="0">
              <a:latin typeface="Tahoma"/>
              <a:cs typeface="Tahoma"/>
            </a:endParaRPr>
          </a:p>
        </p:txBody>
      </p:sp>
    </p:spTree>
    <p:extLst>
      <p:ext uri="{BB962C8B-B14F-4D97-AF65-F5344CB8AC3E}">
        <p14:creationId xmlns:p14="http://schemas.microsoft.com/office/powerpoint/2010/main" val="544343149"/>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798" y="685800"/>
            <a:ext cx="8534399" cy="689192"/>
          </a:xfrm>
          <a:prstGeom prst="rect">
            <a:avLst/>
          </a:prstGeom>
        </p:spPr>
        <p:txBody>
          <a:bodyPr vert="horz" wrap="square" lIns="0" tIns="11967" rIns="0" bIns="0" rtlCol="0">
            <a:spAutoFit/>
          </a:bodyPr>
          <a:lstStyle/>
          <a:p>
            <a:pPr marL="11397">
              <a:spcBef>
                <a:spcPts val="94"/>
              </a:spcBef>
            </a:pPr>
            <a:r>
              <a:rPr lang="en-US" sz="4400" spc="-18" dirty="0">
                <a:latin typeface="+mn-lt"/>
              </a:rPr>
              <a:t>Structure</a:t>
            </a:r>
            <a:r>
              <a:rPr lang="en-US" sz="4400" spc="-36" dirty="0">
                <a:latin typeface="+mn-lt"/>
              </a:rPr>
              <a:t> </a:t>
            </a:r>
            <a:r>
              <a:rPr lang="en-US" sz="4400" spc="-22" dirty="0">
                <a:latin typeface="+mn-lt"/>
              </a:rPr>
              <a:t>Documents </a:t>
            </a:r>
            <a:r>
              <a:rPr lang="en-US" sz="4400" spc="-18" dirty="0">
                <a:latin typeface="+mn-lt"/>
              </a:rPr>
              <a:t>By</a:t>
            </a:r>
            <a:r>
              <a:rPr lang="en-US" sz="4400" spc="-36" dirty="0">
                <a:latin typeface="+mn-lt"/>
              </a:rPr>
              <a:t> </a:t>
            </a:r>
            <a:r>
              <a:rPr lang="en-US" sz="4400" spc="-18" dirty="0">
                <a:latin typeface="+mn-lt"/>
              </a:rPr>
              <a:t>Topic</a:t>
            </a:r>
          </a:p>
        </p:txBody>
      </p:sp>
      <p:sp>
        <p:nvSpPr>
          <p:cNvPr id="3" name="object 3"/>
          <p:cNvSpPr txBox="1"/>
          <p:nvPr/>
        </p:nvSpPr>
        <p:spPr>
          <a:xfrm>
            <a:off x="737236" y="2133600"/>
            <a:ext cx="4875068" cy="688617"/>
          </a:xfrm>
          <a:prstGeom prst="rect">
            <a:avLst/>
          </a:prstGeom>
        </p:spPr>
        <p:txBody>
          <a:bodyPr vert="horz" wrap="square" lIns="0" tIns="11397" rIns="0" bIns="0" rtlCol="0">
            <a:spAutoFit/>
          </a:bodyPr>
          <a:lstStyle/>
          <a:p>
            <a:pPr marL="11397">
              <a:spcBef>
                <a:spcPts val="90"/>
              </a:spcBef>
            </a:pPr>
            <a:r>
              <a:rPr sz="2200" spc="-18" dirty="0">
                <a:solidFill>
                  <a:srgbClr val="2B2728"/>
                </a:solidFill>
                <a:cs typeface="Calibri"/>
              </a:rPr>
              <a:t>Discover</a:t>
            </a:r>
            <a:r>
              <a:rPr sz="2200" spc="-27" dirty="0">
                <a:solidFill>
                  <a:srgbClr val="2B2728"/>
                </a:solidFill>
                <a:cs typeface="Calibri"/>
              </a:rPr>
              <a:t> </a:t>
            </a:r>
            <a:r>
              <a:rPr sz="2200" spc="-18" dirty="0">
                <a:solidFill>
                  <a:srgbClr val="2B2728"/>
                </a:solidFill>
                <a:cs typeface="Calibri"/>
              </a:rPr>
              <a:t>groups</a:t>
            </a:r>
            <a:r>
              <a:rPr sz="2200" spc="-27" dirty="0">
                <a:solidFill>
                  <a:srgbClr val="2B2728"/>
                </a:solidFill>
                <a:cs typeface="Calibri"/>
              </a:rPr>
              <a:t> </a:t>
            </a:r>
            <a:r>
              <a:rPr sz="2200" spc="-13" dirty="0">
                <a:solidFill>
                  <a:srgbClr val="2B2728"/>
                </a:solidFill>
                <a:cs typeface="Calibri"/>
              </a:rPr>
              <a:t>(</a:t>
            </a:r>
            <a:r>
              <a:rPr sz="2200" i="1" spc="-13" dirty="0">
                <a:solidFill>
                  <a:srgbClr val="118CC4"/>
                </a:solidFill>
                <a:cs typeface="Calibri"/>
              </a:rPr>
              <a:t>clusters</a:t>
            </a:r>
            <a:r>
              <a:rPr sz="2200" spc="-13" dirty="0">
                <a:solidFill>
                  <a:srgbClr val="2B2728"/>
                </a:solidFill>
                <a:cs typeface="Calibri"/>
              </a:rPr>
              <a:t>)</a:t>
            </a:r>
            <a:r>
              <a:rPr sz="2200" spc="-18" dirty="0">
                <a:solidFill>
                  <a:srgbClr val="2B2728"/>
                </a:solidFill>
                <a:cs typeface="Calibri"/>
              </a:rPr>
              <a:t> </a:t>
            </a:r>
            <a:r>
              <a:rPr sz="2200" spc="-9" dirty="0">
                <a:solidFill>
                  <a:srgbClr val="2B2728"/>
                </a:solidFill>
                <a:cs typeface="Calibri"/>
              </a:rPr>
              <a:t>of</a:t>
            </a:r>
            <a:r>
              <a:rPr sz="2200" spc="-22" dirty="0">
                <a:solidFill>
                  <a:srgbClr val="2B2728"/>
                </a:solidFill>
                <a:cs typeface="Calibri"/>
              </a:rPr>
              <a:t> related </a:t>
            </a:r>
            <a:r>
              <a:rPr sz="2200" spc="-9" dirty="0">
                <a:solidFill>
                  <a:srgbClr val="2B2728"/>
                </a:solidFill>
                <a:cs typeface="Calibri"/>
              </a:rPr>
              <a:t>articles</a:t>
            </a:r>
            <a:endParaRPr sz="2200" dirty="0">
              <a:cs typeface="Calibri"/>
            </a:endParaRPr>
          </a:p>
        </p:txBody>
      </p:sp>
      <p:pic>
        <p:nvPicPr>
          <p:cNvPr id="4" name="object 4"/>
          <p:cNvPicPr/>
          <p:nvPr/>
        </p:nvPicPr>
        <p:blipFill>
          <a:blip r:embed="rId2" cstate="print"/>
          <a:stretch>
            <a:fillRect/>
          </a:stretch>
        </p:blipFill>
        <p:spPr>
          <a:xfrm>
            <a:off x="1877641" y="3382154"/>
            <a:ext cx="821986" cy="596653"/>
          </a:xfrm>
          <a:prstGeom prst="rect">
            <a:avLst/>
          </a:prstGeom>
        </p:spPr>
      </p:pic>
      <p:pic>
        <p:nvPicPr>
          <p:cNvPr id="5" name="object 5"/>
          <p:cNvPicPr/>
          <p:nvPr/>
        </p:nvPicPr>
        <p:blipFill>
          <a:blip r:embed="rId3" cstate="print"/>
          <a:stretch>
            <a:fillRect/>
          </a:stretch>
        </p:blipFill>
        <p:spPr>
          <a:xfrm>
            <a:off x="1745614" y="4020581"/>
            <a:ext cx="1157248" cy="753501"/>
          </a:xfrm>
          <a:prstGeom prst="rect">
            <a:avLst/>
          </a:prstGeom>
        </p:spPr>
      </p:pic>
      <p:pic>
        <p:nvPicPr>
          <p:cNvPr id="6" name="object 6"/>
          <p:cNvPicPr/>
          <p:nvPr/>
        </p:nvPicPr>
        <p:blipFill>
          <a:blip r:embed="rId4" cstate="print"/>
          <a:stretch>
            <a:fillRect/>
          </a:stretch>
        </p:blipFill>
        <p:spPr>
          <a:xfrm>
            <a:off x="2902862" y="3176015"/>
            <a:ext cx="881216" cy="586406"/>
          </a:xfrm>
          <a:prstGeom prst="rect">
            <a:avLst/>
          </a:prstGeom>
        </p:spPr>
      </p:pic>
      <p:pic>
        <p:nvPicPr>
          <p:cNvPr id="7" name="object 7"/>
          <p:cNvPicPr/>
          <p:nvPr/>
        </p:nvPicPr>
        <p:blipFill>
          <a:blip r:embed="rId5" cstate="print"/>
          <a:stretch>
            <a:fillRect/>
          </a:stretch>
        </p:blipFill>
        <p:spPr>
          <a:xfrm>
            <a:off x="2993649" y="3918905"/>
            <a:ext cx="1013032" cy="762960"/>
          </a:xfrm>
          <a:prstGeom prst="rect">
            <a:avLst/>
          </a:prstGeom>
        </p:spPr>
      </p:pic>
      <p:sp>
        <p:nvSpPr>
          <p:cNvPr id="8" name="object 8"/>
          <p:cNvSpPr txBox="1"/>
          <p:nvPr/>
        </p:nvSpPr>
        <p:spPr>
          <a:xfrm>
            <a:off x="1877641" y="4968125"/>
            <a:ext cx="1390415" cy="350063"/>
          </a:xfrm>
          <a:prstGeom prst="rect">
            <a:avLst/>
          </a:prstGeom>
        </p:spPr>
        <p:txBody>
          <a:bodyPr vert="horz" wrap="square" lIns="0" tIns="11397" rIns="0" bIns="0" rtlCol="0">
            <a:spAutoFit/>
          </a:bodyPr>
          <a:lstStyle/>
          <a:p>
            <a:pPr marL="11397">
              <a:spcBef>
                <a:spcPts val="90"/>
              </a:spcBef>
            </a:pPr>
            <a:r>
              <a:rPr sz="2200" spc="-9" dirty="0">
                <a:cs typeface="Calibri"/>
              </a:rPr>
              <a:t>S</a:t>
            </a:r>
            <a:r>
              <a:rPr sz="2200" spc="-18" dirty="0">
                <a:cs typeface="Calibri"/>
              </a:rPr>
              <a:t>P</a:t>
            </a:r>
            <a:r>
              <a:rPr sz="2200" spc="-13" dirty="0">
                <a:cs typeface="Calibri"/>
              </a:rPr>
              <a:t>O</a:t>
            </a:r>
            <a:r>
              <a:rPr sz="2200" spc="-36" dirty="0">
                <a:cs typeface="Calibri"/>
              </a:rPr>
              <a:t>R</a:t>
            </a:r>
            <a:r>
              <a:rPr sz="2200" spc="-22" dirty="0">
                <a:cs typeface="Calibri"/>
              </a:rPr>
              <a:t>T</a:t>
            </a:r>
            <a:r>
              <a:rPr sz="2200" dirty="0">
                <a:cs typeface="Calibri"/>
              </a:rPr>
              <a:t>S</a:t>
            </a:r>
          </a:p>
        </p:txBody>
      </p:sp>
      <p:pic>
        <p:nvPicPr>
          <p:cNvPr id="9" name="object 9"/>
          <p:cNvPicPr/>
          <p:nvPr/>
        </p:nvPicPr>
        <p:blipFill>
          <a:blip r:embed="rId6" cstate="print"/>
          <a:stretch>
            <a:fillRect/>
          </a:stretch>
        </p:blipFill>
        <p:spPr>
          <a:xfrm>
            <a:off x="4402395" y="4106015"/>
            <a:ext cx="830667" cy="605432"/>
          </a:xfrm>
          <a:prstGeom prst="rect">
            <a:avLst/>
          </a:prstGeom>
        </p:spPr>
      </p:pic>
      <p:pic>
        <p:nvPicPr>
          <p:cNvPr id="10" name="object 10"/>
          <p:cNvPicPr/>
          <p:nvPr/>
        </p:nvPicPr>
        <p:blipFill>
          <a:blip r:embed="rId7" cstate="print"/>
          <a:stretch>
            <a:fillRect/>
          </a:stretch>
        </p:blipFill>
        <p:spPr>
          <a:xfrm>
            <a:off x="5953205" y="3418829"/>
            <a:ext cx="966775" cy="687185"/>
          </a:xfrm>
          <a:prstGeom prst="rect">
            <a:avLst/>
          </a:prstGeom>
        </p:spPr>
      </p:pic>
      <p:pic>
        <p:nvPicPr>
          <p:cNvPr id="11" name="object 11"/>
          <p:cNvPicPr/>
          <p:nvPr/>
        </p:nvPicPr>
        <p:blipFill>
          <a:blip r:embed="rId8" cstate="print"/>
          <a:stretch>
            <a:fillRect/>
          </a:stretch>
        </p:blipFill>
        <p:spPr>
          <a:xfrm>
            <a:off x="4567998" y="3079216"/>
            <a:ext cx="1330127" cy="969463"/>
          </a:xfrm>
          <a:prstGeom prst="rect">
            <a:avLst/>
          </a:prstGeom>
        </p:spPr>
      </p:pic>
      <p:pic>
        <p:nvPicPr>
          <p:cNvPr id="12" name="object 12"/>
          <p:cNvPicPr/>
          <p:nvPr/>
        </p:nvPicPr>
        <p:blipFill>
          <a:blip r:embed="rId9" cstate="print"/>
          <a:stretch>
            <a:fillRect/>
          </a:stretch>
        </p:blipFill>
        <p:spPr>
          <a:xfrm>
            <a:off x="5336803" y="4171636"/>
            <a:ext cx="973264" cy="630545"/>
          </a:xfrm>
          <a:prstGeom prst="rect">
            <a:avLst/>
          </a:prstGeom>
        </p:spPr>
      </p:pic>
      <p:sp>
        <p:nvSpPr>
          <p:cNvPr id="13" name="object 13"/>
          <p:cNvSpPr txBox="1"/>
          <p:nvPr/>
        </p:nvSpPr>
        <p:spPr>
          <a:xfrm>
            <a:off x="4568514" y="4957367"/>
            <a:ext cx="2769382" cy="350063"/>
          </a:xfrm>
          <a:prstGeom prst="rect">
            <a:avLst/>
          </a:prstGeom>
        </p:spPr>
        <p:txBody>
          <a:bodyPr vert="horz" wrap="square" lIns="0" tIns="11397" rIns="0" bIns="0" rtlCol="0">
            <a:spAutoFit/>
          </a:bodyPr>
          <a:lstStyle/>
          <a:p>
            <a:pPr marL="11397">
              <a:spcBef>
                <a:spcPts val="90"/>
              </a:spcBef>
            </a:pPr>
            <a:r>
              <a:rPr sz="2200" spc="-18" dirty="0">
                <a:cs typeface="Calibri"/>
              </a:rPr>
              <a:t>WORLD</a:t>
            </a:r>
            <a:r>
              <a:rPr sz="2200" spc="-81" dirty="0">
                <a:cs typeface="Calibri"/>
              </a:rPr>
              <a:t> </a:t>
            </a:r>
            <a:r>
              <a:rPr sz="2200" spc="-18" dirty="0">
                <a:cs typeface="Calibri"/>
              </a:rPr>
              <a:t>NEWS</a:t>
            </a:r>
            <a:endParaRPr sz="2200" dirty="0">
              <a:cs typeface="Calibri"/>
            </a:endParaRPr>
          </a:p>
        </p:txBody>
      </p:sp>
    </p:spTree>
    <p:extLst>
      <p:ext uri="{BB962C8B-B14F-4D97-AF65-F5344CB8AC3E}">
        <p14:creationId xmlns:p14="http://schemas.microsoft.com/office/powerpoint/2010/main" val="1803065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103" y="829509"/>
            <a:ext cx="8576297" cy="689192"/>
          </a:xfrm>
          <a:prstGeom prst="rect">
            <a:avLst/>
          </a:prstGeom>
        </p:spPr>
        <p:txBody>
          <a:bodyPr vert="horz" wrap="square" lIns="0" tIns="11967" rIns="0" bIns="0" rtlCol="0">
            <a:spAutoFit/>
          </a:bodyPr>
          <a:lstStyle/>
          <a:p>
            <a:pPr marL="11397">
              <a:spcBef>
                <a:spcPts val="94"/>
              </a:spcBef>
            </a:pPr>
            <a:r>
              <a:rPr lang="en-US" sz="4400" spc="-36" dirty="0">
                <a:latin typeface="+mn-lt"/>
              </a:rPr>
              <a:t>Why</a:t>
            </a:r>
            <a:r>
              <a:rPr lang="en-US" sz="4400" spc="-31" dirty="0">
                <a:latin typeface="+mn-lt"/>
              </a:rPr>
              <a:t> </a:t>
            </a:r>
            <a:r>
              <a:rPr lang="en-US" sz="4400" spc="-22" dirty="0">
                <a:latin typeface="+mn-lt"/>
              </a:rPr>
              <a:t>Might Clustering</a:t>
            </a:r>
            <a:r>
              <a:rPr lang="en-US" sz="4400" spc="-27" dirty="0">
                <a:latin typeface="+mn-lt"/>
              </a:rPr>
              <a:t> </a:t>
            </a:r>
            <a:r>
              <a:rPr lang="en-US" sz="4400" spc="-13" dirty="0">
                <a:latin typeface="+mn-lt"/>
              </a:rPr>
              <a:t>Be</a:t>
            </a:r>
            <a:r>
              <a:rPr lang="en-US" sz="4400" spc="-31" dirty="0">
                <a:latin typeface="+mn-lt"/>
              </a:rPr>
              <a:t> </a:t>
            </a:r>
            <a:r>
              <a:rPr lang="en-US" sz="4400" spc="-22" dirty="0">
                <a:latin typeface="+mn-lt"/>
              </a:rPr>
              <a:t>Useful?</a:t>
            </a:r>
          </a:p>
        </p:txBody>
      </p:sp>
      <p:grpSp>
        <p:nvGrpSpPr>
          <p:cNvPr id="3" name="object 3"/>
          <p:cNvGrpSpPr/>
          <p:nvPr/>
        </p:nvGrpSpPr>
        <p:grpSpPr>
          <a:xfrm>
            <a:off x="846975" y="2177078"/>
            <a:ext cx="3028603" cy="2546873"/>
            <a:chOff x="931672" y="2467355"/>
            <a:chExt cx="3331463" cy="2886456"/>
          </a:xfrm>
        </p:grpSpPr>
        <p:pic>
          <p:nvPicPr>
            <p:cNvPr id="4" name="object 4"/>
            <p:cNvPicPr/>
            <p:nvPr/>
          </p:nvPicPr>
          <p:blipFill>
            <a:blip r:embed="rId2" cstate="print"/>
            <a:stretch>
              <a:fillRect/>
            </a:stretch>
          </p:blipFill>
          <p:spPr>
            <a:xfrm>
              <a:off x="931672" y="3686555"/>
              <a:ext cx="1673352" cy="1667256"/>
            </a:xfrm>
            <a:prstGeom prst="rect">
              <a:avLst/>
            </a:prstGeom>
          </p:spPr>
        </p:pic>
        <p:pic>
          <p:nvPicPr>
            <p:cNvPr id="5" name="object 5"/>
            <p:cNvPicPr/>
            <p:nvPr/>
          </p:nvPicPr>
          <p:blipFill>
            <a:blip r:embed="rId3" cstate="print"/>
            <a:stretch>
              <a:fillRect/>
            </a:stretch>
          </p:blipFill>
          <p:spPr>
            <a:xfrm>
              <a:off x="1638808" y="2467355"/>
              <a:ext cx="2624327" cy="1414272"/>
            </a:xfrm>
            <a:prstGeom prst="rect">
              <a:avLst/>
            </a:prstGeom>
          </p:spPr>
        </p:pic>
        <p:pic>
          <p:nvPicPr>
            <p:cNvPr id="6" name="object 6"/>
            <p:cNvPicPr/>
            <p:nvPr/>
          </p:nvPicPr>
          <p:blipFill>
            <a:blip r:embed="rId4" cstate="print"/>
            <a:stretch>
              <a:fillRect/>
            </a:stretch>
          </p:blipFill>
          <p:spPr>
            <a:xfrm>
              <a:off x="2120391" y="2650235"/>
              <a:ext cx="1709928" cy="993648"/>
            </a:xfrm>
            <a:prstGeom prst="rect">
              <a:avLst/>
            </a:prstGeom>
          </p:spPr>
        </p:pic>
        <p:pic>
          <p:nvPicPr>
            <p:cNvPr id="7" name="object 7"/>
            <p:cNvPicPr/>
            <p:nvPr/>
          </p:nvPicPr>
          <p:blipFill>
            <a:blip r:embed="rId5" cstate="print"/>
            <a:stretch>
              <a:fillRect/>
            </a:stretch>
          </p:blipFill>
          <p:spPr>
            <a:xfrm>
              <a:off x="1341120" y="2484125"/>
              <a:ext cx="2886344" cy="1347024"/>
            </a:xfrm>
            <a:prstGeom prst="rect">
              <a:avLst/>
            </a:prstGeom>
          </p:spPr>
        </p:pic>
        <p:sp>
          <p:nvSpPr>
            <p:cNvPr id="8" name="object 8"/>
            <p:cNvSpPr/>
            <p:nvPr/>
          </p:nvSpPr>
          <p:spPr>
            <a:xfrm>
              <a:off x="1673228" y="2484125"/>
              <a:ext cx="2554605" cy="1347470"/>
            </a:xfrm>
            <a:custGeom>
              <a:avLst/>
              <a:gdLst/>
              <a:ahLst/>
              <a:cxnLst/>
              <a:rect l="l" t="t" r="r" b="b"/>
              <a:pathLst>
                <a:path w="2554604" h="1347470">
                  <a:moveTo>
                    <a:pt x="357606" y="1347026"/>
                  </a:moveTo>
                  <a:lnTo>
                    <a:pt x="435789" y="1055274"/>
                  </a:lnTo>
                  <a:lnTo>
                    <a:pt x="382591" y="1032046"/>
                  </a:lnTo>
                  <a:lnTo>
                    <a:pt x="332808" y="1007738"/>
                  </a:lnTo>
                  <a:lnTo>
                    <a:pt x="286449" y="982422"/>
                  </a:lnTo>
                  <a:lnTo>
                    <a:pt x="243524" y="956170"/>
                  </a:lnTo>
                  <a:lnTo>
                    <a:pt x="204044" y="929054"/>
                  </a:lnTo>
                  <a:lnTo>
                    <a:pt x="168019" y="901145"/>
                  </a:lnTo>
                  <a:lnTo>
                    <a:pt x="135459" y="872515"/>
                  </a:lnTo>
                  <a:lnTo>
                    <a:pt x="106373" y="843236"/>
                  </a:lnTo>
                  <a:lnTo>
                    <a:pt x="80773" y="813379"/>
                  </a:lnTo>
                  <a:lnTo>
                    <a:pt x="40068" y="752221"/>
                  </a:lnTo>
                  <a:lnTo>
                    <a:pt x="13424" y="689614"/>
                  </a:lnTo>
                  <a:lnTo>
                    <a:pt x="922" y="626132"/>
                  </a:lnTo>
                  <a:lnTo>
                    <a:pt x="0" y="594243"/>
                  </a:lnTo>
                  <a:lnTo>
                    <a:pt x="2643" y="562350"/>
                  </a:lnTo>
                  <a:lnTo>
                    <a:pt x="18667" y="498840"/>
                  </a:lnTo>
                  <a:lnTo>
                    <a:pt x="49076" y="436177"/>
                  </a:lnTo>
                  <a:lnTo>
                    <a:pt x="93950" y="374934"/>
                  </a:lnTo>
                  <a:lnTo>
                    <a:pt x="121837" y="345025"/>
                  </a:lnTo>
                  <a:lnTo>
                    <a:pt x="153370" y="315686"/>
                  </a:lnTo>
                  <a:lnTo>
                    <a:pt x="188561" y="286990"/>
                  </a:lnTo>
                  <a:lnTo>
                    <a:pt x="227417" y="259007"/>
                  </a:lnTo>
                  <a:lnTo>
                    <a:pt x="269951" y="231810"/>
                  </a:lnTo>
                  <a:lnTo>
                    <a:pt x="316172" y="205471"/>
                  </a:lnTo>
                  <a:lnTo>
                    <a:pt x="353555" y="186182"/>
                  </a:lnTo>
                  <a:lnTo>
                    <a:pt x="392292" y="167831"/>
                  </a:lnTo>
                  <a:lnTo>
                    <a:pt x="432316" y="150419"/>
                  </a:lnTo>
                  <a:lnTo>
                    <a:pt x="473560" y="133948"/>
                  </a:lnTo>
                  <a:lnTo>
                    <a:pt x="515955" y="118421"/>
                  </a:lnTo>
                  <a:lnTo>
                    <a:pt x="559434" y="103839"/>
                  </a:lnTo>
                  <a:lnTo>
                    <a:pt x="603929" y="90204"/>
                  </a:lnTo>
                  <a:lnTo>
                    <a:pt x="649373" y="77519"/>
                  </a:lnTo>
                  <a:lnTo>
                    <a:pt x="695698" y="65786"/>
                  </a:lnTo>
                  <a:lnTo>
                    <a:pt x="742837" y="55007"/>
                  </a:lnTo>
                  <a:lnTo>
                    <a:pt x="790722" y="45184"/>
                  </a:lnTo>
                  <a:lnTo>
                    <a:pt x="839285" y="36319"/>
                  </a:lnTo>
                  <a:lnTo>
                    <a:pt x="888458" y="28414"/>
                  </a:lnTo>
                  <a:lnTo>
                    <a:pt x="938175" y="21472"/>
                  </a:lnTo>
                  <a:lnTo>
                    <a:pt x="988366" y="15494"/>
                  </a:lnTo>
                  <a:lnTo>
                    <a:pt x="1038966" y="10483"/>
                  </a:lnTo>
                  <a:lnTo>
                    <a:pt x="1089906" y="6440"/>
                  </a:lnTo>
                  <a:lnTo>
                    <a:pt x="1141118" y="3368"/>
                  </a:lnTo>
                  <a:lnTo>
                    <a:pt x="1192535" y="1270"/>
                  </a:lnTo>
                  <a:lnTo>
                    <a:pt x="1244089" y="146"/>
                  </a:lnTo>
                  <a:lnTo>
                    <a:pt x="1295713" y="0"/>
                  </a:lnTo>
                  <a:lnTo>
                    <a:pt x="1347339" y="832"/>
                  </a:lnTo>
                  <a:lnTo>
                    <a:pt x="1398899" y="2647"/>
                  </a:lnTo>
                  <a:lnTo>
                    <a:pt x="1450326" y="5444"/>
                  </a:lnTo>
                  <a:lnTo>
                    <a:pt x="1501553" y="9228"/>
                  </a:lnTo>
                  <a:lnTo>
                    <a:pt x="1552510" y="13999"/>
                  </a:lnTo>
                  <a:lnTo>
                    <a:pt x="1603132" y="19760"/>
                  </a:lnTo>
                  <a:lnTo>
                    <a:pt x="1653350" y="26513"/>
                  </a:lnTo>
                  <a:lnTo>
                    <a:pt x="1703096" y="34260"/>
                  </a:lnTo>
                  <a:lnTo>
                    <a:pt x="1752304" y="43003"/>
                  </a:lnTo>
                  <a:lnTo>
                    <a:pt x="1800905" y="52745"/>
                  </a:lnTo>
                  <a:lnTo>
                    <a:pt x="1848831" y="63487"/>
                  </a:lnTo>
                  <a:lnTo>
                    <a:pt x="1896016" y="75232"/>
                  </a:lnTo>
                  <a:lnTo>
                    <a:pt x="1942391" y="87982"/>
                  </a:lnTo>
                  <a:lnTo>
                    <a:pt x="1987890" y="101738"/>
                  </a:lnTo>
                  <a:lnTo>
                    <a:pt x="2032443" y="116503"/>
                  </a:lnTo>
                  <a:lnTo>
                    <a:pt x="2075984" y="132280"/>
                  </a:lnTo>
                  <a:lnTo>
                    <a:pt x="2118445" y="149069"/>
                  </a:lnTo>
                  <a:lnTo>
                    <a:pt x="2171643" y="172297"/>
                  </a:lnTo>
                  <a:lnTo>
                    <a:pt x="2221427" y="196605"/>
                  </a:lnTo>
                  <a:lnTo>
                    <a:pt x="2267786" y="221921"/>
                  </a:lnTo>
                  <a:lnTo>
                    <a:pt x="2310710" y="248173"/>
                  </a:lnTo>
                  <a:lnTo>
                    <a:pt x="2350190" y="275289"/>
                  </a:lnTo>
                  <a:lnTo>
                    <a:pt x="2386215" y="303198"/>
                  </a:lnTo>
                  <a:lnTo>
                    <a:pt x="2418776" y="331828"/>
                  </a:lnTo>
                  <a:lnTo>
                    <a:pt x="2447861" y="361107"/>
                  </a:lnTo>
                  <a:lnTo>
                    <a:pt x="2473461" y="390964"/>
                  </a:lnTo>
                  <a:lnTo>
                    <a:pt x="2514167" y="452122"/>
                  </a:lnTo>
                  <a:lnTo>
                    <a:pt x="2540811" y="514729"/>
                  </a:lnTo>
                  <a:lnTo>
                    <a:pt x="2553313" y="578211"/>
                  </a:lnTo>
                  <a:lnTo>
                    <a:pt x="2554235" y="610100"/>
                  </a:lnTo>
                  <a:lnTo>
                    <a:pt x="2551592" y="641994"/>
                  </a:lnTo>
                  <a:lnTo>
                    <a:pt x="2535567" y="705503"/>
                  </a:lnTo>
                  <a:lnTo>
                    <a:pt x="2505158" y="768167"/>
                  </a:lnTo>
                  <a:lnTo>
                    <a:pt x="2460284" y="829409"/>
                  </a:lnTo>
                  <a:lnTo>
                    <a:pt x="2432397" y="859318"/>
                  </a:lnTo>
                  <a:lnTo>
                    <a:pt x="2400864" y="888657"/>
                  </a:lnTo>
                  <a:lnTo>
                    <a:pt x="2365674" y="917353"/>
                  </a:lnTo>
                  <a:lnTo>
                    <a:pt x="2326817" y="945336"/>
                  </a:lnTo>
                  <a:lnTo>
                    <a:pt x="2284284" y="972533"/>
                  </a:lnTo>
                  <a:lnTo>
                    <a:pt x="2238063" y="998873"/>
                  </a:lnTo>
                  <a:lnTo>
                    <a:pt x="2200550" y="1018214"/>
                  </a:lnTo>
                  <a:lnTo>
                    <a:pt x="2161552" y="1036655"/>
                  </a:lnTo>
                  <a:lnTo>
                    <a:pt x="2121137" y="1054185"/>
                  </a:lnTo>
                  <a:lnTo>
                    <a:pt x="2079377" y="1070796"/>
                  </a:lnTo>
                  <a:lnTo>
                    <a:pt x="2036342" y="1086479"/>
                  </a:lnTo>
                  <a:lnTo>
                    <a:pt x="1992104" y="1101226"/>
                  </a:lnTo>
                  <a:lnTo>
                    <a:pt x="1946731" y="1115027"/>
                  </a:lnTo>
                  <a:lnTo>
                    <a:pt x="1900296" y="1127873"/>
                  </a:lnTo>
                  <a:lnTo>
                    <a:pt x="1852868" y="1139757"/>
                  </a:lnTo>
                  <a:lnTo>
                    <a:pt x="1804518" y="1150669"/>
                  </a:lnTo>
                  <a:lnTo>
                    <a:pt x="1755318" y="1160601"/>
                  </a:lnTo>
                  <a:lnTo>
                    <a:pt x="1705336" y="1169543"/>
                  </a:lnTo>
                  <a:lnTo>
                    <a:pt x="1654644" y="1177487"/>
                  </a:lnTo>
                  <a:lnTo>
                    <a:pt x="1603312" y="1184424"/>
                  </a:lnTo>
                  <a:lnTo>
                    <a:pt x="1551412" y="1190345"/>
                  </a:lnTo>
                  <a:lnTo>
                    <a:pt x="1499013" y="1195241"/>
                  </a:lnTo>
                  <a:lnTo>
                    <a:pt x="1446186" y="1199105"/>
                  </a:lnTo>
                  <a:lnTo>
                    <a:pt x="1393001" y="1201926"/>
                  </a:lnTo>
                  <a:lnTo>
                    <a:pt x="1339530" y="1203696"/>
                  </a:lnTo>
                  <a:lnTo>
                    <a:pt x="1285843" y="1204407"/>
                  </a:lnTo>
                  <a:lnTo>
                    <a:pt x="1232010" y="1204049"/>
                  </a:lnTo>
                  <a:lnTo>
                    <a:pt x="1178102" y="1202614"/>
                  </a:lnTo>
                  <a:lnTo>
                    <a:pt x="1124189" y="1200093"/>
                  </a:lnTo>
                  <a:lnTo>
                    <a:pt x="1070342" y="1196477"/>
                  </a:lnTo>
                  <a:lnTo>
                    <a:pt x="1016632" y="1191757"/>
                  </a:lnTo>
                  <a:lnTo>
                    <a:pt x="963130" y="1185925"/>
                  </a:lnTo>
                  <a:lnTo>
                    <a:pt x="909904" y="1178972"/>
                  </a:lnTo>
                  <a:lnTo>
                    <a:pt x="857028" y="1170888"/>
                  </a:lnTo>
                  <a:lnTo>
                    <a:pt x="357606" y="1347026"/>
                  </a:lnTo>
                  <a:close/>
                </a:path>
              </a:pathLst>
            </a:custGeom>
            <a:ln w="7071">
              <a:solidFill>
                <a:srgbClr val="0C8AC4"/>
              </a:solidFill>
            </a:ln>
          </p:spPr>
          <p:txBody>
            <a:bodyPr wrap="square" lIns="0" tIns="0" rIns="0" bIns="0" rtlCol="0"/>
            <a:lstStyle/>
            <a:p>
              <a:endParaRPr dirty="0"/>
            </a:p>
          </p:txBody>
        </p:sp>
      </p:grpSp>
      <p:sp>
        <p:nvSpPr>
          <p:cNvPr id="9" name="object 9"/>
          <p:cNvSpPr txBox="1"/>
          <p:nvPr/>
        </p:nvSpPr>
        <p:spPr>
          <a:xfrm>
            <a:off x="1837817" y="2338443"/>
            <a:ext cx="1893929" cy="616373"/>
          </a:xfrm>
          <a:prstGeom prst="rect">
            <a:avLst/>
          </a:prstGeom>
        </p:spPr>
        <p:txBody>
          <a:bodyPr vert="horz" wrap="square" lIns="0" tIns="26212" rIns="0" bIns="0" rtlCol="0">
            <a:spAutoFit/>
          </a:bodyPr>
          <a:lstStyle/>
          <a:p>
            <a:pPr marL="11397" marR="4559" indent="13676">
              <a:lnSpc>
                <a:spcPts val="2324"/>
              </a:lnSpc>
              <a:spcBef>
                <a:spcPts val="206"/>
              </a:spcBef>
            </a:pPr>
            <a:r>
              <a:rPr sz="2000" dirty="0">
                <a:solidFill>
                  <a:srgbClr val="FFFFFF"/>
                </a:solidFill>
                <a:cs typeface="Calibri"/>
              </a:rPr>
              <a:t>I </a:t>
            </a:r>
            <a:r>
              <a:rPr sz="2000" spc="4" dirty="0">
                <a:solidFill>
                  <a:srgbClr val="FFFFFF"/>
                </a:solidFill>
                <a:cs typeface="Calibri"/>
              </a:rPr>
              <a:t>don’t </a:t>
            </a:r>
            <a:r>
              <a:rPr sz="2000" spc="-4" dirty="0">
                <a:solidFill>
                  <a:srgbClr val="FFFFFF"/>
                </a:solidFill>
                <a:cs typeface="Calibri"/>
              </a:rPr>
              <a:t>just </a:t>
            </a:r>
            <a:r>
              <a:rPr sz="2000" spc="-434" dirty="0">
                <a:solidFill>
                  <a:srgbClr val="FFFFFF"/>
                </a:solidFill>
                <a:cs typeface="Calibri"/>
              </a:rPr>
              <a:t> </a:t>
            </a:r>
            <a:r>
              <a:rPr sz="2000" spc="-13" dirty="0">
                <a:solidFill>
                  <a:srgbClr val="FFFFFF"/>
                </a:solidFill>
                <a:cs typeface="Calibri"/>
              </a:rPr>
              <a:t>like</a:t>
            </a:r>
            <a:r>
              <a:rPr sz="2000" spc="-58" dirty="0">
                <a:solidFill>
                  <a:srgbClr val="FFFFFF"/>
                </a:solidFill>
                <a:cs typeface="Calibri"/>
              </a:rPr>
              <a:t> </a:t>
            </a:r>
            <a:r>
              <a:rPr sz="2000" spc="4" dirty="0">
                <a:solidFill>
                  <a:srgbClr val="FFFFFF"/>
                </a:solidFill>
                <a:cs typeface="Calibri"/>
              </a:rPr>
              <a:t>sports!</a:t>
            </a:r>
            <a:endParaRPr sz="2000" dirty="0">
              <a:cs typeface="Calibri"/>
            </a:endParaRPr>
          </a:p>
        </p:txBody>
      </p:sp>
      <p:grpSp>
        <p:nvGrpSpPr>
          <p:cNvPr id="10" name="object 10"/>
          <p:cNvGrpSpPr/>
          <p:nvPr/>
        </p:nvGrpSpPr>
        <p:grpSpPr>
          <a:xfrm>
            <a:off x="2869466" y="3478754"/>
            <a:ext cx="2713182" cy="1197349"/>
            <a:chOff x="3156413" y="3942588"/>
            <a:chExt cx="2984500" cy="1356995"/>
          </a:xfrm>
        </p:grpSpPr>
        <p:pic>
          <p:nvPicPr>
            <p:cNvPr id="11" name="object 11"/>
            <p:cNvPicPr/>
            <p:nvPr/>
          </p:nvPicPr>
          <p:blipFill>
            <a:blip r:embed="rId6" cstate="print"/>
            <a:stretch>
              <a:fillRect/>
            </a:stretch>
          </p:blipFill>
          <p:spPr>
            <a:xfrm>
              <a:off x="3193287" y="3942588"/>
              <a:ext cx="2947416" cy="1316736"/>
            </a:xfrm>
            <a:prstGeom prst="rect">
              <a:avLst/>
            </a:prstGeom>
          </p:spPr>
        </p:pic>
        <p:sp>
          <p:nvSpPr>
            <p:cNvPr id="12" name="object 12"/>
            <p:cNvSpPr/>
            <p:nvPr/>
          </p:nvSpPr>
          <p:spPr>
            <a:xfrm>
              <a:off x="3156413" y="4146604"/>
              <a:ext cx="53975" cy="1098550"/>
            </a:xfrm>
            <a:custGeom>
              <a:avLst/>
              <a:gdLst/>
              <a:ahLst/>
              <a:cxnLst/>
              <a:rect l="l" t="t" r="r" b="b"/>
              <a:pathLst>
                <a:path w="53975" h="1098550">
                  <a:moveTo>
                    <a:pt x="53814" y="1098374"/>
                  </a:moveTo>
                  <a:lnTo>
                    <a:pt x="0" y="1098374"/>
                  </a:lnTo>
                </a:path>
                <a:path w="53975" h="1098550">
                  <a:moveTo>
                    <a:pt x="53814" y="916507"/>
                  </a:moveTo>
                  <a:lnTo>
                    <a:pt x="0" y="916507"/>
                  </a:lnTo>
                </a:path>
                <a:path w="53975" h="1098550">
                  <a:moveTo>
                    <a:pt x="53814" y="733384"/>
                  </a:moveTo>
                  <a:lnTo>
                    <a:pt x="0" y="733384"/>
                  </a:lnTo>
                </a:path>
                <a:path w="53975" h="1098550">
                  <a:moveTo>
                    <a:pt x="53814" y="550261"/>
                  </a:moveTo>
                  <a:lnTo>
                    <a:pt x="0" y="550261"/>
                  </a:lnTo>
                </a:path>
                <a:path w="53975" h="1098550">
                  <a:moveTo>
                    <a:pt x="53814" y="367137"/>
                  </a:moveTo>
                  <a:lnTo>
                    <a:pt x="0" y="367137"/>
                  </a:lnTo>
                </a:path>
                <a:path w="53975" h="1098550">
                  <a:moveTo>
                    <a:pt x="53814" y="184014"/>
                  </a:moveTo>
                  <a:lnTo>
                    <a:pt x="0" y="184014"/>
                  </a:lnTo>
                </a:path>
                <a:path w="53975" h="1098550">
                  <a:moveTo>
                    <a:pt x="53814" y="0"/>
                  </a:moveTo>
                  <a:lnTo>
                    <a:pt x="0" y="0"/>
                  </a:lnTo>
                </a:path>
              </a:pathLst>
            </a:custGeom>
            <a:ln w="7068">
              <a:solidFill>
                <a:srgbClr val="868686"/>
              </a:solidFill>
            </a:ln>
          </p:spPr>
          <p:txBody>
            <a:bodyPr wrap="square" lIns="0" tIns="0" rIns="0" bIns="0" rtlCol="0"/>
            <a:lstStyle/>
            <a:p>
              <a:endParaRPr dirty="0"/>
            </a:p>
          </p:txBody>
        </p:sp>
        <p:sp>
          <p:nvSpPr>
            <p:cNvPr id="13" name="object 13"/>
            <p:cNvSpPr/>
            <p:nvPr/>
          </p:nvSpPr>
          <p:spPr>
            <a:xfrm>
              <a:off x="3210227" y="5245352"/>
              <a:ext cx="2672080" cy="53975"/>
            </a:xfrm>
            <a:custGeom>
              <a:avLst/>
              <a:gdLst/>
              <a:ahLst/>
              <a:cxnLst/>
              <a:rect l="l" t="t" r="r" b="b"/>
              <a:pathLst>
                <a:path w="2672079" h="53975">
                  <a:moveTo>
                    <a:pt x="0" y="0"/>
                  </a:moveTo>
                  <a:lnTo>
                    <a:pt x="0" y="53881"/>
                  </a:lnTo>
                </a:path>
                <a:path w="2672079" h="53975">
                  <a:moveTo>
                    <a:pt x="669136" y="0"/>
                  </a:moveTo>
                  <a:lnTo>
                    <a:pt x="669136" y="53881"/>
                  </a:lnTo>
                </a:path>
                <a:path w="2672079" h="53975">
                  <a:moveTo>
                    <a:pt x="1336703" y="0"/>
                  </a:moveTo>
                  <a:lnTo>
                    <a:pt x="1336703" y="53881"/>
                  </a:lnTo>
                </a:path>
                <a:path w="2672079" h="53975">
                  <a:moveTo>
                    <a:pt x="2004270" y="0"/>
                  </a:moveTo>
                  <a:lnTo>
                    <a:pt x="2004270" y="53881"/>
                  </a:lnTo>
                </a:path>
                <a:path w="2672079" h="53975">
                  <a:moveTo>
                    <a:pt x="2671454" y="0"/>
                  </a:moveTo>
                  <a:lnTo>
                    <a:pt x="2671454" y="53881"/>
                  </a:lnTo>
                </a:path>
              </a:pathLst>
            </a:custGeom>
            <a:ln w="7068">
              <a:solidFill>
                <a:srgbClr val="868686"/>
              </a:solidFill>
            </a:ln>
          </p:spPr>
          <p:txBody>
            <a:bodyPr wrap="square" lIns="0" tIns="0" rIns="0" bIns="0" rtlCol="0"/>
            <a:lstStyle/>
            <a:p>
              <a:endParaRPr dirty="0"/>
            </a:p>
          </p:txBody>
        </p:sp>
      </p:grpSp>
      <p:sp>
        <p:nvSpPr>
          <p:cNvPr id="14" name="object 14"/>
          <p:cNvSpPr txBox="1"/>
          <p:nvPr/>
        </p:nvSpPr>
        <p:spPr>
          <a:xfrm>
            <a:off x="2568305" y="3558358"/>
            <a:ext cx="216477" cy="1168774"/>
          </a:xfrm>
          <a:prstGeom prst="rect">
            <a:avLst/>
          </a:prstGeom>
        </p:spPr>
        <p:txBody>
          <a:bodyPr vert="horz" wrap="square" lIns="0" tIns="11397" rIns="0" bIns="0" rtlCol="0">
            <a:spAutoFit/>
          </a:bodyPr>
          <a:lstStyle/>
          <a:p>
            <a:pPr marR="5698" algn="r">
              <a:lnSpc>
                <a:spcPts val="1346"/>
              </a:lnSpc>
              <a:spcBef>
                <a:spcPts val="90"/>
              </a:spcBef>
            </a:pPr>
            <a:r>
              <a:rPr sz="1200" spc="36" dirty="0">
                <a:cs typeface="Calibri"/>
              </a:rPr>
              <a:t>0</a:t>
            </a:r>
            <a:r>
              <a:rPr sz="1200" spc="-27" dirty="0">
                <a:cs typeface="Calibri"/>
              </a:rPr>
              <a:t>.</a:t>
            </a:r>
            <a:r>
              <a:rPr sz="1200" dirty="0">
                <a:cs typeface="Calibri"/>
              </a:rPr>
              <a:t>6</a:t>
            </a:r>
          </a:p>
          <a:p>
            <a:pPr marR="5698" algn="r">
              <a:lnSpc>
                <a:spcPts val="1301"/>
              </a:lnSpc>
            </a:pPr>
            <a:r>
              <a:rPr sz="1200" spc="36" dirty="0">
                <a:cs typeface="Calibri"/>
              </a:rPr>
              <a:t>0</a:t>
            </a:r>
            <a:r>
              <a:rPr sz="1200" spc="-27" dirty="0">
                <a:cs typeface="Calibri"/>
              </a:rPr>
              <a:t>.</a:t>
            </a:r>
            <a:r>
              <a:rPr sz="1200" dirty="0">
                <a:cs typeface="Calibri"/>
              </a:rPr>
              <a:t>5</a:t>
            </a:r>
          </a:p>
          <a:p>
            <a:pPr marR="5698" algn="r">
              <a:lnSpc>
                <a:spcPts val="1301"/>
              </a:lnSpc>
            </a:pPr>
            <a:r>
              <a:rPr sz="1200" spc="36" dirty="0">
                <a:cs typeface="Calibri"/>
              </a:rPr>
              <a:t>0</a:t>
            </a:r>
            <a:r>
              <a:rPr sz="1200" spc="-27" dirty="0">
                <a:cs typeface="Calibri"/>
              </a:rPr>
              <a:t>.</a:t>
            </a:r>
            <a:r>
              <a:rPr sz="1200" dirty="0">
                <a:cs typeface="Calibri"/>
              </a:rPr>
              <a:t>4</a:t>
            </a:r>
          </a:p>
          <a:p>
            <a:pPr marR="5698" algn="r">
              <a:lnSpc>
                <a:spcPts val="1292"/>
              </a:lnSpc>
            </a:pPr>
            <a:r>
              <a:rPr sz="1200" spc="36" dirty="0">
                <a:cs typeface="Calibri"/>
              </a:rPr>
              <a:t>0</a:t>
            </a:r>
            <a:r>
              <a:rPr sz="1200" spc="-27" dirty="0">
                <a:cs typeface="Calibri"/>
              </a:rPr>
              <a:t>.</a:t>
            </a:r>
            <a:r>
              <a:rPr sz="1200" dirty="0">
                <a:cs typeface="Calibri"/>
              </a:rPr>
              <a:t>3</a:t>
            </a:r>
          </a:p>
          <a:p>
            <a:pPr marR="5698" algn="r">
              <a:lnSpc>
                <a:spcPts val="1292"/>
              </a:lnSpc>
            </a:pPr>
            <a:r>
              <a:rPr sz="1200" spc="36" dirty="0">
                <a:cs typeface="Calibri"/>
              </a:rPr>
              <a:t>0</a:t>
            </a:r>
            <a:r>
              <a:rPr sz="1200" spc="-27" dirty="0">
                <a:cs typeface="Calibri"/>
              </a:rPr>
              <a:t>.</a:t>
            </a:r>
            <a:r>
              <a:rPr sz="1200" dirty="0">
                <a:cs typeface="Calibri"/>
              </a:rPr>
              <a:t>2</a:t>
            </a:r>
          </a:p>
          <a:p>
            <a:pPr marR="5698" algn="r">
              <a:lnSpc>
                <a:spcPts val="1292"/>
              </a:lnSpc>
            </a:pPr>
            <a:r>
              <a:rPr sz="1200" spc="36" dirty="0">
                <a:cs typeface="Calibri"/>
              </a:rPr>
              <a:t>0</a:t>
            </a:r>
            <a:r>
              <a:rPr sz="1200" spc="-27" dirty="0">
                <a:cs typeface="Calibri"/>
              </a:rPr>
              <a:t>.</a:t>
            </a:r>
            <a:r>
              <a:rPr sz="1200" dirty="0">
                <a:cs typeface="Calibri"/>
              </a:rPr>
              <a:t>1</a:t>
            </a:r>
          </a:p>
          <a:p>
            <a:pPr marR="4559" algn="r">
              <a:lnSpc>
                <a:spcPts val="1346"/>
              </a:lnSpc>
            </a:pPr>
            <a:r>
              <a:rPr sz="1200" dirty="0">
                <a:cs typeface="Calibri"/>
              </a:rPr>
              <a:t>0</a:t>
            </a:r>
          </a:p>
        </p:txBody>
      </p:sp>
      <p:sp>
        <p:nvSpPr>
          <p:cNvPr id="19" name="object 19"/>
          <p:cNvSpPr txBox="1"/>
          <p:nvPr/>
        </p:nvSpPr>
        <p:spPr>
          <a:xfrm>
            <a:off x="667386" y="5482814"/>
            <a:ext cx="139700" cy="174456"/>
          </a:xfrm>
          <a:prstGeom prst="rect">
            <a:avLst/>
          </a:prstGeom>
        </p:spPr>
        <p:txBody>
          <a:bodyPr vert="horz" wrap="square" lIns="0" tIns="5129" rIns="0" bIns="0" rtlCol="0">
            <a:spAutoFit/>
          </a:bodyPr>
          <a:lstStyle/>
          <a:p>
            <a:pPr marL="34191">
              <a:spcBef>
                <a:spcPts val="40"/>
              </a:spcBef>
            </a:pPr>
            <a:fld id="{81D60167-4931-47E6-BA6A-407CBD079E47}" type="slidenum">
              <a:rPr sz="1100" dirty="0">
                <a:solidFill>
                  <a:srgbClr val="898989"/>
                </a:solidFill>
                <a:cs typeface="Calibri"/>
              </a:rPr>
              <a:pPr marL="34191">
                <a:spcBef>
                  <a:spcPts val="40"/>
                </a:spcBef>
              </a:pPr>
              <a:t>8</a:t>
            </a:fld>
            <a:endParaRPr sz="1100" dirty="0">
              <a:cs typeface="Calibri"/>
            </a:endParaRPr>
          </a:p>
        </p:txBody>
      </p:sp>
      <p:sp>
        <p:nvSpPr>
          <p:cNvPr id="15" name="object 15"/>
          <p:cNvSpPr txBox="1"/>
          <p:nvPr/>
        </p:nvSpPr>
        <p:spPr>
          <a:xfrm rot="18900000">
            <a:off x="2546578" y="4992935"/>
            <a:ext cx="802450" cy="153888"/>
          </a:xfrm>
          <a:prstGeom prst="rect">
            <a:avLst/>
          </a:prstGeom>
        </p:spPr>
        <p:txBody>
          <a:bodyPr vert="horz" wrap="square" lIns="0" tIns="0" rIns="0" bIns="0" rtlCol="0">
            <a:spAutoFit/>
          </a:bodyPr>
          <a:lstStyle/>
          <a:p>
            <a:pPr>
              <a:lnSpc>
                <a:spcPts val="1167"/>
              </a:lnSpc>
            </a:pPr>
            <a:r>
              <a:rPr sz="1200" dirty="0">
                <a:cs typeface="Calibri"/>
              </a:rPr>
              <a:t>S</a:t>
            </a:r>
            <a:r>
              <a:rPr sz="1200" spc="13" dirty="0">
                <a:cs typeface="Calibri"/>
              </a:rPr>
              <a:t>p</a:t>
            </a:r>
            <a:r>
              <a:rPr sz="1200" spc="9" dirty="0">
                <a:cs typeface="Calibri"/>
              </a:rPr>
              <a:t>o</a:t>
            </a:r>
            <a:r>
              <a:rPr sz="1200" spc="36" dirty="0">
                <a:cs typeface="Calibri"/>
              </a:rPr>
              <a:t>r</a:t>
            </a:r>
            <a:r>
              <a:rPr sz="1200" spc="-36" dirty="0">
                <a:cs typeface="Calibri"/>
              </a:rPr>
              <a:t>t</a:t>
            </a:r>
            <a:r>
              <a:rPr sz="1200" dirty="0">
                <a:cs typeface="Calibri"/>
              </a:rPr>
              <a:t>s</a:t>
            </a:r>
          </a:p>
        </p:txBody>
      </p:sp>
      <p:sp>
        <p:nvSpPr>
          <p:cNvPr id="16" name="object 16"/>
          <p:cNvSpPr txBox="1"/>
          <p:nvPr/>
        </p:nvSpPr>
        <p:spPr>
          <a:xfrm rot="18900000">
            <a:off x="2779653" y="5147689"/>
            <a:ext cx="1234125" cy="153888"/>
          </a:xfrm>
          <a:prstGeom prst="rect">
            <a:avLst/>
          </a:prstGeom>
        </p:spPr>
        <p:txBody>
          <a:bodyPr vert="horz" wrap="square" lIns="0" tIns="0" rIns="0" bIns="0" rtlCol="0">
            <a:spAutoFit/>
          </a:bodyPr>
          <a:lstStyle/>
          <a:p>
            <a:pPr>
              <a:lnSpc>
                <a:spcPts val="1167"/>
              </a:lnSpc>
            </a:pPr>
            <a:r>
              <a:rPr sz="1200" spc="13" dirty="0">
                <a:cs typeface="Calibri"/>
              </a:rPr>
              <a:t>World</a:t>
            </a:r>
            <a:r>
              <a:rPr sz="1200" spc="-9" dirty="0">
                <a:cs typeface="Calibri"/>
              </a:rPr>
              <a:t> News</a:t>
            </a:r>
            <a:endParaRPr sz="1200" dirty="0">
              <a:cs typeface="Calibri"/>
            </a:endParaRPr>
          </a:p>
        </p:txBody>
      </p:sp>
      <p:sp>
        <p:nvSpPr>
          <p:cNvPr id="17" name="object 17"/>
          <p:cNvSpPr txBox="1"/>
          <p:nvPr/>
        </p:nvSpPr>
        <p:spPr>
          <a:xfrm rot="18900000">
            <a:off x="3454420" y="5113240"/>
            <a:ext cx="1163001" cy="153888"/>
          </a:xfrm>
          <a:prstGeom prst="rect">
            <a:avLst/>
          </a:prstGeom>
        </p:spPr>
        <p:txBody>
          <a:bodyPr vert="horz" wrap="square" lIns="0" tIns="0" rIns="0" bIns="0" rtlCol="0">
            <a:spAutoFit/>
          </a:bodyPr>
          <a:lstStyle/>
          <a:p>
            <a:pPr>
              <a:lnSpc>
                <a:spcPts val="1167"/>
              </a:lnSpc>
            </a:pPr>
            <a:r>
              <a:rPr sz="1200" spc="58" dirty="0">
                <a:cs typeface="Calibri"/>
              </a:rPr>
              <a:t>E</a:t>
            </a:r>
            <a:r>
              <a:rPr sz="1200" spc="13" dirty="0">
                <a:cs typeface="Calibri"/>
              </a:rPr>
              <a:t>n</a:t>
            </a:r>
            <a:r>
              <a:rPr sz="1200" spc="-36" dirty="0">
                <a:cs typeface="Calibri"/>
              </a:rPr>
              <a:t>t</a:t>
            </a:r>
            <a:r>
              <a:rPr sz="1200" spc="45" dirty="0">
                <a:cs typeface="Calibri"/>
              </a:rPr>
              <a:t>e</a:t>
            </a:r>
            <a:r>
              <a:rPr sz="1200" spc="-54" dirty="0">
                <a:cs typeface="Calibri"/>
              </a:rPr>
              <a:t>r</a:t>
            </a:r>
            <a:r>
              <a:rPr sz="1200" spc="54" dirty="0">
                <a:cs typeface="Calibri"/>
              </a:rPr>
              <a:t>t</a:t>
            </a:r>
            <a:r>
              <a:rPr sz="1200" spc="-22" dirty="0">
                <a:cs typeface="Calibri"/>
              </a:rPr>
              <a:t>a</a:t>
            </a:r>
            <a:r>
              <a:rPr sz="1200" spc="-4" dirty="0">
                <a:cs typeface="Calibri"/>
              </a:rPr>
              <a:t>i</a:t>
            </a:r>
            <a:r>
              <a:rPr sz="1200" spc="13" dirty="0">
                <a:cs typeface="Calibri"/>
              </a:rPr>
              <a:t>n</a:t>
            </a:r>
            <a:r>
              <a:rPr sz="1200" spc="54" dirty="0">
                <a:cs typeface="Calibri"/>
              </a:rPr>
              <a:t>m</a:t>
            </a:r>
            <a:r>
              <a:rPr sz="1200" spc="45" dirty="0">
                <a:cs typeface="Calibri"/>
              </a:rPr>
              <a:t>e</a:t>
            </a:r>
            <a:r>
              <a:rPr sz="1200" spc="13" dirty="0">
                <a:cs typeface="Calibri"/>
              </a:rPr>
              <a:t>n</a:t>
            </a:r>
            <a:r>
              <a:rPr sz="1200" dirty="0">
                <a:cs typeface="Calibri"/>
              </a:rPr>
              <a:t>t</a:t>
            </a:r>
          </a:p>
        </p:txBody>
      </p:sp>
      <p:sp>
        <p:nvSpPr>
          <p:cNvPr id="18" name="object 18"/>
          <p:cNvSpPr txBox="1"/>
          <p:nvPr/>
        </p:nvSpPr>
        <p:spPr>
          <a:xfrm rot="18900000">
            <a:off x="4249189" y="5040487"/>
            <a:ext cx="941407" cy="153888"/>
          </a:xfrm>
          <a:prstGeom prst="rect">
            <a:avLst/>
          </a:prstGeom>
        </p:spPr>
        <p:txBody>
          <a:bodyPr vert="horz" wrap="square" lIns="0" tIns="0" rIns="0" bIns="0" rtlCol="0">
            <a:spAutoFit/>
          </a:bodyPr>
          <a:lstStyle/>
          <a:p>
            <a:pPr>
              <a:lnSpc>
                <a:spcPts val="1167"/>
              </a:lnSpc>
            </a:pPr>
            <a:r>
              <a:rPr sz="1200" dirty="0">
                <a:cs typeface="Calibri"/>
              </a:rPr>
              <a:t>S</a:t>
            </a:r>
            <a:r>
              <a:rPr sz="1200" spc="40" dirty="0">
                <a:cs typeface="Calibri"/>
              </a:rPr>
              <a:t>c</a:t>
            </a:r>
            <a:r>
              <a:rPr sz="1200" spc="-4" dirty="0">
                <a:cs typeface="Calibri"/>
              </a:rPr>
              <a:t>i</a:t>
            </a:r>
            <a:r>
              <a:rPr sz="1200" spc="-45" dirty="0">
                <a:cs typeface="Calibri"/>
              </a:rPr>
              <a:t>e</a:t>
            </a:r>
            <a:r>
              <a:rPr sz="1200" spc="13" dirty="0">
                <a:cs typeface="Calibri"/>
              </a:rPr>
              <a:t>n</a:t>
            </a:r>
            <a:r>
              <a:rPr sz="1200" spc="40" dirty="0">
                <a:cs typeface="Calibri"/>
              </a:rPr>
              <a:t>c</a:t>
            </a:r>
            <a:r>
              <a:rPr sz="1200" dirty="0">
                <a:cs typeface="Calibri"/>
              </a:rPr>
              <a:t>e</a:t>
            </a:r>
          </a:p>
        </p:txBody>
      </p:sp>
    </p:spTree>
    <p:extLst>
      <p:ext uri="{BB962C8B-B14F-4D97-AF65-F5344CB8AC3E}">
        <p14:creationId xmlns:p14="http://schemas.microsoft.com/office/powerpoint/2010/main" val="121474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3959" y="473333"/>
            <a:ext cx="7045237" cy="689192"/>
          </a:xfrm>
          <a:prstGeom prst="rect">
            <a:avLst/>
          </a:prstGeom>
        </p:spPr>
        <p:txBody>
          <a:bodyPr vert="horz" wrap="square" lIns="0" tIns="11967" rIns="0" bIns="0" rtlCol="0">
            <a:spAutoFit/>
          </a:bodyPr>
          <a:lstStyle/>
          <a:p>
            <a:pPr marL="11397">
              <a:spcBef>
                <a:spcPts val="94"/>
              </a:spcBef>
            </a:pPr>
            <a:r>
              <a:rPr lang="en-GB" sz="4400" spc="-13" dirty="0">
                <a:latin typeface="+mn-lt"/>
              </a:rPr>
              <a:t>Learn</a:t>
            </a:r>
            <a:r>
              <a:rPr lang="en-GB" sz="4400" spc="-58" dirty="0">
                <a:latin typeface="+mn-lt"/>
              </a:rPr>
              <a:t> </a:t>
            </a:r>
            <a:r>
              <a:rPr lang="en-GB" sz="4400" spc="-13" dirty="0">
                <a:latin typeface="+mn-lt"/>
              </a:rPr>
              <a:t>User</a:t>
            </a:r>
            <a:r>
              <a:rPr lang="en-GB" sz="4400" spc="-49" dirty="0">
                <a:latin typeface="+mn-lt"/>
              </a:rPr>
              <a:t> </a:t>
            </a:r>
            <a:r>
              <a:rPr lang="en-GB" sz="4400" spc="-31" dirty="0">
                <a:latin typeface="+mn-lt"/>
              </a:rPr>
              <a:t>Preferences</a:t>
            </a:r>
          </a:p>
        </p:txBody>
      </p:sp>
      <p:grpSp>
        <p:nvGrpSpPr>
          <p:cNvPr id="3" name="object 3"/>
          <p:cNvGrpSpPr/>
          <p:nvPr/>
        </p:nvGrpSpPr>
        <p:grpSpPr>
          <a:xfrm>
            <a:off x="1426094" y="2708354"/>
            <a:ext cx="1526308" cy="1018054"/>
            <a:chOff x="1568703" y="3069467"/>
            <a:chExt cx="1678939" cy="1153795"/>
          </a:xfrm>
        </p:grpSpPr>
        <p:pic>
          <p:nvPicPr>
            <p:cNvPr id="4" name="object 4"/>
            <p:cNvPicPr/>
            <p:nvPr/>
          </p:nvPicPr>
          <p:blipFill>
            <a:blip r:embed="rId2" cstate="print"/>
            <a:stretch>
              <a:fillRect/>
            </a:stretch>
          </p:blipFill>
          <p:spPr>
            <a:xfrm>
              <a:off x="1669266" y="3159740"/>
              <a:ext cx="609179" cy="455583"/>
            </a:xfrm>
            <a:prstGeom prst="rect">
              <a:avLst/>
            </a:prstGeom>
          </p:spPr>
        </p:pic>
        <p:pic>
          <p:nvPicPr>
            <p:cNvPr id="5" name="object 5"/>
            <p:cNvPicPr/>
            <p:nvPr/>
          </p:nvPicPr>
          <p:blipFill>
            <a:blip r:embed="rId3" cstate="print"/>
            <a:stretch>
              <a:fillRect/>
            </a:stretch>
          </p:blipFill>
          <p:spPr>
            <a:xfrm>
              <a:off x="1568703" y="3646931"/>
              <a:ext cx="862584" cy="576072"/>
            </a:xfrm>
            <a:prstGeom prst="rect">
              <a:avLst/>
            </a:prstGeom>
          </p:spPr>
        </p:pic>
        <p:pic>
          <p:nvPicPr>
            <p:cNvPr id="6" name="object 6"/>
            <p:cNvPicPr/>
            <p:nvPr/>
          </p:nvPicPr>
          <p:blipFill>
            <a:blip r:embed="rId4" cstate="print"/>
            <a:stretch>
              <a:fillRect/>
            </a:stretch>
          </p:blipFill>
          <p:spPr>
            <a:xfrm>
              <a:off x="2429062" y="3069467"/>
              <a:ext cx="653075" cy="447759"/>
            </a:xfrm>
            <a:prstGeom prst="rect">
              <a:avLst/>
            </a:prstGeom>
          </p:spPr>
        </p:pic>
        <p:pic>
          <p:nvPicPr>
            <p:cNvPr id="7" name="object 7"/>
            <p:cNvPicPr/>
            <p:nvPr/>
          </p:nvPicPr>
          <p:blipFill>
            <a:blip r:embed="rId5" cstate="print"/>
            <a:stretch>
              <a:fillRect/>
            </a:stretch>
          </p:blipFill>
          <p:spPr>
            <a:xfrm>
              <a:off x="2496347" y="3569585"/>
              <a:ext cx="750763" cy="582569"/>
            </a:xfrm>
            <a:prstGeom prst="rect">
              <a:avLst/>
            </a:prstGeom>
          </p:spPr>
        </p:pic>
      </p:grpSp>
      <p:grpSp>
        <p:nvGrpSpPr>
          <p:cNvPr id="8" name="object 8"/>
          <p:cNvGrpSpPr/>
          <p:nvPr/>
        </p:nvGrpSpPr>
        <p:grpSpPr>
          <a:xfrm>
            <a:off x="3299133" y="2580490"/>
            <a:ext cx="1696604" cy="2568949"/>
            <a:chOff x="3629047" y="2924555"/>
            <a:chExt cx="1866264" cy="2911475"/>
          </a:xfrm>
        </p:grpSpPr>
        <p:pic>
          <p:nvPicPr>
            <p:cNvPr id="9" name="object 9"/>
            <p:cNvPicPr/>
            <p:nvPr/>
          </p:nvPicPr>
          <p:blipFill>
            <a:blip r:embed="rId6" cstate="print"/>
            <a:stretch>
              <a:fillRect/>
            </a:stretch>
          </p:blipFill>
          <p:spPr>
            <a:xfrm>
              <a:off x="3629047" y="3709060"/>
              <a:ext cx="615612" cy="462286"/>
            </a:xfrm>
            <a:prstGeom prst="rect">
              <a:avLst/>
            </a:prstGeom>
          </p:spPr>
        </p:pic>
        <p:pic>
          <p:nvPicPr>
            <p:cNvPr id="10" name="object 10"/>
            <p:cNvPicPr/>
            <p:nvPr/>
          </p:nvPicPr>
          <p:blipFill>
            <a:blip r:embed="rId7" cstate="print"/>
            <a:stretch>
              <a:fillRect/>
            </a:stretch>
          </p:blipFill>
          <p:spPr>
            <a:xfrm>
              <a:off x="4778361" y="3184350"/>
              <a:ext cx="716484" cy="524711"/>
            </a:xfrm>
            <a:prstGeom prst="rect">
              <a:avLst/>
            </a:prstGeom>
          </p:spPr>
        </p:pic>
        <p:pic>
          <p:nvPicPr>
            <p:cNvPr id="11" name="object 11"/>
            <p:cNvPicPr/>
            <p:nvPr/>
          </p:nvPicPr>
          <p:blipFill>
            <a:blip r:embed="rId8" cstate="print"/>
            <a:stretch>
              <a:fillRect/>
            </a:stretch>
          </p:blipFill>
          <p:spPr>
            <a:xfrm>
              <a:off x="3751072" y="2924555"/>
              <a:ext cx="987551" cy="743712"/>
            </a:xfrm>
            <a:prstGeom prst="rect">
              <a:avLst/>
            </a:prstGeom>
          </p:spPr>
        </p:pic>
        <p:pic>
          <p:nvPicPr>
            <p:cNvPr id="12" name="object 12"/>
            <p:cNvPicPr/>
            <p:nvPr/>
          </p:nvPicPr>
          <p:blipFill>
            <a:blip r:embed="rId9" cstate="print"/>
            <a:stretch>
              <a:fillRect/>
            </a:stretch>
          </p:blipFill>
          <p:spPr>
            <a:xfrm>
              <a:off x="4321048" y="3756659"/>
              <a:ext cx="722376" cy="484632"/>
            </a:xfrm>
            <a:prstGeom prst="rect">
              <a:avLst/>
            </a:prstGeom>
          </p:spPr>
        </p:pic>
        <p:pic>
          <p:nvPicPr>
            <p:cNvPr id="13" name="object 13"/>
            <p:cNvPicPr/>
            <p:nvPr/>
          </p:nvPicPr>
          <p:blipFill>
            <a:blip r:embed="rId10" cstate="print"/>
            <a:stretch>
              <a:fillRect/>
            </a:stretch>
          </p:blipFill>
          <p:spPr>
            <a:xfrm>
              <a:off x="4887975" y="3244595"/>
              <a:ext cx="469391" cy="457200"/>
            </a:xfrm>
            <a:prstGeom prst="rect">
              <a:avLst/>
            </a:prstGeom>
          </p:spPr>
        </p:pic>
        <p:pic>
          <p:nvPicPr>
            <p:cNvPr id="14" name="object 14"/>
            <p:cNvPicPr/>
            <p:nvPr/>
          </p:nvPicPr>
          <p:blipFill>
            <a:blip r:embed="rId11" cstate="print"/>
            <a:stretch>
              <a:fillRect/>
            </a:stretch>
          </p:blipFill>
          <p:spPr>
            <a:xfrm>
              <a:off x="4922646" y="3261395"/>
              <a:ext cx="401483" cy="388124"/>
            </a:xfrm>
            <a:prstGeom prst="rect">
              <a:avLst/>
            </a:prstGeom>
          </p:spPr>
        </p:pic>
        <p:sp>
          <p:nvSpPr>
            <p:cNvPr id="15" name="object 15"/>
            <p:cNvSpPr/>
            <p:nvPr/>
          </p:nvSpPr>
          <p:spPr>
            <a:xfrm>
              <a:off x="4922646" y="3261395"/>
              <a:ext cx="401955" cy="388620"/>
            </a:xfrm>
            <a:custGeom>
              <a:avLst/>
              <a:gdLst/>
              <a:ahLst/>
              <a:cxnLst/>
              <a:rect l="l" t="t" r="r" b="b"/>
              <a:pathLst>
                <a:path w="401954" h="388620">
                  <a:moveTo>
                    <a:pt x="0" y="131953"/>
                  </a:moveTo>
                  <a:lnTo>
                    <a:pt x="138711" y="131953"/>
                  </a:lnTo>
                  <a:lnTo>
                    <a:pt x="138711" y="0"/>
                  </a:lnTo>
                  <a:lnTo>
                    <a:pt x="262772" y="0"/>
                  </a:lnTo>
                  <a:lnTo>
                    <a:pt x="262772" y="131953"/>
                  </a:lnTo>
                  <a:lnTo>
                    <a:pt x="401484" y="131953"/>
                  </a:lnTo>
                  <a:lnTo>
                    <a:pt x="401484" y="256170"/>
                  </a:lnTo>
                  <a:lnTo>
                    <a:pt x="262772" y="256170"/>
                  </a:lnTo>
                  <a:lnTo>
                    <a:pt x="262772" y="388124"/>
                  </a:lnTo>
                  <a:lnTo>
                    <a:pt x="138711" y="388124"/>
                  </a:lnTo>
                  <a:lnTo>
                    <a:pt x="138711" y="256170"/>
                  </a:lnTo>
                  <a:lnTo>
                    <a:pt x="0" y="256170"/>
                  </a:lnTo>
                  <a:lnTo>
                    <a:pt x="0" y="131953"/>
                  </a:lnTo>
                  <a:close/>
                </a:path>
              </a:pathLst>
            </a:custGeom>
            <a:ln w="7068">
              <a:solidFill>
                <a:srgbClr val="B0007D"/>
              </a:solidFill>
            </a:ln>
          </p:spPr>
          <p:txBody>
            <a:bodyPr wrap="square" lIns="0" tIns="0" rIns="0" bIns="0" rtlCol="0"/>
            <a:lstStyle/>
            <a:p>
              <a:endParaRPr dirty="0"/>
            </a:p>
          </p:txBody>
        </p:sp>
        <p:pic>
          <p:nvPicPr>
            <p:cNvPr id="16" name="object 16"/>
            <p:cNvPicPr/>
            <p:nvPr/>
          </p:nvPicPr>
          <p:blipFill>
            <a:blip r:embed="rId12" cstate="print"/>
            <a:stretch>
              <a:fillRect/>
            </a:stretch>
          </p:blipFill>
          <p:spPr>
            <a:xfrm>
              <a:off x="3693160" y="3863339"/>
              <a:ext cx="484632" cy="192024"/>
            </a:xfrm>
            <a:prstGeom prst="rect">
              <a:avLst/>
            </a:prstGeom>
          </p:spPr>
        </p:pic>
        <p:pic>
          <p:nvPicPr>
            <p:cNvPr id="17" name="object 17"/>
            <p:cNvPicPr/>
            <p:nvPr/>
          </p:nvPicPr>
          <p:blipFill>
            <a:blip r:embed="rId13" cstate="print"/>
            <a:stretch>
              <a:fillRect/>
            </a:stretch>
          </p:blipFill>
          <p:spPr>
            <a:xfrm>
              <a:off x="3728910" y="3880152"/>
              <a:ext cx="415328" cy="121997"/>
            </a:xfrm>
            <a:prstGeom prst="rect">
              <a:avLst/>
            </a:prstGeom>
          </p:spPr>
        </p:pic>
        <p:sp>
          <p:nvSpPr>
            <p:cNvPr id="18" name="object 18"/>
            <p:cNvSpPr/>
            <p:nvPr/>
          </p:nvSpPr>
          <p:spPr>
            <a:xfrm>
              <a:off x="3728910" y="3880152"/>
              <a:ext cx="415925" cy="122555"/>
            </a:xfrm>
            <a:custGeom>
              <a:avLst/>
              <a:gdLst/>
              <a:ahLst/>
              <a:cxnLst/>
              <a:rect l="l" t="t" r="r" b="b"/>
              <a:pathLst>
                <a:path w="415925" h="122554">
                  <a:moveTo>
                    <a:pt x="0" y="0"/>
                  </a:moveTo>
                  <a:lnTo>
                    <a:pt x="415328" y="0"/>
                  </a:lnTo>
                  <a:lnTo>
                    <a:pt x="415328" y="121997"/>
                  </a:lnTo>
                  <a:lnTo>
                    <a:pt x="0" y="121997"/>
                  </a:lnTo>
                  <a:lnTo>
                    <a:pt x="0" y="0"/>
                  </a:lnTo>
                  <a:close/>
                </a:path>
              </a:pathLst>
            </a:custGeom>
            <a:ln w="7072">
              <a:solidFill>
                <a:srgbClr val="84BD00"/>
              </a:solidFill>
            </a:ln>
          </p:spPr>
          <p:txBody>
            <a:bodyPr wrap="square" lIns="0" tIns="0" rIns="0" bIns="0" rtlCol="0"/>
            <a:lstStyle/>
            <a:p>
              <a:endParaRPr dirty="0"/>
            </a:p>
          </p:txBody>
        </p:sp>
        <p:pic>
          <p:nvPicPr>
            <p:cNvPr id="19" name="object 19"/>
            <p:cNvPicPr/>
            <p:nvPr/>
          </p:nvPicPr>
          <p:blipFill>
            <a:blip r:embed="rId14" cstate="print"/>
            <a:stretch>
              <a:fillRect/>
            </a:stretch>
          </p:blipFill>
          <p:spPr>
            <a:xfrm>
              <a:off x="3748024" y="4585716"/>
              <a:ext cx="1234439" cy="694944"/>
            </a:xfrm>
            <a:prstGeom prst="rect">
              <a:avLst/>
            </a:prstGeom>
          </p:spPr>
        </p:pic>
        <p:pic>
          <p:nvPicPr>
            <p:cNvPr id="20" name="object 20"/>
            <p:cNvPicPr/>
            <p:nvPr/>
          </p:nvPicPr>
          <p:blipFill>
            <a:blip r:embed="rId15" cstate="print"/>
            <a:stretch>
              <a:fillRect/>
            </a:stretch>
          </p:blipFill>
          <p:spPr>
            <a:xfrm>
              <a:off x="4543312" y="5086193"/>
              <a:ext cx="874379" cy="656602"/>
            </a:xfrm>
            <a:prstGeom prst="rect">
              <a:avLst/>
            </a:prstGeom>
          </p:spPr>
        </p:pic>
        <p:pic>
          <p:nvPicPr>
            <p:cNvPr id="21" name="object 21"/>
            <p:cNvPicPr/>
            <p:nvPr/>
          </p:nvPicPr>
          <p:blipFill>
            <a:blip r:embed="rId16" cstate="print"/>
            <a:stretch>
              <a:fillRect/>
            </a:stretch>
          </p:blipFill>
          <p:spPr>
            <a:xfrm>
              <a:off x="3681191" y="5315593"/>
              <a:ext cx="779119" cy="520061"/>
            </a:xfrm>
            <a:prstGeom prst="rect">
              <a:avLst/>
            </a:prstGeom>
          </p:spPr>
        </p:pic>
        <p:pic>
          <p:nvPicPr>
            <p:cNvPr id="22" name="object 22"/>
            <p:cNvPicPr/>
            <p:nvPr/>
          </p:nvPicPr>
          <p:blipFill>
            <a:blip r:embed="rId17" cstate="print"/>
            <a:stretch>
              <a:fillRect/>
            </a:stretch>
          </p:blipFill>
          <p:spPr>
            <a:xfrm>
              <a:off x="3833368" y="5329427"/>
              <a:ext cx="469391" cy="457200"/>
            </a:xfrm>
            <a:prstGeom prst="rect">
              <a:avLst/>
            </a:prstGeom>
          </p:spPr>
        </p:pic>
        <p:pic>
          <p:nvPicPr>
            <p:cNvPr id="23" name="object 23"/>
            <p:cNvPicPr/>
            <p:nvPr/>
          </p:nvPicPr>
          <p:blipFill>
            <a:blip r:embed="rId18" cstate="print"/>
            <a:stretch>
              <a:fillRect/>
            </a:stretch>
          </p:blipFill>
          <p:spPr>
            <a:xfrm>
              <a:off x="3867701" y="5345630"/>
              <a:ext cx="401483" cy="388124"/>
            </a:xfrm>
            <a:prstGeom prst="rect">
              <a:avLst/>
            </a:prstGeom>
          </p:spPr>
        </p:pic>
        <p:sp>
          <p:nvSpPr>
            <p:cNvPr id="24" name="object 24"/>
            <p:cNvSpPr/>
            <p:nvPr/>
          </p:nvSpPr>
          <p:spPr>
            <a:xfrm>
              <a:off x="3867700" y="5345630"/>
              <a:ext cx="401955" cy="388620"/>
            </a:xfrm>
            <a:custGeom>
              <a:avLst/>
              <a:gdLst/>
              <a:ahLst/>
              <a:cxnLst/>
              <a:rect l="l" t="t" r="r" b="b"/>
              <a:pathLst>
                <a:path w="401954" h="388620">
                  <a:moveTo>
                    <a:pt x="0" y="131953"/>
                  </a:moveTo>
                  <a:lnTo>
                    <a:pt x="138711" y="131953"/>
                  </a:lnTo>
                  <a:lnTo>
                    <a:pt x="138711" y="0"/>
                  </a:lnTo>
                  <a:lnTo>
                    <a:pt x="262772" y="0"/>
                  </a:lnTo>
                  <a:lnTo>
                    <a:pt x="262772" y="131953"/>
                  </a:lnTo>
                  <a:lnTo>
                    <a:pt x="401484" y="131953"/>
                  </a:lnTo>
                  <a:lnTo>
                    <a:pt x="401484" y="256170"/>
                  </a:lnTo>
                  <a:lnTo>
                    <a:pt x="262772" y="256170"/>
                  </a:lnTo>
                  <a:lnTo>
                    <a:pt x="262772" y="388124"/>
                  </a:lnTo>
                  <a:lnTo>
                    <a:pt x="138711" y="388124"/>
                  </a:lnTo>
                  <a:lnTo>
                    <a:pt x="138711" y="256170"/>
                  </a:lnTo>
                  <a:lnTo>
                    <a:pt x="0" y="256170"/>
                  </a:lnTo>
                  <a:lnTo>
                    <a:pt x="0" y="131953"/>
                  </a:lnTo>
                  <a:close/>
                </a:path>
              </a:pathLst>
            </a:custGeom>
            <a:ln w="7068">
              <a:solidFill>
                <a:srgbClr val="B0007D"/>
              </a:solidFill>
            </a:ln>
          </p:spPr>
          <p:txBody>
            <a:bodyPr wrap="square" lIns="0" tIns="0" rIns="0" bIns="0" rtlCol="0"/>
            <a:lstStyle/>
            <a:p>
              <a:endParaRPr dirty="0"/>
            </a:p>
          </p:txBody>
        </p:sp>
        <p:pic>
          <p:nvPicPr>
            <p:cNvPr id="25" name="object 25"/>
            <p:cNvPicPr/>
            <p:nvPr/>
          </p:nvPicPr>
          <p:blipFill>
            <a:blip r:embed="rId19" cstate="print"/>
            <a:stretch>
              <a:fillRect/>
            </a:stretch>
          </p:blipFill>
          <p:spPr>
            <a:xfrm>
              <a:off x="4720336" y="5332476"/>
              <a:ext cx="484632" cy="192024"/>
            </a:xfrm>
            <a:prstGeom prst="rect">
              <a:avLst/>
            </a:prstGeom>
          </p:spPr>
        </p:pic>
        <p:pic>
          <p:nvPicPr>
            <p:cNvPr id="26" name="object 26"/>
            <p:cNvPicPr/>
            <p:nvPr/>
          </p:nvPicPr>
          <p:blipFill>
            <a:blip r:embed="rId20" cstate="print"/>
            <a:stretch>
              <a:fillRect/>
            </a:stretch>
          </p:blipFill>
          <p:spPr>
            <a:xfrm>
              <a:off x="4755598" y="5351376"/>
              <a:ext cx="415329" cy="121998"/>
            </a:xfrm>
            <a:prstGeom prst="rect">
              <a:avLst/>
            </a:prstGeom>
          </p:spPr>
        </p:pic>
        <p:sp>
          <p:nvSpPr>
            <p:cNvPr id="27" name="object 27"/>
            <p:cNvSpPr/>
            <p:nvPr/>
          </p:nvSpPr>
          <p:spPr>
            <a:xfrm>
              <a:off x="4755598" y="5351376"/>
              <a:ext cx="415925" cy="122555"/>
            </a:xfrm>
            <a:custGeom>
              <a:avLst/>
              <a:gdLst/>
              <a:ahLst/>
              <a:cxnLst/>
              <a:rect l="l" t="t" r="r" b="b"/>
              <a:pathLst>
                <a:path w="415925" h="122554">
                  <a:moveTo>
                    <a:pt x="0" y="0"/>
                  </a:moveTo>
                  <a:lnTo>
                    <a:pt x="415328" y="0"/>
                  </a:lnTo>
                  <a:lnTo>
                    <a:pt x="415328" y="121997"/>
                  </a:lnTo>
                  <a:lnTo>
                    <a:pt x="0" y="121997"/>
                  </a:lnTo>
                  <a:lnTo>
                    <a:pt x="0" y="0"/>
                  </a:lnTo>
                  <a:close/>
                </a:path>
              </a:pathLst>
            </a:custGeom>
            <a:ln w="7072">
              <a:solidFill>
                <a:srgbClr val="84BD00"/>
              </a:solidFill>
            </a:ln>
          </p:spPr>
          <p:txBody>
            <a:bodyPr wrap="square" lIns="0" tIns="0" rIns="0" bIns="0" rtlCol="0"/>
            <a:lstStyle/>
            <a:p>
              <a:endParaRPr dirty="0"/>
            </a:p>
          </p:txBody>
        </p:sp>
        <p:pic>
          <p:nvPicPr>
            <p:cNvPr id="28" name="object 28"/>
            <p:cNvPicPr/>
            <p:nvPr/>
          </p:nvPicPr>
          <p:blipFill>
            <a:blip r:embed="rId21" cstate="print"/>
            <a:stretch>
              <a:fillRect/>
            </a:stretch>
          </p:blipFill>
          <p:spPr>
            <a:xfrm>
              <a:off x="4034536" y="4844795"/>
              <a:ext cx="484632" cy="188975"/>
            </a:xfrm>
            <a:prstGeom prst="rect">
              <a:avLst/>
            </a:prstGeom>
          </p:spPr>
        </p:pic>
        <p:pic>
          <p:nvPicPr>
            <p:cNvPr id="29" name="object 29"/>
            <p:cNvPicPr/>
            <p:nvPr/>
          </p:nvPicPr>
          <p:blipFill>
            <a:blip r:embed="rId22" cstate="print"/>
            <a:stretch>
              <a:fillRect/>
            </a:stretch>
          </p:blipFill>
          <p:spPr>
            <a:xfrm>
              <a:off x="4068000" y="4860968"/>
              <a:ext cx="415328" cy="121998"/>
            </a:xfrm>
            <a:prstGeom prst="rect">
              <a:avLst/>
            </a:prstGeom>
          </p:spPr>
        </p:pic>
        <p:sp>
          <p:nvSpPr>
            <p:cNvPr id="30" name="object 30"/>
            <p:cNvSpPr/>
            <p:nvPr/>
          </p:nvSpPr>
          <p:spPr>
            <a:xfrm>
              <a:off x="4068000" y="4860968"/>
              <a:ext cx="415925" cy="122555"/>
            </a:xfrm>
            <a:custGeom>
              <a:avLst/>
              <a:gdLst/>
              <a:ahLst/>
              <a:cxnLst/>
              <a:rect l="l" t="t" r="r" b="b"/>
              <a:pathLst>
                <a:path w="415925" h="122554">
                  <a:moveTo>
                    <a:pt x="0" y="0"/>
                  </a:moveTo>
                  <a:lnTo>
                    <a:pt x="415328" y="0"/>
                  </a:lnTo>
                  <a:lnTo>
                    <a:pt x="415328" y="121997"/>
                  </a:lnTo>
                  <a:lnTo>
                    <a:pt x="0" y="121997"/>
                  </a:lnTo>
                  <a:lnTo>
                    <a:pt x="0" y="0"/>
                  </a:lnTo>
                  <a:close/>
                </a:path>
              </a:pathLst>
            </a:custGeom>
            <a:ln w="7072">
              <a:solidFill>
                <a:srgbClr val="84BD00"/>
              </a:solidFill>
            </a:ln>
          </p:spPr>
          <p:txBody>
            <a:bodyPr wrap="square" lIns="0" tIns="0" rIns="0" bIns="0" rtlCol="0"/>
            <a:lstStyle/>
            <a:p>
              <a:endParaRPr dirty="0"/>
            </a:p>
          </p:txBody>
        </p:sp>
      </p:grpSp>
      <p:grpSp>
        <p:nvGrpSpPr>
          <p:cNvPr id="31" name="object 31"/>
          <p:cNvGrpSpPr/>
          <p:nvPr/>
        </p:nvGrpSpPr>
        <p:grpSpPr>
          <a:xfrm>
            <a:off x="1615316" y="4094929"/>
            <a:ext cx="1102591" cy="1081368"/>
            <a:chOff x="1776848" y="4640920"/>
            <a:chExt cx="1212850" cy="1225550"/>
          </a:xfrm>
        </p:grpSpPr>
        <p:pic>
          <p:nvPicPr>
            <p:cNvPr id="32" name="object 32"/>
            <p:cNvPicPr/>
            <p:nvPr/>
          </p:nvPicPr>
          <p:blipFill>
            <a:blip r:embed="rId23" cstate="print"/>
            <a:stretch>
              <a:fillRect/>
            </a:stretch>
          </p:blipFill>
          <p:spPr>
            <a:xfrm>
              <a:off x="1776848" y="4640920"/>
              <a:ext cx="898444" cy="674675"/>
            </a:xfrm>
            <a:prstGeom prst="rect">
              <a:avLst/>
            </a:prstGeom>
          </p:spPr>
        </p:pic>
        <p:pic>
          <p:nvPicPr>
            <p:cNvPr id="33" name="object 33"/>
            <p:cNvPicPr/>
            <p:nvPr/>
          </p:nvPicPr>
          <p:blipFill>
            <a:blip r:embed="rId24" cstate="print"/>
            <a:stretch>
              <a:fillRect/>
            </a:stretch>
          </p:blipFill>
          <p:spPr>
            <a:xfrm>
              <a:off x="2126488" y="5222748"/>
              <a:ext cx="862584" cy="643127"/>
            </a:xfrm>
            <a:prstGeom prst="rect">
              <a:avLst/>
            </a:prstGeom>
          </p:spPr>
        </p:pic>
      </p:grpSp>
      <p:sp>
        <p:nvSpPr>
          <p:cNvPr id="34" name="object 34"/>
          <p:cNvSpPr txBox="1"/>
          <p:nvPr/>
        </p:nvSpPr>
        <p:spPr>
          <a:xfrm>
            <a:off x="1705676" y="3726783"/>
            <a:ext cx="880918" cy="305360"/>
          </a:xfrm>
          <a:prstGeom prst="rect">
            <a:avLst/>
          </a:prstGeom>
        </p:spPr>
        <p:txBody>
          <a:bodyPr vert="horz" wrap="square" lIns="0" tIns="11397" rIns="0" bIns="0" rtlCol="0">
            <a:spAutoFit/>
          </a:bodyPr>
          <a:lstStyle/>
          <a:p>
            <a:pPr marL="11397">
              <a:spcBef>
                <a:spcPts val="90"/>
              </a:spcBef>
            </a:pPr>
            <a:r>
              <a:rPr sz="1900" spc="-18" dirty="0">
                <a:solidFill>
                  <a:srgbClr val="85BD05"/>
                </a:solidFill>
                <a:cs typeface="Calibri"/>
              </a:rPr>
              <a:t>Cluster</a:t>
            </a:r>
            <a:r>
              <a:rPr sz="1900" spc="-76" dirty="0">
                <a:solidFill>
                  <a:srgbClr val="85BD05"/>
                </a:solidFill>
                <a:cs typeface="Calibri"/>
              </a:rPr>
              <a:t> </a:t>
            </a:r>
            <a:r>
              <a:rPr sz="1900" dirty="0">
                <a:solidFill>
                  <a:srgbClr val="85BD05"/>
                </a:solidFill>
                <a:cs typeface="Calibri"/>
              </a:rPr>
              <a:t>1</a:t>
            </a:r>
            <a:endParaRPr sz="1900" dirty="0">
              <a:cs typeface="Calibri"/>
            </a:endParaRPr>
          </a:p>
        </p:txBody>
      </p:sp>
      <p:grpSp>
        <p:nvGrpSpPr>
          <p:cNvPr id="35" name="object 35"/>
          <p:cNvGrpSpPr/>
          <p:nvPr/>
        </p:nvGrpSpPr>
        <p:grpSpPr>
          <a:xfrm>
            <a:off x="1323570" y="2631589"/>
            <a:ext cx="1771073" cy="1205193"/>
            <a:chOff x="1455927" y="2982467"/>
            <a:chExt cx="1948180" cy="1365885"/>
          </a:xfrm>
        </p:grpSpPr>
        <p:pic>
          <p:nvPicPr>
            <p:cNvPr id="36" name="object 36"/>
            <p:cNvPicPr/>
            <p:nvPr/>
          </p:nvPicPr>
          <p:blipFill>
            <a:blip r:embed="rId25" cstate="print"/>
            <a:stretch>
              <a:fillRect/>
            </a:stretch>
          </p:blipFill>
          <p:spPr>
            <a:xfrm>
              <a:off x="1455927" y="2982467"/>
              <a:ext cx="1947672" cy="1365503"/>
            </a:xfrm>
            <a:prstGeom prst="rect">
              <a:avLst/>
            </a:prstGeom>
          </p:spPr>
        </p:pic>
        <p:sp>
          <p:nvSpPr>
            <p:cNvPr id="37" name="object 37"/>
            <p:cNvSpPr/>
            <p:nvPr/>
          </p:nvSpPr>
          <p:spPr>
            <a:xfrm>
              <a:off x="1497009" y="3021634"/>
              <a:ext cx="1827530" cy="1247775"/>
            </a:xfrm>
            <a:custGeom>
              <a:avLst/>
              <a:gdLst/>
              <a:ahLst/>
              <a:cxnLst/>
              <a:rect l="l" t="t" r="r" b="b"/>
              <a:pathLst>
                <a:path w="1827529" h="1247775">
                  <a:moveTo>
                    <a:pt x="0" y="0"/>
                  </a:moveTo>
                  <a:lnTo>
                    <a:pt x="1827318" y="0"/>
                  </a:lnTo>
                  <a:lnTo>
                    <a:pt x="1827318" y="1247285"/>
                  </a:lnTo>
                  <a:lnTo>
                    <a:pt x="0" y="1247285"/>
                  </a:lnTo>
                  <a:lnTo>
                    <a:pt x="0" y="0"/>
                  </a:lnTo>
                  <a:close/>
                </a:path>
              </a:pathLst>
            </a:custGeom>
            <a:ln w="42422">
              <a:solidFill>
                <a:srgbClr val="85BD05"/>
              </a:solidFill>
            </a:ln>
          </p:spPr>
          <p:txBody>
            <a:bodyPr wrap="square" lIns="0" tIns="0" rIns="0" bIns="0" rtlCol="0"/>
            <a:lstStyle/>
            <a:p>
              <a:endParaRPr dirty="0"/>
            </a:p>
          </p:txBody>
        </p:sp>
        <p:pic>
          <p:nvPicPr>
            <p:cNvPr id="38" name="object 38"/>
            <p:cNvPicPr/>
            <p:nvPr/>
          </p:nvPicPr>
          <p:blipFill>
            <a:blip r:embed="rId26" cstate="print"/>
            <a:stretch>
              <a:fillRect/>
            </a:stretch>
          </p:blipFill>
          <p:spPr>
            <a:xfrm>
              <a:off x="1733295" y="3177539"/>
              <a:ext cx="469392" cy="457200"/>
            </a:xfrm>
            <a:prstGeom prst="rect">
              <a:avLst/>
            </a:prstGeom>
          </p:spPr>
        </p:pic>
        <p:pic>
          <p:nvPicPr>
            <p:cNvPr id="39" name="object 39"/>
            <p:cNvPicPr/>
            <p:nvPr/>
          </p:nvPicPr>
          <p:blipFill>
            <a:blip r:embed="rId11" cstate="print"/>
            <a:stretch>
              <a:fillRect/>
            </a:stretch>
          </p:blipFill>
          <p:spPr>
            <a:xfrm>
              <a:off x="1767226" y="3195379"/>
              <a:ext cx="401483" cy="388124"/>
            </a:xfrm>
            <a:prstGeom prst="rect">
              <a:avLst/>
            </a:prstGeom>
          </p:spPr>
        </p:pic>
        <p:sp>
          <p:nvSpPr>
            <p:cNvPr id="40" name="object 40"/>
            <p:cNvSpPr/>
            <p:nvPr/>
          </p:nvSpPr>
          <p:spPr>
            <a:xfrm>
              <a:off x="1767226" y="3195379"/>
              <a:ext cx="401955" cy="388620"/>
            </a:xfrm>
            <a:custGeom>
              <a:avLst/>
              <a:gdLst/>
              <a:ahLst/>
              <a:cxnLst/>
              <a:rect l="l" t="t" r="r" b="b"/>
              <a:pathLst>
                <a:path w="401955" h="388620">
                  <a:moveTo>
                    <a:pt x="0" y="131953"/>
                  </a:moveTo>
                  <a:lnTo>
                    <a:pt x="138711" y="131953"/>
                  </a:lnTo>
                  <a:lnTo>
                    <a:pt x="138711" y="0"/>
                  </a:lnTo>
                  <a:lnTo>
                    <a:pt x="262772" y="0"/>
                  </a:lnTo>
                  <a:lnTo>
                    <a:pt x="262772" y="131953"/>
                  </a:lnTo>
                  <a:lnTo>
                    <a:pt x="401484" y="131953"/>
                  </a:lnTo>
                  <a:lnTo>
                    <a:pt x="401484" y="256170"/>
                  </a:lnTo>
                  <a:lnTo>
                    <a:pt x="262772" y="256170"/>
                  </a:lnTo>
                  <a:lnTo>
                    <a:pt x="262772" y="388124"/>
                  </a:lnTo>
                  <a:lnTo>
                    <a:pt x="138711" y="388124"/>
                  </a:lnTo>
                  <a:lnTo>
                    <a:pt x="138711" y="256170"/>
                  </a:lnTo>
                  <a:lnTo>
                    <a:pt x="0" y="256170"/>
                  </a:lnTo>
                  <a:lnTo>
                    <a:pt x="0" y="131953"/>
                  </a:lnTo>
                  <a:close/>
                </a:path>
              </a:pathLst>
            </a:custGeom>
            <a:ln w="7068">
              <a:solidFill>
                <a:srgbClr val="B0007D"/>
              </a:solidFill>
            </a:ln>
          </p:spPr>
          <p:txBody>
            <a:bodyPr wrap="square" lIns="0" tIns="0" rIns="0" bIns="0" rtlCol="0"/>
            <a:lstStyle/>
            <a:p>
              <a:endParaRPr dirty="0"/>
            </a:p>
          </p:txBody>
        </p:sp>
        <p:pic>
          <p:nvPicPr>
            <p:cNvPr id="41" name="object 41"/>
            <p:cNvPicPr/>
            <p:nvPr/>
          </p:nvPicPr>
          <p:blipFill>
            <a:blip r:embed="rId27" cstate="print"/>
            <a:stretch>
              <a:fillRect/>
            </a:stretch>
          </p:blipFill>
          <p:spPr>
            <a:xfrm>
              <a:off x="2504439" y="3083051"/>
              <a:ext cx="472439" cy="457200"/>
            </a:xfrm>
            <a:prstGeom prst="rect">
              <a:avLst/>
            </a:prstGeom>
          </p:spPr>
        </p:pic>
        <p:pic>
          <p:nvPicPr>
            <p:cNvPr id="42" name="object 42"/>
            <p:cNvPicPr/>
            <p:nvPr/>
          </p:nvPicPr>
          <p:blipFill>
            <a:blip r:embed="rId28" cstate="print"/>
            <a:stretch>
              <a:fillRect/>
            </a:stretch>
          </p:blipFill>
          <p:spPr>
            <a:xfrm>
              <a:off x="2539598" y="3101070"/>
              <a:ext cx="401483" cy="388123"/>
            </a:xfrm>
            <a:prstGeom prst="rect">
              <a:avLst/>
            </a:prstGeom>
          </p:spPr>
        </p:pic>
        <p:sp>
          <p:nvSpPr>
            <p:cNvPr id="43" name="object 43"/>
            <p:cNvSpPr/>
            <p:nvPr/>
          </p:nvSpPr>
          <p:spPr>
            <a:xfrm>
              <a:off x="2539598" y="3101070"/>
              <a:ext cx="401955" cy="388620"/>
            </a:xfrm>
            <a:custGeom>
              <a:avLst/>
              <a:gdLst/>
              <a:ahLst/>
              <a:cxnLst/>
              <a:rect l="l" t="t" r="r" b="b"/>
              <a:pathLst>
                <a:path w="401955" h="388620">
                  <a:moveTo>
                    <a:pt x="0" y="131953"/>
                  </a:moveTo>
                  <a:lnTo>
                    <a:pt x="138711" y="131953"/>
                  </a:lnTo>
                  <a:lnTo>
                    <a:pt x="138711" y="0"/>
                  </a:lnTo>
                  <a:lnTo>
                    <a:pt x="262772" y="0"/>
                  </a:lnTo>
                  <a:lnTo>
                    <a:pt x="262772" y="131953"/>
                  </a:lnTo>
                  <a:lnTo>
                    <a:pt x="401484" y="131953"/>
                  </a:lnTo>
                  <a:lnTo>
                    <a:pt x="401484" y="256170"/>
                  </a:lnTo>
                  <a:lnTo>
                    <a:pt x="262772" y="256170"/>
                  </a:lnTo>
                  <a:lnTo>
                    <a:pt x="262772" y="388124"/>
                  </a:lnTo>
                  <a:lnTo>
                    <a:pt x="138711" y="388124"/>
                  </a:lnTo>
                  <a:lnTo>
                    <a:pt x="138711" y="256170"/>
                  </a:lnTo>
                  <a:lnTo>
                    <a:pt x="0" y="256170"/>
                  </a:lnTo>
                  <a:lnTo>
                    <a:pt x="0" y="131953"/>
                  </a:lnTo>
                  <a:close/>
                </a:path>
              </a:pathLst>
            </a:custGeom>
            <a:ln w="7068">
              <a:solidFill>
                <a:srgbClr val="B0007D"/>
              </a:solidFill>
            </a:ln>
          </p:spPr>
          <p:txBody>
            <a:bodyPr wrap="square" lIns="0" tIns="0" rIns="0" bIns="0" rtlCol="0"/>
            <a:lstStyle/>
            <a:p>
              <a:endParaRPr dirty="0"/>
            </a:p>
          </p:txBody>
        </p:sp>
        <p:pic>
          <p:nvPicPr>
            <p:cNvPr id="44" name="object 44"/>
            <p:cNvPicPr/>
            <p:nvPr/>
          </p:nvPicPr>
          <p:blipFill>
            <a:blip r:embed="rId29" cstate="print"/>
            <a:stretch>
              <a:fillRect/>
            </a:stretch>
          </p:blipFill>
          <p:spPr>
            <a:xfrm>
              <a:off x="2617216" y="3631691"/>
              <a:ext cx="472440" cy="457200"/>
            </a:xfrm>
            <a:prstGeom prst="rect">
              <a:avLst/>
            </a:prstGeom>
          </p:spPr>
        </p:pic>
        <p:pic>
          <p:nvPicPr>
            <p:cNvPr id="45" name="object 45"/>
            <p:cNvPicPr/>
            <p:nvPr/>
          </p:nvPicPr>
          <p:blipFill>
            <a:blip r:embed="rId30" cstate="print"/>
            <a:stretch>
              <a:fillRect/>
            </a:stretch>
          </p:blipFill>
          <p:spPr>
            <a:xfrm>
              <a:off x="2652628" y="3648063"/>
              <a:ext cx="401483" cy="388124"/>
            </a:xfrm>
            <a:prstGeom prst="rect">
              <a:avLst/>
            </a:prstGeom>
          </p:spPr>
        </p:pic>
        <p:sp>
          <p:nvSpPr>
            <p:cNvPr id="46" name="object 46"/>
            <p:cNvSpPr/>
            <p:nvPr/>
          </p:nvSpPr>
          <p:spPr>
            <a:xfrm>
              <a:off x="2652628" y="3648063"/>
              <a:ext cx="401955" cy="388620"/>
            </a:xfrm>
            <a:custGeom>
              <a:avLst/>
              <a:gdLst/>
              <a:ahLst/>
              <a:cxnLst/>
              <a:rect l="l" t="t" r="r" b="b"/>
              <a:pathLst>
                <a:path w="401955" h="388620">
                  <a:moveTo>
                    <a:pt x="0" y="131953"/>
                  </a:moveTo>
                  <a:lnTo>
                    <a:pt x="138711" y="131953"/>
                  </a:lnTo>
                  <a:lnTo>
                    <a:pt x="138711" y="0"/>
                  </a:lnTo>
                  <a:lnTo>
                    <a:pt x="262772" y="0"/>
                  </a:lnTo>
                  <a:lnTo>
                    <a:pt x="262772" y="131953"/>
                  </a:lnTo>
                  <a:lnTo>
                    <a:pt x="401484" y="131953"/>
                  </a:lnTo>
                  <a:lnTo>
                    <a:pt x="401484" y="256170"/>
                  </a:lnTo>
                  <a:lnTo>
                    <a:pt x="262772" y="256170"/>
                  </a:lnTo>
                  <a:lnTo>
                    <a:pt x="262772" y="388124"/>
                  </a:lnTo>
                  <a:lnTo>
                    <a:pt x="138711" y="388124"/>
                  </a:lnTo>
                  <a:lnTo>
                    <a:pt x="138711" y="256170"/>
                  </a:lnTo>
                  <a:lnTo>
                    <a:pt x="0" y="256170"/>
                  </a:lnTo>
                  <a:lnTo>
                    <a:pt x="0" y="131953"/>
                  </a:lnTo>
                  <a:close/>
                </a:path>
              </a:pathLst>
            </a:custGeom>
            <a:ln w="7068">
              <a:solidFill>
                <a:srgbClr val="B0007D"/>
              </a:solidFill>
            </a:ln>
          </p:spPr>
          <p:txBody>
            <a:bodyPr wrap="square" lIns="0" tIns="0" rIns="0" bIns="0" rtlCol="0"/>
            <a:lstStyle/>
            <a:p>
              <a:endParaRPr dirty="0"/>
            </a:p>
          </p:txBody>
        </p:sp>
      </p:grpSp>
      <p:sp>
        <p:nvSpPr>
          <p:cNvPr id="47" name="object 47"/>
          <p:cNvSpPr txBox="1"/>
          <p:nvPr/>
        </p:nvSpPr>
        <p:spPr>
          <a:xfrm>
            <a:off x="1323570" y="5152171"/>
            <a:ext cx="1402464" cy="303896"/>
          </a:xfrm>
          <a:prstGeom prst="rect">
            <a:avLst/>
          </a:prstGeom>
        </p:spPr>
        <p:txBody>
          <a:bodyPr vert="horz" wrap="square" lIns="0" tIns="11397" rIns="0" bIns="0" rtlCol="0">
            <a:spAutoFit/>
          </a:bodyPr>
          <a:lstStyle/>
          <a:p>
            <a:pPr marL="11397">
              <a:spcBef>
                <a:spcPts val="90"/>
              </a:spcBef>
            </a:pPr>
            <a:r>
              <a:rPr sz="1900" spc="-18" dirty="0">
                <a:solidFill>
                  <a:srgbClr val="B0007E"/>
                </a:solidFill>
                <a:cs typeface="Calibri"/>
              </a:rPr>
              <a:t>Cluster</a:t>
            </a:r>
            <a:r>
              <a:rPr sz="1900" spc="-76" dirty="0">
                <a:solidFill>
                  <a:srgbClr val="B0007E"/>
                </a:solidFill>
                <a:cs typeface="Calibri"/>
              </a:rPr>
              <a:t> </a:t>
            </a:r>
            <a:r>
              <a:rPr sz="1900" dirty="0">
                <a:solidFill>
                  <a:srgbClr val="B0007E"/>
                </a:solidFill>
                <a:cs typeface="Calibri"/>
              </a:rPr>
              <a:t>3</a:t>
            </a:r>
            <a:endParaRPr sz="1900" dirty="0">
              <a:cs typeface="Calibri"/>
            </a:endParaRPr>
          </a:p>
        </p:txBody>
      </p:sp>
      <p:grpSp>
        <p:nvGrpSpPr>
          <p:cNvPr id="48" name="object 48"/>
          <p:cNvGrpSpPr/>
          <p:nvPr/>
        </p:nvGrpSpPr>
        <p:grpSpPr>
          <a:xfrm>
            <a:off x="1340196" y="4054287"/>
            <a:ext cx="1773382" cy="1207994"/>
            <a:chOff x="1474216" y="4594859"/>
            <a:chExt cx="1950720" cy="1369060"/>
          </a:xfrm>
        </p:grpSpPr>
        <p:pic>
          <p:nvPicPr>
            <p:cNvPr id="49" name="object 49"/>
            <p:cNvPicPr/>
            <p:nvPr/>
          </p:nvPicPr>
          <p:blipFill>
            <a:blip r:embed="rId31" cstate="print"/>
            <a:stretch>
              <a:fillRect/>
            </a:stretch>
          </p:blipFill>
          <p:spPr>
            <a:xfrm>
              <a:off x="1474216" y="4594859"/>
              <a:ext cx="1950720" cy="1368552"/>
            </a:xfrm>
            <a:prstGeom prst="rect">
              <a:avLst/>
            </a:prstGeom>
          </p:spPr>
        </p:pic>
        <p:sp>
          <p:nvSpPr>
            <p:cNvPr id="50" name="object 50"/>
            <p:cNvSpPr/>
            <p:nvPr/>
          </p:nvSpPr>
          <p:spPr>
            <a:xfrm>
              <a:off x="1515849" y="4634322"/>
              <a:ext cx="1827530" cy="1247775"/>
            </a:xfrm>
            <a:custGeom>
              <a:avLst/>
              <a:gdLst/>
              <a:ahLst/>
              <a:cxnLst/>
              <a:rect l="l" t="t" r="r" b="b"/>
              <a:pathLst>
                <a:path w="1827529" h="1247775">
                  <a:moveTo>
                    <a:pt x="0" y="0"/>
                  </a:moveTo>
                  <a:lnTo>
                    <a:pt x="1827318" y="0"/>
                  </a:lnTo>
                  <a:lnTo>
                    <a:pt x="1827318" y="1247285"/>
                  </a:lnTo>
                  <a:lnTo>
                    <a:pt x="0" y="1247285"/>
                  </a:lnTo>
                  <a:lnTo>
                    <a:pt x="0" y="0"/>
                  </a:lnTo>
                  <a:close/>
                </a:path>
              </a:pathLst>
            </a:custGeom>
            <a:ln w="42422">
              <a:solidFill>
                <a:srgbClr val="B0007E"/>
              </a:solidFill>
            </a:ln>
          </p:spPr>
          <p:txBody>
            <a:bodyPr wrap="square" lIns="0" tIns="0" rIns="0" bIns="0" rtlCol="0"/>
            <a:lstStyle/>
            <a:p>
              <a:endParaRPr dirty="0"/>
            </a:p>
          </p:txBody>
        </p:sp>
        <p:pic>
          <p:nvPicPr>
            <p:cNvPr id="51" name="object 51"/>
            <p:cNvPicPr/>
            <p:nvPr/>
          </p:nvPicPr>
          <p:blipFill>
            <a:blip r:embed="rId32" cstate="print"/>
            <a:stretch>
              <a:fillRect/>
            </a:stretch>
          </p:blipFill>
          <p:spPr>
            <a:xfrm>
              <a:off x="1971040" y="4872227"/>
              <a:ext cx="484631" cy="192024"/>
            </a:xfrm>
            <a:prstGeom prst="rect">
              <a:avLst/>
            </a:prstGeom>
          </p:spPr>
        </p:pic>
        <p:pic>
          <p:nvPicPr>
            <p:cNvPr id="52" name="object 52"/>
            <p:cNvPicPr/>
            <p:nvPr/>
          </p:nvPicPr>
          <p:blipFill>
            <a:blip r:embed="rId20" cstate="print"/>
            <a:stretch>
              <a:fillRect/>
            </a:stretch>
          </p:blipFill>
          <p:spPr>
            <a:xfrm>
              <a:off x="2005202" y="4889260"/>
              <a:ext cx="415328" cy="121997"/>
            </a:xfrm>
            <a:prstGeom prst="rect">
              <a:avLst/>
            </a:prstGeom>
          </p:spPr>
        </p:pic>
        <p:sp>
          <p:nvSpPr>
            <p:cNvPr id="53" name="object 53"/>
            <p:cNvSpPr/>
            <p:nvPr/>
          </p:nvSpPr>
          <p:spPr>
            <a:xfrm>
              <a:off x="2005202" y="4889261"/>
              <a:ext cx="415925" cy="122555"/>
            </a:xfrm>
            <a:custGeom>
              <a:avLst/>
              <a:gdLst/>
              <a:ahLst/>
              <a:cxnLst/>
              <a:rect l="l" t="t" r="r" b="b"/>
              <a:pathLst>
                <a:path w="415925" h="122554">
                  <a:moveTo>
                    <a:pt x="0" y="0"/>
                  </a:moveTo>
                  <a:lnTo>
                    <a:pt x="415328" y="0"/>
                  </a:lnTo>
                  <a:lnTo>
                    <a:pt x="415328" y="121997"/>
                  </a:lnTo>
                  <a:lnTo>
                    <a:pt x="0" y="121997"/>
                  </a:lnTo>
                  <a:lnTo>
                    <a:pt x="0" y="0"/>
                  </a:lnTo>
                  <a:close/>
                </a:path>
              </a:pathLst>
            </a:custGeom>
            <a:ln w="7072">
              <a:solidFill>
                <a:srgbClr val="84BD00"/>
              </a:solidFill>
            </a:ln>
          </p:spPr>
          <p:txBody>
            <a:bodyPr wrap="square" lIns="0" tIns="0" rIns="0" bIns="0" rtlCol="0"/>
            <a:lstStyle/>
            <a:p>
              <a:endParaRPr dirty="0"/>
            </a:p>
          </p:txBody>
        </p:sp>
      </p:grpSp>
      <p:sp>
        <p:nvSpPr>
          <p:cNvPr id="54" name="object 54"/>
          <p:cNvSpPr txBox="1"/>
          <p:nvPr/>
        </p:nvSpPr>
        <p:spPr>
          <a:xfrm>
            <a:off x="3299133" y="5136035"/>
            <a:ext cx="1250244" cy="303896"/>
          </a:xfrm>
          <a:prstGeom prst="rect">
            <a:avLst/>
          </a:prstGeom>
        </p:spPr>
        <p:txBody>
          <a:bodyPr vert="horz" wrap="square" lIns="0" tIns="11397" rIns="0" bIns="0" rtlCol="0">
            <a:spAutoFit/>
          </a:bodyPr>
          <a:lstStyle/>
          <a:p>
            <a:pPr marL="11397">
              <a:spcBef>
                <a:spcPts val="90"/>
              </a:spcBef>
            </a:pPr>
            <a:r>
              <a:rPr sz="1900" spc="-18" dirty="0">
                <a:solidFill>
                  <a:srgbClr val="FC5507"/>
                </a:solidFill>
                <a:cs typeface="Calibri"/>
              </a:rPr>
              <a:t>Cluster</a:t>
            </a:r>
            <a:r>
              <a:rPr sz="1900" spc="-76" dirty="0">
                <a:solidFill>
                  <a:srgbClr val="FC5507"/>
                </a:solidFill>
                <a:cs typeface="Calibri"/>
              </a:rPr>
              <a:t> </a:t>
            </a:r>
            <a:r>
              <a:rPr sz="1900" dirty="0">
                <a:solidFill>
                  <a:srgbClr val="FC5507"/>
                </a:solidFill>
                <a:cs typeface="Calibri"/>
              </a:rPr>
              <a:t>4</a:t>
            </a:r>
            <a:endParaRPr sz="1900" dirty="0">
              <a:cs typeface="Calibri"/>
            </a:endParaRPr>
          </a:p>
        </p:txBody>
      </p:sp>
      <p:grpSp>
        <p:nvGrpSpPr>
          <p:cNvPr id="55" name="object 55"/>
          <p:cNvGrpSpPr/>
          <p:nvPr/>
        </p:nvGrpSpPr>
        <p:grpSpPr>
          <a:xfrm>
            <a:off x="3224414" y="3995121"/>
            <a:ext cx="1909618" cy="1239931"/>
            <a:chOff x="3546855" y="4527803"/>
            <a:chExt cx="2100580" cy="1405255"/>
          </a:xfrm>
        </p:grpSpPr>
        <p:pic>
          <p:nvPicPr>
            <p:cNvPr id="56" name="object 56"/>
            <p:cNvPicPr/>
            <p:nvPr/>
          </p:nvPicPr>
          <p:blipFill>
            <a:blip r:embed="rId33" cstate="print"/>
            <a:stretch>
              <a:fillRect/>
            </a:stretch>
          </p:blipFill>
          <p:spPr>
            <a:xfrm>
              <a:off x="3546855" y="4527803"/>
              <a:ext cx="2100072" cy="1405128"/>
            </a:xfrm>
            <a:prstGeom prst="rect">
              <a:avLst/>
            </a:prstGeom>
          </p:spPr>
        </p:pic>
        <p:sp>
          <p:nvSpPr>
            <p:cNvPr id="57" name="object 57"/>
            <p:cNvSpPr/>
            <p:nvPr/>
          </p:nvSpPr>
          <p:spPr>
            <a:xfrm>
              <a:off x="3588064" y="4568306"/>
              <a:ext cx="1978025" cy="1285240"/>
            </a:xfrm>
            <a:custGeom>
              <a:avLst/>
              <a:gdLst/>
              <a:ahLst/>
              <a:cxnLst/>
              <a:rect l="l" t="t" r="r" b="b"/>
              <a:pathLst>
                <a:path w="1978025" h="1285239">
                  <a:moveTo>
                    <a:pt x="0" y="0"/>
                  </a:moveTo>
                  <a:lnTo>
                    <a:pt x="1978024" y="0"/>
                  </a:lnTo>
                  <a:lnTo>
                    <a:pt x="1978024" y="1285009"/>
                  </a:lnTo>
                  <a:lnTo>
                    <a:pt x="0" y="1285009"/>
                  </a:lnTo>
                  <a:lnTo>
                    <a:pt x="0" y="0"/>
                  </a:lnTo>
                  <a:close/>
                </a:path>
              </a:pathLst>
            </a:custGeom>
            <a:ln w="42423">
              <a:solidFill>
                <a:srgbClr val="FC5507"/>
              </a:solidFill>
            </a:ln>
          </p:spPr>
          <p:txBody>
            <a:bodyPr wrap="square" lIns="0" tIns="0" rIns="0" bIns="0" rtlCol="0"/>
            <a:lstStyle/>
            <a:p>
              <a:endParaRPr dirty="0"/>
            </a:p>
          </p:txBody>
        </p:sp>
      </p:grpSp>
      <p:sp>
        <p:nvSpPr>
          <p:cNvPr id="58" name="object 58"/>
          <p:cNvSpPr txBox="1"/>
          <p:nvPr/>
        </p:nvSpPr>
        <p:spPr>
          <a:xfrm>
            <a:off x="3699053" y="3726783"/>
            <a:ext cx="880918" cy="596284"/>
          </a:xfrm>
          <a:prstGeom prst="rect">
            <a:avLst/>
          </a:prstGeom>
        </p:spPr>
        <p:txBody>
          <a:bodyPr vert="horz" wrap="square" lIns="0" tIns="11397" rIns="0" bIns="0" rtlCol="0">
            <a:spAutoFit/>
          </a:bodyPr>
          <a:lstStyle/>
          <a:p>
            <a:pPr marL="11397">
              <a:spcBef>
                <a:spcPts val="90"/>
              </a:spcBef>
            </a:pPr>
            <a:r>
              <a:rPr sz="1900" spc="-18" dirty="0">
                <a:solidFill>
                  <a:srgbClr val="118CC4"/>
                </a:solidFill>
                <a:cs typeface="Calibri"/>
              </a:rPr>
              <a:t>Cluster</a:t>
            </a:r>
            <a:r>
              <a:rPr sz="1900" spc="-76" dirty="0">
                <a:solidFill>
                  <a:srgbClr val="118CC4"/>
                </a:solidFill>
                <a:cs typeface="Calibri"/>
              </a:rPr>
              <a:t> </a:t>
            </a:r>
            <a:r>
              <a:rPr sz="1900" dirty="0">
                <a:solidFill>
                  <a:srgbClr val="118CC4"/>
                </a:solidFill>
                <a:cs typeface="Calibri"/>
              </a:rPr>
              <a:t>2</a:t>
            </a:r>
            <a:endParaRPr sz="1900" dirty="0">
              <a:cs typeface="Calibri"/>
            </a:endParaRPr>
          </a:p>
        </p:txBody>
      </p:sp>
      <p:grpSp>
        <p:nvGrpSpPr>
          <p:cNvPr id="59" name="object 59"/>
          <p:cNvGrpSpPr/>
          <p:nvPr/>
        </p:nvGrpSpPr>
        <p:grpSpPr>
          <a:xfrm>
            <a:off x="3207789" y="2529392"/>
            <a:ext cx="3942195" cy="2667000"/>
            <a:chOff x="3528567" y="2866644"/>
            <a:chExt cx="4336415" cy="3022600"/>
          </a:xfrm>
        </p:grpSpPr>
        <p:pic>
          <p:nvPicPr>
            <p:cNvPr id="60" name="object 60"/>
            <p:cNvPicPr/>
            <p:nvPr/>
          </p:nvPicPr>
          <p:blipFill>
            <a:blip r:embed="rId34" cstate="print"/>
            <a:stretch>
              <a:fillRect/>
            </a:stretch>
          </p:blipFill>
          <p:spPr>
            <a:xfrm>
              <a:off x="3528567" y="2866644"/>
              <a:ext cx="2100072" cy="1472184"/>
            </a:xfrm>
            <a:prstGeom prst="rect">
              <a:avLst/>
            </a:prstGeom>
          </p:spPr>
        </p:pic>
        <p:sp>
          <p:nvSpPr>
            <p:cNvPr id="61" name="object 61"/>
            <p:cNvSpPr/>
            <p:nvPr/>
          </p:nvSpPr>
          <p:spPr>
            <a:xfrm>
              <a:off x="3569227" y="2908465"/>
              <a:ext cx="1978025" cy="1351280"/>
            </a:xfrm>
            <a:custGeom>
              <a:avLst/>
              <a:gdLst/>
              <a:ahLst/>
              <a:cxnLst/>
              <a:rect l="l" t="t" r="r" b="b"/>
              <a:pathLst>
                <a:path w="1978025" h="1351279">
                  <a:moveTo>
                    <a:pt x="0" y="0"/>
                  </a:moveTo>
                  <a:lnTo>
                    <a:pt x="1978024" y="0"/>
                  </a:lnTo>
                  <a:lnTo>
                    <a:pt x="1978024" y="1351025"/>
                  </a:lnTo>
                  <a:lnTo>
                    <a:pt x="0" y="1351025"/>
                  </a:lnTo>
                  <a:lnTo>
                    <a:pt x="0" y="0"/>
                  </a:lnTo>
                  <a:close/>
                </a:path>
              </a:pathLst>
            </a:custGeom>
            <a:ln w="42422">
              <a:solidFill>
                <a:srgbClr val="118CC4"/>
              </a:solidFill>
            </a:ln>
          </p:spPr>
          <p:txBody>
            <a:bodyPr wrap="square" lIns="0" tIns="0" rIns="0" bIns="0" rtlCol="0"/>
            <a:lstStyle/>
            <a:p>
              <a:endParaRPr dirty="0"/>
            </a:p>
          </p:txBody>
        </p:sp>
        <p:sp>
          <p:nvSpPr>
            <p:cNvPr id="62" name="object 62"/>
            <p:cNvSpPr/>
            <p:nvPr/>
          </p:nvSpPr>
          <p:spPr>
            <a:xfrm>
              <a:off x="5679119" y="4360826"/>
              <a:ext cx="2185670" cy="1527810"/>
            </a:xfrm>
            <a:custGeom>
              <a:avLst/>
              <a:gdLst/>
              <a:ahLst/>
              <a:cxnLst/>
              <a:rect l="l" t="t" r="r" b="b"/>
              <a:pathLst>
                <a:path w="2185670" h="1527810">
                  <a:moveTo>
                    <a:pt x="2185247" y="0"/>
                  </a:moveTo>
                  <a:lnTo>
                    <a:pt x="0" y="0"/>
                  </a:lnTo>
                  <a:lnTo>
                    <a:pt x="0" y="1527809"/>
                  </a:lnTo>
                  <a:lnTo>
                    <a:pt x="2185247" y="1527809"/>
                  </a:lnTo>
                  <a:lnTo>
                    <a:pt x="2185247" y="0"/>
                  </a:lnTo>
                  <a:close/>
                </a:path>
              </a:pathLst>
            </a:custGeom>
            <a:solidFill>
              <a:srgbClr val="B0007E"/>
            </a:solidFill>
          </p:spPr>
          <p:txBody>
            <a:bodyPr wrap="square" lIns="0" tIns="0" rIns="0" bIns="0" rtlCol="0"/>
            <a:lstStyle/>
            <a:p>
              <a:endParaRPr dirty="0"/>
            </a:p>
          </p:txBody>
        </p:sp>
      </p:grpSp>
      <p:sp>
        <p:nvSpPr>
          <p:cNvPr id="63" name="object 63"/>
          <p:cNvSpPr txBox="1"/>
          <p:nvPr/>
        </p:nvSpPr>
        <p:spPr>
          <a:xfrm>
            <a:off x="5162836" y="3847787"/>
            <a:ext cx="1986973" cy="1289788"/>
          </a:xfrm>
          <a:prstGeom prst="rect">
            <a:avLst/>
          </a:prstGeom>
          <a:ln w="18854">
            <a:solidFill>
              <a:srgbClr val="80005B"/>
            </a:solidFill>
          </a:ln>
        </p:spPr>
        <p:txBody>
          <a:bodyPr vert="horz" wrap="square" lIns="0" tIns="83768" rIns="0" bIns="0" rtlCol="0">
            <a:spAutoFit/>
          </a:bodyPr>
          <a:lstStyle/>
          <a:p>
            <a:pPr marL="99153" marR="90036" algn="ctr">
              <a:lnSpc>
                <a:spcPct val="89200"/>
              </a:lnSpc>
              <a:spcBef>
                <a:spcPts val="660"/>
              </a:spcBef>
            </a:pPr>
            <a:r>
              <a:rPr sz="2200" spc="-9" dirty="0">
                <a:solidFill>
                  <a:srgbClr val="FFFFFF"/>
                </a:solidFill>
                <a:cs typeface="Calibri"/>
              </a:rPr>
              <a:t>Use</a:t>
            </a:r>
            <a:r>
              <a:rPr sz="2200" spc="-67" dirty="0">
                <a:solidFill>
                  <a:srgbClr val="FFFFFF"/>
                </a:solidFill>
                <a:cs typeface="Calibri"/>
              </a:rPr>
              <a:t> </a:t>
            </a:r>
            <a:r>
              <a:rPr sz="2200" spc="-18" dirty="0">
                <a:solidFill>
                  <a:srgbClr val="FFFFFF"/>
                </a:solidFill>
                <a:cs typeface="Calibri"/>
              </a:rPr>
              <a:t>feedback</a:t>
            </a:r>
            <a:r>
              <a:rPr sz="2200" spc="-58" dirty="0">
                <a:solidFill>
                  <a:srgbClr val="FFFFFF"/>
                </a:solidFill>
                <a:cs typeface="Calibri"/>
              </a:rPr>
              <a:t> </a:t>
            </a:r>
            <a:r>
              <a:rPr sz="2200" spc="-13" dirty="0">
                <a:solidFill>
                  <a:srgbClr val="FFFFFF"/>
                </a:solidFill>
                <a:cs typeface="Calibri"/>
              </a:rPr>
              <a:t>to </a:t>
            </a:r>
            <a:r>
              <a:rPr sz="2200" spc="-471" dirty="0">
                <a:solidFill>
                  <a:srgbClr val="FFFFFF"/>
                </a:solidFill>
                <a:cs typeface="Calibri"/>
              </a:rPr>
              <a:t> </a:t>
            </a:r>
            <a:r>
              <a:rPr sz="2200" spc="-9" dirty="0">
                <a:solidFill>
                  <a:srgbClr val="FFFFFF"/>
                </a:solidFill>
                <a:cs typeface="Calibri"/>
              </a:rPr>
              <a:t>learn </a:t>
            </a:r>
            <a:r>
              <a:rPr sz="2200" spc="-13" dirty="0">
                <a:solidFill>
                  <a:srgbClr val="FFFFFF"/>
                </a:solidFill>
                <a:cs typeface="Calibri"/>
              </a:rPr>
              <a:t>user </a:t>
            </a:r>
            <a:r>
              <a:rPr sz="2200" spc="-9" dirty="0">
                <a:solidFill>
                  <a:srgbClr val="FFFFFF"/>
                </a:solidFill>
                <a:cs typeface="Calibri"/>
              </a:rPr>
              <a:t> </a:t>
            </a:r>
            <a:r>
              <a:rPr sz="2200" spc="-27" dirty="0">
                <a:solidFill>
                  <a:srgbClr val="FFFFFF"/>
                </a:solidFill>
                <a:cs typeface="Calibri"/>
              </a:rPr>
              <a:t>preferences </a:t>
            </a:r>
            <a:r>
              <a:rPr sz="2200" spc="-22" dirty="0">
                <a:solidFill>
                  <a:srgbClr val="FFFFFF"/>
                </a:solidFill>
                <a:cs typeface="Calibri"/>
              </a:rPr>
              <a:t> </a:t>
            </a:r>
            <a:r>
              <a:rPr sz="2200" spc="-18" dirty="0">
                <a:solidFill>
                  <a:srgbClr val="FFFFFF"/>
                </a:solidFill>
                <a:cs typeface="Calibri"/>
              </a:rPr>
              <a:t>over</a:t>
            </a:r>
            <a:r>
              <a:rPr sz="2200" spc="-27" dirty="0">
                <a:solidFill>
                  <a:srgbClr val="FFFFFF"/>
                </a:solidFill>
                <a:cs typeface="Calibri"/>
              </a:rPr>
              <a:t> </a:t>
            </a:r>
            <a:r>
              <a:rPr sz="2200" spc="-13" dirty="0">
                <a:solidFill>
                  <a:srgbClr val="FFFFFF"/>
                </a:solidFill>
                <a:cs typeface="Calibri"/>
              </a:rPr>
              <a:t>topics</a:t>
            </a:r>
            <a:endParaRPr sz="2200" dirty="0">
              <a:cs typeface="Calibri"/>
            </a:endParaRPr>
          </a:p>
        </p:txBody>
      </p:sp>
      <p:grpSp>
        <p:nvGrpSpPr>
          <p:cNvPr id="64" name="object 64"/>
          <p:cNvGrpSpPr/>
          <p:nvPr/>
        </p:nvGrpSpPr>
        <p:grpSpPr>
          <a:xfrm>
            <a:off x="5033818" y="2197030"/>
            <a:ext cx="3271982" cy="1776693"/>
            <a:chOff x="5537200" y="2489967"/>
            <a:chExt cx="2651125" cy="2013585"/>
          </a:xfrm>
        </p:grpSpPr>
        <p:pic>
          <p:nvPicPr>
            <p:cNvPr id="65" name="object 65"/>
            <p:cNvPicPr/>
            <p:nvPr/>
          </p:nvPicPr>
          <p:blipFill>
            <a:blip r:embed="rId35" cstate="print"/>
            <a:stretch>
              <a:fillRect/>
            </a:stretch>
          </p:blipFill>
          <p:spPr>
            <a:xfrm>
              <a:off x="5537200" y="2839211"/>
              <a:ext cx="1673352" cy="1664207"/>
            </a:xfrm>
            <a:prstGeom prst="rect">
              <a:avLst/>
            </a:prstGeom>
          </p:spPr>
        </p:pic>
        <p:pic>
          <p:nvPicPr>
            <p:cNvPr id="66" name="object 66"/>
            <p:cNvPicPr/>
            <p:nvPr/>
          </p:nvPicPr>
          <p:blipFill>
            <a:blip r:embed="rId36" cstate="print"/>
            <a:stretch>
              <a:fillRect/>
            </a:stretch>
          </p:blipFill>
          <p:spPr>
            <a:xfrm>
              <a:off x="6820408" y="2564891"/>
              <a:ext cx="1295400" cy="826008"/>
            </a:xfrm>
            <a:prstGeom prst="rect">
              <a:avLst/>
            </a:prstGeom>
          </p:spPr>
        </p:pic>
        <p:sp>
          <p:nvSpPr>
            <p:cNvPr id="67" name="object 67"/>
            <p:cNvSpPr/>
            <p:nvPr/>
          </p:nvSpPr>
          <p:spPr>
            <a:xfrm>
              <a:off x="6781162" y="2493504"/>
              <a:ext cx="1403985" cy="283210"/>
            </a:xfrm>
            <a:custGeom>
              <a:avLst/>
              <a:gdLst/>
              <a:ahLst/>
              <a:cxnLst/>
              <a:rect l="l" t="t" r="r" b="b"/>
              <a:pathLst>
                <a:path w="1403984" h="283210">
                  <a:moveTo>
                    <a:pt x="1403455" y="0"/>
                  </a:moveTo>
                  <a:lnTo>
                    <a:pt x="0" y="0"/>
                  </a:lnTo>
                  <a:lnTo>
                    <a:pt x="0" y="282928"/>
                  </a:lnTo>
                  <a:lnTo>
                    <a:pt x="1403455" y="282928"/>
                  </a:lnTo>
                  <a:lnTo>
                    <a:pt x="1403455" y="0"/>
                  </a:lnTo>
                  <a:close/>
                </a:path>
              </a:pathLst>
            </a:custGeom>
            <a:solidFill>
              <a:srgbClr val="FFFFFF"/>
            </a:solidFill>
          </p:spPr>
          <p:txBody>
            <a:bodyPr wrap="square" lIns="0" tIns="0" rIns="0" bIns="0" rtlCol="0"/>
            <a:lstStyle/>
            <a:p>
              <a:endParaRPr dirty="0"/>
            </a:p>
          </p:txBody>
        </p:sp>
        <p:sp>
          <p:nvSpPr>
            <p:cNvPr id="68" name="object 68"/>
            <p:cNvSpPr/>
            <p:nvPr/>
          </p:nvSpPr>
          <p:spPr>
            <a:xfrm>
              <a:off x="6781162" y="2493504"/>
              <a:ext cx="1403985" cy="283210"/>
            </a:xfrm>
            <a:custGeom>
              <a:avLst/>
              <a:gdLst/>
              <a:ahLst/>
              <a:cxnLst/>
              <a:rect l="l" t="t" r="r" b="b"/>
              <a:pathLst>
                <a:path w="1403984" h="283210">
                  <a:moveTo>
                    <a:pt x="0" y="0"/>
                  </a:moveTo>
                  <a:lnTo>
                    <a:pt x="1403455" y="0"/>
                  </a:lnTo>
                  <a:lnTo>
                    <a:pt x="1403455" y="282927"/>
                  </a:lnTo>
                  <a:lnTo>
                    <a:pt x="0" y="282927"/>
                  </a:lnTo>
                  <a:lnTo>
                    <a:pt x="0" y="0"/>
                  </a:lnTo>
                  <a:close/>
                </a:path>
              </a:pathLst>
            </a:custGeom>
            <a:ln w="7072">
              <a:solidFill>
                <a:srgbClr val="FFFFFF"/>
              </a:solidFill>
            </a:ln>
          </p:spPr>
          <p:txBody>
            <a:bodyPr wrap="square" lIns="0" tIns="0" rIns="0" bIns="0" rtlCol="0"/>
            <a:lstStyle/>
            <a:p>
              <a:endParaRPr dirty="0"/>
            </a:p>
          </p:txBody>
        </p:sp>
      </p:grpSp>
      <p:sp>
        <p:nvSpPr>
          <p:cNvPr id="69" name="object 69"/>
          <p:cNvSpPr txBox="1"/>
          <p:nvPr/>
        </p:nvSpPr>
        <p:spPr>
          <a:xfrm>
            <a:off x="871565" y="1514219"/>
            <a:ext cx="6569477" cy="350063"/>
          </a:xfrm>
          <a:prstGeom prst="rect">
            <a:avLst/>
          </a:prstGeom>
        </p:spPr>
        <p:txBody>
          <a:bodyPr vert="horz" wrap="square" lIns="0" tIns="11397" rIns="0" bIns="0" rtlCol="0">
            <a:spAutoFit/>
          </a:bodyPr>
          <a:lstStyle/>
          <a:p>
            <a:pPr marL="11397">
              <a:spcBef>
                <a:spcPts val="90"/>
              </a:spcBef>
            </a:pPr>
            <a:r>
              <a:rPr sz="2200" spc="-13" dirty="0">
                <a:solidFill>
                  <a:srgbClr val="2B2728"/>
                </a:solidFill>
                <a:cs typeface="Calibri"/>
              </a:rPr>
              <a:t>Set</a:t>
            </a:r>
            <a:r>
              <a:rPr sz="2200" spc="-22" dirty="0">
                <a:solidFill>
                  <a:srgbClr val="2B2728"/>
                </a:solidFill>
                <a:cs typeface="Calibri"/>
              </a:rPr>
              <a:t> </a:t>
            </a:r>
            <a:r>
              <a:rPr sz="2200" spc="-9" dirty="0">
                <a:solidFill>
                  <a:srgbClr val="2B2728"/>
                </a:solidFill>
                <a:cs typeface="Calibri"/>
              </a:rPr>
              <a:t>of</a:t>
            </a:r>
            <a:r>
              <a:rPr sz="2200" spc="-22" dirty="0">
                <a:solidFill>
                  <a:srgbClr val="2B2728"/>
                </a:solidFill>
                <a:cs typeface="Calibri"/>
              </a:rPr>
              <a:t> clustered</a:t>
            </a:r>
            <a:r>
              <a:rPr sz="2200" spc="-18" dirty="0">
                <a:solidFill>
                  <a:srgbClr val="2B2728"/>
                </a:solidFill>
                <a:cs typeface="Calibri"/>
              </a:rPr>
              <a:t> </a:t>
            </a:r>
            <a:r>
              <a:rPr sz="2200" spc="-13" dirty="0">
                <a:solidFill>
                  <a:srgbClr val="2B2728"/>
                </a:solidFill>
                <a:cs typeface="Calibri"/>
              </a:rPr>
              <a:t>documents</a:t>
            </a:r>
            <a:r>
              <a:rPr sz="2200" spc="-27" dirty="0">
                <a:solidFill>
                  <a:srgbClr val="2B2728"/>
                </a:solidFill>
                <a:cs typeface="Calibri"/>
              </a:rPr>
              <a:t> </a:t>
            </a:r>
            <a:r>
              <a:rPr sz="2200" spc="-18" dirty="0">
                <a:solidFill>
                  <a:srgbClr val="2B2728"/>
                </a:solidFill>
                <a:cs typeface="Calibri"/>
              </a:rPr>
              <a:t>read </a:t>
            </a:r>
            <a:r>
              <a:rPr sz="2200" spc="-13" dirty="0">
                <a:solidFill>
                  <a:srgbClr val="2B2728"/>
                </a:solidFill>
                <a:cs typeface="Calibri"/>
              </a:rPr>
              <a:t>by</a:t>
            </a:r>
            <a:r>
              <a:rPr sz="2200" spc="-22" dirty="0">
                <a:solidFill>
                  <a:srgbClr val="2B2728"/>
                </a:solidFill>
                <a:cs typeface="Calibri"/>
              </a:rPr>
              <a:t> </a:t>
            </a:r>
            <a:r>
              <a:rPr sz="2200" spc="-13" dirty="0">
                <a:solidFill>
                  <a:srgbClr val="2B2728"/>
                </a:solidFill>
                <a:cs typeface="Calibri"/>
              </a:rPr>
              <a:t>user</a:t>
            </a:r>
            <a:endParaRPr sz="2200" dirty="0">
              <a:cs typeface="Calibri"/>
            </a:endParaRPr>
          </a:p>
        </p:txBody>
      </p:sp>
    </p:spTree>
    <p:extLst>
      <p:ext uri="{BB962C8B-B14F-4D97-AF65-F5344CB8AC3E}">
        <p14:creationId xmlns:p14="http://schemas.microsoft.com/office/powerpoint/2010/main" val="396668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pPr fontAlgn="auto">
              <a:spcAft>
                <a:spcPts val="0"/>
              </a:spcAft>
              <a:defRPr/>
            </a:pPr>
            <a:r>
              <a:rPr lang="en-US" sz="4400" dirty="0">
                <a:latin typeface="+mn-lt"/>
              </a:rPr>
              <a:t>Clustering</a:t>
            </a:r>
          </a:p>
        </p:txBody>
      </p:sp>
      <p:sp>
        <p:nvSpPr>
          <p:cNvPr id="1028" name="Content Placeholder 2"/>
          <p:cNvSpPr>
            <a:spLocks noGrp="1"/>
          </p:cNvSpPr>
          <p:nvPr>
            <p:ph sz="quarter" idx="1"/>
          </p:nvPr>
        </p:nvSpPr>
        <p:spPr>
          <a:xfrm>
            <a:off x="457200" y="1600200"/>
            <a:ext cx="8229600" cy="4873625"/>
          </a:xfrm>
        </p:spPr>
        <p:txBody>
          <a:bodyPr>
            <a:normAutofit/>
          </a:bodyPr>
          <a:lstStyle/>
          <a:p>
            <a:pPr algn="just">
              <a:lnSpc>
                <a:spcPct val="150000"/>
              </a:lnSpc>
            </a:pPr>
            <a:r>
              <a:rPr lang="fr-FR" sz="2000" dirty="0"/>
              <a:t>Data WITHOUT classes or labels</a:t>
            </a:r>
          </a:p>
          <a:p>
            <a:pPr algn="just">
              <a:lnSpc>
                <a:spcPct val="150000"/>
              </a:lnSpc>
            </a:pPr>
            <a:r>
              <a:rPr lang="en-US" sz="2000" dirty="0"/>
              <a:t>Deals with finding a </a:t>
            </a:r>
            <a:r>
              <a:rPr lang="en-US" sz="2000" i="1" dirty="0">
                <a:solidFill>
                  <a:srgbClr val="C00000"/>
                </a:solidFill>
              </a:rPr>
              <a:t>structure</a:t>
            </a:r>
            <a:r>
              <a:rPr lang="en-US" sz="2000" dirty="0"/>
              <a:t> in a collection of unlabeled data.</a:t>
            </a:r>
          </a:p>
          <a:p>
            <a:pPr algn="just">
              <a:lnSpc>
                <a:spcPct val="150000"/>
              </a:lnSpc>
            </a:pPr>
            <a:r>
              <a:rPr lang="en-US" sz="2000" dirty="0"/>
              <a:t>The process of organizing objects into groups whose members are </a:t>
            </a:r>
            <a:r>
              <a:rPr lang="en-US" sz="2000" i="1" dirty="0">
                <a:solidFill>
                  <a:srgbClr val="C00000"/>
                </a:solidFill>
              </a:rPr>
              <a:t>similar</a:t>
            </a:r>
            <a:r>
              <a:rPr lang="en-US" sz="2000" dirty="0"/>
              <a:t> in some way.</a:t>
            </a:r>
          </a:p>
          <a:p>
            <a:pPr algn="just">
              <a:lnSpc>
                <a:spcPct val="150000"/>
              </a:lnSpc>
            </a:pPr>
            <a:r>
              <a:rPr lang="en-US" sz="2000" dirty="0"/>
              <a:t>A </a:t>
            </a:r>
            <a:r>
              <a:rPr lang="en-US" sz="2000" i="1" dirty="0">
                <a:solidFill>
                  <a:srgbClr val="C00000"/>
                </a:solidFill>
              </a:rPr>
              <a:t>cluster</a:t>
            </a:r>
            <a:r>
              <a:rPr lang="en-US" sz="2000" dirty="0"/>
              <a:t> is therefore a collection of objects which are “</a:t>
            </a:r>
            <a:r>
              <a:rPr lang="en-US" sz="2000" i="1" dirty="0">
                <a:solidFill>
                  <a:srgbClr val="C00000"/>
                </a:solidFill>
              </a:rPr>
              <a:t>similar</a:t>
            </a:r>
            <a:r>
              <a:rPr lang="en-US" sz="2000" dirty="0"/>
              <a:t>” between them and are “</a:t>
            </a:r>
            <a:r>
              <a:rPr lang="en-US" sz="2000" i="1" dirty="0">
                <a:solidFill>
                  <a:srgbClr val="C00000"/>
                </a:solidFill>
              </a:rPr>
              <a:t>dissimilar</a:t>
            </a:r>
            <a:r>
              <a:rPr lang="en-US" sz="2000" dirty="0"/>
              <a:t>” to the objects belonging to other clusters. </a:t>
            </a:r>
          </a:p>
          <a:p>
            <a:pPr algn="just">
              <a:lnSpc>
                <a:spcPct val="150000"/>
              </a:lnSpc>
              <a:buFont typeface="Wingdings" pitchFamily="2" charset="2"/>
              <a:buNone/>
            </a:pPr>
            <a:endParaRPr lang="en-US" sz="2000" dirty="0"/>
          </a:p>
          <a:p>
            <a:pPr algn="just">
              <a:lnSpc>
                <a:spcPct val="150000"/>
              </a:lnSpc>
            </a:pPr>
            <a:endParaRPr lang="en-US" sz="2000" dirty="0"/>
          </a:p>
        </p:txBody>
      </p:sp>
    </p:spTree>
    <p:extLst>
      <p:ext uri="{BB962C8B-B14F-4D97-AF65-F5344CB8AC3E}">
        <p14:creationId xmlns:p14="http://schemas.microsoft.com/office/powerpoint/2010/main" val="424959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noAutofit/>
          </a:bodyPr>
          <a:lstStyle/>
          <a:p>
            <a:r>
              <a:rPr lang="en-US" sz="4400" dirty="0">
                <a:latin typeface="+mn-lt"/>
              </a:rPr>
              <a:t>Applications Of Clustering </a:t>
            </a:r>
            <a:endParaRPr lang="en-GB" sz="4400" dirty="0">
              <a:latin typeface="+mn-lt"/>
            </a:endParaRPr>
          </a:p>
        </p:txBody>
      </p:sp>
      <p:sp>
        <p:nvSpPr>
          <p:cNvPr id="3" name="Content Placeholder 2"/>
          <p:cNvSpPr>
            <a:spLocks noGrp="1"/>
          </p:cNvSpPr>
          <p:nvPr>
            <p:ph idx="1"/>
          </p:nvPr>
        </p:nvSpPr>
        <p:spPr>
          <a:xfrm>
            <a:off x="228600" y="1219200"/>
            <a:ext cx="8686800" cy="5334000"/>
          </a:xfrm>
        </p:spPr>
        <p:txBody>
          <a:bodyPr>
            <a:normAutofit fontScale="92500" lnSpcReduction="10000"/>
          </a:bodyPr>
          <a:lstStyle/>
          <a:p>
            <a:pPr algn="just">
              <a:lnSpc>
                <a:spcPct val="150000"/>
              </a:lnSpc>
            </a:pPr>
            <a:r>
              <a:rPr lang="en-US" sz="2000" b="1" dirty="0"/>
              <a:t>Marketing:</a:t>
            </a:r>
            <a:r>
              <a:rPr lang="en-US" sz="2000" dirty="0"/>
              <a:t> It can be used to characterize &amp; discover customer segments for marketing purposes.</a:t>
            </a:r>
          </a:p>
          <a:p>
            <a:pPr algn="just">
              <a:lnSpc>
                <a:spcPct val="150000"/>
              </a:lnSpc>
            </a:pPr>
            <a:r>
              <a:rPr lang="en-US" sz="2000" b="1" dirty="0"/>
              <a:t>Biology:</a:t>
            </a:r>
            <a:r>
              <a:rPr lang="en-US" sz="2000" dirty="0"/>
              <a:t> It can be used for classification among different species of plants and animals.</a:t>
            </a:r>
          </a:p>
          <a:p>
            <a:pPr algn="just">
              <a:lnSpc>
                <a:spcPct val="150000"/>
              </a:lnSpc>
            </a:pPr>
            <a:r>
              <a:rPr lang="en-US" sz="2000" b="1" dirty="0"/>
              <a:t>Libraries:</a:t>
            </a:r>
            <a:r>
              <a:rPr lang="en-US" sz="2000" dirty="0"/>
              <a:t> It is used in clustering different books on the basis of topics and information.</a:t>
            </a:r>
          </a:p>
          <a:p>
            <a:pPr algn="just">
              <a:lnSpc>
                <a:spcPct val="150000"/>
              </a:lnSpc>
            </a:pPr>
            <a:r>
              <a:rPr lang="en-US" sz="2000" b="1" dirty="0"/>
              <a:t>Insurance:</a:t>
            </a:r>
            <a:r>
              <a:rPr lang="en-US" sz="2000" dirty="0"/>
              <a:t> It is used to acknowledge the customers, their policies and identifying the frauds.</a:t>
            </a:r>
          </a:p>
          <a:p>
            <a:pPr algn="just">
              <a:lnSpc>
                <a:spcPct val="150000"/>
              </a:lnSpc>
            </a:pPr>
            <a:r>
              <a:rPr lang="en-US" sz="2000" b="1" dirty="0"/>
              <a:t>City Planning: </a:t>
            </a:r>
            <a:r>
              <a:rPr lang="en-US" sz="2000" dirty="0"/>
              <a:t>It is used to make groups of houses and to study their values based on their geographical locations and other factors present. </a:t>
            </a:r>
          </a:p>
          <a:p>
            <a:pPr algn="just">
              <a:lnSpc>
                <a:spcPct val="150000"/>
              </a:lnSpc>
            </a:pPr>
            <a:r>
              <a:rPr lang="en-US" sz="2000" b="1" dirty="0"/>
              <a:t>Earthquake studies: </a:t>
            </a:r>
            <a:r>
              <a:rPr lang="en-US" sz="2000" dirty="0"/>
              <a:t>By learning the earthquake-affected areas we can determine the dangerous zones. </a:t>
            </a:r>
            <a:endParaRPr lang="en-GB" sz="2000" dirty="0"/>
          </a:p>
        </p:txBody>
      </p:sp>
    </p:spTree>
    <p:extLst>
      <p:ext uri="{BB962C8B-B14F-4D97-AF65-F5344CB8AC3E}">
        <p14:creationId xmlns:p14="http://schemas.microsoft.com/office/powerpoint/2010/main" val="2316795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normAutofit/>
          </a:bodyPr>
          <a:lstStyle/>
          <a:p>
            <a:r>
              <a:rPr lang="en-US" sz="4400" dirty="0">
                <a:latin typeface="+mn-lt"/>
              </a:rPr>
              <a:t>Clustering Methods/Algorithms</a:t>
            </a:r>
            <a:endParaRPr lang="en-GB" sz="4400" dirty="0">
              <a:latin typeface="+mn-lt"/>
            </a:endParaRPr>
          </a:p>
        </p:txBody>
      </p:sp>
      <p:sp>
        <p:nvSpPr>
          <p:cNvPr id="3" name="Content Placeholder 2"/>
          <p:cNvSpPr>
            <a:spLocks noGrp="1"/>
          </p:cNvSpPr>
          <p:nvPr>
            <p:ph idx="1"/>
          </p:nvPr>
        </p:nvSpPr>
        <p:spPr>
          <a:xfrm>
            <a:off x="381000" y="1447800"/>
            <a:ext cx="8229600" cy="5105400"/>
          </a:xfrm>
        </p:spPr>
        <p:txBody>
          <a:bodyPr>
            <a:normAutofit/>
          </a:bodyPr>
          <a:lstStyle/>
          <a:p>
            <a:pPr marL="298450" indent="-285750" algn="just">
              <a:lnSpc>
                <a:spcPct val="100000"/>
              </a:lnSpc>
              <a:spcBef>
                <a:spcPts val="2110"/>
              </a:spcBef>
              <a:buChar char="-"/>
              <a:tabLst>
                <a:tab pos="297815" algn="l"/>
                <a:tab pos="298450" algn="l"/>
              </a:tabLst>
            </a:pPr>
            <a:r>
              <a:rPr lang="en-US" sz="2000" dirty="0">
                <a:cs typeface="Segoe Print"/>
              </a:rPr>
              <a:t>In</a:t>
            </a:r>
            <a:r>
              <a:rPr lang="en-US" sz="2000" spc="-10" dirty="0">
                <a:cs typeface="Segoe Print"/>
              </a:rPr>
              <a:t> </a:t>
            </a:r>
            <a:r>
              <a:rPr lang="en-US" sz="2000" dirty="0">
                <a:cs typeface="Segoe Print"/>
              </a:rPr>
              <a:t>clustering algorithms,</a:t>
            </a:r>
            <a:r>
              <a:rPr lang="en-US" sz="2000" spc="-5" dirty="0">
                <a:cs typeface="Segoe Print"/>
              </a:rPr>
              <a:t> we</a:t>
            </a:r>
            <a:r>
              <a:rPr lang="en-US" sz="2000" dirty="0">
                <a:cs typeface="Segoe Print"/>
              </a:rPr>
              <a:t> usually</a:t>
            </a:r>
            <a:r>
              <a:rPr lang="en-US" sz="2000" spc="-5" dirty="0">
                <a:cs typeface="Segoe Print"/>
              </a:rPr>
              <a:t> optimize </a:t>
            </a:r>
            <a:r>
              <a:rPr lang="en-US" sz="2000" dirty="0">
                <a:cs typeface="Segoe Print"/>
              </a:rPr>
              <a:t>the </a:t>
            </a:r>
            <a:r>
              <a:rPr lang="en-US" sz="2000" spc="-5" dirty="0">
                <a:cs typeface="Segoe Print"/>
              </a:rPr>
              <a:t>following</a:t>
            </a:r>
            <a:r>
              <a:rPr lang="en-US" sz="2000" spc="-10" dirty="0">
                <a:cs typeface="Segoe Print"/>
              </a:rPr>
              <a:t> </a:t>
            </a:r>
            <a:r>
              <a:rPr lang="en-US" sz="2000" dirty="0">
                <a:cs typeface="Segoe Print"/>
              </a:rPr>
              <a:t>for</a:t>
            </a:r>
            <a:r>
              <a:rPr lang="en-US" sz="2000" spc="-5" dirty="0">
                <a:cs typeface="Segoe Print"/>
              </a:rPr>
              <a:t> </a:t>
            </a:r>
            <a:r>
              <a:rPr lang="en-US" sz="2000" dirty="0">
                <a:cs typeface="Segoe Print"/>
              </a:rPr>
              <a:t>a </a:t>
            </a:r>
            <a:r>
              <a:rPr lang="en-US" sz="2000" spc="-5" dirty="0">
                <a:cs typeface="Segoe Print"/>
              </a:rPr>
              <a:t>given</a:t>
            </a:r>
            <a:endParaRPr lang="en-US" sz="2000" dirty="0">
              <a:cs typeface="Segoe Print"/>
            </a:endParaRPr>
          </a:p>
          <a:p>
            <a:pPr marL="297815" algn="just">
              <a:lnSpc>
                <a:spcPct val="100000"/>
              </a:lnSpc>
            </a:pPr>
            <a:r>
              <a:rPr lang="en-US" sz="2000" spc="-5" dirty="0">
                <a:cs typeface="Segoe Print"/>
              </a:rPr>
              <a:t>number</a:t>
            </a:r>
            <a:r>
              <a:rPr lang="en-US" sz="2000" spc="-30" dirty="0">
                <a:cs typeface="Segoe Print"/>
              </a:rPr>
              <a:t> </a:t>
            </a:r>
            <a:r>
              <a:rPr lang="en-US" sz="2000" spc="-5" dirty="0">
                <a:cs typeface="Segoe Print"/>
              </a:rPr>
              <a:t>of</a:t>
            </a:r>
            <a:r>
              <a:rPr lang="en-US" sz="2000" spc="-30" dirty="0">
                <a:cs typeface="Segoe Print"/>
              </a:rPr>
              <a:t> </a:t>
            </a:r>
            <a:r>
              <a:rPr lang="en-US" sz="2000" dirty="0">
                <a:cs typeface="Segoe Print"/>
              </a:rPr>
              <a:t>clusters.</a:t>
            </a:r>
          </a:p>
          <a:p>
            <a:pPr marL="755650" lvl="1" indent="-286385" algn="just">
              <a:lnSpc>
                <a:spcPct val="100000"/>
              </a:lnSpc>
              <a:spcBef>
                <a:spcPts val="2160"/>
              </a:spcBef>
              <a:buChar char="-"/>
              <a:tabLst>
                <a:tab pos="755650" algn="l"/>
                <a:tab pos="756285" algn="l"/>
              </a:tabLst>
            </a:pPr>
            <a:r>
              <a:rPr lang="en-US" sz="2000" spc="-5" dirty="0">
                <a:cs typeface="Segoe Print"/>
              </a:rPr>
              <a:t>Tightness,</a:t>
            </a:r>
            <a:r>
              <a:rPr lang="en-US" sz="2000" dirty="0">
                <a:cs typeface="Segoe Print"/>
              </a:rPr>
              <a:t> </a:t>
            </a:r>
            <a:r>
              <a:rPr lang="en-US" sz="2000" spc="-5" dirty="0">
                <a:cs typeface="Segoe Print"/>
              </a:rPr>
              <a:t>spread,</a:t>
            </a:r>
            <a:r>
              <a:rPr lang="en-US" sz="2000" spc="-10" dirty="0">
                <a:cs typeface="Segoe Print"/>
              </a:rPr>
              <a:t> </a:t>
            </a:r>
            <a:r>
              <a:rPr lang="en-US" sz="2000" spc="-5" dirty="0">
                <a:cs typeface="Segoe Print"/>
              </a:rPr>
              <a:t>cohesion</a:t>
            </a:r>
            <a:r>
              <a:rPr lang="en-US" sz="2000" spc="-20" dirty="0">
                <a:cs typeface="Segoe Print"/>
              </a:rPr>
              <a:t> </a:t>
            </a:r>
            <a:r>
              <a:rPr lang="en-US" sz="2000" spc="-5" dirty="0">
                <a:cs typeface="Segoe Print"/>
              </a:rPr>
              <a:t>of</a:t>
            </a:r>
            <a:r>
              <a:rPr lang="en-US" sz="2000" spc="-10" dirty="0">
                <a:cs typeface="Segoe Print"/>
              </a:rPr>
              <a:t> </a:t>
            </a:r>
            <a:r>
              <a:rPr lang="en-US" sz="2000" dirty="0">
                <a:cs typeface="Segoe Print"/>
              </a:rPr>
              <a:t>clusters</a:t>
            </a:r>
          </a:p>
          <a:p>
            <a:pPr marL="755650" lvl="1" indent="-286385" algn="just">
              <a:lnSpc>
                <a:spcPct val="100000"/>
              </a:lnSpc>
              <a:spcBef>
                <a:spcPts val="2160"/>
              </a:spcBef>
              <a:buChar char="-"/>
              <a:tabLst>
                <a:tab pos="755650" algn="l"/>
                <a:tab pos="756285" algn="l"/>
              </a:tabLst>
            </a:pPr>
            <a:r>
              <a:rPr lang="en-US" sz="2000" spc="-5" dirty="0">
                <a:cs typeface="Segoe Print"/>
              </a:rPr>
              <a:t>Separability</a:t>
            </a:r>
            <a:r>
              <a:rPr lang="en-US" sz="2000" spc="5" dirty="0">
                <a:cs typeface="Segoe Print"/>
              </a:rPr>
              <a:t> </a:t>
            </a:r>
            <a:r>
              <a:rPr lang="en-US" sz="2000" spc="-5" dirty="0">
                <a:cs typeface="Segoe Print"/>
              </a:rPr>
              <a:t>of</a:t>
            </a:r>
            <a:r>
              <a:rPr lang="en-US" sz="2000" spc="-10" dirty="0">
                <a:cs typeface="Segoe Print"/>
              </a:rPr>
              <a:t> </a:t>
            </a:r>
            <a:r>
              <a:rPr lang="en-US" sz="2000" dirty="0">
                <a:cs typeface="Segoe Print"/>
              </a:rPr>
              <a:t>clusters,</a:t>
            </a:r>
            <a:r>
              <a:rPr lang="en-US" sz="2000" spc="-10" dirty="0">
                <a:cs typeface="Segoe Print"/>
              </a:rPr>
              <a:t> </a:t>
            </a:r>
            <a:r>
              <a:rPr lang="en-US" sz="2000" spc="-5" dirty="0">
                <a:cs typeface="Segoe Print"/>
              </a:rPr>
              <a:t>distance</a:t>
            </a:r>
            <a:r>
              <a:rPr lang="en-US" sz="2000" spc="5" dirty="0">
                <a:cs typeface="Segoe Print"/>
              </a:rPr>
              <a:t> </a:t>
            </a:r>
            <a:r>
              <a:rPr lang="en-US" sz="2000" spc="-5" dirty="0">
                <a:cs typeface="Segoe Print"/>
              </a:rPr>
              <a:t>between</a:t>
            </a:r>
            <a:r>
              <a:rPr lang="en-US" sz="2000" spc="5" dirty="0">
                <a:cs typeface="Segoe Print"/>
              </a:rPr>
              <a:t> </a:t>
            </a:r>
            <a:r>
              <a:rPr lang="en-US" sz="2000" dirty="0">
                <a:cs typeface="Segoe Print"/>
              </a:rPr>
              <a:t>the centers</a:t>
            </a:r>
          </a:p>
          <a:p>
            <a:pPr lvl="1" algn="just">
              <a:lnSpc>
                <a:spcPct val="100000"/>
              </a:lnSpc>
              <a:spcBef>
                <a:spcPts val="15"/>
              </a:spcBef>
              <a:buFont typeface="Segoe Print"/>
              <a:buChar char="-"/>
            </a:pPr>
            <a:endParaRPr lang="en-US" sz="2000" dirty="0">
              <a:cs typeface="Segoe Print"/>
            </a:endParaRPr>
          </a:p>
          <a:p>
            <a:pPr marL="298450" indent="-285750" algn="just">
              <a:lnSpc>
                <a:spcPct val="100000"/>
              </a:lnSpc>
              <a:buChar char="-"/>
              <a:tabLst>
                <a:tab pos="297815" algn="l"/>
                <a:tab pos="298450" algn="l"/>
              </a:tabLst>
            </a:pPr>
            <a:r>
              <a:rPr lang="en-US" sz="2000" spc="-5" dirty="0">
                <a:solidFill>
                  <a:srgbClr val="00AF50"/>
                </a:solidFill>
                <a:cs typeface="Segoe Print"/>
              </a:rPr>
              <a:t>Ideally</a:t>
            </a:r>
            <a:r>
              <a:rPr lang="en-US" sz="2000" spc="-5" dirty="0">
                <a:cs typeface="Segoe Print"/>
              </a:rPr>
              <a:t>, we</a:t>
            </a:r>
            <a:r>
              <a:rPr lang="en-US" sz="2000" dirty="0">
                <a:cs typeface="Segoe Print"/>
              </a:rPr>
              <a:t> </a:t>
            </a:r>
            <a:r>
              <a:rPr lang="en-US" sz="2000" spc="-5" dirty="0">
                <a:cs typeface="Segoe Print"/>
              </a:rPr>
              <a:t>require </a:t>
            </a:r>
            <a:r>
              <a:rPr lang="en-US" sz="2000" dirty="0">
                <a:cs typeface="Segoe Print"/>
              </a:rPr>
              <a:t>clustering</a:t>
            </a:r>
            <a:r>
              <a:rPr lang="en-US" sz="2000" spc="-5" dirty="0">
                <a:cs typeface="Segoe Print"/>
              </a:rPr>
              <a:t> </a:t>
            </a:r>
            <a:r>
              <a:rPr lang="en-US" sz="2000" dirty="0">
                <a:cs typeface="Segoe Print"/>
              </a:rPr>
              <a:t>algorithms</a:t>
            </a:r>
            <a:r>
              <a:rPr lang="en-US" sz="2000" spc="-5" dirty="0">
                <a:cs typeface="Segoe Print"/>
              </a:rPr>
              <a:t> </a:t>
            </a:r>
            <a:r>
              <a:rPr lang="en-US" sz="2000" dirty="0">
                <a:cs typeface="Segoe Print"/>
              </a:rPr>
              <a:t>to</a:t>
            </a:r>
            <a:r>
              <a:rPr lang="en-US" sz="2000" spc="-5" dirty="0">
                <a:cs typeface="Segoe Print"/>
              </a:rPr>
              <a:t> </a:t>
            </a:r>
            <a:r>
              <a:rPr lang="en-US" sz="2000" dirty="0">
                <a:cs typeface="Segoe Print"/>
              </a:rPr>
              <a:t>be</a:t>
            </a:r>
          </a:p>
          <a:p>
            <a:pPr marL="755650" lvl="1" indent="-286385" algn="just">
              <a:lnSpc>
                <a:spcPct val="100000"/>
              </a:lnSpc>
              <a:spcBef>
                <a:spcPts val="1080"/>
              </a:spcBef>
              <a:buChar char="-"/>
              <a:tabLst>
                <a:tab pos="755650" algn="l"/>
                <a:tab pos="756285" algn="l"/>
              </a:tabLst>
            </a:pPr>
            <a:r>
              <a:rPr lang="en-US" sz="2000" spc="-5" dirty="0">
                <a:cs typeface="Segoe Print"/>
              </a:rPr>
              <a:t>scalable </a:t>
            </a:r>
            <a:r>
              <a:rPr lang="en-US" sz="2000" dirty="0">
                <a:cs typeface="Segoe Print"/>
              </a:rPr>
              <a:t>(in</a:t>
            </a:r>
            <a:r>
              <a:rPr lang="en-US" sz="2000" spc="-5" dirty="0">
                <a:cs typeface="Segoe Print"/>
              </a:rPr>
              <a:t> </a:t>
            </a:r>
            <a:r>
              <a:rPr lang="en-US" sz="2000" dirty="0">
                <a:cs typeface="Segoe Print"/>
              </a:rPr>
              <a:t>terms</a:t>
            </a:r>
            <a:r>
              <a:rPr lang="en-US" sz="2000" spc="-5" dirty="0">
                <a:cs typeface="Segoe Print"/>
              </a:rPr>
              <a:t> of</a:t>
            </a:r>
            <a:r>
              <a:rPr lang="en-US" sz="2000" spc="-10" dirty="0">
                <a:cs typeface="Segoe Print"/>
              </a:rPr>
              <a:t> </a:t>
            </a:r>
            <a:r>
              <a:rPr lang="en-US" sz="2000" spc="-5" dirty="0">
                <a:cs typeface="Segoe Print"/>
              </a:rPr>
              <a:t>both </a:t>
            </a:r>
            <a:r>
              <a:rPr lang="en-US" sz="2000" dirty="0">
                <a:cs typeface="Segoe Print"/>
              </a:rPr>
              <a:t>time and</a:t>
            </a:r>
            <a:r>
              <a:rPr lang="en-US" sz="2000" spc="-10" dirty="0">
                <a:cs typeface="Segoe Print"/>
              </a:rPr>
              <a:t> </a:t>
            </a:r>
            <a:r>
              <a:rPr lang="en-US" sz="2000" spc="-5" dirty="0">
                <a:cs typeface="Segoe Print"/>
              </a:rPr>
              <a:t>space)</a:t>
            </a:r>
            <a:endParaRPr lang="en-US" sz="2000" dirty="0">
              <a:cs typeface="Segoe Print"/>
            </a:endParaRPr>
          </a:p>
          <a:p>
            <a:pPr marL="755650" lvl="1" indent="-286385" algn="just">
              <a:lnSpc>
                <a:spcPct val="100000"/>
              </a:lnSpc>
              <a:spcBef>
                <a:spcPts val="1085"/>
              </a:spcBef>
              <a:buChar char="-"/>
              <a:tabLst>
                <a:tab pos="755650" algn="l"/>
                <a:tab pos="756285" algn="l"/>
              </a:tabLst>
            </a:pPr>
            <a:r>
              <a:rPr lang="en-US" sz="2000" dirty="0">
                <a:cs typeface="Segoe Print"/>
              </a:rPr>
              <a:t>able to</a:t>
            </a:r>
            <a:r>
              <a:rPr lang="en-US" sz="2000" spc="-10" dirty="0">
                <a:cs typeface="Segoe Print"/>
              </a:rPr>
              <a:t> </a:t>
            </a:r>
            <a:r>
              <a:rPr lang="en-US" sz="2000" spc="-5" dirty="0">
                <a:cs typeface="Segoe Print"/>
              </a:rPr>
              <a:t>deal with</a:t>
            </a:r>
            <a:r>
              <a:rPr lang="en-US" sz="2000" spc="5" dirty="0">
                <a:cs typeface="Segoe Print"/>
              </a:rPr>
              <a:t> </a:t>
            </a:r>
            <a:r>
              <a:rPr lang="en-US" sz="2000" spc="-5" dirty="0">
                <a:cs typeface="Segoe Print"/>
              </a:rPr>
              <a:t>different</a:t>
            </a:r>
            <a:r>
              <a:rPr lang="en-US" sz="2000" dirty="0">
                <a:cs typeface="Segoe Print"/>
              </a:rPr>
              <a:t> </a:t>
            </a:r>
            <a:r>
              <a:rPr lang="en-US" sz="2000" spc="-5" dirty="0">
                <a:cs typeface="Segoe Print"/>
              </a:rPr>
              <a:t>data</a:t>
            </a:r>
            <a:r>
              <a:rPr lang="en-US" sz="2000" dirty="0">
                <a:cs typeface="Segoe Print"/>
              </a:rPr>
              <a:t> types</a:t>
            </a:r>
            <a:r>
              <a:rPr lang="en-US" sz="2000" spc="5" dirty="0">
                <a:cs typeface="Segoe Print"/>
              </a:rPr>
              <a:t> </a:t>
            </a:r>
            <a:r>
              <a:rPr lang="en-US" sz="2000" dirty="0">
                <a:cs typeface="Segoe Print"/>
              </a:rPr>
              <a:t>and</a:t>
            </a:r>
            <a:r>
              <a:rPr lang="en-US" sz="2000" spc="-10" dirty="0">
                <a:cs typeface="Segoe Print"/>
              </a:rPr>
              <a:t> </a:t>
            </a:r>
            <a:r>
              <a:rPr lang="en-US" sz="2000" dirty="0">
                <a:cs typeface="Segoe Print"/>
              </a:rPr>
              <a:t>noise/outliers</a:t>
            </a:r>
          </a:p>
          <a:p>
            <a:pPr marL="755650" lvl="1" indent="-286385" algn="just">
              <a:lnSpc>
                <a:spcPct val="100000"/>
              </a:lnSpc>
              <a:spcBef>
                <a:spcPts val="1080"/>
              </a:spcBef>
              <a:buChar char="-"/>
              <a:tabLst>
                <a:tab pos="755650" algn="l"/>
                <a:tab pos="756285" algn="l"/>
              </a:tabLst>
            </a:pPr>
            <a:r>
              <a:rPr lang="en-US" sz="2000" spc="-5" dirty="0">
                <a:cs typeface="Segoe Print"/>
              </a:rPr>
              <a:t>insensitive</a:t>
            </a:r>
            <a:r>
              <a:rPr lang="en-US" sz="2000" dirty="0">
                <a:cs typeface="Segoe Print"/>
              </a:rPr>
              <a:t> to</a:t>
            </a:r>
            <a:r>
              <a:rPr lang="en-US" sz="2000" spc="-10" dirty="0">
                <a:cs typeface="Segoe Print"/>
              </a:rPr>
              <a:t> </a:t>
            </a:r>
            <a:r>
              <a:rPr lang="en-US" sz="2000" spc="-5" dirty="0">
                <a:cs typeface="Segoe Print"/>
              </a:rPr>
              <a:t>order</a:t>
            </a:r>
            <a:r>
              <a:rPr lang="en-US" sz="2000" spc="-25" dirty="0">
                <a:cs typeface="Segoe Print"/>
              </a:rPr>
              <a:t> </a:t>
            </a:r>
            <a:r>
              <a:rPr lang="en-US" sz="2000" spc="-5" dirty="0">
                <a:cs typeface="Segoe Print"/>
              </a:rPr>
              <a:t>of</a:t>
            </a:r>
            <a:r>
              <a:rPr lang="en-US" sz="2000" spc="-15" dirty="0">
                <a:cs typeface="Segoe Print"/>
              </a:rPr>
              <a:t> </a:t>
            </a:r>
            <a:r>
              <a:rPr lang="en-US" sz="2000" spc="-5" dirty="0">
                <a:cs typeface="Segoe Print"/>
              </a:rPr>
              <a:t>input records</a:t>
            </a:r>
            <a:endParaRPr lang="en-US" sz="2000" dirty="0">
              <a:cs typeface="Segoe Print"/>
            </a:endParaRPr>
          </a:p>
          <a:p>
            <a:pPr marL="755650" lvl="1" indent="-286385" algn="just">
              <a:lnSpc>
                <a:spcPct val="100000"/>
              </a:lnSpc>
              <a:spcBef>
                <a:spcPts val="1080"/>
              </a:spcBef>
              <a:buChar char="-"/>
              <a:tabLst>
                <a:tab pos="755650" algn="l"/>
                <a:tab pos="756285" algn="l"/>
              </a:tabLst>
            </a:pPr>
            <a:r>
              <a:rPr lang="en-US" sz="2000" spc="-5" dirty="0">
                <a:cs typeface="Segoe Print"/>
              </a:rPr>
              <a:t>interpretable</a:t>
            </a:r>
            <a:r>
              <a:rPr lang="en-US" sz="2000" spc="-30" dirty="0">
                <a:cs typeface="Segoe Print"/>
              </a:rPr>
              <a:t> </a:t>
            </a:r>
            <a:r>
              <a:rPr lang="en-US" sz="2000" dirty="0">
                <a:cs typeface="Segoe Print"/>
              </a:rPr>
              <a:t>and</a:t>
            </a:r>
            <a:r>
              <a:rPr lang="en-US" sz="2000" spc="-30" dirty="0">
                <a:cs typeface="Segoe Print"/>
              </a:rPr>
              <a:t> </a:t>
            </a:r>
            <a:r>
              <a:rPr lang="en-US" sz="2000" dirty="0">
                <a:cs typeface="Segoe Print"/>
              </a:rPr>
              <a:t>usable</a:t>
            </a:r>
          </a:p>
          <a:p>
            <a:pPr algn="just"/>
            <a:endParaRPr lang="en-GB" sz="2000" dirty="0"/>
          </a:p>
        </p:txBody>
      </p:sp>
    </p:spTree>
    <p:extLst>
      <p:ext uri="{BB962C8B-B14F-4D97-AF65-F5344CB8AC3E}">
        <p14:creationId xmlns:p14="http://schemas.microsoft.com/office/powerpoint/2010/main" val="1675277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032"/>
            <a:ext cx="8229600" cy="1143000"/>
          </a:xfrm>
        </p:spPr>
        <p:txBody>
          <a:bodyPr>
            <a:normAutofit/>
          </a:bodyPr>
          <a:lstStyle/>
          <a:p>
            <a:r>
              <a:rPr lang="en-US" sz="4400" dirty="0">
                <a:latin typeface="+mn-lt"/>
              </a:rPr>
              <a:t>Clustering Methods</a:t>
            </a:r>
            <a:endParaRPr lang="en-GB" sz="4400" dirty="0">
              <a:latin typeface="+mn-lt"/>
            </a:endParaRPr>
          </a:p>
        </p:txBody>
      </p:sp>
      <p:sp>
        <p:nvSpPr>
          <p:cNvPr id="3" name="Content Placeholder 2"/>
          <p:cNvSpPr>
            <a:spLocks noGrp="1"/>
          </p:cNvSpPr>
          <p:nvPr>
            <p:ph idx="1"/>
          </p:nvPr>
        </p:nvSpPr>
        <p:spPr>
          <a:xfrm>
            <a:off x="228600" y="1295400"/>
            <a:ext cx="8686800" cy="5181600"/>
          </a:xfrm>
        </p:spPr>
        <p:txBody>
          <a:bodyPr>
            <a:normAutofit/>
          </a:bodyPr>
          <a:lstStyle/>
          <a:p>
            <a:pPr algn="just">
              <a:lnSpc>
                <a:spcPct val="150000"/>
              </a:lnSpc>
            </a:pPr>
            <a:r>
              <a:rPr lang="en-US" sz="2000" b="1" dirty="0"/>
              <a:t>Density-Based Methods:</a:t>
            </a:r>
            <a:r>
              <a:rPr lang="en-US" sz="2000" dirty="0"/>
              <a:t> These methods consider the clusters as the dense region having some similarities and differences from the lower dense region of the space. </a:t>
            </a:r>
          </a:p>
          <a:p>
            <a:pPr algn="just">
              <a:lnSpc>
                <a:spcPct val="150000"/>
              </a:lnSpc>
            </a:pPr>
            <a:r>
              <a:rPr lang="en-US" sz="2000" dirty="0"/>
              <a:t>These methods have good accuracy and the ability to merge two clusters.</a:t>
            </a:r>
          </a:p>
          <a:p>
            <a:pPr algn="just">
              <a:lnSpc>
                <a:spcPct val="150000"/>
              </a:lnSpc>
            </a:pPr>
            <a:r>
              <a:rPr lang="en-US" sz="2000" dirty="0"/>
              <a:t> Example </a:t>
            </a:r>
            <a:r>
              <a:rPr lang="en-US" sz="2000" i="1" dirty="0"/>
              <a:t>DBSCAN (Density-Based Spatial Clustering of Applications with Noise)</a:t>
            </a:r>
            <a:r>
              <a:rPr lang="en-US" sz="2000" dirty="0"/>
              <a:t>, </a:t>
            </a:r>
            <a:r>
              <a:rPr lang="en-US" sz="2000" i="1" dirty="0"/>
              <a:t>OPTICS (Ordering Points to Identify Clustering Structure)</a:t>
            </a:r>
            <a:r>
              <a:rPr lang="en-US" sz="2000" dirty="0"/>
              <a:t>, etc.</a:t>
            </a:r>
          </a:p>
          <a:p>
            <a:pPr algn="just">
              <a:lnSpc>
                <a:spcPct val="150000"/>
              </a:lnSpc>
            </a:pPr>
            <a:r>
              <a:rPr lang="en-US" sz="2000" b="1" dirty="0"/>
              <a:t>Hierarchical Based Methods:</a:t>
            </a:r>
            <a:r>
              <a:rPr lang="en-US" sz="2000" dirty="0"/>
              <a:t> The clusters formed in this method form a tree-type structure based on the hierarchy.</a:t>
            </a:r>
          </a:p>
          <a:p>
            <a:pPr algn="just">
              <a:lnSpc>
                <a:spcPct val="150000"/>
              </a:lnSpc>
            </a:pPr>
            <a:r>
              <a:rPr lang="en-US" sz="2000" dirty="0"/>
              <a:t> New clusters are formed using the previously formed one. </a:t>
            </a:r>
            <a:endParaRPr lang="en-GB" sz="2000" dirty="0"/>
          </a:p>
        </p:txBody>
      </p:sp>
    </p:spTree>
    <p:extLst>
      <p:ext uri="{BB962C8B-B14F-4D97-AF65-F5344CB8AC3E}">
        <p14:creationId xmlns:p14="http://schemas.microsoft.com/office/powerpoint/2010/main" val="768095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normAutofit/>
          </a:bodyPr>
          <a:lstStyle/>
          <a:p>
            <a:pPr fontAlgn="auto">
              <a:spcAft>
                <a:spcPts val="0"/>
              </a:spcAft>
              <a:defRPr/>
            </a:pPr>
            <a:r>
              <a:rPr lang="en-US" sz="4400" dirty="0">
                <a:latin typeface="+mn-lt"/>
              </a:rPr>
              <a:t>Clustering Methods</a:t>
            </a:r>
          </a:p>
        </p:txBody>
      </p:sp>
      <p:sp>
        <p:nvSpPr>
          <p:cNvPr id="3" name="Content Placeholder 2"/>
          <p:cNvSpPr>
            <a:spLocks noGrp="1"/>
          </p:cNvSpPr>
          <p:nvPr>
            <p:ph sz="quarter" idx="1"/>
          </p:nvPr>
        </p:nvSpPr>
        <p:spPr>
          <a:xfrm>
            <a:off x="228600" y="1600200"/>
            <a:ext cx="8534400" cy="4873625"/>
          </a:xfrm>
        </p:spPr>
        <p:txBody>
          <a:bodyPr>
            <a:normAutofit/>
          </a:bodyPr>
          <a:lstStyle/>
          <a:p>
            <a:pPr algn="just">
              <a:lnSpc>
                <a:spcPct val="150000"/>
              </a:lnSpc>
              <a:buFont typeface="Wingdings"/>
              <a:buChar char=""/>
              <a:defRPr/>
            </a:pPr>
            <a:r>
              <a:rPr lang="en-US" sz="2000" b="1" dirty="0"/>
              <a:t>Hierarchical Based Methods:</a:t>
            </a:r>
            <a:r>
              <a:rPr lang="en-US" sz="2000" dirty="0"/>
              <a:t> </a:t>
            </a:r>
          </a:p>
          <a:p>
            <a:pPr marL="0" indent="0" algn="just">
              <a:lnSpc>
                <a:spcPct val="150000"/>
              </a:lnSpc>
              <a:buNone/>
              <a:defRPr/>
            </a:pPr>
            <a:r>
              <a:rPr lang="en-US" sz="2000" dirty="0"/>
              <a:t>These find successive clusters using previously established clusters.                                               </a:t>
            </a:r>
          </a:p>
          <a:p>
            <a:pPr marL="571500" indent="-571500" algn="just" fontAlgn="auto">
              <a:lnSpc>
                <a:spcPct val="150000"/>
              </a:lnSpc>
              <a:spcAft>
                <a:spcPts val="0"/>
              </a:spcAft>
              <a:buFont typeface="Wingdings"/>
              <a:buNone/>
              <a:defRPr/>
            </a:pPr>
            <a:r>
              <a:rPr lang="en-US" sz="2000" dirty="0"/>
              <a:t>	1. </a:t>
            </a:r>
            <a:r>
              <a:rPr lang="en-US" sz="2000" u="sng" dirty="0">
                <a:solidFill>
                  <a:srgbClr val="C00000"/>
                </a:solidFill>
              </a:rPr>
              <a:t>Agglomerative ("bottom-up")</a:t>
            </a:r>
            <a:r>
              <a:rPr lang="en-US" sz="2000" dirty="0"/>
              <a:t>: Agglomerative  algorithms begin with each element as a separate cluster and merge them into 	successively larger clusters. </a:t>
            </a:r>
          </a:p>
          <a:p>
            <a:pPr marL="571500" indent="-571500" algn="just" fontAlgn="auto">
              <a:lnSpc>
                <a:spcPct val="150000"/>
              </a:lnSpc>
              <a:spcAft>
                <a:spcPts val="0"/>
              </a:spcAft>
              <a:buFont typeface="Wingdings"/>
              <a:buNone/>
              <a:defRPr/>
            </a:pPr>
            <a:r>
              <a:rPr lang="en-US" sz="2000" i="1" dirty="0"/>
              <a:t>	</a:t>
            </a:r>
            <a:r>
              <a:rPr lang="en-US" sz="2000" dirty="0"/>
              <a:t>2. </a:t>
            </a:r>
            <a:r>
              <a:rPr lang="en-US" sz="2000" u="sng" dirty="0">
                <a:solidFill>
                  <a:srgbClr val="C00000"/>
                </a:solidFill>
              </a:rPr>
              <a:t>Divisive ("top-down")</a:t>
            </a:r>
            <a:r>
              <a:rPr lang="en-US" sz="2000" dirty="0"/>
              <a:t>: Divisive algorithms begin with the whole set and proceed to divide it into successively into smaller clusters.</a:t>
            </a:r>
          </a:p>
          <a:p>
            <a:pPr marL="274320" indent="-274320" algn="just" fontAlgn="auto">
              <a:lnSpc>
                <a:spcPct val="150000"/>
              </a:lnSpc>
              <a:spcAft>
                <a:spcPts val="0"/>
              </a:spcAft>
              <a:buFont typeface="Wingdings"/>
              <a:buChar char=""/>
              <a:defRPr/>
            </a:pPr>
            <a:endParaRPr lang="en-US" sz="2000" dirty="0"/>
          </a:p>
        </p:txBody>
      </p:sp>
      <p:grpSp>
        <p:nvGrpSpPr>
          <p:cNvPr id="4" name="object 9"/>
          <p:cNvGrpSpPr/>
          <p:nvPr/>
        </p:nvGrpSpPr>
        <p:grpSpPr>
          <a:xfrm>
            <a:off x="2362200" y="5410200"/>
            <a:ext cx="1835785" cy="1007744"/>
            <a:chOff x="8686990" y="3228784"/>
            <a:chExt cx="1835785" cy="1007744"/>
          </a:xfrm>
        </p:grpSpPr>
        <p:pic>
          <p:nvPicPr>
            <p:cNvPr id="5" name="object 10"/>
            <p:cNvPicPr/>
            <p:nvPr/>
          </p:nvPicPr>
          <p:blipFill>
            <a:blip r:embed="rId2" cstate="print"/>
            <a:stretch>
              <a:fillRect/>
            </a:stretch>
          </p:blipFill>
          <p:spPr>
            <a:xfrm>
              <a:off x="9525000" y="3901440"/>
              <a:ext cx="80009" cy="87630"/>
            </a:xfrm>
            <a:prstGeom prst="rect">
              <a:avLst/>
            </a:prstGeom>
          </p:spPr>
        </p:pic>
        <p:pic>
          <p:nvPicPr>
            <p:cNvPr id="6" name="object 11"/>
            <p:cNvPicPr/>
            <p:nvPr/>
          </p:nvPicPr>
          <p:blipFill>
            <a:blip r:embed="rId3" cstate="print"/>
            <a:stretch>
              <a:fillRect/>
            </a:stretch>
          </p:blipFill>
          <p:spPr>
            <a:xfrm>
              <a:off x="9691116" y="3989070"/>
              <a:ext cx="80009" cy="87630"/>
            </a:xfrm>
            <a:prstGeom prst="rect">
              <a:avLst/>
            </a:prstGeom>
          </p:spPr>
        </p:pic>
        <p:pic>
          <p:nvPicPr>
            <p:cNvPr id="7" name="object 12"/>
            <p:cNvPicPr/>
            <p:nvPr/>
          </p:nvPicPr>
          <p:blipFill>
            <a:blip r:embed="rId4" cstate="print"/>
            <a:stretch>
              <a:fillRect/>
            </a:stretch>
          </p:blipFill>
          <p:spPr>
            <a:xfrm>
              <a:off x="9970770" y="3726941"/>
              <a:ext cx="80009" cy="87630"/>
            </a:xfrm>
            <a:prstGeom prst="rect">
              <a:avLst/>
            </a:prstGeom>
          </p:spPr>
        </p:pic>
        <p:pic>
          <p:nvPicPr>
            <p:cNvPr id="8" name="object 13"/>
            <p:cNvPicPr/>
            <p:nvPr/>
          </p:nvPicPr>
          <p:blipFill>
            <a:blip r:embed="rId3" cstate="print"/>
            <a:stretch>
              <a:fillRect/>
            </a:stretch>
          </p:blipFill>
          <p:spPr>
            <a:xfrm>
              <a:off x="9691116" y="3333750"/>
              <a:ext cx="80009" cy="87629"/>
            </a:xfrm>
            <a:prstGeom prst="rect">
              <a:avLst/>
            </a:prstGeom>
          </p:spPr>
        </p:pic>
        <p:sp>
          <p:nvSpPr>
            <p:cNvPr id="9" name="object 14"/>
            <p:cNvSpPr/>
            <p:nvPr/>
          </p:nvSpPr>
          <p:spPr>
            <a:xfrm>
              <a:off x="8701278" y="3243072"/>
              <a:ext cx="1807210" cy="979169"/>
            </a:xfrm>
            <a:custGeom>
              <a:avLst/>
              <a:gdLst/>
              <a:ahLst/>
              <a:cxnLst/>
              <a:rect l="l" t="t" r="r" b="b"/>
              <a:pathLst>
                <a:path w="1807209" h="979170">
                  <a:moveTo>
                    <a:pt x="903351" y="979169"/>
                  </a:moveTo>
                  <a:lnTo>
                    <a:pt x="841507" y="978040"/>
                  </a:lnTo>
                  <a:lnTo>
                    <a:pt x="780782" y="974700"/>
                  </a:lnTo>
                  <a:lnTo>
                    <a:pt x="721308" y="969223"/>
                  </a:lnTo>
                  <a:lnTo>
                    <a:pt x="663222" y="961681"/>
                  </a:lnTo>
                  <a:lnTo>
                    <a:pt x="606656" y="952147"/>
                  </a:lnTo>
                  <a:lnTo>
                    <a:pt x="551747" y="940694"/>
                  </a:lnTo>
                  <a:lnTo>
                    <a:pt x="498628" y="927396"/>
                  </a:lnTo>
                  <a:lnTo>
                    <a:pt x="447435" y="912325"/>
                  </a:lnTo>
                  <a:lnTo>
                    <a:pt x="398301" y="895554"/>
                  </a:lnTo>
                  <a:lnTo>
                    <a:pt x="351361" y="877156"/>
                  </a:lnTo>
                  <a:lnTo>
                    <a:pt x="306751" y="857204"/>
                  </a:lnTo>
                  <a:lnTo>
                    <a:pt x="264604" y="835771"/>
                  </a:lnTo>
                  <a:lnTo>
                    <a:pt x="225055" y="812929"/>
                  </a:lnTo>
                  <a:lnTo>
                    <a:pt x="188240" y="788752"/>
                  </a:lnTo>
                  <a:lnTo>
                    <a:pt x="154291" y="763313"/>
                  </a:lnTo>
                  <a:lnTo>
                    <a:pt x="123345" y="736684"/>
                  </a:lnTo>
                  <a:lnTo>
                    <a:pt x="95535" y="708939"/>
                  </a:lnTo>
                  <a:lnTo>
                    <a:pt x="49864" y="650390"/>
                  </a:lnTo>
                  <a:lnTo>
                    <a:pt x="18354" y="588251"/>
                  </a:lnTo>
                  <a:lnTo>
                    <a:pt x="2084" y="523104"/>
                  </a:lnTo>
                  <a:lnTo>
                    <a:pt x="0" y="489584"/>
                  </a:lnTo>
                  <a:lnTo>
                    <a:pt x="2084" y="456065"/>
                  </a:lnTo>
                  <a:lnTo>
                    <a:pt x="18354" y="390918"/>
                  </a:lnTo>
                  <a:lnTo>
                    <a:pt x="49864" y="328779"/>
                  </a:lnTo>
                  <a:lnTo>
                    <a:pt x="95535" y="270230"/>
                  </a:lnTo>
                  <a:lnTo>
                    <a:pt x="123345" y="242485"/>
                  </a:lnTo>
                  <a:lnTo>
                    <a:pt x="154291" y="215856"/>
                  </a:lnTo>
                  <a:lnTo>
                    <a:pt x="188240" y="190417"/>
                  </a:lnTo>
                  <a:lnTo>
                    <a:pt x="225055" y="166240"/>
                  </a:lnTo>
                  <a:lnTo>
                    <a:pt x="264604" y="143398"/>
                  </a:lnTo>
                  <a:lnTo>
                    <a:pt x="306751" y="121965"/>
                  </a:lnTo>
                  <a:lnTo>
                    <a:pt x="351361" y="102013"/>
                  </a:lnTo>
                  <a:lnTo>
                    <a:pt x="398301" y="83615"/>
                  </a:lnTo>
                  <a:lnTo>
                    <a:pt x="447435" y="66844"/>
                  </a:lnTo>
                  <a:lnTo>
                    <a:pt x="498628" y="51773"/>
                  </a:lnTo>
                  <a:lnTo>
                    <a:pt x="551747" y="38475"/>
                  </a:lnTo>
                  <a:lnTo>
                    <a:pt x="606656" y="27022"/>
                  </a:lnTo>
                  <a:lnTo>
                    <a:pt x="663222" y="17488"/>
                  </a:lnTo>
                  <a:lnTo>
                    <a:pt x="721308" y="9946"/>
                  </a:lnTo>
                  <a:lnTo>
                    <a:pt x="780782" y="4469"/>
                  </a:lnTo>
                  <a:lnTo>
                    <a:pt x="841507" y="1129"/>
                  </a:lnTo>
                  <a:lnTo>
                    <a:pt x="903351" y="0"/>
                  </a:lnTo>
                  <a:lnTo>
                    <a:pt x="965194" y="1129"/>
                  </a:lnTo>
                  <a:lnTo>
                    <a:pt x="1025919" y="4469"/>
                  </a:lnTo>
                  <a:lnTo>
                    <a:pt x="1085393" y="9946"/>
                  </a:lnTo>
                  <a:lnTo>
                    <a:pt x="1143479" y="17488"/>
                  </a:lnTo>
                  <a:lnTo>
                    <a:pt x="1200045" y="27022"/>
                  </a:lnTo>
                  <a:lnTo>
                    <a:pt x="1254954" y="38475"/>
                  </a:lnTo>
                  <a:lnTo>
                    <a:pt x="1308073" y="51773"/>
                  </a:lnTo>
                  <a:lnTo>
                    <a:pt x="1359266" y="66844"/>
                  </a:lnTo>
                  <a:lnTo>
                    <a:pt x="1408400" y="83615"/>
                  </a:lnTo>
                  <a:lnTo>
                    <a:pt x="1455340" y="102013"/>
                  </a:lnTo>
                  <a:lnTo>
                    <a:pt x="1499950" y="121965"/>
                  </a:lnTo>
                  <a:lnTo>
                    <a:pt x="1542097" y="143398"/>
                  </a:lnTo>
                  <a:lnTo>
                    <a:pt x="1581646" y="166240"/>
                  </a:lnTo>
                  <a:lnTo>
                    <a:pt x="1618461" y="190417"/>
                  </a:lnTo>
                  <a:lnTo>
                    <a:pt x="1652410" y="215856"/>
                  </a:lnTo>
                  <a:lnTo>
                    <a:pt x="1683356" y="242485"/>
                  </a:lnTo>
                  <a:lnTo>
                    <a:pt x="1711166" y="270230"/>
                  </a:lnTo>
                  <a:lnTo>
                    <a:pt x="1756837" y="328779"/>
                  </a:lnTo>
                  <a:lnTo>
                    <a:pt x="1788347" y="390918"/>
                  </a:lnTo>
                  <a:lnTo>
                    <a:pt x="1804617" y="456065"/>
                  </a:lnTo>
                  <a:lnTo>
                    <a:pt x="1806702" y="489584"/>
                  </a:lnTo>
                  <a:lnTo>
                    <a:pt x="1804617" y="523104"/>
                  </a:lnTo>
                  <a:lnTo>
                    <a:pt x="1788347" y="588251"/>
                  </a:lnTo>
                  <a:lnTo>
                    <a:pt x="1756837" y="650390"/>
                  </a:lnTo>
                  <a:lnTo>
                    <a:pt x="1711166" y="708939"/>
                  </a:lnTo>
                  <a:lnTo>
                    <a:pt x="1683356" y="736684"/>
                  </a:lnTo>
                  <a:lnTo>
                    <a:pt x="1652410" y="763313"/>
                  </a:lnTo>
                  <a:lnTo>
                    <a:pt x="1618461" y="788752"/>
                  </a:lnTo>
                  <a:lnTo>
                    <a:pt x="1581646" y="812929"/>
                  </a:lnTo>
                  <a:lnTo>
                    <a:pt x="1542097" y="835771"/>
                  </a:lnTo>
                  <a:lnTo>
                    <a:pt x="1499950" y="857204"/>
                  </a:lnTo>
                  <a:lnTo>
                    <a:pt x="1455340" y="877156"/>
                  </a:lnTo>
                  <a:lnTo>
                    <a:pt x="1408400" y="895554"/>
                  </a:lnTo>
                  <a:lnTo>
                    <a:pt x="1359266" y="912325"/>
                  </a:lnTo>
                  <a:lnTo>
                    <a:pt x="1308073" y="927396"/>
                  </a:lnTo>
                  <a:lnTo>
                    <a:pt x="1254954" y="940694"/>
                  </a:lnTo>
                  <a:lnTo>
                    <a:pt x="1200045" y="952147"/>
                  </a:lnTo>
                  <a:lnTo>
                    <a:pt x="1143479" y="961681"/>
                  </a:lnTo>
                  <a:lnTo>
                    <a:pt x="1085393" y="969223"/>
                  </a:lnTo>
                  <a:lnTo>
                    <a:pt x="1025919" y="974700"/>
                  </a:lnTo>
                  <a:lnTo>
                    <a:pt x="965194" y="978040"/>
                  </a:lnTo>
                  <a:lnTo>
                    <a:pt x="903351" y="979169"/>
                  </a:lnTo>
                </a:path>
              </a:pathLst>
            </a:custGeom>
            <a:ln w="28575">
              <a:solidFill>
                <a:srgbClr val="C00000"/>
              </a:solidFill>
            </a:ln>
          </p:spPr>
          <p:txBody>
            <a:bodyPr wrap="square" lIns="0" tIns="0" rIns="0" bIns="0" rtlCol="0"/>
            <a:lstStyle/>
            <a:p>
              <a:endParaRPr/>
            </a:p>
          </p:txBody>
        </p:sp>
        <p:sp>
          <p:nvSpPr>
            <p:cNvPr id="10" name="object 15"/>
            <p:cNvSpPr/>
            <p:nvPr/>
          </p:nvSpPr>
          <p:spPr>
            <a:xfrm>
              <a:off x="9183624" y="3667505"/>
              <a:ext cx="1092200" cy="502920"/>
            </a:xfrm>
            <a:custGeom>
              <a:avLst/>
              <a:gdLst/>
              <a:ahLst/>
              <a:cxnLst/>
              <a:rect l="l" t="t" r="r" b="b"/>
              <a:pathLst>
                <a:path w="1092200" h="502920">
                  <a:moveTo>
                    <a:pt x="545973" y="502920"/>
                  </a:moveTo>
                  <a:lnTo>
                    <a:pt x="482307" y="501229"/>
                  </a:lnTo>
                  <a:lnTo>
                    <a:pt x="420797" y="496281"/>
                  </a:lnTo>
                  <a:lnTo>
                    <a:pt x="361852" y="488266"/>
                  </a:lnTo>
                  <a:lnTo>
                    <a:pt x="305883" y="477371"/>
                  </a:lnTo>
                  <a:lnTo>
                    <a:pt x="253298" y="463785"/>
                  </a:lnTo>
                  <a:lnTo>
                    <a:pt x="204509" y="447696"/>
                  </a:lnTo>
                  <a:lnTo>
                    <a:pt x="159924" y="429291"/>
                  </a:lnTo>
                  <a:lnTo>
                    <a:pt x="119955" y="408760"/>
                  </a:lnTo>
                  <a:lnTo>
                    <a:pt x="85009" y="386291"/>
                  </a:lnTo>
                  <a:lnTo>
                    <a:pt x="55499" y="362072"/>
                  </a:lnTo>
                  <a:lnTo>
                    <a:pt x="14421" y="309136"/>
                  </a:lnTo>
                  <a:lnTo>
                    <a:pt x="0" y="251460"/>
                  </a:lnTo>
                  <a:lnTo>
                    <a:pt x="3673" y="222123"/>
                  </a:lnTo>
                  <a:lnTo>
                    <a:pt x="31833" y="166628"/>
                  </a:lnTo>
                  <a:lnTo>
                    <a:pt x="85009" y="116628"/>
                  </a:lnTo>
                  <a:lnTo>
                    <a:pt x="119955" y="94159"/>
                  </a:lnTo>
                  <a:lnTo>
                    <a:pt x="159924" y="73628"/>
                  </a:lnTo>
                  <a:lnTo>
                    <a:pt x="204509" y="55223"/>
                  </a:lnTo>
                  <a:lnTo>
                    <a:pt x="253298" y="39134"/>
                  </a:lnTo>
                  <a:lnTo>
                    <a:pt x="305883" y="25548"/>
                  </a:lnTo>
                  <a:lnTo>
                    <a:pt x="361852" y="14653"/>
                  </a:lnTo>
                  <a:lnTo>
                    <a:pt x="420797" y="6638"/>
                  </a:lnTo>
                  <a:lnTo>
                    <a:pt x="482307" y="1690"/>
                  </a:lnTo>
                  <a:lnTo>
                    <a:pt x="545973" y="0"/>
                  </a:lnTo>
                  <a:lnTo>
                    <a:pt x="609638" y="1690"/>
                  </a:lnTo>
                  <a:lnTo>
                    <a:pt x="671148" y="6638"/>
                  </a:lnTo>
                  <a:lnTo>
                    <a:pt x="730093" y="14653"/>
                  </a:lnTo>
                  <a:lnTo>
                    <a:pt x="786062" y="25548"/>
                  </a:lnTo>
                  <a:lnTo>
                    <a:pt x="838647" y="39134"/>
                  </a:lnTo>
                  <a:lnTo>
                    <a:pt x="887436" y="55223"/>
                  </a:lnTo>
                  <a:lnTo>
                    <a:pt x="932021" y="73628"/>
                  </a:lnTo>
                  <a:lnTo>
                    <a:pt x="971990" y="94159"/>
                  </a:lnTo>
                  <a:lnTo>
                    <a:pt x="1006936" y="116628"/>
                  </a:lnTo>
                  <a:lnTo>
                    <a:pt x="1036446" y="140847"/>
                  </a:lnTo>
                  <a:lnTo>
                    <a:pt x="1077524" y="193783"/>
                  </a:lnTo>
                  <a:lnTo>
                    <a:pt x="1091946" y="251460"/>
                  </a:lnTo>
                  <a:lnTo>
                    <a:pt x="1088272" y="280796"/>
                  </a:lnTo>
                  <a:lnTo>
                    <a:pt x="1060112" y="336291"/>
                  </a:lnTo>
                  <a:lnTo>
                    <a:pt x="1006936" y="386291"/>
                  </a:lnTo>
                  <a:lnTo>
                    <a:pt x="971990" y="408760"/>
                  </a:lnTo>
                  <a:lnTo>
                    <a:pt x="932021" y="429291"/>
                  </a:lnTo>
                  <a:lnTo>
                    <a:pt x="887436" y="447696"/>
                  </a:lnTo>
                  <a:lnTo>
                    <a:pt x="838647" y="463785"/>
                  </a:lnTo>
                  <a:lnTo>
                    <a:pt x="786062" y="477371"/>
                  </a:lnTo>
                  <a:lnTo>
                    <a:pt x="730093" y="488266"/>
                  </a:lnTo>
                  <a:lnTo>
                    <a:pt x="671148" y="496281"/>
                  </a:lnTo>
                  <a:lnTo>
                    <a:pt x="609638" y="501229"/>
                  </a:lnTo>
                  <a:lnTo>
                    <a:pt x="545973" y="502920"/>
                  </a:lnTo>
                  <a:close/>
                </a:path>
              </a:pathLst>
            </a:custGeom>
            <a:ln w="28575">
              <a:solidFill>
                <a:srgbClr val="00AF50"/>
              </a:solidFill>
            </a:ln>
          </p:spPr>
          <p:txBody>
            <a:bodyPr wrap="square" lIns="0" tIns="0" rIns="0" bIns="0" rtlCol="0"/>
            <a:lstStyle/>
            <a:p>
              <a:endParaRPr/>
            </a:p>
          </p:txBody>
        </p:sp>
        <p:sp>
          <p:nvSpPr>
            <p:cNvPr id="11" name="object 16"/>
            <p:cNvSpPr/>
            <p:nvPr/>
          </p:nvSpPr>
          <p:spPr>
            <a:xfrm>
              <a:off x="9348084" y="3815685"/>
              <a:ext cx="582930" cy="312420"/>
            </a:xfrm>
            <a:custGeom>
              <a:avLst/>
              <a:gdLst/>
              <a:ahLst/>
              <a:cxnLst/>
              <a:rect l="l" t="t" r="r" b="b"/>
              <a:pathLst>
                <a:path w="582929" h="312420">
                  <a:moveTo>
                    <a:pt x="256417" y="294542"/>
                  </a:moveTo>
                  <a:lnTo>
                    <a:pt x="198640" y="276944"/>
                  </a:lnTo>
                  <a:lnTo>
                    <a:pt x="146201" y="255103"/>
                  </a:lnTo>
                  <a:lnTo>
                    <a:pt x="100125" y="229871"/>
                  </a:lnTo>
                  <a:lnTo>
                    <a:pt x="61440" y="202102"/>
                  </a:lnTo>
                  <a:lnTo>
                    <a:pt x="31173" y="172648"/>
                  </a:lnTo>
                  <a:lnTo>
                    <a:pt x="0" y="112098"/>
                  </a:lnTo>
                  <a:lnTo>
                    <a:pt x="1147" y="82706"/>
                  </a:lnTo>
                  <a:lnTo>
                    <a:pt x="37574" y="34595"/>
                  </a:lnTo>
                  <a:lnTo>
                    <a:pt x="110923" y="6332"/>
                  </a:lnTo>
                  <a:lnTo>
                    <a:pt x="158172" y="294"/>
                  </a:lnTo>
                  <a:lnTo>
                    <a:pt x="210727" y="0"/>
                  </a:lnTo>
                  <a:lnTo>
                    <a:pt x="267279" y="5709"/>
                  </a:lnTo>
                  <a:lnTo>
                    <a:pt x="326521" y="17682"/>
                  </a:lnTo>
                  <a:lnTo>
                    <a:pt x="384297" y="35322"/>
                  </a:lnTo>
                  <a:lnTo>
                    <a:pt x="436735" y="57195"/>
                  </a:lnTo>
                  <a:lnTo>
                    <a:pt x="482806" y="82449"/>
                  </a:lnTo>
                  <a:lnTo>
                    <a:pt x="521482" y="110234"/>
                  </a:lnTo>
                  <a:lnTo>
                    <a:pt x="551734" y="139697"/>
                  </a:lnTo>
                  <a:lnTo>
                    <a:pt x="582853" y="200254"/>
                  </a:lnTo>
                  <a:lnTo>
                    <a:pt x="581664" y="229645"/>
                  </a:lnTo>
                  <a:lnTo>
                    <a:pt x="545239" y="277754"/>
                  </a:lnTo>
                  <a:lnTo>
                    <a:pt x="471904" y="306004"/>
                  </a:lnTo>
                  <a:lnTo>
                    <a:pt x="424670" y="312027"/>
                  </a:lnTo>
                  <a:lnTo>
                    <a:pt x="372138" y="312298"/>
                  </a:lnTo>
                  <a:lnTo>
                    <a:pt x="315617" y="306558"/>
                  </a:lnTo>
                  <a:lnTo>
                    <a:pt x="256417" y="294542"/>
                  </a:lnTo>
                  <a:close/>
                </a:path>
              </a:pathLst>
            </a:custGeom>
            <a:ln w="28575">
              <a:solidFill>
                <a:srgbClr val="000000"/>
              </a:solidFill>
            </a:ln>
          </p:spPr>
          <p:txBody>
            <a:bodyPr wrap="square" lIns="0" tIns="0" rIns="0" bIns="0" rtlCol="0"/>
            <a:lstStyle/>
            <a:p>
              <a:endParaRPr/>
            </a:p>
          </p:txBody>
        </p:sp>
      </p:grpSp>
      <p:sp>
        <p:nvSpPr>
          <p:cNvPr id="12" name="object 18"/>
          <p:cNvSpPr txBox="1"/>
          <p:nvPr/>
        </p:nvSpPr>
        <p:spPr>
          <a:xfrm>
            <a:off x="4473257" y="5622354"/>
            <a:ext cx="1096010"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Segoe Print"/>
                <a:cs typeface="Segoe Print"/>
              </a:rPr>
              <a:t>Hierarchical</a:t>
            </a:r>
            <a:endParaRPr sz="1400">
              <a:latin typeface="Segoe Print"/>
              <a:cs typeface="Segoe Print"/>
            </a:endParaRPr>
          </a:p>
        </p:txBody>
      </p:sp>
    </p:spTree>
    <p:extLst>
      <p:ext uri="{BB962C8B-B14F-4D97-AF65-F5344CB8AC3E}">
        <p14:creationId xmlns:p14="http://schemas.microsoft.com/office/powerpoint/2010/main" val="4186547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4400" dirty="0">
                <a:latin typeface="+mn-lt"/>
              </a:rPr>
              <a:t>Clustering Methods</a:t>
            </a:r>
            <a:endParaRPr lang="en-GB" sz="4400" dirty="0">
              <a:latin typeface="+mn-lt"/>
            </a:endParaRPr>
          </a:p>
        </p:txBody>
      </p:sp>
      <p:sp>
        <p:nvSpPr>
          <p:cNvPr id="3" name="Content Placeholder 2"/>
          <p:cNvSpPr>
            <a:spLocks noGrp="1"/>
          </p:cNvSpPr>
          <p:nvPr>
            <p:ph idx="1"/>
          </p:nvPr>
        </p:nvSpPr>
        <p:spPr>
          <a:xfrm>
            <a:off x="304800" y="1524000"/>
            <a:ext cx="8610600" cy="4953000"/>
          </a:xfrm>
        </p:spPr>
        <p:txBody>
          <a:bodyPr>
            <a:normAutofit fontScale="85000" lnSpcReduction="10000"/>
          </a:bodyPr>
          <a:lstStyle/>
          <a:p>
            <a:pPr algn="just">
              <a:lnSpc>
                <a:spcPct val="150000"/>
              </a:lnSpc>
            </a:pPr>
            <a:r>
              <a:rPr lang="en-US" sz="2000" b="1" dirty="0"/>
              <a:t>Partitioning Methods:</a:t>
            </a:r>
            <a:r>
              <a:rPr lang="en-US" sz="2000" dirty="0"/>
              <a:t> These methods partition the objects into k clusters and each partition forms one cluster. </a:t>
            </a:r>
          </a:p>
          <a:p>
            <a:pPr algn="just">
              <a:lnSpc>
                <a:spcPct val="150000"/>
              </a:lnSpc>
            </a:pPr>
            <a:r>
              <a:rPr lang="en-US" sz="2000" spc="-5" dirty="0">
                <a:cs typeface="Segoe Print"/>
              </a:rPr>
              <a:t>Divides</a:t>
            </a:r>
            <a:r>
              <a:rPr lang="en-US" sz="2000" spc="5" dirty="0">
                <a:cs typeface="Segoe Print"/>
              </a:rPr>
              <a:t> </a:t>
            </a:r>
            <a:r>
              <a:rPr lang="en-US" sz="2000" spc="-5" dirty="0">
                <a:cs typeface="Segoe Print"/>
              </a:rPr>
              <a:t>data</a:t>
            </a:r>
            <a:r>
              <a:rPr lang="en-US" sz="2000" spc="10" dirty="0">
                <a:cs typeface="Segoe Print"/>
              </a:rPr>
              <a:t> </a:t>
            </a:r>
            <a:r>
              <a:rPr lang="en-US" sz="2000" spc="-5" dirty="0">
                <a:cs typeface="Segoe Print"/>
              </a:rPr>
              <a:t>points</a:t>
            </a:r>
            <a:r>
              <a:rPr lang="en-US" sz="2000" spc="-10" dirty="0">
                <a:cs typeface="Segoe Print"/>
              </a:rPr>
              <a:t> </a:t>
            </a:r>
            <a:r>
              <a:rPr lang="en-US" sz="2000" spc="-5" dirty="0">
                <a:cs typeface="Segoe Print"/>
              </a:rPr>
              <a:t>into</a:t>
            </a:r>
            <a:r>
              <a:rPr lang="en-US" sz="2000" spc="-10" dirty="0">
                <a:cs typeface="Segoe Print"/>
              </a:rPr>
              <a:t> </a:t>
            </a:r>
            <a:r>
              <a:rPr lang="en-US" sz="2000" spc="-5" dirty="0">
                <a:cs typeface="Segoe Print"/>
              </a:rPr>
              <a:t>non-overlapping</a:t>
            </a:r>
            <a:r>
              <a:rPr lang="en-US" sz="2000" spc="-10" dirty="0">
                <a:cs typeface="Segoe Print"/>
              </a:rPr>
              <a:t> </a:t>
            </a:r>
            <a:r>
              <a:rPr lang="en-US" sz="2000" spc="-5" dirty="0">
                <a:cs typeface="Segoe Print"/>
              </a:rPr>
              <a:t>subsets </a:t>
            </a:r>
            <a:r>
              <a:rPr lang="en-US" sz="2000" dirty="0">
                <a:cs typeface="Segoe Print"/>
              </a:rPr>
              <a:t>(clusters)</a:t>
            </a:r>
            <a:r>
              <a:rPr lang="en-US" sz="2000" spc="-5" dirty="0">
                <a:cs typeface="Segoe Print"/>
              </a:rPr>
              <a:t> such </a:t>
            </a:r>
            <a:r>
              <a:rPr lang="en-US" sz="2000" spc="-705" dirty="0">
                <a:cs typeface="Segoe Print"/>
              </a:rPr>
              <a:t> </a:t>
            </a:r>
            <a:r>
              <a:rPr lang="en-US" sz="2000" dirty="0">
                <a:cs typeface="Segoe Print"/>
              </a:rPr>
              <a:t>that</a:t>
            </a:r>
            <a:r>
              <a:rPr lang="en-US" sz="2000" spc="15" dirty="0">
                <a:cs typeface="Segoe Print"/>
              </a:rPr>
              <a:t> </a:t>
            </a:r>
            <a:r>
              <a:rPr lang="en-US" sz="2000" spc="-5" dirty="0">
                <a:cs typeface="Segoe Print"/>
              </a:rPr>
              <a:t>each</a:t>
            </a:r>
            <a:r>
              <a:rPr lang="en-US" sz="2000" spc="10" dirty="0">
                <a:cs typeface="Segoe Print"/>
              </a:rPr>
              <a:t> </a:t>
            </a:r>
            <a:r>
              <a:rPr lang="en-US" sz="2000" spc="-5" dirty="0">
                <a:cs typeface="Segoe Print"/>
              </a:rPr>
              <a:t>data</a:t>
            </a:r>
            <a:r>
              <a:rPr lang="en-US" sz="2000" spc="5" dirty="0">
                <a:cs typeface="Segoe Print"/>
              </a:rPr>
              <a:t> </a:t>
            </a:r>
            <a:r>
              <a:rPr lang="en-US" sz="2000" spc="-5" dirty="0">
                <a:cs typeface="Segoe Print"/>
              </a:rPr>
              <a:t>point is</a:t>
            </a:r>
            <a:r>
              <a:rPr lang="en-US" sz="2000" spc="5" dirty="0">
                <a:cs typeface="Segoe Print"/>
              </a:rPr>
              <a:t> </a:t>
            </a:r>
            <a:r>
              <a:rPr lang="en-US" sz="2000" spc="-5" dirty="0">
                <a:cs typeface="Segoe Print"/>
              </a:rPr>
              <a:t>in </a:t>
            </a:r>
            <a:r>
              <a:rPr lang="en-US" sz="2000" spc="5" dirty="0">
                <a:cs typeface="Segoe Print"/>
              </a:rPr>
              <a:t>exactly</a:t>
            </a:r>
            <a:r>
              <a:rPr lang="en-US" sz="2000" spc="15" dirty="0">
                <a:cs typeface="Segoe Print"/>
              </a:rPr>
              <a:t> </a:t>
            </a:r>
            <a:r>
              <a:rPr lang="en-US" sz="2000" spc="-5" dirty="0">
                <a:cs typeface="Segoe Print"/>
              </a:rPr>
              <a:t>one subset.</a:t>
            </a:r>
            <a:endParaRPr lang="en-US" sz="2000" dirty="0">
              <a:cs typeface="Segoe Print"/>
            </a:endParaRPr>
          </a:p>
          <a:p>
            <a:pPr algn="just">
              <a:lnSpc>
                <a:spcPct val="150000"/>
              </a:lnSpc>
            </a:pPr>
            <a:r>
              <a:rPr lang="en-US" sz="2000" dirty="0"/>
              <a:t>This method is used to optimize an objective criterion similarity function such as when the distance is a major parameter example </a:t>
            </a:r>
            <a:r>
              <a:rPr lang="en-US" sz="2000" i="1" dirty="0"/>
              <a:t>K-means, CLARANS (Clustering Large Applications based upon Randomized Search)</a:t>
            </a:r>
            <a:r>
              <a:rPr lang="en-US" sz="2000" dirty="0"/>
              <a:t>, etc.</a:t>
            </a:r>
          </a:p>
          <a:p>
            <a:pPr lvl="1" algn="just">
              <a:lnSpc>
                <a:spcPct val="150000"/>
              </a:lnSpc>
            </a:pPr>
            <a:r>
              <a:rPr lang="en-US" sz="2000" dirty="0"/>
              <a:t>Construct a partition of a data set to produce several clusters – At once</a:t>
            </a:r>
          </a:p>
          <a:p>
            <a:pPr lvl="1" algn="just">
              <a:lnSpc>
                <a:spcPct val="150000"/>
              </a:lnSpc>
            </a:pPr>
            <a:r>
              <a:rPr lang="en-US" sz="2000" dirty="0"/>
              <a:t>The process is repeated iteratively – Termination condition</a:t>
            </a:r>
          </a:p>
          <a:p>
            <a:pPr lvl="1" algn="just">
              <a:lnSpc>
                <a:spcPct val="150000"/>
              </a:lnSpc>
            </a:pPr>
            <a:r>
              <a:rPr lang="en-US" sz="2000" dirty="0"/>
              <a:t>Examples</a:t>
            </a:r>
          </a:p>
          <a:p>
            <a:pPr lvl="2" algn="just">
              <a:lnSpc>
                <a:spcPct val="150000"/>
              </a:lnSpc>
            </a:pPr>
            <a:r>
              <a:rPr lang="en-US" sz="2000" dirty="0"/>
              <a:t> </a:t>
            </a:r>
            <a:r>
              <a:rPr lang="en-US" sz="2000" i="1" dirty="0"/>
              <a:t>K-means clustering</a:t>
            </a:r>
          </a:p>
          <a:p>
            <a:pPr lvl="2" algn="just">
              <a:lnSpc>
                <a:spcPct val="150000"/>
              </a:lnSpc>
            </a:pPr>
            <a:r>
              <a:rPr lang="en-US" sz="2000" i="1" dirty="0"/>
              <a:t> Fuzzy c-means clustering</a:t>
            </a:r>
          </a:p>
          <a:p>
            <a:pPr algn="just">
              <a:lnSpc>
                <a:spcPct val="150000"/>
              </a:lnSpc>
            </a:pPr>
            <a:endParaRPr lang="en-US" sz="2000" dirty="0"/>
          </a:p>
          <a:p>
            <a:pPr algn="just">
              <a:lnSpc>
                <a:spcPct val="150000"/>
              </a:lnSpc>
            </a:pPr>
            <a:endParaRPr lang="en-GB" sz="2000" dirty="0"/>
          </a:p>
        </p:txBody>
      </p:sp>
      <p:pic>
        <p:nvPicPr>
          <p:cNvPr id="4" name="object 8"/>
          <p:cNvPicPr/>
          <p:nvPr/>
        </p:nvPicPr>
        <p:blipFill>
          <a:blip r:embed="rId2" cstate="print"/>
          <a:stretch>
            <a:fillRect/>
          </a:stretch>
        </p:blipFill>
        <p:spPr>
          <a:xfrm>
            <a:off x="4800600" y="5181600"/>
            <a:ext cx="1818894" cy="1527048"/>
          </a:xfrm>
          <a:prstGeom prst="rect">
            <a:avLst/>
          </a:prstGeom>
        </p:spPr>
      </p:pic>
      <p:sp>
        <p:nvSpPr>
          <p:cNvPr id="5" name="object 17"/>
          <p:cNvSpPr txBox="1"/>
          <p:nvPr/>
        </p:nvSpPr>
        <p:spPr>
          <a:xfrm>
            <a:off x="6619494" y="5706364"/>
            <a:ext cx="988060"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Segoe Print"/>
                <a:cs typeface="Segoe Print"/>
              </a:rPr>
              <a:t>Partitional</a:t>
            </a:r>
            <a:endParaRPr sz="1400" dirty="0">
              <a:latin typeface="Segoe Print"/>
              <a:cs typeface="Segoe Print"/>
            </a:endParaRPr>
          </a:p>
        </p:txBody>
      </p:sp>
    </p:spTree>
    <p:extLst>
      <p:ext uri="{BB962C8B-B14F-4D97-AF65-F5344CB8AC3E}">
        <p14:creationId xmlns:p14="http://schemas.microsoft.com/office/powerpoint/2010/main" val="885602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400" dirty="0">
                <a:latin typeface="+mn-lt"/>
              </a:rPr>
              <a:t>Grid-based Methods</a:t>
            </a:r>
            <a:endParaRPr lang="en-GB" sz="4400" dirty="0">
              <a:latin typeface="+mn-lt"/>
            </a:endParaRPr>
          </a:p>
        </p:txBody>
      </p:sp>
      <p:sp>
        <p:nvSpPr>
          <p:cNvPr id="3" name="Content Placeholder 2"/>
          <p:cNvSpPr>
            <a:spLocks noGrp="1"/>
          </p:cNvSpPr>
          <p:nvPr>
            <p:ph idx="1"/>
          </p:nvPr>
        </p:nvSpPr>
        <p:spPr/>
        <p:txBody>
          <a:bodyPr>
            <a:normAutofit/>
          </a:bodyPr>
          <a:lstStyle/>
          <a:p>
            <a:pPr algn="just">
              <a:lnSpc>
                <a:spcPct val="150000"/>
              </a:lnSpc>
            </a:pPr>
            <a:r>
              <a:rPr lang="en-US" sz="2000" dirty="0"/>
              <a:t>In this method, the data space is formulated into a finite number of cells that form a grid-like structure. </a:t>
            </a:r>
          </a:p>
          <a:p>
            <a:pPr algn="just">
              <a:lnSpc>
                <a:spcPct val="150000"/>
              </a:lnSpc>
            </a:pPr>
            <a:r>
              <a:rPr lang="en-US" sz="2000" dirty="0"/>
              <a:t>All the clustering operations done on these grids are fast and independent of the number of data objects example </a:t>
            </a:r>
            <a:r>
              <a:rPr lang="en-US" sz="2000" i="1" dirty="0"/>
              <a:t>STING (Statistical Information Grid), wave cluster, CLIQUE (</a:t>
            </a:r>
            <a:r>
              <a:rPr lang="en-US" sz="2000" i="1" dirty="0" err="1"/>
              <a:t>CLustering</a:t>
            </a:r>
            <a:r>
              <a:rPr lang="en-US" sz="2000" i="1" dirty="0"/>
              <a:t> In Quest)</a:t>
            </a:r>
            <a:r>
              <a:rPr lang="en-US" sz="2000" dirty="0"/>
              <a:t>, etc.</a:t>
            </a:r>
            <a:endParaRPr lang="en-GB" sz="2000" dirty="0"/>
          </a:p>
        </p:txBody>
      </p:sp>
    </p:spTree>
    <p:extLst>
      <p:ext uri="{BB962C8B-B14F-4D97-AF65-F5344CB8AC3E}">
        <p14:creationId xmlns:p14="http://schemas.microsoft.com/office/powerpoint/2010/main" val="2241368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838" y="0"/>
            <a:ext cx="8229600" cy="1143000"/>
          </a:xfrm>
        </p:spPr>
        <p:txBody>
          <a:bodyPr>
            <a:normAutofit/>
          </a:bodyPr>
          <a:lstStyle/>
          <a:p>
            <a:r>
              <a:rPr lang="en-GB" spc="-15" dirty="0">
                <a:latin typeface="+mn-lt"/>
              </a:rPr>
              <a:t>Clustering</a:t>
            </a:r>
            <a:endParaRPr lang="en-GB" dirty="0">
              <a:latin typeface="+mn-lt"/>
            </a:endParaRPr>
          </a:p>
        </p:txBody>
      </p:sp>
      <p:sp>
        <p:nvSpPr>
          <p:cNvPr id="5" name="object 3"/>
          <p:cNvSpPr txBox="1"/>
          <p:nvPr/>
        </p:nvSpPr>
        <p:spPr>
          <a:xfrm>
            <a:off x="253737" y="1165740"/>
            <a:ext cx="7163562" cy="382156"/>
          </a:xfrm>
          <a:prstGeom prst="rect">
            <a:avLst/>
          </a:prstGeom>
        </p:spPr>
        <p:txBody>
          <a:bodyPr vert="horz" wrap="square" lIns="0" tIns="12700" rIns="0" bIns="0" rtlCol="0">
            <a:spAutoFit/>
          </a:bodyPr>
          <a:lstStyle/>
          <a:p>
            <a:pPr marL="12700">
              <a:lnSpc>
                <a:spcPct val="100000"/>
              </a:lnSpc>
              <a:spcBef>
                <a:spcPts val="100"/>
              </a:spcBef>
            </a:pPr>
            <a:r>
              <a:rPr sz="2400" b="1" u="heavy" spc="-5" dirty="0">
                <a:solidFill>
                  <a:srgbClr val="006FC0"/>
                </a:solidFill>
                <a:uFill>
                  <a:solidFill>
                    <a:srgbClr val="006FC0"/>
                  </a:solidFill>
                </a:uFill>
                <a:cs typeface="Calibri"/>
              </a:rPr>
              <a:t>(</a:t>
            </a:r>
            <a:r>
              <a:rPr lang="en-GB" sz="2400" b="1" spc="-5" dirty="0">
                <a:solidFill>
                  <a:srgbClr val="006FC0"/>
                </a:solidFill>
                <a:uFill>
                  <a:solidFill>
                    <a:srgbClr val="006FC0"/>
                  </a:solidFill>
                </a:uFill>
                <a:cs typeface="Calibri"/>
              </a:rPr>
              <a:t>Dis)similarity</a:t>
            </a:r>
            <a:r>
              <a:rPr lang="en-GB" sz="2400" b="1" spc="-10" dirty="0">
                <a:solidFill>
                  <a:srgbClr val="006FC0"/>
                </a:solidFill>
                <a:uFill>
                  <a:solidFill>
                    <a:srgbClr val="006FC0"/>
                  </a:solidFill>
                </a:uFill>
                <a:cs typeface="Calibri"/>
              </a:rPr>
              <a:t> </a:t>
            </a:r>
            <a:r>
              <a:rPr lang="en-GB" sz="2400" b="1" dirty="0">
                <a:solidFill>
                  <a:srgbClr val="006FC0"/>
                </a:solidFill>
                <a:uFill>
                  <a:solidFill>
                    <a:srgbClr val="006FC0"/>
                  </a:solidFill>
                </a:uFill>
                <a:cs typeface="Calibri"/>
              </a:rPr>
              <a:t>Using </a:t>
            </a:r>
            <a:r>
              <a:rPr lang="en-GB" sz="2400" b="1" spc="-10" dirty="0">
                <a:solidFill>
                  <a:srgbClr val="006FC0"/>
                </a:solidFill>
                <a:uFill>
                  <a:solidFill>
                    <a:srgbClr val="006FC0"/>
                  </a:solidFill>
                </a:uFill>
                <a:cs typeface="Calibri"/>
              </a:rPr>
              <a:t>Distance</a:t>
            </a:r>
            <a:r>
              <a:rPr lang="en-GB" sz="2400" b="1" dirty="0">
                <a:solidFill>
                  <a:srgbClr val="006FC0"/>
                </a:solidFill>
                <a:uFill>
                  <a:solidFill>
                    <a:srgbClr val="006FC0"/>
                  </a:solidFill>
                </a:uFill>
                <a:cs typeface="Calibri"/>
              </a:rPr>
              <a:t> </a:t>
            </a:r>
            <a:r>
              <a:rPr lang="en-GB" sz="2400" b="1" spc="-5" dirty="0">
                <a:solidFill>
                  <a:srgbClr val="006FC0"/>
                </a:solidFill>
                <a:uFill>
                  <a:solidFill>
                    <a:srgbClr val="006FC0"/>
                  </a:solidFill>
                </a:uFill>
                <a:cs typeface="Calibri"/>
              </a:rPr>
              <a:t>Metric:</a:t>
            </a:r>
            <a:endParaRPr sz="2400" dirty="0">
              <a:cs typeface="Calibri"/>
            </a:endParaRPr>
          </a:p>
        </p:txBody>
      </p:sp>
      <p:pic>
        <p:nvPicPr>
          <p:cNvPr id="6" name="object 4"/>
          <p:cNvPicPr/>
          <p:nvPr/>
        </p:nvPicPr>
        <p:blipFill>
          <a:blip r:embed="rId2" cstate="print"/>
          <a:stretch>
            <a:fillRect/>
          </a:stretch>
        </p:blipFill>
        <p:spPr>
          <a:xfrm>
            <a:off x="275508" y="1752600"/>
            <a:ext cx="8487492" cy="502158"/>
          </a:xfrm>
          <a:prstGeom prst="rect">
            <a:avLst/>
          </a:prstGeom>
        </p:spPr>
      </p:pic>
      <p:pic>
        <p:nvPicPr>
          <p:cNvPr id="7" name="object 5"/>
          <p:cNvPicPr/>
          <p:nvPr/>
        </p:nvPicPr>
        <p:blipFill>
          <a:blip r:embed="rId3" cstate="print"/>
          <a:stretch>
            <a:fillRect/>
          </a:stretch>
        </p:blipFill>
        <p:spPr>
          <a:xfrm>
            <a:off x="253737" y="2426352"/>
            <a:ext cx="7487411" cy="447293"/>
          </a:xfrm>
          <a:prstGeom prst="rect">
            <a:avLst/>
          </a:prstGeom>
        </p:spPr>
      </p:pic>
      <p:pic>
        <p:nvPicPr>
          <p:cNvPr id="8" name="object 6"/>
          <p:cNvPicPr/>
          <p:nvPr/>
        </p:nvPicPr>
        <p:blipFill>
          <a:blip r:embed="rId4" cstate="print"/>
          <a:stretch>
            <a:fillRect/>
          </a:stretch>
        </p:blipFill>
        <p:spPr>
          <a:xfrm>
            <a:off x="630173" y="3905962"/>
            <a:ext cx="2469642" cy="229362"/>
          </a:xfrm>
          <a:prstGeom prst="rect">
            <a:avLst/>
          </a:prstGeom>
        </p:spPr>
      </p:pic>
      <p:pic>
        <p:nvPicPr>
          <p:cNvPr id="9" name="object 7"/>
          <p:cNvPicPr/>
          <p:nvPr/>
        </p:nvPicPr>
        <p:blipFill>
          <a:blip r:embed="rId5" cstate="print"/>
          <a:stretch>
            <a:fillRect/>
          </a:stretch>
        </p:blipFill>
        <p:spPr>
          <a:xfrm>
            <a:off x="630173" y="4315918"/>
            <a:ext cx="2917698" cy="229361"/>
          </a:xfrm>
          <a:prstGeom prst="rect">
            <a:avLst/>
          </a:prstGeom>
        </p:spPr>
      </p:pic>
      <p:pic>
        <p:nvPicPr>
          <p:cNvPr id="10" name="object 8"/>
          <p:cNvPicPr/>
          <p:nvPr/>
        </p:nvPicPr>
        <p:blipFill>
          <a:blip r:embed="rId6" cstate="print"/>
          <a:stretch>
            <a:fillRect/>
          </a:stretch>
        </p:blipFill>
        <p:spPr>
          <a:xfrm>
            <a:off x="630173" y="4717492"/>
            <a:ext cx="3902964" cy="228600"/>
          </a:xfrm>
          <a:prstGeom prst="rect">
            <a:avLst/>
          </a:prstGeom>
        </p:spPr>
      </p:pic>
      <p:pic>
        <p:nvPicPr>
          <p:cNvPr id="11" name="object 9"/>
          <p:cNvPicPr/>
          <p:nvPr/>
        </p:nvPicPr>
        <p:blipFill>
          <a:blip r:embed="rId7" cstate="print"/>
          <a:stretch>
            <a:fillRect/>
          </a:stretch>
        </p:blipFill>
        <p:spPr>
          <a:xfrm>
            <a:off x="630173" y="3570681"/>
            <a:ext cx="1610868" cy="228600"/>
          </a:xfrm>
          <a:prstGeom prst="rect">
            <a:avLst/>
          </a:prstGeom>
        </p:spPr>
      </p:pic>
      <p:sp>
        <p:nvSpPr>
          <p:cNvPr id="12" name="object 10"/>
          <p:cNvSpPr txBox="1"/>
          <p:nvPr/>
        </p:nvSpPr>
        <p:spPr>
          <a:xfrm>
            <a:off x="253737" y="3189509"/>
            <a:ext cx="8645525" cy="3055965"/>
          </a:xfrm>
          <a:prstGeom prst="rect">
            <a:avLst/>
          </a:prstGeom>
        </p:spPr>
        <p:txBody>
          <a:bodyPr vert="horz" wrap="square" lIns="0" tIns="12700" rIns="0" bIns="0" rtlCol="0">
            <a:spAutoFit/>
          </a:bodyPr>
          <a:lstStyle/>
          <a:p>
            <a:pPr marL="4608195" marR="2472055">
              <a:lnSpc>
                <a:spcPct val="153200"/>
              </a:lnSpc>
              <a:spcBef>
                <a:spcPts val="100"/>
              </a:spcBef>
            </a:pPr>
            <a:r>
              <a:rPr sz="1600" b="1" spc="-5" dirty="0">
                <a:cs typeface="Segoe Print"/>
              </a:rPr>
              <a:t>No</a:t>
            </a:r>
            <a:r>
              <a:rPr sz="1600" b="1" dirty="0">
                <a:cs typeface="Segoe Print"/>
              </a:rPr>
              <a:t>n-</a:t>
            </a:r>
            <a:r>
              <a:rPr sz="1600" b="1" spc="-5" dirty="0">
                <a:cs typeface="Segoe Print"/>
              </a:rPr>
              <a:t>negat</a:t>
            </a:r>
            <a:r>
              <a:rPr sz="1600" b="1" dirty="0">
                <a:cs typeface="Segoe Print"/>
              </a:rPr>
              <a:t>ivity  Symmetry</a:t>
            </a:r>
            <a:endParaRPr sz="1600" dirty="0">
              <a:cs typeface="Segoe Print"/>
            </a:endParaRPr>
          </a:p>
          <a:p>
            <a:pPr marL="4608195" marR="1880870">
              <a:lnSpc>
                <a:spcPct val="152800"/>
              </a:lnSpc>
              <a:spcBef>
                <a:spcPts val="250"/>
              </a:spcBef>
            </a:pPr>
            <a:r>
              <a:rPr sz="1600" b="1" dirty="0">
                <a:cs typeface="Segoe Print"/>
              </a:rPr>
              <a:t>Self-Similarity </a:t>
            </a:r>
            <a:r>
              <a:rPr sz="1600" b="1" spc="5" dirty="0">
                <a:cs typeface="Segoe Print"/>
              </a:rPr>
              <a:t> </a:t>
            </a:r>
            <a:r>
              <a:rPr sz="1600" b="1" dirty="0">
                <a:cs typeface="Segoe Print"/>
              </a:rPr>
              <a:t>Triangular</a:t>
            </a:r>
            <a:r>
              <a:rPr sz="1600" b="1" spc="-80" dirty="0">
                <a:cs typeface="Segoe Print"/>
              </a:rPr>
              <a:t> </a:t>
            </a:r>
            <a:r>
              <a:rPr sz="1600" b="1" dirty="0">
                <a:cs typeface="Segoe Print"/>
              </a:rPr>
              <a:t>Inequality</a:t>
            </a:r>
            <a:endParaRPr sz="1600" dirty="0">
              <a:cs typeface="Segoe Print"/>
            </a:endParaRPr>
          </a:p>
          <a:p>
            <a:pPr>
              <a:lnSpc>
                <a:spcPct val="100000"/>
              </a:lnSpc>
              <a:spcBef>
                <a:spcPts val="35"/>
              </a:spcBef>
            </a:pPr>
            <a:endParaRPr sz="2500" dirty="0">
              <a:cs typeface="Segoe Print"/>
            </a:endParaRPr>
          </a:p>
          <a:p>
            <a:pPr marL="298450" marR="5080" indent="-285750">
              <a:lnSpc>
                <a:spcPct val="100000"/>
              </a:lnSpc>
              <a:buChar char="-"/>
              <a:tabLst>
                <a:tab pos="297815" algn="l"/>
                <a:tab pos="298450" algn="l"/>
              </a:tabLst>
            </a:pPr>
            <a:r>
              <a:rPr sz="1800" dirty="0">
                <a:cs typeface="Segoe Print"/>
              </a:rPr>
              <a:t>We</a:t>
            </a:r>
            <a:r>
              <a:rPr sz="1800" spc="-10" dirty="0">
                <a:cs typeface="Segoe Print"/>
              </a:rPr>
              <a:t> </a:t>
            </a:r>
            <a:r>
              <a:rPr lang="en-GB" sz="1800" spc="-5" dirty="0">
                <a:cs typeface="Segoe Print"/>
              </a:rPr>
              <a:t>can use: </a:t>
            </a:r>
            <a:r>
              <a:rPr sz="1800" spc="-5" dirty="0" err="1">
                <a:cs typeface="Segoe Print"/>
              </a:rPr>
              <a:t>Minkowski</a:t>
            </a:r>
            <a:r>
              <a:rPr sz="1800" spc="-5" dirty="0">
                <a:cs typeface="Segoe Print"/>
              </a:rPr>
              <a:t>,</a:t>
            </a:r>
            <a:r>
              <a:rPr sz="1800" spc="-10" dirty="0">
                <a:cs typeface="Segoe Print"/>
              </a:rPr>
              <a:t> </a:t>
            </a:r>
            <a:r>
              <a:rPr sz="1800" spc="-5" dirty="0">
                <a:cs typeface="Segoe Print"/>
              </a:rPr>
              <a:t>Euclidean</a:t>
            </a:r>
            <a:r>
              <a:rPr sz="1800" spc="5" dirty="0">
                <a:cs typeface="Segoe Print"/>
              </a:rPr>
              <a:t> </a:t>
            </a:r>
            <a:r>
              <a:rPr sz="1800" spc="-5" dirty="0">
                <a:cs typeface="Segoe Print"/>
              </a:rPr>
              <a:t>distance, Manhattan</a:t>
            </a:r>
            <a:r>
              <a:rPr sz="1800" spc="5" dirty="0">
                <a:cs typeface="Segoe Print"/>
              </a:rPr>
              <a:t> </a:t>
            </a:r>
            <a:r>
              <a:rPr sz="1800" spc="-5" dirty="0">
                <a:cs typeface="Segoe Print"/>
              </a:rPr>
              <a:t>distance, </a:t>
            </a:r>
            <a:r>
              <a:rPr sz="1800" spc="-705" dirty="0">
                <a:cs typeface="Segoe Print"/>
              </a:rPr>
              <a:t> </a:t>
            </a:r>
            <a:r>
              <a:rPr sz="1800" spc="-5" dirty="0">
                <a:cs typeface="Segoe Print"/>
              </a:rPr>
              <a:t>Chebyshev</a:t>
            </a:r>
            <a:r>
              <a:rPr sz="1800" spc="5" dirty="0">
                <a:cs typeface="Segoe Print"/>
              </a:rPr>
              <a:t> </a:t>
            </a:r>
            <a:r>
              <a:rPr sz="1800" spc="-5" dirty="0">
                <a:cs typeface="Segoe Print"/>
              </a:rPr>
              <a:t>distance,</a:t>
            </a:r>
            <a:r>
              <a:rPr sz="1800" spc="20" dirty="0">
                <a:cs typeface="Segoe Print"/>
              </a:rPr>
              <a:t> </a:t>
            </a:r>
            <a:r>
              <a:rPr sz="1800" dirty="0">
                <a:solidFill>
                  <a:srgbClr val="C00000"/>
                </a:solidFill>
                <a:cs typeface="Segoe Print"/>
              </a:rPr>
              <a:t>cosine</a:t>
            </a:r>
            <a:r>
              <a:rPr sz="1800" spc="-5" dirty="0">
                <a:solidFill>
                  <a:srgbClr val="C00000"/>
                </a:solidFill>
                <a:cs typeface="Segoe Print"/>
              </a:rPr>
              <a:t> distance</a:t>
            </a:r>
            <a:endParaRPr sz="1800" dirty="0">
              <a:cs typeface="Segoe Print"/>
            </a:endParaRPr>
          </a:p>
          <a:p>
            <a:pPr marL="298450" indent="-285750">
              <a:lnSpc>
                <a:spcPct val="100000"/>
              </a:lnSpc>
              <a:spcBef>
                <a:spcPts val="2160"/>
              </a:spcBef>
              <a:buChar char="-"/>
              <a:tabLst>
                <a:tab pos="297815" algn="l"/>
                <a:tab pos="298450" algn="l"/>
              </a:tabLst>
            </a:pPr>
            <a:r>
              <a:rPr sz="1800" dirty="0">
                <a:cs typeface="Segoe Print"/>
              </a:rPr>
              <a:t>For</a:t>
            </a:r>
            <a:r>
              <a:rPr sz="1800" spc="-20" dirty="0">
                <a:cs typeface="Segoe Print"/>
              </a:rPr>
              <a:t> </a:t>
            </a:r>
            <a:r>
              <a:rPr sz="1800" dirty="0">
                <a:cs typeface="Segoe Print"/>
              </a:rPr>
              <a:t>categorical</a:t>
            </a:r>
            <a:r>
              <a:rPr sz="1800" spc="5" dirty="0">
                <a:cs typeface="Segoe Print"/>
              </a:rPr>
              <a:t> </a:t>
            </a:r>
            <a:r>
              <a:rPr sz="1800" spc="-5" dirty="0">
                <a:cs typeface="Segoe Print"/>
              </a:rPr>
              <a:t>variables,</a:t>
            </a:r>
            <a:r>
              <a:rPr sz="1800" dirty="0">
                <a:cs typeface="Segoe Print"/>
              </a:rPr>
              <a:t> </a:t>
            </a:r>
            <a:r>
              <a:rPr sz="1800" spc="-5" dirty="0">
                <a:cs typeface="Segoe Print"/>
              </a:rPr>
              <a:t>we</a:t>
            </a:r>
            <a:r>
              <a:rPr sz="1800" spc="-15" dirty="0">
                <a:cs typeface="Segoe Print"/>
              </a:rPr>
              <a:t> </a:t>
            </a:r>
            <a:r>
              <a:rPr sz="1800" dirty="0">
                <a:cs typeface="Segoe Print"/>
              </a:rPr>
              <a:t>use</a:t>
            </a:r>
            <a:r>
              <a:rPr sz="1800" spc="5" dirty="0">
                <a:cs typeface="Segoe Print"/>
              </a:rPr>
              <a:t> </a:t>
            </a:r>
            <a:r>
              <a:rPr sz="1800" dirty="0">
                <a:cs typeface="Segoe Print"/>
              </a:rPr>
              <a:t>Hamming</a:t>
            </a:r>
            <a:r>
              <a:rPr sz="1800" spc="-5" dirty="0">
                <a:cs typeface="Segoe Print"/>
              </a:rPr>
              <a:t> distance</a:t>
            </a:r>
            <a:endParaRPr sz="1800" dirty="0">
              <a:cs typeface="Segoe Print"/>
            </a:endParaRPr>
          </a:p>
        </p:txBody>
      </p:sp>
    </p:spTree>
    <p:extLst>
      <p:ext uri="{BB962C8B-B14F-4D97-AF65-F5344CB8AC3E}">
        <p14:creationId xmlns:p14="http://schemas.microsoft.com/office/powerpoint/2010/main" val="99453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GB" sz="4400" dirty="0">
                <a:latin typeface="+mn-lt"/>
              </a:rPr>
              <a:t>Evaluating K-means Clusters</a:t>
            </a:r>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1119" t="35032" r="39939" b="24357"/>
          <a:stretch/>
        </p:blipFill>
        <p:spPr bwMode="auto">
          <a:xfrm>
            <a:off x="533400" y="1600200"/>
            <a:ext cx="81534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5161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400" dirty="0">
                <a:latin typeface="+mn-lt"/>
              </a:rPr>
              <a:t>Evaluation Of Clustering</a:t>
            </a:r>
            <a:endParaRPr lang="en-GB" sz="4400" dirty="0">
              <a:latin typeface="+mn-lt"/>
            </a:endParaRPr>
          </a:p>
        </p:txBody>
      </p:sp>
      <p:sp>
        <p:nvSpPr>
          <p:cNvPr id="3" name="Content Placeholder 2"/>
          <p:cNvSpPr>
            <a:spLocks noGrp="1"/>
          </p:cNvSpPr>
          <p:nvPr>
            <p:ph idx="1"/>
          </p:nvPr>
        </p:nvSpPr>
        <p:spPr>
          <a:xfrm>
            <a:off x="304800" y="1447800"/>
            <a:ext cx="8610600" cy="5029200"/>
          </a:xfrm>
        </p:spPr>
        <p:txBody>
          <a:bodyPr>
            <a:normAutofit/>
          </a:bodyPr>
          <a:lstStyle/>
          <a:p>
            <a:pPr marL="297815" marR="1257300" indent="-285750" algn="just">
              <a:lnSpc>
                <a:spcPct val="150000"/>
              </a:lnSpc>
              <a:spcBef>
                <a:spcPts val="825"/>
              </a:spcBef>
              <a:buChar char="-"/>
              <a:tabLst>
                <a:tab pos="297815" algn="l"/>
                <a:tab pos="298450" algn="l"/>
              </a:tabLst>
            </a:pPr>
            <a:r>
              <a:rPr lang="en-US" sz="2000" dirty="0">
                <a:cs typeface="Segoe Print"/>
              </a:rPr>
              <a:t>Unlike</a:t>
            </a:r>
            <a:r>
              <a:rPr lang="en-US" sz="2000" spc="-5" dirty="0">
                <a:cs typeface="Segoe Print"/>
              </a:rPr>
              <a:t> supervised</a:t>
            </a:r>
            <a:r>
              <a:rPr lang="en-US" sz="2000" spc="10" dirty="0">
                <a:cs typeface="Segoe Print"/>
              </a:rPr>
              <a:t> </a:t>
            </a:r>
            <a:r>
              <a:rPr lang="en-US" sz="2000" spc="-5" dirty="0">
                <a:cs typeface="Segoe Print"/>
              </a:rPr>
              <a:t>learning problems,</a:t>
            </a:r>
            <a:r>
              <a:rPr lang="en-US" sz="2000" spc="-15" dirty="0">
                <a:cs typeface="Segoe Print"/>
              </a:rPr>
              <a:t> </a:t>
            </a:r>
            <a:r>
              <a:rPr lang="en-US" sz="2000" dirty="0">
                <a:cs typeface="Segoe Print"/>
              </a:rPr>
              <a:t>the</a:t>
            </a:r>
            <a:r>
              <a:rPr lang="en-US" sz="2000" spc="5" dirty="0">
                <a:cs typeface="Segoe Print"/>
              </a:rPr>
              <a:t> </a:t>
            </a:r>
            <a:r>
              <a:rPr lang="en-US" sz="2000" dirty="0">
                <a:cs typeface="Segoe Print"/>
              </a:rPr>
              <a:t>evaluation</a:t>
            </a:r>
            <a:r>
              <a:rPr lang="en-US" sz="2000" spc="5" dirty="0">
                <a:cs typeface="Segoe Print"/>
              </a:rPr>
              <a:t> </a:t>
            </a:r>
            <a:r>
              <a:rPr lang="en-US" sz="2000" spc="-5" dirty="0">
                <a:cs typeface="Segoe Print"/>
              </a:rPr>
              <a:t>of quality</a:t>
            </a:r>
            <a:r>
              <a:rPr lang="en-US" sz="2000" spc="20" dirty="0">
                <a:cs typeface="Segoe Print"/>
              </a:rPr>
              <a:t> </a:t>
            </a:r>
            <a:r>
              <a:rPr lang="en-US" sz="2000" spc="-5" dirty="0">
                <a:cs typeface="Segoe Print"/>
              </a:rPr>
              <a:t>of </a:t>
            </a:r>
            <a:r>
              <a:rPr lang="en-US" sz="2000" dirty="0">
                <a:cs typeface="Segoe Print"/>
              </a:rPr>
              <a:t>a </a:t>
            </a:r>
            <a:r>
              <a:rPr lang="en-US" sz="2000" spc="5" dirty="0">
                <a:cs typeface="Segoe Print"/>
              </a:rPr>
              <a:t> </a:t>
            </a:r>
            <a:r>
              <a:rPr lang="en-US" sz="2000" dirty="0">
                <a:cs typeface="Segoe Print"/>
              </a:rPr>
              <a:t>clustering </a:t>
            </a:r>
            <a:r>
              <a:rPr lang="en-US" sz="2000" spc="-5" dirty="0">
                <a:cs typeface="Segoe Print"/>
              </a:rPr>
              <a:t>is </a:t>
            </a:r>
            <a:r>
              <a:rPr lang="en-US" sz="2000" dirty="0">
                <a:cs typeface="Segoe Print"/>
              </a:rPr>
              <a:t>a </a:t>
            </a:r>
            <a:r>
              <a:rPr lang="en-US" sz="2000" dirty="0">
                <a:solidFill>
                  <a:srgbClr val="C00000"/>
                </a:solidFill>
                <a:cs typeface="Segoe Print"/>
              </a:rPr>
              <a:t>hard </a:t>
            </a:r>
            <a:r>
              <a:rPr lang="en-US" sz="2000" spc="-5" dirty="0">
                <a:solidFill>
                  <a:srgbClr val="C00000"/>
                </a:solidFill>
                <a:cs typeface="Segoe Print"/>
              </a:rPr>
              <a:t>problem </a:t>
            </a:r>
            <a:r>
              <a:rPr lang="en-US" sz="2000" dirty="0">
                <a:solidFill>
                  <a:srgbClr val="C00000"/>
                </a:solidFill>
                <a:cs typeface="Segoe Print"/>
              </a:rPr>
              <a:t>and is </a:t>
            </a:r>
            <a:r>
              <a:rPr lang="en-US" sz="2000" spc="5" dirty="0">
                <a:solidFill>
                  <a:srgbClr val="C00000"/>
                </a:solidFill>
                <a:cs typeface="Segoe Print"/>
              </a:rPr>
              <a:t>mostly </a:t>
            </a:r>
            <a:r>
              <a:rPr lang="en-US" sz="2000" spc="-5" dirty="0">
                <a:solidFill>
                  <a:srgbClr val="C00000"/>
                </a:solidFill>
                <a:cs typeface="Segoe Print"/>
              </a:rPr>
              <a:t>subjective </a:t>
            </a:r>
            <a:r>
              <a:rPr lang="en-US" sz="2000" dirty="0">
                <a:cs typeface="Segoe Print"/>
              </a:rPr>
              <a:t>as the </a:t>
            </a:r>
            <a:r>
              <a:rPr lang="en-US" sz="2000" spc="-5" dirty="0">
                <a:cs typeface="Segoe Print"/>
              </a:rPr>
              <a:t>information </a:t>
            </a:r>
            <a:r>
              <a:rPr lang="en-US" sz="2000" spc="-705" dirty="0">
                <a:cs typeface="Segoe Print"/>
              </a:rPr>
              <a:t> </a:t>
            </a:r>
            <a:r>
              <a:rPr lang="en-US" sz="2000" dirty="0">
                <a:cs typeface="Segoe Print"/>
              </a:rPr>
              <a:t>about</a:t>
            </a:r>
            <a:r>
              <a:rPr lang="en-US" sz="2000" spc="10" dirty="0">
                <a:cs typeface="Segoe Print"/>
              </a:rPr>
              <a:t> </a:t>
            </a:r>
            <a:r>
              <a:rPr lang="en-US" sz="2000" spc="-5" dirty="0">
                <a:cs typeface="Segoe Print"/>
              </a:rPr>
              <a:t>correct</a:t>
            </a:r>
            <a:r>
              <a:rPr lang="en-US" sz="2000" dirty="0">
                <a:cs typeface="Segoe Print"/>
              </a:rPr>
              <a:t> clusters </a:t>
            </a:r>
            <a:r>
              <a:rPr lang="en-US" sz="2000" spc="-5" dirty="0">
                <a:cs typeface="Segoe Print"/>
              </a:rPr>
              <a:t>is</a:t>
            </a:r>
            <a:r>
              <a:rPr lang="en-US" sz="2000" dirty="0">
                <a:cs typeface="Segoe Print"/>
              </a:rPr>
              <a:t> </a:t>
            </a:r>
            <a:r>
              <a:rPr lang="en-US" sz="2000" dirty="0">
                <a:solidFill>
                  <a:srgbClr val="C00000"/>
                </a:solidFill>
                <a:cs typeface="Segoe Print"/>
              </a:rPr>
              <a:t>unknown.</a:t>
            </a:r>
            <a:endParaRPr lang="en-US" sz="2000" dirty="0">
              <a:cs typeface="Segoe Print"/>
            </a:endParaRPr>
          </a:p>
          <a:p>
            <a:pPr marL="12700" algn="just">
              <a:spcBef>
                <a:spcPts val="2130"/>
              </a:spcBef>
            </a:pPr>
            <a:r>
              <a:rPr lang="en-US" sz="2000" b="1" u="heavy" spc="-15" dirty="0">
                <a:uFill>
                  <a:solidFill>
                    <a:srgbClr val="000000"/>
                  </a:solidFill>
                </a:uFill>
                <a:cs typeface="Calibri"/>
              </a:rPr>
              <a:t>Evaluation</a:t>
            </a:r>
            <a:r>
              <a:rPr lang="en-US" sz="2000" b="1" u="heavy" spc="-30" dirty="0">
                <a:uFill>
                  <a:solidFill>
                    <a:srgbClr val="000000"/>
                  </a:solidFill>
                </a:uFill>
                <a:cs typeface="Calibri"/>
              </a:rPr>
              <a:t> </a:t>
            </a:r>
            <a:r>
              <a:rPr lang="en-US" sz="2000" b="1" u="heavy" spc="-10" dirty="0">
                <a:uFill>
                  <a:solidFill>
                    <a:srgbClr val="000000"/>
                  </a:solidFill>
                </a:uFill>
                <a:cs typeface="Calibri"/>
              </a:rPr>
              <a:t>criteria:</a:t>
            </a:r>
            <a:endParaRPr lang="en-US" sz="2000" dirty="0">
              <a:cs typeface="Calibri"/>
            </a:endParaRPr>
          </a:p>
          <a:p>
            <a:pPr marL="298450" indent="-285750" algn="just">
              <a:lnSpc>
                <a:spcPct val="150000"/>
              </a:lnSpc>
              <a:spcBef>
                <a:spcPts val="1390"/>
              </a:spcBef>
              <a:buFont typeface="Segoe Print"/>
              <a:buChar char="-"/>
              <a:tabLst>
                <a:tab pos="297815" algn="l"/>
                <a:tab pos="298450" algn="l"/>
              </a:tabLst>
            </a:pPr>
            <a:r>
              <a:rPr lang="en-US" sz="2000" b="1" dirty="0">
                <a:cs typeface="Segoe Print"/>
              </a:rPr>
              <a:t>Using</a:t>
            </a:r>
            <a:r>
              <a:rPr lang="en-US" sz="2000" b="1" spc="-45" dirty="0">
                <a:cs typeface="Segoe Print"/>
              </a:rPr>
              <a:t> </a:t>
            </a:r>
            <a:r>
              <a:rPr lang="en-US" sz="2000" b="1" spc="-5" dirty="0">
                <a:cs typeface="Segoe Print"/>
              </a:rPr>
              <a:t>Internal</a:t>
            </a:r>
            <a:r>
              <a:rPr lang="en-US" sz="2000" b="1" spc="-30" dirty="0">
                <a:cs typeface="Segoe Print"/>
              </a:rPr>
              <a:t> </a:t>
            </a:r>
            <a:r>
              <a:rPr lang="en-US" sz="2000" b="1" spc="-5" dirty="0">
                <a:cs typeface="Segoe Print"/>
              </a:rPr>
              <a:t>Data:</a:t>
            </a:r>
            <a:endParaRPr lang="en-US" sz="2000" dirty="0">
              <a:cs typeface="Segoe Print"/>
            </a:endParaRPr>
          </a:p>
          <a:p>
            <a:pPr marL="755650" lvl="1" indent="-286385" algn="just">
              <a:lnSpc>
                <a:spcPct val="150000"/>
              </a:lnSpc>
              <a:buChar char="-"/>
              <a:tabLst>
                <a:tab pos="755650" algn="l"/>
                <a:tab pos="756285" algn="l"/>
              </a:tabLst>
            </a:pPr>
            <a:r>
              <a:rPr lang="en-US" sz="2000" spc="-5" dirty="0">
                <a:cs typeface="Segoe Print"/>
              </a:rPr>
              <a:t>Use</a:t>
            </a:r>
            <a:r>
              <a:rPr lang="en-US" sz="2000" spc="10" dirty="0">
                <a:cs typeface="Segoe Print"/>
              </a:rPr>
              <a:t> </a:t>
            </a:r>
            <a:r>
              <a:rPr lang="en-US" sz="2000" dirty="0">
                <a:cs typeface="Segoe Print"/>
              </a:rPr>
              <a:t>the unlabeled</a:t>
            </a:r>
            <a:r>
              <a:rPr lang="en-US" sz="2000" spc="-5" dirty="0">
                <a:cs typeface="Segoe Print"/>
              </a:rPr>
              <a:t> data</a:t>
            </a:r>
            <a:r>
              <a:rPr lang="en-US" sz="2000" spc="20" dirty="0">
                <a:cs typeface="Segoe Print"/>
              </a:rPr>
              <a:t> </a:t>
            </a:r>
            <a:r>
              <a:rPr lang="en-US" sz="2000" dirty="0">
                <a:cs typeface="Segoe Print"/>
              </a:rPr>
              <a:t>for</a:t>
            </a:r>
            <a:r>
              <a:rPr lang="en-US" sz="2000" spc="-5" dirty="0">
                <a:cs typeface="Segoe Print"/>
              </a:rPr>
              <a:t> evaluation</a:t>
            </a:r>
            <a:r>
              <a:rPr lang="en-US" sz="2000" spc="10" dirty="0">
                <a:cs typeface="Segoe Print"/>
              </a:rPr>
              <a:t> </a:t>
            </a:r>
            <a:r>
              <a:rPr lang="en-US" sz="2000" spc="-5" dirty="0">
                <a:cs typeface="Segoe Print"/>
              </a:rPr>
              <a:t>of </a:t>
            </a:r>
            <a:r>
              <a:rPr lang="en-US" sz="2000" dirty="0">
                <a:cs typeface="Segoe Print"/>
              </a:rPr>
              <a:t>the</a:t>
            </a:r>
            <a:r>
              <a:rPr lang="en-US" sz="2000" spc="5" dirty="0">
                <a:cs typeface="Segoe Print"/>
              </a:rPr>
              <a:t> </a:t>
            </a:r>
            <a:r>
              <a:rPr lang="en-US" sz="2000" dirty="0">
                <a:cs typeface="Segoe Print"/>
              </a:rPr>
              <a:t>clustering</a:t>
            </a:r>
            <a:r>
              <a:rPr lang="en-US" sz="2000" spc="-5" dirty="0">
                <a:cs typeface="Segoe Print"/>
              </a:rPr>
              <a:t> </a:t>
            </a:r>
            <a:r>
              <a:rPr lang="en-US" sz="2000" dirty="0">
                <a:cs typeface="Segoe Print"/>
              </a:rPr>
              <a:t>algorithm.</a:t>
            </a:r>
          </a:p>
          <a:p>
            <a:pPr marL="298450" indent="-285750" algn="just">
              <a:lnSpc>
                <a:spcPct val="150000"/>
              </a:lnSpc>
              <a:buFont typeface="Segoe Print"/>
              <a:buChar char="-"/>
              <a:tabLst>
                <a:tab pos="297815" algn="l"/>
                <a:tab pos="298450" algn="l"/>
              </a:tabLst>
            </a:pPr>
            <a:r>
              <a:rPr lang="en-US" sz="2000" b="1" dirty="0">
                <a:cs typeface="Segoe Print"/>
              </a:rPr>
              <a:t>Using</a:t>
            </a:r>
            <a:r>
              <a:rPr lang="en-US" sz="2000" b="1" spc="-40" dirty="0">
                <a:cs typeface="Segoe Print"/>
              </a:rPr>
              <a:t> </a:t>
            </a:r>
            <a:r>
              <a:rPr lang="en-US" sz="2000" b="1" spc="-5" dirty="0">
                <a:cs typeface="Segoe Print"/>
              </a:rPr>
              <a:t>External</a:t>
            </a:r>
            <a:r>
              <a:rPr lang="en-US" sz="2000" b="1" spc="-35" dirty="0">
                <a:cs typeface="Segoe Print"/>
              </a:rPr>
              <a:t> </a:t>
            </a:r>
            <a:r>
              <a:rPr lang="en-US" sz="2000" b="1" spc="-5" dirty="0">
                <a:cs typeface="Segoe Print"/>
              </a:rPr>
              <a:t>Data:</a:t>
            </a:r>
            <a:endParaRPr lang="en-US" sz="2000" dirty="0">
              <a:cs typeface="Segoe Print"/>
            </a:endParaRPr>
          </a:p>
          <a:p>
            <a:pPr marL="755650" marR="5080" lvl="1" indent="-286385" algn="just">
              <a:lnSpc>
                <a:spcPct val="150000"/>
              </a:lnSpc>
              <a:buChar char="-"/>
              <a:tabLst>
                <a:tab pos="755650" algn="l"/>
                <a:tab pos="756285" algn="l"/>
              </a:tabLst>
            </a:pPr>
            <a:r>
              <a:rPr lang="en-US" sz="2000" dirty="0">
                <a:cs typeface="Segoe Print"/>
              </a:rPr>
              <a:t>Use</a:t>
            </a:r>
            <a:r>
              <a:rPr lang="en-US" sz="2000" spc="5" dirty="0">
                <a:cs typeface="Segoe Print"/>
              </a:rPr>
              <a:t> </a:t>
            </a:r>
            <a:r>
              <a:rPr lang="en-US" sz="2000" spc="-5" dirty="0">
                <a:cs typeface="Segoe Print"/>
              </a:rPr>
              <a:t>labeled</a:t>
            </a:r>
            <a:r>
              <a:rPr lang="en-US" sz="2000" spc="5" dirty="0">
                <a:cs typeface="Segoe Print"/>
              </a:rPr>
              <a:t> </a:t>
            </a:r>
            <a:r>
              <a:rPr lang="en-US" sz="2000" spc="-5" dirty="0">
                <a:cs typeface="Segoe Print"/>
              </a:rPr>
              <a:t>data</a:t>
            </a:r>
            <a:r>
              <a:rPr lang="en-US" sz="2000" spc="10" dirty="0">
                <a:cs typeface="Segoe Print"/>
              </a:rPr>
              <a:t> </a:t>
            </a:r>
            <a:r>
              <a:rPr lang="en-US" sz="2000" spc="-5" dirty="0">
                <a:cs typeface="Segoe Print"/>
              </a:rPr>
              <a:t>(supervised</a:t>
            </a:r>
            <a:r>
              <a:rPr lang="en-US" sz="2000" dirty="0">
                <a:cs typeface="Segoe Print"/>
              </a:rPr>
              <a:t> </a:t>
            </a:r>
            <a:r>
              <a:rPr lang="en-US" sz="2000" spc="-5" dirty="0">
                <a:cs typeface="Segoe Print"/>
              </a:rPr>
              <a:t>learning) </a:t>
            </a:r>
            <a:r>
              <a:rPr lang="en-US" sz="2000" dirty="0">
                <a:cs typeface="Segoe Print"/>
              </a:rPr>
              <a:t>to </a:t>
            </a:r>
            <a:r>
              <a:rPr lang="en-US" sz="2000" spc="-5" dirty="0">
                <a:cs typeface="Segoe Print"/>
              </a:rPr>
              <a:t>evaluate</a:t>
            </a:r>
            <a:r>
              <a:rPr lang="en-US" sz="2000" spc="25" dirty="0">
                <a:cs typeface="Segoe Print"/>
              </a:rPr>
              <a:t> </a:t>
            </a:r>
            <a:r>
              <a:rPr lang="en-US" sz="2000" dirty="0">
                <a:cs typeface="Segoe Print"/>
              </a:rPr>
              <a:t>the</a:t>
            </a:r>
            <a:r>
              <a:rPr lang="en-US" sz="2000" spc="5" dirty="0">
                <a:cs typeface="Segoe Print"/>
              </a:rPr>
              <a:t> </a:t>
            </a:r>
            <a:r>
              <a:rPr lang="en-US" sz="2000" spc="-5" dirty="0">
                <a:cs typeface="Segoe Print"/>
              </a:rPr>
              <a:t>performance</a:t>
            </a:r>
            <a:r>
              <a:rPr lang="en-US" sz="2000" spc="-10" dirty="0">
                <a:cs typeface="Segoe Print"/>
              </a:rPr>
              <a:t> </a:t>
            </a:r>
            <a:r>
              <a:rPr lang="en-US" sz="2000" spc="-5" dirty="0">
                <a:cs typeface="Segoe Print"/>
              </a:rPr>
              <a:t>of different </a:t>
            </a:r>
            <a:r>
              <a:rPr lang="en-US" sz="2000" spc="-705" dirty="0">
                <a:cs typeface="Segoe Print"/>
              </a:rPr>
              <a:t> </a:t>
            </a:r>
            <a:r>
              <a:rPr lang="en-US" sz="2000" dirty="0">
                <a:cs typeface="Segoe Print"/>
              </a:rPr>
              <a:t>clustering algorithms.</a:t>
            </a:r>
          </a:p>
          <a:p>
            <a:pPr algn="just">
              <a:lnSpc>
                <a:spcPct val="150000"/>
              </a:lnSpc>
            </a:pPr>
            <a:endParaRPr lang="en-GB" sz="2000" dirty="0"/>
          </a:p>
        </p:txBody>
      </p:sp>
    </p:spTree>
    <p:extLst>
      <p:ext uri="{BB962C8B-B14F-4D97-AF65-F5344CB8AC3E}">
        <p14:creationId xmlns:p14="http://schemas.microsoft.com/office/powerpoint/2010/main" val="2882968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02" y="152400"/>
            <a:ext cx="8229600" cy="1466088"/>
          </a:xfrm>
        </p:spPr>
        <p:txBody>
          <a:bodyPr>
            <a:noAutofit/>
          </a:bodyPr>
          <a:lstStyle/>
          <a:p>
            <a:r>
              <a:rPr lang="en-US" sz="4400" dirty="0">
                <a:latin typeface="+mn-lt"/>
              </a:rPr>
              <a:t>Evaluation Of Clustering Using Internal Data</a:t>
            </a:r>
            <a:endParaRPr lang="en-GB" sz="4000" dirty="0">
              <a:latin typeface="+mn-lt"/>
            </a:endParaRPr>
          </a:p>
        </p:txBody>
      </p:sp>
      <p:sp>
        <p:nvSpPr>
          <p:cNvPr id="3" name="Content Placeholder 2"/>
          <p:cNvSpPr>
            <a:spLocks noGrp="1"/>
          </p:cNvSpPr>
          <p:nvPr>
            <p:ph idx="1"/>
          </p:nvPr>
        </p:nvSpPr>
        <p:spPr>
          <a:xfrm>
            <a:off x="228600" y="1593024"/>
            <a:ext cx="8229600" cy="4389120"/>
          </a:xfrm>
        </p:spPr>
        <p:txBody>
          <a:bodyPr>
            <a:normAutofit/>
          </a:bodyPr>
          <a:lstStyle/>
          <a:p>
            <a:pPr marL="298450" indent="-285750" algn="just">
              <a:lnSpc>
                <a:spcPct val="100000"/>
              </a:lnSpc>
              <a:spcBef>
                <a:spcPts val="5"/>
              </a:spcBef>
              <a:buFont typeface="Segoe Print"/>
              <a:buChar char="-"/>
              <a:tabLst>
                <a:tab pos="297815" algn="l"/>
                <a:tab pos="298450" algn="l"/>
              </a:tabLst>
            </a:pPr>
            <a:r>
              <a:rPr lang="en-US" sz="2000" b="1" spc="-5" dirty="0">
                <a:cs typeface="Segoe Print"/>
              </a:rPr>
              <a:t>Inter-cluster</a:t>
            </a:r>
            <a:r>
              <a:rPr lang="en-US" sz="2000" b="1" spc="5" dirty="0">
                <a:cs typeface="Segoe Print"/>
              </a:rPr>
              <a:t> </a:t>
            </a:r>
            <a:r>
              <a:rPr lang="en-US" sz="2000" b="1" spc="-10" dirty="0">
                <a:cs typeface="Segoe Print"/>
              </a:rPr>
              <a:t>separability</a:t>
            </a:r>
            <a:endParaRPr lang="en-US" sz="2000" dirty="0">
              <a:cs typeface="Segoe Print"/>
            </a:endParaRPr>
          </a:p>
          <a:p>
            <a:pPr marL="755650" lvl="1" indent="-286385" algn="just">
              <a:lnSpc>
                <a:spcPct val="100000"/>
              </a:lnSpc>
              <a:buChar char="-"/>
              <a:tabLst>
                <a:tab pos="755650" algn="l"/>
                <a:tab pos="756285" algn="l"/>
              </a:tabLst>
            </a:pPr>
            <a:r>
              <a:rPr lang="en-US" sz="2000" dirty="0">
                <a:cs typeface="Segoe Print"/>
              </a:rPr>
              <a:t>measure</a:t>
            </a:r>
            <a:r>
              <a:rPr lang="en-US" sz="2000" spc="-10" dirty="0">
                <a:cs typeface="Segoe Print"/>
              </a:rPr>
              <a:t> </a:t>
            </a:r>
            <a:r>
              <a:rPr lang="en-US" sz="2000" spc="-5" dirty="0">
                <a:cs typeface="Segoe Print"/>
              </a:rPr>
              <a:t>of</a:t>
            </a:r>
            <a:r>
              <a:rPr lang="en-US" sz="2000" spc="-15" dirty="0">
                <a:cs typeface="Segoe Print"/>
              </a:rPr>
              <a:t> </a:t>
            </a:r>
            <a:r>
              <a:rPr lang="en-US" sz="2000" dirty="0">
                <a:cs typeface="Segoe Print"/>
              </a:rPr>
              <a:t>the</a:t>
            </a:r>
            <a:r>
              <a:rPr lang="en-US" sz="2000" spc="-5" dirty="0">
                <a:cs typeface="Segoe Print"/>
              </a:rPr>
              <a:t> isolation</a:t>
            </a:r>
            <a:r>
              <a:rPr lang="en-US" sz="2000" spc="-15" dirty="0">
                <a:cs typeface="Segoe Print"/>
              </a:rPr>
              <a:t> </a:t>
            </a:r>
            <a:r>
              <a:rPr lang="en-US" sz="2000" spc="-5" dirty="0">
                <a:cs typeface="Segoe Print"/>
              </a:rPr>
              <a:t>of</a:t>
            </a:r>
            <a:r>
              <a:rPr lang="en-US" sz="2000" spc="-15" dirty="0">
                <a:cs typeface="Segoe Print"/>
              </a:rPr>
              <a:t> </a:t>
            </a:r>
            <a:r>
              <a:rPr lang="en-US" sz="2000" dirty="0">
                <a:cs typeface="Segoe Print"/>
              </a:rPr>
              <a:t>the</a:t>
            </a:r>
            <a:r>
              <a:rPr lang="en-US" sz="2000" spc="-10" dirty="0">
                <a:cs typeface="Segoe Print"/>
              </a:rPr>
              <a:t> </a:t>
            </a:r>
            <a:r>
              <a:rPr lang="en-US" sz="2000" dirty="0">
                <a:cs typeface="Segoe Print"/>
              </a:rPr>
              <a:t>cluster</a:t>
            </a:r>
          </a:p>
          <a:p>
            <a:pPr marL="561975" marR="245745" lvl="1" indent="-92710" algn="just">
              <a:lnSpc>
                <a:spcPct val="100000"/>
              </a:lnSpc>
              <a:buChar char="-"/>
              <a:tabLst>
                <a:tab pos="755650" algn="l"/>
                <a:tab pos="756285" algn="l"/>
              </a:tabLst>
            </a:pPr>
            <a:r>
              <a:rPr lang="en-US" sz="2000" spc="-5" dirty="0">
                <a:cs typeface="Segoe Print"/>
              </a:rPr>
              <a:t>E.g., </a:t>
            </a:r>
            <a:r>
              <a:rPr lang="en-US" sz="2000" dirty="0">
                <a:cs typeface="Segoe Print"/>
              </a:rPr>
              <a:t>measured as the </a:t>
            </a:r>
            <a:r>
              <a:rPr lang="en-US" sz="2000" spc="-5" dirty="0">
                <a:cs typeface="Segoe Print"/>
              </a:rPr>
              <a:t>distance between </a:t>
            </a:r>
            <a:r>
              <a:rPr lang="en-US" sz="2000" spc="-705" dirty="0">
                <a:cs typeface="Segoe Print"/>
              </a:rPr>
              <a:t> </a:t>
            </a:r>
            <a:r>
              <a:rPr lang="en-US" sz="2000" dirty="0">
                <a:cs typeface="Segoe Print"/>
              </a:rPr>
              <a:t>the </a:t>
            </a:r>
            <a:r>
              <a:rPr lang="en-US" sz="2000" spc="-5" dirty="0">
                <a:cs typeface="Segoe Print"/>
              </a:rPr>
              <a:t>centroids</a:t>
            </a:r>
            <a:r>
              <a:rPr lang="en-US" sz="2000" spc="-15" dirty="0">
                <a:cs typeface="Segoe Print"/>
              </a:rPr>
              <a:t> </a:t>
            </a:r>
            <a:r>
              <a:rPr lang="en-US" sz="2000" spc="-5" dirty="0">
                <a:cs typeface="Segoe Print"/>
              </a:rPr>
              <a:t>of </a:t>
            </a:r>
            <a:r>
              <a:rPr lang="en-US" sz="2000" dirty="0">
                <a:cs typeface="Segoe Print"/>
              </a:rPr>
              <a:t>the</a:t>
            </a:r>
            <a:r>
              <a:rPr lang="en-US" sz="2000" spc="5" dirty="0">
                <a:cs typeface="Segoe Print"/>
              </a:rPr>
              <a:t> </a:t>
            </a:r>
            <a:r>
              <a:rPr lang="en-US" sz="2000" dirty="0">
                <a:cs typeface="Segoe Print"/>
              </a:rPr>
              <a:t>clusters</a:t>
            </a:r>
          </a:p>
          <a:p>
            <a:pPr marL="298450" indent="-285750" algn="just">
              <a:lnSpc>
                <a:spcPct val="100000"/>
              </a:lnSpc>
              <a:spcBef>
                <a:spcPts val="100"/>
              </a:spcBef>
              <a:buFont typeface="Segoe Print"/>
              <a:buChar char="-"/>
              <a:tabLst>
                <a:tab pos="297815" algn="l"/>
                <a:tab pos="298450" algn="l"/>
              </a:tabLst>
            </a:pPr>
            <a:r>
              <a:rPr lang="en-US" sz="2000" b="1" spc="-5" dirty="0">
                <a:cs typeface="Segoe Print"/>
              </a:rPr>
              <a:t>Intra-cluster</a:t>
            </a:r>
            <a:r>
              <a:rPr lang="en-US" sz="2000" b="1" spc="-15" dirty="0">
                <a:cs typeface="Segoe Print"/>
              </a:rPr>
              <a:t> </a:t>
            </a:r>
            <a:r>
              <a:rPr lang="en-US" sz="2000" b="1" spc="-5" dirty="0">
                <a:cs typeface="Segoe Print"/>
              </a:rPr>
              <a:t>cohesion</a:t>
            </a:r>
            <a:endParaRPr lang="en-US" sz="2000" dirty="0">
              <a:cs typeface="Segoe Print"/>
            </a:endParaRPr>
          </a:p>
          <a:p>
            <a:pPr marL="755650" lvl="1" indent="-286385" algn="just">
              <a:lnSpc>
                <a:spcPct val="100000"/>
              </a:lnSpc>
              <a:buChar char="-"/>
              <a:tabLst>
                <a:tab pos="755650" algn="l"/>
                <a:tab pos="756285" algn="l"/>
                <a:tab pos="4210050" algn="l"/>
              </a:tabLst>
            </a:pPr>
            <a:r>
              <a:rPr lang="en-US" sz="2000" dirty="0">
                <a:cs typeface="Segoe Print"/>
              </a:rPr>
              <a:t>measure</a:t>
            </a:r>
            <a:r>
              <a:rPr lang="en-US" sz="2000" spc="5" dirty="0">
                <a:cs typeface="Segoe Print"/>
              </a:rPr>
              <a:t> </a:t>
            </a:r>
            <a:r>
              <a:rPr lang="en-US" sz="2000" spc="-5" dirty="0">
                <a:cs typeface="Segoe Print"/>
              </a:rPr>
              <a:t>of </a:t>
            </a:r>
            <a:r>
              <a:rPr lang="en-US" sz="2000" dirty="0">
                <a:cs typeface="Segoe Print"/>
              </a:rPr>
              <a:t>the</a:t>
            </a:r>
            <a:r>
              <a:rPr lang="en-US" sz="2000" spc="10" dirty="0">
                <a:cs typeface="Segoe Print"/>
              </a:rPr>
              <a:t> </a:t>
            </a:r>
            <a:r>
              <a:rPr lang="en-US" sz="2000" dirty="0">
                <a:cs typeface="Segoe Print"/>
              </a:rPr>
              <a:t>compactness </a:t>
            </a:r>
            <a:r>
              <a:rPr lang="en-US" sz="2000" spc="-5" dirty="0">
                <a:cs typeface="Segoe Print"/>
              </a:rPr>
              <a:t>of</a:t>
            </a:r>
            <a:r>
              <a:rPr lang="en-US" sz="2000" spc="-40" dirty="0">
                <a:cs typeface="Segoe Print"/>
              </a:rPr>
              <a:t> </a:t>
            </a:r>
            <a:r>
              <a:rPr lang="en-US" sz="2000" dirty="0">
                <a:cs typeface="Segoe Print"/>
              </a:rPr>
              <a:t>the</a:t>
            </a:r>
            <a:r>
              <a:rPr lang="en-US" sz="2000" spc="-20" dirty="0">
                <a:cs typeface="Segoe Print"/>
              </a:rPr>
              <a:t> </a:t>
            </a:r>
            <a:r>
              <a:rPr lang="en-US" sz="2000" dirty="0">
                <a:cs typeface="Segoe Print"/>
              </a:rPr>
              <a:t>cluster</a:t>
            </a:r>
          </a:p>
          <a:p>
            <a:pPr marL="755650" marR="5080" lvl="1" indent="-286385" algn="just">
              <a:lnSpc>
                <a:spcPts val="2200"/>
              </a:lnSpc>
              <a:spcBef>
                <a:spcPts val="45"/>
              </a:spcBef>
              <a:buChar char="-"/>
              <a:tabLst>
                <a:tab pos="755650" algn="l"/>
                <a:tab pos="756285" algn="l"/>
              </a:tabLst>
            </a:pPr>
            <a:r>
              <a:rPr lang="en-US" sz="2000" spc="-5" dirty="0">
                <a:cs typeface="Segoe Print"/>
              </a:rPr>
              <a:t>E.g.,</a:t>
            </a:r>
            <a:r>
              <a:rPr lang="en-US" sz="2000" spc="5" dirty="0">
                <a:cs typeface="Segoe Print"/>
              </a:rPr>
              <a:t> </a:t>
            </a:r>
            <a:r>
              <a:rPr lang="en-US" sz="2000" dirty="0">
                <a:cs typeface="Segoe Print"/>
              </a:rPr>
              <a:t>measured </a:t>
            </a:r>
            <a:r>
              <a:rPr lang="en-US" sz="2000" spc="-5" dirty="0">
                <a:cs typeface="Segoe Print"/>
              </a:rPr>
              <a:t>by</a:t>
            </a:r>
            <a:r>
              <a:rPr lang="en-US" sz="2000" spc="5" dirty="0">
                <a:cs typeface="Segoe Print"/>
              </a:rPr>
              <a:t> </a:t>
            </a:r>
            <a:r>
              <a:rPr lang="en-US" sz="2000" dirty="0">
                <a:cs typeface="Segoe Print"/>
              </a:rPr>
              <a:t>the </a:t>
            </a:r>
            <a:r>
              <a:rPr lang="en-US" sz="2000" spc="-5" dirty="0">
                <a:cs typeface="Segoe Print"/>
              </a:rPr>
              <a:t>sum</a:t>
            </a:r>
            <a:r>
              <a:rPr lang="en-US" sz="2000" dirty="0">
                <a:cs typeface="Segoe Print"/>
              </a:rPr>
              <a:t> </a:t>
            </a:r>
            <a:r>
              <a:rPr lang="en-US" sz="2000" spc="-5" dirty="0">
                <a:cs typeface="Segoe Print"/>
              </a:rPr>
              <a:t>of squared</a:t>
            </a:r>
            <a:r>
              <a:rPr lang="en-US" sz="2000" spc="10" dirty="0">
                <a:cs typeface="Segoe Print"/>
              </a:rPr>
              <a:t> </a:t>
            </a:r>
            <a:r>
              <a:rPr lang="en-US" sz="2000" dirty="0">
                <a:cs typeface="Segoe Print"/>
              </a:rPr>
              <a:t>error</a:t>
            </a:r>
            <a:r>
              <a:rPr lang="en-US" sz="2000" spc="-10" dirty="0">
                <a:cs typeface="Segoe Print"/>
              </a:rPr>
              <a:t> </a:t>
            </a:r>
            <a:r>
              <a:rPr lang="en-US" sz="2000" dirty="0">
                <a:cs typeface="Segoe Print"/>
              </a:rPr>
              <a:t>that </a:t>
            </a:r>
            <a:r>
              <a:rPr lang="en-US" sz="2000" spc="-5" dirty="0">
                <a:cs typeface="Segoe Print"/>
              </a:rPr>
              <a:t>quantifies</a:t>
            </a:r>
            <a:r>
              <a:rPr lang="en-US" sz="2000" spc="20" dirty="0">
                <a:cs typeface="Segoe Print"/>
              </a:rPr>
              <a:t> </a:t>
            </a:r>
            <a:r>
              <a:rPr lang="en-US" sz="2000" dirty="0">
                <a:cs typeface="Segoe Print"/>
              </a:rPr>
              <a:t>the</a:t>
            </a:r>
            <a:r>
              <a:rPr lang="en-US" sz="2000" spc="5" dirty="0">
                <a:cs typeface="Segoe Print"/>
              </a:rPr>
              <a:t> </a:t>
            </a:r>
            <a:r>
              <a:rPr lang="en-US" sz="2000" spc="-5" dirty="0">
                <a:cs typeface="Segoe Print"/>
              </a:rPr>
              <a:t>spread of</a:t>
            </a:r>
            <a:r>
              <a:rPr lang="en-US" sz="2000" spc="-10" dirty="0">
                <a:cs typeface="Segoe Print"/>
              </a:rPr>
              <a:t> </a:t>
            </a:r>
            <a:r>
              <a:rPr lang="en-US" sz="2000" dirty="0">
                <a:cs typeface="Segoe Print"/>
              </a:rPr>
              <a:t>the</a:t>
            </a:r>
            <a:r>
              <a:rPr lang="en-US" sz="2000" spc="10" dirty="0">
                <a:cs typeface="Segoe Print"/>
              </a:rPr>
              <a:t> </a:t>
            </a:r>
            <a:r>
              <a:rPr lang="en-US" sz="2000" spc="-5" dirty="0">
                <a:cs typeface="Segoe Print"/>
              </a:rPr>
              <a:t>points </a:t>
            </a:r>
            <a:r>
              <a:rPr lang="en-US" sz="2000" spc="-705" dirty="0">
                <a:cs typeface="Segoe Print"/>
              </a:rPr>
              <a:t> </a:t>
            </a:r>
            <a:r>
              <a:rPr lang="en-US" sz="2000" dirty="0">
                <a:cs typeface="Segoe Print"/>
              </a:rPr>
              <a:t>around</a:t>
            </a:r>
            <a:r>
              <a:rPr lang="en-US" sz="2000" spc="-5" dirty="0">
                <a:cs typeface="Segoe Print"/>
              </a:rPr>
              <a:t> </a:t>
            </a:r>
            <a:r>
              <a:rPr lang="en-US" sz="2000" dirty="0">
                <a:cs typeface="Segoe Print"/>
              </a:rPr>
              <a:t>the </a:t>
            </a:r>
            <a:r>
              <a:rPr lang="en-US" sz="2000" spc="-5" dirty="0">
                <a:cs typeface="Segoe Print"/>
              </a:rPr>
              <a:t>centroid.</a:t>
            </a:r>
            <a:endParaRPr lang="en-US" sz="2000" dirty="0">
              <a:cs typeface="Segoe Print"/>
            </a:endParaRPr>
          </a:p>
          <a:p>
            <a:pPr algn="just"/>
            <a:endParaRPr lang="en-GB" sz="2800" dirty="0"/>
          </a:p>
        </p:txBody>
      </p:sp>
      <p:grpSp>
        <p:nvGrpSpPr>
          <p:cNvPr id="4" name="object 5"/>
          <p:cNvGrpSpPr/>
          <p:nvPr/>
        </p:nvGrpSpPr>
        <p:grpSpPr>
          <a:xfrm>
            <a:off x="2066470" y="4331865"/>
            <a:ext cx="3757815" cy="2388870"/>
            <a:chOff x="6470903" y="1078991"/>
            <a:chExt cx="3208020" cy="2693670"/>
          </a:xfrm>
        </p:grpSpPr>
        <p:pic>
          <p:nvPicPr>
            <p:cNvPr id="5" name="object 6"/>
            <p:cNvPicPr/>
            <p:nvPr/>
          </p:nvPicPr>
          <p:blipFill>
            <a:blip r:embed="rId2" cstate="print"/>
            <a:stretch>
              <a:fillRect/>
            </a:stretch>
          </p:blipFill>
          <p:spPr>
            <a:xfrm>
              <a:off x="6470903" y="1078991"/>
              <a:ext cx="3208020" cy="2693669"/>
            </a:xfrm>
            <a:prstGeom prst="rect">
              <a:avLst/>
            </a:prstGeom>
          </p:spPr>
        </p:pic>
        <p:pic>
          <p:nvPicPr>
            <p:cNvPr id="6" name="object 7"/>
            <p:cNvPicPr/>
            <p:nvPr/>
          </p:nvPicPr>
          <p:blipFill>
            <a:blip r:embed="rId3" cstate="print"/>
            <a:stretch>
              <a:fillRect/>
            </a:stretch>
          </p:blipFill>
          <p:spPr>
            <a:xfrm>
              <a:off x="6807707" y="2160269"/>
              <a:ext cx="164592" cy="165353"/>
            </a:xfrm>
            <a:prstGeom prst="rect">
              <a:avLst/>
            </a:prstGeom>
          </p:spPr>
        </p:pic>
        <p:pic>
          <p:nvPicPr>
            <p:cNvPr id="7" name="object 8"/>
            <p:cNvPicPr/>
            <p:nvPr/>
          </p:nvPicPr>
          <p:blipFill>
            <a:blip r:embed="rId4" cstate="print"/>
            <a:stretch>
              <a:fillRect/>
            </a:stretch>
          </p:blipFill>
          <p:spPr>
            <a:xfrm>
              <a:off x="8286749" y="3338321"/>
              <a:ext cx="165353" cy="165353"/>
            </a:xfrm>
            <a:prstGeom prst="rect">
              <a:avLst/>
            </a:prstGeom>
          </p:spPr>
        </p:pic>
        <p:pic>
          <p:nvPicPr>
            <p:cNvPr id="8" name="object 9"/>
            <p:cNvPicPr/>
            <p:nvPr/>
          </p:nvPicPr>
          <p:blipFill>
            <a:blip r:embed="rId5" cstate="print"/>
            <a:stretch>
              <a:fillRect/>
            </a:stretch>
          </p:blipFill>
          <p:spPr>
            <a:xfrm>
              <a:off x="7728965" y="1821941"/>
              <a:ext cx="165353" cy="165354"/>
            </a:xfrm>
            <a:prstGeom prst="rect">
              <a:avLst/>
            </a:prstGeom>
          </p:spPr>
        </p:pic>
        <p:pic>
          <p:nvPicPr>
            <p:cNvPr id="9" name="object 10"/>
            <p:cNvPicPr/>
            <p:nvPr/>
          </p:nvPicPr>
          <p:blipFill>
            <a:blip r:embed="rId4" cstate="print"/>
            <a:stretch>
              <a:fillRect/>
            </a:stretch>
          </p:blipFill>
          <p:spPr>
            <a:xfrm>
              <a:off x="9227057" y="2300477"/>
              <a:ext cx="165353" cy="165354"/>
            </a:xfrm>
            <a:prstGeom prst="rect">
              <a:avLst/>
            </a:prstGeom>
          </p:spPr>
        </p:pic>
        <p:sp>
          <p:nvSpPr>
            <p:cNvPr id="10" name="object 11"/>
            <p:cNvSpPr/>
            <p:nvPr/>
          </p:nvSpPr>
          <p:spPr>
            <a:xfrm>
              <a:off x="6838187" y="1883663"/>
              <a:ext cx="2496820" cy="1515745"/>
            </a:xfrm>
            <a:custGeom>
              <a:avLst/>
              <a:gdLst/>
              <a:ahLst/>
              <a:cxnLst/>
              <a:rect l="l" t="t" r="r" b="b"/>
              <a:pathLst>
                <a:path w="2496820" h="1515745">
                  <a:moveTo>
                    <a:pt x="16001" y="376427"/>
                  </a:moveTo>
                  <a:lnTo>
                    <a:pt x="975994" y="0"/>
                  </a:lnTo>
                </a:path>
                <a:path w="2496820" h="1515745">
                  <a:moveTo>
                    <a:pt x="0" y="338327"/>
                  </a:moveTo>
                  <a:lnTo>
                    <a:pt x="1495170" y="1478407"/>
                  </a:lnTo>
                </a:path>
                <a:path w="2496820" h="1515745">
                  <a:moveTo>
                    <a:pt x="938021" y="38100"/>
                  </a:moveTo>
                  <a:lnTo>
                    <a:pt x="1528063" y="1478280"/>
                  </a:lnTo>
                </a:path>
                <a:path w="2496820" h="1515745">
                  <a:moveTo>
                    <a:pt x="938021" y="38100"/>
                  </a:moveTo>
                  <a:lnTo>
                    <a:pt x="2473959" y="478916"/>
                  </a:lnTo>
                </a:path>
                <a:path w="2496820" h="1515745">
                  <a:moveTo>
                    <a:pt x="1517903" y="1515618"/>
                  </a:moveTo>
                  <a:lnTo>
                    <a:pt x="2496311" y="493775"/>
                  </a:lnTo>
                </a:path>
              </a:pathLst>
            </a:custGeom>
            <a:ln w="28575">
              <a:solidFill>
                <a:srgbClr val="000000"/>
              </a:solidFill>
              <a:prstDash val="lgDash"/>
            </a:ln>
          </p:spPr>
          <p:txBody>
            <a:bodyPr wrap="square" lIns="0" tIns="0" rIns="0" bIns="0" rtlCol="0"/>
            <a:lstStyle/>
            <a:p>
              <a:endParaRPr/>
            </a:p>
          </p:txBody>
        </p:sp>
      </p:grpSp>
    </p:spTree>
    <p:extLst>
      <p:ext uri="{BB962C8B-B14F-4D97-AF65-F5344CB8AC3E}">
        <p14:creationId xmlns:p14="http://schemas.microsoft.com/office/powerpoint/2010/main" val="3245028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229600" cy="1389888"/>
          </a:xfrm>
        </p:spPr>
        <p:txBody>
          <a:bodyPr>
            <a:noAutofit/>
          </a:bodyPr>
          <a:lstStyle/>
          <a:p>
            <a:r>
              <a:rPr lang="en-US" sz="4400" dirty="0">
                <a:latin typeface="+mn-lt"/>
              </a:rPr>
              <a:t>Evaluation Of Clustering Using External (Labeled) Data</a:t>
            </a:r>
            <a:endParaRPr lang="en-GB" sz="4000" dirty="0">
              <a:latin typeface="+mn-lt"/>
            </a:endParaRPr>
          </a:p>
        </p:txBody>
      </p:sp>
      <p:sp>
        <p:nvSpPr>
          <p:cNvPr id="3" name="Content Placeholder 2"/>
          <p:cNvSpPr>
            <a:spLocks noGrp="1"/>
          </p:cNvSpPr>
          <p:nvPr>
            <p:ph idx="1"/>
          </p:nvPr>
        </p:nvSpPr>
        <p:spPr>
          <a:xfrm>
            <a:off x="457200" y="1935480"/>
            <a:ext cx="8229600" cy="4693920"/>
          </a:xfrm>
        </p:spPr>
        <p:txBody>
          <a:bodyPr>
            <a:noAutofit/>
          </a:bodyPr>
          <a:lstStyle/>
          <a:p>
            <a:pPr marL="298450" indent="-285750" algn="just">
              <a:lnSpc>
                <a:spcPct val="100000"/>
              </a:lnSpc>
              <a:spcBef>
                <a:spcPts val="1060"/>
              </a:spcBef>
              <a:buChar char="-"/>
              <a:tabLst>
                <a:tab pos="297815" algn="l"/>
                <a:tab pos="298450" algn="l"/>
              </a:tabLst>
            </a:pPr>
            <a:r>
              <a:rPr lang="en-US" sz="2000" spc="-5" dirty="0">
                <a:cs typeface="Segoe Print"/>
              </a:rPr>
              <a:t>Use</a:t>
            </a:r>
            <a:r>
              <a:rPr lang="en-US" sz="2000" spc="15" dirty="0">
                <a:cs typeface="Segoe Print"/>
              </a:rPr>
              <a:t> </a:t>
            </a:r>
            <a:r>
              <a:rPr lang="en-US" sz="2000" spc="-5" dirty="0">
                <a:cs typeface="Segoe Print"/>
              </a:rPr>
              <a:t>labeled</a:t>
            </a:r>
            <a:r>
              <a:rPr lang="en-US" sz="2000" dirty="0">
                <a:cs typeface="Segoe Print"/>
              </a:rPr>
              <a:t> </a:t>
            </a:r>
            <a:r>
              <a:rPr lang="en-US" sz="2000" spc="-5" dirty="0">
                <a:cs typeface="Segoe Print"/>
              </a:rPr>
              <a:t>data</a:t>
            </a:r>
            <a:r>
              <a:rPr lang="en-US" sz="2000" spc="10" dirty="0">
                <a:cs typeface="Segoe Print"/>
              </a:rPr>
              <a:t> </a:t>
            </a:r>
            <a:r>
              <a:rPr lang="en-US" sz="2000" dirty="0">
                <a:cs typeface="Segoe Print"/>
              </a:rPr>
              <a:t>to</a:t>
            </a:r>
            <a:r>
              <a:rPr lang="en-US" sz="2000" spc="5" dirty="0">
                <a:cs typeface="Segoe Print"/>
              </a:rPr>
              <a:t> </a:t>
            </a:r>
            <a:r>
              <a:rPr lang="en-US" sz="2000" dirty="0">
                <a:cs typeface="Segoe Print"/>
              </a:rPr>
              <a:t>carry</a:t>
            </a:r>
            <a:r>
              <a:rPr lang="en-US" sz="2000" spc="-5" dirty="0">
                <a:cs typeface="Segoe Print"/>
              </a:rPr>
              <a:t> out </a:t>
            </a:r>
            <a:r>
              <a:rPr lang="en-US" sz="2000" dirty="0">
                <a:cs typeface="Segoe Print"/>
              </a:rPr>
              <a:t>clustering</a:t>
            </a:r>
            <a:r>
              <a:rPr lang="en-US" sz="2000" spc="5" dirty="0">
                <a:cs typeface="Segoe Print"/>
              </a:rPr>
              <a:t> </a:t>
            </a:r>
            <a:r>
              <a:rPr lang="en-US" sz="2000" dirty="0">
                <a:cs typeface="Segoe Print"/>
              </a:rPr>
              <a:t>and </a:t>
            </a:r>
            <a:r>
              <a:rPr lang="en-US" sz="2000" spc="-5" dirty="0">
                <a:cs typeface="Segoe Print"/>
              </a:rPr>
              <a:t>measure</a:t>
            </a:r>
            <a:r>
              <a:rPr lang="en-US" sz="2000" dirty="0">
                <a:cs typeface="Segoe Print"/>
              </a:rPr>
              <a:t> the</a:t>
            </a:r>
            <a:r>
              <a:rPr lang="en-US" sz="2000" spc="10" dirty="0">
                <a:cs typeface="Segoe Print"/>
              </a:rPr>
              <a:t> </a:t>
            </a:r>
            <a:r>
              <a:rPr lang="en-US" sz="2000" spc="-5" dirty="0">
                <a:cs typeface="Segoe Print"/>
              </a:rPr>
              <a:t>extent</a:t>
            </a:r>
            <a:r>
              <a:rPr lang="en-US" sz="2000" spc="5" dirty="0">
                <a:cs typeface="Segoe Print"/>
              </a:rPr>
              <a:t> </a:t>
            </a:r>
            <a:r>
              <a:rPr lang="en-US" sz="2000" dirty="0">
                <a:cs typeface="Segoe Print"/>
              </a:rPr>
              <a:t>to</a:t>
            </a:r>
          </a:p>
          <a:p>
            <a:pPr marL="297815" algn="just">
              <a:lnSpc>
                <a:spcPct val="100000"/>
              </a:lnSpc>
            </a:pPr>
            <a:r>
              <a:rPr lang="en-US" sz="2000" spc="-5" dirty="0">
                <a:cs typeface="Segoe Print"/>
              </a:rPr>
              <a:t>which</a:t>
            </a:r>
            <a:r>
              <a:rPr lang="en-US" sz="2000" spc="-10" dirty="0">
                <a:cs typeface="Segoe Print"/>
              </a:rPr>
              <a:t> </a:t>
            </a:r>
            <a:r>
              <a:rPr lang="en-US" sz="2000" dirty="0">
                <a:cs typeface="Segoe Print"/>
              </a:rPr>
              <a:t>the </a:t>
            </a:r>
            <a:r>
              <a:rPr lang="en-US" sz="2000" spc="-5" dirty="0">
                <a:cs typeface="Segoe Print"/>
              </a:rPr>
              <a:t>external</a:t>
            </a:r>
            <a:r>
              <a:rPr lang="en-US" sz="2000" dirty="0">
                <a:cs typeface="Segoe Print"/>
              </a:rPr>
              <a:t> class </a:t>
            </a:r>
            <a:r>
              <a:rPr lang="en-US" sz="2000" spc="-5" dirty="0">
                <a:cs typeface="Segoe Print"/>
              </a:rPr>
              <a:t>labels </a:t>
            </a:r>
            <a:r>
              <a:rPr lang="en-US" sz="2000" dirty="0">
                <a:cs typeface="Segoe Print"/>
              </a:rPr>
              <a:t>match the</a:t>
            </a:r>
            <a:r>
              <a:rPr lang="en-US" sz="2000" spc="5" dirty="0">
                <a:cs typeface="Segoe Print"/>
              </a:rPr>
              <a:t> </a:t>
            </a:r>
            <a:r>
              <a:rPr lang="en-US" sz="2000" dirty="0">
                <a:cs typeface="Segoe Print"/>
              </a:rPr>
              <a:t>cluster</a:t>
            </a:r>
            <a:r>
              <a:rPr lang="en-US" sz="2000" spc="-5" dirty="0">
                <a:cs typeface="Segoe Print"/>
              </a:rPr>
              <a:t> labels.</a:t>
            </a:r>
            <a:endParaRPr lang="en-US" sz="2000" dirty="0">
              <a:cs typeface="Segoe Print"/>
            </a:endParaRPr>
          </a:p>
          <a:p>
            <a:pPr marL="297815" marR="5080" indent="-285750" algn="just">
              <a:lnSpc>
                <a:spcPct val="100000"/>
              </a:lnSpc>
              <a:spcBef>
                <a:spcPts val="2255"/>
              </a:spcBef>
              <a:buFont typeface="Segoe Print"/>
              <a:buChar char="-"/>
              <a:tabLst>
                <a:tab pos="297815" algn="l"/>
                <a:tab pos="298450" algn="l"/>
              </a:tabLst>
            </a:pPr>
            <a:r>
              <a:rPr lang="en-US" sz="2000" b="1" spc="-5" dirty="0">
                <a:solidFill>
                  <a:srgbClr val="00AF50"/>
                </a:solidFill>
                <a:cs typeface="Segoe Print"/>
              </a:rPr>
              <a:t>Idea:</a:t>
            </a:r>
            <a:r>
              <a:rPr lang="en-US" sz="2000" b="1" spc="15" dirty="0">
                <a:solidFill>
                  <a:srgbClr val="00AF50"/>
                </a:solidFill>
                <a:cs typeface="Segoe Print"/>
              </a:rPr>
              <a:t> </a:t>
            </a:r>
            <a:r>
              <a:rPr lang="en-US" sz="2000" spc="-5" dirty="0">
                <a:cs typeface="Segoe Print"/>
              </a:rPr>
              <a:t>Evaluation</a:t>
            </a:r>
            <a:r>
              <a:rPr lang="en-US" sz="2000" spc="20" dirty="0">
                <a:cs typeface="Segoe Print"/>
              </a:rPr>
              <a:t> </a:t>
            </a:r>
            <a:r>
              <a:rPr lang="en-US" sz="2000" spc="-5" dirty="0">
                <a:cs typeface="Segoe Print"/>
              </a:rPr>
              <a:t>of</a:t>
            </a:r>
            <a:r>
              <a:rPr lang="en-US" sz="2000" dirty="0">
                <a:cs typeface="Segoe Print"/>
              </a:rPr>
              <a:t> </a:t>
            </a:r>
            <a:r>
              <a:rPr lang="en-US" sz="2000" spc="-5" dirty="0">
                <a:cs typeface="Segoe Print"/>
              </a:rPr>
              <a:t>clustering</a:t>
            </a:r>
            <a:r>
              <a:rPr lang="en-US" sz="2000" spc="5" dirty="0">
                <a:cs typeface="Segoe Print"/>
              </a:rPr>
              <a:t> </a:t>
            </a:r>
            <a:r>
              <a:rPr lang="en-US" sz="2000" spc="-5" dirty="0">
                <a:cs typeface="Segoe Print"/>
              </a:rPr>
              <a:t>performance</a:t>
            </a:r>
            <a:r>
              <a:rPr lang="en-US" sz="2000" spc="-10" dirty="0">
                <a:cs typeface="Segoe Print"/>
              </a:rPr>
              <a:t> </a:t>
            </a:r>
            <a:r>
              <a:rPr lang="en-US" sz="2000" dirty="0">
                <a:cs typeface="Segoe Print"/>
              </a:rPr>
              <a:t>using</a:t>
            </a:r>
            <a:r>
              <a:rPr lang="en-US" sz="2000" spc="5" dirty="0">
                <a:cs typeface="Segoe Print"/>
              </a:rPr>
              <a:t> </a:t>
            </a:r>
            <a:r>
              <a:rPr lang="en-US" sz="2000" dirty="0">
                <a:cs typeface="Segoe Print"/>
              </a:rPr>
              <a:t>the</a:t>
            </a:r>
            <a:r>
              <a:rPr lang="en-US" sz="2000" spc="10" dirty="0">
                <a:cs typeface="Segoe Print"/>
              </a:rPr>
              <a:t> </a:t>
            </a:r>
            <a:r>
              <a:rPr lang="en-US" sz="2000" spc="-5" dirty="0">
                <a:cs typeface="Segoe Print"/>
              </a:rPr>
              <a:t>labeled</a:t>
            </a:r>
            <a:r>
              <a:rPr lang="en-US" sz="2000" spc="5" dirty="0">
                <a:cs typeface="Segoe Print"/>
              </a:rPr>
              <a:t> </a:t>
            </a:r>
            <a:r>
              <a:rPr lang="en-US" sz="2000" spc="-5" dirty="0">
                <a:cs typeface="Segoe Print"/>
              </a:rPr>
              <a:t>data</a:t>
            </a:r>
            <a:r>
              <a:rPr lang="en-US" sz="2000" spc="15" dirty="0">
                <a:cs typeface="Segoe Print"/>
              </a:rPr>
              <a:t> </a:t>
            </a:r>
            <a:r>
              <a:rPr lang="en-US" sz="2000" spc="-5" dirty="0">
                <a:cs typeface="Segoe Print"/>
              </a:rPr>
              <a:t>gives</a:t>
            </a:r>
            <a:r>
              <a:rPr lang="en-US" sz="2000" spc="20" dirty="0">
                <a:cs typeface="Segoe Print"/>
              </a:rPr>
              <a:t> </a:t>
            </a:r>
            <a:r>
              <a:rPr lang="en-US" sz="2000" dirty="0">
                <a:cs typeface="Segoe Print"/>
              </a:rPr>
              <a:t>us </a:t>
            </a:r>
            <a:r>
              <a:rPr lang="en-US" sz="2000" spc="-5" dirty="0">
                <a:cs typeface="Segoe Print"/>
              </a:rPr>
              <a:t>some </a:t>
            </a:r>
            <a:r>
              <a:rPr lang="en-US" sz="2000" spc="-705" dirty="0">
                <a:cs typeface="Segoe Print"/>
              </a:rPr>
              <a:t> </a:t>
            </a:r>
            <a:r>
              <a:rPr lang="en-US" sz="2000" spc="-5" dirty="0">
                <a:cs typeface="Segoe Print"/>
              </a:rPr>
              <a:t>confidence</a:t>
            </a:r>
            <a:r>
              <a:rPr lang="en-US" sz="2000" spc="-15" dirty="0">
                <a:cs typeface="Segoe Print"/>
              </a:rPr>
              <a:t> </a:t>
            </a:r>
            <a:r>
              <a:rPr lang="en-US" sz="2000" dirty="0">
                <a:cs typeface="Segoe Print"/>
              </a:rPr>
              <a:t>about</a:t>
            </a:r>
            <a:r>
              <a:rPr lang="en-US" sz="2000" spc="15" dirty="0">
                <a:cs typeface="Segoe Print"/>
              </a:rPr>
              <a:t> </a:t>
            </a:r>
            <a:r>
              <a:rPr lang="en-US" sz="2000" dirty="0">
                <a:cs typeface="Segoe Print"/>
              </a:rPr>
              <a:t>the</a:t>
            </a:r>
            <a:r>
              <a:rPr lang="en-US" sz="2000" spc="5" dirty="0">
                <a:cs typeface="Segoe Print"/>
              </a:rPr>
              <a:t> </a:t>
            </a:r>
            <a:r>
              <a:rPr lang="en-US" sz="2000" spc="-5" dirty="0">
                <a:cs typeface="Segoe Print"/>
              </a:rPr>
              <a:t>performance</a:t>
            </a:r>
            <a:r>
              <a:rPr lang="en-US" sz="2000" spc="-15" dirty="0">
                <a:cs typeface="Segoe Print"/>
              </a:rPr>
              <a:t> </a:t>
            </a:r>
            <a:r>
              <a:rPr lang="en-US" sz="2000" spc="-5" dirty="0">
                <a:cs typeface="Segoe Print"/>
              </a:rPr>
              <a:t>of </a:t>
            </a:r>
            <a:r>
              <a:rPr lang="en-US" sz="2000" dirty="0">
                <a:cs typeface="Segoe Print"/>
              </a:rPr>
              <a:t>the</a:t>
            </a:r>
            <a:r>
              <a:rPr lang="en-US" sz="2000" spc="5" dirty="0">
                <a:cs typeface="Segoe Print"/>
              </a:rPr>
              <a:t> </a:t>
            </a:r>
            <a:r>
              <a:rPr lang="en-US" sz="2000" dirty="0">
                <a:cs typeface="Segoe Print"/>
              </a:rPr>
              <a:t>algorithm.</a:t>
            </a:r>
          </a:p>
          <a:p>
            <a:pPr marL="298450" indent="-285750" algn="just">
              <a:lnSpc>
                <a:spcPct val="100000"/>
              </a:lnSpc>
              <a:spcBef>
                <a:spcPts val="2160"/>
              </a:spcBef>
              <a:buChar char="-"/>
              <a:tabLst>
                <a:tab pos="297815" algn="l"/>
                <a:tab pos="298450" algn="l"/>
              </a:tabLst>
            </a:pPr>
            <a:r>
              <a:rPr lang="en-US" sz="2000" dirty="0">
                <a:cs typeface="Segoe Print"/>
              </a:rPr>
              <a:t>This</a:t>
            </a:r>
            <a:r>
              <a:rPr lang="en-US" sz="2000" spc="-5" dirty="0">
                <a:cs typeface="Segoe Print"/>
              </a:rPr>
              <a:t> </a:t>
            </a:r>
            <a:r>
              <a:rPr lang="en-US" sz="2000" dirty="0">
                <a:cs typeface="Segoe Print"/>
              </a:rPr>
              <a:t>evaluation</a:t>
            </a:r>
            <a:r>
              <a:rPr lang="en-US" sz="2000" spc="5" dirty="0">
                <a:cs typeface="Segoe Print"/>
              </a:rPr>
              <a:t> </a:t>
            </a:r>
            <a:r>
              <a:rPr lang="en-US" sz="2000" dirty="0">
                <a:cs typeface="Segoe Print"/>
              </a:rPr>
              <a:t>method </a:t>
            </a:r>
            <a:r>
              <a:rPr lang="en-US" sz="2000" spc="-5" dirty="0">
                <a:cs typeface="Segoe Print"/>
              </a:rPr>
              <a:t>is</a:t>
            </a:r>
            <a:r>
              <a:rPr lang="en-US" sz="2000" dirty="0">
                <a:cs typeface="Segoe Print"/>
              </a:rPr>
              <a:t> </a:t>
            </a:r>
            <a:r>
              <a:rPr lang="en-US" sz="2000" spc="-5" dirty="0">
                <a:cs typeface="Segoe Print"/>
              </a:rPr>
              <a:t>referred</a:t>
            </a:r>
            <a:r>
              <a:rPr lang="en-US" sz="2000" spc="-15" dirty="0">
                <a:cs typeface="Segoe Print"/>
              </a:rPr>
              <a:t> </a:t>
            </a:r>
            <a:r>
              <a:rPr lang="en-US" sz="2000" dirty="0">
                <a:cs typeface="Segoe Print"/>
              </a:rPr>
              <a:t>to</a:t>
            </a:r>
            <a:r>
              <a:rPr lang="en-US" sz="2000" spc="5" dirty="0">
                <a:cs typeface="Segoe Print"/>
              </a:rPr>
              <a:t> </a:t>
            </a:r>
            <a:r>
              <a:rPr lang="en-US" sz="2000" dirty="0">
                <a:cs typeface="Segoe Print"/>
              </a:rPr>
              <a:t>as evaluation</a:t>
            </a:r>
            <a:r>
              <a:rPr lang="en-US" sz="2000" spc="5" dirty="0">
                <a:cs typeface="Segoe Print"/>
              </a:rPr>
              <a:t> </a:t>
            </a:r>
            <a:r>
              <a:rPr lang="en-US" sz="2000" spc="-5" dirty="0">
                <a:cs typeface="Segoe Print"/>
              </a:rPr>
              <a:t>based</a:t>
            </a:r>
            <a:r>
              <a:rPr lang="en-US" sz="2000" dirty="0">
                <a:cs typeface="Segoe Print"/>
              </a:rPr>
              <a:t> </a:t>
            </a:r>
            <a:r>
              <a:rPr lang="en-US" sz="2000" spc="-5" dirty="0">
                <a:cs typeface="Segoe Print"/>
              </a:rPr>
              <a:t>on</a:t>
            </a:r>
            <a:r>
              <a:rPr lang="en-US" sz="2000" spc="-10" dirty="0">
                <a:cs typeface="Segoe Print"/>
              </a:rPr>
              <a:t> </a:t>
            </a:r>
            <a:r>
              <a:rPr lang="en-US" sz="2000" spc="-5" dirty="0">
                <a:cs typeface="Segoe Print"/>
              </a:rPr>
              <a:t>external</a:t>
            </a:r>
            <a:r>
              <a:rPr lang="en-US" sz="2000" dirty="0">
                <a:cs typeface="Segoe Print"/>
              </a:rPr>
              <a:t> </a:t>
            </a:r>
            <a:r>
              <a:rPr lang="en-US" sz="2000" spc="-5" dirty="0">
                <a:cs typeface="Segoe Print"/>
              </a:rPr>
              <a:t>data.</a:t>
            </a:r>
            <a:endParaRPr lang="en-US" sz="2000" dirty="0">
              <a:cs typeface="Segoe Print"/>
            </a:endParaRPr>
          </a:p>
          <a:p>
            <a:pPr marL="297815" marR="824230" indent="-285750" algn="just">
              <a:lnSpc>
                <a:spcPct val="100000"/>
              </a:lnSpc>
              <a:spcBef>
                <a:spcPts val="2260"/>
              </a:spcBef>
              <a:buFont typeface="Segoe Print"/>
              <a:buChar char="-"/>
              <a:tabLst>
                <a:tab pos="297815" algn="l"/>
                <a:tab pos="298450" algn="l"/>
              </a:tabLst>
            </a:pPr>
            <a:r>
              <a:rPr lang="en-US" sz="2000" b="1" spc="-5" dirty="0">
                <a:solidFill>
                  <a:srgbClr val="00AF50"/>
                </a:solidFill>
                <a:cs typeface="Segoe Print"/>
              </a:rPr>
              <a:t>Assuming each</a:t>
            </a:r>
            <a:r>
              <a:rPr lang="en-US" sz="2000" b="1" spc="10" dirty="0">
                <a:solidFill>
                  <a:srgbClr val="00AF50"/>
                </a:solidFill>
                <a:cs typeface="Segoe Print"/>
              </a:rPr>
              <a:t> </a:t>
            </a:r>
            <a:r>
              <a:rPr lang="en-US" sz="2000" b="1" spc="-5" dirty="0">
                <a:solidFill>
                  <a:srgbClr val="00AF50"/>
                </a:solidFill>
                <a:cs typeface="Segoe Print"/>
              </a:rPr>
              <a:t>class</a:t>
            </a:r>
            <a:r>
              <a:rPr lang="en-US" sz="2000" b="1" spc="5" dirty="0">
                <a:solidFill>
                  <a:srgbClr val="00AF50"/>
                </a:solidFill>
                <a:cs typeface="Segoe Print"/>
              </a:rPr>
              <a:t> </a:t>
            </a:r>
            <a:r>
              <a:rPr lang="en-US" sz="2000" b="1" dirty="0">
                <a:solidFill>
                  <a:srgbClr val="00AF50"/>
                </a:solidFill>
                <a:cs typeface="Segoe Print"/>
              </a:rPr>
              <a:t>as</a:t>
            </a:r>
            <a:r>
              <a:rPr lang="en-US" sz="2000" b="1" spc="-5" dirty="0">
                <a:solidFill>
                  <a:srgbClr val="00AF50"/>
                </a:solidFill>
                <a:cs typeface="Segoe Print"/>
              </a:rPr>
              <a:t> </a:t>
            </a:r>
            <a:r>
              <a:rPr lang="en-US" sz="2000" b="1" dirty="0">
                <a:solidFill>
                  <a:srgbClr val="00AF50"/>
                </a:solidFill>
                <a:cs typeface="Segoe Print"/>
              </a:rPr>
              <a:t>a</a:t>
            </a:r>
            <a:r>
              <a:rPr lang="en-US" sz="2000" b="1" spc="-5" dirty="0">
                <a:solidFill>
                  <a:srgbClr val="00AF50"/>
                </a:solidFill>
                <a:cs typeface="Segoe Print"/>
              </a:rPr>
              <a:t> </a:t>
            </a:r>
            <a:r>
              <a:rPr lang="en-US" sz="2000" b="1" dirty="0">
                <a:solidFill>
                  <a:srgbClr val="00AF50"/>
                </a:solidFill>
                <a:cs typeface="Segoe Print"/>
              </a:rPr>
              <a:t>cluster</a:t>
            </a:r>
            <a:r>
              <a:rPr lang="en-US" sz="2000" dirty="0">
                <a:cs typeface="Segoe Print"/>
              </a:rPr>
              <a:t>,</a:t>
            </a:r>
            <a:r>
              <a:rPr lang="en-US" sz="2000" spc="20" dirty="0">
                <a:cs typeface="Segoe Print"/>
              </a:rPr>
              <a:t> </a:t>
            </a:r>
            <a:r>
              <a:rPr lang="en-US" sz="2000" spc="-5" dirty="0">
                <a:cs typeface="Segoe Print"/>
              </a:rPr>
              <a:t>we</a:t>
            </a:r>
            <a:r>
              <a:rPr lang="en-US" sz="2000" spc="-10" dirty="0">
                <a:cs typeface="Segoe Print"/>
              </a:rPr>
              <a:t> </a:t>
            </a:r>
            <a:r>
              <a:rPr lang="en-US" sz="2000" dirty="0">
                <a:cs typeface="Segoe Print"/>
              </a:rPr>
              <a:t>use</a:t>
            </a:r>
            <a:r>
              <a:rPr lang="en-US" sz="2000" spc="5" dirty="0">
                <a:cs typeface="Segoe Print"/>
              </a:rPr>
              <a:t> </a:t>
            </a:r>
            <a:r>
              <a:rPr lang="en-US" sz="2000" dirty="0">
                <a:cs typeface="Segoe Print"/>
              </a:rPr>
              <a:t>classification</a:t>
            </a:r>
            <a:r>
              <a:rPr lang="en-US" sz="2000" spc="10" dirty="0">
                <a:cs typeface="Segoe Print"/>
              </a:rPr>
              <a:t> </a:t>
            </a:r>
            <a:r>
              <a:rPr lang="en-US" sz="2000" dirty="0">
                <a:cs typeface="Segoe Print"/>
              </a:rPr>
              <a:t>evaluation</a:t>
            </a:r>
            <a:r>
              <a:rPr lang="en-US" sz="2000" spc="5" dirty="0">
                <a:cs typeface="Segoe Print"/>
              </a:rPr>
              <a:t> </a:t>
            </a:r>
            <a:r>
              <a:rPr lang="en-US" sz="2000" dirty="0">
                <a:cs typeface="Segoe Print"/>
              </a:rPr>
              <a:t>metrics </a:t>
            </a:r>
            <a:r>
              <a:rPr lang="en-US" sz="2000" spc="-705" dirty="0">
                <a:cs typeface="Segoe Print"/>
              </a:rPr>
              <a:t> </a:t>
            </a:r>
            <a:r>
              <a:rPr lang="en-US" sz="2000" dirty="0">
                <a:cs typeface="Segoe Print"/>
              </a:rPr>
              <a:t>after</a:t>
            </a:r>
            <a:r>
              <a:rPr lang="en-US" sz="2000" spc="5" dirty="0">
                <a:cs typeface="Segoe Print"/>
              </a:rPr>
              <a:t> </a:t>
            </a:r>
            <a:r>
              <a:rPr lang="en-US" sz="2000" dirty="0">
                <a:cs typeface="Segoe Print"/>
              </a:rPr>
              <a:t>clustering:</a:t>
            </a:r>
          </a:p>
          <a:p>
            <a:pPr marL="755650" lvl="1" indent="-286385" algn="just">
              <a:lnSpc>
                <a:spcPct val="100000"/>
              </a:lnSpc>
              <a:buChar char="-"/>
              <a:tabLst>
                <a:tab pos="755650" algn="l"/>
                <a:tab pos="756285" algn="l"/>
              </a:tabLst>
            </a:pPr>
            <a:r>
              <a:rPr lang="en-US" sz="2000" spc="-5" dirty="0">
                <a:cs typeface="Segoe Print"/>
              </a:rPr>
              <a:t>Confusion</a:t>
            </a:r>
            <a:r>
              <a:rPr lang="en-US" sz="2000" spc="-50" dirty="0">
                <a:cs typeface="Segoe Print"/>
              </a:rPr>
              <a:t> </a:t>
            </a:r>
            <a:r>
              <a:rPr lang="en-US" sz="2000" dirty="0">
                <a:cs typeface="Segoe Print"/>
              </a:rPr>
              <a:t>matrix</a:t>
            </a:r>
          </a:p>
          <a:p>
            <a:pPr marL="755650" lvl="1" indent="-286385" algn="just">
              <a:lnSpc>
                <a:spcPct val="100000"/>
              </a:lnSpc>
              <a:buChar char="-"/>
              <a:tabLst>
                <a:tab pos="755650" algn="l"/>
                <a:tab pos="756285" algn="l"/>
              </a:tabLst>
            </a:pPr>
            <a:r>
              <a:rPr lang="en-US" sz="2000" spc="-5" dirty="0">
                <a:cs typeface="Segoe Print"/>
              </a:rPr>
              <a:t>Precision,</a:t>
            </a:r>
            <a:r>
              <a:rPr lang="en-US" sz="2000" spc="-25" dirty="0">
                <a:cs typeface="Segoe Print"/>
              </a:rPr>
              <a:t> </a:t>
            </a:r>
            <a:r>
              <a:rPr lang="en-US" sz="2000" spc="-5" dirty="0">
                <a:cs typeface="Segoe Print"/>
              </a:rPr>
              <a:t>recall,</a:t>
            </a:r>
            <a:r>
              <a:rPr lang="en-US" sz="2000" spc="-20" dirty="0">
                <a:cs typeface="Segoe Print"/>
              </a:rPr>
              <a:t> </a:t>
            </a:r>
            <a:r>
              <a:rPr lang="en-US" sz="2000" spc="-5" dirty="0">
                <a:cs typeface="Segoe Print"/>
              </a:rPr>
              <a:t>F1-score</a:t>
            </a:r>
            <a:endParaRPr lang="en-US" sz="2000" dirty="0">
              <a:cs typeface="Segoe Print"/>
            </a:endParaRPr>
          </a:p>
          <a:p>
            <a:pPr marL="755650" lvl="1" indent="-286385" algn="just">
              <a:lnSpc>
                <a:spcPct val="100000"/>
              </a:lnSpc>
              <a:spcBef>
                <a:spcPts val="35"/>
              </a:spcBef>
              <a:buChar char="-"/>
              <a:tabLst>
                <a:tab pos="755650" algn="l"/>
                <a:tab pos="756285" algn="l"/>
              </a:tabLst>
            </a:pPr>
            <a:r>
              <a:rPr lang="en-US" sz="2000" dirty="0">
                <a:cs typeface="Segoe Print"/>
              </a:rPr>
              <a:t>Purity</a:t>
            </a:r>
            <a:r>
              <a:rPr lang="en-US" sz="2000" spc="-25" dirty="0">
                <a:cs typeface="Segoe Print"/>
              </a:rPr>
              <a:t> </a:t>
            </a:r>
            <a:r>
              <a:rPr lang="en-US" sz="2000" dirty="0">
                <a:cs typeface="Segoe Print"/>
              </a:rPr>
              <a:t>and</a:t>
            </a:r>
            <a:r>
              <a:rPr lang="en-US" sz="2000" spc="-30" dirty="0">
                <a:cs typeface="Segoe Print"/>
              </a:rPr>
              <a:t> </a:t>
            </a:r>
            <a:r>
              <a:rPr lang="en-US" sz="2000" spc="-5" dirty="0">
                <a:cs typeface="Segoe Print"/>
              </a:rPr>
              <a:t>Entropy</a:t>
            </a:r>
            <a:endParaRPr lang="en-US" sz="2000" dirty="0">
              <a:cs typeface="Segoe Print"/>
            </a:endParaRPr>
          </a:p>
          <a:p>
            <a:pPr algn="just"/>
            <a:endParaRPr lang="en-GB" sz="2800" dirty="0"/>
          </a:p>
        </p:txBody>
      </p:sp>
    </p:spTree>
    <p:extLst>
      <p:ext uri="{BB962C8B-B14F-4D97-AF65-F5344CB8AC3E}">
        <p14:creationId xmlns:p14="http://schemas.microsoft.com/office/powerpoint/2010/main" val="4288025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610600" cy="914400"/>
          </a:xfrm>
        </p:spPr>
        <p:txBody>
          <a:bodyPr>
            <a:noAutofit/>
          </a:bodyPr>
          <a:lstStyle/>
          <a:p>
            <a:r>
              <a:rPr lang="en-US" sz="4400" spc="-15" dirty="0">
                <a:solidFill>
                  <a:schemeClr val="accent1">
                    <a:lumMod val="75000"/>
                  </a:schemeClr>
                </a:solidFill>
                <a:uFill>
                  <a:solidFill>
                    <a:srgbClr val="006FC0"/>
                  </a:solidFill>
                </a:uFill>
                <a:latin typeface="+mn-lt"/>
              </a:rPr>
              <a:t>Evaluation </a:t>
            </a:r>
            <a:r>
              <a:rPr lang="en-US" sz="4400" dirty="0">
                <a:solidFill>
                  <a:schemeClr val="accent1">
                    <a:lumMod val="75000"/>
                  </a:schemeClr>
                </a:solidFill>
                <a:uFill>
                  <a:solidFill>
                    <a:srgbClr val="006FC0"/>
                  </a:solidFill>
                </a:uFill>
                <a:latin typeface="+mn-lt"/>
              </a:rPr>
              <a:t>Of</a:t>
            </a:r>
            <a:r>
              <a:rPr lang="en-US" sz="4400" spc="-20" dirty="0">
                <a:solidFill>
                  <a:schemeClr val="accent1">
                    <a:lumMod val="75000"/>
                  </a:schemeClr>
                </a:solidFill>
                <a:uFill>
                  <a:solidFill>
                    <a:srgbClr val="006FC0"/>
                  </a:solidFill>
                </a:uFill>
                <a:latin typeface="+mn-lt"/>
              </a:rPr>
              <a:t> </a:t>
            </a:r>
            <a:r>
              <a:rPr lang="en-US" sz="4400" spc="-5" dirty="0">
                <a:solidFill>
                  <a:schemeClr val="accent1">
                    <a:lumMod val="75000"/>
                  </a:schemeClr>
                </a:solidFill>
                <a:uFill>
                  <a:solidFill>
                    <a:srgbClr val="006FC0"/>
                  </a:solidFill>
                </a:uFill>
                <a:latin typeface="+mn-lt"/>
              </a:rPr>
              <a:t>K-means</a:t>
            </a:r>
            <a:r>
              <a:rPr lang="en-US" sz="4400" spc="-15" dirty="0">
                <a:solidFill>
                  <a:schemeClr val="accent1">
                    <a:lumMod val="75000"/>
                  </a:schemeClr>
                </a:solidFill>
                <a:uFill>
                  <a:solidFill>
                    <a:srgbClr val="006FC0"/>
                  </a:solidFill>
                </a:uFill>
                <a:latin typeface="+mn-lt"/>
              </a:rPr>
              <a:t> </a:t>
            </a:r>
            <a:r>
              <a:rPr lang="en-US" sz="4400" spc="-10" dirty="0">
                <a:solidFill>
                  <a:schemeClr val="accent1">
                    <a:lumMod val="75000"/>
                  </a:schemeClr>
                </a:solidFill>
                <a:uFill>
                  <a:solidFill>
                    <a:srgbClr val="006FC0"/>
                  </a:solidFill>
                </a:uFill>
                <a:latin typeface="+mn-lt"/>
              </a:rPr>
              <a:t>Clustering</a:t>
            </a:r>
            <a:endParaRPr lang="en-GB" sz="4000" dirty="0">
              <a:solidFill>
                <a:schemeClr val="accent1">
                  <a:lumMod val="75000"/>
                </a:schemeClr>
              </a:solidFill>
              <a:latin typeface="+mn-lt"/>
            </a:endParaRPr>
          </a:p>
        </p:txBody>
      </p:sp>
      <p:grpSp>
        <p:nvGrpSpPr>
          <p:cNvPr id="6" name="object 3"/>
          <p:cNvGrpSpPr/>
          <p:nvPr/>
        </p:nvGrpSpPr>
        <p:grpSpPr>
          <a:xfrm>
            <a:off x="379641" y="1752600"/>
            <a:ext cx="8383359" cy="1447800"/>
            <a:chOff x="326897" y="1107947"/>
            <a:chExt cx="7497445" cy="1221105"/>
          </a:xfrm>
        </p:grpSpPr>
        <p:pic>
          <p:nvPicPr>
            <p:cNvPr id="7" name="object 4"/>
            <p:cNvPicPr/>
            <p:nvPr/>
          </p:nvPicPr>
          <p:blipFill>
            <a:blip r:embed="rId2" cstate="print"/>
            <a:stretch>
              <a:fillRect/>
            </a:stretch>
          </p:blipFill>
          <p:spPr>
            <a:xfrm>
              <a:off x="326897" y="1107947"/>
              <a:ext cx="7497318" cy="488441"/>
            </a:xfrm>
            <a:prstGeom prst="rect">
              <a:avLst/>
            </a:prstGeom>
          </p:spPr>
        </p:pic>
        <p:pic>
          <p:nvPicPr>
            <p:cNvPr id="8" name="object 5"/>
            <p:cNvPicPr/>
            <p:nvPr/>
          </p:nvPicPr>
          <p:blipFill>
            <a:blip r:embed="rId3" cstate="print"/>
            <a:stretch>
              <a:fillRect/>
            </a:stretch>
          </p:blipFill>
          <p:spPr>
            <a:xfrm>
              <a:off x="3474720" y="1627631"/>
              <a:ext cx="3054096" cy="701039"/>
            </a:xfrm>
            <a:prstGeom prst="rect">
              <a:avLst/>
            </a:prstGeom>
          </p:spPr>
        </p:pic>
      </p:grpSp>
      <p:pic>
        <p:nvPicPr>
          <p:cNvPr id="9" name="object 6"/>
          <p:cNvPicPr/>
          <p:nvPr/>
        </p:nvPicPr>
        <p:blipFill>
          <a:blip r:embed="rId4" cstate="print"/>
          <a:stretch>
            <a:fillRect/>
          </a:stretch>
        </p:blipFill>
        <p:spPr>
          <a:xfrm>
            <a:off x="381315" y="3352800"/>
            <a:ext cx="4242054" cy="206501"/>
          </a:xfrm>
          <a:prstGeom prst="rect">
            <a:avLst/>
          </a:prstGeom>
        </p:spPr>
      </p:pic>
      <p:pic>
        <p:nvPicPr>
          <p:cNvPr id="10" name="object 7"/>
          <p:cNvPicPr/>
          <p:nvPr/>
        </p:nvPicPr>
        <p:blipFill>
          <a:blip r:embed="rId5" cstate="print"/>
          <a:stretch>
            <a:fillRect/>
          </a:stretch>
        </p:blipFill>
        <p:spPr>
          <a:xfrm>
            <a:off x="379641" y="4038600"/>
            <a:ext cx="6214109" cy="207263"/>
          </a:xfrm>
          <a:prstGeom prst="rect">
            <a:avLst/>
          </a:prstGeom>
        </p:spPr>
      </p:pic>
    </p:spTree>
    <p:extLst>
      <p:ext uri="{BB962C8B-B14F-4D97-AF65-F5344CB8AC3E}">
        <p14:creationId xmlns:p14="http://schemas.microsoft.com/office/powerpoint/2010/main" val="1422305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p:cNvSpPr>
          <p:nvPr/>
        </p:nvSpPr>
        <p:spPr>
          <a:xfrm>
            <a:off x="409447" y="319999"/>
            <a:ext cx="7878064" cy="689932"/>
          </a:xfrm>
          <a:prstGeom prst="rect">
            <a:avLst/>
          </a:prstGeom>
        </p:spPr>
        <p:txBody>
          <a:bodyPr vert="horz" wrap="square" lIns="0" tIns="12700" rIns="0" bIns="0" rtlCol="0" anchor="b">
            <a:sp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marL="12700">
              <a:spcBef>
                <a:spcPts val="100"/>
              </a:spcBef>
            </a:pPr>
            <a:r>
              <a:rPr lang="en-GB" sz="4400" spc="-10" dirty="0">
                <a:latin typeface="+mn-lt"/>
              </a:rPr>
              <a:t>Partitional</a:t>
            </a:r>
            <a:r>
              <a:rPr lang="en-GB" sz="4400" spc="-45" dirty="0">
                <a:latin typeface="+mn-lt"/>
              </a:rPr>
              <a:t> </a:t>
            </a:r>
            <a:r>
              <a:rPr lang="en-GB" sz="4400" spc="-15" dirty="0">
                <a:latin typeface="+mn-lt"/>
              </a:rPr>
              <a:t>Clustering</a:t>
            </a:r>
          </a:p>
        </p:txBody>
      </p:sp>
      <p:pic>
        <p:nvPicPr>
          <p:cNvPr id="6" name="object 4"/>
          <p:cNvPicPr/>
          <p:nvPr/>
        </p:nvPicPr>
        <p:blipFill>
          <a:blip r:embed="rId2" cstate="print"/>
          <a:stretch>
            <a:fillRect/>
          </a:stretch>
        </p:blipFill>
        <p:spPr>
          <a:xfrm>
            <a:off x="571975" y="1536405"/>
            <a:ext cx="6457187" cy="228600"/>
          </a:xfrm>
          <a:prstGeom prst="rect">
            <a:avLst/>
          </a:prstGeom>
        </p:spPr>
      </p:pic>
      <p:pic>
        <p:nvPicPr>
          <p:cNvPr id="7" name="object 5"/>
          <p:cNvPicPr/>
          <p:nvPr/>
        </p:nvPicPr>
        <p:blipFill>
          <a:blip r:embed="rId3" cstate="print"/>
          <a:stretch>
            <a:fillRect/>
          </a:stretch>
        </p:blipFill>
        <p:spPr>
          <a:xfrm>
            <a:off x="7212838" y="1472717"/>
            <a:ext cx="883157" cy="237743"/>
          </a:xfrm>
          <a:prstGeom prst="rect">
            <a:avLst/>
          </a:prstGeom>
        </p:spPr>
      </p:pic>
      <p:pic>
        <p:nvPicPr>
          <p:cNvPr id="8" name="object 6"/>
          <p:cNvPicPr/>
          <p:nvPr/>
        </p:nvPicPr>
        <p:blipFill>
          <a:blip r:embed="rId4" cstate="print"/>
          <a:stretch>
            <a:fillRect/>
          </a:stretch>
        </p:blipFill>
        <p:spPr>
          <a:xfrm>
            <a:off x="550710" y="2057400"/>
            <a:ext cx="7513320" cy="480060"/>
          </a:xfrm>
          <a:prstGeom prst="rect">
            <a:avLst/>
          </a:prstGeom>
        </p:spPr>
      </p:pic>
      <p:pic>
        <p:nvPicPr>
          <p:cNvPr id="9" name="object 7"/>
          <p:cNvPicPr/>
          <p:nvPr/>
        </p:nvPicPr>
        <p:blipFill>
          <a:blip r:embed="rId5" cstate="print"/>
          <a:stretch>
            <a:fillRect/>
          </a:stretch>
        </p:blipFill>
        <p:spPr>
          <a:xfrm>
            <a:off x="561342" y="2743200"/>
            <a:ext cx="4686300" cy="207263"/>
          </a:xfrm>
          <a:prstGeom prst="rect">
            <a:avLst/>
          </a:prstGeom>
        </p:spPr>
      </p:pic>
      <p:pic>
        <p:nvPicPr>
          <p:cNvPr id="10" name="object 8"/>
          <p:cNvPicPr/>
          <p:nvPr/>
        </p:nvPicPr>
        <p:blipFill>
          <a:blip r:embed="rId6" cstate="print"/>
          <a:stretch>
            <a:fillRect/>
          </a:stretch>
        </p:blipFill>
        <p:spPr>
          <a:xfrm>
            <a:off x="538305" y="3200400"/>
            <a:ext cx="7495032" cy="1161288"/>
          </a:xfrm>
          <a:prstGeom prst="rect">
            <a:avLst/>
          </a:prstGeom>
        </p:spPr>
      </p:pic>
      <p:pic>
        <p:nvPicPr>
          <p:cNvPr id="11" name="object 9"/>
          <p:cNvPicPr/>
          <p:nvPr/>
        </p:nvPicPr>
        <p:blipFill>
          <a:blip r:embed="rId7" cstate="print"/>
          <a:stretch>
            <a:fillRect/>
          </a:stretch>
        </p:blipFill>
        <p:spPr>
          <a:xfrm>
            <a:off x="527672" y="4751831"/>
            <a:ext cx="6944106" cy="207263"/>
          </a:xfrm>
          <a:prstGeom prst="rect">
            <a:avLst/>
          </a:prstGeom>
        </p:spPr>
      </p:pic>
      <p:pic>
        <p:nvPicPr>
          <p:cNvPr id="12" name="object 10"/>
          <p:cNvPicPr/>
          <p:nvPr/>
        </p:nvPicPr>
        <p:blipFill>
          <a:blip r:embed="rId8" cstate="print"/>
          <a:stretch>
            <a:fillRect/>
          </a:stretch>
        </p:blipFill>
        <p:spPr>
          <a:xfrm>
            <a:off x="570106" y="5257800"/>
            <a:ext cx="7964294" cy="749808"/>
          </a:xfrm>
          <a:prstGeom prst="rect">
            <a:avLst/>
          </a:prstGeom>
        </p:spPr>
      </p:pic>
    </p:spTree>
    <p:extLst>
      <p:ext uri="{BB962C8B-B14F-4D97-AF65-F5344CB8AC3E}">
        <p14:creationId xmlns:p14="http://schemas.microsoft.com/office/powerpoint/2010/main" val="4195464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normAutofit/>
          </a:bodyPr>
          <a:lstStyle/>
          <a:p>
            <a:r>
              <a:rPr lang="en-US" sz="4400" dirty="0">
                <a:latin typeface="+mn-lt"/>
              </a:rPr>
              <a:t>K-means Clustering</a:t>
            </a:r>
            <a:endParaRPr lang="en-GB" sz="4400" dirty="0">
              <a:latin typeface="+mn-lt"/>
            </a:endParaRPr>
          </a:p>
        </p:txBody>
      </p:sp>
      <p:sp>
        <p:nvSpPr>
          <p:cNvPr id="3" name="Content Placeholder 2"/>
          <p:cNvSpPr>
            <a:spLocks noGrp="1"/>
          </p:cNvSpPr>
          <p:nvPr>
            <p:ph idx="1"/>
          </p:nvPr>
        </p:nvSpPr>
        <p:spPr>
          <a:xfrm>
            <a:off x="381000" y="1447800"/>
            <a:ext cx="8229600" cy="5029200"/>
          </a:xfrm>
        </p:spPr>
        <p:txBody>
          <a:bodyPr>
            <a:normAutofit/>
          </a:bodyPr>
          <a:lstStyle/>
          <a:p>
            <a:pPr algn="just">
              <a:lnSpc>
                <a:spcPct val="150000"/>
              </a:lnSpc>
            </a:pPr>
            <a:r>
              <a:rPr lang="en-US" sz="2000" dirty="0"/>
              <a:t>It is the simplest unsupervised learning algorithm that solves clustering problem.</a:t>
            </a:r>
          </a:p>
          <a:p>
            <a:pPr algn="just">
              <a:lnSpc>
                <a:spcPct val="150000"/>
              </a:lnSpc>
            </a:pPr>
            <a:r>
              <a:rPr lang="en-US" sz="2000" dirty="0"/>
              <a:t>K-means algorithm partitions n observations into k clusters where each observation belongs to the cluster with the nearest mean serving as a prototype of the cluster. </a:t>
            </a:r>
          </a:p>
          <a:p>
            <a:pPr algn="just">
              <a:lnSpc>
                <a:spcPct val="150000"/>
              </a:lnSpc>
            </a:pPr>
            <a:r>
              <a:rPr lang="en-US" sz="2000" dirty="0"/>
              <a:t>We are given a data set of items, with certain features, and values for these features (like a vector). </a:t>
            </a:r>
          </a:p>
          <a:p>
            <a:pPr algn="just">
              <a:lnSpc>
                <a:spcPct val="150000"/>
              </a:lnSpc>
            </a:pPr>
            <a:r>
              <a:rPr lang="en-US" sz="2000" dirty="0"/>
              <a:t>The task is to categorize those items into groups.</a:t>
            </a:r>
          </a:p>
          <a:p>
            <a:pPr algn="just">
              <a:lnSpc>
                <a:spcPct val="150000"/>
              </a:lnSpc>
            </a:pPr>
            <a:r>
              <a:rPr lang="en-US" sz="2000" dirty="0"/>
              <a:t> To achieve this, we will use the k-Means algorithm; an unsupervised learning algorithm. </a:t>
            </a:r>
          </a:p>
          <a:p>
            <a:pPr algn="just">
              <a:lnSpc>
                <a:spcPct val="150000"/>
              </a:lnSpc>
            </a:pPr>
            <a:endParaRPr lang="en-GB" sz="2000" dirty="0"/>
          </a:p>
        </p:txBody>
      </p:sp>
    </p:spTree>
    <p:extLst>
      <p:ext uri="{BB962C8B-B14F-4D97-AF65-F5344CB8AC3E}">
        <p14:creationId xmlns:p14="http://schemas.microsoft.com/office/powerpoint/2010/main" val="2994041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4400" dirty="0">
                <a:latin typeface="+mn-lt"/>
              </a:rPr>
              <a:t>K-means Clustering</a:t>
            </a:r>
            <a:endParaRPr lang="en-GB" sz="4400" dirty="0">
              <a:latin typeface="+mn-lt"/>
            </a:endParaRPr>
          </a:p>
        </p:txBody>
      </p:sp>
      <p:sp>
        <p:nvSpPr>
          <p:cNvPr id="3" name="Content Placeholder 2"/>
          <p:cNvSpPr>
            <a:spLocks noGrp="1"/>
          </p:cNvSpPr>
          <p:nvPr>
            <p:ph idx="1"/>
          </p:nvPr>
        </p:nvSpPr>
        <p:spPr>
          <a:xfrm>
            <a:off x="228600" y="1371600"/>
            <a:ext cx="8610600" cy="4876800"/>
          </a:xfrm>
        </p:spPr>
        <p:txBody>
          <a:bodyPr>
            <a:normAutofit fontScale="77500" lnSpcReduction="20000"/>
          </a:bodyPr>
          <a:lstStyle/>
          <a:p>
            <a:pPr algn="just">
              <a:lnSpc>
                <a:spcPct val="150000"/>
              </a:lnSpc>
            </a:pPr>
            <a:r>
              <a:rPr lang="en-US" dirty="0"/>
              <a:t>(It will help if you think of items as points in an n-dimensional space).  The algorithm will categorize the items into k groups of similarity. To calculate that similarity, we will use the Euclidean distance as measurement.</a:t>
            </a:r>
          </a:p>
          <a:p>
            <a:pPr marL="0" indent="0" algn="just">
              <a:lnSpc>
                <a:spcPct val="150000"/>
              </a:lnSpc>
              <a:buNone/>
            </a:pPr>
            <a:r>
              <a:rPr lang="en-US" dirty="0"/>
              <a:t>The algorithm works as follows: </a:t>
            </a:r>
          </a:p>
          <a:p>
            <a:pPr algn="just">
              <a:lnSpc>
                <a:spcPct val="150000"/>
              </a:lnSpc>
            </a:pPr>
            <a:r>
              <a:rPr lang="en-US" dirty="0"/>
              <a:t>First, we initialize k points, called means, randomly.</a:t>
            </a:r>
          </a:p>
          <a:p>
            <a:pPr algn="just">
              <a:lnSpc>
                <a:spcPct val="150000"/>
              </a:lnSpc>
            </a:pPr>
            <a:r>
              <a:rPr lang="en-US" dirty="0"/>
              <a:t>We categorize each item to its closest mean and we update the mean’s coordinates, which are the averages of the items categorized in that mean so far.</a:t>
            </a:r>
          </a:p>
          <a:p>
            <a:pPr algn="just">
              <a:lnSpc>
                <a:spcPct val="150000"/>
              </a:lnSpc>
            </a:pPr>
            <a:r>
              <a:rPr lang="en-US" dirty="0"/>
              <a:t>We repeat the process for a given number of iterations and at the end, we have our clusters.</a:t>
            </a:r>
          </a:p>
          <a:p>
            <a:pPr algn="just">
              <a:lnSpc>
                <a:spcPct val="150000"/>
              </a:lnSpc>
            </a:pPr>
            <a:endParaRPr lang="en-GB" dirty="0"/>
          </a:p>
        </p:txBody>
      </p:sp>
    </p:spTree>
    <p:extLst>
      <p:ext uri="{BB962C8B-B14F-4D97-AF65-F5344CB8AC3E}">
        <p14:creationId xmlns:p14="http://schemas.microsoft.com/office/powerpoint/2010/main" val="2057517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4400" dirty="0">
                <a:latin typeface="+mn-lt"/>
              </a:rPr>
              <a:t>K-means Clustering</a:t>
            </a:r>
            <a:endParaRPr lang="en-GB" sz="4400" dirty="0">
              <a:latin typeface="+mn-lt"/>
            </a:endParaRPr>
          </a:p>
        </p:txBody>
      </p:sp>
      <p:sp>
        <p:nvSpPr>
          <p:cNvPr id="3" name="Content Placeholder 2"/>
          <p:cNvSpPr>
            <a:spLocks noGrp="1"/>
          </p:cNvSpPr>
          <p:nvPr>
            <p:ph idx="1"/>
          </p:nvPr>
        </p:nvSpPr>
        <p:spPr>
          <a:xfrm>
            <a:off x="457200" y="1371600"/>
            <a:ext cx="8229600" cy="5181600"/>
          </a:xfrm>
        </p:spPr>
        <p:txBody>
          <a:bodyPr>
            <a:normAutofit/>
          </a:bodyPr>
          <a:lstStyle/>
          <a:p>
            <a:pPr algn="just">
              <a:lnSpc>
                <a:spcPct val="150000"/>
              </a:lnSpc>
            </a:pPr>
            <a:r>
              <a:rPr lang="en-US" sz="2000" dirty="0"/>
              <a:t>The “points” mentioned above are called means because they hold the mean values of the items categorized in them. </a:t>
            </a:r>
          </a:p>
          <a:p>
            <a:pPr algn="just">
              <a:lnSpc>
                <a:spcPct val="150000"/>
              </a:lnSpc>
            </a:pPr>
            <a:r>
              <a:rPr lang="en-US" sz="2000" dirty="0"/>
              <a:t>To initialize these means, we have a lot of options.</a:t>
            </a:r>
          </a:p>
          <a:p>
            <a:pPr algn="just">
              <a:lnSpc>
                <a:spcPct val="150000"/>
              </a:lnSpc>
            </a:pPr>
            <a:r>
              <a:rPr lang="en-US" sz="2000" dirty="0"/>
              <a:t> An intuitive method is to initialize the means at random items in the data set. </a:t>
            </a:r>
          </a:p>
          <a:p>
            <a:pPr algn="just">
              <a:lnSpc>
                <a:spcPct val="150000"/>
              </a:lnSpc>
            </a:pPr>
            <a:r>
              <a:rPr lang="en-US" sz="2000" dirty="0"/>
              <a:t>Another method is to initialize the means at random values between the boundaries of the data set (if for a feature </a:t>
            </a:r>
            <a:r>
              <a:rPr lang="en-US" sz="2000" i="1" dirty="0"/>
              <a:t>x</a:t>
            </a:r>
            <a:r>
              <a:rPr lang="en-US" sz="2000" dirty="0"/>
              <a:t> the items have values in [0,3], we will initialize the means with values for </a:t>
            </a:r>
            <a:r>
              <a:rPr lang="en-US" sz="2000" i="1" dirty="0"/>
              <a:t>x</a:t>
            </a:r>
            <a:r>
              <a:rPr lang="en-US" sz="2000" dirty="0"/>
              <a:t> at [0,3]).</a:t>
            </a:r>
            <a:br>
              <a:rPr lang="en-US" sz="2000" dirty="0"/>
            </a:br>
            <a:r>
              <a:rPr lang="en-US" sz="2000" dirty="0"/>
              <a:t>The above algorithm in pseudocode: </a:t>
            </a:r>
          </a:p>
        </p:txBody>
      </p:sp>
    </p:spTree>
    <p:extLst>
      <p:ext uri="{BB962C8B-B14F-4D97-AF65-F5344CB8AC3E}">
        <p14:creationId xmlns:p14="http://schemas.microsoft.com/office/powerpoint/2010/main" val="3730458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4"/>
          <p:cNvPicPr/>
          <p:nvPr/>
        </p:nvPicPr>
        <p:blipFill>
          <a:blip r:embed="rId2" cstate="print"/>
          <a:stretch>
            <a:fillRect/>
          </a:stretch>
        </p:blipFill>
        <p:spPr>
          <a:xfrm>
            <a:off x="526542" y="1765779"/>
            <a:ext cx="8007858" cy="659891"/>
          </a:xfrm>
          <a:prstGeom prst="rect">
            <a:avLst/>
          </a:prstGeom>
        </p:spPr>
      </p:pic>
      <p:pic>
        <p:nvPicPr>
          <p:cNvPr id="7" name="object 5"/>
          <p:cNvPicPr/>
          <p:nvPr/>
        </p:nvPicPr>
        <p:blipFill>
          <a:blip r:embed="rId3" cstate="print"/>
          <a:stretch>
            <a:fillRect/>
          </a:stretch>
        </p:blipFill>
        <p:spPr>
          <a:xfrm>
            <a:off x="457200" y="3758183"/>
            <a:ext cx="8077200" cy="480060"/>
          </a:xfrm>
          <a:prstGeom prst="rect">
            <a:avLst/>
          </a:prstGeom>
        </p:spPr>
      </p:pic>
      <p:pic>
        <p:nvPicPr>
          <p:cNvPr id="8" name="object 6"/>
          <p:cNvPicPr/>
          <p:nvPr/>
        </p:nvPicPr>
        <p:blipFill>
          <a:blip r:embed="rId4" cstate="print"/>
          <a:stretch>
            <a:fillRect/>
          </a:stretch>
        </p:blipFill>
        <p:spPr>
          <a:xfrm>
            <a:off x="457200" y="4454148"/>
            <a:ext cx="8077200" cy="477012"/>
          </a:xfrm>
          <a:prstGeom prst="rect">
            <a:avLst/>
          </a:prstGeom>
        </p:spPr>
      </p:pic>
      <p:pic>
        <p:nvPicPr>
          <p:cNvPr id="9" name="object 7"/>
          <p:cNvPicPr/>
          <p:nvPr/>
        </p:nvPicPr>
        <p:blipFill>
          <a:blip r:embed="rId5" cstate="print"/>
          <a:stretch>
            <a:fillRect/>
          </a:stretch>
        </p:blipFill>
        <p:spPr>
          <a:xfrm>
            <a:off x="499745" y="3200400"/>
            <a:ext cx="5155056" cy="204215"/>
          </a:xfrm>
          <a:prstGeom prst="rect">
            <a:avLst/>
          </a:prstGeom>
        </p:spPr>
      </p:pic>
      <p:pic>
        <p:nvPicPr>
          <p:cNvPr id="10" name="object 8"/>
          <p:cNvPicPr/>
          <p:nvPr/>
        </p:nvPicPr>
        <p:blipFill>
          <a:blip r:embed="rId6" cstate="print"/>
          <a:stretch>
            <a:fillRect/>
          </a:stretch>
        </p:blipFill>
        <p:spPr>
          <a:xfrm>
            <a:off x="2286000" y="5105400"/>
            <a:ext cx="2923747" cy="1219200"/>
          </a:xfrm>
          <a:prstGeom prst="rect">
            <a:avLst/>
          </a:prstGeom>
        </p:spPr>
      </p:pic>
      <p:pic>
        <p:nvPicPr>
          <p:cNvPr id="11" name="object 9"/>
          <p:cNvPicPr/>
          <p:nvPr/>
        </p:nvPicPr>
        <p:blipFill>
          <a:blip r:embed="rId7" cstate="print"/>
          <a:stretch>
            <a:fillRect/>
          </a:stretch>
        </p:blipFill>
        <p:spPr>
          <a:xfrm>
            <a:off x="526541" y="2743200"/>
            <a:ext cx="5128260" cy="207263"/>
          </a:xfrm>
          <a:prstGeom prst="rect">
            <a:avLst/>
          </a:prstGeom>
        </p:spPr>
      </p:pic>
      <p:sp>
        <p:nvSpPr>
          <p:cNvPr id="12" name="Title 1"/>
          <p:cNvSpPr>
            <a:spLocks noGrp="1"/>
          </p:cNvSpPr>
          <p:nvPr>
            <p:ph type="title"/>
          </p:nvPr>
        </p:nvSpPr>
        <p:spPr>
          <a:xfrm>
            <a:off x="457200" y="228600"/>
            <a:ext cx="8229600" cy="1143000"/>
          </a:xfrm>
        </p:spPr>
        <p:txBody>
          <a:bodyPr>
            <a:normAutofit/>
          </a:bodyPr>
          <a:lstStyle/>
          <a:p>
            <a:pPr fontAlgn="auto">
              <a:spcAft>
                <a:spcPts val="0"/>
              </a:spcAft>
              <a:defRPr/>
            </a:pPr>
            <a:r>
              <a:rPr lang="en-US" sz="4400" dirty="0">
                <a:latin typeface="+mn-lt"/>
              </a:rPr>
              <a:t>K-means Clustering</a:t>
            </a:r>
          </a:p>
        </p:txBody>
      </p:sp>
    </p:spTree>
    <p:extLst>
      <p:ext uri="{BB962C8B-B14F-4D97-AF65-F5344CB8AC3E}">
        <p14:creationId xmlns:p14="http://schemas.microsoft.com/office/powerpoint/2010/main" val="3447684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pPr fontAlgn="auto">
              <a:spcAft>
                <a:spcPts val="0"/>
              </a:spcAft>
              <a:defRPr/>
            </a:pPr>
            <a:r>
              <a:rPr lang="en-US" sz="4400" dirty="0">
                <a:latin typeface="+mn-lt"/>
              </a:rPr>
              <a:t>K-means Clustering Algorithm</a:t>
            </a:r>
          </a:p>
        </p:txBody>
      </p:sp>
      <p:sp>
        <p:nvSpPr>
          <p:cNvPr id="3" name="Content Placeholder 2"/>
          <p:cNvSpPr>
            <a:spLocks noGrp="1"/>
          </p:cNvSpPr>
          <p:nvPr>
            <p:ph sz="quarter" idx="1"/>
          </p:nvPr>
        </p:nvSpPr>
        <p:spPr>
          <a:xfrm>
            <a:off x="457200" y="1600200"/>
            <a:ext cx="7848600" cy="4873625"/>
          </a:xfrm>
        </p:spPr>
        <p:txBody>
          <a:bodyPr>
            <a:normAutofit/>
          </a:bodyPr>
          <a:lstStyle/>
          <a:p>
            <a:pPr marL="457200" indent="-457200" algn="just" fontAlgn="auto">
              <a:lnSpc>
                <a:spcPct val="150000"/>
              </a:lnSpc>
              <a:spcAft>
                <a:spcPts val="0"/>
              </a:spcAft>
              <a:buFont typeface="+mj-lt"/>
              <a:buAutoNum type="arabicPeriod"/>
              <a:defRPr/>
            </a:pPr>
            <a:r>
              <a:rPr lang="en-US" sz="2000" dirty="0"/>
              <a:t>Chose the number (K) of clusters and randomly select the centroids of each cluster.</a:t>
            </a:r>
          </a:p>
          <a:p>
            <a:pPr marL="457200" indent="-457200" algn="just" fontAlgn="auto">
              <a:lnSpc>
                <a:spcPct val="150000"/>
              </a:lnSpc>
              <a:spcAft>
                <a:spcPts val="0"/>
              </a:spcAft>
              <a:buFont typeface="+mj-lt"/>
              <a:buAutoNum type="arabicPeriod"/>
              <a:defRPr/>
            </a:pPr>
            <a:r>
              <a:rPr lang="en-US" sz="2000" dirty="0"/>
              <a:t>For each data point: </a:t>
            </a:r>
          </a:p>
          <a:p>
            <a:pPr marL="880110" lvl="1" indent="-514350" algn="just" fontAlgn="auto">
              <a:lnSpc>
                <a:spcPct val="150000"/>
              </a:lnSpc>
              <a:spcAft>
                <a:spcPts val="0"/>
              </a:spcAft>
              <a:buFont typeface="+mj-lt"/>
              <a:buAutoNum type="romanUcPeriod"/>
              <a:defRPr/>
            </a:pPr>
            <a:r>
              <a:rPr lang="en-US" sz="2000" dirty="0"/>
              <a:t>Calculate the distance from the data point to each cluster.</a:t>
            </a:r>
          </a:p>
          <a:p>
            <a:pPr marL="880110" lvl="1" indent="-514350" algn="just" fontAlgn="auto">
              <a:lnSpc>
                <a:spcPct val="150000"/>
              </a:lnSpc>
              <a:spcAft>
                <a:spcPts val="0"/>
              </a:spcAft>
              <a:buFont typeface="+mj-lt"/>
              <a:buAutoNum type="romanUcPeriod"/>
              <a:defRPr/>
            </a:pPr>
            <a:r>
              <a:rPr lang="en-US" sz="2000" dirty="0"/>
              <a:t>Assign the data point to the closest cluster.</a:t>
            </a:r>
          </a:p>
          <a:p>
            <a:pPr marL="457200" indent="-457200" algn="just" fontAlgn="auto">
              <a:lnSpc>
                <a:spcPct val="150000"/>
              </a:lnSpc>
              <a:spcAft>
                <a:spcPts val="0"/>
              </a:spcAft>
              <a:buFont typeface="+mj-lt"/>
              <a:buAutoNum type="arabicPeriod"/>
              <a:defRPr/>
            </a:pPr>
            <a:r>
              <a:rPr lang="en-US" sz="2000" dirty="0"/>
              <a:t>Re-compute the centroid of each cluster.</a:t>
            </a:r>
          </a:p>
          <a:p>
            <a:pPr marL="457200" indent="-457200" algn="just" fontAlgn="auto">
              <a:lnSpc>
                <a:spcPct val="150000"/>
              </a:lnSpc>
              <a:spcAft>
                <a:spcPts val="0"/>
              </a:spcAft>
              <a:buFont typeface="+mj-lt"/>
              <a:buAutoNum type="arabicPeriod"/>
              <a:defRPr/>
            </a:pPr>
            <a:r>
              <a:rPr lang="en-US" sz="2000" dirty="0"/>
              <a:t>Repeat steps 2 and 3 until there is no further change in the assignment of data points (or in the centroids).</a:t>
            </a:r>
          </a:p>
        </p:txBody>
      </p:sp>
    </p:spTree>
    <p:extLst>
      <p:ext uri="{BB962C8B-B14F-4D97-AF65-F5344CB8AC3E}">
        <p14:creationId xmlns:p14="http://schemas.microsoft.com/office/powerpoint/2010/main" val="2563777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3"/>
          <p:cNvPicPr/>
          <p:nvPr/>
        </p:nvPicPr>
        <p:blipFill>
          <a:blip r:embed="rId2" cstate="print"/>
          <a:stretch>
            <a:fillRect/>
          </a:stretch>
        </p:blipFill>
        <p:spPr>
          <a:xfrm>
            <a:off x="2514194" y="3581400"/>
            <a:ext cx="1896618" cy="613409"/>
          </a:xfrm>
          <a:prstGeom prst="rect">
            <a:avLst/>
          </a:prstGeom>
        </p:spPr>
      </p:pic>
      <p:pic>
        <p:nvPicPr>
          <p:cNvPr id="6" name="object 4"/>
          <p:cNvPicPr/>
          <p:nvPr/>
        </p:nvPicPr>
        <p:blipFill>
          <a:blip r:embed="rId3" cstate="print"/>
          <a:stretch>
            <a:fillRect/>
          </a:stretch>
        </p:blipFill>
        <p:spPr>
          <a:xfrm>
            <a:off x="304800" y="1828800"/>
            <a:ext cx="4368546" cy="229362"/>
          </a:xfrm>
          <a:prstGeom prst="rect">
            <a:avLst/>
          </a:prstGeom>
        </p:spPr>
      </p:pic>
      <p:pic>
        <p:nvPicPr>
          <p:cNvPr id="8" name="object 6"/>
          <p:cNvPicPr/>
          <p:nvPr/>
        </p:nvPicPr>
        <p:blipFill>
          <a:blip r:embed="rId4" cstate="print"/>
          <a:stretch>
            <a:fillRect/>
          </a:stretch>
        </p:blipFill>
        <p:spPr>
          <a:xfrm>
            <a:off x="256915" y="2362200"/>
            <a:ext cx="7093458" cy="238506"/>
          </a:xfrm>
          <a:prstGeom prst="rect">
            <a:avLst/>
          </a:prstGeom>
        </p:spPr>
      </p:pic>
      <p:pic>
        <p:nvPicPr>
          <p:cNvPr id="9" name="object 7"/>
          <p:cNvPicPr/>
          <p:nvPr/>
        </p:nvPicPr>
        <p:blipFill>
          <a:blip r:embed="rId5" cstate="print"/>
          <a:stretch>
            <a:fillRect/>
          </a:stretch>
        </p:blipFill>
        <p:spPr>
          <a:xfrm>
            <a:off x="286223" y="2971800"/>
            <a:ext cx="3712464" cy="204978"/>
          </a:xfrm>
          <a:prstGeom prst="rect">
            <a:avLst/>
          </a:prstGeom>
        </p:spPr>
      </p:pic>
      <p:pic>
        <p:nvPicPr>
          <p:cNvPr id="10" name="object 8"/>
          <p:cNvPicPr/>
          <p:nvPr/>
        </p:nvPicPr>
        <p:blipFill>
          <a:blip r:embed="rId6" cstate="print"/>
          <a:stretch>
            <a:fillRect/>
          </a:stretch>
        </p:blipFill>
        <p:spPr>
          <a:xfrm>
            <a:off x="609600" y="4800600"/>
            <a:ext cx="1159002" cy="305562"/>
          </a:xfrm>
          <a:prstGeom prst="rect">
            <a:avLst/>
          </a:prstGeom>
        </p:spPr>
      </p:pic>
      <p:pic>
        <p:nvPicPr>
          <p:cNvPr id="11" name="object 9"/>
          <p:cNvPicPr/>
          <p:nvPr/>
        </p:nvPicPr>
        <p:blipFill>
          <a:blip r:embed="rId7" cstate="print"/>
          <a:stretch>
            <a:fillRect/>
          </a:stretch>
        </p:blipFill>
        <p:spPr>
          <a:xfrm>
            <a:off x="609600" y="5334000"/>
            <a:ext cx="828294" cy="305562"/>
          </a:xfrm>
          <a:prstGeom prst="rect">
            <a:avLst/>
          </a:prstGeom>
        </p:spPr>
      </p:pic>
      <p:sp>
        <p:nvSpPr>
          <p:cNvPr id="12" name="Title 1"/>
          <p:cNvSpPr>
            <a:spLocks noGrp="1"/>
          </p:cNvSpPr>
          <p:nvPr>
            <p:ph type="title"/>
          </p:nvPr>
        </p:nvSpPr>
        <p:spPr>
          <a:xfrm>
            <a:off x="256915" y="304800"/>
            <a:ext cx="8229600" cy="1143000"/>
          </a:xfrm>
        </p:spPr>
        <p:txBody>
          <a:bodyPr>
            <a:normAutofit/>
          </a:bodyPr>
          <a:lstStyle/>
          <a:p>
            <a:pPr fontAlgn="auto">
              <a:spcAft>
                <a:spcPts val="0"/>
              </a:spcAft>
              <a:defRPr/>
            </a:pPr>
            <a:r>
              <a:rPr lang="en-US" sz="4400" dirty="0">
                <a:latin typeface="+mn-lt"/>
              </a:rPr>
              <a:t>K-means Clustering Algorithm</a:t>
            </a:r>
          </a:p>
        </p:txBody>
      </p:sp>
      <p:sp>
        <p:nvSpPr>
          <p:cNvPr id="2" name="Rectangle 1"/>
          <p:cNvSpPr/>
          <p:nvPr/>
        </p:nvSpPr>
        <p:spPr>
          <a:xfrm>
            <a:off x="605527" y="4194809"/>
            <a:ext cx="1383264" cy="369332"/>
          </a:xfrm>
          <a:prstGeom prst="rect">
            <a:avLst/>
          </a:prstGeom>
        </p:spPr>
        <p:txBody>
          <a:bodyPr wrap="none">
            <a:spAutoFit/>
          </a:bodyPr>
          <a:lstStyle/>
          <a:p>
            <a:r>
              <a:rPr lang="en-US" dirty="0"/>
              <a:t>Complexity </a:t>
            </a:r>
            <a:endParaRPr lang="en-GB" dirty="0"/>
          </a:p>
        </p:txBody>
      </p:sp>
    </p:spTree>
    <p:extLst>
      <p:ext uri="{BB962C8B-B14F-4D97-AF65-F5344CB8AC3E}">
        <p14:creationId xmlns:p14="http://schemas.microsoft.com/office/powerpoint/2010/main" val="2967545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838200"/>
            <a:ext cx="7772400" cy="689192"/>
          </a:xfrm>
          <a:prstGeom prst="rect">
            <a:avLst/>
          </a:prstGeom>
        </p:spPr>
        <p:txBody>
          <a:bodyPr vert="horz" wrap="square" lIns="0" tIns="11967" rIns="0" bIns="0" rtlCol="0">
            <a:spAutoFit/>
          </a:bodyPr>
          <a:lstStyle/>
          <a:p>
            <a:pPr marL="11397">
              <a:spcBef>
                <a:spcPts val="94"/>
              </a:spcBef>
            </a:pPr>
            <a:r>
              <a:rPr lang="en-GB" sz="4400" spc="-36" dirty="0">
                <a:latin typeface="+mn-lt"/>
              </a:rPr>
              <a:t>K-means</a:t>
            </a:r>
            <a:r>
              <a:rPr lang="en-GB" sz="4400" spc="-49" dirty="0">
                <a:latin typeface="+mn-lt"/>
              </a:rPr>
              <a:t> </a:t>
            </a:r>
            <a:r>
              <a:rPr lang="en-GB" sz="4400" spc="-18" dirty="0">
                <a:latin typeface="+mn-lt"/>
              </a:rPr>
              <a:t>Clustering Algorithm</a:t>
            </a:r>
          </a:p>
        </p:txBody>
      </p:sp>
      <p:sp>
        <p:nvSpPr>
          <p:cNvPr id="3" name="object 3"/>
          <p:cNvSpPr txBox="1"/>
          <p:nvPr/>
        </p:nvSpPr>
        <p:spPr>
          <a:xfrm>
            <a:off x="838200" y="2049999"/>
            <a:ext cx="5181600" cy="3062801"/>
          </a:xfrm>
          <a:prstGeom prst="rect">
            <a:avLst/>
          </a:prstGeom>
        </p:spPr>
        <p:txBody>
          <a:bodyPr vert="horz" wrap="square" lIns="0" tIns="74080" rIns="0" bIns="0" rtlCol="0">
            <a:spAutoFit/>
          </a:bodyPr>
          <a:lstStyle/>
          <a:p>
            <a:pPr marL="339630" indent="-328803" algn="just">
              <a:lnSpc>
                <a:spcPct val="150000"/>
              </a:lnSpc>
              <a:spcBef>
                <a:spcPts val="583"/>
              </a:spcBef>
              <a:buClr>
                <a:srgbClr val="5D5555"/>
              </a:buClr>
              <a:buAutoNum type="arabicPeriod"/>
              <a:tabLst>
                <a:tab pos="339630" algn="l"/>
                <a:tab pos="340200" algn="l"/>
              </a:tabLst>
            </a:pPr>
            <a:r>
              <a:rPr sz="2000" spc="-13" dirty="0">
                <a:solidFill>
                  <a:srgbClr val="B0007E"/>
                </a:solidFill>
                <a:cs typeface="Calibri"/>
              </a:rPr>
              <a:t>Initialize</a:t>
            </a:r>
            <a:r>
              <a:rPr sz="2000" spc="-36" dirty="0">
                <a:solidFill>
                  <a:srgbClr val="B0007E"/>
                </a:solidFill>
                <a:cs typeface="Calibri"/>
              </a:rPr>
              <a:t> </a:t>
            </a:r>
            <a:r>
              <a:rPr sz="2000" spc="-18" dirty="0">
                <a:solidFill>
                  <a:srgbClr val="B0007E"/>
                </a:solidFill>
                <a:cs typeface="Calibri"/>
              </a:rPr>
              <a:t>cluster</a:t>
            </a:r>
            <a:r>
              <a:rPr sz="2000" spc="-27" dirty="0">
                <a:solidFill>
                  <a:srgbClr val="B0007E"/>
                </a:solidFill>
                <a:cs typeface="Calibri"/>
              </a:rPr>
              <a:t> centers</a:t>
            </a:r>
            <a:endParaRPr sz="2000" dirty="0">
              <a:cs typeface="Calibri"/>
            </a:endParaRPr>
          </a:p>
          <a:p>
            <a:pPr marL="353306" marR="202296" indent="-342479" algn="just">
              <a:lnSpc>
                <a:spcPct val="150000"/>
              </a:lnSpc>
              <a:spcBef>
                <a:spcPts val="655"/>
              </a:spcBef>
              <a:buClr>
                <a:srgbClr val="5D5555"/>
              </a:buClr>
              <a:buAutoNum type="arabicPeriod"/>
              <a:tabLst>
                <a:tab pos="353306" algn="l"/>
                <a:tab pos="353876" algn="l"/>
              </a:tabLst>
            </a:pPr>
            <a:r>
              <a:rPr sz="2000" spc="-9" dirty="0">
                <a:solidFill>
                  <a:srgbClr val="118CC4"/>
                </a:solidFill>
                <a:cs typeface="Calibri"/>
              </a:rPr>
              <a:t>Assign</a:t>
            </a:r>
            <a:r>
              <a:rPr sz="2000" spc="-36" dirty="0">
                <a:solidFill>
                  <a:srgbClr val="118CC4"/>
                </a:solidFill>
                <a:cs typeface="Calibri"/>
              </a:rPr>
              <a:t> </a:t>
            </a:r>
            <a:r>
              <a:rPr sz="2000" spc="-18" dirty="0">
                <a:solidFill>
                  <a:srgbClr val="118CC4"/>
                </a:solidFill>
                <a:cs typeface="Calibri"/>
              </a:rPr>
              <a:t>observations</a:t>
            </a:r>
            <a:r>
              <a:rPr sz="2000" spc="-40" dirty="0">
                <a:solidFill>
                  <a:srgbClr val="118CC4"/>
                </a:solidFill>
                <a:cs typeface="Calibri"/>
              </a:rPr>
              <a:t> </a:t>
            </a:r>
            <a:r>
              <a:rPr sz="2000" spc="-13" dirty="0">
                <a:solidFill>
                  <a:srgbClr val="118CC4"/>
                </a:solidFill>
                <a:cs typeface="Calibri"/>
              </a:rPr>
              <a:t>to </a:t>
            </a:r>
            <a:r>
              <a:rPr sz="2000" spc="-471" dirty="0">
                <a:solidFill>
                  <a:srgbClr val="118CC4"/>
                </a:solidFill>
                <a:cs typeface="Calibri"/>
              </a:rPr>
              <a:t> </a:t>
            </a:r>
            <a:r>
              <a:rPr sz="2000" spc="-18" dirty="0">
                <a:solidFill>
                  <a:srgbClr val="118CC4"/>
                </a:solidFill>
                <a:cs typeface="Calibri"/>
              </a:rPr>
              <a:t>closest</a:t>
            </a:r>
            <a:r>
              <a:rPr sz="2000" spc="-22" dirty="0">
                <a:solidFill>
                  <a:srgbClr val="118CC4"/>
                </a:solidFill>
                <a:cs typeface="Calibri"/>
              </a:rPr>
              <a:t> </a:t>
            </a:r>
            <a:r>
              <a:rPr sz="2000" spc="-18" dirty="0">
                <a:solidFill>
                  <a:srgbClr val="118CC4"/>
                </a:solidFill>
                <a:cs typeface="Calibri"/>
              </a:rPr>
              <a:t>cluster</a:t>
            </a:r>
            <a:r>
              <a:rPr sz="2000" spc="-27" dirty="0">
                <a:solidFill>
                  <a:srgbClr val="118CC4"/>
                </a:solidFill>
                <a:cs typeface="Calibri"/>
              </a:rPr>
              <a:t> </a:t>
            </a:r>
            <a:r>
              <a:rPr sz="2000" spc="-22" dirty="0">
                <a:solidFill>
                  <a:srgbClr val="118CC4"/>
                </a:solidFill>
                <a:cs typeface="Calibri"/>
              </a:rPr>
              <a:t>center</a:t>
            </a:r>
            <a:endParaRPr sz="2000" dirty="0">
              <a:cs typeface="Calibri"/>
            </a:endParaRPr>
          </a:p>
          <a:p>
            <a:pPr marL="353306" marR="4559" indent="-342479" algn="just">
              <a:lnSpc>
                <a:spcPct val="150000"/>
              </a:lnSpc>
              <a:spcBef>
                <a:spcPts val="426"/>
              </a:spcBef>
              <a:buClr>
                <a:srgbClr val="5D5555"/>
              </a:buClr>
              <a:buAutoNum type="arabicPeriod"/>
              <a:tabLst>
                <a:tab pos="353306" algn="l"/>
                <a:tab pos="353876" algn="l"/>
              </a:tabLst>
            </a:pPr>
            <a:r>
              <a:rPr sz="2000" spc="-18" dirty="0">
                <a:solidFill>
                  <a:srgbClr val="85BD05"/>
                </a:solidFill>
                <a:cs typeface="Calibri"/>
              </a:rPr>
              <a:t>Revise cluster </a:t>
            </a:r>
            <a:r>
              <a:rPr sz="2000" spc="-27" dirty="0">
                <a:solidFill>
                  <a:srgbClr val="85BD05"/>
                </a:solidFill>
                <a:cs typeface="Calibri"/>
              </a:rPr>
              <a:t>centers </a:t>
            </a:r>
            <a:r>
              <a:rPr sz="2000" spc="-4" dirty="0">
                <a:solidFill>
                  <a:srgbClr val="85BD05"/>
                </a:solidFill>
                <a:cs typeface="Calibri"/>
              </a:rPr>
              <a:t>as </a:t>
            </a:r>
            <a:r>
              <a:rPr sz="2000" spc="-476" dirty="0">
                <a:solidFill>
                  <a:srgbClr val="85BD05"/>
                </a:solidFill>
                <a:cs typeface="Calibri"/>
              </a:rPr>
              <a:t> </a:t>
            </a:r>
            <a:r>
              <a:rPr sz="2000" spc="-13" dirty="0">
                <a:solidFill>
                  <a:srgbClr val="85BD05"/>
                </a:solidFill>
                <a:cs typeface="Calibri"/>
              </a:rPr>
              <a:t>mean </a:t>
            </a:r>
            <a:r>
              <a:rPr sz="2000" spc="-9" dirty="0">
                <a:solidFill>
                  <a:srgbClr val="85BD05"/>
                </a:solidFill>
                <a:cs typeface="Calibri"/>
              </a:rPr>
              <a:t>of </a:t>
            </a:r>
            <a:r>
              <a:rPr sz="2000" spc="-13" dirty="0">
                <a:solidFill>
                  <a:srgbClr val="85BD05"/>
                </a:solidFill>
                <a:cs typeface="Calibri"/>
              </a:rPr>
              <a:t>assigned </a:t>
            </a:r>
            <a:r>
              <a:rPr sz="2000" spc="-9" dirty="0">
                <a:solidFill>
                  <a:srgbClr val="85BD05"/>
                </a:solidFill>
                <a:cs typeface="Calibri"/>
              </a:rPr>
              <a:t> </a:t>
            </a:r>
            <a:r>
              <a:rPr sz="2000" spc="-18" dirty="0">
                <a:solidFill>
                  <a:srgbClr val="85BD05"/>
                </a:solidFill>
                <a:cs typeface="Calibri"/>
              </a:rPr>
              <a:t>observations</a:t>
            </a:r>
            <a:endParaRPr sz="2000" dirty="0">
              <a:cs typeface="Calibri"/>
            </a:endParaRPr>
          </a:p>
          <a:p>
            <a:pPr marL="353306" marR="728267" indent="-342479" algn="just">
              <a:lnSpc>
                <a:spcPct val="150000"/>
              </a:lnSpc>
              <a:spcBef>
                <a:spcPts val="633"/>
              </a:spcBef>
              <a:buClr>
                <a:srgbClr val="5D5555"/>
              </a:buClr>
              <a:buAutoNum type="arabicPeriod"/>
              <a:tabLst>
                <a:tab pos="353306" algn="l"/>
                <a:tab pos="353876" algn="l"/>
              </a:tabLst>
            </a:pPr>
            <a:r>
              <a:rPr sz="2000" spc="-22" dirty="0">
                <a:solidFill>
                  <a:srgbClr val="FC5507"/>
                </a:solidFill>
                <a:cs typeface="Calibri"/>
              </a:rPr>
              <a:t>Repeat</a:t>
            </a:r>
            <a:r>
              <a:rPr sz="2000" spc="-40" dirty="0">
                <a:solidFill>
                  <a:srgbClr val="FC5507"/>
                </a:solidFill>
                <a:cs typeface="Calibri"/>
              </a:rPr>
              <a:t> </a:t>
            </a:r>
            <a:r>
              <a:rPr sz="2000" spc="-9" dirty="0">
                <a:solidFill>
                  <a:srgbClr val="FC5507"/>
                </a:solidFill>
                <a:cs typeface="Calibri"/>
              </a:rPr>
              <a:t>1.+2.</a:t>
            </a:r>
            <a:r>
              <a:rPr sz="2000" spc="-40" dirty="0">
                <a:solidFill>
                  <a:srgbClr val="FC5507"/>
                </a:solidFill>
                <a:cs typeface="Calibri"/>
              </a:rPr>
              <a:t> </a:t>
            </a:r>
            <a:r>
              <a:rPr sz="2000" spc="-13" dirty="0">
                <a:solidFill>
                  <a:srgbClr val="FC5507"/>
                </a:solidFill>
                <a:cs typeface="Calibri"/>
              </a:rPr>
              <a:t>until </a:t>
            </a:r>
            <a:r>
              <a:rPr sz="2000" spc="-471" dirty="0">
                <a:solidFill>
                  <a:srgbClr val="FC5507"/>
                </a:solidFill>
                <a:cs typeface="Calibri"/>
              </a:rPr>
              <a:t> </a:t>
            </a:r>
            <a:r>
              <a:rPr sz="2000" spc="-22" dirty="0">
                <a:solidFill>
                  <a:srgbClr val="FC5507"/>
                </a:solidFill>
                <a:cs typeface="Calibri"/>
              </a:rPr>
              <a:t>convergence</a:t>
            </a:r>
            <a:endParaRPr sz="2000" dirty="0">
              <a:cs typeface="Calibri"/>
            </a:endParaRPr>
          </a:p>
        </p:txBody>
      </p:sp>
      <p:pic>
        <p:nvPicPr>
          <p:cNvPr id="4" name="object 4"/>
          <p:cNvPicPr/>
          <p:nvPr/>
        </p:nvPicPr>
        <p:blipFill>
          <a:blip r:embed="rId2" cstate="print"/>
          <a:stretch>
            <a:fillRect/>
          </a:stretch>
        </p:blipFill>
        <p:spPr>
          <a:xfrm>
            <a:off x="6324600" y="2209800"/>
            <a:ext cx="2438400" cy="2743200"/>
          </a:xfrm>
          <a:prstGeom prst="rect">
            <a:avLst/>
          </a:prstGeom>
        </p:spPr>
      </p:pic>
    </p:spTree>
    <p:extLst>
      <p:ext uri="{BB962C8B-B14F-4D97-AF65-F5344CB8AC3E}">
        <p14:creationId xmlns:p14="http://schemas.microsoft.com/office/powerpoint/2010/main" val="3266226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109" y="372989"/>
            <a:ext cx="8237092" cy="711432"/>
          </a:xfrm>
          <a:prstGeom prst="rect">
            <a:avLst/>
          </a:prstGeom>
        </p:spPr>
        <p:txBody>
          <a:bodyPr vert="horz" wrap="square" lIns="0" tIns="33992" rIns="0" bIns="0" rtlCol="0">
            <a:spAutoFit/>
          </a:bodyPr>
          <a:lstStyle/>
          <a:p>
            <a:pPr marL="25179">
              <a:spcBef>
                <a:spcPts val="268"/>
              </a:spcBef>
            </a:pPr>
            <a:r>
              <a:rPr lang="en-GB" sz="4400" spc="-89" dirty="0">
                <a:solidFill>
                  <a:schemeClr val="accent2">
                    <a:lumMod val="75000"/>
                  </a:schemeClr>
                </a:solidFill>
                <a:cs typeface="Tahoma"/>
              </a:rPr>
              <a:t>K-means</a:t>
            </a:r>
            <a:r>
              <a:rPr lang="en-GB" sz="4400" spc="40" dirty="0">
                <a:solidFill>
                  <a:schemeClr val="accent2">
                    <a:lumMod val="75000"/>
                  </a:schemeClr>
                </a:solidFill>
                <a:cs typeface="Tahoma"/>
              </a:rPr>
              <a:t> </a:t>
            </a:r>
            <a:r>
              <a:rPr lang="en-GB" sz="4400" spc="-99" dirty="0">
                <a:solidFill>
                  <a:schemeClr val="accent2">
                    <a:lumMod val="75000"/>
                  </a:schemeClr>
                </a:solidFill>
                <a:cs typeface="Tahoma"/>
              </a:rPr>
              <a:t>For</a:t>
            </a:r>
            <a:r>
              <a:rPr lang="en-GB" sz="4400" spc="40" dirty="0">
                <a:solidFill>
                  <a:schemeClr val="accent2">
                    <a:lumMod val="75000"/>
                  </a:schemeClr>
                </a:solidFill>
                <a:cs typeface="Tahoma"/>
              </a:rPr>
              <a:t> </a:t>
            </a:r>
            <a:r>
              <a:rPr lang="en-GB" sz="4400" spc="-188" dirty="0">
                <a:solidFill>
                  <a:schemeClr val="accent2">
                    <a:lumMod val="75000"/>
                  </a:schemeClr>
                </a:solidFill>
                <a:cs typeface="Tahoma"/>
              </a:rPr>
              <a:t>Image</a:t>
            </a:r>
            <a:r>
              <a:rPr lang="en-GB" sz="4400" spc="50" dirty="0">
                <a:solidFill>
                  <a:schemeClr val="accent2">
                    <a:lumMod val="75000"/>
                  </a:schemeClr>
                </a:solidFill>
                <a:cs typeface="Tahoma"/>
              </a:rPr>
              <a:t> </a:t>
            </a:r>
            <a:r>
              <a:rPr lang="en-GB" sz="4400" spc="-89" dirty="0">
                <a:solidFill>
                  <a:schemeClr val="accent2">
                    <a:lumMod val="75000"/>
                  </a:schemeClr>
                </a:solidFill>
                <a:cs typeface="Tahoma"/>
              </a:rPr>
              <a:t>Segmentation</a:t>
            </a:r>
            <a:endParaRPr lang="en-GB" sz="4400" dirty="0">
              <a:solidFill>
                <a:schemeClr val="accent2">
                  <a:lumMod val="75000"/>
                </a:schemeClr>
              </a:solidFill>
              <a:cs typeface="Tahoma"/>
            </a:endParaRPr>
          </a:p>
        </p:txBody>
      </p:sp>
      <p:pic>
        <p:nvPicPr>
          <p:cNvPr id="3" name="object 3"/>
          <p:cNvPicPr/>
          <p:nvPr/>
        </p:nvPicPr>
        <p:blipFill>
          <a:blip r:embed="rId2" cstate="print"/>
          <a:stretch>
            <a:fillRect/>
          </a:stretch>
        </p:blipFill>
        <p:spPr>
          <a:xfrm>
            <a:off x="274798" y="1305590"/>
            <a:ext cx="8598938" cy="4291090"/>
          </a:xfrm>
          <a:prstGeom prst="rect">
            <a:avLst/>
          </a:prstGeom>
        </p:spPr>
      </p:pic>
      <p:pic>
        <p:nvPicPr>
          <p:cNvPr id="4" name="object 4"/>
          <p:cNvPicPr/>
          <p:nvPr/>
        </p:nvPicPr>
        <p:blipFill>
          <a:blip r:embed="rId3" cstate="print"/>
          <a:stretch>
            <a:fillRect/>
          </a:stretch>
        </p:blipFill>
        <p:spPr>
          <a:xfrm>
            <a:off x="557533" y="6164122"/>
            <a:ext cx="129451" cy="129332"/>
          </a:xfrm>
          <a:prstGeom prst="rect">
            <a:avLst/>
          </a:prstGeom>
        </p:spPr>
      </p:pic>
      <p:sp>
        <p:nvSpPr>
          <p:cNvPr id="5" name="object 5"/>
          <p:cNvSpPr txBox="1"/>
          <p:nvPr/>
        </p:nvSpPr>
        <p:spPr>
          <a:xfrm>
            <a:off x="799204" y="6022567"/>
            <a:ext cx="5534261" cy="331930"/>
          </a:xfrm>
          <a:prstGeom prst="rect">
            <a:avLst/>
          </a:prstGeom>
        </p:spPr>
        <p:txBody>
          <a:bodyPr vert="horz" wrap="square" lIns="0" tIns="23920" rIns="0" bIns="0" rtlCol="0">
            <a:spAutoFit/>
          </a:bodyPr>
          <a:lstStyle/>
          <a:p>
            <a:pPr marL="25179">
              <a:spcBef>
                <a:spcPts val="188"/>
              </a:spcBef>
            </a:pPr>
            <a:r>
              <a:rPr sz="2000" spc="-79" dirty="0">
                <a:cs typeface="Tahoma"/>
              </a:rPr>
              <a:t>How</a:t>
            </a:r>
            <a:r>
              <a:rPr sz="2000" spc="40" dirty="0">
                <a:cs typeface="Tahoma"/>
              </a:rPr>
              <a:t> </a:t>
            </a:r>
            <a:r>
              <a:rPr sz="2000" spc="-89" dirty="0">
                <a:cs typeface="Tahoma"/>
              </a:rPr>
              <a:t>would</a:t>
            </a:r>
            <a:r>
              <a:rPr sz="2000" spc="30" dirty="0">
                <a:cs typeface="Tahoma"/>
              </a:rPr>
              <a:t> </a:t>
            </a:r>
            <a:r>
              <a:rPr sz="2000" spc="-109" dirty="0">
                <a:cs typeface="Tahoma"/>
              </a:rPr>
              <a:t>you</a:t>
            </a:r>
            <a:r>
              <a:rPr sz="2000" spc="40" dirty="0">
                <a:cs typeface="Tahoma"/>
              </a:rPr>
              <a:t> </a:t>
            </a:r>
            <a:r>
              <a:rPr sz="2000" spc="-59" dirty="0">
                <a:cs typeface="Tahoma"/>
              </a:rPr>
              <a:t>modify</a:t>
            </a:r>
            <a:r>
              <a:rPr sz="2000" spc="40" dirty="0">
                <a:cs typeface="Tahoma"/>
              </a:rPr>
              <a:t> </a:t>
            </a:r>
            <a:r>
              <a:rPr sz="2000" spc="-99" dirty="0">
                <a:cs typeface="Tahoma"/>
              </a:rPr>
              <a:t>k-means</a:t>
            </a:r>
            <a:r>
              <a:rPr sz="2000" spc="50" dirty="0">
                <a:cs typeface="Tahoma"/>
              </a:rPr>
              <a:t> </a:t>
            </a:r>
            <a:r>
              <a:rPr sz="2000" spc="-20" dirty="0">
                <a:cs typeface="Tahoma"/>
              </a:rPr>
              <a:t>to</a:t>
            </a:r>
            <a:r>
              <a:rPr sz="2000" spc="40" dirty="0">
                <a:cs typeface="Tahoma"/>
              </a:rPr>
              <a:t> </a:t>
            </a:r>
            <a:r>
              <a:rPr sz="2000" spc="-79" dirty="0">
                <a:cs typeface="Tahoma"/>
              </a:rPr>
              <a:t>get</a:t>
            </a:r>
            <a:r>
              <a:rPr sz="2000" spc="30" dirty="0">
                <a:cs typeface="Tahoma"/>
              </a:rPr>
              <a:t> </a:t>
            </a:r>
            <a:r>
              <a:rPr sz="2000" spc="-99" dirty="0">
                <a:cs typeface="Tahoma"/>
              </a:rPr>
              <a:t>super</a:t>
            </a:r>
            <a:r>
              <a:rPr sz="2000" spc="30" dirty="0">
                <a:cs typeface="Tahoma"/>
              </a:rPr>
              <a:t> </a:t>
            </a:r>
            <a:r>
              <a:rPr sz="2000" spc="-59" dirty="0">
                <a:cs typeface="Tahoma"/>
              </a:rPr>
              <a:t>pixels?</a:t>
            </a:r>
            <a:endParaRPr sz="2000" dirty="0">
              <a:cs typeface="Tahoma"/>
            </a:endParaRPr>
          </a:p>
        </p:txBody>
      </p:sp>
    </p:spTree>
    <p:extLst>
      <p:ext uri="{BB962C8B-B14F-4D97-AF65-F5344CB8AC3E}">
        <p14:creationId xmlns:p14="http://schemas.microsoft.com/office/powerpoint/2010/main" val="68636033"/>
      </p:ext>
    </p:extLst>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984" y="355368"/>
            <a:ext cx="7923616" cy="711432"/>
          </a:xfrm>
          <a:prstGeom prst="rect">
            <a:avLst/>
          </a:prstGeom>
        </p:spPr>
        <p:txBody>
          <a:bodyPr vert="horz" wrap="square" lIns="0" tIns="33992" rIns="0" bIns="0" rtlCol="0">
            <a:spAutoFit/>
          </a:bodyPr>
          <a:lstStyle/>
          <a:p>
            <a:pPr marL="25179">
              <a:spcBef>
                <a:spcPts val="268"/>
              </a:spcBef>
            </a:pPr>
            <a:r>
              <a:rPr lang="en-GB" sz="4400" spc="-89" dirty="0">
                <a:solidFill>
                  <a:schemeClr val="accent2">
                    <a:lumMod val="75000"/>
                  </a:schemeClr>
                </a:solidFill>
                <a:latin typeface="+mn-lt"/>
              </a:rPr>
              <a:t>Questions</a:t>
            </a:r>
            <a:r>
              <a:rPr lang="en-GB" sz="4400" spc="30" dirty="0">
                <a:solidFill>
                  <a:schemeClr val="accent2">
                    <a:lumMod val="75000"/>
                  </a:schemeClr>
                </a:solidFill>
                <a:latin typeface="+mn-lt"/>
              </a:rPr>
              <a:t> </a:t>
            </a:r>
            <a:r>
              <a:rPr lang="en-GB" sz="4400" spc="-69" dirty="0">
                <a:solidFill>
                  <a:schemeClr val="accent2">
                    <a:lumMod val="75000"/>
                  </a:schemeClr>
                </a:solidFill>
                <a:latin typeface="+mn-lt"/>
              </a:rPr>
              <a:t>About</a:t>
            </a:r>
            <a:r>
              <a:rPr lang="en-GB" sz="4400" spc="40" dirty="0">
                <a:solidFill>
                  <a:schemeClr val="accent2">
                    <a:lumMod val="75000"/>
                  </a:schemeClr>
                </a:solidFill>
                <a:latin typeface="+mn-lt"/>
              </a:rPr>
              <a:t> </a:t>
            </a:r>
            <a:r>
              <a:rPr lang="en-GB" sz="4400" spc="-89" dirty="0">
                <a:solidFill>
                  <a:schemeClr val="accent2">
                    <a:lumMod val="75000"/>
                  </a:schemeClr>
                </a:solidFill>
                <a:latin typeface="+mn-lt"/>
              </a:rPr>
              <a:t>K-means</a:t>
            </a:r>
            <a:endParaRPr lang="en-GB" sz="4400" dirty="0">
              <a:solidFill>
                <a:schemeClr val="accent2">
                  <a:lumMod val="75000"/>
                </a:schemeClr>
              </a:solidFill>
              <a:latin typeface="+mn-lt"/>
            </a:endParaRPr>
          </a:p>
        </p:txBody>
      </p:sp>
      <p:pic>
        <p:nvPicPr>
          <p:cNvPr id="3" name="object 3"/>
          <p:cNvPicPr/>
          <p:nvPr/>
        </p:nvPicPr>
        <p:blipFill>
          <a:blip r:embed="rId2" cstate="print"/>
          <a:stretch>
            <a:fillRect/>
          </a:stretch>
        </p:blipFill>
        <p:spPr>
          <a:xfrm>
            <a:off x="557533" y="1938185"/>
            <a:ext cx="129451" cy="129332"/>
          </a:xfrm>
          <a:prstGeom prst="rect">
            <a:avLst/>
          </a:prstGeom>
        </p:spPr>
      </p:pic>
      <p:pic>
        <p:nvPicPr>
          <p:cNvPr id="4" name="object 4"/>
          <p:cNvPicPr/>
          <p:nvPr/>
        </p:nvPicPr>
        <p:blipFill>
          <a:blip r:embed="rId2" cstate="print"/>
          <a:stretch>
            <a:fillRect/>
          </a:stretch>
        </p:blipFill>
        <p:spPr>
          <a:xfrm>
            <a:off x="557533" y="2389478"/>
            <a:ext cx="129451" cy="129332"/>
          </a:xfrm>
          <a:prstGeom prst="rect">
            <a:avLst/>
          </a:prstGeom>
        </p:spPr>
      </p:pic>
      <p:pic>
        <p:nvPicPr>
          <p:cNvPr id="5" name="object 5"/>
          <p:cNvPicPr/>
          <p:nvPr/>
        </p:nvPicPr>
        <p:blipFill>
          <a:blip r:embed="rId3" cstate="print"/>
          <a:stretch>
            <a:fillRect/>
          </a:stretch>
        </p:blipFill>
        <p:spPr>
          <a:xfrm>
            <a:off x="557533" y="2840798"/>
            <a:ext cx="129451" cy="129332"/>
          </a:xfrm>
          <a:prstGeom prst="rect">
            <a:avLst/>
          </a:prstGeom>
        </p:spPr>
      </p:pic>
      <p:pic>
        <p:nvPicPr>
          <p:cNvPr id="6" name="object 6"/>
          <p:cNvPicPr/>
          <p:nvPr/>
        </p:nvPicPr>
        <p:blipFill>
          <a:blip r:embed="rId3" cstate="print"/>
          <a:stretch>
            <a:fillRect/>
          </a:stretch>
        </p:blipFill>
        <p:spPr>
          <a:xfrm>
            <a:off x="557533" y="3292117"/>
            <a:ext cx="129451" cy="129332"/>
          </a:xfrm>
          <a:prstGeom prst="rect">
            <a:avLst/>
          </a:prstGeom>
        </p:spPr>
      </p:pic>
      <p:pic>
        <p:nvPicPr>
          <p:cNvPr id="7" name="object 7"/>
          <p:cNvPicPr/>
          <p:nvPr/>
        </p:nvPicPr>
        <p:blipFill>
          <a:blip r:embed="rId3" cstate="print"/>
          <a:stretch>
            <a:fillRect/>
          </a:stretch>
        </p:blipFill>
        <p:spPr>
          <a:xfrm>
            <a:off x="557533" y="3743436"/>
            <a:ext cx="129451" cy="129332"/>
          </a:xfrm>
          <a:prstGeom prst="rect">
            <a:avLst/>
          </a:prstGeom>
        </p:spPr>
      </p:pic>
      <p:pic>
        <p:nvPicPr>
          <p:cNvPr id="8" name="object 8"/>
          <p:cNvPicPr/>
          <p:nvPr/>
        </p:nvPicPr>
        <p:blipFill>
          <a:blip r:embed="rId3" cstate="print"/>
          <a:stretch>
            <a:fillRect/>
          </a:stretch>
        </p:blipFill>
        <p:spPr>
          <a:xfrm>
            <a:off x="557533" y="4194731"/>
            <a:ext cx="129451" cy="129332"/>
          </a:xfrm>
          <a:prstGeom prst="rect">
            <a:avLst/>
          </a:prstGeom>
        </p:spPr>
      </p:pic>
      <p:pic>
        <p:nvPicPr>
          <p:cNvPr id="9" name="object 9"/>
          <p:cNvPicPr/>
          <p:nvPr/>
        </p:nvPicPr>
        <p:blipFill>
          <a:blip r:embed="rId4" cstate="print"/>
          <a:stretch>
            <a:fillRect/>
          </a:stretch>
        </p:blipFill>
        <p:spPr>
          <a:xfrm>
            <a:off x="557533" y="4646050"/>
            <a:ext cx="129451" cy="129332"/>
          </a:xfrm>
          <a:prstGeom prst="rect">
            <a:avLst/>
          </a:prstGeom>
        </p:spPr>
      </p:pic>
      <p:sp>
        <p:nvSpPr>
          <p:cNvPr id="10" name="object 10"/>
          <p:cNvSpPr txBox="1"/>
          <p:nvPr/>
        </p:nvSpPr>
        <p:spPr>
          <a:xfrm>
            <a:off x="224418" y="1687736"/>
            <a:ext cx="8614781" cy="4103464"/>
          </a:xfrm>
          <a:prstGeom prst="rect">
            <a:avLst/>
          </a:prstGeom>
        </p:spPr>
        <p:txBody>
          <a:bodyPr vert="horz" wrap="square" lIns="0" tIns="25179" rIns="0" bIns="0" rtlCol="0">
            <a:spAutoFit/>
          </a:bodyPr>
          <a:lstStyle/>
          <a:p>
            <a:pPr marL="599261" marR="1121725" algn="just">
              <a:lnSpc>
                <a:spcPct val="150000"/>
              </a:lnSpc>
              <a:spcBef>
                <a:spcPts val="198"/>
              </a:spcBef>
            </a:pPr>
            <a:r>
              <a:rPr sz="2000" spc="-30" dirty="0">
                <a:cs typeface="Tahoma"/>
              </a:rPr>
              <a:t>Why</a:t>
            </a:r>
            <a:r>
              <a:rPr sz="2000" spc="20" dirty="0">
                <a:cs typeface="Tahoma"/>
              </a:rPr>
              <a:t> </a:t>
            </a:r>
            <a:r>
              <a:rPr sz="2000" spc="-109" dirty="0">
                <a:cs typeface="Tahoma"/>
              </a:rPr>
              <a:t>does</a:t>
            </a:r>
            <a:r>
              <a:rPr sz="2000" spc="20" dirty="0">
                <a:cs typeface="Tahoma"/>
              </a:rPr>
              <a:t> </a:t>
            </a:r>
            <a:r>
              <a:rPr sz="2000" spc="-69" dirty="0">
                <a:cs typeface="Tahoma"/>
              </a:rPr>
              <a:t>update</a:t>
            </a:r>
            <a:r>
              <a:rPr sz="2000" spc="40" dirty="0">
                <a:cs typeface="Tahoma"/>
              </a:rPr>
              <a:t> </a:t>
            </a:r>
            <a:r>
              <a:rPr sz="2000" spc="-89" dirty="0">
                <a:cs typeface="Tahoma"/>
              </a:rPr>
              <a:t>set</a:t>
            </a:r>
            <a:r>
              <a:rPr sz="2000" spc="20" dirty="0">
                <a:cs typeface="Tahoma"/>
              </a:rPr>
              <a:t> </a:t>
            </a:r>
            <a:r>
              <a:rPr sz="2000" b="1" spc="-20" dirty="0">
                <a:cs typeface="Arial"/>
              </a:rPr>
              <a:t>m</a:t>
            </a:r>
            <a:r>
              <a:rPr sz="2000" i="1" spc="-30" baseline="-11904" dirty="0">
                <a:cs typeface="Arial"/>
              </a:rPr>
              <a:t>k</a:t>
            </a:r>
            <a:r>
              <a:rPr sz="2000" i="1" spc="176" baseline="-11904" dirty="0">
                <a:cs typeface="Arial"/>
              </a:rPr>
              <a:t> </a:t>
            </a:r>
            <a:r>
              <a:rPr sz="2000" spc="-20" dirty="0">
                <a:cs typeface="Tahoma"/>
              </a:rPr>
              <a:t>to</a:t>
            </a:r>
            <a:r>
              <a:rPr sz="2000" spc="30" dirty="0">
                <a:cs typeface="Tahoma"/>
              </a:rPr>
              <a:t> </a:t>
            </a:r>
            <a:r>
              <a:rPr sz="2000" spc="-119" dirty="0">
                <a:cs typeface="Tahoma"/>
              </a:rPr>
              <a:t>mean</a:t>
            </a:r>
            <a:r>
              <a:rPr sz="2000" spc="30" dirty="0">
                <a:cs typeface="Tahoma"/>
              </a:rPr>
              <a:t> </a:t>
            </a:r>
            <a:r>
              <a:rPr sz="2000" spc="-59" dirty="0">
                <a:cs typeface="Tahoma"/>
              </a:rPr>
              <a:t>of</a:t>
            </a:r>
            <a:r>
              <a:rPr sz="2000" spc="30" dirty="0">
                <a:cs typeface="Tahoma"/>
              </a:rPr>
              <a:t> </a:t>
            </a:r>
            <a:r>
              <a:rPr sz="2000" spc="-99" dirty="0">
                <a:cs typeface="Tahoma"/>
              </a:rPr>
              <a:t>assigned</a:t>
            </a:r>
            <a:r>
              <a:rPr sz="2000" spc="20" dirty="0">
                <a:cs typeface="Tahoma"/>
              </a:rPr>
              <a:t> </a:t>
            </a:r>
            <a:r>
              <a:rPr sz="2000" spc="-40" dirty="0">
                <a:cs typeface="Tahoma"/>
              </a:rPr>
              <a:t>points? </a:t>
            </a:r>
            <a:r>
              <a:rPr sz="2000" spc="-595" dirty="0">
                <a:cs typeface="Tahoma"/>
              </a:rPr>
              <a:t> </a:t>
            </a:r>
            <a:endParaRPr lang="en-GB" sz="2000" spc="-595">
              <a:cs typeface="Tahoma"/>
            </a:endParaRPr>
          </a:p>
          <a:p>
            <a:pPr marL="599261" marR="1121725" algn="just">
              <a:lnSpc>
                <a:spcPct val="150000"/>
              </a:lnSpc>
              <a:spcBef>
                <a:spcPts val="198"/>
              </a:spcBef>
            </a:pPr>
            <a:r>
              <a:rPr sz="2000" spc="-79">
                <a:cs typeface="Tahoma"/>
              </a:rPr>
              <a:t>Where</a:t>
            </a:r>
            <a:r>
              <a:rPr sz="2000" spc="20">
                <a:cs typeface="Tahoma"/>
              </a:rPr>
              <a:t> </a:t>
            </a:r>
            <a:r>
              <a:rPr sz="2000" spc="-109" dirty="0">
                <a:cs typeface="Tahoma"/>
              </a:rPr>
              <a:t>does</a:t>
            </a:r>
            <a:r>
              <a:rPr lang="en-GB" sz="2000" spc="40" dirty="0">
                <a:cs typeface="Tahoma"/>
              </a:rPr>
              <a:t> </a:t>
            </a:r>
            <a:r>
              <a:rPr sz="2000" spc="-69" dirty="0">
                <a:cs typeface="Tahoma"/>
              </a:rPr>
              <a:t>distance</a:t>
            </a:r>
            <a:r>
              <a:rPr sz="2000" spc="30" dirty="0">
                <a:cs typeface="Tahoma"/>
              </a:rPr>
              <a:t> </a:t>
            </a:r>
            <a:r>
              <a:rPr sz="2000" spc="-79" dirty="0">
                <a:cs typeface="Tahoma"/>
              </a:rPr>
              <a:t>d</a:t>
            </a:r>
            <a:r>
              <a:rPr sz="2000" spc="40" dirty="0">
                <a:cs typeface="Tahoma"/>
              </a:rPr>
              <a:t> </a:t>
            </a:r>
            <a:r>
              <a:rPr sz="2000" spc="-99" dirty="0">
                <a:cs typeface="Tahoma"/>
              </a:rPr>
              <a:t>come</a:t>
            </a:r>
            <a:r>
              <a:rPr sz="2000" spc="40" dirty="0">
                <a:cs typeface="Tahoma"/>
              </a:rPr>
              <a:t> </a:t>
            </a:r>
            <a:r>
              <a:rPr sz="2000" spc="-59" dirty="0">
                <a:cs typeface="Tahoma"/>
              </a:rPr>
              <a:t>from?</a:t>
            </a:r>
            <a:endParaRPr sz="2000" dirty="0">
              <a:cs typeface="Tahoma"/>
            </a:endParaRPr>
          </a:p>
          <a:p>
            <a:pPr marL="599261" marR="1932490" algn="just">
              <a:lnSpc>
                <a:spcPct val="150000"/>
              </a:lnSpc>
            </a:pPr>
            <a:r>
              <a:rPr sz="2000" spc="-20" dirty="0">
                <a:cs typeface="Tahoma"/>
              </a:rPr>
              <a:t>What</a:t>
            </a:r>
            <a:r>
              <a:rPr sz="2000" spc="30" dirty="0">
                <a:cs typeface="Tahoma"/>
              </a:rPr>
              <a:t> </a:t>
            </a:r>
            <a:r>
              <a:rPr sz="2000" spc="-10" dirty="0">
                <a:cs typeface="Tahoma"/>
              </a:rPr>
              <a:t>if</a:t>
            </a:r>
            <a:r>
              <a:rPr sz="2000" spc="40" dirty="0">
                <a:cs typeface="Tahoma"/>
              </a:rPr>
              <a:t> </a:t>
            </a:r>
            <a:r>
              <a:rPr sz="2000" spc="-188" dirty="0">
                <a:cs typeface="Tahoma"/>
              </a:rPr>
              <a:t>w</a:t>
            </a:r>
            <a:r>
              <a:rPr sz="2000" spc="-169" dirty="0">
                <a:cs typeface="Tahoma"/>
              </a:rPr>
              <a:t>e</a:t>
            </a:r>
            <a:r>
              <a:rPr sz="2000" spc="30" dirty="0">
                <a:cs typeface="Tahoma"/>
              </a:rPr>
              <a:t> </a:t>
            </a:r>
            <a:r>
              <a:rPr sz="2000" spc="-119" dirty="0">
                <a:cs typeface="Tahoma"/>
              </a:rPr>
              <a:t>used</a:t>
            </a:r>
            <a:r>
              <a:rPr sz="2000" spc="40" dirty="0">
                <a:cs typeface="Tahoma"/>
              </a:rPr>
              <a:t> </a:t>
            </a:r>
            <a:r>
              <a:rPr sz="2000" spc="-99" dirty="0">
                <a:cs typeface="Tahoma"/>
              </a:rPr>
              <a:t>a</a:t>
            </a:r>
            <a:r>
              <a:rPr sz="2000" spc="30" dirty="0">
                <a:cs typeface="Tahoma"/>
              </a:rPr>
              <a:t> </a:t>
            </a:r>
            <a:r>
              <a:rPr sz="2000" spc="-69" dirty="0">
                <a:cs typeface="Tahoma"/>
              </a:rPr>
              <a:t>different</a:t>
            </a:r>
            <a:r>
              <a:rPr sz="2000" spc="40" dirty="0">
                <a:cs typeface="Tahoma"/>
              </a:rPr>
              <a:t> </a:t>
            </a:r>
            <a:r>
              <a:rPr sz="2000" spc="-69" dirty="0">
                <a:cs typeface="Tahoma"/>
              </a:rPr>
              <a:t>distance</a:t>
            </a:r>
            <a:r>
              <a:rPr sz="2000" spc="40" dirty="0">
                <a:cs typeface="Tahoma"/>
              </a:rPr>
              <a:t> </a:t>
            </a:r>
            <a:r>
              <a:rPr sz="2000" spc="-99" dirty="0">
                <a:cs typeface="Tahoma"/>
              </a:rPr>
              <a:t>measure?  </a:t>
            </a:r>
            <a:r>
              <a:rPr sz="2000" spc="-79" dirty="0">
                <a:cs typeface="Tahoma"/>
              </a:rPr>
              <a:t>How</a:t>
            </a:r>
            <a:r>
              <a:rPr sz="2000" spc="30" dirty="0">
                <a:cs typeface="Tahoma"/>
              </a:rPr>
              <a:t> </a:t>
            </a:r>
            <a:r>
              <a:rPr sz="2000" spc="-79" dirty="0">
                <a:cs typeface="Tahoma"/>
              </a:rPr>
              <a:t>can</a:t>
            </a:r>
            <a:r>
              <a:rPr sz="2000" spc="30" dirty="0">
                <a:cs typeface="Tahoma"/>
              </a:rPr>
              <a:t> </a:t>
            </a:r>
            <a:r>
              <a:rPr sz="2000" spc="-178" dirty="0">
                <a:cs typeface="Tahoma"/>
              </a:rPr>
              <a:t>we</a:t>
            </a:r>
            <a:r>
              <a:rPr sz="2000" spc="30" dirty="0">
                <a:cs typeface="Tahoma"/>
              </a:rPr>
              <a:t> </a:t>
            </a:r>
            <a:r>
              <a:rPr sz="2000" spc="-99" dirty="0">
                <a:cs typeface="Tahoma"/>
              </a:rPr>
              <a:t>choose</a:t>
            </a:r>
            <a:r>
              <a:rPr sz="2000" spc="40" dirty="0">
                <a:cs typeface="Tahoma"/>
              </a:rPr>
              <a:t> </a:t>
            </a:r>
            <a:r>
              <a:rPr sz="2000" spc="-69" dirty="0">
                <a:cs typeface="Tahoma"/>
              </a:rPr>
              <a:t>best</a:t>
            </a:r>
            <a:r>
              <a:rPr sz="2000" spc="20" dirty="0">
                <a:cs typeface="Tahoma"/>
              </a:rPr>
              <a:t> </a:t>
            </a:r>
            <a:r>
              <a:rPr sz="2000" spc="-59" dirty="0">
                <a:cs typeface="Tahoma"/>
              </a:rPr>
              <a:t>distance?</a:t>
            </a:r>
            <a:endParaRPr sz="2000" dirty="0">
              <a:cs typeface="Tahoma"/>
            </a:endParaRPr>
          </a:p>
          <a:p>
            <a:pPr marL="599261" algn="just">
              <a:lnSpc>
                <a:spcPct val="150000"/>
              </a:lnSpc>
              <a:spcBef>
                <a:spcPts val="1180"/>
              </a:spcBef>
            </a:pPr>
            <a:r>
              <a:rPr sz="2000" spc="-20" dirty="0">
                <a:cs typeface="Tahoma"/>
              </a:rPr>
              <a:t>H</a:t>
            </a:r>
            <a:r>
              <a:rPr sz="2000" spc="-79" dirty="0">
                <a:cs typeface="Tahoma"/>
              </a:rPr>
              <a:t>o</a:t>
            </a:r>
            <a:r>
              <a:rPr sz="2000" spc="-129" dirty="0">
                <a:cs typeface="Tahoma"/>
              </a:rPr>
              <a:t>w</a:t>
            </a:r>
            <a:r>
              <a:rPr sz="2000" spc="40" dirty="0">
                <a:cs typeface="Tahoma"/>
              </a:rPr>
              <a:t> </a:t>
            </a:r>
            <a:r>
              <a:rPr sz="2000" spc="-20" dirty="0">
                <a:cs typeface="Tahoma"/>
              </a:rPr>
              <a:t>to</a:t>
            </a:r>
            <a:r>
              <a:rPr sz="2000" spc="30" dirty="0">
                <a:cs typeface="Tahoma"/>
              </a:rPr>
              <a:t> </a:t>
            </a:r>
            <a:r>
              <a:rPr sz="2000" spc="-79" dirty="0">
                <a:cs typeface="Tahoma"/>
              </a:rPr>
              <a:t>ch</a:t>
            </a:r>
            <a:r>
              <a:rPr sz="2000" spc="-30" dirty="0">
                <a:cs typeface="Tahoma"/>
              </a:rPr>
              <a:t>o</a:t>
            </a:r>
            <a:r>
              <a:rPr sz="2000" spc="-129" dirty="0">
                <a:cs typeface="Tahoma"/>
              </a:rPr>
              <a:t>ose</a:t>
            </a:r>
            <a:r>
              <a:rPr sz="2000" spc="30" dirty="0">
                <a:cs typeface="Tahoma"/>
              </a:rPr>
              <a:t> </a:t>
            </a:r>
            <a:r>
              <a:rPr sz="2000" i="1" spc="40" dirty="0">
                <a:cs typeface="Arial"/>
              </a:rPr>
              <a:t>K</a:t>
            </a:r>
            <a:r>
              <a:rPr sz="2000" i="1" spc="-317" dirty="0">
                <a:cs typeface="Arial"/>
              </a:rPr>
              <a:t> </a:t>
            </a:r>
            <a:r>
              <a:rPr sz="2000" spc="-10" dirty="0">
                <a:cs typeface="Tahoma"/>
              </a:rPr>
              <a:t>?</a:t>
            </a:r>
            <a:endParaRPr sz="2000" dirty="0">
              <a:cs typeface="Tahoma"/>
            </a:endParaRPr>
          </a:p>
          <a:p>
            <a:pPr marL="599261" marR="1309309" algn="just">
              <a:lnSpc>
                <a:spcPct val="150000"/>
              </a:lnSpc>
            </a:pPr>
            <a:r>
              <a:rPr sz="2000" spc="-79" dirty="0">
                <a:cs typeface="Tahoma"/>
              </a:rPr>
              <a:t>How</a:t>
            </a:r>
            <a:r>
              <a:rPr sz="2000" spc="30" dirty="0">
                <a:cs typeface="Tahoma"/>
              </a:rPr>
              <a:t> </a:t>
            </a:r>
            <a:r>
              <a:rPr sz="2000" spc="-79" dirty="0">
                <a:cs typeface="Tahoma"/>
              </a:rPr>
              <a:t>can</a:t>
            </a:r>
            <a:r>
              <a:rPr sz="2000" spc="30" dirty="0">
                <a:cs typeface="Tahoma"/>
              </a:rPr>
              <a:t> </a:t>
            </a:r>
            <a:r>
              <a:rPr sz="2000" spc="-178" dirty="0">
                <a:cs typeface="Tahoma"/>
              </a:rPr>
              <a:t>we</a:t>
            </a:r>
            <a:r>
              <a:rPr sz="2000" spc="40" dirty="0">
                <a:cs typeface="Tahoma"/>
              </a:rPr>
              <a:t> </a:t>
            </a:r>
            <a:r>
              <a:rPr sz="2000" spc="-99" dirty="0">
                <a:cs typeface="Tahoma"/>
              </a:rPr>
              <a:t>choose</a:t>
            </a:r>
            <a:r>
              <a:rPr sz="2000" spc="40" dirty="0">
                <a:cs typeface="Tahoma"/>
              </a:rPr>
              <a:t> </a:t>
            </a:r>
            <a:r>
              <a:rPr sz="2000" spc="-119" dirty="0">
                <a:cs typeface="Tahoma"/>
              </a:rPr>
              <a:t>between</a:t>
            </a:r>
            <a:r>
              <a:rPr sz="2000" spc="30" dirty="0">
                <a:cs typeface="Tahoma"/>
              </a:rPr>
              <a:t> </a:t>
            </a:r>
            <a:r>
              <a:rPr sz="2000" spc="-59" dirty="0">
                <a:cs typeface="Tahoma"/>
              </a:rPr>
              <a:t>alternative</a:t>
            </a:r>
            <a:r>
              <a:rPr sz="2000" spc="40" dirty="0">
                <a:cs typeface="Tahoma"/>
              </a:rPr>
              <a:t> </a:t>
            </a:r>
            <a:r>
              <a:rPr sz="2000" spc="-59" dirty="0">
                <a:cs typeface="Tahoma"/>
              </a:rPr>
              <a:t>clusterings? </a:t>
            </a:r>
            <a:r>
              <a:rPr sz="2000" spc="-585" dirty="0">
                <a:cs typeface="Tahoma"/>
              </a:rPr>
              <a:t> </a:t>
            </a:r>
            <a:r>
              <a:rPr sz="2000" spc="30" dirty="0">
                <a:cs typeface="Tahoma"/>
              </a:rPr>
              <a:t>Will</a:t>
            </a:r>
            <a:r>
              <a:rPr sz="2000" spc="20" dirty="0">
                <a:cs typeface="Tahoma"/>
              </a:rPr>
              <a:t> </a:t>
            </a:r>
            <a:r>
              <a:rPr sz="2000" spc="30" dirty="0">
                <a:cs typeface="Tahoma"/>
              </a:rPr>
              <a:t>it</a:t>
            </a:r>
            <a:r>
              <a:rPr sz="2000" spc="40" dirty="0">
                <a:cs typeface="Tahoma"/>
              </a:rPr>
              <a:t> </a:t>
            </a:r>
            <a:r>
              <a:rPr sz="2000" spc="-89" dirty="0">
                <a:cs typeface="Tahoma"/>
              </a:rPr>
              <a:t>converge?</a:t>
            </a:r>
            <a:endParaRPr sz="2000" dirty="0">
              <a:cs typeface="Tahoma"/>
            </a:endParaRPr>
          </a:p>
          <a:p>
            <a:pPr marL="50358" algn="just">
              <a:lnSpc>
                <a:spcPct val="150000"/>
              </a:lnSpc>
              <a:spcBef>
                <a:spcPts val="1765"/>
              </a:spcBef>
            </a:pPr>
            <a:r>
              <a:rPr sz="2000" spc="-59" dirty="0">
                <a:cs typeface="Tahoma"/>
              </a:rPr>
              <a:t>Hard</a:t>
            </a:r>
            <a:r>
              <a:rPr sz="2000" spc="50" dirty="0">
                <a:cs typeface="Tahoma"/>
              </a:rPr>
              <a:t> </a:t>
            </a:r>
            <a:r>
              <a:rPr sz="2000" spc="-119" dirty="0">
                <a:cs typeface="Tahoma"/>
              </a:rPr>
              <a:t>cases</a:t>
            </a:r>
            <a:r>
              <a:rPr sz="2000" spc="50" dirty="0">
                <a:cs typeface="Tahoma"/>
              </a:rPr>
              <a:t> </a:t>
            </a:r>
            <a:r>
              <a:rPr sz="2000" spc="-99" dirty="0">
                <a:cs typeface="Tahoma"/>
              </a:rPr>
              <a:t>–</a:t>
            </a:r>
            <a:r>
              <a:rPr sz="2000" spc="40" dirty="0">
                <a:cs typeface="Tahoma"/>
              </a:rPr>
              <a:t> </a:t>
            </a:r>
            <a:r>
              <a:rPr sz="2000" spc="-89" dirty="0">
                <a:cs typeface="Tahoma"/>
              </a:rPr>
              <a:t>unequal</a:t>
            </a:r>
            <a:r>
              <a:rPr sz="2000" spc="59" dirty="0">
                <a:cs typeface="Tahoma"/>
              </a:rPr>
              <a:t> </a:t>
            </a:r>
            <a:r>
              <a:rPr sz="2000" spc="-109" dirty="0">
                <a:cs typeface="Tahoma"/>
              </a:rPr>
              <a:t>spreads,</a:t>
            </a:r>
            <a:r>
              <a:rPr sz="2000" spc="50" dirty="0">
                <a:cs typeface="Tahoma"/>
              </a:rPr>
              <a:t> </a:t>
            </a:r>
            <a:r>
              <a:rPr sz="2000" spc="-59" dirty="0">
                <a:cs typeface="Tahoma"/>
              </a:rPr>
              <a:t>non-circular</a:t>
            </a:r>
            <a:r>
              <a:rPr sz="2000" spc="59" dirty="0">
                <a:cs typeface="Tahoma"/>
              </a:rPr>
              <a:t> </a:t>
            </a:r>
            <a:r>
              <a:rPr sz="2000" spc="-109" dirty="0">
                <a:cs typeface="Tahoma"/>
              </a:rPr>
              <a:t>spreads,</a:t>
            </a:r>
            <a:r>
              <a:rPr sz="2000" spc="59" dirty="0">
                <a:cs typeface="Tahoma"/>
              </a:rPr>
              <a:t> </a:t>
            </a:r>
            <a:r>
              <a:rPr sz="2000" spc="-99" dirty="0">
                <a:cs typeface="Tahoma"/>
              </a:rPr>
              <a:t>in-between</a:t>
            </a:r>
            <a:r>
              <a:rPr sz="2000" spc="50" dirty="0">
                <a:cs typeface="Tahoma"/>
              </a:rPr>
              <a:t> </a:t>
            </a:r>
            <a:r>
              <a:rPr sz="2000" spc="-50" dirty="0">
                <a:cs typeface="Tahoma"/>
              </a:rPr>
              <a:t>points</a:t>
            </a:r>
            <a:endParaRPr sz="2000" dirty="0">
              <a:cs typeface="Tahoma"/>
            </a:endParaRPr>
          </a:p>
        </p:txBody>
      </p:sp>
      <p:sp>
        <p:nvSpPr>
          <p:cNvPr id="17" name="object 17"/>
          <p:cNvSpPr txBox="1"/>
          <p:nvPr/>
        </p:nvSpPr>
        <p:spPr>
          <a:xfrm>
            <a:off x="8474020" y="6642068"/>
            <a:ext cx="557960" cy="166712"/>
          </a:xfrm>
          <a:prstGeom prst="rect">
            <a:avLst/>
          </a:prstGeom>
        </p:spPr>
        <p:txBody>
          <a:bodyPr vert="horz" wrap="square" lIns="0" tIns="0" rIns="0" bIns="0" rtlCol="0">
            <a:spAutoFit/>
          </a:bodyPr>
          <a:lstStyle/>
          <a:p>
            <a:pPr marL="25179">
              <a:lnSpc>
                <a:spcPts val="1338"/>
              </a:lnSpc>
            </a:pPr>
            <a:r>
              <a:rPr sz="1200" spc="-30" dirty="0">
                <a:solidFill>
                  <a:srgbClr val="FFFFFF"/>
                </a:solidFill>
                <a:latin typeface="Tahoma"/>
                <a:cs typeface="Tahoma"/>
              </a:rPr>
              <a:t>14 </a:t>
            </a:r>
            <a:r>
              <a:rPr sz="1200" spc="169" dirty="0">
                <a:solidFill>
                  <a:srgbClr val="FFFFFF"/>
                </a:solidFill>
                <a:latin typeface="Tahoma"/>
                <a:cs typeface="Tahoma"/>
              </a:rPr>
              <a:t>/</a:t>
            </a:r>
            <a:r>
              <a:rPr sz="1200" spc="-20" dirty="0">
                <a:solidFill>
                  <a:srgbClr val="FFFFFF"/>
                </a:solidFill>
                <a:latin typeface="Tahoma"/>
                <a:cs typeface="Tahoma"/>
              </a:rPr>
              <a:t> </a:t>
            </a:r>
            <a:r>
              <a:rPr sz="1200" spc="-30" dirty="0">
                <a:solidFill>
                  <a:srgbClr val="FFFFFF"/>
                </a:solidFill>
                <a:latin typeface="Tahoma"/>
                <a:cs typeface="Tahoma"/>
              </a:rPr>
              <a:t>20</a:t>
            </a:r>
            <a:endParaRPr sz="1200">
              <a:latin typeface="Tahoma"/>
              <a:cs typeface="Tahoma"/>
            </a:endParaRPr>
          </a:p>
        </p:txBody>
      </p:sp>
    </p:spTree>
    <p:extLst>
      <p:ext uri="{BB962C8B-B14F-4D97-AF65-F5344CB8AC3E}">
        <p14:creationId xmlns:p14="http://schemas.microsoft.com/office/powerpoint/2010/main" val="3747200461"/>
      </p:ext>
    </p:extLst>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4" y="58579"/>
            <a:ext cx="7366955" cy="711432"/>
          </a:xfrm>
          <a:prstGeom prst="rect">
            <a:avLst/>
          </a:prstGeom>
        </p:spPr>
        <p:txBody>
          <a:bodyPr vert="horz" wrap="square" lIns="0" tIns="33992" rIns="0" bIns="0" rtlCol="0">
            <a:spAutoFit/>
          </a:bodyPr>
          <a:lstStyle/>
          <a:p>
            <a:pPr marL="25179">
              <a:spcBef>
                <a:spcPts val="268"/>
              </a:spcBef>
            </a:pPr>
            <a:r>
              <a:rPr sz="4400" spc="-50" dirty="0">
                <a:solidFill>
                  <a:schemeClr val="accent2">
                    <a:lumMod val="75000"/>
                  </a:schemeClr>
                </a:solidFill>
                <a:latin typeface="+mn-lt"/>
              </a:rPr>
              <a:t>Why</a:t>
            </a:r>
            <a:r>
              <a:rPr sz="4400" spc="10" dirty="0">
                <a:solidFill>
                  <a:schemeClr val="accent2">
                    <a:lumMod val="75000"/>
                  </a:schemeClr>
                </a:solidFill>
                <a:latin typeface="+mn-lt"/>
              </a:rPr>
              <a:t> </a:t>
            </a:r>
            <a:r>
              <a:rPr sz="4400" spc="-89" dirty="0">
                <a:solidFill>
                  <a:schemeClr val="accent2">
                    <a:lumMod val="75000"/>
                  </a:schemeClr>
                </a:solidFill>
                <a:latin typeface="+mn-lt"/>
              </a:rPr>
              <a:t>K-means</a:t>
            </a:r>
            <a:r>
              <a:rPr sz="4400" spc="20" dirty="0">
                <a:solidFill>
                  <a:schemeClr val="accent2">
                    <a:lumMod val="75000"/>
                  </a:schemeClr>
                </a:solidFill>
                <a:latin typeface="+mn-lt"/>
              </a:rPr>
              <a:t> </a:t>
            </a:r>
            <a:r>
              <a:rPr sz="4400" spc="-129" dirty="0">
                <a:solidFill>
                  <a:schemeClr val="accent2">
                    <a:lumMod val="75000"/>
                  </a:schemeClr>
                </a:solidFill>
                <a:latin typeface="+mn-lt"/>
              </a:rPr>
              <a:t>Converges</a:t>
            </a:r>
            <a:endParaRPr sz="4400" dirty="0">
              <a:solidFill>
                <a:schemeClr val="accent2">
                  <a:lumMod val="75000"/>
                </a:schemeClr>
              </a:solidFill>
              <a:latin typeface="+mn-lt"/>
            </a:endParaRPr>
          </a:p>
        </p:txBody>
      </p:sp>
      <p:pic>
        <p:nvPicPr>
          <p:cNvPr id="3" name="object 3"/>
          <p:cNvPicPr/>
          <p:nvPr/>
        </p:nvPicPr>
        <p:blipFill>
          <a:blip r:embed="rId2" cstate="print"/>
          <a:stretch>
            <a:fillRect/>
          </a:stretch>
        </p:blipFill>
        <p:spPr>
          <a:xfrm>
            <a:off x="557533" y="1140014"/>
            <a:ext cx="129451" cy="129332"/>
          </a:xfrm>
          <a:prstGeom prst="rect">
            <a:avLst/>
          </a:prstGeom>
        </p:spPr>
      </p:pic>
      <p:sp>
        <p:nvSpPr>
          <p:cNvPr id="4" name="object 4"/>
          <p:cNvSpPr txBox="1"/>
          <p:nvPr/>
        </p:nvSpPr>
        <p:spPr>
          <a:xfrm>
            <a:off x="657551" y="1016716"/>
            <a:ext cx="7812702" cy="2614606"/>
          </a:xfrm>
          <a:prstGeom prst="rect">
            <a:avLst/>
          </a:prstGeom>
        </p:spPr>
        <p:txBody>
          <a:bodyPr vert="horz" wrap="square" lIns="0" tIns="23920" rIns="0" bIns="0" rtlCol="0">
            <a:spAutoFit/>
          </a:bodyPr>
          <a:lstStyle/>
          <a:p>
            <a:pPr marL="25179" marR="22661" algn="just">
              <a:lnSpc>
                <a:spcPct val="150000"/>
              </a:lnSpc>
              <a:spcBef>
                <a:spcPts val="188"/>
              </a:spcBef>
            </a:pPr>
            <a:r>
              <a:rPr sz="2000" spc="-89" dirty="0">
                <a:cs typeface="Tahoma"/>
              </a:rPr>
              <a:t>Whenever</a:t>
            </a:r>
            <a:r>
              <a:rPr sz="2000" spc="30" dirty="0">
                <a:cs typeface="Tahoma"/>
              </a:rPr>
              <a:t> </a:t>
            </a:r>
            <a:r>
              <a:rPr sz="2000" spc="-99" dirty="0">
                <a:cs typeface="Tahoma"/>
              </a:rPr>
              <a:t>an</a:t>
            </a:r>
            <a:r>
              <a:rPr sz="2000" spc="40" dirty="0">
                <a:cs typeface="Tahoma"/>
              </a:rPr>
              <a:t> </a:t>
            </a:r>
            <a:r>
              <a:rPr sz="2000" spc="-89" dirty="0">
                <a:cs typeface="Tahoma"/>
              </a:rPr>
              <a:t>assignment</a:t>
            </a:r>
            <a:r>
              <a:rPr sz="2000" spc="40" dirty="0">
                <a:cs typeface="Tahoma"/>
              </a:rPr>
              <a:t> </a:t>
            </a:r>
            <a:r>
              <a:rPr sz="2000" spc="-59" dirty="0">
                <a:cs typeface="Tahoma"/>
              </a:rPr>
              <a:t>is</a:t>
            </a:r>
            <a:r>
              <a:rPr sz="2000" spc="40" dirty="0">
                <a:cs typeface="Tahoma"/>
              </a:rPr>
              <a:t> </a:t>
            </a:r>
            <a:r>
              <a:rPr sz="2000" spc="-89" dirty="0">
                <a:cs typeface="Tahoma"/>
              </a:rPr>
              <a:t>changed,</a:t>
            </a:r>
            <a:r>
              <a:rPr sz="2000" spc="50" dirty="0">
                <a:cs typeface="Tahoma"/>
              </a:rPr>
              <a:t> </a:t>
            </a:r>
            <a:r>
              <a:rPr sz="2000" spc="-69" dirty="0">
                <a:cs typeface="Tahoma"/>
              </a:rPr>
              <a:t>the</a:t>
            </a:r>
            <a:r>
              <a:rPr sz="2000" spc="30" dirty="0">
                <a:cs typeface="Tahoma"/>
              </a:rPr>
              <a:t> </a:t>
            </a:r>
            <a:r>
              <a:rPr sz="2000" spc="-109" dirty="0">
                <a:cs typeface="Tahoma"/>
              </a:rPr>
              <a:t>sum</a:t>
            </a:r>
            <a:r>
              <a:rPr sz="2000" spc="40" dirty="0">
                <a:cs typeface="Tahoma"/>
              </a:rPr>
              <a:t> </a:t>
            </a:r>
            <a:r>
              <a:rPr sz="2000" spc="-109" dirty="0">
                <a:cs typeface="Tahoma"/>
              </a:rPr>
              <a:t>squared</a:t>
            </a:r>
            <a:r>
              <a:rPr sz="2000" spc="40" dirty="0">
                <a:cs typeface="Tahoma"/>
              </a:rPr>
              <a:t> </a:t>
            </a:r>
            <a:r>
              <a:rPr sz="2000" spc="-79" dirty="0">
                <a:cs typeface="Tahoma"/>
              </a:rPr>
              <a:t>distances</a:t>
            </a:r>
            <a:r>
              <a:rPr sz="2000" spc="40" dirty="0">
                <a:cs typeface="Tahoma"/>
              </a:rPr>
              <a:t> </a:t>
            </a:r>
            <a:r>
              <a:rPr sz="2000" i="1" spc="-59" dirty="0">
                <a:cs typeface="Arial"/>
              </a:rPr>
              <a:t>J</a:t>
            </a:r>
            <a:r>
              <a:rPr sz="2000" i="1" spc="278" dirty="0">
                <a:cs typeface="Arial"/>
              </a:rPr>
              <a:t> </a:t>
            </a:r>
            <a:r>
              <a:rPr sz="2000" spc="-59" dirty="0">
                <a:cs typeface="Tahoma"/>
              </a:rPr>
              <a:t>of</a:t>
            </a:r>
            <a:r>
              <a:rPr sz="2000" spc="30" dirty="0">
                <a:cs typeface="Tahoma"/>
              </a:rPr>
              <a:t> </a:t>
            </a:r>
            <a:r>
              <a:rPr sz="2000" spc="-59" dirty="0">
                <a:cs typeface="Tahoma"/>
              </a:rPr>
              <a:t>data </a:t>
            </a:r>
            <a:r>
              <a:rPr sz="2000" spc="-585" dirty="0">
                <a:cs typeface="Tahoma"/>
              </a:rPr>
              <a:t> </a:t>
            </a:r>
            <a:r>
              <a:rPr sz="2000" spc="-50" dirty="0">
                <a:cs typeface="Tahoma"/>
              </a:rPr>
              <a:t>points</a:t>
            </a:r>
            <a:r>
              <a:rPr sz="2000" spc="20" dirty="0">
                <a:cs typeface="Tahoma"/>
              </a:rPr>
              <a:t> </a:t>
            </a:r>
            <a:r>
              <a:rPr sz="2000" spc="-69" dirty="0">
                <a:cs typeface="Tahoma"/>
              </a:rPr>
              <a:t>from</a:t>
            </a:r>
            <a:r>
              <a:rPr sz="2000" spc="30" dirty="0">
                <a:cs typeface="Tahoma"/>
              </a:rPr>
              <a:t> </a:t>
            </a:r>
            <a:r>
              <a:rPr sz="2000" spc="-50" dirty="0">
                <a:cs typeface="Tahoma"/>
              </a:rPr>
              <a:t>their</a:t>
            </a:r>
            <a:r>
              <a:rPr sz="2000" spc="40" dirty="0">
                <a:cs typeface="Tahoma"/>
              </a:rPr>
              <a:t> </a:t>
            </a:r>
            <a:r>
              <a:rPr sz="2000" spc="-99" dirty="0">
                <a:cs typeface="Tahoma"/>
              </a:rPr>
              <a:t>assigned</a:t>
            </a:r>
            <a:r>
              <a:rPr sz="2000" spc="30" dirty="0">
                <a:cs typeface="Tahoma"/>
              </a:rPr>
              <a:t> </a:t>
            </a:r>
            <a:r>
              <a:rPr sz="2000" spc="-59" dirty="0">
                <a:cs typeface="Tahoma"/>
              </a:rPr>
              <a:t>cluster</a:t>
            </a:r>
            <a:r>
              <a:rPr sz="2000" spc="30" dirty="0">
                <a:cs typeface="Tahoma"/>
              </a:rPr>
              <a:t> </a:t>
            </a:r>
            <a:r>
              <a:rPr sz="2000" spc="-89" dirty="0">
                <a:cs typeface="Tahoma"/>
              </a:rPr>
              <a:t>centers</a:t>
            </a:r>
            <a:r>
              <a:rPr sz="2000" spc="30" dirty="0">
                <a:cs typeface="Tahoma"/>
              </a:rPr>
              <a:t> </a:t>
            </a:r>
            <a:r>
              <a:rPr sz="2000" spc="-59" dirty="0">
                <a:cs typeface="Tahoma"/>
              </a:rPr>
              <a:t>is</a:t>
            </a:r>
            <a:r>
              <a:rPr sz="2000" spc="40" dirty="0">
                <a:cs typeface="Tahoma"/>
              </a:rPr>
              <a:t> </a:t>
            </a:r>
            <a:r>
              <a:rPr sz="2000" spc="-89" dirty="0">
                <a:cs typeface="Tahoma"/>
              </a:rPr>
              <a:t>reduced.</a:t>
            </a:r>
            <a:endParaRPr sz="2000" dirty="0">
              <a:cs typeface="Tahoma"/>
            </a:endParaRPr>
          </a:p>
          <a:p>
            <a:pPr marL="25179" algn="just">
              <a:lnSpc>
                <a:spcPct val="150000"/>
              </a:lnSpc>
              <a:spcBef>
                <a:spcPts val="1090"/>
              </a:spcBef>
            </a:pPr>
            <a:r>
              <a:rPr sz="2000" spc="-89" dirty="0">
                <a:cs typeface="Tahoma"/>
              </a:rPr>
              <a:t>Whenever</a:t>
            </a:r>
            <a:r>
              <a:rPr sz="2000" spc="20" dirty="0">
                <a:cs typeface="Tahoma"/>
              </a:rPr>
              <a:t> </a:t>
            </a:r>
            <a:r>
              <a:rPr sz="2000" spc="-99" dirty="0">
                <a:cs typeface="Tahoma"/>
              </a:rPr>
              <a:t>a</a:t>
            </a:r>
            <a:r>
              <a:rPr sz="2000" spc="30" dirty="0">
                <a:cs typeface="Tahoma"/>
              </a:rPr>
              <a:t> </a:t>
            </a:r>
            <a:r>
              <a:rPr sz="2000" spc="-59" dirty="0">
                <a:cs typeface="Tahoma"/>
              </a:rPr>
              <a:t>cluster</a:t>
            </a:r>
            <a:r>
              <a:rPr sz="2000" spc="20" dirty="0">
                <a:cs typeface="Tahoma"/>
              </a:rPr>
              <a:t> </a:t>
            </a:r>
            <a:r>
              <a:rPr sz="2000" spc="-79" dirty="0">
                <a:cs typeface="Tahoma"/>
              </a:rPr>
              <a:t>center</a:t>
            </a:r>
            <a:r>
              <a:rPr sz="2000" spc="20" dirty="0">
                <a:cs typeface="Tahoma"/>
              </a:rPr>
              <a:t> </a:t>
            </a:r>
            <a:r>
              <a:rPr sz="2000" spc="-59" dirty="0">
                <a:cs typeface="Tahoma"/>
              </a:rPr>
              <a:t>is</a:t>
            </a:r>
            <a:r>
              <a:rPr sz="2000" spc="30" dirty="0">
                <a:cs typeface="Tahoma"/>
              </a:rPr>
              <a:t> </a:t>
            </a:r>
            <a:r>
              <a:rPr sz="2000" spc="-99" dirty="0">
                <a:cs typeface="Tahoma"/>
              </a:rPr>
              <a:t>moved,</a:t>
            </a:r>
            <a:r>
              <a:rPr sz="2000" spc="30" dirty="0">
                <a:cs typeface="Tahoma"/>
              </a:rPr>
              <a:t> </a:t>
            </a:r>
            <a:r>
              <a:rPr sz="2000" i="1" spc="-59" dirty="0">
                <a:cs typeface="Arial"/>
              </a:rPr>
              <a:t>J</a:t>
            </a:r>
            <a:r>
              <a:rPr sz="2000" i="1" spc="258" dirty="0">
                <a:cs typeface="Arial"/>
              </a:rPr>
              <a:t> </a:t>
            </a:r>
            <a:r>
              <a:rPr sz="2000" spc="-59" dirty="0">
                <a:cs typeface="Tahoma"/>
              </a:rPr>
              <a:t>is</a:t>
            </a:r>
            <a:r>
              <a:rPr sz="2000" spc="30" dirty="0">
                <a:cs typeface="Tahoma"/>
              </a:rPr>
              <a:t> </a:t>
            </a:r>
            <a:r>
              <a:rPr sz="2000" spc="-89" dirty="0">
                <a:cs typeface="Tahoma"/>
              </a:rPr>
              <a:t>reduced.</a:t>
            </a:r>
            <a:endParaRPr sz="2000" dirty="0">
              <a:cs typeface="Tahoma"/>
            </a:endParaRPr>
          </a:p>
          <a:p>
            <a:pPr marL="25179" marR="10072" algn="just">
              <a:lnSpc>
                <a:spcPct val="150000"/>
              </a:lnSpc>
              <a:spcBef>
                <a:spcPts val="1100"/>
              </a:spcBef>
            </a:pPr>
            <a:r>
              <a:rPr sz="2000" spc="-59" dirty="0">
                <a:solidFill>
                  <a:srgbClr val="0000FF"/>
                </a:solidFill>
                <a:cs typeface="Tahoma"/>
              </a:rPr>
              <a:t>Test</a:t>
            </a:r>
            <a:r>
              <a:rPr sz="2000" spc="30" dirty="0">
                <a:solidFill>
                  <a:srgbClr val="0000FF"/>
                </a:solidFill>
                <a:cs typeface="Tahoma"/>
              </a:rPr>
              <a:t> </a:t>
            </a:r>
            <a:r>
              <a:rPr sz="2000" spc="-79" dirty="0">
                <a:solidFill>
                  <a:srgbClr val="0000FF"/>
                </a:solidFill>
                <a:cs typeface="Tahoma"/>
              </a:rPr>
              <a:t>for</a:t>
            </a:r>
            <a:r>
              <a:rPr sz="2000" spc="50" dirty="0">
                <a:solidFill>
                  <a:srgbClr val="0000FF"/>
                </a:solidFill>
                <a:cs typeface="Tahoma"/>
              </a:rPr>
              <a:t> </a:t>
            </a:r>
            <a:r>
              <a:rPr sz="2000" spc="-109" dirty="0">
                <a:solidFill>
                  <a:srgbClr val="0000FF"/>
                </a:solidFill>
                <a:cs typeface="Tahoma"/>
              </a:rPr>
              <a:t>convergence</a:t>
            </a:r>
            <a:r>
              <a:rPr sz="2000" spc="-109" dirty="0">
                <a:cs typeface="Tahoma"/>
              </a:rPr>
              <a:t>:</a:t>
            </a:r>
            <a:r>
              <a:rPr sz="2000" spc="268" dirty="0">
                <a:cs typeface="Tahoma"/>
              </a:rPr>
              <a:t> </a:t>
            </a:r>
            <a:r>
              <a:rPr sz="2000" spc="-119" dirty="0">
                <a:cs typeface="Tahoma"/>
              </a:rPr>
              <a:t>If</a:t>
            </a:r>
            <a:r>
              <a:rPr sz="2000" spc="50" dirty="0">
                <a:cs typeface="Tahoma"/>
              </a:rPr>
              <a:t> </a:t>
            </a:r>
            <a:r>
              <a:rPr sz="2000" spc="-69" dirty="0">
                <a:cs typeface="Tahoma"/>
              </a:rPr>
              <a:t>the</a:t>
            </a:r>
            <a:r>
              <a:rPr sz="2000" spc="50" dirty="0">
                <a:cs typeface="Tahoma"/>
              </a:rPr>
              <a:t> </a:t>
            </a:r>
            <a:r>
              <a:rPr sz="2000" spc="-89" dirty="0">
                <a:cs typeface="Tahoma"/>
              </a:rPr>
              <a:t>assignments</a:t>
            </a:r>
            <a:r>
              <a:rPr sz="2000" spc="40" dirty="0">
                <a:cs typeface="Tahoma"/>
              </a:rPr>
              <a:t> </a:t>
            </a:r>
            <a:r>
              <a:rPr sz="2000" spc="-89" dirty="0">
                <a:cs typeface="Tahoma"/>
              </a:rPr>
              <a:t>do</a:t>
            </a:r>
            <a:r>
              <a:rPr sz="2000" spc="50" dirty="0">
                <a:cs typeface="Tahoma"/>
              </a:rPr>
              <a:t> </a:t>
            </a:r>
            <a:r>
              <a:rPr sz="2000" spc="-50" dirty="0">
                <a:cs typeface="Tahoma"/>
              </a:rPr>
              <a:t>not</a:t>
            </a:r>
            <a:r>
              <a:rPr sz="2000" spc="40" dirty="0">
                <a:cs typeface="Tahoma"/>
              </a:rPr>
              <a:t> </a:t>
            </a:r>
            <a:r>
              <a:rPr sz="2000" spc="-99" dirty="0">
                <a:cs typeface="Tahoma"/>
              </a:rPr>
              <a:t>change</a:t>
            </a:r>
            <a:r>
              <a:rPr sz="2000" spc="40" dirty="0">
                <a:cs typeface="Tahoma"/>
              </a:rPr>
              <a:t> </a:t>
            </a:r>
            <a:r>
              <a:rPr sz="2000" spc="-40" dirty="0">
                <a:cs typeface="Tahoma"/>
              </a:rPr>
              <a:t>in</a:t>
            </a:r>
            <a:r>
              <a:rPr sz="2000" spc="50" dirty="0">
                <a:cs typeface="Tahoma"/>
              </a:rPr>
              <a:t> </a:t>
            </a:r>
            <a:r>
              <a:rPr sz="2000" spc="-69" dirty="0">
                <a:cs typeface="Tahoma"/>
              </a:rPr>
              <a:t>the</a:t>
            </a:r>
            <a:r>
              <a:rPr sz="2000" spc="50" dirty="0">
                <a:cs typeface="Tahoma"/>
              </a:rPr>
              <a:t> </a:t>
            </a:r>
            <a:r>
              <a:rPr sz="2000" spc="-89" dirty="0">
                <a:cs typeface="Tahoma"/>
              </a:rPr>
              <a:t>assignment </a:t>
            </a:r>
            <a:r>
              <a:rPr sz="2000" spc="-595" dirty="0">
                <a:cs typeface="Tahoma"/>
              </a:rPr>
              <a:t> </a:t>
            </a:r>
            <a:r>
              <a:rPr sz="2000" spc="-79" dirty="0">
                <a:cs typeface="Tahoma"/>
              </a:rPr>
              <a:t>step,</a:t>
            </a:r>
            <a:r>
              <a:rPr sz="2000" spc="30" dirty="0">
                <a:cs typeface="Tahoma"/>
              </a:rPr>
              <a:t> </a:t>
            </a:r>
            <a:r>
              <a:rPr sz="2000" spc="-178" dirty="0">
                <a:cs typeface="Tahoma"/>
              </a:rPr>
              <a:t>we</a:t>
            </a:r>
            <a:r>
              <a:rPr sz="2000" spc="30" dirty="0">
                <a:cs typeface="Tahoma"/>
              </a:rPr>
              <a:t> </a:t>
            </a:r>
            <a:r>
              <a:rPr sz="2000" spc="-109" dirty="0">
                <a:cs typeface="Tahoma"/>
              </a:rPr>
              <a:t>have</a:t>
            </a:r>
            <a:r>
              <a:rPr sz="2000" spc="40" dirty="0">
                <a:cs typeface="Tahoma"/>
              </a:rPr>
              <a:t> </a:t>
            </a:r>
            <a:r>
              <a:rPr sz="2000" spc="-99" dirty="0">
                <a:cs typeface="Tahoma"/>
              </a:rPr>
              <a:t>converged</a:t>
            </a:r>
            <a:r>
              <a:rPr sz="2000" spc="40" dirty="0">
                <a:cs typeface="Tahoma"/>
              </a:rPr>
              <a:t> </a:t>
            </a:r>
            <a:r>
              <a:rPr sz="2000" spc="-20" dirty="0">
                <a:cs typeface="Tahoma"/>
              </a:rPr>
              <a:t>(to</a:t>
            </a:r>
            <a:r>
              <a:rPr sz="2000" spc="40" dirty="0">
                <a:cs typeface="Tahoma"/>
              </a:rPr>
              <a:t> </a:t>
            </a:r>
            <a:r>
              <a:rPr sz="2000" spc="-30" dirty="0">
                <a:cs typeface="Tahoma"/>
              </a:rPr>
              <a:t>at</a:t>
            </a:r>
            <a:r>
              <a:rPr sz="2000" spc="30" dirty="0">
                <a:cs typeface="Tahoma"/>
              </a:rPr>
              <a:t> </a:t>
            </a:r>
            <a:r>
              <a:rPr sz="2000" spc="-69" dirty="0">
                <a:cs typeface="Tahoma"/>
              </a:rPr>
              <a:t>least</a:t>
            </a:r>
            <a:r>
              <a:rPr sz="2000" spc="40" dirty="0">
                <a:cs typeface="Tahoma"/>
              </a:rPr>
              <a:t> </a:t>
            </a:r>
            <a:r>
              <a:rPr sz="2000" spc="-99" dirty="0">
                <a:cs typeface="Tahoma"/>
              </a:rPr>
              <a:t>a</a:t>
            </a:r>
            <a:r>
              <a:rPr sz="2000" spc="40" dirty="0">
                <a:cs typeface="Tahoma"/>
              </a:rPr>
              <a:t> </a:t>
            </a:r>
            <a:r>
              <a:rPr sz="2000" spc="-30" dirty="0">
                <a:cs typeface="Tahoma"/>
              </a:rPr>
              <a:t>local</a:t>
            </a:r>
            <a:r>
              <a:rPr sz="2000" spc="30" dirty="0">
                <a:cs typeface="Tahoma"/>
              </a:rPr>
              <a:t> </a:t>
            </a:r>
            <a:r>
              <a:rPr sz="2000" spc="-59" dirty="0">
                <a:cs typeface="Tahoma"/>
              </a:rPr>
              <a:t>minimum).</a:t>
            </a:r>
            <a:endParaRPr sz="2000" dirty="0">
              <a:cs typeface="Tahoma"/>
            </a:endParaRPr>
          </a:p>
        </p:txBody>
      </p:sp>
      <p:pic>
        <p:nvPicPr>
          <p:cNvPr id="5" name="object 5"/>
          <p:cNvPicPr/>
          <p:nvPr/>
        </p:nvPicPr>
        <p:blipFill>
          <a:blip r:embed="rId3" cstate="print"/>
          <a:stretch>
            <a:fillRect/>
          </a:stretch>
        </p:blipFill>
        <p:spPr>
          <a:xfrm>
            <a:off x="557533" y="1882465"/>
            <a:ext cx="129451" cy="129332"/>
          </a:xfrm>
          <a:prstGeom prst="rect">
            <a:avLst/>
          </a:prstGeom>
        </p:spPr>
      </p:pic>
      <p:pic>
        <p:nvPicPr>
          <p:cNvPr id="6" name="object 6"/>
          <p:cNvPicPr/>
          <p:nvPr/>
        </p:nvPicPr>
        <p:blipFill>
          <a:blip r:embed="rId3" cstate="print"/>
          <a:stretch>
            <a:fillRect/>
          </a:stretch>
        </p:blipFill>
        <p:spPr>
          <a:xfrm>
            <a:off x="557533" y="2324019"/>
            <a:ext cx="129451" cy="129332"/>
          </a:xfrm>
          <a:prstGeom prst="rect">
            <a:avLst/>
          </a:prstGeom>
        </p:spPr>
      </p:pic>
      <p:pic>
        <p:nvPicPr>
          <p:cNvPr id="7" name="object 7"/>
          <p:cNvPicPr/>
          <p:nvPr/>
        </p:nvPicPr>
        <p:blipFill>
          <a:blip r:embed="rId4" cstate="print"/>
          <a:stretch>
            <a:fillRect/>
          </a:stretch>
        </p:blipFill>
        <p:spPr>
          <a:xfrm>
            <a:off x="2438400" y="3886200"/>
            <a:ext cx="3510928" cy="1939317"/>
          </a:xfrm>
          <a:prstGeom prst="rect">
            <a:avLst/>
          </a:prstGeom>
        </p:spPr>
      </p:pic>
      <p:pic>
        <p:nvPicPr>
          <p:cNvPr id="8" name="object 8"/>
          <p:cNvPicPr/>
          <p:nvPr/>
        </p:nvPicPr>
        <p:blipFill>
          <a:blip r:embed="rId3" cstate="print"/>
          <a:stretch>
            <a:fillRect/>
          </a:stretch>
        </p:blipFill>
        <p:spPr>
          <a:xfrm>
            <a:off x="557533" y="6261987"/>
            <a:ext cx="129451" cy="129332"/>
          </a:xfrm>
          <a:prstGeom prst="rect">
            <a:avLst/>
          </a:prstGeom>
        </p:spPr>
      </p:pic>
      <p:sp>
        <p:nvSpPr>
          <p:cNvPr id="9" name="object 9"/>
          <p:cNvSpPr txBox="1"/>
          <p:nvPr/>
        </p:nvSpPr>
        <p:spPr>
          <a:xfrm>
            <a:off x="828842" y="5935446"/>
            <a:ext cx="7470119" cy="653083"/>
          </a:xfrm>
          <a:prstGeom prst="rect">
            <a:avLst/>
          </a:prstGeom>
        </p:spPr>
        <p:txBody>
          <a:bodyPr vert="horz" wrap="square" lIns="0" tIns="23920" rIns="0" bIns="0" rtlCol="0">
            <a:spAutoFit/>
          </a:bodyPr>
          <a:lstStyle/>
          <a:p>
            <a:pPr marL="25179" marR="10072" algn="just">
              <a:spcBef>
                <a:spcPts val="188"/>
              </a:spcBef>
            </a:pPr>
            <a:r>
              <a:rPr sz="2000" spc="-69" dirty="0">
                <a:cs typeface="Tahoma"/>
              </a:rPr>
              <a:t>K-means</a:t>
            </a:r>
            <a:r>
              <a:rPr sz="2000" spc="50" dirty="0">
                <a:cs typeface="Tahoma"/>
              </a:rPr>
              <a:t> </a:t>
            </a:r>
            <a:r>
              <a:rPr sz="2000" spc="-59" dirty="0">
                <a:cs typeface="Tahoma"/>
              </a:rPr>
              <a:t>cost</a:t>
            </a:r>
            <a:r>
              <a:rPr sz="2000" spc="40" dirty="0">
                <a:cs typeface="Tahoma"/>
              </a:rPr>
              <a:t> </a:t>
            </a:r>
            <a:r>
              <a:rPr sz="2000" spc="-50" dirty="0">
                <a:cs typeface="Tahoma"/>
              </a:rPr>
              <a:t>function</a:t>
            </a:r>
            <a:r>
              <a:rPr sz="2000" spc="40" dirty="0">
                <a:cs typeface="Tahoma"/>
              </a:rPr>
              <a:t> </a:t>
            </a:r>
            <a:r>
              <a:rPr sz="2000" spc="-59" dirty="0">
                <a:cs typeface="Tahoma"/>
              </a:rPr>
              <a:t>after</a:t>
            </a:r>
            <a:r>
              <a:rPr sz="2000" spc="50" dirty="0">
                <a:cs typeface="Tahoma"/>
              </a:rPr>
              <a:t> </a:t>
            </a:r>
            <a:r>
              <a:rPr sz="2000" spc="-99" dirty="0">
                <a:cs typeface="Tahoma"/>
              </a:rPr>
              <a:t>each</a:t>
            </a:r>
            <a:r>
              <a:rPr sz="2000" spc="50" dirty="0">
                <a:cs typeface="Tahoma"/>
              </a:rPr>
              <a:t> </a:t>
            </a:r>
            <a:r>
              <a:rPr sz="2000" spc="59" dirty="0">
                <a:cs typeface="Tahoma"/>
              </a:rPr>
              <a:t>E</a:t>
            </a:r>
            <a:r>
              <a:rPr sz="2000" spc="40" dirty="0">
                <a:cs typeface="Tahoma"/>
              </a:rPr>
              <a:t> </a:t>
            </a:r>
            <a:r>
              <a:rPr sz="2000" spc="-89" dirty="0">
                <a:cs typeface="Tahoma"/>
              </a:rPr>
              <a:t>step</a:t>
            </a:r>
            <a:r>
              <a:rPr sz="2000" spc="59" dirty="0">
                <a:cs typeface="Tahoma"/>
              </a:rPr>
              <a:t> </a:t>
            </a:r>
            <a:r>
              <a:rPr sz="2000" spc="-59" dirty="0">
                <a:cs typeface="Tahoma"/>
              </a:rPr>
              <a:t>(blue)</a:t>
            </a:r>
            <a:r>
              <a:rPr sz="2000" spc="50" dirty="0">
                <a:cs typeface="Tahoma"/>
              </a:rPr>
              <a:t> </a:t>
            </a:r>
            <a:r>
              <a:rPr sz="2000" spc="-89" dirty="0">
                <a:cs typeface="Tahoma"/>
              </a:rPr>
              <a:t>and</a:t>
            </a:r>
            <a:r>
              <a:rPr sz="2000" spc="40" dirty="0">
                <a:cs typeface="Tahoma"/>
              </a:rPr>
              <a:t> </a:t>
            </a:r>
            <a:r>
              <a:rPr sz="2000" spc="198" dirty="0">
                <a:cs typeface="Tahoma"/>
              </a:rPr>
              <a:t>M</a:t>
            </a:r>
            <a:r>
              <a:rPr sz="2000" spc="40" dirty="0">
                <a:cs typeface="Tahoma"/>
              </a:rPr>
              <a:t> </a:t>
            </a:r>
            <a:r>
              <a:rPr sz="2000" spc="-89" dirty="0">
                <a:cs typeface="Tahoma"/>
              </a:rPr>
              <a:t>step</a:t>
            </a:r>
            <a:r>
              <a:rPr sz="2000" spc="59" dirty="0">
                <a:cs typeface="Tahoma"/>
              </a:rPr>
              <a:t> </a:t>
            </a:r>
            <a:r>
              <a:rPr sz="2000" spc="-59" dirty="0">
                <a:cs typeface="Tahoma"/>
              </a:rPr>
              <a:t>(red).</a:t>
            </a:r>
            <a:r>
              <a:rPr sz="2000" spc="268" dirty="0">
                <a:cs typeface="Tahoma"/>
              </a:rPr>
              <a:t> </a:t>
            </a:r>
            <a:r>
              <a:rPr sz="2000" spc="-30" dirty="0">
                <a:cs typeface="Tahoma"/>
              </a:rPr>
              <a:t>The </a:t>
            </a:r>
            <a:r>
              <a:rPr sz="2000" spc="-585" dirty="0">
                <a:cs typeface="Tahoma"/>
              </a:rPr>
              <a:t> </a:t>
            </a:r>
            <a:r>
              <a:rPr sz="2000" spc="-59" dirty="0">
                <a:cs typeface="Tahoma"/>
              </a:rPr>
              <a:t>algorithm</a:t>
            </a:r>
            <a:r>
              <a:rPr sz="2000" spc="30" dirty="0">
                <a:cs typeface="Tahoma"/>
              </a:rPr>
              <a:t> </a:t>
            </a:r>
            <a:r>
              <a:rPr sz="2000" spc="-109" dirty="0">
                <a:cs typeface="Tahoma"/>
              </a:rPr>
              <a:t>has</a:t>
            </a:r>
            <a:r>
              <a:rPr sz="2000" spc="40" dirty="0">
                <a:cs typeface="Tahoma"/>
              </a:rPr>
              <a:t> </a:t>
            </a:r>
            <a:r>
              <a:rPr sz="2000" spc="-99" dirty="0">
                <a:cs typeface="Tahoma"/>
              </a:rPr>
              <a:t>converged</a:t>
            </a:r>
            <a:r>
              <a:rPr sz="2000" spc="30" dirty="0">
                <a:cs typeface="Tahoma"/>
              </a:rPr>
              <a:t> </a:t>
            </a:r>
            <a:r>
              <a:rPr sz="2000" spc="-59" dirty="0">
                <a:cs typeface="Tahoma"/>
              </a:rPr>
              <a:t>after</a:t>
            </a:r>
            <a:r>
              <a:rPr sz="2000" spc="40" dirty="0">
                <a:cs typeface="Tahoma"/>
              </a:rPr>
              <a:t> </a:t>
            </a:r>
            <a:r>
              <a:rPr sz="2000" spc="-79" dirty="0">
                <a:cs typeface="Tahoma"/>
              </a:rPr>
              <a:t>the</a:t>
            </a:r>
            <a:r>
              <a:rPr sz="2000" spc="40" dirty="0">
                <a:cs typeface="Tahoma"/>
              </a:rPr>
              <a:t> </a:t>
            </a:r>
            <a:r>
              <a:rPr sz="2000" spc="-30" dirty="0">
                <a:cs typeface="Tahoma"/>
              </a:rPr>
              <a:t>third</a:t>
            </a:r>
            <a:r>
              <a:rPr sz="2000" spc="30" dirty="0">
                <a:cs typeface="Tahoma"/>
              </a:rPr>
              <a:t> </a:t>
            </a:r>
            <a:r>
              <a:rPr sz="2000" spc="198" dirty="0">
                <a:cs typeface="Tahoma"/>
              </a:rPr>
              <a:t>M</a:t>
            </a:r>
            <a:r>
              <a:rPr sz="2000" spc="30" dirty="0">
                <a:cs typeface="Tahoma"/>
              </a:rPr>
              <a:t> </a:t>
            </a:r>
            <a:r>
              <a:rPr sz="2000" spc="-89" dirty="0">
                <a:cs typeface="Tahoma"/>
              </a:rPr>
              <a:t>step</a:t>
            </a:r>
            <a:endParaRPr sz="2000" dirty="0">
              <a:cs typeface="Tahoma"/>
            </a:endParaRPr>
          </a:p>
        </p:txBody>
      </p:sp>
      <p:sp>
        <p:nvSpPr>
          <p:cNvPr id="16" name="object 16"/>
          <p:cNvSpPr txBox="1"/>
          <p:nvPr/>
        </p:nvSpPr>
        <p:spPr>
          <a:xfrm>
            <a:off x="8474020" y="6642068"/>
            <a:ext cx="557960" cy="166712"/>
          </a:xfrm>
          <a:prstGeom prst="rect">
            <a:avLst/>
          </a:prstGeom>
        </p:spPr>
        <p:txBody>
          <a:bodyPr vert="horz" wrap="square" lIns="0" tIns="0" rIns="0" bIns="0" rtlCol="0">
            <a:spAutoFit/>
          </a:bodyPr>
          <a:lstStyle/>
          <a:p>
            <a:pPr marL="25179">
              <a:lnSpc>
                <a:spcPts val="1338"/>
              </a:lnSpc>
            </a:pPr>
            <a:r>
              <a:rPr sz="1200" spc="-30" dirty="0">
                <a:solidFill>
                  <a:srgbClr val="FFFFFF"/>
                </a:solidFill>
                <a:latin typeface="Tahoma"/>
                <a:cs typeface="Tahoma"/>
              </a:rPr>
              <a:t>15 </a:t>
            </a:r>
            <a:r>
              <a:rPr sz="1200" spc="169" dirty="0">
                <a:solidFill>
                  <a:srgbClr val="FFFFFF"/>
                </a:solidFill>
                <a:latin typeface="Tahoma"/>
                <a:cs typeface="Tahoma"/>
              </a:rPr>
              <a:t>/</a:t>
            </a:r>
            <a:r>
              <a:rPr sz="1200" spc="-20" dirty="0">
                <a:solidFill>
                  <a:srgbClr val="FFFFFF"/>
                </a:solidFill>
                <a:latin typeface="Tahoma"/>
                <a:cs typeface="Tahoma"/>
              </a:rPr>
              <a:t> </a:t>
            </a:r>
            <a:r>
              <a:rPr sz="1200" spc="-30" dirty="0">
                <a:solidFill>
                  <a:srgbClr val="FFFFFF"/>
                </a:solidFill>
                <a:latin typeface="Tahoma"/>
                <a:cs typeface="Tahoma"/>
              </a:rPr>
              <a:t>20</a:t>
            </a:r>
            <a:endParaRPr sz="1200">
              <a:latin typeface="Tahoma"/>
              <a:cs typeface="Tahoma"/>
            </a:endParaRPr>
          </a:p>
        </p:txBody>
      </p:sp>
    </p:spTree>
    <p:extLst>
      <p:ext uri="{BB962C8B-B14F-4D97-AF65-F5344CB8AC3E}">
        <p14:creationId xmlns:p14="http://schemas.microsoft.com/office/powerpoint/2010/main" val="1593072906"/>
      </p:ext>
    </p:extLst>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76200"/>
            <a:ext cx="8229600" cy="1143000"/>
          </a:xfrm>
        </p:spPr>
        <p:txBody>
          <a:bodyPr>
            <a:normAutofit/>
          </a:bodyPr>
          <a:lstStyle/>
          <a:p>
            <a:pPr fontAlgn="auto">
              <a:spcAft>
                <a:spcPts val="0"/>
              </a:spcAft>
              <a:defRPr/>
            </a:pPr>
            <a:r>
              <a:rPr lang="en-US" sz="4400" dirty="0">
                <a:latin typeface="+mn-lt"/>
              </a:rPr>
              <a:t>K-means – Example </a:t>
            </a:r>
          </a:p>
        </p:txBody>
      </p:sp>
      <p:pic>
        <p:nvPicPr>
          <p:cNvPr id="26630" name="Picture 4" descr="house"/>
          <p:cNvPicPr>
            <a:picLocks noGrp="1" noChangeAspect="1" noChangeArrowheads="1"/>
          </p:cNvPicPr>
          <p:nvPr>
            <p:ph idx="4294967295"/>
          </p:nvPr>
        </p:nvPicPr>
        <p:blipFill>
          <a:blip r:embed="rId2"/>
          <a:srcRect/>
          <a:stretch>
            <a:fillRect/>
          </a:stretch>
        </p:blipFill>
        <p:spPr>
          <a:xfrm>
            <a:off x="2068513" y="2443163"/>
            <a:ext cx="2428875" cy="1828800"/>
          </a:xfrm>
        </p:spPr>
      </p:pic>
      <p:pic>
        <p:nvPicPr>
          <p:cNvPr id="26631" name="Picture 5" descr="house_s"/>
          <p:cNvPicPr>
            <a:picLocks noChangeAspect="1" noChangeArrowheads="1"/>
          </p:cNvPicPr>
          <p:nvPr/>
        </p:nvPicPr>
        <p:blipFill>
          <a:blip r:embed="rId3"/>
          <a:srcRect/>
          <a:stretch>
            <a:fillRect/>
          </a:stretch>
        </p:blipFill>
        <p:spPr bwMode="auto">
          <a:xfrm>
            <a:off x="4583113" y="2438400"/>
            <a:ext cx="2428875" cy="1828800"/>
          </a:xfrm>
          <a:prstGeom prst="rect">
            <a:avLst/>
          </a:prstGeom>
          <a:noFill/>
          <a:ln w="9525">
            <a:noFill/>
            <a:miter lim="800000"/>
            <a:headEnd/>
            <a:tailEnd/>
          </a:ln>
        </p:spPr>
      </p:pic>
      <p:pic>
        <p:nvPicPr>
          <p:cNvPr id="26632" name="Picture 6" descr="hand"/>
          <p:cNvPicPr>
            <a:picLocks noChangeAspect="1" noChangeArrowheads="1"/>
          </p:cNvPicPr>
          <p:nvPr/>
        </p:nvPicPr>
        <p:blipFill>
          <a:blip r:embed="rId4"/>
          <a:srcRect/>
          <a:stretch>
            <a:fillRect/>
          </a:stretch>
        </p:blipFill>
        <p:spPr bwMode="auto">
          <a:xfrm>
            <a:off x="1524000" y="4341144"/>
            <a:ext cx="2886075" cy="2314575"/>
          </a:xfrm>
          <a:prstGeom prst="rect">
            <a:avLst/>
          </a:prstGeom>
          <a:noFill/>
          <a:ln w="9525">
            <a:noFill/>
            <a:miter lim="800000"/>
            <a:headEnd/>
            <a:tailEnd/>
          </a:ln>
        </p:spPr>
      </p:pic>
      <p:pic>
        <p:nvPicPr>
          <p:cNvPr id="26633" name="Picture 7" descr="hand_s"/>
          <p:cNvPicPr>
            <a:picLocks noChangeAspect="1" noChangeArrowheads="1"/>
          </p:cNvPicPr>
          <p:nvPr/>
        </p:nvPicPr>
        <p:blipFill>
          <a:blip r:embed="rId5"/>
          <a:srcRect/>
          <a:stretch>
            <a:fillRect/>
          </a:stretch>
        </p:blipFill>
        <p:spPr bwMode="auto">
          <a:xfrm>
            <a:off x="4583113" y="4329113"/>
            <a:ext cx="2886075" cy="2314575"/>
          </a:xfrm>
          <a:prstGeom prst="rect">
            <a:avLst/>
          </a:prstGeom>
          <a:noFill/>
          <a:ln w="9525">
            <a:noFill/>
            <a:miter lim="800000"/>
            <a:headEnd/>
            <a:tailEnd/>
          </a:ln>
        </p:spPr>
      </p:pic>
      <p:sp>
        <p:nvSpPr>
          <p:cNvPr id="12" name="Content Placeholder 2"/>
          <p:cNvSpPr>
            <a:spLocks noGrp="1"/>
          </p:cNvSpPr>
          <p:nvPr>
            <p:ph sz="quarter" idx="1"/>
          </p:nvPr>
        </p:nvSpPr>
        <p:spPr>
          <a:xfrm>
            <a:off x="457200" y="1295400"/>
            <a:ext cx="7467600" cy="1066800"/>
          </a:xfrm>
        </p:spPr>
        <p:txBody>
          <a:bodyPr>
            <a:normAutofit/>
          </a:bodyPr>
          <a:lstStyle/>
          <a:p>
            <a:pPr marL="274320" indent="-274320" algn="just" fontAlgn="auto">
              <a:lnSpc>
                <a:spcPct val="150000"/>
              </a:lnSpc>
              <a:spcAft>
                <a:spcPts val="0"/>
              </a:spcAft>
              <a:buFont typeface="Wingdings"/>
              <a:buChar char=""/>
              <a:defRPr/>
            </a:pPr>
            <a:r>
              <a:rPr lang="fr-FR" sz="2000" dirty="0"/>
              <a:t>Data Points – RGB Values of pixels</a:t>
            </a:r>
          </a:p>
          <a:p>
            <a:pPr marL="274320" indent="-274320" algn="just" fontAlgn="auto">
              <a:lnSpc>
                <a:spcPct val="150000"/>
              </a:lnSpc>
              <a:spcAft>
                <a:spcPts val="0"/>
              </a:spcAft>
              <a:buFont typeface="Wingdings"/>
              <a:buChar char=""/>
              <a:defRPr/>
            </a:pPr>
            <a:r>
              <a:rPr lang="fr-FR" sz="2000" dirty="0"/>
              <a:t>Can be used for Image Segmentation</a:t>
            </a:r>
            <a:endParaRPr lang="en-US" sz="2000" dirty="0"/>
          </a:p>
        </p:txBody>
      </p:sp>
    </p:spTree>
    <p:extLst>
      <p:ext uri="{BB962C8B-B14F-4D97-AF65-F5344CB8AC3E}">
        <p14:creationId xmlns:p14="http://schemas.microsoft.com/office/powerpoint/2010/main" val="2346470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675" y="381000"/>
            <a:ext cx="8229600" cy="1143000"/>
          </a:xfrm>
        </p:spPr>
        <p:txBody>
          <a:bodyPr>
            <a:normAutofit/>
          </a:bodyPr>
          <a:lstStyle/>
          <a:p>
            <a:pPr fontAlgn="auto">
              <a:spcAft>
                <a:spcPts val="0"/>
              </a:spcAft>
              <a:defRPr/>
            </a:pPr>
            <a:r>
              <a:rPr lang="en-US" sz="4400" dirty="0">
                <a:latin typeface="+mn-lt"/>
              </a:rPr>
              <a:t>K-means – Example </a:t>
            </a:r>
          </a:p>
        </p:txBody>
      </p:sp>
      <p:sp>
        <p:nvSpPr>
          <p:cNvPr id="28678" name="Text Box 4"/>
          <p:cNvSpPr txBox="1">
            <a:spLocks noChangeArrowheads="1"/>
          </p:cNvSpPr>
          <p:nvPr/>
        </p:nvSpPr>
        <p:spPr bwMode="auto">
          <a:xfrm>
            <a:off x="1228725" y="5434013"/>
            <a:ext cx="971550" cy="366712"/>
          </a:xfrm>
          <a:prstGeom prst="rect">
            <a:avLst/>
          </a:prstGeom>
          <a:noFill/>
          <a:ln w="9525">
            <a:noFill/>
            <a:miter lim="800000"/>
            <a:headEnd/>
            <a:tailEnd/>
          </a:ln>
        </p:spPr>
        <p:txBody>
          <a:bodyPr wrap="none">
            <a:spAutoFit/>
          </a:bodyPr>
          <a:lstStyle/>
          <a:p>
            <a:r>
              <a:rPr lang="en-US"/>
              <a:t>Original</a:t>
            </a:r>
          </a:p>
        </p:txBody>
      </p:sp>
      <p:pic>
        <p:nvPicPr>
          <p:cNvPr id="28679" name="Picture 5"/>
          <p:cNvPicPr>
            <a:picLocks noChangeAspect="1" noChangeArrowheads="1"/>
          </p:cNvPicPr>
          <p:nvPr/>
        </p:nvPicPr>
        <p:blipFill>
          <a:blip r:embed="rId2"/>
          <a:srcRect/>
          <a:stretch>
            <a:fillRect/>
          </a:stretch>
        </p:blipFill>
        <p:spPr bwMode="auto">
          <a:xfrm>
            <a:off x="406400" y="2082800"/>
            <a:ext cx="2603500" cy="3251200"/>
          </a:xfrm>
          <a:prstGeom prst="rect">
            <a:avLst/>
          </a:prstGeom>
          <a:noFill/>
          <a:ln w="9525">
            <a:noFill/>
            <a:miter lim="800000"/>
            <a:headEnd/>
            <a:tailEnd/>
          </a:ln>
        </p:spPr>
      </p:pic>
      <p:pic>
        <p:nvPicPr>
          <p:cNvPr id="28680" name="Picture 6"/>
          <p:cNvPicPr>
            <a:picLocks noChangeAspect="1" noChangeArrowheads="1"/>
          </p:cNvPicPr>
          <p:nvPr/>
        </p:nvPicPr>
        <p:blipFill>
          <a:blip r:embed="rId3"/>
          <a:srcRect/>
          <a:stretch>
            <a:fillRect/>
          </a:stretch>
        </p:blipFill>
        <p:spPr bwMode="auto">
          <a:xfrm>
            <a:off x="3289300" y="2070100"/>
            <a:ext cx="2603500" cy="3251200"/>
          </a:xfrm>
          <a:prstGeom prst="rect">
            <a:avLst/>
          </a:prstGeom>
          <a:noFill/>
          <a:ln w="9525">
            <a:noFill/>
            <a:miter lim="800000"/>
            <a:headEnd/>
            <a:tailEnd/>
          </a:ln>
        </p:spPr>
      </p:pic>
      <p:pic>
        <p:nvPicPr>
          <p:cNvPr id="28681" name="Picture 7"/>
          <p:cNvPicPr>
            <a:picLocks noChangeAspect="1" noChangeArrowheads="1"/>
          </p:cNvPicPr>
          <p:nvPr/>
        </p:nvPicPr>
        <p:blipFill>
          <a:blip r:embed="rId4"/>
          <a:srcRect/>
          <a:stretch>
            <a:fillRect/>
          </a:stretch>
        </p:blipFill>
        <p:spPr bwMode="auto">
          <a:xfrm>
            <a:off x="6197600" y="2070100"/>
            <a:ext cx="2603500" cy="3251200"/>
          </a:xfrm>
          <a:prstGeom prst="rect">
            <a:avLst/>
          </a:prstGeom>
          <a:noFill/>
          <a:ln w="9525">
            <a:noFill/>
            <a:miter lim="800000"/>
            <a:headEnd/>
            <a:tailEnd/>
          </a:ln>
        </p:spPr>
      </p:pic>
      <p:sp>
        <p:nvSpPr>
          <p:cNvPr id="28682" name="Text Box 8"/>
          <p:cNvSpPr txBox="1">
            <a:spLocks noChangeArrowheads="1"/>
          </p:cNvSpPr>
          <p:nvPr/>
        </p:nvSpPr>
        <p:spPr bwMode="auto">
          <a:xfrm>
            <a:off x="4264025" y="5408613"/>
            <a:ext cx="596900" cy="366712"/>
          </a:xfrm>
          <a:prstGeom prst="rect">
            <a:avLst/>
          </a:prstGeom>
          <a:noFill/>
          <a:ln w="9525">
            <a:noFill/>
            <a:miter lim="800000"/>
            <a:headEnd/>
            <a:tailEnd/>
          </a:ln>
        </p:spPr>
        <p:txBody>
          <a:bodyPr wrap="none">
            <a:spAutoFit/>
          </a:bodyPr>
          <a:lstStyle/>
          <a:p>
            <a:r>
              <a:rPr lang="en-US"/>
              <a:t>K=5</a:t>
            </a:r>
          </a:p>
        </p:txBody>
      </p:sp>
      <p:sp>
        <p:nvSpPr>
          <p:cNvPr id="28683" name="Text Box 9"/>
          <p:cNvSpPr txBox="1">
            <a:spLocks noChangeArrowheads="1"/>
          </p:cNvSpPr>
          <p:nvPr/>
        </p:nvSpPr>
        <p:spPr bwMode="auto">
          <a:xfrm>
            <a:off x="7121525" y="5395913"/>
            <a:ext cx="723900" cy="366712"/>
          </a:xfrm>
          <a:prstGeom prst="rect">
            <a:avLst/>
          </a:prstGeom>
          <a:noFill/>
          <a:ln w="9525">
            <a:noFill/>
            <a:miter lim="800000"/>
            <a:headEnd/>
            <a:tailEnd/>
          </a:ln>
        </p:spPr>
        <p:txBody>
          <a:bodyPr wrap="none">
            <a:spAutoFit/>
          </a:bodyPr>
          <a:lstStyle/>
          <a:p>
            <a:r>
              <a:rPr lang="en-US"/>
              <a:t>K=11</a:t>
            </a:r>
          </a:p>
        </p:txBody>
      </p:sp>
    </p:spTree>
    <p:extLst>
      <p:ext uri="{BB962C8B-B14F-4D97-AF65-F5344CB8AC3E}">
        <p14:creationId xmlns:p14="http://schemas.microsoft.com/office/powerpoint/2010/main" val="4010174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400" dirty="0">
                <a:latin typeface="+mn-lt"/>
              </a:rPr>
              <a:t>K-means – Example </a:t>
            </a:r>
            <a:endParaRPr lang="en-GB" sz="4400" dirty="0">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82967405"/>
              </p:ext>
            </p:extLst>
          </p:nvPr>
        </p:nvGraphicFramePr>
        <p:xfrm>
          <a:off x="228600" y="1447800"/>
          <a:ext cx="2895600" cy="4820920"/>
        </p:xfrm>
        <a:graphic>
          <a:graphicData uri="http://schemas.openxmlformats.org/drawingml/2006/table">
            <a:tbl>
              <a:tblPr firstRow="1" bandRow="1">
                <a:tableStyleId>{5C22544A-7EE6-4342-B048-85BDC9FD1C3A}</a:tableStyleId>
              </a:tblPr>
              <a:tblGrid>
                <a:gridCol w="675640">
                  <a:extLst>
                    <a:ext uri="{9D8B030D-6E8A-4147-A177-3AD203B41FA5}">
                      <a16:colId xmlns:a16="http://schemas.microsoft.com/office/drawing/2014/main" val="20000"/>
                    </a:ext>
                  </a:extLst>
                </a:gridCol>
                <a:gridCol w="1254760">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tblGrid>
              <a:tr h="370840">
                <a:tc>
                  <a:txBody>
                    <a:bodyPr/>
                    <a:lstStyle/>
                    <a:p>
                      <a:endParaRPr lang="en-GB" dirty="0"/>
                    </a:p>
                  </a:txBody>
                  <a:tcPr/>
                </a:tc>
                <a:tc>
                  <a:txBody>
                    <a:bodyPr/>
                    <a:lstStyle/>
                    <a:p>
                      <a:r>
                        <a:rPr lang="en-GB" dirty="0"/>
                        <a:t>Height</a:t>
                      </a:r>
                    </a:p>
                  </a:txBody>
                  <a:tcPr/>
                </a:tc>
                <a:tc>
                  <a:txBody>
                    <a:bodyPr/>
                    <a:lstStyle/>
                    <a:p>
                      <a:r>
                        <a:rPr lang="en-GB" dirty="0"/>
                        <a:t>Weight</a:t>
                      </a:r>
                    </a:p>
                  </a:txBody>
                  <a:tcPr/>
                </a:tc>
                <a:extLst>
                  <a:ext uri="{0D108BD9-81ED-4DB2-BD59-A6C34878D82A}">
                    <a16:rowId xmlns:a16="http://schemas.microsoft.com/office/drawing/2014/main" val="10000"/>
                  </a:ext>
                </a:extLst>
              </a:tr>
              <a:tr h="370840">
                <a:tc>
                  <a:txBody>
                    <a:bodyPr/>
                    <a:lstStyle/>
                    <a:p>
                      <a:r>
                        <a:rPr lang="en-GB" dirty="0"/>
                        <a:t>1</a:t>
                      </a:r>
                    </a:p>
                  </a:txBody>
                  <a:tcPr/>
                </a:tc>
                <a:tc>
                  <a:txBody>
                    <a:bodyPr/>
                    <a:lstStyle/>
                    <a:p>
                      <a:r>
                        <a:rPr lang="en-GB" dirty="0"/>
                        <a:t>185</a:t>
                      </a:r>
                    </a:p>
                  </a:txBody>
                  <a:tcPr/>
                </a:tc>
                <a:tc>
                  <a:txBody>
                    <a:bodyPr/>
                    <a:lstStyle/>
                    <a:p>
                      <a:r>
                        <a:rPr lang="en-GB" dirty="0"/>
                        <a:t>72</a:t>
                      </a:r>
                    </a:p>
                  </a:txBody>
                  <a:tcPr/>
                </a:tc>
                <a:extLst>
                  <a:ext uri="{0D108BD9-81ED-4DB2-BD59-A6C34878D82A}">
                    <a16:rowId xmlns:a16="http://schemas.microsoft.com/office/drawing/2014/main" val="10001"/>
                  </a:ext>
                </a:extLst>
              </a:tr>
              <a:tr h="370840">
                <a:tc>
                  <a:txBody>
                    <a:bodyPr/>
                    <a:lstStyle/>
                    <a:p>
                      <a:r>
                        <a:rPr lang="en-GB" dirty="0"/>
                        <a:t>2</a:t>
                      </a:r>
                    </a:p>
                  </a:txBody>
                  <a:tcPr/>
                </a:tc>
                <a:tc>
                  <a:txBody>
                    <a:bodyPr/>
                    <a:lstStyle/>
                    <a:p>
                      <a:r>
                        <a:rPr lang="en-GB" dirty="0"/>
                        <a:t>170</a:t>
                      </a:r>
                    </a:p>
                  </a:txBody>
                  <a:tcPr/>
                </a:tc>
                <a:tc>
                  <a:txBody>
                    <a:bodyPr/>
                    <a:lstStyle/>
                    <a:p>
                      <a:r>
                        <a:rPr lang="en-GB" dirty="0"/>
                        <a:t>56</a:t>
                      </a:r>
                    </a:p>
                  </a:txBody>
                  <a:tcPr/>
                </a:tc>
                <a:extLst>
                  <a:ext uri="{0D108BD9-81ED-4DB2-BD59-A6C34878D82A}">
                    <a16:rowId xmlns:a16="http://schemas.microsoft.com/office/drawing/2014/main" val="10002"/>
                  </a:ext>
                </a:extLst>
              </a:tr>
              <a:tr h="370840">
                <a:tc>
                  <a:txBody>
                    <a:bodyPr/>
                    <a:lstStyle/>
                    <a:p>
                      <a:r>
                        <a:rPr lang="en-GB" dirty="0"/>
                        <a:t>3</a:t>
                      </a:r>
                    </a:p>
                  </a:txBody>
                  <a:tcPr/>
                </a:tc>
                <a:tc>
                  <a:txBody>
                    <a:bodyPr/>
                    <a:lstStyle/>
                    <a:p>
                      <a:r>
                        <a:rPr lang="en-GB" dirty="0"/>
                        <a:t>168</a:t>
                      </a:r>
                    </a:p>
                  </a:txBody>
                  <a:tcPr/>
                </a:tc>
                <a:tc>
                  <a:txBody>
                    <a:bodyPr/>
                    <a:lstStyle/>
                    <a:p>
                      <a:r>
                        <a:rPr lang="en-GB" dirty="0"/>
                        <a:t>60</a:t>
                      </a:r>
                    </a:p>
                  </a:txBody>
                  <a:tcPr/>
                </a:tc>
                <a:extLst>
                  <a:ext uri="{0D108BD9-81ED-4DB2-BD59-A6C34878D82A}">
                    <a16:rowId xmlns:a16="http://schemas.microsoft.com/office/drawing/2014/main" val="10003"/>
                  </a:ext>
                </a:extLst>
              </a:tr>
              <a:tr h="370840">
                <a:tc>
                  <a:txBody>
                    <a:bodyPr/>
                    <a:lstStyle/>
                    <a:p>
                      <a:r>
                        <a:rPr lang="en-GB" dirty="0"/>
                        <a:t>4</a:t>
                      </a:r>
                    </a:p>
                  </a:txBody>
                  <a:tcPr/>
                </a:tc>
                <a:tc>
                  <a:txBody>
                    <a:bodyPr/>
                    <a:lstStyle/>
                    <a:p>
                      <a:r>
                        <a:rPr lang="en-GB" dirty="0"/>
                        <a:t>179</a:t>
                      </a:r>
                    </a:p>
                  </a:txBody>
                  <a:tcPr/>
                </a:tc>
                <a:tc>
                  <a:txBody>
                    <a:bodyPr/>
                    <a:lstStyle/>
                    <a:p>
                      <a:r>
                        <a:rPr lang="en-GB" dirty="0"/>
                        <a:t>68</a:t>
                      </a:r>
                    </a:p>
                  </a:txBody>
                  <a:tcPr/>
                </a:tc>
                <a:extLst>
                  <a:ext uri="{0D108BD9-81ED-4DB2-BD59-A6C34878D82A}">
                    <a16:rowId xmlns:a16="http://schemas.microsoft.com/office/drawing/2014/main" val="10004"/>
                  </a:ext>
                </a:extLst>
              </a:tr>
              <a:tr h="370840">
                <a:tc>
                  <a:txBody>
                    <a:bodyPr/>
                    <a:lstStyle/>
                    <a:p>
                      <a:r>
                        <a:rPr lang="en-GB" dirty="0"/>
                        <a:t>5</a:t>
                      </a:r>
                    </a:p>
                  </a:txBody>
                  <a:tcPr/>
                </a:tc>
                <a:tc>
                  <a:txBody>
                    <a:bodyPr/>
                    <a:lstStyle/>
                    <a:p>
                      <a:r>
                        <a:rPr lang="en-GB" dirty="0"/>
                        <a:t>182</a:t>
                      </a:r>
                    </a:p>
                  </a:txBody>
                  <a:tcPr/>
                </a:tc>
                <a:tc>
                  <a:txBody>
                    <a:bodyPr/>
                    <a:lstStyle/>
                    <a:p>
                      <a:r>
                        <a:rPr lang="en-GB" dirty="0"/>
                        <a:t>72</a:t>
                      </a:r>
                    </a:p>
                  </a:txBody>
                  <a:tcPr/>
                </a:tc>
                <a:extLst>
                  <a:ext uri="{0D108BD9-81ED-4DB2-BD59-A6C34878D82A}">
                    <a16:rowId xmlns:a16="http://schemas.microsoft.com/office/drawing/2014/main" val="10005"/>
                  </a:ext>
                </a:extLst>
              </a:tr>
              <a:tr h="370840">
                <a:tc>
                  <a:txBody>
                    <a:bodyPr/>
                    <a:lstStyle/>
                    <a:p>
                      <a:r>
                        <a:rPr lang="en-GB" dirty="0"/>
                        <a:t>6</a:t>
                      </a:r>
                    </a:p>
                  </a:txBody>
                  <a:tcPr/>
                </a:tc>
                <a:tc>
                  <a:txBody>
                    <a:bodyPr/>
                    <a:lstStyle/>
                    <a:p>
                      <a:r>
                        <a:rPr lang="en-GB" dirty="0"/>
                        <a:t>188</a:t>
                      </a:r>
                    </a:p>
                  </a:txBody>
                  <a:tcPr/>
                </a:tc>
                <a:tc>
                  <a:txBody>
                    <a:bodyPr/>
                    <a:lstStyle/>
                    <a:p>
                      <a:r>
                        <a:rPr lang="en-GB" dirty="0"/>
                        <a:t>77</a:t>
                      </a:r>
                    </a:p>
                  </a:txBody>
                  <a:tcPr/>
                </a:tc>
                <a:extLst>
                  <a:ext uri="{0D108BD9-81ED-4DB2-BD59-A6C34878D82A}">
                    <a16:rowId xmlns:a16="http://schemas.microsoft.com/office/drawing/2014/main" val="10006"/>
                  </a:ext>
                </a:extLst>
              </a:tr>
              <a:tr h="370840">
                <a:tc>
                  <a:txBody>
                    <a:bodyPr/>
                    <a:lstStyle/>
                    <a:p>
                      <a:r>
                        <a:rPr lang="en-GB" dirty="0"/>
                        <a:t>7</a:t>
                      </a:r>
                    </a:p>
                  </a:txBody>
                  <a:tcPr/>
                </a:tc>
                <a:tc>
                  <a:txBody>
                    <a:bodyPr/>
                    <a:lstStyle/>
                    <a:p>
                      <a:r>
                        <a:rPr lang="en-GB" dirty="0"/>
                        <a:t>180</a:t>
                      </a:r>
                    </a:p>
                  </a:txBody>
                  <a:tcPr/>
                </a:tc>
                <a:tc>
                  <a:txBody>
                    <a:bodyPr/>
                    <a:lstStyle/>
                    <a:p>
                      <a:r>
                        <a:rPr lang="en-GB" dirty="0"/>
                        <a:t>71</a:t>
                      </a:r>
                    </a:p>
                  </a:txBody>
                  <a:tcPr/>
                </a:tc>
                <a:extLst>
                  <a:ext uri="{0D108BD9-81ED-4DB2-BD59-A6C34878D82A}">
                    <a16:rowId xmlns:a16="http://schemas.microsoft.com/office/drawing/2014/main" val="10007"/>
                  </a:ext>
                </a:extLst>
              </a:tr>
              <a:tr h="370840">
                <a:tc>
                  <a:txBody>
                    <a:bodyPr/>
                    <a:lstStyle/>
                    <a:p>
                      <a:r>
                        <a:rPr lang="en-GB" dirty="0"/>
                        <a:t>8</a:t>
                      </a:r>
                    </a:p>
                  </a:txBody>
                  <a:tcPr/>
                </a:tc>
                <a:tc>
                  <a:txBody>
                    <a:bodyPr/>
                    <a:lstStyle/>
                    <a:p>
                      <a:r>
                        <a:rPr lang="en-GB" dirty="0"/>
                        <a:t>180</a:t>
                      </a:r>
                    </a:p>
                  </a:txBody>
                  <a:tcPr/>
                </a:tc>
                <a:tc>
                  <a:txBody>
                    <a:bodyPr/>
                    <a:lstStyle/>
                    <a:p>
                      <a:r>
                        <a:rPr lang="en-GB" dirty="0"/>
                        <a:t>70</a:t>
                      </a:r>
                    </a:p>
                  </a:txBody>
                  <a:tcPr/>
                </a:tc>
                <a:extLst>
                  <a:ext uri="{0D108BD9-81ED-4DB2-BD59-A6C34878D82A}">
                    <a16:rowId xmlns:a16="http://schemas.microsoft.com/office/drawing/2014/main" val="10008"/>
                  </a:ext>
                </a:extLst>
              </a:tr>
              <a:tr h="370840">
                <a:tc>
                  <a:txBody>
                    <a:bodyPr/>
                    <a:lstStyle/>
                    <a:p>
                      <a:r>
                        <a:rPr lang="en-GB" dirty="0"/>
                        <a:t>9</a:t>
                      </a:r>
                    </a:p>
                  </a:txBody>
                  <a:tcPr/>
                </a:tc>
                <a:tc>
                  <a:txBody>
                    <a:bodyPr/>
                    <a:lstStyle/>
                    <a:p>
                      <a:r>
                        <a:rPr lang="en-GB" dirty="0"/>
                        <a:t>183</a:t>
                      </a:r>
                    </a:p>
                  </a:txBody>
                  <a:tcPr/>
                </a:tc>
                <a:tc>
                  <a:txBody>
                    <a:bodyPr/>
                    <a:lstStyle/>
                    <a:p>
                      <a:r>
                        <a:rPr lang="en-GB" dirty="0"/>
                        <a:t>84</a:t>
                      </a:r>
                    </a:p>
                  </a:txBody>
                  <a:tcPr/>
                </a:tc>
                <a:extLst>
                  <a:ext uri="{0D108BD9-81ED-4DB2-BD59-A6C34878D82A}">
                    <a16:rowId xmlns:a16="http://schemas.microsoft.com/office/drawing/2014/main" val="10009"/>
                  </a:ext>
                </a:extLst>
              </a:tr>
              <a:tr h="370840">
                <a:tc>
                  <a:txBody>
                    <a:bodyPr/>
                    <a:lstStyle/>
                    <a:p>
                      <a:r>
                        <a:rPr lang="en-GB" dirty="0"/>
                        <a:t>10</a:t>
                      </a:r>
                    </a:p>
                  </a:txBody>
                  <a:tcPr/>
                </a:tc>
                <a:tc>
                  <a:txBody>
                    <a:bodyPr/>
                    <a:lstStyle/>
                    <a:p>
                      <a:r>
                        <a:rPr lang="en-GB" dirty="0"/>
                        <a:t>180</a:t>
                      </a:r>
                    </a:p>
                  </a:txBody>
                  <a:tcPr/>
                </a:tc>
                <a:tc>
                  <a:txBody>
                    <a:bodyPr/>
                    <a:lstStyle/>
                    <a:p>
                      <a:r>
                        <a:rPr lang="en-GB" dirty="0"/>
                        <a:t>88</a:t>
                      </a:r>
                    </a:p>
                  </a:txBody>
                  <a:tcPr/>
                </a:tc>
                <a:extLst>
                  <a:ext uri="{0D108BD9-81ED-4DB2-BD59-A6C34878D82A}">
                    <a16:rowId xmlns:a16="http://schemas.microsoft.com/office/drawing/2014/main" val="10010"/>
                  </a:ext>
                </a:extLst>
              </a:tr>
              <a:tr h="370840">
                <a:tc>
                  <a:txBody>
                    <a:bodyPr/>
                    <a:lstStyle/>
                    <a:p>
                      <a:r>
                        <a:rPr lang="en-GB" dirty="0"/>
                        <a:t>11</a:t>
                      </a:r>
                    </a:p>
                  </a:txBody>
                  <a:tcPr/>
                </a:tc>
                <a:tc>
                  <a:txBody>
                    <a:bodyPr/>
                    <a:lstStyle/>
                    <a:p>
                      <a:r>
                        <a:rPr lang="en-GB" dirty="0"/>
                        <a:t>180</a:t>
                      </a:r>
                    </a:p>
                  </a:txBody>
                  <a:tcPr/>
                </a:tc>
                <a:tc>
                  <a:txBody>
                    <a:bodyPr/>
                    <a:lstStyle/>
                    <a:p>
                      <a:r>
                        <a:rPr lang="en-GB" dirty="0"/>
                        <a:t>67</a:t>
                      </a:r>
                    </a:p>
                  </a:txBody>
                  <a:tcPr/>
                </a:tc>
                <a:extLst>
                  <a:ext uri="{0D108BD9-81ED-4DB2-BD59-A6C34878D82A}">
                    <a16:rowId xmlns:a16="http://schemas.microsoft.com/office/drawing/2014/main" val="10011"/>
                  </a:ext>
                </a:extLst>
              </a:tr>
              <a:tr h="370840">
                <a:tc>
                  <a:txBody>
                    <a:bodyPr/>
                    <a:lstStyle/>
                    <a:p>
                      <a:r>
                        <a:rPr lang="en-GB" dirty="0"/>
                        <a:t>12</a:t>
                      </a:r>
                    </a:p>
                  </a:txBody>
                  <a:tcPr/>
                </a:tc>
                <a:tc>
                  <a:txBody>
                    <a:bodyPr/>
                    <a:lstStyle/>
                    <a:p>
                      <a:r>
                        <a:rPr lang="en-GB" dirty="0"/>
                        <a:t>177</a:t>
                      </a:r>
                    </a:p>
                  </a:txBody>
                  <a:tcPr/>
                </a:tc>
                <a:tc>
                  <a:txBody>
                    <a:bodyPr/>
                    <a:lstStyle/>
                    <a:p>
                      <a:r>
                        <a:rPr lang="en-GB" dirty="0"/>
                        <a:t>76</a:t>
                      </a:r>
                    </a:p>
                  </a:txBody>
                  <a:tcPr/>
                </a:tc>
                <a:extLst>
                  <a:ext uri="{0D108BD9-81ED-4DB2-BD59-A6C34878D82A}">
                    <a16:rowId xmlns:a16="http://schemas.microsoft.com/office/drawing/2014/main" val="10012"/>
                  </a:ext>
                </a:extLst>
              </a:tr>
            </a:tbl>
          </a:graphicData>
        </a:graphic>
      </p:graphicFrame>
      <p:sp>
        <p:nvSpPr>
          <p:cNvPr id="5" name="Rectangle 4"/>
          <p:cNvSpPr/>
          <p:nvPr/>
        </p:nvSpPr>
        <p:spPr>
          <a:xfrm>
            <a:off x="3242541" y="1442591"/>
            <a:ext cx="5676900" cy="5401479"/>
          </a:xfrm>
          <a:prstGeom prst="rect">
            <a:avLst/>
          </a:prstGeom>
        </p:spPr>
        <p:txBody>
          <a:bodyPr wrap="square">
            <a:spAutoFit/>
          </a:bodyPr>
          <a:lstStyle/>
          <a:p>
            <a:pPr marL="273050" lvl="1" algn="just" defTabSz="1042988">
              <a:lnSpc>
                <a:spcPct val="150000"/>
              </a:lnSpc>
              <a:spcBef>
                <a:spcPts val="600"/>
              </a:spcBef>
              <a:buSzPct val="70000"/>
              <a:buFont typeface="Wingdings" pitchFamily="2" charset="2"/>
              <a:buChar char=""/>
            </a:pPr>
            <a:r>
              <a:rPr lang="en-GB" sz="2000" dirty="0"/>
              <a:t>Euclidean Distance</a:t>
            </a:r>
          </a:p>
          <a:p>
            <a:pPr marL="273050" lvl="1" algn="just" defTabSz="1042988">
              <a:lnSpc>
                <a:spcPct val="150000"/>
              </a:lnSpc>
              <a:spcBef>
                <a:spcPts val="600"/>
              </a:spcBef>
              <a:buSzPct val="70000"/>
            </a:pPr>
            <a:r>
              <a:rPr lang="en-US" sz="2000" dirty="0"/>
              <a:t>√(X</a:t>
            </a:r>
            <a:r>
              <a:rPr lang="en-US" sz="2000" baseline="-25000" dirty="0"/>
              <a:t>0</a:t>
            </a:r>
            <a:r>
              <a:rPr lang="en-US" sz="2000" dirty="0"/>
              <a:t> –</a:t>
            </a:r>
            <a:r>
              <a:rPr lang="en-US" sz="2000" dirty="0" err="1"/>
              <a:t>X</a:t>
            </a:r>
            <a:r>
              <a:rPr lang="en-US" sz="2000" baseline="-25000" dirty="0" err="1"/>
              <a:t>c</a:t>
            </a:r>
            <a:r>
              <a:rPr lang="en-US" sz="2000" dirty="0"/>
              <a:t>)</a:t>
            </a:r>
            <a:r>
              <a:rPr lang="en-US" sz="2000" baseline="30000" dirty="0"/>
              <a:t>2  </a:t>
            </a:r>
            <a:r>
              <a:rPr lang="en-US" sz="2000" dirty="0"/>
              <a:t>+ (Y</a:t>
            </a:r>
            <a:r>
              <a:rPr lang="en-US" sz="2000" baseline="-25000" dirty="0"/>
              <a:t>0</a:t>
            </a:r>
            <a:r>
              <a:rPr lang="en-US" sz="2000" dirty="0"/>
              <a:t> –</a:t>
            </a:r>
            <a:r>
              <a:rPr lang="en-US" sz="2000" dirty="0" err="1"/>
              <a:t>Y</a:t>
            </a:r>
            <a:r>
              <a:rPr lang="en-US" sz="2000" baseline="-25000" dirty="0" err="1"/>
              <a:t>c</a:t>
            </a:r>
            <a:r>
              <a:rPr lang="en-US" sz="2000" dirty="0"/>
              <a:t>)</a:t>
            </a:r>
            <a:r>
              <a:rPr lang="en-US" sz="2000" baseline="30000" dirty="0"/>
              <a:t>2</a:t>
            </a:r>
          </a:p>
          <a:p>
            <a:pPr marL="273050" lvl="1" algn="just" defTabSz="1042988">
              <a:lnSpc>
                <a:spcPct val="150000"/>
              </a:lnSpc>
              <a:spcBef>
                <a:spcPts val="600"/>
              </a:spcBef>
              <a:buSzPct val="70000"/>
            </a:pPr>
            <a:endParaRPr lang="en-GB" sz="2000" dirty="0"/>
          </a:p>
          <a:p>
            <a:pPr marL="273050" lvl="1" algn="just" defTabSz="1042988">
              <a:lnSpc>
                <a:spcPct val="150000"/>
              </a:lnSpc>
              <a:spcBef>
                <a:spcPts val="600"/>
              </a:spcBef>
              <a:buSzPct val="70000"/>
            </a:pPr>
            <a:r>
              <a:rPr lang="en-GB" sz="2000" dirty="0"/>
              <a:t>ED for 3</a:t>
            </a:r>
          </a:p>
          <a:p>
            <a:pPr marL="273050" lvl="1" algn="just" defTabSz="1042988">
              <a:lnSpc>
                <a:spcPct val="150000"/>
              </a:lnSpc>
              <a:spcBef>
                <a:spcPts val="600"/>
              </a:spcBef>
              <a:buSzPct val="70000"/>
            </a:pPr>
            <a:r>
              <a:rPr lang="en-US" sz="2000" dirty="0"/>
              <a:t>K1= √(168 –185)</a:t>
            </a:r>
            <a:r>
              <a:rPr lang="en-US" sz="2000" baseline="30000" dirty="0"/>
              <a:t>2  </a:t>
            </a:r>
            <a:r>
              <a:rPr lang="en-US" sz="2000" dirty="0"/>
              <a:t>+ (60-72)</a:t>
            </a:r>
            <a:r>
              <a:rPr lang="en-US" sz="2000" baseline="30000" dirty="0"/>
              <a:t>2</a:t>
            </a:r>
            <a:r>
              <a:rPr lang="en-US" sz="2000" dirty="0"/>
              <a:t> </a:t>
            </a:r>
            <a:r>
              <a:rPr lang="en-GB" sz="2000" dirty="0"/>
              <a:t>=20.80</a:t>
            </a:r>
          </a:p>
          <a:p>
            <a:pPr marL="273050" lvl="1" algn="just" defTabSz="1042988">
              <a:lnSpc>
                <a:spcPct val="150000"/>
              </a:lnSpc>
              <a:spcBef>
                <a:spcPts val="600"/>
              </a:spcBef>
              <a:buSzPct val="70000"/>
            </a:pPr>
            <a:r>
              <a:rPr lang="en-US" sz="2000" dirty="0"/>
              <a:t>K2= √(168 –170)</a:t>
            </a:r>
            <a:r>
              <a:rPr lang="en-US" sz="2000" baseline="30000" dirty="0"/>
              <a:t>2  </a:t>
            </a:r>
            <a:r>
              <a:rPr lang="en-US" sz="2000" dirty="0"/>
              <a:t>+ (60-56)</a:t>
            </a:r>
            <a:r>
              <a:rPr lang="en-US" sz="2000" baseline="30000" dirty="0"/>
              <a:t>2</a:t>
            </a:r>
            <a:r>
              <a:rPr lang="en-US" sz="2000" dirty="0"/>
              <a:t> </a:t>
            </a:r>
            <a:r>
              <a:rPr lang="en-GB" sz="2000" dirty="0"/>
              <a:t>=4.48</a:t>
            </a:r>
          </a:p>
          <a:p>
            <a:pPr marL="273050" lvl="1" algn="just" defTabSz="1042988">
              <a:lnSpc>
                <a:spcPct val="150000"/>
              </a:lnSpc>
              <a:spcBef>
                <a:spcPts val="600"/>
              </a:spcBef>
              <a:buSzPct val="70000"/>
            </a:pPr>
            <a:r>
              <a:rPr lang="en-GB" sz="2000" dirty="0"/>
              <a:t>New centroid for K2</a:t>
            </a:r>
          </a:p>
          <a:p>
            <a:pPr marL="273050" lvl="1" algn="just" defTabSz="1042988">
              <a:lnSpc>
                <a:spcPct val="150000"/>
              </a:lnSpc>
              <a:spcBef>
                <a:spcPts val="600"/>
              </a:spcBef>
              <a:buSzPct val="70000"/>
            </a:pPr>
            <a:r>
              <a:rPr lang="en-GB" sz="2000" dirty="0"/>
              <a:t>(170+168)/2,  (60+56)/2 = (169, 58)</a:t>
            </a:r>
          </a:p>
          <a:p>
            <a:pPr marL="273050" lvl="1" algn="just" defTabSz="1042988">
              <a:lnSpc>
                <a:spcPct val="150000"/>
              </a:lnSpc>
              <a:spcBef>
                <a:spcPts val="600"/>
              </a:spcBef>
              <a:buSzPct val="70000"/>
            </a:pPr>
            <a:endParaRPr lang="en-GB" sz="2000" dirty="0"/>
          </a:p>
          <a:p>
            <a:pPr marL="273050" lvl="1" algn="just" defTabSz="1042988">
              <a:lnSpc>
                <a:spcPct val="150000"/>
              </a:lnSpc>
              <a:spcBef>
                <a:spcPts val="600"/>
              </a:spcBef>
              <a:buSzPct val="70000"/>
            </a:pPr>
            <a:endParaRPr lang="en-GB" sz="2000" dirty="0"/>
          </a:p>
        </p:txBody>
      </p:sp>
      <p:sp>
        <p:nvSpPr>
          <p:cNvPr id="6" name="Oval 5"/>
          <p:cNvSpPr/>
          <p:nvPr/>
        </p:nvSpPr>
        <p:spPr>
          <a:xfrm>
            <a:off x="3505200" y="2590800"/>
            <a:ext cx="12192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K1</a:t>
            </a:r>
          </a:p>
          <a:p>
            <a:pPr algn="ctr"/>
            <a:r>
              <a:rPr lang="en-GB" dirty="0"/>
              <a:t>185, 72</a:t>
            </a:r>
          </a:p>
        </p:txBody>
      </p:sp>
      <p:sp>
        <p:nvSpPr>
          <p:cNvPr id="7" name="Oval 6"/>
          <p:cNvSpPr/>
          <p:nvPr/>
        </p:nvSpPr>
        <p:spPr>
          <a:xfrm>
            <a:off x="4953000" y="2586259"/>
            <a:ext cx="1295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K2</a:t>
            </a:r>
          </a:p>
          <a:p>
            <a:pPr algn="ctr"/>
            <a:r>
              <a:rPr lang="en-GB" dirty="0"/>
              <a:t>170, 56</a:t>
            </a:r>
          </a:p>
        </p:txBody>
      </p:sp>
      <p:sp>
        <p:nvSpPr>
          <p:cNvPr id="8" name="Oval 7"/>
          <p:cNvSpPr/>
          <p:nvPr/>
        </p:nvSpPr>
        <p:spPr>
          <a:xfrm>
            <a:off x="5476009" y="5905500"/>
            <a:ext cx="12192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K2</a:t>
            </a:r>
          </a:p>
          <a:p>
            <a:pPr algn="ctr"/>
            <a:r>
              <a:rPr lang="en-GB" dirty="0"/>
              <a:t>169, 58</a:t>
            </a:r>
          </a:p>
        </p:txBody>
      </p:sp>
      <p:sp>
        <p:nvSpPr>
          <p:cNvPr id="9" name="Oval 8"/>
          <p:cNvSpPr/>
          <p:nvPr/>
        </p:nvSpPr>
        <p:spPr>
          <a:xfrm>
            <a:off x="3733800" y="5905500"/>
            <a:ext cx="12192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K1</a:t>
            </a:r>
          </a:p>
          <a:p>
            <a:pPr algn="ctr"/>
            <a:r>
              <a:rPr lang="en-GB" dirty="0"/>
              <a:t>185, 72</a:t>
            </a:r>
          </a:p>
        </p:txBody>
      </p:sp>
    </p:spTree>
    <p:extLst>
      <p:ext uri="{BB962C8B-B14F-4D97-AF65-F5344CB8AC3E}">
        <p14:creationId xmlns:p14="http://schemas.microsoft.com/office/powerpoint/2010/main" val="3751282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normAutofit/>
          </a:bodyPr>
          <a:lstStyle/>
          <a:p>
            <a:r>
              <a:rPr lang="en-US" sz="4400" dirty="0">
                <a:latin typeface="+mn-lt"/>
              </a:rPr>
              <a:t>K-means – Example </a:t>
            </a:r>
            <a:endParaRPr lang="en-GB" sz="4400" dirty="0">
              <a:latin typeface="+mn-lt"/>
            </a:endParaRPr>
          </a:p>
        </p:txBody>
      </p:sp>
      <p:sp>
        <p:nvSpPr>
          <p:cNvPr id="3" name="Content Placeholder 2"/>
          <p:cNvSpPr>
            <a:spLocks noGrp="1"/>
          </p:cNvSpPr>
          <p:nvPr>
            <p:ph idx="1"/>
          </p:nvPr>
        </p:nvSpPr>
        <p:spPr>
          <a:xfrm>
            <a:off x="457200" y="1600200"/>
            <a:ext cx="8229600" cy="4724400"/>
          </a:xfrm>
        </p:spPr>
        <p:txBody>
          <a:bodyPr/>
          <a:lstStyle/>
          <a:p>
            <a:pPr marL="273050" lvl="1" algn="just" defTabSz="1042988">
              <a:lnSpc>
                <a:spcPct val="150000"/>
              </a:lnSpc>
              <a:spcBef>
                <a:spcPts val="600"/>
              </a:spcBef>
              <a:buSzPct val="70000"/>
            </a:pPr>
            <a:r>
              <a:rPr lang="en-GB" sz="2000" dirty="0"/>
              <a:t>ED for 4</a:t>
            </a:r>
          </a:p>
          <a:p>
            <a:pPr marL="273050" lvl="1" algn="just" defTabSz="1042988">
              <a:lnSpc>
                <a:spcPct val="150000"/>
              </a:lnSpc>
              <a:spcBef>
                <a:spcPts val="600"/>
              </a:spcBef>
              <a:buSzPct val="70000"/>
            </a:pPr>
            <a:r>
              <a:rPr lang="en-US" sz="2000" dirty="0"/>
              <a:t>K1= √(179 –185)</a:t>
            </a:r>
            <a:r>
              <a:rPr lang="en-US" sz="2000" baseline="30000" dirty="0"/>
              <a:t>2  </a:t>
            </a:r>
            <a:r>
              <a:rPr lang="en-US" sz="2000" dirty="0"/>
              <a:t>+ (68-72)</a:t>
            </a:r>
            <a:r>
              <a:rPr lang="en-US" sz="2000" baseline="30000" dirty="0"/>
              <a:t>2</a:t>
            </a:r>
            <a:r>
              <a:rPr lang="en-US" sz="2000" dirty="0"/>
              <a:t> </a:t>
            </a:r>
            <a:r>
              <a:rPr lang="en-GB" sz="2000" dirty="0"/>
              <a:t>= 6.32</a:t>
            </a:r>
          </a:p>
          <a:p>
            <a:pPr marL="273050" lvl="1" algn="just" defTabSz="1042988">
              <a:lnSpc>
                <a:spcPct val="150000"/>
              </a:lnSpc>
              <a:spcBef>
                <a:spcPts val="600"/>
              </a:spcBef>
              <a:buSzPct val="70000"/>
            </a:pPr>
            <a:r>
              <a:rPr lang="en-US" sz="2000" dirty="0"/>
              <a:t>K2= √(179 –169)</a:t>
            </a:r>
            <a:r>
              <a:rPr lang="en-US" sz="2000" baseline="30000" dirty="0"/>
              <a:t>2  </a:t>
            </a:r>
            <a:r>
              <a:rPr lang="en-US" sz="2000" dirty="0"/>
              <a:t>+ (68-58)</a:t>
            </a:r>
            <a:r>
              <a:rPr lang="en-US" sz="2000" baseline="30000" dirty="0"/>
              <a:t>2</a:t>
            </a:r>
            <a:r>
              <a:rPr lang="en-US" sz="2000" dirty="0"/>
              <a:t> </a:t>
            </a:r>
            <a:r>
              <a:rPr lang="en-GB" sz="2000" dirty="0"/>
              <a:t>= 14.14</a:t>
            </a:r>
          </a:p>
          <a:p>
            <a:pPr marL="273050" lvl="1" algn="just" defTabSz="1042988">
              <a:lnSpc>
                <a:spcPct val="150000"/>
              </a:lnSpc>
              <a:spcBef>
                <a:spcPts val="600"/>
              </a:spcBef>
              <a:buSzPct val="70000"/>
            </a:pPr>
            <a:r>
              <a:rPr lang="en-GB" sz="2000" dirty="0"/>
              <a:t>K1 </a:t>
            </a:r>
            <a:r>
              <a:rPr lang="en-GB" sz="2000" dirty="0">
                <a:sym typeface="Wingdings" pitchFamily="2" charset="2"/>
              </a:rPr>
              <a:t> {1, 4, 5, 6, 7, 8, 9, 10, 11, 12}</a:t>
            </a:r>
          </a:p>
          <a:p>
            <a:pPr marL="273050" lvl="1" algn="just" defTabSz="1042988">
              <a:lnSpc>
                <a:spcPct val="150000"/>
              </a:lnSpc>
              <a:spcBef>
                <a:spcPts val="600"/>
              </a:spcBef>
              <a:buSzPct val="70000"/>
            </a:pPr>
            <a:r>
              <a:rPr lang="en-GB" sz="2000" dirty="0">
                <a:sym typeface="Wingdings" pitchFamily="2" charset="2"/>
              </a:rPr>
              <a:t>K2 {2, 3}</a:t>
            </a:r>
            <a:endParaRPr lang="en-GB" sz="2000" dirty="0"/>
          </a:p>
          <a:p>
            <a:pPr marL="273050" lvl="1" algn="just" defTabSz="1042988">
              <a:lnSpc>
                <a:spcPct val="150000"/>
              </a:lnSpc>
              <a:spcBef>
                <a:spcPts val="600"/>
              </a:spcBef>
              <a:buSzPct val="70000"/>
            </a:pPr>
            <a:endParaRPr lang="en-GB" sz="2000" dirty="0"/>
          </a:p>
          <a:p>
            <a:endParaRPr lang="en-GB" dirty="0"/>
          </a:p>
        </p:txBody>
      </p:sp>
    </p:spTree>
    <p:extLst>
      <p:ext uri="{BB962C8B-B14F-4D97-AF65-F5344CB8AC3E}">
        <p14:creationId xmlns:p14="http://schemas.microsoft.com/office/powerpoint/2010/main" val="3301218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5561F6-C7D7-4ADF-8CE5-2F58EDF134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806575" y="250825"/>
            <a:ext cx="5378450" cy="7010400"/>
          </a:xfrm>
          <a:prstGeom prst="rect">
            <a:avLst/>
          </a:prstGeom>
        </p:spPr>
      </p:pic>
      <p:sp>
        <p:nvSpPr>
          <p:cNvPr id="5" name="Title 1"/>
          <p:cNvSpPr txBox="1">
            <a:spLocks/>
          </p:cNvSpPr>
          <p:nvPr/>
        </p:nvSpPr>
        <p:spPr>
          <a:xfrm>
            <a:off x="457200" y="76200"/>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defRPr/>
            </a:pPr>
            <a:r>
              <a:rPr lang="en-US" sz="4400" dirty="0">
                <a:latin typeface="+mn-lt"/>
              </a:rPr>
              <a:t>K-means – Example </a:t>
            </a:r>
          </a:p>
        </p:txBody>
      </p:sp>
    </p:spTree>
    <p:extLst>
      <p:ext uri="{BB962C8B-B14F-4D97-AF65-F5344CB8AC3E}">
        <p14:creationId xmlns:p14="http://schemas.microsoft.com/office/powerpoint/2010/main" val="1505332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ece of paper with writing on it&#10;&#10;Description automatically generated with medium confidence">
            <a:extLst>
              <a:ext uri="{FF2B5EF4-FFF2-40B4-BE49-F238E27FC236}">
                <a16:creationId xmlns:a16="http://schemas.microsoft.com/office/drawing/2014/main" id="{B5779D66-4F77-4DAF-8AAC-609A7BE7680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089"/>
          <a:stretch/>
        </p:blipFill>
        <p:spPr>
          <a:xfrm rot="16200000">
            <a:off x="1720852" y="-44450"/>
            <a:ext cx="5854698" cy="7619997"/>
          </a:xfrm>
          <a:prstGeom prst="rect">
            <a:avLst/>
          </a:prstGeom>
        </p:spPr>
      </p:pic>
      <p:sp>
        <p:nvSpPr>
          <p:cNvPr id="3" name="Title 1"/>
          <p:cNvSpPr txBox="1">
            <a:spLocks/>
          </p:cNvSpPr>
          <p:nvPr/>
        </p:nvSpPr>
        <p:spPr>
          <a:xfrm>
            <a:off x="457200" y="76200"/>
            <a:ext cx="8229600" cy="1143000"/>
          </a:xfrm>
          <a:prstGeom prst="rect">
            <a:avLst/>
          </a:prstGeom>
        </p:spPr>
        <p:txBody>
          <a:bodyPr>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defRPr/>
            </a:pPr>
            <a:r>
              <a:rPr lang="en-US" sz="4400">
                <a:latin typeface="+mn-lt"/>
              </a:rPr>
              <a:t>K-means – Example </a:t>
            </a:r>
            <a:endParaRPr lang="en-US" sz="4400" dirty="0">
              <a:latin typeface="+mn-lt"/>
            </a:endParaRPr>
          </a:p>
        </p:txBody>
      </p:sp>
    </p:spTree>
    <p:extLst>
      <p:ext uri="{BB962C8B-B14F-4D97-AF65-F5344CB8AC3E}">
        <p14:creationId xmlns:p14="http://schemas.microsoft.com/office/powerpoint/2010/main" val="1630902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pPr fontAlgn="auto">
              <a:spcAft>
                <a:spcPts val="0"/>
              </a:spcAft>
              <a:defRPr/>
            </a:pPr>
            <a:r>
              <a:rPr lang="en-US" sz="4400" dirty="0">
                <a:latin typeface="+mn-lt"/>
              </a:rPr>
              <a:t>K-means – Example </a:t>
            </a:r>
          </a:p>
        </p:txBody>
      </p:sp>
      <p:sp>
        <p:nvSpPr>
          <p:cNvPr id="19459" name="Content Placeholder 2"/>
          <p:cNvSpPr>
            <a:spLocks noGrp="1"/>
          </p:cNvSpPr>
          <p:nvPr>
            <p:ph sz="quarter" idx="1"/>
          </p:nvPr>
        </p:nvSpPr>
        <p:spPr>
          <a:xfrm>
            <a:off x="457200" y="1462539"/>
            <a:ext cx="8382000" cy="1371600"/>
          </a:xfrm>
        </p:spPr>
        <p:txBody>
          <a:bodyPr>
            <a:normAutofit lnSpcReduction="10000"/>
          </a:bodyPr>
          <a:lstStyle/>
          <a:p>
            <a:pPr marL="273050" lvl="1" algn="just" defTabSz="1042988">
              <a:lnSpc>
                <a:spcPct val="150000"/>
              </a:lnSpc>
              <a:spcBef>
                <a:spcPts val="600"/>
              </a:spcBef>
              <a:buSzPct val="70000"/>
              <a:buFont typeface="Wingdings" pitchFamily="2" charset="2"/>
              <a:buChar char=""/>
            </a:pPr>
            <a:r>
              <a:rPr lang="en-GB" sz="2000" dirty="0"/>
              <a:t>Suppose we have 4 medicines and each has two attributes (pH and weight index). Our goal is to group these objects into K=2  clusters of medicine</a:t>
            </a:r>
            <a:endParaRPr lang="en-US" sz="2000" dirty="0"/>
          </a:p>
          <a:p>
            <a:pPr algn="just" defTabSz="1042988">
              <a:lnSpc>
                <a:spcPct val="150000"/>
              </a:lnSpc>
            </a:pPr>
            <a:endParaRPr lang="en-US" dirty="0"/>
          </a:p>
        </p:txBody>
      </p:sp>
      <p:graphicFrame>
        <p:nvGraphicFramePr>
          <p:cNvPr id="7" name="Group 41"/>
          <p:cNvGraphicFramePr>
            <a:graphicFrameLocks noGrp="1"/>
          </p:cNvGraphicFramePr>
          <p:nvPr>
            <p:extLst>
              <p:ext uri="{D42A27DB-BD31-4B8C-83A1-F6EECF244321}">
                <p14:modId xmlns:p14="http://schemas.microsoft.com/office/powerpoint/2010/main" val="801658880"/>
              </p:ext>
            </p:extLst>
          </p:nvPr>
        </p:nvGraphicFramePr>
        <p:xfrm>
          <a:off x="685800" y="3429000"/>
          <a:ext cx="3810000" cy="1828800"/>
        </p:xfrm>
        <a:graphic>
          <a:graphicData uri="http://schemas.openxmlformats.org/drawingml/2006/table">
            <a:tbl>
              <a:tblPr/>
              <a:tblGrid>
                <a:gridCol w="1352661">
                  <a:extLst>
                    <a:ext uri="{9D8B030D-6E8A-4147-A177-3AD203B41FA5}">
                      <a16:colId xmlns:a16="http://schemas.microsoft.com/office/drawing/2014/main" val="20000"/>
                    </a:ext>
                  </a:extLst>
                </a:gridCol>
                <a:gridCol w="1140465">
                  <a:extLst>
                    <a:ext uri="{9D8B030D-6E8A-4147-A177-3AD203B41FA5}">
                      <a16:colId xmlns:a16="http://schemas.microsoft.com/office/drawing/2014/main" val="20001"/>
                    </a:ext>
                  </a:extLst>
                </a:gridCol>
                <a:gridCol w="1316874">
                  <a:extLst>
                    <a:ext uri="{9D8B030D-6E8A-4147-A177-3AD203B41FA5}">
                      <a16:colId xmlns:a16="http://schemas.microsoft.com/office/drawing/2014/main" val="20002"/>
                    </a:ext>
                  </a:extLst>
                </a:gridCol>
              </a:tblGrid>
              <a:tr h="289264">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tx1"/>
                          </a:solidFill>
                          <a:effectLst/>
                          <a:latin typeface="+mn-lt"/>
                        </a:rPr>
                        <a:t>Medicine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tx1"/>
                          </a:solidFill>
                          <a:effectLst/>
                          <a:latin typeface="+mn-lt"/>
                        </a:rPr>
                        <a:t>Weight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tx1"/>
                          </a:solidFill>
                          <a:effectLst/>
                          <a:latin typeface="+mn-lt"/>
                        </a:rPr>
                        <a:t>pH-Index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120">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1534">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1534">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1534">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9489" name="Group 42"/>
          <p:cNvGrpSpPr>
            <a:grpSpLocks/>
          </p:cNvGrpSpPr>
          <p:nvPr/>
        </p:nvGrpSpPr>
        <p:grpSpPr bwMode="auto">
          <a:xfrm>
            <a:off x="5148330" y="2929476"/>
            <a:ext cx="3429000" cy="3276600"/>
            <a:chOff x="3224" y="1614"/>
            <a:chExt cx="2982" cy="2634"/>
          </a:xfrm>
        </p:grpSpPr>
        <p:pic>
          <p:nvPicPr>
            <p:cNvPr id="19490" name="Picture 36"/>
            <p:cNvPicPr>
              <a:picLocks noChangeAspect="1" noChangeArrowheads="1"/>
            </p:cNvPicPr>
            <p:nvPr/>
          </p:nvPicPr>
          <p:blipFill>
            <a:blip r:embed="rId2"/>
            <a:srcRect/>
            <a:stretch>
              <a:fillRect/>
            </a:stretch>
          </p:blipFill>
          <p:spPr bwMode="auto">
            <a:xfrm>
              <a:off x="3224" y="1614"/>
              <a:ext cx="2982" cy="2634"/>
            </a:xfrm>
            <a:prstGeom prst="rect">
              <a:avLst/>
            </a:prstGeom>
            <a:noFill/>
            <a:ln w="9525">
              <a:noFill/>
              <a:miter lim="800000"/>
              <a:headEnd/>
              <a:tailEnd/>
            </a:ln>
          </p:spPr>
        </p:pic>
        <p:sp>
          <p:nvSpPr>
            <p:cNvPr id="19491" name="Text Box 37"/>
            <p:cNvSpPr txBox="1">
              <a:spLocks noChangeArrowheads="1"/>
            </p:cNvSpPr>
            <p:nvPr/>
          </p:nvSpPr>
          <p:spPr bwMode="auto">
            <a:xfrm>
              <a:off x="4040" y="2948"/>
              <a:ext cx="212" cy="250"/>
            </a:xfrm>
            <a:prstGeom prst="rect">
              <a:avLst/>
            </a:prstGeom>
            <a:noFill/>
            <a:ln w="9525">
              <a:noFill/>
              <a:miter lim="800000"/>
              <a:headEnd/>
              <a:tailEnd/>
            </a:ln>
          </p:spPr>
          <p:txBody>
            <a:bodyPr wrap="none">
              <a:spAutoFit/>
            </a:bodyPr>
            <a:lstStyle/>
            <a:p>
              <a:pPr defTabSz="1042988"/>
              <a:r>
                <a:rPr lang="en-GB" sz="2000" dirty="0">
                  <a:latin typeface="Tahoma" pitchFamily="34" charset="0"/>
                </a:rPr>
                <a:t>A</a:t>
              </a:r>
            </a:p>
          </p:txBody>
        </p:sp>
        <p:sp>
          <p:nvSpPr>
            <p:cNvPr id="19492" name="Text Box 38"/>
            <p:cNvSpPr txBox="1">
              <a:spLocks noChangeArrowheads="1"/>
            </p:cNvSpPr>
            <p:nvPr/>
          </p:nvSpPr>
          <p:spPr bwMode="auto">
            <a:xfrm>
              <a:off x="4424" y="2948"/>
              <a:ext cx="210" cy="250"/>
            </a:xfrm>
            <a:prstGeom prst="rect">
              <a:avLst/>
            </a:prstGeom>
            <a:noFill/>
            <a:ln w="9525">
              <a:noFill/>
              <a:miter lim="800000"/>
              <a:headEnd/>
              <a:tailEnd/>
            </a:ln>
          </p:spPr>
          <p:txBody>
            <a:bodyPr wrap="none">
              <a:spAutoFit/>
            </a:bodyPr>
            <a:lstStyle/>
            <a:p>
              <a:pPr defTabSz="1042988"/>
              <a:r>
                <a:rPr lang="en-GB" sz="2000" dirty="0">
                  <a:latin typeface="Tahoma" pitchFamily="34" charset="0"/>
                </a:rPr>
                <a:t>B</a:t>
              </a:r>
            </a:p>
          </p:txBody>
        </p:sp>
        <p:sp>
          <p:nvSpPr>
            <p:cNvPr id="19493" name="Text Box 39"/>
            <p:cNvSpPr txBox="1">
              <a:spLocks noChangeArrowheads="1"/>
            </p:cNvSpPr>
            <p:nvPr/>
          </p:nvSpPr>
          <p:spPr bwMode="auto">
            <a:xfrm>
              <a:off x="5192" y="2094"/>
              <a:ext cx="223" cy="250"/>
            </a:xfrm>
            <a:prstGeom prst="rect">
              <a:avLst/>
            </a:prstGeom>
            <a:noFill/>
            <a:ln w="9525">
              <a:noFill/>
              <a:miter lim="800000"/>
              <a:headEnd/>
              <a:tailEnd/>
            </a:ln>
          </p:spPr>
          <p:txBody>
            <a:bodyPr>
              <a:spAutoFit/>
            </a:bodyPr>
            <a:lstStyle/>
            <a:p>
              <a:pPr defTabSz="1042988"/>
              <a:r>
                <a:rPr lang="en-GB" sz="2000" dirty="0">
                  <a:latin typeface="Tahoma" pitchFamily="34" charset="0"/>
                </a:rPr>
                <a:t>C</a:t>
              </a:r>
            </a:p>
          </p:txBody>
        </p:sp>
        <p:sp>
          <p:nvSpPr>
            <p:cNvPr id="19494" name="Text Box 40"/>
            <p:cNvSpPr txBox="1">
              <a:spLocks noChangeArrowheads="1"/>
            </p:cNvSpPr>
            <p:nvPr/>
          </p:nvSpPr>
          <p:spPr bwMode="auto">
            <a:xfrm>
              <a:off x="5576" y="1700"/>
              <a:ext cx="225" cy="250"/>
            </a:xfrm>
            <a:prstGeom prst="rect">
              <a:avLst/>
            </a:prstGeom>
            <a:noFill/>
            <a:ln w="9525">
              <a:noFill/>
              <a:miter lim="800000"/>
              <a:headEnd/>
              <a:tailEnd/>
            </a:ln>
          </p:spPr>
          <p:txBody>
            <a:bodyPr wrap="none">
              <a:spAutoFit/>
            </a:bodyPr>
            <a:lstStyle/>
            <a:p>
              <a:pPr defTabSz="1042988"/>
              <a:r>
                <a:rPr lang="en-GB" sz="2000" dirty="0">
                  <a:latin typeface="Tahoma" pitchFamily="34" charset="0"/>
                </a:rPr>
                <a:t>D</a:t>
              </a:r>
            </a:p>
          </p:txBody>
        </p:sp>
      </p:grpSp>
    </p:spTree>
    <p:extLst>
      <p:ext uri="{BB962C8B-B14F-4D97-AF65-F5344CB8AC3E}">
        <p14:creationId xmlns:p14="http://schemas.microsoft.com/office/powerpoint/2010/main" val="2629569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pPr fontAlgn="auto">
              <a:spcAft>
                <a:spcPts val="0"/>
              </a:spcAft>
              <a:defRPr/>
            </a:pPr>
            <a:r>
              <a:rPr lang="en-US" sz="4400" dirty="0">
                <a:latin typeface="+mn-lt"/>
              </a:rPr>
              <a:t>K-means – Example </a:t>
            </a:r>
          </a:p>
        </p:txBody>
      </p:sp>
      <p:sp>
        <p:nvSpPr>
          <p:cNvPr id="3" name="Content Placeholder 2"/>
          <p:cNvSpPr>
            <a:spLocks noGrp="1"/>
          </p:cNvSpPr>
          <p:nvPr>
            <p:ph sz="quarter" idx="1"/>
          </p:nvPr>
        </p:nvSpPr>
        <p:spPr>
          <a:xfrm>
            <a:off x="457200" y="1447800"/>
            <a:ext cx="7924800" cy="685800"/>
          </a:xfrm>
        </p:spPr>
        <p:txBody>
          <a:bodyPr>
            <a:normAutofit/>
          </a:bodyPr>
          <a:lstStyle/>
          <a:p>
            <a:pPr marL="274320" lvl="1" indent="-274320" fontAlgn="auto">
              <a:spcBef>
                <a:spcPts val="600"/>
              </a:spcBef>
              <a:spcAft>
                <a:spcPts val="0"/>
              </a:spcAft>
              <a:buSzPct val="70000"/>
              <a:buFont typeface="Wingdings"/>
              <a:buChar char=""/>
              <a:defRPr/>
            </a:pPr>
            <a:r>
              <a:rPr lang="en-GB" sz="2200" dirty="0"/>
              <a:t>Compute the distance between all samples and </a:t>
            </a:r>
            <a:r>
              <a:rPr lang="en-GB" sz="2200" i="1" dirty="0"/>
              <a:t>K</a:t>
            </a:r>
            <a:r>
              <a:rPr lang="en-GB" sz="2200" dirty="0"/>
              <a:t> centroids</a:t>
            </a:r>
          </a:p>
          <a:p>
            <a:pPr marL="274320" indent="-274320" fontAlgn="auto">
              <a:spcAft>
                <a:spcPts val="0"/>
              </a:spcAft>
              <a:buFont typeface="Wingdings"/>
              <a:buChar char=""/>
              <a:defRPr/>
            </a:pPr>
            <a:endParaRPr lang="en-US" dirty="0"/>
          </a:p>
          <a:p>
            <a:pPr marL="274320" indent="-274320" fontAlgn="auto">
              <a:spcAft>
                <a:spcPts val="0"/>
              </a:spcAft>
              <a:buFont typeface="Wingdings"/>
              <a:buChar char=""/>
              <a:defRPr/>
            </a:pPr>
            <a:endParaRPr lang="en-US" dirty="0"/>
          </a:p>
        </p:txBody>
      </p:sp>
      <p:graphicFrame>
        <p:nvGraphicFramePr>
          <p:cNvPr id="2050" name="Object 11"/>
          <p:cNvGraphicFramePr>
            <a:graphicFrameLocks noChangeAspect="1"/>
          </p:cNvGraphicFramePr>
          <p:nvPr/>
        </p:nvGraphicFramePr>
        <p:xfrm>
          <a:off x="1905000" y="2133600"/>
          <a:ext cx="2036763" cy="463550"/>
        </p:xfrm>
        <a:graphic>
          <a:graphicData uri="http://schemas.openxmlformats.org/presentationml/2006/ole">
            <mc:AlternateContent xmlns:mc="http://schemas.openxmlformats.org/markup-compatibility/2006">
              <mc:Choice xmlns:v="urn:schemas-microsoft-com:vml" Requires="v">
                <p:oleObj name="Equation" r:id="rId2" imgW="723272" imgH="177646" progId="Equation.3">
                  <p:embed/>
                </p:oleObj>
              </mc:Choice>
              <mc:Fallback>
                <p:oleObj name="Equation" r:id="rId2" imgW="723272" imgH="177646"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133600"/>
                        <a:ext cx="2036763" cy="463550"/>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pic>
        <p:nvPicPr>
          <p:cNvPr id="2055" name="Picture 5" descr="NumericalExample_clip_image012"/>
          <p:cNvPicPr>
            <a:picLocks noChangeAspect="1" noChangeArrowheads="1"/>
          </p:cNvPicPr>
          <p:nvPr/>
        </p:nvPicPr>
        <p:blipFill>
          <a:blip r:embed="rId4"/>
          <a:srcRect/>
          <a:stretch>
            <a:fillRect/>
          </a:stretch>
        </p:blipFill>
        <p:spPr bwMode="auto">
          <a:xfrm>
            <a:off x="5029200" y="2743200"/>
            <a:ext cx="3200400" cy="1279525"/>
          </a:xfrm>
          <a:prstGeom prst="rect">
            <a:avLst/>
          </a:prstGeom>
          <a:noFill/>
          <a:ln w="9525">
            <a:noFill/>
            <a:miter lim="800000"/>
            <a:headEnd/>
            <a:tailEnd/>
          </a:ln>
        </p:spPr>
      </p:pic>
      <p:sp>
        <p:nvSpPr>
          <p:cNvPr id="2056" name="Rectangle 12"/>
          <p:cNvSpPr>
            <a:spLocks noChangeArrowheads="1"/>
          </p:cNvSpPr>
          <p:nvPr/>
        </p:nvSpPr>
        <p:spPr bwMode="auto">
          <a:xfrm>
            <a:off x="6248400" y="2652713"/>
            <a:ext cx="457200" cy="623887"/>
          </a:xfrm>
          <a:prstGeom prst="rect">
            <a:avLst/>
          </a:prstGeom>
          <a:noFill/>
          <a:ln w="9525">
            <a:solidFill>
              <a:srgbClr val="FF0000"/>
            </a:solidFill>
            <a:miter lim="800000"/>
            <a:headEnd/>
            <a:tailEnd/>
          </a:ln>
        </p:spPr>
        <p:txBody>
          <a:bodyPr wrap="none" anchor="ctr"/>
          <a:lstStyle/>
          <a:p>
            <a:endParaRPr lang="en-US" dirty="0">
              <a:latin typeface="Century Schoolbook" pitchFamily="18" charset="0"/>
            </a:endParaRPr>
          </a:p>
        </p:txBody>
      </p:sp>
      <p:sp>
        <p:nvSpPr>
          <p:cNvPr id="2057" name="Rectangle 14"/>
          <p:cNvSpPr>
            <a:spLocks noChangeArrowheads="1"/>
          </p:cNvSpPr>
          <p:nvPr/>
        </p:nvSpPr>
        <p:spPr bwMode="auto">
          <a:xfrm>
            <a:off x="4876800" y="4114800"/>
            <a:ext cx="3733800" cy="1143000"/>
          </a:xfrm>
          <a:prstGeom prst="rect">
            <a:avLst/>
          </a:prstGeom>
          <a:noFill/>
          <a:ln w="9525">
            <a:solidFill>
              <a:srgbClr val="FF0000"/>
            </a:solidFill>
            <a:miter lim="800000"/>
            <a:headEnd/>
            <a:tailEnd/>
          </a:ln>
        </p:spPr>
        <p:txBody>
          <a:bodyPr wrap="none" anchor="ctr"/>
          <a:lstStyle/>
          <a:p>
            <a:endParaRPr lang="en-US" dirty="0">
              <a:latin typeface="Century Schoolbook" pitchFamily="18" charset="0"/>
            </a:endParaRPr>
          </a:p>
        </p:txBody>
      </p:sp>
      <p:graphicFrame>
        <p:nvGraphicFramePr>
          <p:cNvPr id="2051" name="Object 7"/>
          <p:cNvGraphicFramePr>
            <a:graphicFrameLocks noChangeAspect="1"/>
          </p:cNvGraphicFramePr>
          <p:nvPr/>
        </p:nvGraphicFramePr>
        <p:xfrm>
          <a:off x="4876800" y="4195763"/>
          <a:ext cx="3581400" cy="1114425"/>
        </p:xfrm>
        <a:graphic>
          <a:graphicData uri="http://schemas.openxmlformats.org/presentationml/2006/ole">
            <mc:AlternateContent xmlns:mc="http://schemas.openxmlformats.org/markup-compatibility/2006">
              <mc:Choice xmlns:v="urn:schemas-microsoft-com:vml" Requires="v">
                <p:oleObj name="Equation" r:id="rId5" imgW="1803400" imgH="482600" progId="Equation.3">
                  <p:embed/>
                </p:oleObj>
              </mc:Choice>
              <mc:Fallback>
                <p:oleObj name="Equation" r:id="rId5" imgW="1803400" imgH="482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4195763"/>
                        <a:ext cx="3581400" cy="1114425"/>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pic>
        <p:nvPicPr>
          <p:cNvPr id="2058" name="Picture 5"/>
          <p:cNvPicPr>
            <a:picLocks noChangeAspect="1" noChangeArrowheads="1"/>
          </p:cNvPicPr>
          <p:nvPr/>
        </p:nvPicPr>
        <p:blipFill>
          <a:blip r:embed="rId7"/>
          <a:srcRect/>
          <a:stretch>
            <a:fillRect/>
          </a:stretch>
        </p:blipFill>
        <p:spPr bwMode="auto">
          <a:xfrm>
            <a:off x="381000" y="2514600"/>
            <a:ext cx="4352925" cy="3552825"/>
          </a:xfrm>
          <a:prstGeom prst="rect">
            <a:avLst/>
          </a:prstGeom>
          <a:noFill/>
          <a:ln w="9525">
            <a:noFill/>
            <a:miter lim="800000"/>
            <a:headEnd/>
            <a:tailEnd/>
          </a:ln>
        </p:spPr>
      </p:pic>
      <p:cxnSp>
        <p:nvCxnSpPr>
          <p:cNvPr id="17" name="Straight Arrow Connector 16"/>
          <p:cNvCxnSpPr/>
          <p:nvPr/>
        </p:nvCxnSpPr>
        <p:spPr>
          <a:xfrm rot="5400000">
            <a:off x="952500" y="3314700"/>
            <a:ext cx="1905000" cy="457200"/>
          </a:xfrm>
          <a:prstGeom prst="straightConnector1">
            <a:avLst/>
          </a:prstGeom>
          <a:ln>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1714500" y="3162300"/>
            <a:ext cx="2057400" cy="762000"/>
          </a:xfrm>
          <a:prstGeom prst="straightConnector1">
            <a:avLst/>
          </a:prstGeom>
          <a:ln>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276600" y="1981200"/>
            <a:ext cx="2286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848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pPr fontAlgn="auto">
              <a:spcAft>
                <a:spcPts val="0"/>
              </a:spcAft>
              <a:defRPr/>
            </a:pPr>
            <a:r>
              <a:rPr lang="en-US" sz="4400" dirty="0">
                <a:latin typeface="+mn-lt"/>
              </a:rPr>
              <a:t>K-means – Example </a:t>
            </a:r>
          </a:p>
        </p:txBody>
      </p:sp>
      <p:sp>
        <p:nvSpPr>
          <p:cNvPr id="20483" name="Content Placeholder 2"/>
          <p:cNvSpPr>
            <a:spLocks noGrp="1"/>
          </p:cNvSpPr>
          <p:nvPr>
            <p:ph sz="quarter" idx="1"/>
          </p:nvPr>
        </p:nvSpPr>
        <p:spPr>
          <a:xfrm>
            <a:off x="457200" y="1600200"/>
            <a:ext cx="7467600" cy="609600"/>
          </a:xfrm>
        </p:spPr>
        <p:txBody>
          <a:bodyPr>
            <a:normAutofit/>
          </a:bodyPr>
          <a:lstStyle/>
          <a:p>
            <a:pPr marL="273050" lvl="1">
              <a:spcBef>
                <a:spcPts val="600"/>
              </a:spcBef>
              <a:buSzPct val="70000"/>
              <a:buFont typeface="Wingdings" pitchFamily="2" charset="2"/>
              <a:buChar char=""/>
            </a:pPr>
            <a:r>
              <a:rPr lang="en-GB" sz="2000" dirty="0"/>
              <a:t>Assign the sample to its closest cluster</a:t>
            </a:r>
          </a:p>
          <a:p>
            <a:endParaRPr lang="en-US" sz="2400" dirty="0"/>
          </a:p>
        </p:txBody>
      </p:sp>
      <p:sp>
        <p:nvSpPr>
          <p:cNvPr id="20487" name="Content Placeholder 2"/>
          <p:cNvSpPr txBox="1">
            <a:spLocks/>
          </p:cNvSpPr>
          <p:nvPr/>
        </p:nvSpPr>
        <p:spPr bwMode="auto">
          <a:xfrm>
            <a:off x="457200" y="2133600"/>
            <a:ext cx="4038600" cy="4267200"/>
          </a:xfrm>
          <a:prstGeom prst="rect">
            <a:avLst/>
          </a:prstGeom>
          <a:noFill/>
          <a:ln w="9525">
            <a:noFill/>
            <a:miter lim="800000"/>
            <a:headEnd/>
            <a:tailEnd/>
          </a:ln>
        </p:spPr>
        <p:txBody>
          <a:bodyPr/>
          <a:lstStyle/>
          <a:p>
            <a:pPr marL="273050" lvl="1" indent="-273050" algn="just">
              <a:spcBef>
                <a:spcPts val="600"/>
              </a:spcBef>
              <a:buClr>
                <a:schemeClr val="accent1"/>
              </a:buClr>
              <a:buSzPct val="70000"/>
              <a:buFont typeface="Wingdings" pitchFamily="2" charset="2"/>
              <a:buChar char=""/>
            </a:pPr>
            <a:r>
              <a:rPr lang="en-US" sz="2000" dirty="0"/>
              <a:t>An elements in a row of the Group matrix below is 1 if and only if the object is assigned to that group</a:t>
            </a:r>
          </a:p>
          <a:p>
            <a:pPr marL="273050" lvl="1" indent="-273050" algn="just">
              <a:spcBef>
                <a:spcPts val="600"/>
              </a:spcBef>
              <a:buClr>
                <a:schemeClr val="accent1"/>
              </a:buClr>
              <a:buSzPct val="70000"/>
              <a:buFont typeface="Wingdings" pitchFamily="2" charset="2"/>
              <a:buChar char=""/>
            </a:pPr>
            <a:endParaRPr lang="en-GB" sz="2000" dirty="0"/>
          </a:p>
          <a:p>
            <a:pPr marL="273050" indent="-273050" algn="just">
              <a:spcBef>
                <a:spcPts val="600"/>
              </a:spcBef>
              <a:buClr>
                <a:schemeClr val="accent1"/>
              </a:buClr>
              <a:buSzPct val="70000"/>
              <a:buFont typeface="Wingdings" pitchFamily="2" charset="2"/>
              <a:buChar char=""/>
            </a:pPr>
            <a:endParaRPr lang="en-US" sz="2000" dirty="0"/>
          </a:p>
        </p:txBody>
      </p:sp>
      <p:pic>
        <p:nvPicPr>
          <p:cNvPr id="20488" name="Picture 8" descr="NumericalExample_clip_image018"/>
          <p:cNvPicPr>
            <a:picLocks noChangeAspect="1" noChangeArrowheads="1"/>
          </p:cNvPicPr>
          <p:nvPr/>
        </p:nvPicPr>
        <p:blipFill>
          <a:blip r:embed="rId2"/>
          <a:srcRect/>
          <a:stretch>
            <a:fillRect/>
          </a:stretch>
        </p:blipFill>
        <p:spPr bwMode="auto">
          <a:xfrm>
            <a:off x="914400" y="4550343"/>
            <a:ext cx="2819400" cy="960438"/>
          </a:xfrm>
          <a:prstGeom prst="rect">
            <a:avLst/>
          </a:prstGeom>
          <a:noFill/>
          <a:ln w="9525">
            <a:noFill/>
            <a:miter lim="800000"/>
            <a:headEnd/>
            <a:tailEnd/>
          </a:ln>
        </p:spPr>
      </p:pic>
      <p:pic>
        <p:nvPicPr>
          <p:cNvPr id="20489" name="Picture 2"/>
          <p:cNvPicPr>
            <a:picLocks noChangeAspect="1" noChangeArrowheads="1"/>
          </p:cNvPicPr>
          <p:nvPr/>
        </p:nvPicPr>
        <p:blipFill>
          <a:blip r:embed="rId3"/>
          <a:srcRect/>
          <a:stretch>
            <a:fillRect/>
          </a:stretch>
        </p:blipFill>
        <p:spPr bwMode="auto">
          <a:xfrm>
            <a:off x="4953000" y="2293938"/>
            <a:ext cx="3924300" cy="3238500"/>
          </a:xfrm>
          <a:prstGeom prst="rect">
            <a:avLst/>
          </a:prstGeom>
          <a:noFill/>
          <a:ln w="9525">
            <a:noFill/>
            <a:miter lim="800000"/>
            <a:headEnd/>
            <a:tailEnd/>
          </a:ln>
        </p:spPr>
      </p:pic>
    </p:spTree>
    <p:extLst>
      <p:ext uri="{BB962C8B-B14F-4D97-AF65-F5344CB8AC3E}">
        <p14:creationId xmlns:p14="http://schemas.microsoft.com/office/powerpoint/2010/main" val="461185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379" y="228600"/>
            <a:ext cx="8229600" cy="1143000"/>
          </a:xfrm>
        </p:spPr>
        <p:txBody>
          <a:bodyPr>
            <a:normAutofit/>
          </a:bodyPr>
          <a:lstStyle/>
          <a:p>
            <a:pPr fontAlgn="auto">
              <a:spcAft>
                <a:spcPts val="0"/>
              </a:spcAft>
              <a:defRPr/>
            </a:pPr>
            <a:r>
              <a:rPr lang="en-US" sz="4400" dirty="0">
                <a:latin typeface="+mn-lt"/>
              </a:rPr>
              <a:t>K-means – Example </a:t>
            </a:r>
          </a:p>
        </p:txBody>
      </p:sp>
      <p:sp>
        <p:nvSpPr>
          <p:cNvPr id="3076" name="Content Placeholder 2"/>
          <p:cNvSpPr>
            <a:spLocks noGrp="1"/>
          </p:cNvSpPr>
          <p:nvPr>
            <p:ph sz="quarter" idx="1"/>
          </p:nvPr>
        </p:nvSpPr>
        <p:spPr>
          <a:xfrm>
            <a:off x="457200" y="1600200"/>
            <a:ext cx="7467600" cy="990600"/>
          </a:xfrm>
        </p:spPr>
        <p:txBody>
          <a:bodyPr/>
          <a:lstStyle/>
          <a:p>
            <a:pPr marL="273050" lvl="1">
              <a:spcBef>
                <a:spcPts val="600"/>
              </a:spcBef>
              <a:buSzPct val="70000"/>
              <a:buFont typeface="Wingdings" pitchFamily="2" charset="2"/>
              <a:buChar char=""/>
            </a:pPr>
            <a:r>
              <a:rPr lang="en-GB" sz="2400" dirty="0"/>
              <a:t>Re-calculate the K-centroids</a:t>
            </a:r>
          </a:p>
          <a:p>
            <a:endParaRPr lang="en-US" dirty="0"/>
          </a:p>
          <a:p>
            <a:endParaRPr lang="en-US" dirty="0"/>
          </a:p>
        </p:txBody>
      </p:sp>
      <p:sp>
        <p:nvSpPr>
          <p:cNvPr id="3080" name="Text Box 12"/>
          <p:cNvSpPr txBox="1">
            <a:spLocks noChangeArrowheads="1"/>
          </p:cNvSpPr>
          <p:nvPr/>
        </p:nvSpPr>
        <p:spPr bwMode="auto">
          <a:xfrm>
            <a:off x="4724400" y="2362200"/>
            <a:ext cx="4038600" cy="1200150"/>
          </a:xfrm>
          <a:prstGeom prst="rect">
            <a:avLst/>
          </a:prstGeom>
          <a:noFill/>
          <a:ln w="9525">
            <a:noFill/>
            <a:miter lim="800000"/>
            <a:headEnd/>
            <a:tailEnd/>
          </a:ln>
        </p:spPr>
        <p:txBody>
          <a:bodyPr>
            <a:spAutoFit/>
          </a:bodyPr>
          <a:lstStyle/>
          <a:p>
            <a:pPr defTabSz="1042988"/>
            <a:r>
              <a:rPr lang="en-GB" dirty="0"/>
              <a:t>Knowing the members of each </a:t>
            </a:r>
          </a:p>
          <a:p>
            <a:pPr defTabSz="1042988"/>
            <a:r>
              <a:rPr lang="en-GB" dirty="0"/>
              <a:t>cluster, now we compute the new </a:t>
            </a:r>
          </a:p>
          <a:p>
            <a:pPr defTabSz="1042988"/>
            <a:r>
              <a:rPr lang="en-GB" dirty="0"/>
              <a:t>centroid of each group based on </a:t>
            </a:r>
          </a:p>
          <a:p>
            <a:pPr defTabSz="1042988"/>
            <a:r>
              <a:rPr lang="en-GB" dirty="0"/>
              <a:t>these new memberships.</a:t>
            </a:r>
          </a:p>
        </p:txBody>
      </p:sp>
      <p:graphicFrame>
        <p:nvGraphicFramePr>
          <p:cNvPr id="3074" name="Object 14"/>
          <p:cNvGraphicFramePr>
            <a:graphicFrameLocks noChangeAspect="1"/>
          </p:cNvGraphicFramePr>
          <p:nvPr>
            <p:extLst>
              <p:ext uri="{D42A27DB-BD31-4B8C-83A1-F6EECF244321}">
                <p14:modId xmlns:p14="http://schemas.microsoft.com/office/powerpoint/2010/main" val="1883504411"/>
              </p:ext>
            </p:extLst>
          </p:nvPr>
        </p:nvGraphicFramePr>
        <p:xfrm>
          <a:off x="4835525" y="3790950"/>
          <a:ext cx="2894013" cy="1785938"/>
        </p:xfrm>
        <a:graphic>
          <a:graphicData uri="http://schemas.openxmlformats.org/presentationml/2006/ole">
            <mc:AlternateContent xmlns:mc="http://schemas.openxmlformats.org/markup-compatibility/2006">
              <mc:Choice xmlns:v="urn:schemas-microsoft-com:vml" Requires="v">
                <p:oleObj name="Equation" r:id="rId3" imgW="1600200" imgH="1117600" progId="Equation.3">
                  <p:embed/>
                </p:oleObj>
              </mc:Choice>
              <mc:Fallback>
                <p:oleObj name="Equation" r:id="rId3" imgW="1600200" imgH="1117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5525" y="3790950"/>
                        <a:ext cx="2894013" cy="178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081" name="Picture 4"/>
          <p:cNvPicPr>
            <a:picLocks noChangeAspect="1" noChangeArrowheads="1"/>
          </p:cNvPicPr>
          <p:nvPr/>
        </p:nvPicPr>
        <p:blipFill>
          <a:blip r:embed="rId5"/>
          <a:srcRect/>
          <a:stretch>
            <a:fillRect/>
          </a:stretch>
        </p:blipFill>
        <p:spPr bwMode="auto">
          <a:xfrm>
            <a:off x="304800" y="2362200"/>
            <a:ext cx="4343400" cy="3562350"/>
          </a:xfrm>
          <a:prstGeom prst="rect">
            <a:avLst/>
          </a:prstGeom>
          <a:noFill/>
          <a:ln w="9525">
            <a:noFill/>
            <a:miter lim="800000"/>
            <a:headEnd/>
            <a:tailEnd/>
          </a:ln>
        </p:spPr>
      </p:pic>
    </p:spTree>
    <p:extLst>
      <p:ext uri="{BB962C8B-B14F-4D97-AF65-F5344CB8AC3E}">
        <p14:creationId xmlns:p14="http://schemas.microsoft.com/office/powerpoint/2010/main" val="8501907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257" y="304800"/>
            <a:ext cx="8229600" cy="1143000"/>
          </a:xfrm>
        </p:spPr>
        <p:txBody>
          <a:bodyPr>
            <a:normAutofit/>
          </a:bodyPr>
          <a:lstStyle/>
          <a:p>
            <a:pPr fontAlgn="auto">
              <a:spcAft>
                <a:spcPts val="0"/>
              </a:spcAft>
              <a:defRPr/>
            </a:pPr>
            <a:r>
              <a:rPr lang="en-US" sz="4400" dirty="0">
                <a:latin typeface="+mn-lt"/>
              </a:rPr>
              <a:t>K-means – Example </a:t>
            </a:r>
          </a:p>
        </p:txBody>
      </p:sp>
      <p:sp>
        <p:nvSpPr>
          <p:cNvPr id="21507" name="Content Placeholder 2"/>
          <p:cNvSpPr>
            <a:spLocks noGrp="1"/>
          </p:cNvSpPr>
          <p:nvPr>
            <p:ph sz="quarter" idx="1"/>
          </p:nvPr>
        </p:nvSpPr>
        <p:spPr>
          <a:xfrm>
            <a:off x="457200" y="1600200"/>
            <a:ext cx="7467600" cy="609600"/>
          </a:xfrm>
        </p:spPr>
        <p:txBody>
          <a:bodyPr/>
          <a:lstStyle/>
          <a:p>
            <a:r>
              <a:rPr lang="en-US" dirty="0"/>
              <a:t>Repeat the above steps</a:t>
            </a:r>
          </a:p>
        </p:txBody>
      </p:sp>
      <p:pic>
        <p:nvPicPr>
          <p:cNvPr id="21511" name="Picture 4" descr="NumericalExample_clip_image022"/>
          <p:cNvPicPr>
            <a:picLocks noChangeAspect="1" noChangeArrowheads="1"/>
          </p:cNvPicPr>
          <p:nvPr/>
        </p:nvPicPr>
        <p:blipFill>
          <a:blip r:embed="rId2"/>
          <a:srcRect/>
          <a:stretch>
            <a:fillRect/>
          </a:stretch>
        </p:blipFill>
        <p:spPr bwMode="auto">
          <a:xfrm>
            <a:off x="4724400" y="3505200"/>
            <a:ext cx="3516313" cy="1524000"/>
          </a:xfrm>
          <a:prstGeom prst="rect">
            <a:avLst/>
          </a:prstGeom>
          <a:noFill/>
          <a:ln w="9525">
            <a:noFill/>
            <a:miter lim="800000"/>
            <a:headEnd/>
            <a:tailEnd/>
          </a:ln>
        </p:spPr>
      </p:pic>
      <p:pic>
        <p:nvPicPr>
          <p:cNvPr id="21512" name="Picture 4"/>
          <p:cNvPicPr>
            <a:picLocks noChangeAspect="1" noChangeArrowheads="1"/>
          </p:cNvPicPr>
          <p:nvPr/>
        </p:nvPicPr>
        <p:blipFill>
          <a:blip r:embed="rId3"/>
          <a:srcRect/>
          <a:stretch>
            <a:fillRect/>
          </a:stretch>
        </p:blipFill>
        <p:spPr bwMode="auto">
          <a:xfrm>
            <a:off x="304800" y="2362200"/>
            <a:ext cx="4343400" cy="3562350"/>
          </a:xfrm>
          <a:prstGeom prst="rect">
            <a:avLst/>
          </a:prstGeom>
          <a:noFill/>
          <a:ln w="9525">
            <a:noFill/>
            <a:miter lim="800000"/>
            <a:headEnd/>
            <a:tailEnd/>
          </a:ln>
        </p:spPr>
      </p:pic>
      <p:sp>
        <p:nvSpPr>
          <p:cNvPr id="21513" name="Text Box 5"/>
          <p:cNvSpPr txBox="1">
            <a:spLocks noChangeArrowheads="1"/>
          </p:cNvSpPr>
          <p:nvPr/>
        </p:nvSpPr>
        <p:spPr bwMode="auto">
          <a:xfrm>
            <a:off x="4495800" y="2554288"/>
            <a:ext cx="4254500" cy="646112"/>
          </a:xfrm>
          <a:prstGeom prst="rect">
            <a:avLst/>
          </a:prstGeom>
          <a:noFill/>
          <a:ln w="9525">
            <a:noFill/>
            <a:miter lim="800000"/>
            <a:headEnd/>
            <a:tailEnd/>
          </a:ln>
        </p:spPr>
        <p:txBody>
          <a:bodyPr>
            <a:spAutoFit/>
          </a:bodyPr>
          <a:lstStyle/>
          <a:p>
            <a:pPr marL="273050" lvl="1" indent="-273050" defTabSz="1042988">
              <a:lnSpc>
                <a:spcPct val="90000"/>
              </a:lnSpc>
              <a:spcBef>
                <a:spcPts val="600"/>
              </a:spcBef>
              <a:buClr>
                <a:schemeClr val="accent1"/>
              </a:buClr>
              <a:buSzPct val="70000"/>
            </a:pPr>
            <a:r>
              <a:rPr lang="en-GB" sz="2000" dirty="0"/>
              <a:t>	Compute the distance of all objects to the new centroids</a:t>
            </a:r>
          </a:p>
        </p:txBody>
      </p:sp>
    </p:spTree>
    <p:extLst>
      <p:ext uri="{BB962C8B-B14F-4D97-AF65-F5344CB8AC3E}">
        <p14:creationId xmlns:p14="http://schemas.microsoft.com/office/powerpoint/2010/main" val="2789412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a:bodyPr>
          <a:lstStyle/>
          <a:p>
            <a:pPr fontAlgn="auto">
              <a:spcAft>
                <a:spcPts val="0"/>
              </a:spcAft>
              <a:defRPr/>
            </a:pPr>
            <a:r>
              <a:rPr lang="en-US" sz="4400" dirty="0">
                <a:latin typeface="+mn-lt"/>
              </a:rPr>
              <a:t>K-means – Example </a:t>
            </a:r>
          </a:p>
        </p:txBody>
      </p:sp>
      <p:pic>
        <p:nvPicPr>
          <p:cNvPr id="22534" name="Picture 8" descr="NumericalExample_clip_image024"/>
          <p:cNvPicPr>
            <a:picLocks noChangeAspect="1" noChangeArrowheads="1"/>
          </p:cNvPicPr>
          <p:nvPr/>
        </p:nvPicPr>
        <p:blipFill>
          <a:blip r:embed="rId2"/>
          <a:srcRect/>
          <a:stretch>
            <a:fillRect/>
          </a:stretch>
        </p:blipFill>
        <p:spPr bwMode="auto">
          <a:xfrm>
            <a:off x="4495800" y="3352800"/>
            <a:ext cx="3200400" cy="1046163"/>
          </a:xfrm>
          <a:prstGeom prst="rect">
            <a:avLst/>
          </a:prstGeom>
          <a:noFill/>
          <a:ln w="9525">
            <a:noFill/>
            <a:miter lim="800000"/>
            <a:headEnd/>
            <a:tailEnd/>
          </a:ln>
        </p:spPr>
      </p:pic>
      <p:sp>
        <p:nvSpPr>
          <p:cNvPr id="22535" name="Rectangle 10"/>
          <p:cNvSpPr>
            <a:spLocks noChangeArrowheads="1"/>
          </p:cNvSpPr>
          <p:nvPr/>
        </p:nvSpPr>
        <p:spPr bwMode="auto">
          <a:xfrm>
            <a:off x="4495800" y="2057400"/>
            <a:ext cx="3673475" cy="707886"/>
          </a:xfrm>
          <a:prstGeom prst="rect">
            <a:avLst/>
          </a:prstGeom>
          <a:noFill/>
          <a:ln w="9525">
            <a:noFill/>
            <a:miter lim="800000"/>
            <a:headEnd/>
            <a:tailEnd/>
          </a:ln>
        </p:spPr>
        <p:txBody>
          <a:bodyPr>
            <a:spAutoFit/>
          </a:bodyPr>
          <a:lstStyle/>
          <a:p>
            <a:pPr defTabSz="1042988"/>
            <a:r>
              <a:rPr lang="en-GB" sz="2000" dirty="0"/>
              <a:t>Assign the membership to objects</a:t>
            </a:r>
          </a:p>
        </p:txBody>
      </p:sp>
      <p:pic>
        <p:nvPicPr>
          <p:cNvPr id="22536" name="Picture 2"/>
          <p:cNvPicPr>
            <a:picLocks noChangeAspect="1" noChangeArrowheads="1"/>
          </p:cNvPicPr>
          <p:nvPr/>
        </p:nvPicPr>
        <p:blipFill>
          <a:blip r:embed="rId3"/>
          <a:srcRect/>
          <a:stretch>
            <a:fillRect/>
          </a:stretch>
        </p:blipFill>
        <p:spPr bwMode="auto">
          <a:xfrm>
            <a:off x="533400" y="2743200"/>
            <a:ext cx="3733800" cy="2952750"/>
          </a:xfrm>
          <a:prstGeom prst="rect">
            <a:avLst/>
          </a:prstGeom>
          <a:noFill/>
          <a:ln w="9525">
            <a:noFill/>
            <a:miter lim="800000"/>
            <a:headEnd/>
            <a:tailEnd/>
          </a:ln>
        </p:spPr>
      </p:pic>
    </p:spTree>
    <p:extLst>
      <p:ext uri="{BB962C8B-B14F-4D97-AF65-F5344CB8AC3E}">
        <p14:creationId xmlns:p14="http://schemas.microsoft.com/office/powerpoint/2010/main" val="2222018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282" y="304800"/>
            <a:ext cx="8229600" cy="1143000"/>
          </a:xfrm>
        </p:spPr>
        <p:txBody>
          <a:bodyPr>
            <a:normAutofit/>
          </a:bodyPr>
          <a:lstStyle/>
          <a:p>
            <a:pPr fontAlgn="auto">
              <a:spcAft>
                <a:spcPts val="0"/>
              </a:spcAft>
              <a:defRPr/>
            </a:pPr>
            <a:r>
              <a:rPr lang="en-US" sz="4400" dirty="0">
                <a:latin typeface="+mn-lt"/>
              </a:rPr>
              <a:t>K-means – Example </a:t>
            </a:r>
          </a:p>
        </p:txBody>
      </p:sp>
      <p:sp>
        <p:nvSpPr>
          <p:cNvPr id="4103" name="Text Box 8"/>
          <p:cNvSpPr txBox="1">
            <a:spLocks noChangeArrowheads="1"/>
          </p:cNvSpPr>
          <p:nvPr/>
        </p:nvSpPr>
        <p:spPr bwMode="auto">
          <a:xfrm>
            <a:off x="4267200" y="1905000"/>
            <a:ext cx="4572000" cy="1938992"/>
          </a:xfrm>
          <a:prstGeom prst="rect">
            <a:avLst/>
          </a:prstGeom>
          <a:noFill/>
          <a:ln w="9525">
            <a:noFill/>
            <a:miter lim="800000"/>
            <a:headEnd/>
            <a:tailEnd/>
          </a:ln>
        </p:spPr>
        <p:txBody>
          <a:bodyPr>
            <a:spAutoFit/>
          </a:bodyPr>
          <a:lstStyle/>
          <a:p>
            <a:pPr algn="just" defTabSz="1042988">
              <a:lnSpc>
                <a:spcPct val="150000"/>
              </a:lnSpc>
            </a:pPr>
            <a:r>
              <a:rPr lang="en-GB" sz="2000" dirty="0"/>
              <a:t>Knowing the members of each </a:t>
            </a:r>
          </a:p>
          <a:p>
            <a:pPr algn="just" defTabSz="1042988">
              <a:lnSpc>
                <a:spcPct val="150000"/>
              </a:lnSpc>
            </a:pPr>
            <a:r>
              <a:rPr lang="en-GB" sz="2000" dirty="0"/>
              <a:t>cluster, now we compute the new </a:t>
            </a:r>
          </a:p>
          <a:p>
            <a:pPr algn="just" defTabSz="1042988">
              <a:lnSpc>
                <a:spcPct val="150000"/>
              </a:lnSpc>
            </a:pPr>
            <a:r>
              <a:rPr lang="en-GB" sz="2000" dirty="0"/>
              <a:t>centroid of each group based on </a:t>
            </a:r>
          </a:p>
          <a:p>
            <a:pPr algn="just" defTabSz="1042988">
              <a:lnSpc>
                <a:spcPct val="150000"/>
              </a:lnSpc>
            </a:pPr>
            <a:r>
              <a:rPr lang="en-GB" sz="2000" dirty="0"/>
              <a:t>these new memberships.</a:t>
            </a:r>
          </a:p>
        </p:txBody>
      </p:sp>
      <p:graphicFrame>
        <p:nvGraphicFramePr>
          <p:cNvPr id="4098" name="Object 9"/>
          <p:cNvGraphicFramePr>
            <a:graphicFrameLocks noChangeAspect="1"/>
          </p:cNvGraphicFramePr>
          <p:nvPr>
            <p:extLst>
              <p:ext uri="{D42A27DB-BD31-4B8C-83A1-F6EECF244321}">
                <p14:modId xmlns:p14="http://schemas.microsoft.com/office/powerpoint/2010/main" val="2559841026"/>
              </p:ext>
            </p:extLst>
          </p:nvPr>
        </p:nvGraphicFramePr>
        <p:xfrm>
          <a:off x="4495800" y="3886200"/>
          <a:ext cx="3313113" cy="1524000"/>
        </p:xfrm>
        <a:graphic>
          <a:graphicData uri="http://schemas.openxmlformats.org/presentationml/2006/ole">
            <mc:AlternateContent xmlns:mc="http://schemas.openxmlformats.org/markup-compatibility/2006">
              <mc:Choice xmlns:v="urn:schemas-microsoft-com:vml" Requires="v">
                <p:oleObj name="Equation" r:id="rId2" imgW="1727200" imgH="698500" progId="Equation.3">
                  <p:embed/>
                </p:oleObj>
              </mc:Choice>
              <mc:Fallback>
                <p:oleObj name="Equation" r:id="rId2" imgW="1727200" imgH="6985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3886200"/>
                        <a:ext cx="3313113"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104" name="Picture 3"/>
          <p:cNvPicPr>
            <a:picLocks noChangeAspect="1" noChangeArrowheads="1"/>
          </p:cNvPicPr>
          <p:nvPr/>
        </p:nvPicPr>
        <p:blipFill>
          <a:blip r:embed="rId4"/>
          <a:srcRect/>
          <a:stretch>
            <a:fillRect/>
          </a:stretch>
        </p:blipFill>
        <p:spPr bwMode="auto">
          <a:xfrm>
            <a:off x="381000" y="2667000"/>
            <a:ext cx="3733800" cy="2952750"/>
          </a:xfrm>
          <a:prstGeom prst="rect">
            <a:avLst/>
          </a:prstGeom>
          <a:noFill/>
          <a:ln w="9525">
            <a:noFill/>
            <a:miter lim="800000"/>
            <a:headEnd/>
            <a:tailEnd/>
          </a:ln>
        </p:spPr>
      </p:pic>
    </p:spTree>
    <p:extLst>
      <p:ext uri="{BB962C8B-B14F-4D97-AF65-F5344CB8AC3E}">
        <p14:creationId xmlns:p14="http://schemas.microsoft.com/office/powerpoint/2010/main" val="20981215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451" y="533400"/>
            <a:ext cx="8229600" cy="1143000"/>
          </a:xfrm>
        </p:spPr>
        <p:txBody>
          <a:bodyPr>
            <a:normAutofit/>
          </a:bodyPr>
          <a:lstStyle/>
          <a:p>
            <a:pPr fontAlgn="auto">
              <a:spcAft>
                <a:spcPts val="0"/>
              </a:spcAft>
              <a:defRPr/>
            </a:pPr>
            <a:r>
              <a:rPr lang="en-US" sz="4400" dirty="0">
                <a:latin typeface="+mn-lt"/>
              </a:rPr>
              <a:t>K-means – Example </a:t>
            </a:r>
          </a:p>
        </p:txBody>
      </p:sp>
      <p:pic>
        <p:nvPicPr>
          <p:cNvPr id="23558" name="Picture 4" descr="NumericalExample_clip_image102_0000"/>
          <p:cNvPicPr>
            <a:picLocks noGrp="1" noChangeAspect="1" noChangeArrowheads="1"/>
          </p:cNvPicPr>
          <p:nvPr>
            <p:ph sz="quarter" idx="1"/>
          </p:nvPr>
        </p:nvPicPr>
        <p:blipFill>
          <a:blip r:embed="rId2"/>
          <a:srcRect/>
          <a:stretch>
            <a:fillRect/>
          </a:stretch>
        </p:blipFill>
        <p:spPr>
          <a:xfrm>
            <a:off x="4419600" y="3048000"/>
            <a:ext cx="4054475" cy="1295400"/>
          </a:xfrm>
        </p:spPr>
      </p:pic>
      <p:pic>
        <p:nvPicPr>
          <p:cNvPr id="23559" name="Picture 2"/>
          <p:cNvPicPr>
            <a:picLocks noChangeAspect="1" noChangeArrowheads="1"/>
          </p:cNvPicPr>
          <p:nvPr/>
        </p:nvPicPr>
        <p:blipFill>
          <a:blip r:embed="rId3"/>
          <a:srcRect/>
          <a:stretch>
            <a:fillRect/>
          </a:stretch>
        </p:blipFill>
        <p:spPr bwMode="auto">
          <a:xfrm>
            <a:off x="457200" y="2590800"/>
            <a:ext cx="3733800" cy="2952750"/>
          </a:xfrm>
          <a:prstGeom prst="rect">
            <a:avLst/>
          </a:prstGeom>
          <a:noFill/>
          <a:ln w="9525">
            <a:noFill/>
            <a:miter lim="800000"/>
            <a:headEnd/>
            <a:tailEnd/>
          </a:ln>
        </p:spPr>
      </p:pic>
    </p:spTree>
    <p:extLst>
      <p:ext uri="{BB962C8B-B14F-4D97-AF65-F5344CB8AC3E}">
        <p14:creationId xmlns:p14="http://schemas.microsoft.com/office/powerpoint/2010/main" val="216906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a:bodyPr>
          <a:lstStyle/>
          <a:p>
            <a:pPr fontAlgn="auto">
              <a:spcAft>
                <a:spcPts val="0"/>
              </a:spcAft>
              <a:defRPr/>
            </a:pPr>
            <a:r>
              <a:rPr lang="en-US" sz="4400" dirty="0">
                <a:latin typeface="+mn-lt"/>
              </a:rPr>
              <a:t>K-means – Example </a:t>
            </a:r>
          </a:p>
        </p:txBody>
      </p:sp>
      <p:pic>
        <p:nvPicPr>
          <p:cNvPr id="24582" name="Picture 8" descr="C:\Documents and Settings\Debashree\My Documents\SEMINAR\k-means clustering\K-Means Clustering Numerical Example_files\NumericalExample_clip_image032.gif"/>
          <p:cNvPicPr>
            <a:picLocks noChangeAspect="1" noChangeArrowheads="1"/>
          </p:cNvPicPr>
          <p:nvPr/>
        </p:nvPicPr>
        <p:blipFill>
          <a:blip r:embed="rId2" r:link="rId3"/>
          <a:srcRect/>
          <a:stretch>
            <a:fillRect/>
          </a:stretch>
        </p:blipFill>
        <p:spPr bwMode="auto">
          <a:xfrm>
            <a:off x="4572000" y="2895600"/>
            <a:ext cx="3505200" cy="1382713"/>
          </a:xfrm>
          <a:prstGeom prst="rect">
            <a:avLst/>
          </a:prstGeom>
          <a:noFill/>
          <a:ln w="9525">
            <a:noFill/>
            <a:miter lim="800000"/>
            <a:headEnd/>
            <a:tailEnd/>
          </a:ln>
        </p:spPr>
      </p:pic>
      <p:pic>
        <p:nvPicPr>
          <p:cNvPr id="24583" name="Picture 2"/>
          <p:cNvPicPr>
            <a:picLocks noChangeAspect="1" noChangeArrowheads="1"/>
          </p:cNvPicPr>
          <p:nvPr/>
        </p:nvPicPr>
        <p:blipFill>
          <a:blip r:embed="rId4"/>
          <a:srcRect/>
          <a:stretch>
            <a:fillRect/>
          </a:stretch>
        </p:blipFill>
        <p:spPr bwMode="auto">
          <a:xfrm>
            <a:off x="457200" y="2590800"/>
            <a:ext cx="3733800" cy="2952750"/>
          </a:xfrm>
          <a:prstGeom prst="rect">
            <a:avLst/>
          </a:prstGeom>
          <a:noFill/>
          <a:ln w="9525">
            <a:noFill/>
            <a:miter lim="800000"/>
            <a:headEnd/>
            <a:tailEnd/>
          </a:ln>
        </p:spPr>
      </p:pic>
    </p:spTree>
    <p:extLst>
      <p:ext uri="{BB962C8B-B14F-4D97-AF65-F5344CB8AC3E}">
        <p14:creationId xmlns:p14="http://schemas.microsoft.com/office/powerpoint/2010/main" val="944693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pPr fontAlgn="auto">
              <a:spcAft>
                <a:spcPts val="0"/>
              </a:spcAft>
              <a:defRPr/>
            </a:pPr>
            <a:r>
              <a:rPr lang="en-US" sz="4400" dirty="0">
                <a:latin typeface="+mn-lt"/>
              </a:rPr>
              <a:t>K-means – Example </a:t>
            </a:r>
          </a:p>
        </p:txBody>
      </p:sp>
      <p:sp>
        <p:nvSpPr>
          <p:cNvPr id="25603" name="Content Placeholder 2"/>
          <p:cNvSpPr>
            <a:spLocks noGrp="1"/>
          </p:cNvSpPr>
          <p:nvPr>
            <p:ph sz="quarter" idx="1"/>
          </p:nvPr>
        </p:nvSpPr>
        <p:spPr>
          <a:xfrm>
            <a:off x="457200" y="1600200"/>
            <a:ext cx="7620000" cy="4873625"/>
          </a:xfrm>
        </p:spPr>
        <p:txBody>
          <a:bodyPr>
            <a:normAutofit/>
          </a:bodyPr>
          <a:lstStyle/>
          <a:p>
            <a:pPr algn="just">
              <a:lnSpc>
                <a:spcPct val="150000"/>
              </a:lnSpc>
            </a:pPr>
            <a:r>
              <a:rPr lang="en-US" sz="2000" dirty="0"/>
              <a:t>We obtain result that G</a:t>
            </a:r>
            <a:r>
              <a:rPr lang="en-US" sz="2000" baseline="30000" dirty="0"/>
              <a:t>2</a:t>
            </a:r>
            <a:r>
              <a:rPr lang="en-US" sz="2000" dirty="0"/>
              <a:t>=G</a:t>
            </a:r>
            <a:r>
              <a:rPr lang="en-US" sz="2000" baseline="30000" dirty="0"/>
              <a:t>1</a:t>
            </a:r>
            <a:r>
              <a:rPr lang="en-US" sz="2000" dirty="0"/>
              <a:t>. Comparing the grouping of last iteration and this iteration reveals that the objects do not move group anymore. </a:t>
            </a:r>
          </a:p>
          <a:p>
            <a:pPr algn="just">
              <a:lnSpc>
                <a:spcPct val="150000"/>
              </a:lnSpc>
            </a:pPr>
            <a:r>
              <a:rPr lang="en-US" sz="2000" dirty="0"/>
              <a:t>Thus, the computation of the </a:t>
            </a:r>
            <a:r>
              <a:rPr lang="en-US" sz="2000" i="1" dirty="0">
                <a:solidFill>
                  <a:srgbClr val="C00000"/>
                </a:solidFill>
              </a:rPr>
              <a:t>k-mean</a:t>
            </a:r>
            <a:r>
              <a:rPr lang="en-US" sz="2000" dirty="0"/>
              <a:t> clustering has reached its stability and no more iterations are needed..</a:t>
            </a:r>
          </a:p>
          <a:p>
            <a:pPr algn="just">
              <a:lnSpc>
                <a:spcPct val="150000"/>
              </a:lnSpc>
            </a:pPr>
            <a:endParaRPr lang="en-US" sz="2000" dirty="0"/>
          </a:p>
        </p:txBody>
      </p:sp>
    </p:spTree>
    <p:extLst>
      <p:ext uri="{BB962C8B-B14F-4D97-AF65-F5344CB8AC3E}">
        <p14:creationId xmlns:p14="http://schemas.microsoft.com/office/powerpoint/2010/main" val="27808486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2299" y="625733"/>
            <a:ext cx="7121437" cy="689192"/>
          </a:xfrm>
          <a:prstGeom prst="rect">
            <a:avLst/>
          </a:prstGeom>
        </p:spPr>
        <p:txBody>
          <a:bodyPr vert="horz" wrap="square" lIns="0" tIns="11967" rIns="0" bIns="0" rtlCol="0">
            <a:spAutoFit/>
          </a:bodyPr>
          <a:lstStyle/>
          <a:p>
            <a:pPr marL="11397">
              <a:spcBef>
                <a:spcPts val="94"/>
              </a:spcBef>
            </a:pPr>
            <a:r>
              <a:rPr sz="4400" spc="-22" dirty="0">
                <a:latin typeface="+mn-lt"/>
              </a:rPr>
              <a:t>Clustering</a:t>
            </a:r>
            <a:r>
              <a:rPr sz="4400" spc="-63" dirty="0">
                <a:latin typeface="+mn-lt"/>
              </a:rPr>
              <a:t> </a:t>
            </a:r>
            <a:r>
              <a:rPr lang="en-GB" sz="4400" spc="-22" dirty="0">
                <a:latin typeface="+mn-lt"/>
              </a:rPr>
              <a:t>I</a:t>
            </a:r>
            <a:r>
              <a:rPr sz="4400" spc="-22" dirty="0">
                <a:latin typeface="+mn-lt"/>
              </a:rPr>
              <a:t>mages</a:t>
            </a:r>
          </a:p>
        </p:txBody>
      </p:sp>
      <p:sp>
        <p:nvSpPr>
          <p:cNvPr id="3" name="object 3"/>
          <p:cNvSpPr txBox="1"/>
          <p:nvPr/>
        </p:nvSpPr>
        <p:spPr>
          <a:xfrm>
            <a:off x="666057" y="2040701"/>
            <a:ext cx="2564245" cy="2805794"/>
          </a:xfrm>
          <a:prstGeom prst="rect">
            <a:avLst/>
          </a:prstGeom>
        </p:spPr>
        <p:txBody>
          <a:bodyPr vert="horz" wrap="square" lIns="0" tIns="78639" rIns="0" bIns="0" rtlCol="0">
            <a:spAutoFit/>
          </a:bodyPr>
          <a:lstStyle/>
          <a:p>
            <a:pPr marL="239337" indent="-228509">
              <a:spcBef>
                <a:spcPts val="619"/>
              </a:spcBef>
              <a:buClr>
                <a:srgbClr val="5D5555"/>
              </a:buClr>
              <a:buFont typeface="Arial MT"/>
              <a:buChar char="•"/>
              <a:tabLst>
                <a:tab pos="239337" algn="l"/>
                <a:tab pos="239906" algn="l"/>
              </a:tabLst>
            </a:pPr>
            <a:r>
              <a:rPr sz="2200" spc="-22" dirty="0">
                <a:solidFill>
                  <a:srgbClr val="2B2728"/>
                </a:solidFill>
                <a:cs typeface="Calibri"/>
              </a:rPr>
              <a:t>For</a:t>
            </a:r>
            <a:r>
              <a:rPr sz="2200" spc="-36" dirty="0">
                <a:solidFill>
                  <a:srgbClr val="2B2728"/>
                </a:solidFill>
                <a:cs typeface="Calibri"/>
              </a:rPr>
              <a:t> </a:t>
            </a:r>
            <a:r>
              <a:rPr sz="2200" spc="-18" dirty="0">
                <a:solidFill>
                  <a:srgbClr val="2B2728"/>
                </a:solidFill>
                <a:cs typeface="Calibri"/>
              </a:rPr>
              <a:t>search,</a:t>
            </a:r>
            <a:r>
              <a:rPr sz="2200" spc="-27" dirty="0">
                <a:solidFill>
                  <a:srgbClr val="2B2728"/>
                </a:solidFill>
                <a:cs typeface="Calibri"/>
              </a:rPr>
              <a:t> </a:t>
            </a:r>
            <a:r>
              <a:rPr sz="2200" spc="-18" dirty="0">
                <a:solidFill>
                  <a:srgbClr val="2B2728"/>
                </a:solidFill>
                <a:cs typeface="Calibri"/>
              </a:rPr>
              <a:t>group</a:t>
            </a:r>
            <a:r>
              <a:rPr sz="2200" spc="-27" dirty="0">
                <a:solidFill>
                  <a:srgbClr val="2B2728"/>
                </a:solidFill>
                <a:cs typeface="Calibri"/>
              </a:rPr>
              <a:t> </a:t>
            </a:r>
            <a:r>
              <a:rPr sz="2200" spc="-9" dirty="0">
                <a:solidFill>
                  <a:srgbClr val="2B2728"/>
                </a:solidFill>
                <a:cs typeface="Calibri"/>
              </a:rPr>
              <a:t>as:</a:t>
            </a:r>
            <a:endParaRPr sz="2200" dirty="0">
              <a:cs typeface="Calibri"/>
            </a:endParaRPr>
          </a:p>
          <a:p>
            <a:pPr marL="505456" lvl="1" indent="-190330">
              <a:spcBef>
                <a:spcPts val="462"/>
              </a:spcBef>
              <a:buClr>
                <a:srgbClr val="5D5555"/>
              </a:buClr>
              <a:buFont typeface="Lucida Sans Unicode"/>
              <a:buChar char="-"/>
              <a:tabLst>
                <a:tab pos="506026" algn="l"/>
              </a:tabLst>
            </a:pPr>
            <a:r>
              <a:rPr sz="1900" spc="-13" dirty="0">
                <a:solidFill>
                  <a:srgbClr val="2B2728"/>
                </a:solidFill>
                <a:cs typeface="Calibri"/>
              </a:rPr>
              <a:t>Ocean</a:t>
            </a:r>
            <a:endParaRPr sz="1900" dirty="0">
              <a:cs typeface="Calibri"/>
            </a:endParaRPr>
          </a:p>
          <a:p>
            <a:pPr marL="505456" lvl="1" indent="-190330">
              <a:spcBef>
                <a:spcPts val="345"/>
              </a:spcBef>
              <a:buClr>
                <a:srgbClr val="5D5555"/>
              </a:buClr>
              <a:buFont typeface="Lucida Sans Unicode"/>
              <a:buChar char="-"/>
              <a:tabLst>
                <a:tab pos="506026" algn="l"/>
              </a:tabLst>
            </a:pPr>
            <a:r>
              <a:rPr sz="1900" spc="-9" dirty="0">
                <a:solidFill>
                  <a:srgbClr val="2B2728"/>
                </a:solidFill>
                <a:cs typeface="Calibri"/>
              </a:rPr>
              <a:t>Pink</a:t>
            </a:r>
            <a:r>
              <a:rPr sz="1900" spc="-45" dirty="0">
                <a:solidFill>
                  <a:srgbClr val="2B2728"/>
                </a:solidFill>
                <a:cs typeface="Calibri"/>
              </a:rPr>
              <a:t> </a:t>
            </a:r>
            <a:r>
              <a:rPr sz="1900" spc="-18" dirty="0">
                <a:solidFill>
                  <a:srgbClr val="2B2728"/>
                </a:solidFill>
                <a:cs typeface="Calibri"/>
              </a:rPr>
              <a:t>flower</a:t>
            </a:r>
            <a:endParaRPr sz="1900" dirty="0">
              <a:cs typeface="Calibri"/>
            </a:endParaRPr>
          </a:p>
          <a:p>
            <a:pPr marL="505456" lvl="1" indent="-190330">
              <a:spcBef>
                <a:spcPts val="431"/>
              </a:spcBef>
              <a:buClr>
                <a:srgbClr val="5D5555"/>
              </a:buClr>
              <a:buFont typeface="Lucida Sans Unicode"/>
              <a:buChar char="-"/>
              <a:tabLst>
                <a:tab pos="506026" algn="l"/>
              </a:tabLst>
            </a:pPr>
            <a:r>
              <a:rPr sz="1900" spc="-13" dirty="0">
                <a:solidFill>
                  <a:srgbClr val="2B2728"/>
                </a:solidFill>
                <a:cs typeface="Calibri"/>
              </a:rPr>
              <a:t>Dog</a:t>
            </a:r>
            <a:endParaRPr sz="1900" dirty="0">
              <a:cs typeface="Calibri"/>
            </a:endParaRPr>
          </a:p>
          <a:p>
            <a:pPr marL="505456" lvl="1" indent="-190330">
              <a:spcBef>
                <a:spcPts val="431"/>
              </a:spcBef>
              <a:buClr>
                <a:srgbClr val="5D5555"/>
              </a:buClr>
              <a:buFont typeface="Lucida Sans Unicode"/>
              <a:buChar char="-"/>
              <a:tabLst>
                <a:tab pos="506026" algn="l"/>
              </a:tabLst>
            </a:pPr>
            <a:r>
              <a:rPr sz="1900" spc="-13" dirty="0">
                <a:solidFill>
                  <a:srgbClr val="2B2728"/>
                </a:solidFill>
                <a:cs typeface="Calibri"/>
              </a:rPr>
              <a:t>Sunset</a:t>
            </a:r>
            <a:endParaRPr sz="1900" dirty="0">
              <a:cs typeface="Calibri"/>
            </a:endParaRPr>
          </a:p>
          <a:p>
            <a:pPr marL="505456" lvl="1" indent="-190330">
              <a:spcBef>
                <a:spcPts val="341"/>
              </a:spcBef>
              <a:buClr>
                <a:srgbClr val="5D5555"/>
              </a:buClr>
              <a:buFont typeface="Lucida Sans Unicode"/>
              <a:buChar char="-"/>
              <a:tabLst>
                <a:tab pos="506026" algn="l"/>
              </a:tabLst>
            </a:pPr>
            <a:r>
              <a:rPr sz="1900" spc="-13" dirty="0">
                <a:solidFill>
                  <a:srgbClr val="2B2728"/>
                </a:solidFill>
                <a:cs typeface="Calibri"/>
              </a:rPr>
              <a:t>Clouds</a:t>
            </a:r>
            <a:endParaRPr sz="1900" dirty="0">
              <a:cs typeface="Calibri"/>
            </a:endParaRPr>
          </a:p>
          <a:p>
            <a:pPr marL="315696">
              <a:spcBef>
                <a:spcPts val="431"/>
              </a:spcBef>
            </a:pPr>
            <a:r>
              <a:rPr sz="1900" dirty="0">
                <a:solidFill>
                  <a:srgbClr val="5D5555"/>
                </a:solidFill>
                <a:cs typeface="Lucida Sans Unicode"/>
              </a:rPr>
              <a:t>-</a:t>
            </a:r>
            <a:r>
              <a:rPr sz="1900" spc="-193" dirty="0">
                <a:solidFill>
                  <a:srgbClr val="5D5555"/>
                </a:solidFill>
                <a:cs typeface="Lucida Sans Unicode"/>
              </a:rPr>
              <a:t> </a:t>
            </a:r>
            <a:r>
              <a:rPr sz="1900" dirty="0">
                <a:solidFill>
                  <a:srgbClr val="2B2728"/>
                </a:solidFill>
                <a:cs typeface="Calibri"/>
              </a:rPr>
              <a:t>…</a:t>
            </a:r>
            <a:endParaRPr sz="1900" dirty="0">
              <a:cs typeface="Calibri"/>
            </a:endParaRPr>
          </a:p>
        </p:txBody>
      </p:sp>
      <p:pic>
        <p:nvPicPr>
          <p:cNvPr id="4" name="object 4"/>
          <p:cNvPicPr/>
          <p:nvPr/>
        </p:nvPicPr>
        <p:blipFill>
          <a:blip r:embed="rId2" cstate="print"/>
          <a:stretch>
            <a:fillRect/>
          </a:stretch>
        </p:blipFill>
        <p:spPr>
          <a:xfrm>
            <a:off x="4559645" y="3149412"/>
            <a:ext cx="2007505" cy="1060119"/>
          </a:xfrm>
          <a:prstGeom prst="rect">
            <a:avLst/>
          </a:prstGeom>
        </p:spPr>
      </p:pic>
      <p:pic>
        <p:nvPicPr>
          <p:cNvPr id="5" name="object 5"/>
          <p:cNvPicPr/>
          <p:nvPr/>
        </p:nvPicPr>
        <p:blipFill>
          <a:blip r:embed="rId3" cstate="print"/>
          <a:stretch>
            <a:fillRect/>
          </a:stretch>
        </p:blipFill>
        <p:spPr>
          <a:xfrm>
            <a:off x="2473364" y="2719642"/>
            <a:ext cx="2004672" cy="1053234"/>
          </a:xfrm>
          <a:prstGeom prst="rect">
            <a:avLst/>
          </a:prstGeom>
        </p:spPr>
      </p:pic>
      <p:pic>
        <p:nvPicPr>
          <p:cNvPr id="6" name="object 6"/>
          <p:cNvPicPr/>
          <p:nvPr/>
        </p:nvPicPr>
        <p:blipFill>
          <a:blip r:embed="rId4" cstate="print"/>
          <a:stretch>
            <a:fillRect/>
          </a:stretch>
        </p:blipFill>
        <p:spPr>
          <a:xfrm>
            <a:off x="4559645" y="2048745"/>
            <a:ext cx="2006088" cy="1047727"/>
          </a:xfrm>
          <a:prstGeom prst="rect">
            <a:avLst/>
          </a:prstGeom>
        </p:spPr>
      </p:pic>
      <p:pic>
        <p:nvPicPr>
          <p:cNvPr id="7" name="object 7"/>
          <p:cNvPicPr/>
          <p:nvPr/>
        </p:nvPicPr>
        <p:blipFill>
          <a:blip r:embed="rId5" cstate="print"/>
          <a:stretch>
            <a:fillRect/>
          </a:stretch>
        </p:blipFill>
        <p:spPr>
          <a:xfrm>
            <a:off x="2473362" y="3840271"/>
            <a:ext cx="2008921" cy="1038090"/>
          </a:xfrm>
          <a:prstGeom prst="rect">
            <a:avLst/>
          </a:prstGeom>
        </p:spPr>
      </p:pic>
      <p:pic>
        <p:nvPicPr>
          <p:cNvPr id="8" name="object 8"/>
          <p:cNvPicPr/>
          <p:nvPr/>
        </p:nvPicPr>
        <p:blipFill>
          <a:blip r:embed="rId6" cstate="print"/>
          <a:stretch>
            <a:fillRect/>
          </a:stretch>
        </p:blipFill>
        <p:spPr>
          <a:xfrm>
            <a:off x="4562477" y="4283087"/>
            <a:ext cx="2003255" cy="1079393"/>
          </a:xfrm>
          <a:prstGeom prst="rect">
            <a:avLst/>
          </a:prstGeom>
        </p:spPr>
      </p:pic>
    </p:spTree>
    <p:extLst>
      <p:ext uri="{BB962C8B-B14F-4D97-AF65-F5344CB8AC3E}">
        <p14:creationId xmlns:p14="http://schemas.microsoft.com/office/powerpoint/2010/main" val="11963348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491"/>
            <a:ext cx="8229600" cy="1143000"/>
          </a:xfrm>
        </p:spPr>
        <p:txBody>
          <a:bodyPr>
            <a:normAutofit/>
          </a:bodyPr>
          <a:lstStyle/>
          <a:p>
            <a:r>
              <a:rPr lang="en-US" sz="4400">
                <a:latin typeface="+mn-lt"/>
              </a:rPr>
              <a:t>Feature Scaling in K-Means</a:t>
            </a:r>
            <a:endParaRPr lang="en-GB" sz="4400" dirty="0">
              <a:latin typeface="+mn-lt"/>
            </a:endParaRPr>
          </a:p>
        </p:txBody>
      </p:sp>
      <p:sp>
        <p:nvSpPr>
          <p:cNvPr id="3" name="Content Placeholder 2"/>
          <p:cNvSpPr>
            <a:spLocks noGrp="1"/>
          </p:cNvSpPr>
          <p:nvPr>
            <p:ph idx="1"/>
          </p:nvPr>
        </p:nvSpPr>
        <p:spPr>
          <a:xfrm>
            <a:off x="457200" y="1295400"/>
            <a:ext cx="8229600" cy="5029200"/>
          </a:xfrm>
        </p:spPr>
        <p:txBody>
          <a:bodyPr>
            <a:normAutofit fontScale="85000" lnSpcReduction="10000"/>
          </a:bodyPr>
          <a:lstStyle/>
          <a:p>
            <a:pPr algn="just">
              <a:lnSpc>
                <a:spcPct val="150000"/>
              </a:lnSpc>
            </a:pPr>
            <a:r>
              <a:rPr lang="en-US" sz="2000" dirty="0"/>
              <a:t>K-Means typically needs to have some form of normalization done on the datasets to work properly since it is sensitive to both the mean and variance of the datasets.</a:t>
            </a:r>
          </a:p>
          <a:p>
            <a:pPr algn="just">
              <a:lnSpc>
                <a:spcPct val="150000"/>
              </a:lnSpc>
            </a:pPr>
            <a:r>
              <a:rPr lang="en-US" sz="2000" dirty="0"/>
              <a:t>For performing feature scaling, generally, </a:t>
            </a:r>
            <a:r>
              <a:rPr lang="en-US" sz="2000" b="1" dirty="0" err="1"/>
              <a:t>StandardScaler</a:t>
            </a:r>
            <a:r>
              <a:rPr lang="en-US" sz="2000" dirty="0"/>
              <a:t> is recommended, but depending on the specific use cases, other techniques might be more suitable as well.</a:t>
            </a:r>
          </a:p>
          <a:p>
            <a:pPr algn="just">
              <a:lnSpc>
                <a:spcPct val="150000"/>
              </a:lnSpc>
            </a:pPr>
            <a:r>
              <a:rPr lang="en-US" sz="2000" b="1" dirty="0"/>
              <a:t>For Example,</a:t>
            </a:r>
            <a:r>
              <a:rPr lang="en-US" sz="2000" dirty="0"/>
              <a:t> let’s have 2 variables, named age and salary where age is in the range of 20 to 60 and salary is in the range of 100-150K, since scales of these variables are different so when these variables are substituted in the </a:t>
            </a:r>
            <a:r>
              <a:rPr lang="en-US" sz="2000" dirty="0" err="1"/>
              <a:t>euclidean</a:t>
            </a:r>
            <a:r>
              <a:rPr lang="en-US" sz="2000" dirty="0"/>
              <a:t> distance formula, then the variable which is on the large scale suppresses the variable which is on the smaller scale. So, the impact of age will not be captured very clearly. Hence, you have to scale the variables to the same range using </a:t>
            </a:r>
            <a:r>
              <a:rPr lang="en-US" sz="2000" b="1" dirty="0"/>
              <a:t>Standard </a:t>
            </a:r>
            <a:r>
              <a:rPr lang="en-US" sz="2000" b="1" dirty="0" err="1"/>
              <a:t>Scaler</a:t>
            </a:r>
            <a:r>
              <a:rPr lang="en-US" sz="2000" b="1" dirty="0"/>
              <a:t>, Min-Max </a:t>
            </a:r>
            <a:r>
              <a:rPr lang="en-US" sz="2000" b="1" dirty="0" err="1"/>
              <a:t>Scaler</a:t>
            </a:r>
            <a:r>
              <a:rPr lang="en-US" sz="2000" dirty="0"/>
              <a:t>, etc.</a:t>
            </a:r>
          </a:p>
        </p:txBody>
      </p:sp>
    </p:spTree>
    <p:extLst>
      <p:ext uri="{BB962C8B-B14F-4D97-AF65-F5344CB8AC3E}">
        <p14:creationId xmlns:p14="http://schemas.microsoft.com/office/powerpoint/2010/main" val="21117805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970" y="0"/>
            <a:ext cx="8229600" cy="1143000"/>
          </a:xfrm>
        </p:spPr>
        <p:txBody>
          <a:bodyPr>
            <a:normAutofit/>
          </a:bodyPr>
          <a:lstStyle/>
          <a:p>
            <a:r>
              <a:rPr lang="en-GB" sz="4400" spc="-5" dirty="0">
                <a:solidFill>
                  <a:schemeClr val="accent1">
                    <a:lumMod val="75000"/>
                  </a:schemeClr>
                </a:solidFill>
                <a:uFill>
                  <a:solidFill>
                    <a:srgbClr val="006FC0"/>
                  </a:solidFill>
                </a:uFill>
                <a:latin typeface="+mn-lt"/>
                <a:cs typeface="Calibri"/>
              </a:rPr>
              <a:t>Choice</a:t>
            </a:r>
            <a:r>
              <a:rPr lang="en-GB" sz="4400" spc="-25" dirty="0">
                <a:solidFill>
                  <a:schemeClr val="accent1">
                    <a:lumMod val="75000"/>
                  </a:schemeClr>
                </a:solidFill>
                <a:uFill>
                  <a:solidFill>
                    <a:srgbClr val="006FC0"/>
                  </a:solidFill>
                </a:uFill>
                <a:latin typeface="+mn-lt"/>
                <a:cs typeface="Calibri"/>
              </a:rPr>
              <a:t> </a:t>
            </a:r>
            <a:r>
              <a:rPr lang="en-GB" sz="4400" dirty="0">
                <a:solidFill>
                  <a:schemeClr val="accent1">
                    <a:lumMod val="75000"/>
                  </a:schemeClr>
                </a:solidFill>
                <a:uFill>
                  <a:solidFill>
                    <a:srgbClr val="006FC0"/>
                  </a:solidFill>
                </a:uFill>
                <a:latin typeface="+mn-lt"/>
                <a:cs typeface="Calibri"/>
              </a:rPr>
              <a:t>of</a:t>
            </a:r>
            <a:r>
              <a:rPr lang="en-GB" sz="4400" spc="-35" dirty="0">
                <a:solidFill>
                  <a:schemeClr val="accent1">
                    <a:lumMod val="75000"/>
                  </a:schemeClr>
                </a:solidFill>
                <a:uFill>
                  <a:solidFill>
                    <a:srgbClr val="006FC0"/>
                  </a:solidFill>
                </a:uFill>
                <a:latin typeface="+mn-lt"/>
                <a:cs typeface="Calibri"/>
              </a:rPr>
              <a:t> </a:t>
            </a:r>
            <a:r>
              <a:rPr lang="en-GB" sz="4400" dirty="0">
                <a:solidFill>
                  <a:schemeClr val="accent1">
                    <a:lumMod val="75000"/>
                  </a:schemeClr>
                </a:solidFill>
                <a:uFill>
                  <a:solidFill>
                    <a:srgbClr val="006FC0"/>
                  </a:solidFill>
                </a:uFill>
                <a:latin typeface="+mn-lt"/>
                <a:cs typeface="Calibri"/>
              </a:rPr>
              <a:t>Initial</a:t>
            </a:r>
            <a:r>
              <a:rPr lang="en-GB" sz="4400" spc="-25" dirty="0">
                <a:solidFill>
                  <a:schemeClr val="accent1">
                    <a:lumMod val="75000"/>
                  </a:schemeClr>
                </a:solidFill>
                <a:uFill>
                  <a:solidFill>
                    <a:srgbClr val="006FC0"/>
                  </a:solidFill>
                </a:uFill>
                <a:latin typeface="+mn-lt"/>
                <a:cs typeface="Calibri"/>
              </a:rPr>
              <a:t> </a:t>
            </a:r>
            <a:r>
              <a:rPr lang="en-GB" sz="4400" spc="-10" dirty="0">
                <a:solidFill>
                  <a:schemeClr val="accent1">
                    <a:lumMod val="75000"/>
                  </a:schemeClr>
                </a:solidFill>
                <a:uFill>
                  <a:solidFill>
                    <a:srgbClr val="006FC0"/>
                  </a:solidFill>
                </a:uFill>
                <a:latin typeface="+mn-lt"/>
                <a:cs typeface="Calibri"/>
              </a:rPr>
              <a:t>Centroids</a:t>
            </a:r>
            <a:endParaRPr lang="en-GB" sz="4400" dirty="0">
              <a:solidFill>
                <a:schemeClr val="accent1">
                  <a:lumMod val="75000"/>
                </a:schemeClr>
              </a:solidFill>
              <a:latin typeface="+mn-lt"/>
            </a:endParaRPr>
          </a:p>
        </p:txBody>
      </p:sp>
      <p:grpSp>
        <p:nvGrpSpPr>
          <p:cNvPr id="238" name="object 4"/>
          <p:cNvGrpSpPr/>
          <p:nvPr/>
        </p:nvGrpSpPr>
        <p:grpSpPr>
          <a:xfrm>
            <a:off x="392968" y="1835393"/>
            <a:ext cx="2362200" cy="1855470"/>
            <a:chOff x="392968" y="1835393"/>
            <a:chExt cx="2362200" cy="1855470"/>
          </a:xfrm>
        </p:grpSpPr>
        <p:sp>
          <p:nvSpPr>
            <p:cNvPr id="239" name="object 5"/>
            <p:cNvSpPr/>
            <p:nvPr/>
          </p:nvSpPr>
          <p:spPr>
            <a:xfrm>
              <a:off x="393603" y="3686065"/>
              <a:ext cx="2352040" cy="0"/>
            </a:xfrm>
            <a:custGeom>
              <a:avLst/>
              <a:gdLst/>
              <a:ahLst/>
              <a:cxnLst/>
              <a:rect l="l" t="t" r="r" b="b"/>
              <a:pathLst>
                <a:path w="2352040">
                  <a:moveTo>
                    <a:pt x="0" y="0"/>
                  </a:moveTo>
                  <a:lnTo>
                    <a:pt x="2351723" y="0"/>
                  </a:lnTo>
                </a:path>
              </a:pathLst>
            </a:custGeom>
            <a:ln w="3175">
              <a:solidFill>
                <a:srgbClr val="000000"/>
              </a:solidFill>
            </a:ln>
          </p:spPr>
          <p:txBody>
            <a:bodyPr wrap="square" lIns="0" tIns="0" rIns="0" bIns="0" rtlCol="0"/>
            <a:lstStyle/>
            <a:p>
              <a:endParaRPr/>
            </a:p>
          </p:txBody>
        </p:sp>
        <p:sp>
          <p:nvSpPr>
            <p:cNvPr id="240" name="object 6"/>
            <p:cNvSpPr/>
            <p:nvPr/>
          </p:nvSpPr>
          <p:spPr>
            <a:xfrm>
              <a:off x="2747559" y="3688325"/>
              <a:ext cx="5080" cy="0"/>
            </a:xfrm>
            <a:custGeom>
              <a:avLst/>
              <a:gdLst/>
              <a:ahLst/>
              <a:cxnLst/>
              <a:rect l="l" t="t" r="r" b="b"/>
              <a:pathLst>
                <a:path w="5080">
                  <a:moveTo>
                    <a:pt x="0" y="0"/>
                  </a:moveTo>
                  <a:lnTo>
                    <a:pt x="4676" y="0"/>
                  </a:lnTo>
                </a:path>
              </a:pathLst>
            </a:custGeom>
            <a:ln w="4692">
              <a:solidFill>
                <a:srgbClr val="000000"/>
              </a:solidFill>
            </a:ln>
          </p:spPr>
          <p:txBody>
            <a:bodyPr wrap="square" lIns="0" tIns="0" rIns="0" bIns="0" rtlCol="0"/>
            <a:lstStyle/>
            <a:p>
              <a:endParaRPr/>
            </a:p>
          </p:txBody>
        </p:sp>
        <p:sp>
          <p:nvSpPr>
            <p:cNvPr id="241" name="object 7"/>
            <p:cNvSpPr/>
            <p:nvPr/>
          </p:nvSpPr>
          <p:spPr>
            <a:xfrm>
              <a:off x="393603" y="1836028"/>
              <a:ext cx="0" cy="1850389"/>
            </a:xfrm>
            <a:custGeom>
              <a:avLst/>
              <a:gdLst/>
              <a:ahLst/>
              <a:cxnLst/>
              <a:rect l="l" t="t" r="r" b="b"/>
              <a:pathLst>
                <a:path h="1850389">
                  <a:moveTo>
                    <a:pt x="0" y="1850037"/>
                  </a:moveTo>
                  <a:lnTo>
                    <a:pt x="0" y="0"/>
                  </a:lnTo>
                </a:path>
              </a:pathLst>
            </a:custGeom>
            <a:ln w="3175">
              <a:solidFill>
                <a:srgbClr val="000000"/>
              </a:solidFill>
            </a:ln>
          </p:spPr>
          <p:txBody>
            <a:bodyPr wrap="square" lIns="0" tIns="0" rIns="0" bIns="0" rtlCol="0"/>
            <a:lstStyle/>
            <a:p>
              <a:endParaRPr/>
            </a:p>
          </p:txBody>
        </p:sp>
        <p:sp>
          <p:nvSpPr>
            <p:cNvPr id="242" name="object 8"/>
            <p:cNvSpPr/>
            <p:nvPr/>
          </p:nvSpPr>
          <p:spPr>
            <a:xfrm>
              <a:off x="395864" y="1838259"/>
              <a:ext cx="5080" cy="0"/>
            </a:xfrm>
            <a:custGeom>
              <a:avLst/>
              <a:gdLst/>
              <a:ahLst/>
              <a:cxnLst/>
              <a:rect l="l" t="t" r="r" b="b"/>
              <a:pathLst>
                <a:path w="5079">
                  <a:moveTo>
                    <a:pt x="0" y="0"/>
                  </a:moveTo>
                  <a:lnTo>
                    <a:pt x="4522" y="0"/>
                  </a:lnTo>
                </a:path>
              </a:pathLst>
            </a:custGeom>
            <a:ln w="4692">
              <a:solidFill>
                <a:srgbClr val="000000"/>
              </a:solidFill>
            </a:ln>
          </p:spPr>
          <p:txBody>
            <a:bodyPr wrap="square" lIns="0" tIns="0" rIns="0" bIns="0" rtlCol="0"/>
            <a:lstStyle/>
            <a:p>
              <a:endParaRPr/>
            </a:p>
          </p:txBody>
        </p:sp>
        <p:sp>
          <p:nvSpPr>
            <p:cNvPr id="243" name="object 9"/>
            <p:cNvSpPr/>
            <p:nvPr/>
          </p:nvSpPr>
          <p:spPr>
            <a:xfrm>
              <a:off x="529438"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44" name="object 10"/>
            <p:cNvSpPr/>
            <p:nvPr/>
          </p:nvSpPr>
          <p:spPr>
            <a:xfrm>
              <a:off x="531700" y="3665036"/>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grpSp>
      <p:sp>
        <p:nvSpPr>
          <p:cNvPr id="245" name="object 11"/>
          <p:cNvSpPr txBox="1"/>
          <p:nvPr/>
        </p:nvSpPr>
        <p:spPr>
          <a:xfrm>
            <a:off x="474477" y="3692134"/>
            <a:ext cx="99060" cy="115570"/>
          </a:xfrm>
          <a:prstGeom prst="rect">
            <a:avLst/>
          </a:prstGeom>
        </p:spPr>
        <p:txBody>
          <a:bodyPr vert="horz" wrap="square" lIns="0" tIns="17780" rIns="0" bIns="0" rtlCol="0">
            <a:spAutoFit/>
          </a:bodyPr>
          <a:lstStyle/>
          <a:p>
            <a:pPr marL="12700">
              <a:lnSpc>
                <a:spcPct val="100000"/>
              </a:lnSpc>
              <a:spcBef>
                <a:spcPts val="140"/>
              </a:spcBef>
            </a:pPr>
            <a:r>
              <a:rPr sz="550" spc="40" dirty="0">
                <a:latin typeface="Arial MT"/>
                <a:cs typeface="Arial MT"/>
              </a:rPr>
              <a:t>-2</a:t>
            </a:r>
            <a:endParaRPr sz="550">
              <a:latin typeface="Arial MT"/>
              <a:cs typeface="Arial MT"/>
            </a:endParaRPr>
          </a:p>
        </p:txBody>
      </p:sp>
      <p:grpSp>
        <p:nvGrpSpPr>
          <p:cNvPr id="246" name="object 12"/>
          <p:cNvGrpSpPr/>
          <p:nvPr/>
        </p:nvGrpSpPr>
        <p:grpSpPr>
          <a:xfrm>
            <a:off x="795798" y="3662141"/>
            <a:ext cx="277495" cy="24765"/>
            <a:chOff x="795798" y="3662141"/>
            <a:chExt cx="277495" cy="24765"/>
          </a:xfrm>
        </p:grpSpPr>
        <p:sp>
          <p:nvSpPr>
            <p:cNvPr id="247" name="object 13"/>
            <p:cNvSpPr/>
            <p:nvPr/>
          </p:nvSpPr>
          <p:spPr>
            <a:xfrm>
              <a:off x="796433"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48" name="object 14"/>
            <p:cNvSpPr/>
            <p:nvPr/>
          </p:nvSpPr>
          <p:spPr>
            <a:xfrm>
              <a:off x="798667" y="3665036"/>
              <a:ext cx="5080" cy="0"/>
            </a:xfrm>
            <a:custGeom>
              <a:avLst/>
              <a:gdLst/>
              <a:ahLst/>
              <a:cxnLst/>
              <a:rect l="l" t="t" r="r" b="b"/>
              <a:pathLst>
                <a:path w="5079">
                  <a:moveTo>
                    <a:pt x="0" y="0"/>
                  </a:moveTo>
                  <a:lnTo>
                    <a:pt x="4746" y="0"/>
                  </a:lnTo>
                </a:path>
              </a:pathLst>
            </a:custGeom>
            <a:ln w="4692">
              <a:solidFill>
                <a:srgbClr val="000000"/>
              </a:solidFill>
            </a:ln>
          </p:spPr>
          <p:txBody>
            <a:bodyPr wrap="square" lIns="0" tIns="0" rIns="0" bIns="0" rtlCol="0"/>
            <a:lstStyle/>
            <a:p>
              <a:endParaRPr/>
            </a:p>
          </p:txBody>
        </p:sp>
        <p:sp>
          <p:nvSpPr>
            <p:cNvPr id="249" name="object 15"/>
            <p:cNvSpPr/>
            <p:nvPr/>
          </p:nvSpPr>
          <p:spPr>
            <a:xfrm>
              <a:off x="1063400"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50" name="object 16"/>
            <p:cNvSpPr/>
            <p:nvPr/>
          </p:nvSpPr>
          <p:spPr>
            <a:xfrm>
              <a:off x="1065633" y="3665036"/>
              <a:ext cx="5080" cy="0"/>
            </a:xfrm>
            <a:custGeom>
              <a:avLst/>
              <a:gdLst/>
              <a:ahLst/>
              <a:cxnLst/>
              <a:rect l="l" t="t" r="r" b="b"/>
              <a:pathLst>
                <a:path w="5080">
                  <a:moveTo>
                    <a:pt x="0" y="0"/>
                  </a:moveTo>
                  <a:lnTo>
                    <a:pt x="4746" y="0"/>
                  </a:lnTo>
                </a:path>
              </a:pathLst>
            </a:custGeom>
            <a:ln w="4692">
              <a:solidFill>
                <a:srgbClr val="000000"/>
              </a:solidFill>
            </a:ln>
          </p:spPr>
          <p:txBody>
            <a:bodyPr wrap="square" lIns="0" tIns="0" rIns="0" bIns="0" rtlCol="0"/>
            <a:lstStyle/>
            <a:p>
              <a:endParaRPr/>
            </a:p>
          </p:txBody>
        </p:sp>
      </p:grpSp>
      <p:sp>
        <p:nvSpPr>
          <p:cNvPr id="251" name="object 17"/>
          <p:cNvSpPr txBox="1"/>
          <p:nvPr/>
        </p:nvSpPr>
        <p:spPr>
          <a:xfrm>
            <a:off x="713449" y="3692134"/>
            <a:ext cx="393700" cy="115570"/>
          </a:xfrm>
          <a:prstGeom prst="rect">
            <a:avLst/>
          </a:prstGeom>
        </p:spPr>
        <p:txBody>
          <a:bodyPr vert="horz" wrap="square" lIns="0" tIns="17780" rIns="0" bIns="0" rtlCol="0">
            <a:spAutoFit/>
          </a:bodyPr>
          <a:lstStyle/>
          <a:p>
            <a:pPr marL="12700">
              <a:lnSpc>
                <a:spcPct val="100000"/>
              </a:lnSpc>
              <a:spcBef>
                <a:spcPts val="140"/>
              </a:spcBef>
              <a:tabLst>
                <a:tab pos="307340" algn="l"/>
              </a:tabLst>
            </a:pPr>
            <a:r>
              <a:rPr sz="550" spc="30" dirty="0">
                <a:latin typeface="Arial MT"/>
                <a:cs typeface="Arial MT"/>
              </a:rPr>
              <a:t>-</a:t>
            </a:r>
            <a:r>
              <a:rPr sz="550" spc="20" dirty="0">
                <a:latin typeface="Arial MT"/>
                <a:cs typeface="Arial MT"/>
              </a:rPr>
              <a:t>1</a:t>
            </a:r>
            <a:r>
              <a:rPr sz="550" spc="-10" dirty="0">
                <a:latin typeface="Arial MT"/>
                <a:cs typeface="Arial MT"/>
              </a:rPr>
              <a:t>.</a:t>
            </a:r>
            <a:r>
              <a:rPr sz="550" spc="20" dirty="0">
                <a:latin typeface="Arial MT"/>
                <a:cs typeface="Arial MT"/>
              </a:rPr>
              <a:t>5</a:t>
            </a:r>
            <a:r>
              <a:rPr sz="550" dirty="0">
                <a:latin typeface="Arial MT"/>
                <a:cs typeface="Arial MT"/>
              </a:rPr>
              <a:t>	</a:t>
            </a:r>
            <a:r>
              <a:rPr sz="550" spc="40" dirty="0">
                <a:latin typeface="Arial MT"/>
                <a:cs typeface="Arial MT"/>
              </a:rPr>
              <a:t>-1</a:t>
            </a:r>
            <a:endParaRPr sz="550">
              <a:latin typeface="Arial MT"/>
              <a:cs typeface="Arial MT"/>
            </a:endParaRPr>
          </a:p>
        </p:txBody>
      </p:sp>
      <p:grpSp>
        <p:nvGrpSpPr>
          <p:cNvPr id="252" name="object 18"/>
          <p:cNvGrpSpPr/>
          <p:nvPr/>
        </p:nvGrpSpPr>
        <p:grpSpPr>
          <a:xfrm>
            <a:off x="1325195" y="3662141"/>
            <a:ext cx="1345565" cy="24765"/>
            <a:chOff x="1325195" y="3662141"/>
            <a:chExt cx="1345565" cy="24765"/>
          </a:xfrm>
        </p:grpSpPr>
        <p:sp>
          <p:nvSpPr>
            <p:cNvPr id="253" name="object 19"/>
            <p:cNvSpPr/>
            <p:nvPr/>
          </p:nvSpPr>
          <p:spPr>
            <a:xfrm>
              <a:off x="1325830"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54" name="object 20"/>
            <p:cNvSpPr/>
            <p:nvPr/>
          </p:nvSpPr>
          <p:spPr>
            <a:xfrm>
              <a:off x="1328133" y="3665036"/>
              <a:ext cx="5080" cy="0"/>
            </a:xfrm>
            <a:custGeom>
              <a:avLst/>
              <a:gdLst/>
              <a:ahLst/>
              <a:cxnLst/>
              <a:rect l="l" t="t" r="r" b="b"/>
              <a:pathLst>
                <a:path w="5080">
                  <a:moveTo>
                    <a:pt x="0" y="0"/>
                  </a:moveTo>
                  <a:lnTo>
                    <a:pt x="4536" y="0"/>
                  </a:lnTo>
                </a:path>
              </a:pathLst>
            </a:custGeom>
            <a:ln w="4692">
              <a:solidFill>
                <a:srgbClr val="000000"/>
              </a:solidFill>
            </a:ln>
          </p:spPr>
          <p:txBody>
            <a:bodyPr wrap="square" lIns="0" tIns="0" rIns="0" bIns="0" rtlCol="0"/>
            <a:lstStyle/>
            <a:p>
              <a:endParaRPr/>
            </a:p>
          </p:txBody>
        </p:sp>
        <p:sp>
          <p:nvSpPr>
            <p:cNvPr id="255" name="object 21"/>
            <p:cNvSpPr/>
            <p:nvPr/>
          </p:nvSpPr>
          <p:spPr>
            <a:xfrm>
              <a:off x="1592867"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56" name="object 22"/>
            <p:cNvSpPr/>
            <p:nvPr/>
          </p:nvSpPr>
          <p:spPr>
            <a:xfrm>
              <a:off x="1595100" y="3665036"/>
              <a:ext cx="5080" cy="0"/>
            </a:xfrm>
            <a:custGeom>
              <a:avLst/>
              <a:gdLst/>
              <a:ahLst/>
              <a:cxnLst/>
              <a:rect l="l" t="t" r="r" b="b"/>
              <a:pathLst>
                <a:path w="5080">
                  <a:moveTo>
                    <a:pt x="0" y="0"/>
                  </a:moveTo>
                  <a:lnTo>
                    <a:pt x="4676" y="0"/>
                  </a:lnTo>
                </a:path>
              </a:pathLst>
            </a:custGeom>
            <a:ln w="4692">
              <a:solidFill>
                <a:srgbClr val="000000"/>
              </a:solidFill>
            </a:ln>
          </p:spPr>
          <p:txBody>
            <a:bodyPr wrap="square" lIns="0" tIns="0" rIns="0" bIns="0" rtlCol="0"/>
            <a:lstStyle/>
            <a:p>
              <a:endParaRPr/>
            </a:p>
          </p:txBody>
        </p:sp>
        <p:sp>
          <p:nvSpPr>
            <p:cNvPr id="257" name="object 23"/>
            <p:cNvSpPr/>
            <p:nvPr/>
          </p:nvSpPr>
          <p:spPr>
            <a:xfrm>
              <a:off x="1859834"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58" name="object 24"/>
            <p:cNvSpPr/>
            <p:nvPr/>
          </p:nvSpPr>
          <p:spPr>
            <a:xfrm>
              <a:off x="1862067" y="3665036"/>
              <a:ext cx="5080" cy="0"/>
            </a:xfrm>
            <a:custGeom>
              <a:avLst/>
              <a:gdLst/>
              <a:ahLst/>
              <a:cxnLst/>
              <a:rect l="l" t="t" r="r" b="b"/>
              <a:pathLst>
                <a:path w="5080">
                  <a:moveTo>
                    <a:pt x="0" y="0"/>
                  </a:moveTo>
                  <a:lnTo>
                    <a:pt x="4746" y="0"/>
                  </a:lnTo>
                </a:path>
              </a:pathLst>
            </a:custGeom>
            <a:ln w="4692">
              <a:solidFill>
                <a:srgbClr val="000000"/>
              </a:solidFill>
            </a:ln>
          </p:spPr>
          <p:txBody>
            <a:bodyPr wrap="square" lIns="0" tIns="0" rIns="0" bIns="0" rtlCol="0"/>
            <a:lstStyle/>
            <a:p>
              <a:endParaRPr/>
            </a:p>
          </p:txBody>
        </p:sp>
        <p:sp>
          <p:nvSpPr>
            <p:cNvPr id="259" name="object 25"/>
            <p:cNvSpPr/>
            <p:nvPr/>
          </p:nvSpPr>
          <p:spPr>
            <a:xfrm>
              <a:off x="2126800"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60" name="object 26"/>
            <p:cNvSpPr/>
            <p:nvPr/>
          </p:nvSpPr>
          <p:spPr>
            <a:xfrm>
              <a:off x="2129104" y="3665036"/>
              <a:ext cx="5080" cy="0"/>
            </a:xfrm>
            <a:custGeom>
              <a:avLst/>
              <a:gdLst/>
              <a:ahLst/>
              <a:cxnLst/>
              <a:rect l="l" t="t" r="r" b="b"/>
              <a:pathLst>
                <a:path w="5080">
                  <a:moveTo>
                    <a:pt x="0" y="0"/>
                  </a:moveTo>
                  <a:lnTo>
                    <a:pt x="4676" y="0"/>
                  </a:lnTo>
                </a:path>
              </a:pathLst>
            </a:custGeom>
            <a:ln w="4692">
              <a:solidFill>
                <a:srgbClr val="000000"/>
              </a:solidFill>
            </a:ln>
          </p:spPr>
          <p:txBody>
            <a:bodyPr wrap="square" lIns="0" tIns="0" rIns="0" bIns="0" rtlCol="0"/>
            <a:lstStyle/>
            <a:p>
              <a:endParaRPr/>
            </a:p>
          </p:txBody>
        </p:sp>
        <p:sp>
          <p:nvSpPr>
            <p:cNvPr id="261" name="object 27"/>
            <p:cNvSpPr/>
            <p:nvPr/>
          </p:nvSpPr>
          <p:spPr>
            <a:xfrm>
              <a:off x="2393977"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62" name="object 28"/>
            <p:cNvSpPr/>
            <p:nvPr/>
          </p:nvSpPr>
          <p:spPr>
            <a:xfrm>
              <a:off x="2396210" y="3665036"/>
              <a:ext cx="5080" cy="0"/>
            </a:xfrm>
            <a:custGeom>
              <a:avLst/>
              <a:gdLst/>
              <a:ahLst/>
              <a:cxnLst/>
              <a:rect l="l" t="t" r="r" b="b"/>
              <a:pathLst>
                <a:path w="5080">
                  <a:moveTo>
                    <a:pt x="0" y="0"/>
                  </a:moveTo>
                  <a:lnTo>
                    <a:pt x="4746" y="0"/>
                  </a:lnTo>
                </a:path>
              </a:pathLst>
            </a:custGeom>
            <a:ln w="4692">
              <a:solidFill>
                <a:srgbClr val="000000"/>
              </a:solidFill>
            </a:ln>
          </p:spPr>
          <p:txBody>
            <a:bodyPr wrap="square" lIns="0" tIns="0" rIns="0" bIns="0" rtlCol="0"/>
            <a:lstStyle/>
            <a:p>
              <a:endParaRPr/>
            </a:p>
          </p:txBody>
        </p:sp>
        <p:sp>
          <p:nvSpPr>
            <p:cNvPr id="263" name="object 29"/>
            <p:cNvSpPr/>
            <p:nvPr/>
          </p:nvSpPr>
          <p:spPr>
            <a:xfrm>
              <a:off x="2660943" y="3662776"/>
              <a:ext cx="0" cy="23495"/>
            </a:xfrm>
            <a:custGeom>
              <a:avLst/>
              <a:gdLst/>
              <a:ahLst/>
              <a:cxnLst/>
              <a:rect l="l" t="t" r="r" b="b"/>
              <a:pathLst>
                <a:path h="23495">
                  <a:moveTo>
                    <a:pt x="0" y="23289"/>
                  </a:moveTo>
                  <a:lnTo>
                    <a:pt x="0" y="0"/>
                  </a:lnTo>
                </a:path>
              </a:pathLst>
            </a:custGeom>
            <a:ln w="3175">
              <a:solidFill>
                <a:srgbClr val="000000"/>
              </a:solidFill>
            </a:ln>
          </p:spPr>
          <p:txBody>
            <a:bodyPr wrap="square" lIns="0" tIns="0" rIns="0" bIns="0" rtlCol="0"/>
            <a:lstStyle/>
            <a:p>
              <a:endParaRPr/>
            </a:p>
          </p:txBody>
        </p:sp>
        <p:sp>
          <p:nvSpPr>
            <p:cNvPr id="264" name="object 30"/>
            <p:cNvSpPr/>
            <p:nvPr/>
          </p:nvSpPr>
          <p:spPr>
            <a:xfrm>
              <a:off x="2663177" y="3665036"/>
              <a:ext cx="5080" cy="0"/>
            </a:xfrm>
            <a:custGeom>
              <a:avLst/>
              <a:gdLst/>
              <a:ahLst/>
              <a:cxnLst/>
              <a:rect l="l" t="t" r="r" b="b"/>
              <a:pathLst>
                <a:path w="5080">
                  <a:moveTo>
                    <a:pt x="0" y="0"/>
                  </a:moveTo>
                  <a:lnTo>
                    <a:pt x="4746" y="0"/>
                  </a:lnTo>
                </a:path>
              </a:pathLst>
            </a:custGeom>
            <a:ln w="4692">
              <a:solidFill>
                <a:srgbClr val="000000"/>
              </a:solidFill>
            </a:ln>
          </p:spPr>
          <p:txBody>
            <a:bodyPr wrap="square" lIns="0" tIns="0" rIns="0" bIns="0" rtlCol="0"/>
            <a:lstStyle/>
            <a:p>
              <a:endParaRPr/>
            </a:p>
          </p:txBody>
        </p:sp>
      </p:grpSp>
      <p:sp>
        <p:nvSpPr>
          <p:cNvPr id="265" name="object 31"/>
          <p:cNvSpPr txBox="1"/>
          <p:nvPr/>
        </p:nvSpPr>
        <p:spPr>
          <a:xfrm>
            <a:off x="2629469" y="3692134"/>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2</a:t>
            </a:r>
            <a:endParaRPr sz="550">
              <a:latin typeface="Arial MT"/>
              <a:cs typeface="Arial MT"/>
            </a:endParaRPr>
          </a:p>
        </p:txBody>
      </p:sp>
      <p:grpSp>
        <p:nvGrpSpPr>
          <p:cNvPr id="266" name="object 32"/>
          <p:cNvGrpSpPr/>
          <p:nvPr/>
        </p:nvGrpSpPr>
        <p:grpSpPr>
          <a:xfrm>
            <a:off x="393603" y="1807361"/>
            <a:ext cx="1897380" cy="1903095"/>
            <a:chOff x="393603" y="1807361"/>
            <a:chExt cx="1897380" cy="1903095"/>
          </a:xfrm>
        </p:grpSpPr>
        <p:sp>
          <p:nvSpPr>
            <p:cNvPr id="267" name="object 33"/>
            <p:cNvSpPr/>
            <p:nvPr/>
          </p:nvSpPr>
          <p:spPr>
            <a:xfrm>
              <a:off x="393603" y="3442552"/>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68" name="object 34"/>
            <p:cNvSpPr/>
            <p:nvPr/>
          </p:nvSpPr>
          <p:spPr>
            <a:xfrm>
              <a:off x="419169" y="3444812"/>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69" name="object 35"/>
            <p:cNvSpPr/>
            <p:nvPr/>
          </p:nvSpPr>
          <p:spPr>
            <a:xfrm>
              <a:off x="393603" y="3180290"/>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70" name="object 36"/>
            <p:cNvSpPr/>
            <p:nvPr/>
          </p:nvSpPr>
          <p:spPr>
            <a:xfrm>
              <a:off x="419169" y="3182522"/>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71" name="object 37"/>
            <p:cNvSpPr/>
            <p:nvPr/>
          </p:nvSpPr>
          <p:spPr>
            <a:xfrm>
              <a:off x="393603" y="2913293"/>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72" name="object 38"/>
            <p:cNvSpPr/>
            <p:nvPr/>
          </p:nvSpPr>
          <p:spPr>
            <a:xfrm>
              <a:off x="419169" y="2915525"/>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73" name="object 39"/>
            <p:cNvSpPr/>
            <p:nvPr/>
          </p:nvSpPr>
          <p:spPr>
            <a:xfrm>
              <a:off x="393603" y="2646296"/>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74" name="object 40"/>
            <p:cNvSpPr/>
            <p:nvPr/>
          </p:nvSpPr>
          <p:spPr>
            <a:xfrm>
              <a:off x="419169" y="2648598"/>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75" name="object 41"/>
            <p:cNvSpPr/>
            <p:nvPr/>
          </p:nvSpPr>
          <p:spPr>
            <a:xfrm>
              <a:off x="393603" y="2379368"/>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76" name="object 42"/>
            <p:cNvSpPr/>
            <p:nvPr/>
          </p:nvSpPr>
          <p:spPr>
            <a:xfrm>
              <a:off x="419169" y="2381600"/>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77" name="object 43"/>
            <p:cNvSpPr/>
            <p:nvPr/>
          </p:nvSpPr>
          <p:spPr>
            <a:xfrm>
              <a:off x="393603" y="2112371"/>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78" name="object 44"/>
            <p:cNvSpPr/>
            <p:nvPr/>
          </p:nvSpPr>
          <p:spPr>
            <a:xfrm>
              <a:off x="419169" y="2114603"/>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79" name="object 45"/>
            <p:cNvSpPr/>
            <p:nvPr/>
          </p:nvSpPr>
          <p:spPr>
            <a:xfrm>
              <a:off x="393603" y="1845374"/>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280" name="object 46"/>
            <p:cNvSpPr/>
            <p:nvPr/>
          </p:nvSpPr>
          <p:spPr>
            <a:xfrm>
              <a:off x="419169" y="1847676"/>
              <a:ext cx="5080" cy="0"/>
            </a:xfrm>
            <a:custGeom>
              <a:avLst/>
              <a:gdLst/>
              <a:ahLst/>
              <a:cxnLst/>
              <a:rect l="l" t="t" r="r" b="b"/>
              <a:pathLst>
                <a:path w="5079">
                  <a:moveTo>
                    <a:pt x="0" y="0"/>
                  </a:moveTo>
                  <a:lnTo>
                    <a:pt x="4697" y="0"/>
                  </a:lnTo>
                </a:path>
              </a:pathLst>
            </a:custGeom>
            <a:ln w="4692">
              <a:solidFill>
                <a:srgbClr val="000000"/>
              </a:solidFill>
            </a:ln>
          </p:spPr>
          <p:txBody>
            <a:bodyPr wrap="square" lIns="0" tIns="0" rIns="0" bIns="0" rtlCol="0"/>
            <a:lstStyle/>
            <a:p>
              <a:endParaRPr/>
            </a:p>
          </p:txBody>
        </p:sp>
        <p:sp>
          <p:nvSpPr>
            <p:cNvPr id="281" name="object 47"/>
            <p:cNvSpPr/>
            <p:nvPr/>
          </p:nvSpPr>
          <p:spPr>
            <a:xfrm>
              <a:off x="1040088" y="3662776"/>
              <a:ext cx="46990" cy="46990"/>
            </a:xfrm>
            <a:custGeom>
              <a:avLst/>
              <a:gdLst/>
              <a:ahLst/>
              <a:cxnLst/>
              <a:rect l="l" t="t" r="r" b="b"/>
              <a:pathLst>
                <a:path w="46990" h="46989">
                  <a:moveTo>
                    <a:pt x="23311" y="0"/>
                  </a:moveTo>
                  <a:lnTo>
                    <a:pt x="13721" y="1684"/>
                  </a:lnTo>
                  <a:lnTo>
                    <a:pt x="6368" y="6431"/>
                  </a:lnTo>
                  <a:lnTo>
                    <a:pt x="1659" y="13785"/>
                  </a:lnTo>
                  <a:lnTo>
                    <a:pt x="0" y="23289"/>
                  </a:lnTo>
                  <a:lnTo>
                    <a:pt x="1659" y="32896"/>
                  </a:lnTo>
                  <a:lnTo>
                    <a:pt x="6368" y="40301"/>
                  </a:lnTo>
                  <a:lnTo>
                    <a:pt x="13721" y="45066"/>
                  </a:lnTo>
                  <a:lnTo>
                    <a:pt x="23311" y="46752"/>
                  </a:lnTo>
                  <a:lnTo>
                    <a:pt x="32923" y="45066"/>
                  </a:lnTo>
                  <a:lnTo>
                    <a:pt x="40324" y="40301"/>
                  </a:lnTo>
                  <a:lnTo>
                    <a:pt x="45081" y="32896"/>
                  </a:lnTo>
                  <a:lnTo>
                    <a:pt x="46762" y="23289"/>
                  </a:lnTo>
                  <a:lnTo>
                    <a:pt x="45081" y="13785"/>
                  </a:lnTo>
                  <a:lnTo>
                    <a:pt x="40324" y="6431"/>
                  </a:lnTo>
                  <a:lnTo>
                    <a:pt x="32923" y="1684"/>
                  </a:lnTo>
                  <a:lnTo>
                    <a:pt x="23311" y="0"/>
                  </a:lnTo>
                  <a:close/>
                </a:path>
              </a:pathLst>
            </a:custGeom>
            <a:solidFill>
              <a:srgbClr val="FF0000"/>
            </a:solidFill>
          </p:spPr>
          <p:txBody>
            <a:bodyPr wrap="square" lIns="0" tIns="0" rIns="0" bIns="0" rtlCol="0"/>
            <a:lstStyle/>
            <a:p>
              <a:endParaRPr/>
            </a:p>
          </p:txBody>
        </p:sp>
        <p:sp>
          <p:nvSpPr>
            <p:cNvPr id="282" name="object 48"/>
            <p:cNvSpPr/>
            <p:nvPr/>
          </p:nvSpPr>
          <p:spPr>
            <a:xfrm>
              <a:off x="1040088" y="3662776"/>
              <a:ext cx="46990" cy="46990"/>
            </a:xfrm>
            <a:custGeom>
              <a:avLst/>
              <a:gdLst/>
              <a:ahLst/>
              <a:cxnLst/>
              <a:rect l="l" t="t" r="r" b="b"/>
              <a:pathLst>
                <a:path w="46990" h="46989">
                  <a:moveTo>
                    <a:pt x="0" y="23289"/>
                  </a:moveTo>
                  <a:lnTo>
                    <a:pt x="1659" y="32896"/>
                  </a:lnTo>
                  <a:lnTo>
                    <a:pt x="6368" y="40301"/>
                  </a:lnTo>
                  <a:lnTo>
                    <a:pt x="13721" y="45066"/>
                  </a:lnTo>
                  <a:lnTo>
                    <a:pt x="23311" y="46752"/>
                  </a:lnTo>
                  <a:lnTo>
                    <a:pt x="32923" y="45066"/>
                  </a:lnTo>
                  <a:lnTo>
                    <a:pt x="40324" y="40301"/>
                  </a:lnTo>
                  <a:lnTo>
                    <a:pt x="45081" y="32896"/>
                  </a:lnTo>
                  <a:lnTo>
                    <a:pt x="46762" y="23289"/>
                  </a:lnTo>
                  <a:lnTo>
                    <a:pt x="45081" y="13785"/>
                  </a:lnTo>
                  <a:lnTo>
                    <a:pt x="40324" y="6431"/>
                  </a:lnTo>
                  <a:lnTo>
                    <a:pt x="32923" y="1684"/>
                  </a:lnTo>
                  <a:lnTo>
                    <a:pt x="23311" y="0"/>
                  </a:lnTo>
                  <a:lnTo>
                    <a:pt x="13721" y="1684"/>
                  </a:lnTo>
                  <a:lnTo>
                    <a:pt x="6368" y="6431"/>
                  </a:lnTo>
                  <a:lnTo>
                    <a:pt x="1659" y="13785"/>
                  </a:lnTo>
                  <a:lnTo>
                    <a:pt x="0" y="23289"/>
                  </a:lnTo>
                  <a:close/>
                </a:path>
              </a:pathLst>
            </a:custGeom>
            <a:ln w="3175">
              <a:solidFill>
                <a:srgbClr val="FF0000"/>
              </a:solidFill>
            </a:ln>
          </p:spPr>
          <p:txBody>
            <a:bodyPr wrap="square" lIns="0" tIns="0" rIns="0" bIns="0" rtlCol="0"/>
            <a:lstStyle/>
            <a:p>
              <a:endParaRPr/>
            </a:p>
          </p:txBody>
        </p:sp>
        <p:sp>
          <p:nvSpPr>
            <p:cNvPr id="283" name="object 49"/>
            <p:cNvSpPr/>
            <p:nvPr/>
          </p:nvSpPr>
          <p:spPr>
            <a:xfrm>
              <a:off x="1264829" y="3400493"/>
              <a:ext cx="46990" cy="46990"/>
            </a:xfrm>
            <a:custGeom>
              <a:avLst/>
              <a:gdLst/>
              <a:ahLst/>
              <a:cxnLst/>
              <a:rect l="l" t="t" r="r" b="b"/>
              <a:pathLst>
                <a:path w="46990" h="46989">
                  <a:moveTo>
                    <a:pt x="23451" y="0"/>
                  </a:moveTo>
                  <a:lnTo>
                    <a:pt x="13839" y="1658"/>
                  </a:lnTo>
                  <a:lnTo>
                    <a:pt x="6438" y="6363"/>
                  </a:lnTo>
                  <a:lnTo>
                    <a:pt x="1681" y="13709"/>
                  </a:lnTo>
                  <a:lnTo>
                    <a:pt x="0" y="23289"/>
                  </a:lnTo>
                  <a:lnTo>
                    <a:pt x="1681" y="32893"/>
                  </a:lnTo>
                  <a:lnTo>
                    <a:pt x="6438" y="40298"/>
                  </a:lnTo>
                  <a:lnTo>
                    <a:pt x="13839" y="45065"/>
                  </a:lnTo>
                  <a:lnTo>
                    <a:pt x="23451" y="46752"/>
                  </a:lnTo>
                  <a:lnTo>
                    <a:pt x="33074" y="45065"/>
                  </a:lnTo>
                  <a:lnTo>
                    <a:pt x="40498" y="40298"/>
                  </a:lnTo>
                  <a:lnTo>
                    <a:pt x="45279" y="32893"/>
                  </a:lnTo>
                  <a:lnTo>
                    <a:pt x="46972" y="23289"/>
                  </a:lnTo>
                  <a:lnTo>
                    <a:pt x="45279" y="13709"/>
                  </a:lnTo>
                  <a:lnTo>
                    <a:pt x="40498" y="6363"/>
                  </a:lnTo>
                  <a:lnTo>
                    <a:pt x="33074" y="1658"/>
                  </a:lnTo>
                  <a:lnTo>
                    <a:pt x="23451" y="0"/>
                  </a:lnTo>
                  <a:close/>
                </a:path>
              </a:pathLst>
            </a:custGeom>
            <a:solidFill>
              <a:srgbClr val="FF0000"/>
            </a:solidFill>
          </p:spPr>
          <p:txBody>
            <a:bodyPr wrap="square" lIns="0" tIns="0" rIns="0" bIns="0" rtlCol="0"/>
            <a:lstStyle/>
            <a:p>
              <a:endParaRPr/>
            </a:p>
          </p:txBody>
        </p:sp>
        <p:pic>
          <p:nvPicPr>
            <p:cNvPr id="284" name="object 50"/>
            <p:cNvPicPr/>
            <p:nvPr/>
          </p:nvPicPr>
          <p:blipFill>
            <a:blip r:embed="rId2" cstate="print"/>
            <a:stretch>
              <a:fillRect/>
            </a:stretch>
          </p:blipFill>
          <p:spPr>
            <a:xfrm>
              <a:off x="842707" y="3207911"/>
              <a:ext cx="352326" cy="361667"/>
            </a:xfrm>
            <a:prstGeom prst="rect">
              <a:avLst/>
            </a:prstGeom>
          </p:spPr>
        </p:pic>
        <p:sp>
          <p:nvSpPr>
            <p:cNvPr id="285" name="object 51"/>
            <p:cNvSpPr/>
            <p:nvPr/>
          </p:nvSpPr>
          <p:spPr>
            <a:xfrm>
              <a:off x="1264829" y="3400493"/>
              <a:ext cx="46990" cy="46990"/>
            </a:xfrm>
            <a:custGeom>
              <a:avLst/>
              <a:gdLst/>
              <a:ahLst/>
              <a:cxnLst/>
              <a:rect l="l" t="t" r="r" b="b"/>
              <a:pathLst>
                <a:path w="46990" h="46989">
                  <a:moveTo>
                    <a:pt x="0" y="23289"/>
                  </a:moveTo>
                  <a:lnTo>
                    <a:pt x="1681" y="32893"/>
                  </a:lnTo>
                  <a:lnTo>
                    <a:pt x="6438" y="40298"/>
                  </a:lnTo>
                  <a:lnTo>
                    <a:pt x="13839" y="45065"/>
                  </a:lnTo>
                  <a:lnTo>
                    <a:pt x="23451" y="46752"/>
                  </a:lnTo>
                  <a:lnTo>
                    <a:pt x="33074" y="45065"/>
                  </a:lnTo>
                  <a:lnTo>
                    <a:pt x="40498" y="40298"/>
                  </a:lnTo>
                  <a:lnTo>
                    <a:pt x="45279" y="32893"/>
                  </a:lnTo>
                  <a:lnTo>
                    <a:pt x="46972" y="23289"/>
                  </a:lnTo>
                  <a:lnTo>
                    <a:pt x="45279" y="13709"/>
                  </a:lnTo>
                  <a:lnTo>
                    <a:pt x="40498" y="6363"/>
                  </a:lnTo>
                  <a:lnTo>
                    <a:pt x="33074" y="1658"/>
                  </a:lnTo>
                  <a:lnTo>
                    <a:pt x="23451" y="0"/>
                  </a:lnTo>
                  <a:lnTo>
                    <a:pt x="13839" y="1658"/>
                  </a:lnTo>
                  <a:lnTo>
                    <a:pt x="6438" y="6363"/>
                  </a:lnTo>
                  <a:lnTo>
                    <a:pt x="1681" y="13709"/>
                  </a:lnTo>
                  <a:lnTo>
                    <a:pt x="0" y="23289"/>
                  </a:lnTo>
                  <a:close/>
                </a:path>
              </a:pathLst>
            </a:custGeom>
            <a:ln w="3175">
              <a:solidFill>
                <a:srgbClr val="FF0000"/>
              </a:solidFill>
            </a:ln>
          </p:spPr>
          <p:txBody>
            <a:bodyPr wrap="square" lIns="0" tIns="0" rIns="0" bIns="0" rtlCol="0"/>
            <a:lstStyle/>
            <a:p>
              <a:endParaRPr/>
            </a:p>
          </p:txBody>
        </p:sp>
        <p:sp>
          <p:nvSpPr>
            <p:cNvPr id="286" name="object 52"/>
            <p:cNvSpPr/>
            <p:nvPr/>
          </p:nvSpPr>
          <p:spPr>
            <a:xfrm>
              <a:off x="1199221" y="3091291"/>
              <a:ext cx="46990" cy="46990"/>
            </a:xfrm>
            <a:custGeom>
              <a:avLst/>
              <a:gdLst/>
              <a:ahLst/>
              <a:cxnLst/>
              <a:rect l="l" t="t" r="r" b="b"/>
              <a:pathLst>
                <a:path w="46990" h="46989">
                  <a:moveTo>
                    <a:pt x="23520" y="0"/>
                  </a:moveTo>
                  <a:lnTo>
                    <a:pt x="13897" y="1680"/>
                  </a:lnTo>
                  <a:lnTo>
                    <a:pt x="6473" y="6434"/>
                  </a:lnTo>
                  <a:lnTo>
                    <a:pt x="1692" y="13829"/>
                  </a:lnTo>
                  <a:lnTo>
                    <a:pt x="0" y="23435"/>
                  </a:lnTo>
                  <a:lnTo>
                    <a:pt x="1692" y="33019"/>
                  </a:lnTo>
                  <a:lnTo>
                    <a:pt x="6473" y="40366"/>
                  </a:lnTo>
                  <a:lnTo>
                    <a:pt x="13897" y="45072"/>
                  </a:lnTo>
                  <a:lnTo>
                    <a:pt x="23520" y="46731"/>
                  </a:lnTo>
                  <a:lnTo>
                    <a:pt x="33133" y="45072"/>
                  </a:lnTo>
                  <a:lnTo>
                    <a:pt x="40533" y="40366"/>
                  </a:lnTo>
                  <a:lnTo>
                    <a:pt x="45290" y="33019"/>
                  </a:lnTo>
                  <a:lnTo>
                    <a:pt x="46972" y="23435"/>
                  </a:lnTo>
                  <a:lnTo>
                    <a:pt x="45290" y="13829"/>
                  </a:lnTo>
                  <a:lnTo>
                    <a:pt x="40533" y="6434"/>
                  </a:lnTo>
                  <a:lnTo>
                    <a:pt x="33133" y="1680"/>
                  </a:lnTo>
                  <a:lnTo>
                    <a:pt x="23520" y="0"/>
                  </a:lnTo>
                  <a:close/>
                </a:path>
              </a:pathLst>
            </a:custGeom>
            <a:solidFill>
              <a:srgbClr val="FF0000"/>
            </a:solidFill>
          </p:spPr>
          <p:txBody>
            <a:bodyPr wrap="square" lIns="0" tIns="0" rIns="0" bIns="0" rtlCol="0"/>
            <a:lstStyle/>
            <a:p>
              <a:endParaRPr/>
            </a:p>
          </p:txBody>
        </p:sp>
        <p:sp>
          <p:nvSpPr>
            <p:cNvPr id="287" name="object 53"/>
            <p:cNvSpPr/>
            <p:nvPr/>
          </p:nvSpPr>
          <p:spPr>
            <a:xfrm>
              <a:off x="1199221" y="3091291"/>
              <a:ext cx="46990" cy="46990"/>
            </a:xfrm>
            <a:custGeom>
              <a:avLst/>
              <a:gdLst/>
              <a:ahLst/>
              <a:cxnLst/>
              <a:rect l="l" t="t" r="r" b="b"/>
              <a:pathLst>
                <a:path w="46990" h="46989">
                  <a:moveTo>
                    <a:pt x="0" y="23435"/>
                  </a:moveTo>
                  <a:lnTo>
                    <a:pt x="1692" y="33019"/>
                  </a:lnTo>
                  <a:lnTo>
                    <a:pt x="6473" y="40366"/>
                  </a:lnTo>
                  <a:lnTo>
                    <a:pt x="13897" y="45072"/>
                  </a:lnTo>
                  <a:lnTo>
                    <a:pt x="23520" y="46731"/>
                  </a:lnTo>
                  <a:lnTo>
                    <a:pt x="33133" y="45072"/>
                  </a:lnTo>
                  <a:lnTo>
                    <a:pt x="40533" y="40366"/>
                  </a:lnTo>
                  <a:lnTo>
                    <a:pt x="45290" y="33019"/>
                  </a:lnTo>
                  <a:lnTo>
                    <a:pt x="46972" y="23435"/>
                  </a:lnTo>
                  <a:lnTo>
                    <a:pt x="45290" y="13829"/>
                  </a:lnTo>
                  <a:lnTo>
                    <a:pt x="40533" y="6434"/>
                  </a:lnTo>
                  <a:lnTo>
                    <a:pt x="33133" y="1680"/>
                  </a:lnTo>
                  <a:lnTo>
                    <a:pt x="23520" y="0"/>
                  </a:lnTo>
                  <a:lnTo>
                    <a:pt x="13897" y="1680"/>
                  </a:lnTo>
                  <a:lnTo>
                    <a:pt x="6473" y="6434"/>
                  </a:lnTo>
                  <a:lnTo>
                    <a:pt x="1692" y="13829"/>
                  </a:lnTo>
                  <a:lnTo>
                    <a:pt x="0" y="23435"/>
                  </a:lnTo>
                  <a:close/>
                </a:path>
              </a:pathLst>
            </a:custGeom>
            <a:ln w="3175">
              <a:solidFill>
                <a:srgbClr val="FF0000"/>
              </a:solidFill>
            </a:ln>
          </p:spPr>
          <p:txBody>
            <a:bodyPr wrap="square" lIns="0" tIns="0" rIns="0" bIns="0" rtlCol="0"/>
            <a:lstStyle/>
            <a:p>
              <a:endParaRPr/>
            </a:p>
          </p:txBody>
        </p:sp>
        <p:sp>
          <p:nvSpPr>
            <p:cNvPr id="288" name="object 54"/>
            <p:cNvSpPr/>
            <p:nvPr/>
          </p:nvSpPr>
          <p:spPr>
            <a:xfrm>
              <a:off x="1049301" y="2384042"/>
              <a:ext cx="46990" cy="56515"/>
            </a:xfrm>
            <a:custGeom>
              <a:avLst/>
              <a:gdLst/>
              <a:ahLst/>
              <a:cxnLst/>
              <a:rect l="l" t="t" r="r" b="b"/>
              <a:pathLst>
                <a:path w="46990" h="56514">
                  <a:moveTo>
                    <a:pt x="23520" y="0"/>
                  </a:moveTo>
                  <a:lnTo>
                    <a:pt x="0" y="28178"/>
                  </a:lnTo>
                  <a:lnTo>
                    <a:pt x="23520" y="56147"/>
                  </a:lnTo>
                  <a:lnTo>
                    <a:pt x="46972" y="28178"/>
                  </a:lnTo>
                  <a:lnTo>
                    <a:pt x="23520" y="0"/>
                  </a:lnTo>
                  <a:close/>
                </a:path>
              </a:pathLst>
            </a:custGeom>
            <a:solidFill>
              <a:srgbClr val="00FF00"/>
            </a:solidFill>
          </p:spPr>
          <p:txBody>
            <a:bodyPr wrap="square" lIns="0" tIns="0" rIns="0" bIns="0" rtlCol="0"/>
            <a:lstStyle/>
            <a:p>
              <a:endParaRPr/>
            </a:p>
          </p:txBody>
        </p:sp>
        <p:sp>
          <p:nvSpPr>
            <p:cNvPr id="289" name="object 55"/>
            <p:cNvSpPr/>
            <p:nvPr/>
          </p:nvSpPr>
          <p:spPr>
            <a:xfrm>
              <a:off x="1049301" y="2384042"/>
              <a:ext cx="46990" cy="56515"/>
            </a:xfrm>
            <a:custGeom>
              <a:avLst/>
              <a:gdLst/>
              <a:ahLst/>
              <a:cxnLst/>
              <a:rect l="l" t="t" r="r" b="b"/>
              <a:pathLst>
                <a:path w="46990" h="56514">
                  <a:moveTo>
                    <a:pt x="23520" y="56147"/>
                  </a:moveTo>
                  <a:lnTo>
                    <a:pt x="46972" y="28178"/>
                  </a:lnTo>
                  <a:lnTo>
                    <a:pt x="23520" y="0"/>
                  </a:lnTo>
                  <a:lnTo>
                    <a:pt x="0" y="28178"/>
                  </a:lnTo>
                  <a:lnTo>
                    <a:pt x="23520" y="56147"/>
                  </a:lnTo>
                  <a:close/>
                </a:path>
              </a:pathLst>
            </a:custGeom>
            <a:ln w="3175">
              <a:solidFill>
                <a:srgbClr val="00FF00"/>
              </a:solidFill>
            </a:ln>
          </p:spPr>
          <p:txBody>
            <a:bodyPr wrap="square" lIns="0" tIns="0" rIns="0" bIns="0" rtlCol="0"/>
            <a:lstStyle/>
            <a:p>
              <a:endParaRPr/>
            </a:p>
          </p:txBody>
        </p:sp>
        <p:pic>
          <p:nvPicPr>
            <p:cNvPr id="290" name="object 56"/>
            <p:cNvPicPr/>
            <p:nvPr/>
          </p:nvPicPr>
          <p:blipFill>
            <a:blip r:embed="rId3" cstate="print"/>
            <a:stretch>
              <a:fillRect/>
            </a:stretch>
          </p:blipFill>
          <p:spPr>
            <a:xfrm>
              <a:off x="1198733" y="1947974"/>
              <a:ext cx="905244" cy="993986"/>
            </a:xfrm>
            <a:prstGeom prst="rect">
              <a:avLst/>
            </a:prstGeom>
          </p:spPr>
        </p:pic>
        <p:sp>
          <p:nvSpPr>
            <p:cNvPr id="291" name="object 57"/>
            <p:cNvSpPr/>
            <p:nvPr/>
          </p:nvSpPr>
          <p:spPr>
            <a:xfrm>
              <a:off x="1672503" y="1812522"/>
              <a:ext cx="46990" cy="56515"/>
            </a:xfrm>
            <a:custGeom>
              <a:avLst/>
              <a:gdLst/>
              <a:ahLst/>
              <a:cxnLst/>
              <a:rect l="l" t="t" r="r" b="b"/>
              <a:pathLst>
                <a:path w="46989" h="56514">
                  <a:moveTo>
                    <a:pt x="23311" y="0"/>
                  </a:moveTo>
                  <a:lnTo>
                    <a:pt x="0" y="28178"/>
                  </a:lnTo>
                  <a:lnTo>
                    <a:pt x="23311" y="56356"/>
                  </a:lnTo>
                  <a:lnTo>
                    <a:pt x="46762" y="28178"/>
                  </a:lnTo>
                  <a:lnTo>
                    <a:pt x="23311" y="0"/>
                  </a:lnTo>
                  <a:close/>
                </a:path>
              </a:pathLst>
            </a:custGeom>
            <a:solidFill>
              <a:srgbClr val="00FF00"/>
            </a:solidFill>
          </p:spPr>
          <p:txBody>
            <a:bodyPr wrap="square" lIns="0" tIns="0" rIns="0" bIns="0" rtlCol="0"/>
            <a:lstStyle/>
            <a:p>
              <a:endParaRPr/>
            </a:p>
          </p:txBody>
        </p:sp>
        <p:sp>
          <p:nvSpPr>
            <p:cNvPr id="292" name="object 58"/>
            <p:cNvSpPr/>
            <p:nvPr/>
          </p:nvSpPr>
          <p:spPr>
            <a:xfrm>
              <a:off x="1672503" y="1812522"/>
              <a:ext cx="46990" cy="56515"/>
            </a:xfrm>
            <a:custGeom>
              <a:avLst/>
              <a:gdLst/>
              <a:ahLst/>
              <a:cxnLst/>
              <a:rect l="l" t="t" r="r" b="b"/>
              <a:pathLst>
                <a:path w="46989" h="56514">
                  <a:moveTo>
                    <a:pt x="23311" y="56356"/>
                  </a:moveTo>
                  <a:lnTo>
                    <a:pt x="46762" y="28178"/>
                  </a:lnTo>
                  <a:lnTo>
                    <a:pt x="23311" y="0"/>
                  </a:lnTo>
                  <a:lnTo>
                    <a:pt x="0" y="28178"/>
                  </a:lnTo>
                  <a:lnTo>
                    <a:pt x="23311" y="56356"/>
                  </a:lnTo>
                  <a:close/>
                </a:path>
              </a:pathLst>
            </a:custGeom>
            <a:ln w="3175">
              <a:solidFill>
                <a:srgbClr val="00FF00"/>
              </a:solidFill>
            </a:ln>
          </p:spPr>
          <p:txBody>
            <a:bodyPr wrap="square" lIns="0" tIns="0" rIns="0" bIns="0" rtlCol="0"/>
            <a:lstStyle/>
            <a:p>
              <a:endParaRPr/>
            </a:p>
          </p:txBody>
        </p:sp>
        <p:sp>
          <p:nvSpPr>
            <p:cNvPr id="293" name="object 59"/>
            <p:cNvSpPr/>
            <p:nvPr/>
          </p:nvSpPr>
          <p:spPr>
            <a:xfrm>
              <a:off x="1428848" y="1807849"/>
              <a:ext cx="46990" cy="56515"/>
            </a:xfrm>
            <a:custGeom>
              <a:avLst/>
              <a:gdLst/>
              <a:ahLst/>
              <a:cxnLst/>
              <a:rect l="l" t="t" r="r" b="b"/>
              <a:pathLst>
                <a:path w="46990" h="56514">
                  <a:moveTo>
                    <a:pt x="23451" y="0"/>
                  </a:moveTo>
                  <a:lnTo>
                    <a:pt x="0" y="28178"/>
                  </a:lnTo>
                  <a:lnTo>
                    <a:pt x="23451" y="56287"/>
                  </a:lnTo>
                  <a:lnTo>
                    <a:pt x="46762" y="28178"/>
                  </a:lnTo>
                  <a:lnTo>
                    <a:pt x="23451" y="0"/>
                  </a:lnTo>
                  <a:close/>
                </a:path>
              </a:pathLst>
            </a:custGeom>
            <a:solidFill>
              <a:srgbClr val="00FF00"/>
            </a:solidFill>
          </p:spPr>
          <p:txBody>
            <a:bodyPr wrap="square" lIns="0" tIns="0" rIns="0" bIns="0" rtlCol="0"/>
            <a:lstStyle/>
            <a:p>
              <a:endParaRPr/>
            </a:p>
          </p:txBody>
        </p:sp>
        <p:sp>
          <p:nvSpPr>
            <p:cNvPr id="294" name="object 60"/>
            <p:cNvSpPr/>
            <p:nvPr/>
          </p:nvSpPr>
          <p:spPr>
            <a:xfrm>
              <a:off x="1428848" y="1807849"/>
              <a:ext cx="46990" cy="56515"/>
            </a:xfrm>
            <a:custGeom>
              <a:avLst/>
              <a:gdLst/>
              <a:ahLst/>
              <a:cxnLst/>
              <a:rect l="l" t="t" r="r" b="b"/>
              <a:pathLst>
                <a:path w="46990" h="56514">
                  <a:moveTo>
                    <a:pt x="23451" y="56287"/>
                  </a:moveTo>
                  <a:lnTo>
                    <a:pt x="46762" y="28178"/>
                  </a:lnTo>
                  <a:lnTo>
                    <a:pt x="23451" y="0"/>
                  </a:lnTo>
                  <a:lnTo>
                    <a:pt x="0" y="28178"/>
                  </a:lnTo>
                  <a:lnTo>
                    <a:pt x="23451" y="56287"/>
                  </a:lnTo>
                  <a:close/>
                </a:path>
              </a:pathLst>
            </a:custGeom>
            <a:ln w="3175">
              <a:solidFill>
                <a:srgbClr val="00FF00"/>
              </a:solidFill>
            </a:ln>
          </p:spPr>
          <p:txBody>
            <a:bodyPr wrap="square" lIns="0" tIns="0" rIns="0" bIns="0" rtlCol="0"/>
            <a:lstStyle/>
            <a:p>
              <a:endParaRPr/>
            </a:p>
          </p:txBody>
        </p:sp>
        <p:sp>
          <p:nvSpPr>
            <p:cNvPr id="295" name="object 61"/>
            <p:cNvSpPr/>
            <p:nvPr/>
          </p:nvSpPr>
          <p:spPr>
            <a:xfrm>
              <a:off x="1747463" y="3077202"/>
              <a:ext cx="46990" cy="56515"/>
            </a:xfrm>
            <a:custGeom>
              <a:avLst/>
              <a:gdLst/>
              <a:ahLst/>
              <a:cxnLst/>
              <a:rect l="l" t="t" r="r" b="b"/>
              <a:pathLst>
                <a:path w="46989" h="56514">
                  <a:moveTo>
                    <a:pt x="23311" y="0"/>
                  </a:moveTo>
                  <a:lnTo>
                    <a:pt x="0" y="28178"/>
                  </a:lnTo>
                  <a:lnTo>
                    <a:pt x="23311" y="56287"/>
                  </a:lnTo>
                  <a:lnTo>
                    <a:pt x="46762" y="28178"/>
                  </a:lnTo>
                  <a:lnTo>
                    <a:pt x="23311" y="0"/>
                  </a:lnTo>
                  <a:close/>
                </a:path>
              </a:pathLst>
            </a:custGeom>
            <a:solidFill>
              <a:srgbClr val="00FF00"/>
            </a:solidFill>
          </p:spPr>
          <p:txBody>
            <a:bodyPr wrap="square" lIns="0" tIns="0" rIns="0" bIns="0" rtlCol="0"/>
            <a:lstStyle/>
            <a:p>
              <a:endParaRPr/>
            </a:p>
          </p:txBody>
        </p:sp>
        <p:sp>
          <p:nvSpPr>
            <p:cNvPr id="296" name="object 62"/>
            <p:cNvSpPr/>
            <p:nvPr/>
          </p:nvSpPr>
          <p:spPr>
            <a:xfrm>
              <a:off x="1747463" y="3077202"/>
              <a:ext cx="46990" cy="56515"/>
            </a:xfrm>
            <a:custGeom>
              <a:avLst/>
              <a:gdLst/>
              <a:ahLst/>
              <a:cxnLst/>
              <a:rect l="l" t="t" r="r" b="b"/>
              <a:pathLst>
                <a:path w="46989" h="56514">
                  <a:moveTo>
                    <a:pt x="23311" y="56287"/>
                  </a:moveTo>
                  <a:lnTo>
                    <a:pt x="46762" y="28178"/>
                  </a:lnTo>
                  <a:lnTo>
                    <a:pt x="23311" y="0"/>
                  </a:lnTo>
                  <a:lnTo>
                    <a:pt x="0" y="28178"/>
                  </a:lnTo>
                  <a:lnTo>
                    <a:pt x="23311" y="56287"/>
                  </a:lnTo>
                  <a:close/>
                </a:path>
              </a:pathLst>
            </a:custGeom>
            <a:ln w="3175">
              <a:solidFill>
                <a:srgbClr val="00FF00"/>
              </a:solidFill>
            </a:ln>
          </p:spPr>
          <p:txBody>
            <a:bodyPr wrap="square" lIns="0" tIns="0" rIns="0" bIns="0" rtlCol="0"/>
            <a:lstStyle/>
            <a:p>
              <a:endParaRPr/>
            </a:p>
          </p:txBody>
        </p:sp>
        <p:sp>
          <p:nvSpPr>
            <p:cNvPr id="297" name="object 63"/>
            <p:cNvSpPr/>
            <p:nvPr/>
          </p:nvSpPr>
          <p:spPr>
            <a:xfrm>
              <a:off x="1958238" y="3306813"/>
              <a:ext cx="332740" cy="337820"/>
            </a:xfrm>
            <a:custGeom>
              <a:avLst/>
              <a:gdLst/>
              <a:ahLst/>
              <a:cxnLst/>
              <a:rect l="l" t="t" r="r" b="b"/>
              <a:pathLst>
                <a:path w="332739" h="337820">
                  <a:moveTo>
                    <a:pt x="37401" y="0"/>
                  </a:moveTo>
                  <a:lnTo>
                    <a:pt x="0" y="0"/>
                  </a:lnTo>
                  <a:lnTo>
                    <a:pt x="0" y="37376"/>
                  </a:lnTo>
                  <a:lnTo>
                    <a:pt x="37401" y="37376"/>
                  </a:lnTo>
                  <a:lnTo>
                    <a:pt x="37401" y="0"/>
                  </a:lnTo>
                  <a:close/>
                </a:path>
                <a:path w="332739" h="337820">
                  <a:moveTo>
                    <a:pt x="65620" y="98196"/>
                  </a:moveTo>
                  <a:lnTo>
                    <a:pt x="51498" y="98196"/>
                  </a:lnTo>
                  <a:lnTo>
                    <a:pt x="51498" y="93675"/>
                  </a:lnTo>
                  <a:lnTo>
                    <a:pt x="14097" y="93675"/>
                  </a:lnTo>
                  <a:lnTo>
                    <a:pt x="14097" y="131051"/>
                  </a:lnTo>
                  <a:lnTo>
                    <a:pt x="28054" y="131051"/>
                  </a:lnTo>
                  <a:lnTo>
                    <a:pt x="28054" y="135750"/>
                  </a:lnTo>
                  <a:lnTo>
                    <a:pt x="65620" y="135750"/>
                  </a:lnTo>
                  <a:lnTo>
                    <a:pt x="65620" y="98196"/>
                  </a:lnTo>
                  <a:close/>
                </a:path>
                <a:path w="332739" h="337820">
                  <a:moveTo>
                    <a:pt x="117106" y="60833"/>
                  </a:moveTo>
                  <a:lnTo>
                    <a:pt x="79705" y="60833"/>
                  </a:lnTo>
                  <a:lnTo>
                    <a:pt x="79705" y="98209"/>
                  </a:lnTo>
                  <a:lnTo>
                    <a:pt x="117106" y="98209"/>
                  </a:lnTo>
                  <a:lnTo>
                    <a:pt x="117106" y="60833"/>
                  </a:lnTo>
                  <a:close/>
                </a:path>
                <a:path w="332739" h="337820">
                  <a:moveTo>
                    <a:pt x="131165" y="252895"/>
                  </a:moveTo>
                  <a:lnTo>
                    <a:pt x="126453" y="252895"/>
                  </a:lnTo>
                  <a:lnTo>
                    <a:pt x="93599" y="252895"/>
                  </a:lnTo>
                  <a:lnTo>
                    <a:pt x="89065" y="252895"/>
                  </a:lnTo>
                  <a:lnTo>
                    <a:pt x="89065" y="290271"/>
                  </a:lnTo>
                  <a:lnTo>
                    <a:pt x="93599" y="290271"/>
                  </a:lnTo>
                  <a:lnTo>
                    <a:pt x="126453" y="290271"/>
                  </a:lnTo>
                  <a:lnTo>
                    <a:pt x="131165" y="290271"/>
                  </a:lnTo>
                  <a:lnTo>
                    <a:pt x="131165" y="252895"/>
                  </a:lnTo>
                  <a:close/>
                </a:path>
                <a:path w="332739" h="337820">
                  <a:moveTo>
                    <a:pt x="173291" y="187363"/>
                  </a:moveTo>
                  <a:lnTo>
                    <a:pt x="135890" y="187363"/>
                  </a:lnTo>
                  <a:lnTo>
                    <a:pt x="135890" y="224739"/>
                  </a:lnTo>
                  <a:lnTo>
                    <a:pt x="173291" y="224739"/>
                  </a:lnTo>
                  <a:lnTo>
                    <a:pt x="173291" y="187363"/>
                  </a:lnTo>
                  <a:close/>
                </a:path>
                <a:path w="332739" h="337820">
                  <a:moveTo>
                    <a:pt x="192062" y="107594"/>
                  </a:moveTo>
                  <a:lnTo>
                    <a:pt x="168541" y="107594"/>
                  </a:lnTo>
                  <a:lnTo>
                    <a:pt x="168541" y="74917"/>
                  </a:lnTo>
                  <a:lnTo>
                    <a:pt x="131140" y="74917"/>
                  </a:lnTo>
                  <a:lnTo>
                    <a:pt x="131140" y="107594"/>
                  </a:lnTo>
                  <a:lnTo>
                    <a:pt x="121793" y="107594"/>
                  </a:lnTo>
                  <a:lnTo>
                    <a:pt x="93599" y="107594"/>
                  </a:lnTo>
                  <a:lnTo>
                    <a:pt x="93599" y="140436"/>
                  </a:lnTo>
                  <a:lnTo>
                    <a:pt x="60934" y="140436"/>
                  </a:lnTo>
                  <a:lnTo>
                    <a:pt x="60934" y="177990"/>
                  </a:lnTo>
                  <a:lnTo>
                    <a:pt x="98323" y="177990"/>
                  </a:lnTo>
                  <a:lnTo>
                    <a:pt x="98323" y="145135"/>
                  </a:lnTo>
                  <a:lnTo>
                    <a:pt x="121793" y="145135"/>
                  </a:lnTo>
                  <a:lnTo>
                    <a:pt x="131165" y="145135"/>
                  </a:lnTo>
                  <a:lnTo>
                    <a:pt x="135890" y="145135"/>
                  </a:lnTo>
                  <a:lnTo>
                    <a:pt x="135890" y="159207"/>
                  </a:lnTo>
                  <a:lnTo>
                    <a:pt x="173291" y="159207"/>
                  </a:lnTo>
                  <a:lnTo>
                    <a:pt x="173291" y="145135"/>
                  </a:lnTo>
                  <a:lnTo>
                    <a:pt x="192062" y="145135"/>
                  </a:lnTo>
                  <a:lnTo>
                    <a:pt x="192062" y="107594"/>
                  </a:lnTo>
                  <a:close/>
                </a:path>
                <a:path w="332739" h="337820">
                  <a:moveTo>
                    <a:pt x="210807" y="294957"/>
                  </a:moveTo>
                  <a:lnTo>
                    <a:pt x="173228" y="294957"/>
                  </a:lnTo>
                  <a:lnTo>
                    <a:pt x="173228" y="332511"/>
                  </a:lnTo>
                  <a:lnTo>
                    <a:pt x="210807" y="332511"/>
                  </a:lnTo>
                  <a:lnTo>
                    <a:pt x="210807" y="294957"/>
                  </a:lnTo>
                  <a:close/>
                </a:path>
                <a:path w="332739" h="337820">
                  <a:moveTo>
                    <a:pt x="210807" y="9207"/>
                  </a:moveTo>
                  <a:lnTo>
                    <a:pt x="173228" y="9207"/>
                  </a:lnTo>
                  <a:lnTo>
                    <a:pt x="173228" y="27990"/>
                  </a:lnTo>
                  <a:lnTo>
                    <a:pt x="163868" y="27990"/>
                  </a:lnTo>
                  <a:lnTo>
                    <a:pt x="163868" y="23291"/>
                  </a:lnTo>
                  <a:lnTo>
                    <a:pt x="126466" y="23291"/>
                  </a:lnTo>
                  <a:lnTo>
                    <a:pt x="126466" y="60833"/>
                  </a:lnTo>
                  <a:lnTo>
                    <a:pt x="149923" y="60833"/>
                  </a:lnTo>
                  <a:lnTo>
                    <a:pt x="149923" y="65532"/>
                  </a:lnTo>
                  <a:lnTo>
                    <a:pt x="187312" y="65532"/>
                  </a:lnTo>
                  <a:lnTo>
                    <a:pt x="187312" y="46748"/>
                  </a:lnTo>
                  <a:lnTo>
                    <a:pt x="210807" y="46748"/>
                  </a:lnTo>
                  <a:lnTo>
                    <a:pt x="210807" y="9207"/>
                  </a:lnTo>
                  <a:close/>
                </a:path>
                <a:path w="332739" h="337820">
                  <a:moveTo>
                    <a:pt x="248246" y="145135"/>
                  </a:moveTo>
                  <a:lnTo>
                    <a:pt x="210858" y="145135"/>
                  </a:lnTo>
                  <a:lnTo>
                    <a:pt x="210858" y="182676"/>
                  </a:lnTo>
                  <a:lnTo>
                    <a:pt x="248246" y="182676"/>
                  </a:lnTo>
                  <a:lnTo>
                    <a:pt x="248246" y="145135"/>
                  </a:lnTo>
                  <a:close/>
                </a:path>
                <a:path w="332739" h="337820">
                  <a:moveTo>
                    <a:pt x="309105" y="23291"/>
                  </a:moveTo>
                  <a:lnTo>
                    <a:pt x="271716" y="23291"/>
                  </a:lnTo>
                  <a:lnTo>
                    <a:pt x="271716" y="46761"/>
                  </a:lnTo>
                  <a:lnTo>
                    <a:pt x="248246" y="46761"/>
                  </a:lnTo>
                  <a:lnTo>
                    <a:pt x="248246" y="42062"/>
                  </a:lnTo>
                  <a:lnTo>
                    <a:pt x="210858" y="42062"/>
                  </a:lnTo>
                  <a:lnTo>
                    <a:pt x="210858" y="79603"/>
                  </a:lnTo>
                  <a:lnTo>
                    <a:pt x="243522" y="79603"/>
                  </a:lnTo>
                  <a:lnTo>
                    <a:pt x="243522" y="107581"/>
                  </a:lnTo>
                  <a:lnTo>
                    <a:pt x="281089" y="107581"/>
                  </a:lnTo>
                  <a:lnTo>
                    <a:pt x="281089" y="102895"/>
                  </a:lnTo>
                  <a:lnTo>
                    <a:pt x="285762" y="102895"/>
                  </a:lnTo>
                  <a:lnTo>
                    <a:pt x="285762" y="84302"/>
                  </a:lnTo>
                  <a:lnTo>
                    <a:pt x="285762" y="65519"/>
                  </a:lnTo>
                  <a:lnTo>
                    <a:pt x="285762" y="60833"/>
                  </a:lnTo>
                  <a:lnTo>
                    <a:pt x="309105" y="60833"/>
                  </a:lnTo>
                  <a:lnTo>
                    <a:pt x="309105" y="23291"/>
                  </a:lnTo>
                  <a:close/>
                </a:path>
                <a:path w="332739" h="337820">
                  <a:moveTo>
                    <a:pt x="323202" y="74917"/>
                  </a:moveTo>
                  <a:lnTo>
                    <a:pt x="285813" y="74917"/>
                  </a:lnTo>
                  <a:lnTo>
                    <a:pt x="285813" y="112280"/>
                  </a:lnTo>
                  <a:lnTo>
                    <a:pt x="323202" y="112280"/>
                  </a:lnTo>
                  <a:lnTo>
                    <a:pt x="323202" y="74917"/>
                  </a:lnTo>
                  <a:close/>
                </a:path>
                <a:path w="332739" h="337820">
                  <a:moveTo>
                    <a:pt x="332562" y="299656"/>
                  </a:moveTo>
                  <a:lnTo>
                    <a:pt x="295160" y="299656"/>
                  </a:lnTo>
                  <a:lnTo>
                    <a:pt x="295160" y="337197"/>
                  </a:lnTo>
                  <a:lnTo>
                    <a:pt x="332562" y="337197"/>
                  </a:lnTo>
                  <a:lnTo>
                    <a:pt x="332562" y="299656"/>
                  </a:lnTo>
                  <a:close/>
                </a:path>
              </a:pathLst>
            </a:custGeom>
            <a:solidFill>
              <a:srgbClr val="0000FF"/>
            </a:solidFill>
          </p:spPr>
          <p:txBody>
            <a:bodyPr wrap="square" lIns="0" tIns="0" rIns="0" bIns="0" rtlCol="0"/>
            <a:lstStyle/>
            <a:p>
              <a:endParaRPr/>
            </a:p>
          </p:txBody>
        </p:sp>
      </p:grpSp>
      <p:sp>
        <p:nvSpPr>
          <p:cNvPr id="298" name="object 64"/>
          <p:cNvSpPr txBox="1"/>
          <p:nvPr/>
        </p:nvSpPr>
        <p:spPr>
          <a:xfrm>
            <a:off x="1242916" y="3692134"/>
            <a:ext cx="1219200" cy="239395"/>
          </a:xfrm>
          <a:prstGeom prst="rect">
            <a:avLst/>
          </a:prstGeom>
        </p:spPr>
        <p:txBody>
          <a:bodyPr vert="horz" wrap="square" lIns="0" tIns="17780" rIns="0" bIns="0" rtlCol="0">
            <a:spAutoFit/>
          </a:bodyPr>
          <a:lstStyle/>
          <a:p>
            <a:pPr marL="12700">
              <a:lnSpc>
                <a:spcPts val="640"/>
              </a:lnSpc>
              <a:spcBef>
                <a:spcPts val="140"/>
              </a:spcBef>
              <a:tabLst>
                <a:tab pos="330835" algn="l"/>
                <a:tab pos="565150" algn="l"/>
                <a:tab pos="864869" algn="l"/>
                <a:tab pos="1099185" algn="l"/>
              </a:tabLst>
            </a:pPr>
            <a:r>
              <a:rPr sz="550" spc="30" dirty="0">
                <a:latin typeface="Arial MT"/>
                <a:cs typeface="Arial MT"/>
              </a:rPr>
              <a:t>-</a:t>
            </a:r>
            <a:r>
              <a:rPr sz="550" spc="20" dirty="0">
                <a:latin typeface="Arial MT"/>
                <a:cs typeface="Arial MT"/>
              </a:rPr>
              <a:t>0</a:t>
            </a:r>
            <a:r>
              <a:rPr sz="550" spc="-10" dirty="0">
                <a:latin typeface="Arial MT"/>
                <a:cs typeface="Arial MT"/>
              </a:rPr>
              <a:t>.</a:t>
            </a:r>
            <a:r>
              <a:rPr sz="550" spc="20" dirty="0">
                <a:latin typeface="Arial MT"/>
                <a:cs typeface="Arial MT"/>
              </a:rPr>
              <a:t>5</a:t>
            </a:r>
            <a:r>
              <a:rPr sz="550" dirty="0">
                <a:latin typeface="Arial MT"/>
                <a:cs typeface="Arial MT"/>
              </a:rPr>
              <a:t>	</a:t>
            </a:r>
            <a:r>
              <a:rPr sz="550" spc="20" dirty="0">
                <a:latin typeface="Arial MT"/>
                <a:cs typeface="Arial MT"/>
              </a:rPr>
              <a:t>0</a:t>
            </a:r>
            <a:r>
              <a:rPr sz="550" dirty="0">
                <a:latin typeface="Arial MT"/>
                <a:cs typeface="Arial MT"/>
              </a:rPr>
              <a:t>	</a:t>
            </a:r>
            <a:r>
              <a:rPr sz="550" spc="20" dirty="0">
                <a:latin typeface="Arial MT"/>
                <a:cs typeface="Arial MT"/>
              </a:rPr>
              <a:t>0</a:t>
            </a:r>
            <a:r>
              <a:rPr sz="550" spc="30" dirty="0">
                <a:latin typeface="Arial MT"/>
                <a:cs typeface="Arial MT"/>
              </a:rPr>
              <a:t>.</a:t>
            </a:r>
            <a:r>
              <a:rPr sz="550" spc="20" dirty="0">
                <a:latin typeface="Arial MT"/>
                <a:cs typeface="Arial MT"/>
              </a:rPr>
              <a:t>5</a:t>
            </a:r>
            <a:r>
              <a:rPr sz="550" dirty="0">
                <a:latin typeface="Arial MT"/>
                <a:cs typeface="Arial MT"/>
              </a:rPr>
              <a:t>	</a:t>
            </a:r>
            <a:r>
              <a:rPr sz="550" spc="20" dirty="0">
                <a:latin typeface="Arial MT"/>
                <a:cs typeface="Arial MT"/>
              </a:rPr>
              <a:t>1</a:t>
            </a:r>
            <a:r>
              <a:rPr sz="550" dirty="0">
                <a:latin typeface="Arial MT"/>
                <a:cs typeface="Arial MT"/>
              </a:rPr>
              <a:t>	</a:t>
            </a:r>
            <a:r>
              <a:rPr sz="550" spc="20" dirty="0">
                <a:latin typeface="Arial MT"/>
                <a:cs typeface="Arial MT"/>
              </a:rPr>
              <a:t>1</a:t>
            </a:r>
            <a:r>
              <a:rPr sz="550" spc="30" dirty="0">
                <a:latin typeface="Arial MT"/>
                <a:cs typeface="Arial MT"/>
              </a:rPr>
              <a:t>.</a:t>
            </a:r>
            <a:r>
              <a:rPr sz="550" spc="20" dirty="0">
                <a:latin typeface="Arial MT"/>
                <a:cs typeface="Arial MT"/>
              </a:rPr>
              <a:t>5</a:t>
            </a:r>
            <a:endParaRPr sz="550">
              <a:latin typeface="Arial MT"/>
              <a:cs typeface="Arial MT"/>
            </a:endParaRPr>
          </a:p>
          <a:p>
            <a:pPr marL="293370">
              <a:lnSpc>
                <a:spcPts val="1000"/>
              </a:lnSpc>
            </a:pPr>
            <a:r>
              <a:rPr sz="850" spc="-5" dirty="0">
                <a:latin typeface="Arial MT"/>
                <a:cs typeface="Arial MT"/>
              </a:rPr>
              <a:t>x</a:t>
            </a:r>
            <a:endParaRPr sz="850">
              <a:latin typeface="Arial MT"/>
              <a:cs typeface="Arial MT"/>
            </a:endParaRPr>
          </a:p>
        </p:txBody>
      </p:sp>
      <p:sp>
        <p:nvSpPr>
          <p:cNvPr id="299" name="object 65"/>
          <p:cNvSpPr txBox="1"/>
          <p:nvPr/>
        </p:nvSpPr>
        <p:spPr>
          <a:xfrm>
            <a:off x="315156" y="3383093"/>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0</a:t>
            </a:r>
            <a:endParaRPr sz="550">
              <a:latin typeface="Arial MT"/>
              <a:cs typeface="Arial MT"/>
            </a:endParaRPr>
          </a:p>
        </p:txBody>
      </p:sp>
      <p:sp>
        <p:nvSpPr>
          <p:cNvPr id="300" name="object 66"/>
          <p:cNvSpPr txBox="1"/>
          <p:nvPr/>
        </p:nvSpPr>
        <p:spPr>
          <a:xfrm>
            <a:off x="254280" y="3120782"/>
            <a:ext cx="132715"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0</a:t>
            </a:r>
            <a:r>
              <a:rPr sz="550" spc="30" dirty="0">
                <a:latin typeface="Arial MT"/>
                <a:cs typeface="Arial MT"/>
              </a:rPr>
              <a:t>.</a:t>
            </a:r>
            <a:r>
              <a:rPr sz="550" spc="20" dirty="0">
                <a:latin typeface="Arial MT"/>
                <a:cs typeface="Arial MT"/>
              </a:rPr>
              <a:t>5</a:t>
            </a:r>
            <a:endParaRPr sz="550">
              <a:latin typeface="Arial MT"/>
              <a:cs typeface="Arial MT"/>
            </a:endParaRPr>
          </a:p>
        </p:txBody>
      </p:sp>
      <p:sp>
        <p:nvSpPr>
          <p:cNvPr id="301" name="object 67"/>
          <p:cNvSpPr txBox="1"/>
          <p:nvPr/>
        </p:nvSpPr>
        <p:spPr>
          <a:xfrm>
            <a:off x="315156" y="2853855"/>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1</a:t>
            </a:r>
            <a:endParaRPr sz="550">
              <a:latin typeface="Arial MT"/>
              <a:cs typeface="Arial MT"/>
            </a:endParaRPr>
          </a:p>
        </p:txBody>
      </p:sp>
      <p:sp>
        <p:nvSpPr>
          <p:cNvPr id="302" name="object 68"/>
          <p:cNvSpPr txBox="1"/>
          <p:nvPr/>
        </p:nvSpPr>
        <p:spPr>
          <a:xfrm>
            <a:off x="254280" y="2586857"/>
            <a:ext cx="132715"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1</a:t>
            </a:r>
            <a:r>
              <a:rPr sz="550" spc="30" dirty="0">
                <a:latin typeface="Arial MT"/>
                <a:cs typeface="Arial MT"/>
              </a:rPr>
              <a:t>.</a:t>
            </a:r>
            <a:r>
              <a:rPr sz="550" spc="20" dirty="0">
                <a:latin typeface="Arial MT"/>
                <a:cs typeface="Arial MT"/>
              </a:rPr>
              <a:t>5</a:t>
            </a:r>
            <a:endParaRPr sz="550">
              <a:latin typeface="Arial MT"/>
              <a:cs typeface="Arial MT"/>
            </a:endParaRPr>
          </a:p>
        </p:txBody>
      </p:sp>
      <p:sp>
        <p:nvSpPr>
          <p:cNvPr id="303" name="object 69"/>
          <p:cNvSpPr txBox="1"/>
          <p:nvPr/>
        </p:nvSpPr>
        <p:spPr>
          <a:xfrm>
            <a:off x="315156" y="2319860"/>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2</a:t>
            </a:r>
            <a:endParaRPr sz="550">
              <a:latin typeface="Arial MT"/>
              <a:cs typeface="Arial MT"/>
            </a:endParaRPr>
          </a:p>
        </p:txBody>
      </p:sp>
      <p:sp>
        <p:nvSpPr>
          <p:cNvPr id="304" name="object 70"/>
          <p:cNvSpPr txBox="1"/>
          <p:nvPr/>
        </p:nvSpPr>
        <p:spPr>
          <a:xfrm>
            <a:off x="254280" y="2052933"/>
            <a:ext cx="132715"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2</a:t>
            </a:r>
            <a:r>
              <a:rPr sz="550" spc="30" dirty="0">
                <a:latin typeface="Arial MT"/>
                <a:cs typeface="Arial MT"/>
              </a:rPr>
              <a:t>.</a:t>
            </a:r>
            <a:r>
              <a:rPr sz="550" spc="20" dirty="0">
                <a:latin typeface="Arial MT"/>
                <a:cs typeface="Arial MT"/>
              </a:rPr>
              <a:t>5</a:t>
            </a:r>
            <a:endParaRPr sz="550">
              <a:latin typeface="Arial MT"/>
              <a:cs typeface="Arial MT"/>
            </a:endParaRPr>
          </a:p>
        </p:txBody>
      </p:sp>
      <p:sp>
        <p:nvSpPr>
          <p:cNvPr id="305" name="object 71"/>
          <p:cNvSpPr txBox="1"/>
          <p:nvPr/>
        </p:nvSpPr>
        <p:spPr>
          <a:xfrm>
            <a:off x="315156" y="1785935"/>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3</a:t>
            </a:r>
            <a:endParaRPr sz="550">
              <a:latin typeface="Arial MT"/>
              <a:cs typeface="Arial MT"/>
            </a:endParaRPr>
          </a:p>
        </p:txBody>
      </p:sp>
      <p:sp>
        <p:nvSpPr>
          <p:cNvPr id="306" name="object 72"/>
          <p:cNvSpPr txBox="1"/>
          <p:nvPr/>
        </p:nvSpPr>
        <p:spPr>
          <a:xfrm>
            <a:off x="133357" y="2724862"/>
            <a:ext cx="146050" cy="79375"/>
          </a:xfrm>
          <a:prstGeom prst="rect">
            <a:avLst/>
          </a:prstGeom>
        </p:spPr>
        <p:txBody>
          <a:bodyPr vert="vert270" wrap="square" lIns="0" tIns="1905" rIns="0" bIns="0" rtlCol="0">
            <a:spAutoFit/>
          </a:bodyPr>
          <a:lstStyle/>
          <a:p>
            <a:pPr marL="12700">
              <a:lnSpc>
                <a:spcPct val="100000"/>
              </a:lnSpc>
              <a:spcBef>
                <a:spcPts val="15"/>
              </a:spcBef>
            </a:pPr>
            <a:r>
              <a:rPr sz="850" dirty="0">
                <a:latin typeface="Arial MT"/>
                <a:cs typeface="Arial MT"/>
              </a:rPr>
              <a:t>y</a:t>
            </a:r>
            <a:endParaRPr sz="850">
              <a:latin typeface="Arial MT"/>
              <a:cs typeface="Arial MT"/>
            </a:endParaRPr>
          </a:p>
        </p:txBody>
      </p:sp>
      <p:sp>
        <p:nvSpPr>
          <p:cNvPr id="307" name="object 73"/>
          <p:cNvSpPr txBox="1"/>
          <p:nvPr/>
        </p:nvSpPr>
        <p:spPr>
          <a:xfrm>
            <a:off x="6163309" y="3910583"/>
            <a:ext cx="2540635" cy="299720"/>
          </a:xfrm>
          <a:prstGeom prst="rect">
            <a:avLst/>
          </a:prstGeom>
        </p:spPr>
        <p:txBody>
          <a:bodyPr vert="horz" wrap="square" lIns="0" tIns="12700" rIns="0" bIns="0" rtlCol="0">
            <a:spAutoFit/>
          </a:bodyPr>
          <a:lstStyle/>
          <a:p>
            <a:pPr marL="12700">
              <a:lnSpc>
                <a:spcPct val="100000"/>
              </a:lnSpc>
              <a:spcBef>
                <a:spcPts val="100"/>
              </a:spcBef>
            </a:pPr>
            <a:r>
              <a:rPr sz="1800" b="1" spc="-5" dirty="0">
                <a:cs typeface="Arial"/>
              </a:rPr>
              <a:t>Sub-optimal</a:t>
            </a:r>
            <a:r>
              <a:rPr sz="1800" b="1" spc="-45" dirty="0">
                <a:cs typeface="Arial"/>
              </a:rPr>
              <a:t> </a:t>
            </a:r>
            <a:r>
              <a:rPr sz="1800" b="1" dirty="0">
                <a:cs typeface="Arial"/>
              </a:rPr>
              <a:t>Clustering</a:t>
            </a:r>
            <a:endParaRPr sz="1800" dirty="0">
              <a:cs typeface="Arial"/>
            </a:endParaRPr>
          </a:p>
        </p:txBody>
      </p:sp>
      <p:sp>
        <p:nvSpPr>
          <p:cNvPr id="308" name="object 74"/>
          <p:cNvSpPr txBox="1"/>
          <p:nvPr/>
        </p:nvSpPr>
        <p:spPr>
          <a:xfrm>
            <a:off x="3512820" y="3910583"/>
            <a:ext cx="2554958" cy="289823"/>
          </a:xfrm>
          <a:prstGeom prst="rect">
            <a:avLst/>
          </a:prstGeom>
        </p:spPr>
        <p:txBody>
          <a:bodyPr vert="horz" wrap="square" lIns="0" tIns="12700" rIns="0" bIns="0" rtlCol="0">
            <a:spAutoFit/>
          </a:bodyPr>
          <a:lstStyle/>
          <a:p>
            <a:pPr marL="12700">
              <a:lnSpc>
                <a:spcPct val="100000"/>
              </a:lnSpc>
              <a:spcBef>
                <a:spcPts val="100"/>
              </a:spcBef>
            </a:pPr>
            <a:r>
              <a:rPr sz="1800" b="1" spc="-5" dirty="0">
                <a:cs typeface="Arial"/>
              </a:rPr>
              <a:t>Optimal</a:t>
            </a:r>
            <a:r>
              <a:rPr sz="1800" b="1" spc="-60" dirty="0">
                <a:cs typeface="Arial"/>
              </a:rPr>
              <a:t> </a:t>
            </a:r>
            <a:r>
              <a:rPr sz="1800" b="1" dirty="0">
                <a:cs typeface="Arial"/>
              </a:rPr>
              <a:t>Clustering</a:t>
            </a:r>
            <a:endParaRPr sz="1800" dirty="0">
              <a:cs typeface="Arial"/>
            </a:endParaRPr>
          </a:p>
        </p:txBody>
      </p:sp>
      <p:sp>
        <p:nvSpPr>
          <p:cNvPr id="309" name="object 75"/>
          <p:cNvSpPr txBox="1"/>
          <p:nvPr/>
        </p:nvSpPr>
        <p:spPr>
          <a:xfrm>
            <a:off x="708150" y="3910583"/>
            <a:ext cx="2176783" cy="289823"/>
          </a:xfrm>
          <a:prstGeom prst="rect">
            <a:avLst/>
          </a:prstGeom>
        </p:spPr>
        <p:txBody>
          <a:bodyPr vert="horz" wrap="square" lIns="0" tIns="12700" rIns="0" bIns="0" rtlCol="0">
            <a:spAutoFit/>
          </a:bodyPr>
          <a:lstStyle/>
          <a:p>
            <a:pPr marL="12700">
              <a:lnSpc>
                <a:spcPct val="100000"/>
              </a:lnSpc>
              <a:spcBef>
                <a:spcPts val="100"/>
              </a:spcBef>
            </a:pPr>
            <a:r>
              <a:rPr sz="1800" b="1" spc="-5" dirty="0">
                <a:cs typeface="Arial"/>
              </a:rPr>
              <a:t>Original</a:t>
            </a:r>
            <a:r>
              <a:rPr sz="1800" b="1" spc="-35" dirty="0">
                <a:cs typeface="Arial"/>
              </a:rPr>
              <a:t> </a:t>
            </a:r>
            <a:r>
              <a:rPr sz="1800" b="1" spc="-5" dirty="0">
                <a:cs typeface="Arial"/>
              </a:rPr>
              <a:t>Points</a:t>
            </a:r>
            <a:endParaRPr sz="1800" dirty="0">
              <a:cs typeface="Arial"/>
            </a:endParaRPr>
          </a:p>
        </p:txBody>
      </p:sp>
      <p:grpSp>
        <p:nvGrpSpPr>
          <p:cNvPr id="310" name="object 76"/>
          <p:cNvGrpSpPr/>
          <p:nvPr/>
        </p:nvGrpSpPr>
        <p:grpSpPr>
          <a:xfrm>
            <a:off x="6327329" y="1835342"/>
            <a:ext cx="2361565" cy="1856105"/>
            <a:chOff x="6327329" y="1835342"/>
            <a:chExt cx="2361565" cy="1856105"/>
          </a:xfrm>
        </p:grpSpPr>
        <p:sp>
          <p:nvSpPr>
            <p:cNvPr id="311" name="object 77"/>
            <p:cNvSpPr/>
            <p:nvPr/>
          </p:nvSpPr>
          <p:spPr>
            <a:xfrm>
              <a:off x="6327964" y="3686216"/>
              <a:ext cx="2351405" cy="0"/>
            </a:xfrm>
            <a:custGeom>
              <a:avLst/>
              <a:gdLst/>
              <a:ahLst/>
              <a:cxnLst/>
              <a:rect l="l" t="t" r="r" b="b"/>
              <a:pathLst>
                <a:path w="2351404">
                  <a:moveTo>
                    <a:pt x="0" y="0"/>
                  </a:moveTo>
                  <a:lnTo>
                    <a:pt x="2351157" y="0"/>
                  </a:lnTo>
                </a:path>
              </a:pathLst>
            </a:custGeom>
            <a:ln w="3175">
              <a:solidFill>
                <a:srgbClr val="000000"/>
              </a:solidFill>
            </a:ln>
          </p:spPr>
          <p:txBody>
            <a:bodyPr wrap="square" lIns="0" tIns="0" rIns="0" bIns="0" rtlCol="0"/>
            <a:lstStyle/>
            <a:p>
              <a:endParaRPr/>
            </a:p>
          </p:txBody>
        </p:sp>
        <p:sp>
          <p:nvSpPr>
            <p:cNvPr id="312" name="object 78"/>
            <p:cNvSpPr/>
            <p:nvPr/>
          </p:nvSpPr>
          <p:spPr>
            <a:xfrm>
              <a:off x="8681355" y="3688476"/>
              <a:ext cx="5080" cy="0"/>
            </a:xfrm>
            <a:custGeom>
              <a:avLst/>
              <a:gdLst/>
              <a:ahLst/>
              <a:cxnLst/>
              <a:rect l="l" t="t" r="r" b="b"/>
              <a:pathLst>
                <a:path w="5079">
                  <a:moveTo>
                    <a:pt x="0" y="0"/>
                  </a:moveTo>
                  <a:lnTo>
                    <a:pt x="4675" y="0"/>
                  </a:lnTo>
                </a:path>
              </a:pathLst>
            </a:custGeom>
            <a:ln w="4693">
              <a:solidFill>
                <a:srgbClr val="000000"/>
              </a:solidFill>
            </a:ln>
          </p:spPr>
          <p:txBody>
            <a:bodyPr wrap="square" lIns="0" tIns="0" rIns="0" bIns="0" rtlCol="0"/>
            <a:lstStyle/>
            <a:p>
              <a:endParaRPr/>
            </a:p>
          </p:txBody>
        </p:sp>
        <p:sp>
          <p:nvSpPr>
            <p:cNvPr id="313" name="object 79"/>
            <p:cNvSpPr/>
            <p:nvPr/>
          </p:nvSpPr>
          <p:spPr>
            <a:xfrm>
              <a:off x="6327964" y="1835977"/>
              <a:ext cx="0" cy="1850389"/>
            </a:xfrm>
            <a:custGeom>
              <a:avLst/>
              <a:gdLst/>
              <a:ahLst/>
              <a:cxnLst/>
              <a:rect l="l" t="t" r="r" b="b"/>
              <a:pathLst>
                <a:path h="1850389">
                  <a:moveTo>
                    <a:pt x="0" y="1850238"/>
                  </a:moveTo>
                  <a:lnTo>
                    <a:pt x="0" y="0"/>
                  </a:lnTo>
                </a:path>
              </a:pathLst>
            </a:custGeom>
            <a:ln w="3175">
              <a:solidFill>
                <a:srgbClr val="000000"/>
              </a:solidFill>
            </a:ln>
          </p:spPr>
          <p:txBody>
            <a:bodyPr wrap="square" lIns="0" tIns="0" rIns="0" bIns="0" rtlCol="0"/>
            <a:lstStyle/>
            <a:p>
              <a:endParaRPr/>
            </a:p>
          </p:txBody>
        </p:sp>
        <p:sp>
          <p:nvSpPr>
            <p:cNvPr id="314" name="object 80"/>
            <p:cNvSpPr/>
            <p:nvPr/>
          </p:nvSpPr>
          <p:spPr>
            <a:xfrm>
              <a:off x="6330225" y="1838209"/>
              <a:ext cx="5080" cy="0"/>
            </a:xfrm>
            <a:custGeom>
              <a:avLst/>
              <a:gdLst/>
              <a:ahLst/>
              <a:cxnLst/>
              <a:rect l="l" t="t" r="r" b="b"/>
              <a:pathLst>
                <a:path w="5079">
                  <a:moveTo>
                    <a:pt x="0" y="0"/>
                  </a:moveTo>
                  <a:lnTo>
                    <a:pt x="4521" y="0"/>
                  </a:lnTo>
                </a:path>
              </a:pathLst>
            </a:custGeom>
            <a:ln w="4693">
              <a:solidFill>
                <a:srgbClr val="000000"/>
              </a:solidFill>
            </a:ln>
          </p:spPr>
          <p:txBody>
            <a:bodyPr wrap="square" lIns="0" tIns="0" rIns="0" bIns="0" rtlCol="0"/>
            <a:lstStyle/>
            <a:p>
              <a:endParaRPr/>
            </a:p>
          </p:txBody>
        </p:sp>
        <p:sp>
          <p:nvSpPr>
            <p:cNvPr id="315" name="object 81"/>
            <p:cNvSpPr/>
            <p:nvPr/>
          </p:nvSpPr>
          <p:spPr>
            <a:xfrm>
              <a:off x="6463767"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16" name="object 82"/>
            <p:cNvSpPr/>
            <p:nvPr/>
          </p:nvSpPr>
          <p:spPr>
            <a:xfrm>
              <a:off x="6466028" y="3665178"/>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17" name="object 83"/>
            <p:cNvSpPr/>
            <p:nvPr/>
          </p:nvSpPr>
          <p:spPr>
            <a:xfrm>
              <a:off x="6730698"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18" name="object 84"/>
            <p:cNvSpPr/>
            <p:nvPr/>
          </p:nvSpPr>
          <p:spPr>
            <a:xfrm>
              <a:off x="6732931" y="3665178"/>
              <a:ext cx="5080" cy="0"/>
            </a:xfrm>
            <a:custGeom>
              <a:avLst/>
              <a:gdLst/>
              <a:ahLst/>
              <a:cxnLst/>
              <a:rect l="l" t="t" r="r" b="b"/>
              <a:pathLst>
                <a:path w="5079">
                  <a:moveTo>
                    <a:pt x="0" y="0"/>
                  </a:moveTo>
                  <a:lnTo>
                    <a:pt x="4744" y="0"/>
                  </a:lnTo>
                </a:path>
              </a:pathLst>
            </a:custGeom>
            <a:ln w="4693">
              <a:solidFill>
                <a:srgbClr val="000000"/>
              </a:solidFill>
            </a:ln>
          </p:spPr>
          <p:txBody>
            <a:bodyPr wrap="square" lIns="0" tIns="0" rIns="0" bIns="0" rtlCol="0"/>
            <a:lstStyle/>
            <a:p>
              <a:endParaRPr/>
            </a:p>
          </p:txBody>
        </p:sp>
        <p:sp>
          <p:nvSpPr>
            <p:cNvPr id="319" name="object 85"/>
            <p:cNvSpPr/>
            <p:nvPr/>
          </p:nvSpPr>
          <p:spPr>
            <a:xfrm>
              <a:off x="6997600"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20" name="object 86"/>
            <p:cNvSpPr/>
            <p:nvPr/>
          </p:nvSpPr>
          <p:spPr>
            <a:xfrm>
              <a:off x="6999833" y="3665178"/>
              <a:ext cx="5080" cy="0"/>
            </a:xfrm>
            <a:custGeom>
              <a:avLst/>
              <a:gdLst/>
              <a:ahLst/>
              <a:cxnLst/>
              <a:rect l="l" t="t" r="r" b="b"/>
              <a:pathLst>
                <a:path w="5079">
                  <a:moveTo>
                    <a:pt x="0" y="0"/>
                  </a:moveTo>
                  <a:lnTo>
                    <a:pt x="4744" y="0"/>
                  </a:lnTo>
                </a:path>
              </a:pathLst>
            </a:custGeom>
            <a:ln w="4693">
              <a:solidFill>
                <a:srgbClr val="000000"/>
              </a:solidFill>
            </a:ln>
          </p:spPr>
          <p:txBody>
            <a:bodyPr wrap="square" lIns="0" tIns="0" rIns="0" bIns="0" rtlCol="0"/>
            <a:lstStyle/>
            <a:p>
              <a:endParaRPr/>
            </a:p>
          </p:txBody>
        </p:sp>
      </p:grpSp>
      <p:sp>
        <p:nvSpPr>
          <p:cNvPr id="321" name="object 87"/>
          <p:cNvSpPr txBox="1"/>
          <p:nvPr/>
        </p:nvSpPr>
        <p:spPr>
          <a:xfrm>
            <a:off x="6408816" y="3692280"/>
            <a:ext cx="632460" cy="115570"/>
          </a:xfrm>
          <a:prstGeom prst="rect">
            <a:avLst/>
          </a:prstGeom>
        </p:spPr>
        <p:txBody>
          <a:bodyPr vert="horz" wrap="square" lIns="0" tIns="17780" rIns="0" bIns="0" rtlCol="0">
            <a:spAutoFit/>
          </a:bodyPr>
          <a:lstStyle/>
          <a:p>
            <a:pPr marL="12700">
              <a:lnSpc>
                <a:spcPct val="100000"/>
              </a:lnSpc>
              <a:spcBef>
                <a:spcPts val="140"/>
              </a:spcBef>
              <a:tabLst>
                <a:tab pos="251460" algn="l"/>
                <a:tab pos="546100" algn="l"/>
              </a:tabLst>
            </a:pPr>
            <a:r>
              <a:rPr sz="550" spc="35" dirty="0">
                <a:latin typeface="Arial MT"/>
                <a:cs typeface="Arial MT"/>
              </a:rPr>
              <a:t>-</a:t>
            </a:r>
            <a:r>
              <a:rPr sz="550" spc="20" dirty="0">
                <a:latin typeface="Arial MT"/>
                <a:cs typeface="Arial MT"/>
              </a:rPr>
              <a:t>2</a:t>
            </a:r>
            <a:r>
              <a:rPr sz="550" dirty="0">
                <a:latin typeface="Arial MT"/>
                <a:cs typeface="Arial MT"/>
              </a:rPr>
              <a:t>	</a:t>
            </a:r>
            <a:r>
              <a:rPr sz="550" spc="30" dirty="0">
                <a:latin typeface="Arial MT"/>
                <a:cs typeface="Arial MT"/>
              </a:rPr>
              <a:t>-</a:t>
            </a:r>
            <a:r>
              <a:rPr sz="550" spc="20" dirty="0">
                <a:latin typeface="Arial MT"/>
                <a:cs typeface="Arial MT"/>
              </a:rPr>
              <a:t>1</a:t>
            </a:r>
            <a:r>
              <a:rPr sz="550" spc="-10" dirty="0">
                <a:latin typeface="Arial MT"/>
                <a:cs typeface="Arial MT"/>
              </a:rPr>
              <a:t>.</a:t>
            </a:r>
            <a:r>
              <a:rPr sz="550" spc="20" dirty="0">
                <a:latin typeface="Arial MT"/>
                <a:cs typeface="Arial MT"/>
              </a:rPr>
              <a:t>5</a:t>
            </a:r>
            <a:r>
              <a:rPr sz="550" dirty="0">
                <a:latin typeface="Arial MT"/>
                <a:cs typeface="Arial MT"/>
              </a:rPr>
              <a:t>	</a:t>
            </a:r>
            <a:r>
              <a:rPr sz="550" spc="40" dirty="0">
                <a:latin typeface="Arial MT"/>
                <a:cs typeface="Arial MT"/>
              </a:rPr>
              <a:t>-1</a:t>
            </a:r>
            <a:endParaRPr sz="550">
              <a:latin typeface="Arial MT"/>
              <a:cs typeface="Arial MT"/>
            </a:endParaRPr>
          </a:p>
        </p:txBody>
      </p:sp>
      <p:grpSp>
        <p:nvGrpSpPr>
          <p:cNvPr id="322" name="object 88"/>
          <p:cNvGrpSpPr/>
          <p:nvPr/>
        </p:nvGrpSpPr>
        <p:grpSpPr>
          <a:xfrm>
            <a:off x="6327329" y="1807161"/>
            <a:ext cx="2277110" cy="1903730"/>
            <a:chOff x="6327329" y="1807161"/>
            <a:chExt cx="2277110" cy="1903730"/>
          </a:xfrm>
        </p:grpSpPr>
        <p:sp>
          <p:nvSpPr>
            <p:cNvPr id="323" name="object 89"/>
            <p:cNvSpPr/>
            <p:nvPr/>
          </p:nvSpPr>
          <p:spPr>
            <a:xfrm>
              <a:off x="7259967"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24" name="object 90"/>
            <p:cNvSpPr/>
            <p:nvPr/>
          </p:nvSpPr>
          <p:spPr>
            <a:xfrm>
              <a:off x="7262270" y="3665178"/>
              <a:ext cx="5080" cy="0"/>
            </a:xfrm>
            <a:custGeom>
              <a:avLst/>
              <a:gdLst/>
              <a:ahLst/>
              <a:cxnLst/>
              <a:rect l="l" t="t" r="r" b="b"/>
              <a:pathLst>
                <a:path w="5079">
                  <a:moveTo>
                    <a:pt x="0" y="0"/>
                  </a:moveTo>
                  <a:lnTo>
                    <a:pt x="4535" y="0"/>
                  </a:lnTo>
                </a:path>
              </a:pathLst>
            </a:custGeom>
            <a:ln w="4693">
              <a:solidFill>
                <a:srgbClr val="000000"/>
              </a:solidFill>
            </a:ln>
          </p:spPr>
          <p:txBody>
            <a:bodyPr wrap="square" lIns="0" tIns="0" rIns="0" bIns="0" rtlCol="0"/>
            <a:lstStyle/>
            <a:p>
              <a:endParaRPr/>
            </a:p>
          </p:txBody>
        </p:sp>
        <p:sp>
          <p:nvSpPr>
            <p:cNvPr id="325" name="object 91"/>
            <p:cNvSpPr/>
            <p:nvPr/>
          </p:nvSpPr>
          <p:spPr>
            <a:xfrm>
              <a:off x="7526940"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26" name="object 92"/>
            <p:cNvSpPr/>
            <p:nvPr/>
          </p:nvSpPr>
          <p:spPr>
            <a:xfrm>
              <a:off x="7529173" y="3665178"/>
              <a:ext cx="5080" cy="0"/>
            </a:xfrm>
            <a:custGeom>
              <a:avLst/>
              <a:gdLst/>
              <a:ahLst/>
              <a:cxnLst/>
              <a:rect l="l" t="t" r="r" b="b"/>
              <a:pathLst>
                <a:path w="5079">
                  <a:moveTo>
                    <a:pt x="0" y="0"/>
                  </a:moveTo>
                  <a:lnTo>
                    <a:pt x="4675" y="0"/>
                  </a:lnTo>
                </a:path>
              </a:pathLst>
            </a:custGeom>
            <a:ln w="4693">
              <a:solidFill>
                <a:srgbClr val="000000"/>
              </a:solidFill>
            </a:ln>
          </p:spPr>
          <p:txBody>
            <a:bodyPr wrap="square" lIns="0" tIns="0" rIns="0" bIns="0" rtlCol="0"/>
            <a:lstStyle/>
            <a:p>
              <a:endParaRPr/>
            </a:p>
          </p:txBody>
        </p:sp>
        <p:sp>
          <p:nvSpPr>
            <p:cNvPr id="327" name="object 93"/>
            <p:cNvSpPr/>
            <p:nvPr/>
          </p:nvSpPr>
          <p:spPr>
            <a:xfrm>
              <a:off x="7793842"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28" name="object 94"/>
            <p:cNvSpPr/>
            <p:nvPr/>
          </p:nvSpPr>
          <p:spPr>
            <a:xfrm>
              <a:off x="7796075" y="3665178"/>
              <a:ext cx="5080" cy="0"/>
            </a:xfrm>
            <a:custGeom>
              <a:avLst/>
              <a:gdLst/>
              <a:ahLst/>
              <a:cxnLst/>
              <a:rect l="l" t="t" r="r" b="b"/>
              <a:pathLst>
                <a:path w="5079">
                  <a:moveTo>
                    <a:pt x="0" y="0"/>
                  </a:moveTo>
                  <a:lnTo>
                    <a:pt x="4744" y="0"/>
                  </a:lnTo>
                </a:path>
              </a:pathLst>
            </a:custGeom>
            <a:ln w="4693">
              <a:solidFill>
                <a:srgbClr val="000000"/>
              </a:solidFill>
            </a:ln>
          </p:spPr>
          <p:txBody>
            <a:bodyPr wrap="square" lIns="0" tIns="0" rIns="0" bIns="0" rtlCol="0"/>
            <a:lstStyle/>
            <a:p>
              <a:endParaRPr/>
            </a:p>
          </p:txBody>
        </p:sp>
        <p:sp>
          <p:nvSpPr>
            <p:cNvPr id="329" name="object 95"/>
            <p:cNvSpPr/>
            <p:nvPr/>
          </p:nvSpPr>
          <p:spPr>
            <a:xfrm>
              <a:off x="8060745"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30" name="object 96"/>
            <p:cNvSpPr/>
            <p:nvPr/>
          </p:nvSpPr>
          <p:spPr>
            <a:xfrm>
              <a:off x="8063048" y="3665178"/>
              <a:ext cx="5080" cy="0"/>
            </a:xfrm>
            <a:custGeom>
              <a:avLst/>
              <a:gdLst/>
              <a:ahLst/>
              <a:cxnLst/>
              <a:rect l="l" t="t" r="r" b="b"/>
              <a:pathLst>
                <a:path w="5079">
                  <a:moveTo>
                    <a:pt x="0" y="0"/>
                  </a:moveTo>
                  <a:lnTo>
                    <a:pt x="4675" y="0"/>
                  </a:lnTo>
                </a:path>
              </a:pathLst>
            </a:custGeom>
            <a:ln w="4693">
              <a:solidFill>
                <a:srgbClr val="000000"/>
              </a:solidFill>
            </a:ln>
          </p:spPr>
          <p:txBody>
            <a:bodyPr wrap="square" lIns="0" tIns="0" rIns="0" bIns="0" rtlCol="0"/>
            <a:lstStyle/>
            <a:p>
              <a:endParaRPr/>
            </a:p>
          </p:txBody>
        </p:sp>
        <p:sp>
          <p:nvSpPr>
            <p:cNvPr id="331" name="object 97"/>
            <p:cNvSpPr/>
            <p:nvPr/>
          </p:nvSpPr>
          <p:spPr>
            <a:xfrm>
              <a:off x="8327857"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32" name="object 98"/>
            <p:cNvSpPr/>
            <p:nvPr/>
          </p:nvSpPr>
          <p:spPr>
            <a:xfrm>
              <a:off x="8330090" y="3665178"/>
              <a:ext cx="5080" cy="0"/>
            </a:xfrm>
            <a:custGeom>
              <a:avLst/>
              <a:gdLst/>
              <a:ahLst/>
              <a:cxnLst/>
              <a:rect l="l" t="t" r="r" b="b"/>
              <a:pathLst>
                <a:path w="5079">
                  <a:moveTo>
                    <a:pt x="0" y="0"/>
                  </a:moveTo>
                  <a:lnTo>
                    <a:pt x="4744" y="0"/>
                  </a:lnTo>
                </a:path>
              </a:pathLst>
            </a:custGeom>
            <a:ln w="4693">
              <a:solidFill>
                <a:srgbClr val="000000"/>
              </a:solidFill>
            </a:ln>
          </p:spPr>
          <p:txBody>
            <a:bodyPr wrap="square" lIns="0" tIns="0" rIns="0" bIns="0" rtlCol="0"/>
            <a:lstStyle/>
            <a:p>
              <a:endParaRPr/>
            </a:p>
          </p:txBody>
        </p:sp>
        <p:sp>
          <p:nvSpPr>
            <p:cNvPr id="333" name="object 99"/>
            <p:cNvSpPr/>
            <p:nvPr/>
          </p:nvSpPr>
          <p:spPr>
            <a:xfrm>
              <a:off x="8594760" y="3662918"/>
              <a:ext cx="0" cy="23495"/>
            </a:xfrm>
            <a:custGeom>
              <a:avLst/>
              <a:gdLst/>
              <a:ahLst/>
              <a:cxnLst/>
              <a:rect l="l" t="t" r="r" b="b"/>
              <a:pathLst>
                <a:path h="23495">
                  <a:moveTo>
                    <a:pt x="0" y="23298"/>
                  </a:moveTo>
                  <a:lnTo>
                    <a:pt x="0" y="0"/>
                  </a:lnTo>
                </a:path>
              </a:pathLst>
            </a:custGeom>
            <a:ln w="3175">
              <a:solidFill>
                <a:srgbClr val="000000"/>
              </a:solidFill>
            </a:ln>
          </p:spPr>
          <p:txBody>
            <a:bodyPr wrap="square" lIns="0" tIns="0" rIns="0" bIns="0" rtlCol="0"/>
            <a:lstStyle/>
            <a:p>
              <a:endParaRPr/>
            </a:p>
          </p:txBody>
        </p:sp>
        <p:sp>
          <p:nvSpPr>
            <p:cNvPr id="334" name="object 100"/>
            <p:cNvSpPr/>
            <p:nvPr/>
          </p:nvSpPr>
          <p:spPr>
            <a:xfrm>
              <a:off x="8596993" y="3665178"/>
              <a:ext cx="5080" cy="0"/>
            </a:xfrm>
            <a:custGeom>
              <a:avLst/>
              <a:gdLst/>
              <a:ahLst/>
              <a:cxnLst/>
              <a:rect l="l" t="t" r="r" b="b"/>
              <a:pathLst>
                <a:path w="5079">
                  <a:moveTo>
                    <a:pt x="0" y="0"/>
                  </a:moveTo>
                  <a:lnTo>
                    <a:pt x="4744" y="0"/>
                  </a:lnTo>
                </a:path>
              </a:pathLst>
            </a:custGeom>
            <a:ln w="4693">
              <a:solidFill>
                <a:srgbClr val="000000"/>
              </a:solidFill>
            </a:ln>
          </p:spPr>
          <p:txBody>
            <a:bodyPr wrap="square" lIns="0" tIns="0" rIns="0" bIns="0" rtlCol="0"/>
            <a:lstStyle/>
            <a:p>
              <a:endParaRPr/>
            </a:p>
          </p:txBody>
        </p:sp>
        <p:sp>
          <p:nvSpPr>
            <p:cNvPr id="335" name="object 101"/>
            <p:cNvSpPr/>
            <p:nvPr/>
          </p:nvSpPr>
          <p:spPr>
            <a:xfrm>
              <a:off x="6327964" y="3442681"/>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36" name="object 102"/>
            <p:cNvSpPr/>
            <p:nvPr/>
          </p:nvSpPr>
          <p:spPr>
            <a:xfrm>
              <a:off x="6353524" y="3444941"/>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37" name="object 103"/>
            <p:cNvSpPr/>
            <p:nvPr/>
          </p:nvSpPr>
          <p:spPr>
            <a:xfrm>
              <a:off x="6327964" y="3180361"/>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38" name="object 104"/>
            <p:cNvSpPr/>
            <p:nvPr/>
          </p:nvSpPr>
          <p:spPr>
            <a:xfrm>
              <a:off x="6353524" y="3182663"/>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39" name="object 105"/>
            <p:cNvSpPr/>
            <p:nvPr/>
          </p:nvSpPr>
          <p:spPr>
            <a:xfrm>
              <a:off x="6327964" y="2913340"/>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40" name="object 106"/>
            <p:cNvSpPr/>
            <p:nvPr/>
          </p:nvSpPr>
          <p:spPr>
            <a:xfrm>
              <a:off x="6353524" y="2915642"/>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41" name="object 107"/>
            <p:cNvSpPr/>
            <p:nvPr/>
          </p:nvSpPr>
          <p:spPr>
            <a:xfrm>
              <a:off x="6327964" y="2646388"/>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42" name="object 108"/>
            <p:cNvSpPr/>
            <p:nvPr/>
          </p:nvSpPr>
          <p:spPr>
            <a:xfrm>
              <a:off x="6353524" y="2648620"/>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43" name="object 109"/>
            <p:cNvSpPr/>
            <p:nvPr/>
          </p:nvSpPr>
          <p:spPr>
            <a:xfrm>
              <a:off x="6327964" y="2379367"/>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44" name="object 110"/>
            <p:cNvSpPr/>
            <p:nvPr/>
          </p:nvSpPr>
          <p:spPr>
            <a:xfrm>
              <a:off x="6353524" y="2381599"/>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45" name="object 111"/>
            <p:cNvSpPr/>
            <p:nvPr/>
          </p:nvSpPr>
          <p:spPr>
            <a:xfrm>
              <a:off x="6327964" y="2112345"/>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46" name="object 112"/>
            <p:cNvSpPr/>
            <p:nvPr/>
          </p:nvSpPr>
          <p:spPr>
            <a:xfrm>
              <a:off x="6353524" y="2114647"/>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47" name="object 113"/>
            <p:cNvSpPr/>
            <p:nvPr/>
          </p:nvSpPr>
          <p:spPr>
            <a:xfrm>
              <a:off x="6327964" y="1845394"/>
              <a:ext cx="23495" cy="0"/>
            </a:xfrm>
            <a:custGeom>
              <a:avLst/>
              <a:gdLst/>
              <a:ahLst/>
              <a:cxnLst/>
              <a:rect l="l" t="t" r="r" b="b"/>
              <a:pathLst>
                <a:path w="23495">
                  <a:moveTo>
                    <a:pt x="0" y="0"/>
                  </a:moveTo>
                  <a:lnTo>
                    <a:pt x="23299" y="0"/>
                  </a:lnTo>
                </a:path>
              </a:pathLst>
            </a:custGeom>
            <a:ln w="3175">
              <a:solidFill>
                <a:srgbClr val="000000"/>
              </a:solidFill>
            </a:ln>
          </p:spPr>
          <p:txBody>
            <a:bodyPr wrap="square" lIns="0" tIns="0" rIns="0" bIns="0" rtlCol="0"/>
            <a:lstStyle/>
            <a:p>
              <a:endParaRPr/>
            </a:p>
          </p:txBody>
        </p:sp>
        <p:sp>
          <p:nvSpPr>
            <p:cNvPr id="348" name="object 114"/>
            <p:cNvSpPr/>
            <p:nvPr/>
          </p:nvSpPr>
          <p:spPr>
            <a:xfrm>
              <a:off x="6353524" y="1847626"/>
              <a:ext cx="5080" cy="0"/>
            </a:xfrm>
            <a:custGeom>
              <a:avLst/>
              <a:gdLst/>
              <a:ahLst/>
              <a:cxnLst/>
              <a:rect l="l" t="t" r="r" b="b"/>
              <a:pathLst>
                <a:path w="5079">
                  <a:moveTo>
                    <a:pt x="0" y="0"/>
                  </a:moveTo>
                  <a:lnTo>
                    <a:pt x="4696" y="0"/>
                  </a:lnTo>
                </a:path>
              </a:pathLst>
            </a:custGeom>
            <a:ln w="4693">
              <a:solidFill>
                <a:srgbClr val="000000"/>
              </a:solidFill>
            </a:ln>
          </p:spPr>
          <p:txBody>
            <a:bodyPr wrap="square" lIns="0" tIns="0" rIns="0" bIns="0" rtlCol="0"/>
            <a:lstStyle/>
            <a:p>
              <a:endParaRPr/>
            </a:p>
          </p:txBody>
        </p:sp>
        <p:sp>
          <p:nvSpPr>
            <p:cNvPr id="349" name="object 115"/>
            <p:cNvSpPr/>
            <p:nvPr/>
          </p:nvSpPr>
          <p:spPr>
            <a:xfrm>
              <a:off x="6974294" y="3662918"/>
              <a:ext cx="46990" cy="46990"/>
            </a:xfrm>
            <a:custGeom>
              <a:avLst/>
              <a:gdLst/>
              <a:ahLst/>
              <a:cxnLst/>
              <a:rect l="l" t="t" r="r" b="b"/>
              <a:pathLst>
                <a:path w="46990" h="46989">
                  <a:moveTo>
                    <a:pt x="23306" y="0"/>
                  </a:moveTo>
                  <a:lnTo>
                    <a:pt x="13718" y="1684"/>
                  </a:lnTo>
                  <a:lnTo>
                    <a:pt x="6367" y="6433"/>
                  </a:lnTo>
                  <a:lnTo>
                    <a:pt x="1659" y="13789"/>
                  </a:lnTo>
                  <a:lnTo>
                    <a:pt x="0" y="23298"/>
                  </a:lnTo>
                  <a:lnTo>
                    <a:pt x="1659" y="32903"/>
                  </a:lnTo>
                  <a:lnTo>
                    <a:pt x="6367" y="40309"/>
                  </a:lnTo>
                  <a:lnTo>
                    <a:pt x="13718" y="45076"/>
                  </a:lnTo>
                  <a:lnTo>
                    <a:pt x="23306" y="46763"/>
                  </a:lnTo>
                  <a:lnTo>
                    <a:pt x="32915" y="45076"/>
                  </a:lnTo>
                  <a:lnTo>
                    <a:pt x="40314" y="40309"/>
                  </a:lnTo>
                  <a:lnTo>
                    <a:pt x="45070" y="32903"/>
                  </a:lnTo>
                  <a:lnTo>
                    <a:pt x="46751" y="23298"/>
                  </a:lnTo>
                  <a:lnTo>
                    <a:pt x="45070" y="13789"/>
                  </a:lnTo>
                  <a:lnTo>
                    <a:pt x="40314" y="6433"/>
                  </a:lnTo>
                  <a:lnTo>
                    <a:pt x="32915" y="1684"/>
                  </a:lnTo>
                  <a:lnTo>
                    <a:pt x="23306" y="0"/>
                  </a:lnTo>
                  <a:close/>
                </a:path>
              </a:pathLst>
            </a:custGeom>
            <a:solidFill>
              <a:srgbClr val="8F0000"/>
            </a:solidFill>
          </p:spPr>
          <p:txBody>
            <a:bodyPr wrap="square" lIns="0" tIns="0" rIns="0" bIns="0" rtlCol="0"/>
            <a:lstStyle/>
            <a:p>
              <a:endParaRPr/>
            </a:p>
          </p:txBody>
        </p:sp>
        <p:sp>
          <p:nvSpPr>
            <p:cNvPr id="350" name="object 116"/>
            <p:cNvSpPr/>
            <p:nvPr/>
          </p:nvSpPr>
          <p:spPr>
            <a:xfrm>
              <a:off x="6974294" y="3662918"/>
              <a:ext cx="46990" cy="46990"/>
            </a:xfrm>
            <a:custGeom>
              <a:avLst/>
              <a:gdLst/>
              <a:ahLst/>
              <a:cxnLst/>
              <a:rect l="l" t="t" r="r" b="b"/>
              <a:pathLst>
                <a:path w="46990" h="46989">
                  <a:moveTo>
                    <a:pt x="0" y="23298"/>
                  </a:moveTo>
                  <a:lnTo>
                    <a:pt x="1659" y="32903"/>
                  </a:lnTo>
                  <a:lnTo>
                    <a:pt x="6367" y="40309"/>
                  </a:lnTo>
                  <a:lnTo>
                    <a:pt x="13718" y="45076"/>
                  </a:lnTo>
                  <a:lnTo>
                    <a:pt x="23306" y="46763"/>
                  </a:lnTo>
                  <a:lnTo>
                    <a:pt x="32915" y="45076"/>
                  </a:lnTo>
                  <a:lnTo>
                    <a:pt x="40314" y="40309"/>
                  </a:lnTo>
                  <a:lnTo>
                    <a:pt x="45070" y="32903"/>
                  </a:lnTo>
                  <a:lnTo>
                    <a:pt x="46751" y="23298"/>
                  </a:lnTo>
                  <a:lnTo>
                    <a:pt x="45070" y="13789"/>
                  </a:lnTo>
                  <a:lnTo>
                    <a:pt x="40314" y="6433"/>
                  </a:lnTo>
                  <a:lnTo>
                    <a:pt x="32915" y="1684"/>
                  </a:lnTo>
                  <a:lnTo>
                    <a:pt x="23306" y="0"/>
                  </a:lnTo>
                  <a:lnTo>
                    <a:pt x="13718" y="1684"/>
                  </a:lnTo>
                  <a:lnTo>
                    <a:pt x="6367" y="6433"/>
                  </a:lnTo>
                  <a:lnTo>
                    <a:pt x="1659" y="13789"/>
                  </a:lnTo>
                  <a:lnTo>
                    <a:pt x="0" y="23298"/>
                  </a:lnTo>
                  <a:close/>
                </a:path>
              </a:pathLst>
            </a:custGeom>
            <a:ln w="3175">
              <a:solidFill>
                <a:srgbClr val="8F0000"/>
              </a:solidFill>
            </a:ln>
          </p:spPr>
          <p:txBody>
            <a:bodyPr wrap="square" lIns="0" tIns="0" rIns="0" bIns="0" rtlCol="0"/>
            <a:lstStyle/>
            <a:p>
              <a:endParaRPr/>
            </a:p>
          </p:txBody>
        </p:sp>
        <p:sp>
          <p:nvSpPr>
            <p:cNvPr id="351" name="object 117"/>
            <p:cNvSpPr/>
            <p:nvPr/>
          </p:nvSpPr>
          <p:spPr>
            <a:xfrm>
              <a:off x="7198981" y="3400612"/>
              <a:ext cx="46990" cy="46990"/>
            </a:xfrm>
            <a:custGeom>
              <a:avLst/>
              <a:gdLst/>
              <a:ahLst/>
              <a:cxnLst/>
              <a:rect l="l" t="t" r="r" b="b"/>
              <a:pathLst>
                <a:path w="46990" h="46989">
                  <a:moveTo>
                    <a:pt x="23445" y="0"/>
                  </a:moveTo>
                  <a:lnTo>
                    <a:pt x="13835" y="1659"/>
                  </a:lnTo>
                  <a:lnTo>
                    <a:pt x="6437" y="6366"/>
                  </a:lnTo>
                  <a:lnTo>
                    <a:pt x="1681" y="13713"/>
                  </a:lnTo>
                  <a:lnTo>
                    <a:pt x="0" y="23291"/>
                  </a:lnTo>
                  <a:lnTo>
                    <a:pt x="1681" y="32900"/>
                  </a:lnTo>
                  <a:lnTo>
                    <a:pt x="6437" y="40308"/>
                  </a:lnTo>
                  <a:lnTo>
                    <a:pt x="13835" y="45076"/>
                  </a:lnTo>
                  <a:lnTo>
                    <a:pt x="23445" y="46763"/>
                  </a:lnTo>
                  <a:lnTo>
                    <a:pt x="33066" y="45076"/>
                  </a:lnTo>
                  <a:lnTo>
                    <a:pt x="40488" y="40308"/>
                  </a:lnTo>
                  <a:lnTo>
                    <a:pt x="45268" y="32900"/>
                  </a:lnTo>
                  <a:lnTo>
                    <a:pt x="46960" y="23291"/>
                  </a:lnTo>
                  <a:lnTo>
                    <a:pt x="45268" y="13713"/>
                  </a:lnTo>
                  <a:lnTo>
                    <a:pt x="40488" y="6366"/>
                  </a:lnTo>
                  <a:lnTo>
                    <a:pt x="33066" y="1659"/>
                  </a:lnTo>
                  <a:lnTo>
                    <a:pt x="23445" y="0"/>
                  </a:lnTo>
                  <a:close/>
                </a:path>
              </a:pathLst>
            </a:custGeom>
            <a:solidFill>
              <a:srgbClr val="8F0000"/>
            </a:solidFill>
          </p:spPr>
          <p:txBody>
            <a:bodyPr wrap="square" lIns="0" tIns="0" rIns="0" bIns="0" rtlCol="0"/>
            <a:lstStyle/>
            <a:p>
              <a:endParaRPr/>
            </a:p>
          </p:txBody>
        </p:sp>
        <p:pic>
          <p:nvPicPr>
            <p:cNvPr id="352" name="object 118"/>
            <p:cNvPicPr/>
            <p:nvPr/>
          </p:nvPicPr>
          <p:blipFill>
            <a:blip r:embed="rId4" cstate="print"/>
            <a:stretch>
              <a:fillRect/>
            </a:stretch>
          </p:blipFill>
          <p:spPr>
            <a:xfrm>
              <a:off x="6776961" y="3208054"/>
              <a:ext cx="352241" cy="361657"/>
            </a:xfrm>
            <a:prstGeom prst="rect">
              <a:avLst/>
            </a:prstGeom>
          </p:spPr>
        </p:pic>
        <p:sp>
          <p:nvSpPr>
            <p:cNvPr id="353" name="object 119"/>
            <p:cNvSpPr/>
            <p:nvPr/>
          </p:nvSpPr>
          <p:spPr>
            <a:xfrm>
              <a:off x="7198981" y="3400612"/>
              <a:ext cx="46990" cy="46990"/>
            </a:xfrm>
            <a:custGeom>
              <a:avLst/>
              <a:gdLst/>
              <a:ahLst/>
              <a:cxnLst/>
              <a:rect l="l" t="t" r="r" b="b"/>
              <a:pathLst>
                <a:path w="46990" h="46989">
                  <a:moveTo>
                    <a:pt x="0" y="23291"/>
                  </a:moveTo>
                  <a:lnTo>
                    <a:pt x="1681" y="32900"/>
                  </a:lnTo>
                  <a:lnTo>
                    <a:pt x="6437" y="40308"/>
                  </a:lnTo>
                  <a:lnTo>
                    <a:pt x="13835" y="45076"/>
                  </a:lnTo>
                  <a:lnTo>
                    <a:pt x="23445" y="46763"/>
                  </a:lnTo>
                  <a:lnTo>
                    <a:pt x="33066" y="45076"/>
                  </a:lnTo>
                  <a:lnTo>
                    <a:pt x="40488" y="40308"/>
                  </a:lnTo>
                  <a:lnTo>
                    <a:pt x="45268" y="32900"/>
                  </a:lnTo>
                  <a:lnTo>
                    <a:pt x="46960" y="23291"/>
                  </a:lnTo>
                  <a:lnTo>
                    <a:pt x="45268" y="13713"/>
                  </a:lnTo>
                  <a:lnTo>
                    <a:pt x="40488" y="6366"/>
                  </a:lnTo>
                  <a:lnTo>
                    <a:pt x="33066" y="1659"/>
                  </a:lnTo>
                  <a:lnTo>
                    <a:pt x="23445" y="0"/>
                  </a:lnTo>
                  <a:lnTo>
                    <a:pt x="13835" y="1659"/>
                  </a:lnTo>
                  <a:lnTo>
                    <a:pt x="6437" y="6366"/>
                  </a:lnTo>
                  <a:lnTo>
                    <a:pt x="1681" y="13713"/>
                  </a:lnTo>
                  <a:lnTo>
                    <a:pt x="0" y="23291"/>
                  </a:lnTo>
                  <a:close/>
                </a:path>
              </a:pathLst>
            </a:custGeom>
            <a:ln w="3175">
              <a:solidFill>
                <a:srgbClr val="8F0000"/>
              </a:solidFill>
            </a:ln>
          </p:spPr>
          <p:txBody>
            <a:bodyPr wrap="square" lIns="0" tIns="0" rIns="0" bIns="0" rtlCol="0"/>
            <a:lstStyle/>
            <a:p>
              <a:endParaRPr/>
            </a:p>
          </p:txBody>
        </p:sp>
        <p:sp>
          <p:nvSpPr>
            <p:cNvPr id="354" name="object 120"/>
            <p:cNvSpPr/>
            <p:nvPr/>
          </p:nvSpPr>
          <p:spPr>
            <a:xfrm>
              <a:off x="7133389" y="3091354"/>
              <a:ext cx="46990" cy="46990"/>
            </a:xfrm>
            <a:custGeom>
              <a:avLst/>
              <a:gdLst/>
              <a:ahLst/>
              <a:cxnLst/>
              <a:rect l="l" t="t" r="r" b="b"/>
              <a:pathLst>
                <a:path w="46990" h="46989">
                  <a:moveTo>
                    <a:pt x="23515" y="0"/>
                  </a:moveTo>
                  <a:lnTo>
                    <a:pt x="13894" y="1691"/>
                  </a:lnTo>
                  <a:lnTo>
                    <a:pt x="6471" y="6469"/>
                  </a:lnTo>
                  <a:lnTo>
                    <a:pt x="1692" y="13889"/>
                  </a:lnTo>
                  <a:lnTo>
                    <a:pt x="0" y="23507"/>
                  </a:lnTo>
                  <a:lnTo>
                    <a:pt x="1692" y="33092"/>
                  </a:lnTo>
                  <a:lnTo>
                    <a:pt x="6471" y="40440"/>
                  </a:lnTo>
                  <a:lnTo>
                    <a:pt x="13894" y="45146"/>
                  </a:lnTo>
                  <a:lnTo>
                    <a:pt x="23515" y="46805"/>
                  </a:lnTo>
                  <a:lnTo>
                    <a:pt x="33125" y="45146"/>
                  </a:lnTo>
                  <a:lnTo>
                    <a:pt x="40523" y="40440"/>
                  </a:lnTo>
                  <a:lnTo>
                    <a:pt x="45279" y="33092"/>
                  </a:lnTo>
                  <a:lnTo>
                    <a:pt x="46960" y="23507"/>
                  </a:lnTo>
                  <a:lnTo>
                    <a:pt x="45279" y="13889"/>
                  </a:lnTo>
                  <a:lnTo>
                    <a:pt x="40523" y="6469"/>
                  </a:lnTo>
                  <a:lnTo>
                    <a:pt x="33125" y="1691"/>
                  </a:lnTo>
                  <a:lnTo>
                    <a:pt x="23515" y="0"/>
                  </a:lnTo>
                  <a:close/>
                </a:path>
              </a:pathLst>
            </a:custGeom>
            <a:solidFill>
              <a:srgbClr val="8F0000"/>
            </a:solidFill>
          </p:spPr>
          <p:txBody>
            <a:bodyPr wrap="square" lIns="0" tIns="0" rIns="0" bIns="0" rtlCol="0"/>
            <a:lstStyle/>
            <a:p>
              <a:endParaRPr/>
            </a:p>
          </p:txBody>
        </p:sp>
        <p:sp>
          <p:nvSpPr>
            <p:cNvPr id="355" name="object 121"/>
            <p:cNvSpPr/>
            <p:nvPr/>
          </p:nvSpPr>
          <p:spPr>
            <a:xfrm>
              <a:off x="7133389" y="3091354"/>
              <a:ext cx="46990" cy="46990"/>
            </a:xfrm>
            <a:custGeom>
              <a:avLst/>
              <a:gdLst/>
              <a:ahLst/>
              <a:cxnLst/>
              <a:rect l="l" t="t" r="r" b="b"/>
              <a:pathLst>
                <a:path w="46990" h="46989">
                  <a:moveTo>
                    <a:pt x="0" y="23507"/>
                  </a:moveTo>
                  <a:lnTo>
                    <a:pt x="1692" y="33092"/>
                  </a:lnTo>
                  <a:lnTo>
                    <a:pt x="6471" y="40440"/>
                  </a:lnTo>
                  <a:lnTo>
                    <a:pt x="13894" y="45146"/>
                  </a:lnTo>
                  <a:lnTo>
                    <a:pt x="23515" y="46805"/>
                  </a:lnTo>
                  <a:lnTo>
                    <a:pt x="33125" y="45146"/>
                  </a:lnTo>
                  <a:lnTo>
                    <a:pt x="40523" y="40440"/>
                  </a:lnTo>
                  <a:lnTo>
                    <a:pt x="45279" y="33092"/>
                  </a:lnTo>
                  <a:lnTo>
                    <a:pt x="46960" y="23507"/>
                  </a:lnTo>
                  <a:lnTo>
                    <a:pt x="45279" y="13889"/>
                  </a:lnTo>
                  <a:lnTo>
                    <a:pt x="40523" y="6469"/>
                  </a:lnTo>
                  <a:lnTo>
                    <a:pt x="33125" y="1691"/>
                  </a:lnTo>
                  <a:lnTo>
                    <a:pt x="23515" y="0"/>
                  </a:lnTo>
                  <a:lnTo>
                    <a:pt x="13894" y="1691"/>
                  </a:lnTo>
                  <a:lnTo>
                    <a:pt x="6471" y="6469"/>
                  </a:lnTo>
                  <a:lnTo>
                    <a:pt x="1692" y="13889"/>
                  </a:lnTo>
                  <a:lnTo>
                    <a:pt x="0" y="23507"/>
                  </a:lnTo>
                  <a:close/>
                </a:path>
              </a:pathLst>
            </a:custGeom>
            <a:ln w="3175">
              <a:solidFill>
                <a:srgbClr val="8F0000"/>
              </a:solidFill>
            </a:ln>
          </p:spPr>
          <p:txBody>
            <a:bodyPr wrap="square" lIns="0" tIns="0" rIns="0" bIns="0" rtlCol="0"/>
            <a:lstStyle/>
            <a:p>
              <a:endParaRPr/>
            </a:p>
          </p:txBody>
        </p:sp>
        <p:sp>
          <p:nvSpPr>
            <p:cNvPr id="356" name="object 122"/>
            <p:cNvSpPr/>
            <p:nvPr/>
          </p:nvSpPr>
          <p:spPr>
            <a:xfrm>
              <a:off x="6983505" y="2384040"/>
              <a:ext cx="46990" cy="56515"/>
            </a:xfrm>
            <a:custGeom>
              <a:avLst/>
              <a:gdLst/>
              <a:ahLst/>
              <a:cxnLst/>
              <a:rect l="l" t="t" r="r" b="b"/>
              <a:pathLst>
                <a:path w="46990" h="56514">
                  <a:moveTo>
                    <a:pt x="23515" y="0"/>
                  </a:moveTo>
                  <a:lnTo>
                    <a:pt x="0" y="28180"/>
                  </a:lnTo>
                  <a:lnTo>
                    <a:pt x="23515" y="56152"/>
                  </a:lnTo>
                  <a:lnTo>
                    <a:pt x="46960" y="28180"/>
                  </a:lnTo>
                  <a:lnTo>
                    <a:pt x="23515" y="0"/>
                  </a:lnTo>
                  <a:close/>
                </a:path>
              </a:pathLst>
            </a:custGeom>
            <a:solidFill>
              <a:srgbClr val="8FFF80"/>
            </a:solidFill>
          </p:spPr>
          <p:txBody>
            <a:bodyPr wrap="square" lIns="0" tIns="0" rIns="0" bIns="0" rtlCol="0"/>
            <a:lstStyle/>
            <a:p>
              <a:endParaRPr/>
            </a:p>
          </p:txBody>
        </p:sp>
        <p:sp>
          <p:nvSpPr>
            <p:cNvPr id="357" name="object 123"/>
            <p:cNvSpPr/>
            <p:nvPr/>
          </p:nvSpPr>
          <p:spPr>
            <a:xfrm>
              <a:off x="6983505" y="2384040"/>
              <a:ext cx="46990" cy="56515"/>
            </a:xfrm>
            <a:custGeom>
              <a:avLst/>
              <a:gdLst/>
              <a:ahLst/>
              <a:cxnLst/>
              <a:rect l="l" t="t" r="r" b="b"/>
              <a:pathLst>
                <a:path w="46990" h="56514">
                  <a:moveTo>
                    <a:pt x="23515" y="56152"/>
                  </a:moveTo>
                  <a:lnTo>
                    <a:pt x="46960" y="28180"/>
                  </a:lnTo>
                  <a:lnTo>
                    <a:pt x="23515" y="0"/>
                  </a:lnTo>
                  <a:lnTo>
                    <a:pt x="0" y="28180"/>
                  </a:lnTo>
                  <a:lnTo>
                    <a:pt x="23515" y="56152"/>
                  </a:lnTo>
                  <a:close/>
                </a:path>
              </a:pathLst>
            </a:custGeom>
            <a:ln w="3175">
              <a:solidFill>
                <a:srgbClr val="8FFF7E"/>
              </a:solidFill>
            </a:ln>
          </p:spPr>
          <p:txBody>
            <a:bodyPr wrap="square" lIns="0" tIns="0" rIns="0" bIns="0" rtlCol="0"/>
            <a:lstStyle/>
            <a:p>
              <a:endParaRPr/>
            </a:p>
          </p:txBody>
        </p:sp>
        <p:pic>
          <p:nvPicPr>
            <p:cNvPr id="358" name="object 124"/>
            <p:cNvPicPr/>
            <p:nvPr/>
          </p:nvPicPr>
          <p:blipFill>
            <a:blip r:embed="rId5" cstate="print"/>
            <a:stretch>
              <a:fillRect/>
            </a:stretch>
          </p:blipFill>
          <p:spPr>
            <a:xfrm>
              <a:off x="7132901" y="1947933"/>
              <a:ext cx="905026" cy="994075"/>
            </a:xfrm>
            <a:prstGeom prst="rect">
              <a:avLst/>
            </a:prstGeom>
          </p:spPr>
        </p:pic>
        <p:sp>
          <p:nvSpPr>
            <p:cNvPr id="359" name="object 125"/>
            <p:cNvSpPr/>
            <p:nvPr/>
          </p:nvSpPr>
          <p:spPr>
            <a:xfrm>
              <a:off x="7606557" y="1812539"/>
              <a:ext cx="46990" cy="56515"/>
            </a:xfrm>
            <a:custGeom>
              <a:avLst/>
              <a:gdLst/>
              <a:ahLst/>
              <a:cxnLst/>
              <a:rect l="l" t="t" r="r" b="b"/>
              <a:pathLst>
                <a:path w="46990" h="56514">
                  <a:moveTo>
                    <a:pt x="23306" y="0"/>
                  </a:moveTo>
                  <a:lnTo>
                    <a:pt x="0" y="28111"/>
                  </a:lnTo>
                  <a:lnTo>
                    <a:pt x="23306" y="56292"/>
                  </a:lnTo>
                  <a:lnTo>
                    <a:pt x="46751" y="28111"/>
                  </a:lnTo>
                  <a:lnTo>
                    <a:pt x="23306" y="0"/>
                  </a:lnTo>
                  <a:close/>
                </a:path>
              </a:pathLst>
            </a:custGeom>
            <a:solidFill>
              <a:srgbClr val="8FFF80"/>
            </a:solidFill>
          </p:spPr>
          <p:txBody>
            <a:bodyPr wrap="square" lIns="0" tIns="0" rIns="0" bIns="0" rtlCol="0"/>
            <a:lstStyle/>
            <a:p>
              <a:endParaRPr/>
            </a:p>
          </p:txBody>
        </p:sp>
        <p:sp>
          <p:nvSpPr>
            <p:cNvPr id="360" name="object 126"/>
            <p:cNvSpPr/>
            <p:nvPr/>
          </p:nvSpPr>
          <p:spPr>
            <a:xfrm>
              <a:off x="7606557" y="1812539"/>
              <a:ext cx="46990" cy="56515"/>
            </a:xfrm>
            <a:custGeom>
              <a:avLst/>
              <a:gdLst/>
              <a:ahLst/>
              <a:cxnLst/>
              <a:rect l="l" t="t" r="r" b="b"/>
              <a:pathLst>
                <a:path w="46990" h="56514">
                  <a:moveTo>
                    <a:pt x="23306" y="56292"/>
                  </a:moveTo>
                  <a:lnTo>
                    <a:pt x="46751" y="28111"/>
                  </a:lnTo>
                  <a:lnTo>
                    <a:pt x="23306" y="0"/>
                  </a:lnTo>
                  <a:lnTo>
                    <a:pt x="0" y="28111"/>
                  </a:lnTo>
                  <a:lnTo>
                    <a:pt x="23306" y="56292"/>
                  </a:lnTo>
                  <a:close/>
                </a:path>
              </a:pathLst>
            </a:custGeom>
            <a:ln w="3175">
              <a:solidFill>
                <a:srgbClr val="8FFF7E"/>
              </a:solidFill>
            </a:ln>
          </p:spPr>
          <p:txBody>
            <a:bodyPr wrap="square" lIns="0" tIns="0" rIns="0" bIns="0" rtlCol="0"/>
            <a:lstStyle/>
            <a:p>
              <a:endParaRPr/>
            </a:p>
          </p:txBody>
        </p:sp>
        <p:sp>
          <p:nvSpPr>
            <p:cNvPr id="361" name="object 127"/>
            <p:cNvSpPr/>
            <p:nvPr/>
          </p:nvSpPr>
          <p:spPr>
            <a:xfrm>
              <a:off x="7362960" y="1807796"/>
              <a:ext cx="46990" cy="56515"/>
            </a:xfrm>
            <a:custGeom>
              <a:avLst/>
              <a:gdLst/>
              <a:ahLst/>
              <a:cxnLst/>
              <a:rect l="l" t="t" r="r" b="b"/>
              <a:pathLst>
                <a:path w="46990" h="56514">
                  <a:moveTo>
                    <a:pt x="23445" y="0"/>
                  </a:moveTo>
                  <a:lnTo>
                    <a:pt x="0" y="28180"/>
                  </a:lnTo>
                  <a:lnTo>
                    <a:pt x="23445" y="56361"/>
                  </a:lnTo>
                  <a:lnTo>
                    <a:pt x="46751" y="28180"/>
                  </a:lnTo>
                  <a:lnTo>
                    <a:pt x="23445" y="0"/>
                  </a:lnTo>
                  <a:close/>
                </a:path>
              </a:pathLst>
            </a:custGeom>
            <a:solidFill>
              <a:srgbClr val="8FFF80"/>
            </a:solidFill>
          </p:spPr>
          <p:txBody>
            <a:bodyPr wrap="square" lIns="0" tIns="0" rIns="0" bIns="0" rtlCol="0"/>
            <a:lstStyle/>
            <a:p>
              <a:endParaRPr/>
            </a:p>
          </p:txBody>
        </p:sp>
        <p:sp>
          <p:nvSpPr>
            <p:cNvPr id="362" name="object 128"/>
            <p:cNvSpPr/>
            <p:nvPr/>
          </p:nvSpPr>
          <p:spPr>
            <a:xfrm>
              <a:off x="7362960" y="1807796"/>
              <a:ext cx="46990" cy="56515"/>
            </a:xfrm>
            <a:custGeom>
              <a:avLst/>
              <a:gdLst/>
              <a:ahLst/>
              <a:cxnLst/>
              <a:rect l="l" t="t" r="r" b="b"/>
              <a:pathLst>
                <a:path w="46990" h="56514">
                  <a:moveTo>
                    <a:pt x="23445" y="56361"/>
                  </a:moveTo>
                  <a:lnTo>
                    <a:pt x="46751" y="28180"/>
                  </a:lnTo>
                  <a:lnTo>
                    <a:pt x="23445" y="0"/>
                  </a:lnTo>
                  <a:lnTo>
                    <a:pt x="0" y="28180"/>
                  </a:lnTo>
                  <a:lnTo>
                    <a:pt x="23445" y="56361"/>
                  </a:lnTo>
                  <a:close/>
                </a:path>
              </a:pathLst>
            </a:custGeom>
            <a:ln w="3175">
              <a:solidFill>
                <a:srgbClr val="8FFF7E"/>
              </a:solidFill>
            </a:ln>
          </p:spPr>
          <p:txBody>
            <a:bodyPr wrap="square" lIns="0" tIns="0" rIns="0" bIns="0" rtlCol="0"/>
            <a:lstStyle/>
            <a:p>
              <a:endParaRPr/>
            </a:p>
          </p:txBody>
        </p:sp>
        <p:sp>
          <p:nvSpPr>
            <p:cNvPr id="363" name="object 129"/>
            <p:cNvSpPr/>
            <p:nvPr/>
          </p:nvSpPr>
          <p:spPr>
            <a:xfrm>
              <a:off x="7681499" y="3077263"/>
              <a:ext cx="46990" cy="56515"/>
            </a:xfrm>
            <a:custGeom>
              <a:avLst/>
              <a:gdLst/>
              <a:ahLst/>
              <a:cxnLst/>
              <a:rect l="l" t="t" r="r" b="b"/>
              <a:pathLst>
                <a:path w="46990" h="56514">
                  <a:moveTo>
                    <a:pt x="23306" y="0"/>
                  </a:moveTo>
                  <a:lnTo>
                    <a:pt x="0" y="28180"/>
                  </a:lnTo>
                  <a:lnTo>
                    <a:pt x="23306" y="56361"/>
                  </a:lnTo>
                  <a:lnTo>
                    <a:pt x="46751" y="28180"/>
                  </a:lnTo>
                  <a:lnTo>
                    <a:pt x="23306" y="0"/>
                  </a:lnTo>
                  <a:close/>
                </a:path>
              </a:pathLst>
            </a:custGeom>
            <a:solidFill>
              <a:srgbClr val="8F0000"/>
            </a:solidFill>
          </p:spPr>
          <p:txBody>
            <a:bodyPr wrap="square" lIns="0" tIns="0" rIns="0" bIns="0" rtlCol="0"/>
            <a:lstStyle/>
            <a:p>
              <a:endParaRPr/>
            </a:p>
          </p:txBody>
        </p:sp>
        <p:sp>
          <p:nvSpPr>
            <p:cNvPr id="364" name="object 130"/>
            <p:cNvSpPr/>
            <p:nvPr/>
          </p:nvSpPr>
          <p:spPr>
            <a:xfrm>
              <a:off x="7681499" y="3077263"/>
              <a:ext cx="46990" cy="56515"/>
            </a:xfrm>
            <a:custGeom>
              <a:avLst/>
              <a:gdLst/>
              <a:ahLst/>
              <a:cxnLst/>
              <a:rect l="l" t="t" r="r" b="b"/>
              <a:pathLst>
                <a:path w="46990" h="56514">
                  <a:moveTo>
                    <a:pt x="23306" y="56361"/>
                  </a:moveTo>
                  <a:lnTo>
                    <a:pt x="46751" y="28180"/>
                  </a:lnTo>
                  <a:lnTo>
                    <a:pt x="23306" y="0"/>
                  </a:lnTo>
                  <a:lnTo>
                    <a:pt x="0" y="28180"/>
                  </a:lnTo>
                  <a:lnTo>
                    <a:pt x="23306" y="56361"/>
                  </a:lnTo>
                  <a:close/>
                </a:path>
              </a:pathLst>
            </a:custGeom>
            <a:ln w="3175">
              <a:solidFill>
                <a:srgbClr val="8F0000"/>
              </a:solidFill>
            </a:ln>
          </p:spPr>
          <p:txBody>
            <a:bodyPr wrap="square" lIns="0" tIns="0" rIns="0" bIns="0" rtlCol="0"/>
            <a:lstStyle/>
            <a:p>
              <a:endParaRPr/>
            </a:p>
          </p:txBody>
        </p:sp>
        <p:sp>
          <p:nvSpPr>
            <p:cNvPr id="365" name="object 131"/>
            <p:cNvSpPr/>
            <p:nvPr/>
          </p:nvSpPr>
          <p:spPr>
            <a:xfrm>
              <a:off x="7892224" y="3306927"/>
              <a:ext cx="332740" cy="337820"/>
            </a:xfrm>
            <a:custGeom>
              <a:avLst/>
              <a:gdLst/>
              <a:ahLst/>
              <a:cxnLst/>
              <a:rect l="l" t="t" r="r" b="b"/>
              <a:pathLst>
                <a:path w="332740" h="337820">
                  <a:moveTo>
                    <a:pt x="37388" y="0"/>
                  </a:moveTo>
                  <a:lnTo>
                    <a:pt x="0" y="0"/>
                  </a:lnTo>
                  <a:lnTo>
                    <a:pt x="0" y="37376"/>
                  </a:lnTo>
                  <a:lnTo>
                    <a:pt x="37388" y="37376"/>
                  </a:lnTo>
                  <a:lnTo>
                    <a:pt x="37388" y="0"/>
                  </a:lnTo>
                  <a:close/>
                </a:path>
                <a:path w="332740" h="337820">
                  <a:moveTo>
                    <a:pt x="65608" y="98209"/>
                  </a:moveTo>
                  <a:lnTo>
                    <a:pt x="51485" y="98209"/>
                  </a:lnTo>
                  <a:lnTo>
                    <a:pt x="51485" y="93687"/>
                  </a:lnTo>
                  <a:lnTo>
                    <a:pt x="14097" y="93687"/>
                  </a:lnTo>
                  <a:lnTo>
                    <a:pt x="14097" y="131064"/>
                  </a:lnTo>
                  <a:lnTo>
                    <a:pt x="28054" y="131064"/>
                  </a:lnTo>
                  <a:lnTo>
                    <a:pt x="28054" y="135763"/>
                  </a:lnTo>
                  <a:lnTo>
                    <a:pt x="65608" y="135763"/>
                  </a:lnTo>
                  <a:lnTo>
                    <a:pt x="65608" y="98209"/>
                  </a:lnTo>
                  <a:close/>
                </a:path>
                <a:path w="332740" h="337820">
                  <a:moveTo>
                    <a:pt x="117068" y="60833"/>
                  </a:moveTo>
                  <a:lnTo>
                    <a:pt x="79692" y="60833"/>
                  </a:lnTo>
                  <a:lnTo>
                    <a:pt x="79692" y="98209"/>
                  </a:lnTo>
                  <a:lnTo>
                    <a:pt x="117068" y="98209"/>
                  </a:lnTo>
                  <a:lnTo>
                    <a:pt x="117068" y="60833"/>
                  </a:lnTo>
                  <a:close/>
                </a:path>
                <a:path w="332740" h="337820">
                  <a:moveTo>
                    <a:pt x="131127" y="252920"/>
                  </a:moveTo>
                  <a:lnTo>
                    <a:pt x="126428" y="252920"/>
                  </a:lnTo>
                  <a:lnTo>
                    <a:pt x="93573" y="252920"/>
                  </a:lnTo>
                  <a:lnTo>
                    <a:pt x="89039" y="252920"/>
                  </a:lnTo>
                  <a:lnTo>
                    <a:pt x="89039" y="290296"/>
                  </a:lnTo>
                  <a:lnTo>
                    <a:pt x="93573" y="290296"/>
                  </a:lnTo>
                  <a:lnTo>
                    <a:pt x="126428" y="290296"/>
                  </a:lnTo>
                  <a:lnTo>
                    <a:pt x="131127" y="290296"/>
                  </a:lnTo>
                  <a:lnTo>
                    <a:pt x="131127" y="252920"/>
                  </a:lnTo>
                  <a:close/>
                </a:path>
                <a:path w="332740" h="337820">
                  <a:moveTo>
                    <a:pt x="173240" y="187388"/>
                  </a:moveTo>
                  <a:lnTo>
                    <a:pt x="135864" y="187388"/>
                  </a:lnTo>
                  <a:lnTo>
                    <a:pt x="135864" y="224764"/>
                  </a:lnTo>
                  <a:lnTo>
                    <a:pt x="173240" y="224764"/>
                  </a:lnTo>
                  <a:lnTo>
                    <a:pt x="173240" y="187388"/>
                  </a:lnTo>
                  <a:close/>
                </a:path>
                <a:path w="332740" h="337820">
                  <a:moveTo>
                    <a:pt x="192011" y="107594"/>
                  </a:moveTo>
                  <a:lnTo>
                    <a:pt x="168503" y="107594"/>
                  </a:lnTo>
                  <a:lnTo>
                    <a:pt x="168503" y="74917"/>
                  </a:lnTo>
                  <a:lnTo>
                    <a:pt x="131114" y="74917"/>
                  </a:lnTo>
                  <a:lnTo>
                    <a:pt x="131114" y="107594"/>
                  </a:lnTo>
                  <a:lnTo>
                    <a:pt x="121767" y="107594"/>
                  </a:lnTo>
                  <a:lnTo>
                    <a:pt x="93573" y="107594"/>
                  </a:lnTo>
                  <a:lnTo>
                    <a:pt x="93573" y="140449"/>
                  </a:lnTo>
                  <a:lnTo>
                    <a:pt x="60921" y="140449"/>
                  </a:lnTo>
                  <a:lnTo>
                    <a:pt x="60921" y="177990"/>
                  </a:lnTo>
                  <a:lnTo>
                    <a:pt x="98298" y="177990"/>
                  </a:lnTo>
                  <a:lnTo>
                    <a:pt x="98298" y="145148"/>
                  </a:lnTo>
                  <a:lnTo>
                    <a:pt x="121767" y="145148"/>
                  </a:lnTo>
                  <a:lnTo>
                    <a:pt x="131127" y="145148"/>
                  </a:lnTo>
                  <a:lnTo>
                    <a:pt x="135864" y="145148"/>
                  </a:lnTo>
                  <a:lnTo>
                    <a:pt x="135864" y="159219"/>
                  </a:lnTo>
                  <a:lnTo>
                    <a:pt x="173240" y="159219"/>
                  </a:lnTo>
                  <a:lnTo>
                    <a:pt x="173240" y="145148"/>
                  </a:lnTo>
                  <a:lnTo>
                    <a:pt x="192011" y="145148"/>
                  </a:lnTo>
                  <a:lnTo>
                    <a:pt x="192011" y="107594"/>
                  </a:lnTo>
                  <a:close/>
                </a:path>
                <a:path w="332740" h="337820">
                  <a:moveTo>
                    <a:pt x="210743" y="294982"/>
                  </a:moveTo>
                  <a:lnTo>
                    <a:pt x="173189" y="294982"/>
                  </a:lnTo>
                  <a:lnTo>
                    <a:pt x="173189" y="332536"/>
                  </a:lnTo>
                  <a:lnTo>
                    <a:pt x="210743" y="332536"/>
                  </a:lnTo>
                  <a:lnTo>
                    <a:pt x="210743" y="294982"/>
                  </a:lnTo>
                  <a:close/>
                </a:path>
                <a:path w="332740" h="337820">
                  <a:moveTo>
                    <a:pt x="210743" y="9207"/>
                  </a:moveTo>
                  <a:lnTo>
                    <a:pt x="173189" y="9207"/>
                  </a:lnTo>
                  <a:lnTo>
                    <a:pt x="173189" y="27978"/>
                  </a:lnTo>
                  <a:lnTo>
                    <a:pt x="163830" y="27978"/>
                  </a:lnTo>
                  <a:lnTo>
                    <a:pt x="163830" y="23291"/>
                  </a:lnTo>
                  <a:lnTo>
                    <a:pt x="126441" y="23291"/>
                  </a:lnTo>
                  <a:lnTo>
                    <a:pt x="126441" y="60833"/>
                  </a:lnTo>
                  <a:lnTo>
                    <a:pt x="149885" y="60833"/>
                  </a:lnTo>
                  <a:lnTo>
                    <a:pt x="149885" y="65532"/>
                  </a:lnTo>
                  <a:lnTo>
                    <a:pt x="187274" y="65532"/>
                  </a:lnTo>
                  <a:lnTo>
                    <a:pt x="187274" y="46761"/>
                  </a:lnTo>
                  <a:lnTo>
                    <a:pt x="210743" y="46761"/>
                  </a:lnTo>
                  <a:lnTo>
                    <a:pt x="210743" y="9207"/>
                  </a:lnTo>
                  <a:close/>
                </a:path>
                <a:path w="332740" h="337820">
                  <a:moveTo>
                    <a:pt x="248183" y="145148"/>
                  </a:moveTo>
                  <a:lnTo>
                    <a:pt x="210794" y="145148"/>
                  </a:lnTo>
                  <a:lnTo>
                    <a:pt x="210794" y="182689"/>
                  </a:lnTo>
                  <a:lnTo>
                    <a:pt x="248183" y="182689"/>
                  </a:lnTo>
                  <a:lnTo>
                    <a:pt x="248183" y="145148"/>
                  </a:lnTo>
                  <a:close/>
                </a:path>
                <a:path w="332740" h="337820">
                  <a:moveTo>
                    <a:pt x="309029" y="23291"/>
                  </a:moveTo>
                  <a:lnTo>
                    <a:pt x="271653" y="23291"/>
                  </a:lnTo>
                  <a:lnTo>
                    <a:pt x="271653" y="46748"/>
                  </a:lnTo>
                  <a:lnTo>
                    <a:pt x="248183" y="46748"/>
                  </a:lnTo>
                  <a:lnTo>
                    <a:pt x="248183" y="42062"/>
                  </a:lnTo>
                  <a:lnTo>
                    <a:pt x="210794" y="42062"/>
                  </a:lnTo>
                  <a:lnTo>
                    <a:pt x="210794" y="79616"/>
                  </a:lnTo>
                  <a:lnTo>
                    <a:pt x="243459" y="79616"/>
                  </a:lnTo>
                  <a:lnTo>
                    <a:pt x="243459" y="107594"/>
                  </a:lnTo>
                  <a:lnTo>
                    <a:pt x="281012" y="107594"/>
                  </a:lnTo>
                  <a:lnTo>
                    <a:pt x="281012" y="102908"/>
                  </a:lnTo>
                  <a:lnTo>
                    <a:pt x="285686" y="102908"/>
                  </a:lnTo>
                  <a:lnTo>
                    <a:pt x="285686" y="84302"/>
                  </a:lnTo>
                  <a:lnTo>
                    <a:pt x="285686" y="65532"/>
                  </a:lnTo>
                  <a:lnTo>
                    <a:pt x="285686" y="60833"/>
                  </a:lnTo>
                  <a:lnTo>
                    <a:pt x="309029" y="60833"/>
                  </a:lnTo>
                  <a:lnTo>
                    <a:pt x="309029" y="23291"/>
                  </a:lnTo>
                  <a:close/>
                </a:path>
                <a:path w="332740" h="337820">
                  <a:moveTo>
                    <a:pt x="323126" y="74917"/>
                  </a:moveTo>
                  <a:lnTo>
                    <a:pt x="285737" y="74917"/>
                  </a:lnTo>
                  <a:lnTo>
                    <a:pt x="285737" y="112293"/>
                  </a:lnTo>
                  <a:lnTo>
                    <a:pt x="323126" y="112293"/>
                  </a:lnTo>
                  <a:lnTo>
                    <a:pt x="323126" y="74917"/>
                  </a:lnTo>
                  <a:close/>
                </a:path>
                <a:path w="332740" h="337820">
                  <a:moveTo>
                    <a:pt x="332473" y="299681"/>
                  </a:moveTo>
                  <a:lnTo>
                    <a:pt x="295097" y="299681"/>
                  </a:lnTo>
                  <a:lnTo>
                    <a:pt x="295097" y="337223"/>
                  </a:lnTo>
                  <a:lnTo>
                    <a:pt x="332473" y="337223"/>
                  </a:lnTo>
                  <a:lnTo>
                    <a:pt x="332473" y="299681"/>
                  </a:lnTo>
                  <a:close/>
                </a:path>
              </a:pathLst>
            </a:custGeom>
            <a:solidFill>
              <a:srgbClr val="8F0000"/>
            </a:solidFill>
          </p:spPr>
          <p:txBody>
            <a:bodyPr wrap="square" lIns="0" tIns="0" rIns="0" bIns="0" rtlCol="0"/>
            <a:lstStyle/>
            <a:p>
              <a:endParaRPr/>
            </a:p>
          </p:txBody>
        </p:sp>
      </p:grpSp>
      <p:sp>
        <p:nvSpPr>
          <p:cNvPr id="366" name="object 132"/>
          <p:cNvSpPr txBox="1"/>
          <p:nvPr/>
        </p:nvSpPr>
        <p:spPr>
          <a:xfrm>
            <a:off x="7177070" y="3692280"/>
            <a:ext cx="1453515" cy="239395"/>
          </a:xfrm>
          <a:prstGeom prst="rect">
            <a:avLst/>
          </a:prstGeom>
        </p:spPr>
        <p:txBody>
          <a:bodyPr vert="horz" wrap="square" lIns="0" tIns="17780" rIns="0" bIns="0" rtlCol="0">
            <a:spAutoFit/>
          </a:bodyPr>
          <a:lstStyle/>
          <a:p>
            <a:pPr marL="12700">
              <a:lnSpc>
                <a:spcPts val="640"/>
              </a:lnSpc>
              <a:spcBef>
                <a:spcPts val="140"/>
              </a:spcBef>
              <a:tabLst>
                <a:tab pos="330835" algn="l"/>
                <a:tab pos="565150" algn="l"/>
                <a:tab pos="864869" algn="l"/>
                <a:tab pos="1098550" algn="l"/>
                <a:tab pos="1398270" algn="l"/>
              </a:tabLst>
            </a:pPr>
            <a:r>
              <a:rPr sz="550" spc="30" dirty="0">
                <a:latin typeface="Arial MT"/>
                <a:cs typeface="Arial MT"/>
              </a:rPr>
              <a:t>-</a:t>
            </a:r>
            <a:r>
              <a:rPr sz="550" spc="20" dirty="0">
                <a:latin typeface="Arial MT"/>
                <a:cs typeface="Arial MT"/>
              </a:rPr>
              <a:t>0</a:t>
            </a:r>
            <a:r>
              <a:rPr sz="550" spc="-10" dirty="0">
                <a:latin typeface="Arial MT"/>
                <a:cs typeface="Arial MT"/>
              </a:rPr>
              <a:t>.</a:t>
            </a:r>
            <a:r>
              <a:rPr sz="550" spc="20" dirty="0">
                <a:latin typeface="Arial MT"/>
                <a:cs typeface="Arial MT"/>
              </a:rPr>
              <a:t>5</a:t>
            </a:r>
            <a:r>
              <a:rPr sz="550" dirty="0">
                <a:latin typeface="Arial MT"/>
                <a:cs typeface="Arial MT"/>
              </a:rPr>
              <a:t>	</a:t>
            </a:r>
            <a:r>
              <a:rPr sz="550" spc="20" dirty="0">
                <a:latin typeface="Arial MT"/>
                <a:cs typeface="Arial MT"/>
              </a:rPr>
              <a:t>0</a:t>
            </a:r>
            <a:r>
              <a:rPr sz="550" dirty="0">
                <a:latin typeface="Arial MT"/>
                <a:cs typeface="Arial MT"/>
              </a:rPr>
              <a:t>	</a:t>
            </a:r>
            <a:r>
              <a:rPr sz="550" spc="20" dirty="0">
                <a:latin typeface="Arial MT"/>
                <a:cs typeface="Arial MT"/>
              </a:rPr>
              <a:t>0</a:t>
            </a:r>
            <a:r>
              <a:rPr sz="550" spc="30" dirty="0">
                <a:latin typeface="Arial MT"/>
                <a:cs typeface="Arial MT"/>
              </a:rPr>
              <a:t>.</a:t>
            </a:r>
            <a:r>
              <a:rPr sz="550" spc="20" dirty="0">
                <a:latin typeface="Arial MT"/>
                <a:cs typeface="Arial MT"/>
              </a:rPr>
              <a:t>5</a:t>
            </a:r>
            <a:r>
              <a:rPr sz="550" dirty="0">
                <a:latin typeface="Arial MT"/>
                <a:cs typeface="Arial MT"/>
              </a:rPr>
              <a:t>	</a:t>
            </a:r>
            <a:r>
              <a:rPr sz="550" spc="20" dirty="0">
                <a:latin typeface="Arial MT"/>
                <a:cs typeface="Arial MT"/>
              </a:rPr>
              <a:t>1</a:t>
            </a:r>
            <a:r>
              <a:rPr sz="550" dirty="0">
                <a:latin typeface="Arial MT"/>
                <a:cs typeface="Arial MT"/>
              </a:rPr>
              <a:t>	</a:t>
            </a:r>
            <a:r>
              <a:rPr sz="550" spc="20" dirty="0">
                <a:latin typeface="Arial MT"/>
                <a:cs typeface="Arial MT"/>
              </a:rPr>
              <a:t>1</a:t>
            </a:r>
            <a:r>
              <a:rPr sz="550" spc="30" dirty="0">
                <a:latin typeface="Arial MT"/>
                <a:cs typeface="Arial MT"/>
              </a:rPr>
              <a:t>.</a:t>
            </a:r>
            <a:r>
              <a:rPr sz="550" spc="20" dirty="0">
                <a:latin typeface="Arial MT"/>
                <a:cs typeface="Arial MT"/>
              </a:rPr>
              <a:t>5</a:t>
            </a:r>
            <a:r>
              <a:rPr sz="550" dirty="0">
                <a:latin typeface="Arial MT"/>
                <a:cs typeface="Arial MT"/>
              </a:rPr>
              <a:t>	</a:t>
            </a:r>
            <a:r>
              <a:rPr sz="550" spc="20" dirty="0">
                <a:latin typeface="Arial MT"/>
                <a:cs typeface="Arial MT"/>
              </a:rPr>
              <a:t>2</a:t>
            </a:r>
            <a:endParaRPr sz="550">
              <a:latin typeface="Arial MT"/>
              <a:cs typeface="Arial MT"/>
            </a:endParaRPr>
          </a:p>
          <a:p>
            <a:pPr marL="293370">
              <a:lnSpc>
                <a:spcPts val="1000"/>
              </a:lnSpc>
            </a:pPr>
            <a:r>
              <a:rPr sz="850" spc="-5" dirty="0">
                <a:latin typeface="Arial MT"/>
                <a:cs typeface="Arial MT"/>
              </a:rPr>
              <a:t>x</a:t>
            </a:r>
            <a:endParaRPr sz="850">
              <a:latin typeface="Arial MT"/>
              <a:cs typeface="Arial MT"/>
            </a:endParaRPr>
          </a:p>
        </p:txBody>
      </p:sp>
      <p:sp>
        <p:nvSpPr>
          <p:cNvPr id="367" name="object 133"/>
          <p:cNvSpPr txBox="1"/>
          <p:nvPr/>
        </p:nvSpPr>
        <p:spPr>
          <a:xfrm>
            <a:off x="6249533" y="3383217"/>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0</a:t>
            </a:r>
            <a:endParaRPr sz="550">
              <a:latin typeface="Arial MT"/>
              <a:cs typeface="Arial MT"/>
            </a:endParaRPr>
          </a:p>
        </p:txBody>
      </p:sp>
      <p:sp>
        <p:nvSpPr>
          <p:cNvPr id="368" name="object 134"/>
          <p:cNvSpPr txBox="1"/>
          <p:nvPr/>
        </p:nvSpPr>
        <p:spPr>
          <a:xfrm>
            <a:off x="6188672" y="3120918"/>
            <a:ext cx="132715"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0</a:t>
            </a:r>
            <a:r>
              <a:rPr sz="550" spc="30" dirty="0">
                <a:latin typeface="Arial MT"/>
                <a:cs typeface="Arial MT"/>
              </a:rPr>
              <a:t>.</a:t>
            </a:r>
            <a:r>
              <a:rPr sz="550" spc="20" dirty="0">
                <a:latin typeface="Arial MT"/>
                <a:cs typeface="Arial MT"/>
              </a:rPr>
              <a:t>5</a:t>
            </a:r>
            <a:endParaRPr sz="550">
              <a:latin typeface="Arial MT"/>
              <a:cs typeface="Arial MT"/>
            </a:endParaRPr>
          </a:p>
        </p:txBody>
      </p:sp>
      <p:sp>
        <p:nvSpPr>
          <p:cNvPr id="369" name="object 135"/>
          <p:cNvSpPr txBox="1"/>
          <p:nvPr/>
        </p:nvSpPr>
        <p:spPr>
          <a:xfrm>
            <a:off x="6249533" y="2853897"/>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1</a:t>
            </a:r>
            <a:endParaRPr sz="550">
              <a:latin typeface="Arial MT"/>
              <a:cs typeface="Arial MT"/>
            </a:endParaRPr>
          </a:p>
        </p:txBody>
      </p:sp>
      <p:sp>
        <p:nvSpPr>
          <p:cNvPr id="370" name="object 136"/>
          <p:cNvSpPr txBox="1"/>
          <p:nvPr/>
        </p:nvSpPr>
        <p:spPr>
          <a:xfrm>
            <a:off x="6188672" y="2586876"/>
            <a:ext cx="132715"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1</a:t>
            </a:r>
            <a:r>
              <a:rPr sz="550" spc="30" dirty="0">
                <a:latin typeface="Arial MT"/>
                <a:cs typeface="Arial MT"/>
              </a:rPr>
              <a:t>.</a:t>
            </a:r>
            <a:r>
              <a:rPr sz="550" spc="20" dirty="0">
                <a:latin typeface="Arial MT"/>
                <a:cs typeface="Arial MT"/>
              </a:rPr>
              <a:t>5</a:t>
            </a:r>
            <a:endParaRPr sz="550">
              <a:latin typeface="Arial MT"/>
              <a:cs typeface="Arial MT"/>
            </a:endParaRPr>
          </a:p>
        </p:txBody>
      </p:sp>
      <p:sp>
        <p:nvSpPr>
          <p:cNvPr id="371" name="object 137"/>
          <p:cNvSpPr txBox="1"/>
          <p:nvPr/>
        </p:nvSpPr>
        <p:spPr>
          <a:xfrm>
            <a:off x="6249533" y="2319924"/>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2</a:t>
            </a:r>
            <a:endParaRPr sz="550">
              <a:latin typeface="Arial MT"/>
              <a:cs typeface="Arial MT"/>
            </a:endParaRPr>
          </a:p>
        </p:txBody>
      </p:sp>
      <p:sp>
        <p:nvSpPr>
          <p:cNvPr id="372" name="object 138"/>
          <p:cNvSpPr txBox="1"/>
          <p:nvPr/>
        </p:nvSpPr>
        <p:spPr>
          <a:xfrm>
            <a:off x="6188672" y="2052903"/>
            <a:ext cx="132715"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2</a:t>
            </a:r>
            <a:r>
              <a:rPr sz="550" spc="30" dirty="0">
                <a:latin typeface="Arial MT"/>
                <a:cs typeface="Arial MT"/>
              </a:rPr>
              <a:t>.</a:t>
            </a:r>
            <a:r>
              <a:rPr sz="550" spc="20" dirty="0">
                <a:latin typeface="Arial MT"/>
                <a:cs typeface="Arial MT"/>
              </a:rPr>
              <a:t>5</a:t>
            </a:r>
            <a:endParaRPr sz="550">
              <a:latin typeface="Arial MT"/>
              <a:cs typeface="Arial MT"/>
            </a:endParaRPr>
          </a:p>
        </p:txBody>
      </p:sp>
      <p:sp>
        <p:nvSpPr>
          <p:cNvPr id="373" name="object 139"/>
          <p:cNvSpPr txBox="1"/>
          <p:nvPr/>
        </p:nvSpPr>
        <p:spPr>
          <a:xfrm>
            <a:off x="6249533" y="1785881"/>
            <a:ext cx="67310" cy="115570"/>
          </a:xfrm>
          <a:prstGeom prst="rect">
            <a:avLst/>
          </a:prstGeom>
        </p:spPr>
        <p:txBody>
          <a:bodyPr vert="horz" wrap="square" lIns="0" tIns="17780" rIns="0" bIns="0" rtlCol="0">
            <a:spAutoFit/>
          </a:bodyPr>
          <a:lstStyle/>
          <a:p>
            <a:pPr marL="12700">
              <a:lnSpc>
                <a:spcPct val="100000"/>
              </a:lnSpc>
              <a:spcBef>
                <a:spcPts val="140"/>
              </a:spcBef>
            </a:pPr>
            <a:r>
              <a:rPr sz="550" spc="20" dirty="0">
                <a:latin typeface="Arial MT"/>
                <a:cs typeface="Arial MT"/>
              </a:rPr>
              <a:t>3</a:t>
            </a:r>
            <a:endParaRPr sz="550">
              <a:latin typeface="Arial MT"/>
              <a:cs typeface="Arial MT"/>
            </a:endParaRPr>
          </a:p>
        </p:txBody>
      </p:sp>
      <p:sp>
        <p:nvSpPr>
          <p:cNvPr id="374" name="object 140"/>
          <p:cNvSpPr txBox="1"/>
          <p:nvPr/>
        </p:nvSpPr>
        <p:spPr>
          <a:xfrm>
            <a:off x="6067778" y="2724962"/>
            <a:ext cx="146050" cy="79375"/>
          </a:xfrm>
          <a:prstGeom prst="rect">
            <a:avLst/>
          </a:prstGeom>
        </p:spPr>
        <p:txBody>
          <a:bodyPr vert="vert270" wrap="square" lIns="0" tIns="1905" rIns="0" bIns="0" rtlCol="0">
            <a:spAutoFit/>
          </a:bodyPr>
          <a:lstStyle/>
          <a:p>
            <a:pPr marL="12700">
              <a:lnSpc>
                <a:spcPct val="100000"/>
              </a:lnSpc>
              <a:spcBef>
                <a:spcPts val="15"/>
              </a:spcBef>
            </a:pPr>
            <a:r>
              <a:rPr sz="850" dirty="0">
                <a:latin typeface="Arial MT"/>
                <a:cs typeface="Arial MT"/>
              </a:rPr>
              <a:t>y</a:t>
            </a:r>
            <a:endParaRPr sz="850">
              <a:latin typeface="Arial MT"/>
              <a:cs typeface="Arial MT"/>
            </a:endParaRPr>
          </a:p>
        </p:txBody>
      </p:sp>
      <p:grpSp>
        <p:nvGrpSpPr>
          <p:cNvPr id="375" name="object 141"/>
          <p:cNvGrpSpPr/>
          <p:nvPr/>
        </p:nvGrpSpPr>
        <p:grpSpPr>
          <a:xfrm>
            <a:off x="7428483" y="3320826"/>
            <a:ext cx="213360" cy="210820"/>
            <a:chOff x="7428483" y="3320826"/>
            <a:chExt cx="213360" cy="210820"/>
          </a:xfrm>
        </p:grpSpPr>
        <p:sp>
          <p:nvSpPr>
            <p:cNvPr id="376" name="object 142"/>
            <p:cNvSpPr/>
            <p:nvPr/>
          </p:nvSpPr>
          <p:spPr>
            <a:xfrm>
              <a:off x="7428483" y="3423903"/>
              <a:ext cx="206375" cy="0"/>
            </a:xfrm>
            <a:custGeom>
              <a:avLst/>
              <a:gdLst/>
              <a:ahLst/>
              <a:cxnLst/>
              <a:rect l="l" t="t" r="r" b="b"/>
              <a:pathLst>
                <a:path w="206375">
                  <a:moveTo>
                    <a:pt x="0" y="0"/>
                  </a:moveTo>
                  <a:lnTo>
                    <a:pt x="206055" y="0"/>
                  </a:lnTo>
                </a:path>
              </a:pathLst>
            </a:custGeom>
            <a:ln w="3175">
              <a:solidFill>
                <a:srgbClr val="000000"/>
              </a:solidFill>
            </a:ln>
          </p:spPr>
          <p:txBody>
            <a:bodyPr wrap="square" lIns="0" tIns="0" rIns="0" bIns="0" rtlCol="0"/>
            <a:lstStyle/>
            <a:p>
              <a:endParaRPr/>
            </a:p>
          </p:txBody>
        </p:sp>
        <p:sp>
          <p:nvSpPr>
            <p:cNvPr id="377" name="object 143"/>
            <p:cNvSpPr/>
            <p:nvPr/>
          </p:nvSpPr>
          <p:spPr>
            <a:xfrm>
              <a:off x="7636841" y="3426163"/>
              <a:ext cx="5080" cy="0"/>
            </a:xfrm>
            <a:custGeom>
              <a:avLst/>
              <a:gdLst/>
              <a:ahLst/>
              <a:cxnLst/>
              <a:rect l="l" t="t" r="r" b="b"/>
              <a:pathLst>
                <a:path w="5079">
                  <a:moveTo>
                    <a:pt x="0" y="0"/>
                  </a:moveTo>
                  <a:lnTo>
                    <a:pt x="4675" y="0"/>
                  </a:lnTo>
                </a:path>
              </a:pathLst>
            </a:custGeom>
            <a:ln w="4693">
              <a:solidFill>
                <a:srgbClr val="000000"/>
              </a:solidFill>
            </a:ln>
          </p:spPr>
          <p:txBody>
            <a:bodyPr wrap="square" lIns="0" tIns="0" rIns="0" bIns="0" rtlCol="0"/>
            <a:lstStyle/>
            <a:p>
              <a:endParaRPr/>
            </a:p>
          </p:txBody>
        </p:sp>
        <p:sp>
          <p:nvSpPr>
            <p:cNvPr id="378" name="object 144"/>
            <p:cNvSpPr/>
            <p:nvPr/>
          </p:nvSpPr>
          <p:spPr>
            <a:xfrm>
              <a:off x="7531615" y="3320826"/>
              <a:ext cx="0" cy="206375"/>
            </a:xfrm>
            <a:custGeom>
              <a:avLst/>
              <a:gdLst/>
              <a:ahLst/>
              <a:cxnLst/>
              <a:rect l="l" t="t" r="r" b="b"/>
              <a:pathLst>
                <a:path h="206375">
                  <a:moveTo>
                    <a:pt x="0" y="0"/>
                  </a:moveTo>
                  <a:lnTo>
                    <a:pt x="0" y="206160"/>
                  </a:lnTo>
                </a:path>
              </a:pathLst>
            </a:custGeom>
            <a:ln w="3175">
              <a:solidFill>
                <a:srgbClr val="000000"/>
              </a:solidFill>
            </a:ln>
          </p:spPr>
          <p:txBody>
            <a:bodyPr wrap="square" lIns="0" tIns="0" rIns="0" bIns="0" rtlCol="0"/>
            <a:lstStyle/>
            <a:p>
              <a:endParaRPr/>
            </a:p>
          </p:txBody>
        </p:sp>
        <p:sp>
          <p:nvSpPr>
            <p:cNvPr id="379" name="object 145"/>
            <p:cNvSpPr/>
            <p:nvPr/>
          </p:nvSpPr>
          <p:spPr>
            <a:xfrm>
              <a:off x="7533848" y="3529247"/>
              <a:ext cx="5080" cy="0"/>
            </a:xfrm>
            <a:custGeom>
              <a:avLst/>
              <a:gdLst/>
              <a:ahLst/>
              <a:cxnLst/>
              <a:rect l="l" t="t" r="r" b="b"/>
              <a:pathLst>
                <a:path w="5079">
                  <a:moveTo>
                    <a:pt x="0" y="0"/>
                  </a:moveTo>
                  <a:lnTo>
                    <a:pt x="4744" y="0"/>
                  </a:lnTo>
                </a:path>
              </a:pathLst>
            </a:custGeom>
            <a:ln w="4693">
              <a:solidFill>
                <a:srgbClr val="000000"/>
              </a:solidFill>
            </a:ln>
          </p:spPr>
          <p:txBody>
            <a:bodyPr wrap="square" lIns="0" tIns="0" rIns="0" bIns="0" rtlCol="0"/>
            <a:lstStyle/>
            <a:p>
              <a:endParaRPr/>
            </a:p>
          </p:txBody>
        </p:sp>
      </p:grpSp>
      <p:grpSp>
        <p:nvGrpSpPr>
          <p:cNvPr id="380" name="object 146"/>
          <p:cNvGrpSpPr/>
          <p:nvPr/>
        </p:nvGrpSpPr>
        <p:grpSpPr>
          <a:xfrm>
            <a:off x="2884934" y="1809845"/>
            <a:ext cx="3043555" cy="2156460"/>
            <a:chOff x="2884934" y="1809845"/>
            <a:chExt cx="3043555" cy="2156460"/>
          </a:xfrm>
        </p:grpSpPr>
        <p:sp>
          <p:nvSpPr>
            <p:cNvPr id="381" name="object 147"/>
            <p:cNvSpPr/>
            <p:nvPr/>
          </p:nvSpPr>
          <p:spPr>
            <a:xfrm>
              <a:off x="2884934" y="1809845"/>
              <a:ext cx="3043555" cy="2156460"/>
            </a:xfrm>
            <a:custGeom>
              <a:avLst/>
              <a:gdLst/>
              <a:ahLst/>
              <a:cxnLst/>
              <a:rect l="l" t="t" r="r" b="b"/>
              <a:pathLst>
                <a:path w="3043554" h="2156460">
                  <a:moveTo>
                    <a:pt x="3043419" y="0"/>
                  </a:moveTo>
                  <a:lnTo>
                    <a:pt x="0" y="0"/>
                  </a:lnTo>
                  <a:lnTo>
                    <a:pt x="0" y="2156363"/>
                  </a:lnTo>
                  <a:lnTo>
                    <a:pt x="3043419" y="2156363"/>
                  </a:lnTo>
                  <a:lnTo>
                    <a:pt x="3043419" y="0"/>
                  </a:lnTo>
                  <a:close/>
                </a:path>
              </a:pathLst>
            </a:custGeom>
            <a:solidFill>
              <a:srgbClr val="FFFFFF"/>
            </a:solidFill>
          </p:spPr>
          <p:txBody>
            <a:bodyPr wrap="square" lIns="0" tIns="0" rIns="0" bIns="0" rtlCol="0"/>
            <a:lstStyle/>
            <a:p>
              <a:endParaRPr/>
            </a:p>
          </p:txBody>
        </p:sp>
        <p:sp>
          <p:nvSpPr>
            <p:cNvPr id="382" name="object 148"/>
            <p:cNvSpPr/>
            <p:nvPr/>
          </p:nvSpPr>
          <p:spPr>
            <a:xfrm>
              <a:off x="3278535" y="1856597"/>
              <a:ext cx="2352040" cy="1851025"/>
            </a:xfrm>
            <a:custGeom>
              <a:avLst/>
              <a:gdLst/>
              <a:ahLst/>
              <a:cxnLst/>
              <a:rect l="l" t="t" r="r" b="b"/>
              <a:pathLst>
                <a:path w="2352040" h="1851025">
                  <a:moveTo>
                    <a:pt x="0" y="1850866"/>
                  </a:moveTo>
                  <a:lnTo>
                    <a:pt x="0" y="0"/>
                  </a:lnTo>
                  <a:lnTo>
                    <a:pt x="2351723" y="0"/>
                  </a:lnTo>
                  <a:lnTo>
                    <a:pt x="2351723" y="1850866"/>
                  </a:lnTo>
                  <a:lnTo>
                    <a:pt x="0" y="1850866"/>
                  </a:lnTo>
                </a:path>
              </a:pathLst>
            </a:custGeom>
            <a:ln w="3175">
              <a:solidFill>
                <a:srgbClr val="FFFFFF"/>
              </a:solidFill>
            </a:ln>
          </p:spPr>
          <p:txBody>
            <a:bodyPr wrap="square" lIns="0" tIns="0" rIns="0" bIns="0" rtlCol="0"/>
            <a:lstStyle/>
            <a:p>
              <a:endParaRPr/>
            </a:p>
          </p:txBody>
        </p:sp>
        <p:sp>
          <p:nvSpPr>
            <p:cNvPr id="383" name="object 149"/>
            <p:cNvSpPr/>
            <p:nvPr/>
          </p:nvSpPr>
          <p:spPr>
            <a:xfrm>
              <a:off x="3278535" y="3707464"/>
              <a:ext cx="2352040" cy="0"/>
            </a:xfrm>
            <a:custGeom>
              <a:avLst/>
              <a:gdLst/>
              <a:ahLst/>
              <a:cxnLst/>
              <a:rect l="l" t="t" r="r" b="b"/>
              <a:pathLst>
                <a:path w="2352040">
                  <a:moveTo>
                    <a:pt x="0" y="0"/>
                  </a:moveTo>
                  <a:lnTo>
                    <a:pt x="2351723" y="0"/>
                  </a:lnTo>
                </a:path>
              </a:pathLst>
            </a:custGeom>
            <a:ln w="3175">
              <a:solidFill>
                <a:srgbClr val="000000"/>
              </a:solidFill>
            </a:ln>
          </p:spPr>
          <p:txBody>
            <a:bodyPr wrap="square" lIns="0" tIns="0" rIns="0" bIns="0" rtlCol="0"/>
            <a:lstStyle/>
            <a:p>
              <a:endParaRPr/>
            </a:p>
          </p:txBody>
        </p:sp>
        <p:sp>
          <p:nvSpPr>
            <p:cNvPr id="384" name="object 150"/>
            <p:cNvSpPr/>
            <p:nvPr/>
          </p:nvSpPr>
          <p:spPr>
            <a:xfrm>
              <a:off x="5632491" y="3709725"/>
              <a:ext cx="5080" cy="0"/>
            </a:xfrm>
            <a:custGeom>
              <a:avLst/>
              <a:gdLst/>
              <a:ahLst/>
              <a:cxnLst/>
              <a:rect l="l" t="t" r="r" b="b"/>
              <a:pathLst>
                <a:path w="5079">
                  <a:moveTo>
                    <a:pt x="0" y="0"/>
                  </a:moveTo>
                  <a:lnTo>
                    <a:pt x="4676" y="0"/>
                  </a:lnTo>
                </a:path>
              </a:pathLst>
            </a:custGeom>
            <a:ln w="4694">
              <a:solidFill>
                <a:srgbClr val="000000"/>
              </a:solidFill>
            </a:ln>
          </p:spPr>
          <p:txBody>
            <a:bodyPr wrap="square" lIns="0" tIns="0" rIns="0" bIns="0" rtlCol="0"/>
            <a:lstStyle/>
            <a:p>
              <a:endParaRPr/>
            </a:p>
          </p:txBody>
        </p:sp>
        <p:sp>
          <p:nvSpPr>
            <p:cNvPr id="385" name="object 151"/>
            <p:cNvSpPr/>
            <p:nvPr/>
          </p:nvSpPr>
          <p:spPr>
            <a:xfrm>
              <a:off x="3278535" y="1856597"/>
              <a:ext cx="0" cy="1851025"/>
            </a:xfrm>
            <a:custGeom>
              <a:avLst/>
              <a:gdLst/>
              <a:ahLst/>
              <a:cxnLst/>
              <a:rect l="l" t="t" r="r" b="b"/>
              <a:pathLst>
                <a:path h="1851025">
                  <a:moveTo>
                    <a:pt x="0" y="1850866"/>
                  </a:moveTo>
                  <a:lnTo>
                    <a:pt x="0" y="0"/>
                  </a:lnTo>
                </a:path>
              </a:pathLst>
            </a:custGeom>
            <a:ln w="3175">
              <a:solidFill>
                <a:srgbClr val="000000"/>
              </a:solidFill>
            </a:ln>
          </p:spPr>
          <p:txBody>
            <a:bodyPr wrap="square" lIns="0" tIns="0" rIns="0" bIns="0" rtlCol="0"/>
            <a:lstStyle/>
            <a:p>
              <a:endParaRPr/>
            </a:p>
          </p:txBody>
        </p:sp>
        <p:sp>
          <p:nvSpPr>
            <p:cNvPr id="386" name="object 152"/>
            <p:cNvSpPr/>
            <p:nvPr/>
          </p:nvSpPr>
          <p:spPr>
            <a:xfrm>
              <a:off x="3280796" y="1858830"/>
              <a:ext cx="5080" cy="0"/>
            </a:xfrm>
            <a:custGeom>
              <a:avLst/>
              <a:gdLst/>
              <a:ahLst/>
              <a:cxnLst/>
              <a:rect l="l" t="t" r="r" b="b"/>
              <a:pathLst>
                <a:path w="5079">
                  <a:moveTo>
                    <a:pt x="0" y="0"/>
                  </a:moveTo>
                  <a:lnTo>
                    <a:pt x="4522" y="0"/>
                  </a:lnTo>
                </a:path>
              </a:pathLst>
            </a:custGeom>
            <a:ln w="4694">
              <a:solidFill>
                <a:srgbClr val="000000"/>
              </a:solidFill>
            </a:ln>
          </p:spPr>
          <p:txBody>
            <a:bodyPr wrap="square" lIns="0" tIns="0" rIns="0" bIns="0" rtlCol="0"/>
            <a:lstStyle/>
            <a:p>
              <a:endParaRPr/>
            </a:p>
          </p:txBody>
        </p:sp>
        <p:sp>
          <p:nvSpPr>
            <p:cNvPr id="387" name="object 153"/>
            <p:cNvSpPr/>
            <p:nvPr/>
          </p:nvSpPr>
          <p:spPr>
            <a:xfrm>
              <a:off x="3414370"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388" name="object 154"/>
            <p:cNvSpPr/>
            <p:nvPr/>
          </p:nvSpPr>
          <p:spPr>
            <a:xfrm>
              <a:off x="3416632" y="3686419"/>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sp>
          <p:nvSpPr>
            <p:cNvPr id="389" name="object 155"/>
            <p:cNvSpPr/>
            <p:nvPr/>
          </p:nvSpPr>
          <p:spPr>
            <a:xfrm>
              <a:off x="3681365"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390" name="object 156"/>
            <p:cNvSpPr/>
            <p:nvPr/>
          </p:nvSpPr>
          <p:spPr>
            <a:xfrm>
              <a:off x="3683599" y="3686419"/>
              <a:ext cx="5080" cy="0"/>
            </a:xfrm>
            <a:custGeom>
              <a:avLst/>
              <a:gdLst/>
              <a:ahLst/>
              <a:cxnLst/>
              <a:rect l="l" t="t" r="r" b="b"/>
              <a:pathLst>
                <a:path w="5079">
                  <a:moveTo>
                    <a:pt x="0" y="0"/>
                  </a:moveTo>
                  <a:lnTo>
                    <a:pt x="4746" y="0"/>
                  </a:lnTo>
                </a:path>
              </a:pathLst>
            </a:custGeom>
            <a:ln w="4694">
              <a:solidFill>
                <a:srgbClr val="000000"/>
              </a:solidFill>
            </a:ln>
          </p:spPr>
          <p:txBody>
            <a:bodyPr wrap="square" lIns="0" tIns="0" rIns="0" bIns="0" rtlCol="0"/>
            <a:lstStyle/>
            <a:p>
              <a:endParaRPr/>
            </a:p>
          </p:txBody>
        </p:sp>
        <p:sp>
          <p:nvSpPr>
            <p:cNvPr id="391" name="object 157"/>
            <p:cNvSpPr/>
            <p:nvPr/>
          </p:nvSpPr>
          <p:spPr>
            <a:xfrm>
              <a:off x="3948332"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392" name="object 158"/>
            <p:cNvSpPr/>
            <p:nvPr/>
          </p:nvSpPr>
          <p:spPr>
            <a:xfrm>
              <a:off x="3950565" y="3686419"/>
              <a:ext cx="5080" cy="0"/>
            </a:xfrm>
            <a:custGeom>
              <a:avLst/>
              <a:gdLst/>
              <a:ahLst/>
              <a:cxnLst/>
              <a:rect l="l" t="t" r="r" b="b"/>
              <a:pathLst>
                <a:path w="5079">
                  <a:moveTo>
                    <a:pt x="0" y="0"/>
                  </a:moveTo>
                  <a:lnTo>
                    <a:pt x="4746" y="0"/>
                  </a:lnTo>
                </a:path>
              </a:pathLst>
            </a:custGeom>
            <a:ln w="4694">
              <a:solidFill>
                <a:srgbClr val="000000"/>
              </a:solidFill>
            </a:ln>
          </p:spPr>
          <p:txBody>
            <a:bodyPr wrap="square" lIns="0" tIns="0" rIns="0" bIns="0" rtlCol="0"/>
            <a:lstStyle/>
            <a:p>
              <a:endParaRPr/>
            </a:p>
          </p:txBody>
        </p:sp>
      </p:grpSp>
      <p:sp>
        <p:nvSpPr>
          <p:cNvPr id="393" name="object 159"/>
          <p:cNvSpPr txBox="1"/>
          <p:nvPr/>
        </p:nvSpPr>
        <p:spPr>
          <a:xfrm>
            <a:off x="3359409" y="3713534"/>
            <a:ext cx="633095" cy="115570"/>
          </a:xfrm>
          <a:prstGeom prst="rect">
            <a:avLst/>
          </a:prstGeom>
        </p:spPr>
        <p:txBody>
          <a:bodyPr vert="horz" wrap="square" lIns="0" tIns="11430" rIns="0" bIns="0" rtlCol="0">
            <a:spAutoFit/>
          </a:bodyPr>
          <a:lstStyle/>
          <a:p>
            <a:pPr marL="12700">
              <a:lnSpc>
                <a:spcPct val="100000"/>
              </a:lnSpc>
              <a:spcBef>
                <a:spcPts val="90"/>
              </a:spcBef>
              <a:tabLst>
                <a:tab pos="251460" algn="l"/>
                <a:tab pos="546735" algn="l"/>
              </a:tabLst>
            </a:pPr>
            <a:r>
              <a:rPr sz="600" spc="20" dirty="0">
                <a:latin typeface="Arial MT"/>
                <a:cs typeface="Arial MT"/>
              </a:rPr>
              <a:t>-</a:t>
            </a:r>
            <a:r>
              <a:rPr sz="600" spc="-10" dirty="0">
                <a:latin typeface="Arial MT"/>
                <a:cs typeface="Arial MT"/>
              </a:rPr>
              <a:t>2</a:t>
            </a:r>
            <a:r>
              <a:rPr sz="600" dirty="0">
                <a:latin typeface="Arial MT"/>
                <a:cs typeface="Arial MT"/>
              </a:rPr>
              <a:t>	</a:t>
            </a:r>
            <a:r>
              <a:rPr sz="600" spc="15" dirty="0">
                <a:latin typeface="Arial MT"/>
                <a:cs typeface="Arial MT"/>
              </a:rPr>
              <a:t>-</a:t>
            </a:r>
            <a:r>
              <a:rPr sz="600" spc="-10" dirty="0">
                <a:latin typeface="Arial MT"/>
                <a:cs typeface="Arial MT"/>
              </a:rPr>
              <a:t>1</a:t>
            </a:r>
            <a:r>
              <a:rPr sz="600" spc="-25" dirty="0">
                <a:latin typeface="Arial MT"/>
                <a:cs typeface="Arial MT"/>
              </a:rPr>
              <a:t>.</a:t>
            </a:r>
            <a:r>
              <a:rPr sz="600" spc="-10" dirty="0">
                <a:latin typeface="Arial MT"/>
                <a:cs typeface="Arial MT"/>
              </a:rPr>
              <a:t>5</a:t>
            </a:r>
            <a:r>
              <a:rPr sz="600" dirty="0">
                <a:latin typeface="Arial MT"/>
                <a:cs typeface="Arial MT"/>
              </a:rPr>
              <a:t>	</a:t>
            </a:r>
            <a:r>
              <a:rPr sz="600" spc="20" dirty="0">
                <a:latin typeface="Arial MT"/>
                <a:cs typeface="Arial MT"/>
              </a:rPr>
              <a:t>-1</a:t>
            </a:r>
            <a:endParaRPr sz="600">
              <a:latin typeface="Arial MT"/>
              <a:cs typeface="Arial MT"/>
            </a:endParaRPr>
          </a:p>
        </p:txBody>
      </p:sp>
      <p:grpSp>
        <p:nvGrpSpPr>
          <p:cNvPr id="394" name="object 160"/>
          <p:cNvGrpSpPr/>
          <p:nvPr/>
        </p:nvGrpSpPr>
        <p:grpSpPr>
          <a:xfrm>
            <a:off x="3277900" y="3463211"/>
            <a:ext cx="2277745" cy="245110"/>
            <a:chOff x="3277900" y="3463211"/>
            <a:chExt cx="2277745" cy="245110"/>
          </a:xfrm>
        </p:grpSpPr>
        <p:sp>
          <p:nvSpPr>
            <p:cNvPr id="395" name="object 161"/>
            <p:cNvSpPr/>
            <p:nvPr/>
          </p:nvSpPr>
          <p:spPr>
            <a:xfrm>
              <a:off x="4210762"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396" name="object 162"/>
            <p:cNvSpPr/>
            <p:nvPr/>
          </p:nvSpPr>
          <p:spPr>
            <a:xfrm>
              <a:off x="4213065" y="3686419"/>
              <a:ext cx="5080" cy="0"/>
            </a:xfrm>
            <a:custGeom>
              <a:avLst/>
              <a:gdLst/>
              <a:ahLst/>
              <a:cxnLst/>
              <a:rect l="l" t="t" r="r" b="b"/>
              <a:pathLst>
                <a:path w="5079">
                  <a:moveTo>
                    <a:pt x="0" y="0"/>
                  </a:moveTo>
                  <a:lnTo>
                    <a:pt x="4536" y="0"/>
                  </a:lnTo>
                </a:path>
              </a:pathLst>
            </a:custGeom>
            <a:ln w="4694">
              <a:solidFill>
                <a:srgbClr val="000000"/>
              </a:solidFill>
            </a:ln>
          </p:spPr>
          <p:txBody>
            <a:bodyPr wrap="square" lIns="0" tIns="0" rIns="0" bIns="0" rtlCol="0"/>
            <a:lstStyle/>
            <a:p>
              <a:endParaRPr/>
            </a:p>
          </p:txBody>
        </p:sp>
        <p:sp>
          <p:nvSpPr>
            <p:cNvPr id="397" name="object 163"/>
            <p:cNvSpPr/>
            <p:nvPr/>
          </p:nvSpPr>
          <p:spPr>
            <a:xfrm>
              <a:off x="4477799"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398" name="object 164"/>
            <p:cNvSpPr/>
            <p:nvPr/>
          </p:nvSpPr>
          <p:spPr>
            <a:xfrm>
              <a:off x="4480032" y="3686419"/>
              <a:ext cx="5080" cy="0"/>
            </a:xfrm>
            <a:custGeom>
              <a:avLst/>
              <a:gdLst/>
              <a:ahLst/>
              <a:cxnLst/>
              <a:rect l="l" t="t" r="r" b="b"/>
              <a:pathLst>
                <a:path w="5079">
                  <a:moveTo>
                    <a:pt x="0" y="0"/>
                  </a:moveTo>
                  <a:lnTo>
                    <a:pt x="4676" y="0"/>
                  </a:lnTo>
                </a:path>
              </a:pathLst>
            </a:custGeom>
            <a:ln w="4694">
              <a:solidFill>
                <a:srgbClr val="000000"/>
              </a:solidFill>
            </a:ln>
          </p:spPr>
          <p:txBody>
            <a:bodyPr wrap="square" lIns="0" tIns="0" rIns="0" bIns="0" rtlCol="0"/>
            <a:lstStyle/>
            <a:p>
              <a:endParaRPr/>
            </a:p>
          </p:txBody>
        </p:sp>
        <p:sp>
          <p:nvSpPr>
            <p:cNvPr id="399" name="object 165"/>
            <p:cNvSpPr/>
            <p:nvPr/>
          </p:nvSpPr>
          <p:spPr>
            <a:xfrm>
              <a:off x="4744766"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400" name="object 166"/>
            <p:cNvSpPr/>
            <p:nvPr/>
          </p:nvSpPr>
          <p:spPr>
            <a:xfrm>
              <a:off x="4746999" y="3686419"/>
              <a:ext cx="5080" cy="0"/>
            </a:xfrm>
            <a:custGeom>
              <a:avLst/>
              <a:gdLst/>
              <a:ahLst/>
              <a:cxnLst/>
              <a:rect l="l" t="t" r="r" b="b"/>
              <a:pathLst>
                <a:path w="5079">
                  <a:moveTo>
                    <a:pt x="0" y="0"/>
                  </a:moveTo>
                  <a:lnTo>
                    <a:pt x="4746" y="0"/>
                  </a:lnTo>
                </a:path>
              </a:pathLst>
            </a:custGeom>
            <a:ln w="4694">
              <a:solidFill>
                <a:srgbClr val="000000"/>
              </a:solidFill>
            </a:ln>
          </p:spPr>
          <p:txBody>
            <a:bodyPr wrap="square" lIns="0" tIns="0" rIns="0" bIns="0" rtlCol="0"/>
            <a:lstStyle/>
            <a:p>
              <a:endParaRPr/>
            </a:p>
          </p:txBody>
        </p:sp>
        <p:sp>
          <p:nvSpPr>
            <p:cNvPr id="401" name="object 167"/>
            <p:cNvSpPr/>
            <p:nvPr/>
          </p:nvSpPr>
          <p:spPr>
            <a:xfrm>
              <a:off x="5011732"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402" name="object 168"/>
            <p:cNvSpPr/>
            <p:nvPr/>
          </p:nvSpPr>
          <p:spPr>
            <a:xfrm>
              <a:off x="5014036" y="3686419"/>
              <a:ext cx="5080" cy="0"/>
            </a:xfrm>
            <a:custGeom>
              <a:avLst/>
              <a:gdLst/>
              <a:ahLst/>
              <a:cxnLst/>
              <a:rect l="l" t="t" r="r" b="b"/>
              <a:pathLst>
                <a:path w="5079">
                  <a:moveTo>
                    <a:pt x="0" y="0"/>
                  </a:moveTo>
                  <a:lnTo>
                    <a:pt x="4676" y="0"/>
                  </a:lnTo>
                </a:path>
              </a:pathLst>
            </a:custGeom>
            <a:ln w="4694">
              <a:solidFill>
                <a:srgbClr val="000000"/>
              </a:solidFill>
            </a:ln>
          </p:spPr>
          <p:txBody>
            <a:bodyPr wrap="square" lIns="0" tIns="0" rIns="0" bIns="0" rtlCol="0"/>
            <a:lstStyle/>
            <a:p>
              <a:endParaRPr/>
            </a:p>
          </p:txBody>
        </p:sp>
        <p:sp>
          <p:nvSpPr>
            <p:cNvPr id="403" name="object 169"/>
            <p:cNvSpPr/>
            <p:nvPr/>
          </p:nvSpPr>
          <p:spPr>
            <a:xfrm>
              <a:off x="5278908"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404" name="object 170"/>
            <p:cNvSpPr/>
            <p:nvPr/>
          </p:nvSpPr>
          <p:spPr>
            <a:xfrm>
              <a:off x="5281142" y="3686419"/>
              <a:ext cx="5080" cy="0"/>
            </a:xfrm>
            <a:custGeom>
              <a:avLst/>
              <a:gdLst/>
              <a:ahLst/>
              <a:cxnLst/>
              <a:rect l="l" t="t" r="r" b="b"/>
              <a:pathLst>
                <a:path w="5079">
                  <a:moveTo>
                    <a:pt x="0" y="0"/>
                  </a:moveTo>
                  <a:lnTo>
                    <a:pt x="4746" y="0"/>
                  </a:lnTo>
                </a:path>
              </a:pathLst>
            </a:custGeom>
            <a:ln w="4694">
              <a:solidFill>
                <a:srgbClr val="000000"/>
              </a:solidFill>
            </a:ln>
          </p:spPr>
          <p:txBody>
            <a:bodyPr wrap="square" lIns="0" tIns="0" rIns="0" bIns="0" rtlCol="0"/>
            <a:lstStyle/>
            <a:p>
              <a:endParaRPr/>
            </a:p>
          </p:txBody>
        </p:sp>
        <p:sp>
          <p:nvSpPr>
            <p:cNvPr id="405" name="object 171"/>
            <p:cNvSpPr/>
            <p:nvPr/>
          </p:nvSpPr>
          <p:spPr>
            <a:xfrm>
              <a:off x="5545875" y="3684158"/>
              <a:ext cx="0" cy="23495"/>
            </a:xfrm>
            <a:custGeom>
              <a:avLst/>
              <a:gdLst/>
              <a:ahLst/>
              <a:cxnLst/>
              <a:rect l="l" t="t" r="r" b="b"/>
              <a:pathLst>
                <a:path h="23495">
                  <a:moveTo>
                    <a:pt x="0" y="23306"/>
                  </a:moveTo>
                  <a:lnTo>
                    <a:pt x="0" y="0"/>
                  </a:lnTo>
                </a:path>
              </a:pathLst>
            </a:custGeom>
            <a:ln w="3175">
              <a:solidFill>
                <a:srgbClr val="000000"/>
              </a:solidFill>
            </a:ln>
          </p:spPr>
          <p:txBody>
            <a:bodyPr wrap="square" lIns="0" tIns="0" rIns="0" bIns="0" rtlCol="0"/>
            <a:lstStyle/>
            <a:p>
              <a:endParaRPr/>
            </a:p>
          </p:txBody>
        </p:sp>
        <p:sp>
          <p:nvSpPr>
            <p:cNvPr id="406" name="object 172"/>
            <p:cNvSpPr/>
            <p:nvPr/>
          </p:nvSpPr>
          <p:spPr>
            <a:xfrm>
              <a:off x="5548109" y="3686419"/>
              <a:ext cx="5080" cy="0"/>
            </a:xfrm>
            <a:custGeom>
              <a:avLst/>
              <a:gdLst/>
              <a:ahLst/>
              <a:cxnLst/>
              <a:rect l="l" t="t" r="r" b="b"/>
              <a:pathLst>
                <a:path w="5079">
                  <a:moveTo>
                    <a:pt x="0" y="0"/>
                  </a:moveTo>
                  <a:lnTo>
                    <a:pt x="4746" y="0"/>
                  </a:lnTo>
                </a:path>
              </a:pathLst>
            </a:custGeom>
            <a:ln w="4694">
              <a:solidFill>
                <a:srgbClr val="000000"/>
              </a:solidFill>
            </a:ln>
          </p:spPr>
          <p:txBody>
            <a:bodyPr wrap="square" lIns="0" tIns="0" rIns="0" bIns="0" rtlCol="0"/>
            <a:lstStyle/>
            <a:p>
              <a:endParaRPr/>
            </a:p>
          </p:txBody>
        </p:sp>
        <p:sp>
          <p:nvSpPr>
            <p:cNvPr id="407" name="object 173"/>
            <p:cNvSpPr/>
            <p:nvPr/>
          </p:nvSpPr>
          <p:spPr>
            <a:xfrm>
              <a:off x="3278535" y="3463846"/>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08" name="object 174"/>
            <p:cNvSpPr/>
            <p:nvPr/>
          </p:nvSpPr>
          <p:spPr>
            <a:xfrm>
              <a:off x="3304101" y="3466107"/>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09" name="object 175"/>
          <p:cNvSpPr txBox="1"/>
          <p:nvPr/>
        </p:nvSpPr>
        <p:spPr>
          <a:xfrm>
            <a:off x="3200088" y="3404367"/>
            <a:ext cx="67310"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0</a:t>
            </a:r>
            <a:endParaRPr sz="600">
              <a:latin typeface="Arial MT"/>
              <a:cs typeface="Arial MT"/>
            </a:endParaRPr>
          </a:p>
        </p:txBody>
      </p:sp>
      <p:grpSp>
        <p:nvGrpSpPr>
          <p:cNvPr id="410" name="object 176"/>
          <p:cNvGrpSpPr/>
          <p:nvPr/>
        </p:nvGrpSpPr>
        <p:grpSpPr>
          <a:xfrm>
            <a:off x="3277900" y="3200803"/>
            <a:ext cx="33655" cy="5715"/>
            <a:chOff x="3277900" y="3200803"/>
            <a:chExt cx="33655" cy="5715"/>
          </a:xfrm>
        </p:grpSpPr>
        <p:sp>
          <p:nvSpPr>
            <p:cNvPr id="411" name="object 177"/>
            <p:cNvSpPr/>
            <p:nvPr/>
          </p:nvSpPr>
          <p:spPr>
            <a:xfrm>
              <a:off x="3278535" y="3201438"/>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12" name="object 178"/>
            <p:cNvSpPr/>
            <p:nvPr/>
          </p:nvSpPr>
          <p:spPr>
            <a:xfrm>
              <a:off x="3304101" y="3203740"/>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13" name="object 179"/>
          <p:cNvSpPr txBox="1"/>
          <p:nvPr/>
        </p:nvSpPr>
        <p:spPr>
          <a:xfrm>
            <a:off x="3139212" y="3141979"/>
            <a:ext cx="132715"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0</a:t>
            </a:r>
            <a:r>
              <a:rPr sz="600" spc="15" dirty="0">
                <a:latin typeface="Arial MT"/>
                <a:cs typeface="Arial MT"/>
              </a:rPr>
              <a:t>.</a:t>
            </a:r>
            <a:r>
              <a:rPr sz="600" spc="-10" dirty="0">
                <a:latin typeface="Arial MT"/>
                <a:cs typeface="Arial MT"/>
              </a:rPr>
              <a:t>5</a:t>
            </a:r>
            <a:endParaRPr sz="600">
              <a:latin typeface="Arial MT"/>
              <a:cs typeface="Arial MT"/>
            </a:endParaRPr>
          </a:p>
        </p:txBody>
      </p:sp>
      <p:grpSp>
        <p:nvGrpSpPr>
          <p:cNvPr id="414" name="object 180"/>
          <p:cNvGrpSpPr/>
          <p:nvPr/>
        </p:nvGrpSpPr>
        <p:grpSpPr>
          <a:xfrm>
            <a:off x="3277900" y="2933691"/>
            <a:ext cx="33655" cy="5715"/>
            <a:chOff x="3277900" y="2933691"/>
            <a:chExt cx="33655" cy="5715"/>
          </a:xfrm>
        </p:grpSpPr>
        <p:sp>
          <p:nvSpPr>
            <p:cNvPr id="415" name="object 181"/>
            <p:cNvSpPr/>
            <p:nvPr/>
          </p:nvSpPr>
          <p:spPr>
            <a:xfrm>
              <a:off x="3278535" y="2934326"/>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16" name="object 182"/>
            <p:cNvSpPr/>
            <p:nvPr/>
          </p:nvSpPr>
          <p:spPr>
            <a:xfrm>
              <a:off x="3304101" y="2936628"/>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17" name="object 183"/>
          <p:cNvSpPr txBox="1"/>
          <p:nvPr/>
        </p:nvSpPr>
        <p:spPr>
          <a:xfrm>
            <a:off x="3200088" y="2874867"/>
            <a:ext cx="67310"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1</a:t>
            </a:r>
            <a:endParaRPr sz="600">
              <a:latin typeface="Arial MT"/>
              <a:cs typeface="Arial MT"/>
            </a:endParaRPr>
          </a:p>
        </p:txBody>
      </p:sp>
      <p:grpSp>
        <p:nvGrpSpPr>
          <p:cNvPr id="418" name="object 184"/>
          <p:cNvGrpSpPr/>
          <p:nvPr/>
        </p:nvGrpSpPr>
        <p:grpSpPr>
          <a:xfrm>
            <a:off x="3277900" y="2666648"/>
            <a:ext cx="33655" cy="5715"/>
            <a:chOff x="3277900" y="2666648"/>
            <a:chExt cx="33655" cy="5715"/>
          </a:xfrm>
        </p:grpSpPr>
        <p:sp>
          <p:nvSpPr>
            <p:cNvPr id="419" name="object 185"/>
            <p:cNvSpPr/>
            <p:nvPr/>
          </p:nvSpPr>
          <p:spPr>
            <a:xfrm>
              <a:off x="3278535" y="2667283"/>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20" name="object 186"/>
            <p:cNvSpPr/>
            <p:nvPr/>
          </p:nvSpPr>
          <p:spPr>
            <a:xfrm>
              <a:off x="3304101" y="2669516"/>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21" name="object 187"/>
          <p:cNvSpPr txBox="1"/>
          <p:nvPr/>
        </p:nvSpPr>
        <p:spPr>
          <a:xfrm>
            <a:off x="3139212" y="2607755"/>
            <a:ext cx="132715"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1</a:t>
            </a:r>
            <a:r>
              <a:rPr sz="600" spc="15" dirty="0">
                <a:latin typeface="Arial MT"/>
                <a:cs typeface="Arial MT"/>
              </a:rPr>
              <a:t>.</a:t>
            </a:r>
            <a:r>
              <a:rPr sz="600" spc="-10" dirty="0">
                <a:latin typeface="Arial MT"/>
                <a:cs typeface="Arial MT"/>
              </a:rPr>
              <a:t>5</a:t>
            </a:r>
            <a:endParaRPr sz="600">
              <a:latin typeface="Arial MT"/>
              <a:cs typeface="Arial MT"/>
            </a:endParaRPr>
          </a:p>
        </p:txBody>
      </p:sp>
      <p:grpSp>
        <p:nvGrpSpPr>
          <p:cNvPr id="422" name="object 188"/>
          <p:cNvGrpSpPr/>
          <p:nvPr/>
        </p:nvGrpSpPr>
        <p:grpSpPr>
          <a:xfrm>
            <a:off x="3277900" y="2399536"/>
            <a:ext cx="33655" cy="5715"/>
            <a:chOff x="3277900" y="2399536"/>
            <a:chExt cx="33655" cy="5715"/>
          </a:xfrm>
        </p:grpSpPr>
        <p:sp>
          <p:nvSpPr>
            <p:cNvPr id="423" name="object 189"/>
            <p:cNvSpPr/>
            <p:nvPr/>
          </p:nvSpPr>
          <p:spPr>
            <a:xfrm>
              <a:off x="3278535" y="2400171"/>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24" name="object 190"/>
            <p:cNvSpPr/>
            <p:nvPr/>
          </p:nvSpPr>
          <p:spPr>
            <a:xfrm>
              <a:off x="3304101" y="2402404"/>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25" name="object 191"/>
          <p:cNvSpPr txBox="1"/>
          <p:nvPr/>
        </p:nvSpPr>
        <p:spPr>
          <a:xfrm>
            <a:off x="3200088" y="2340713"/>
            <a:ext cx="67310"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2</a:t>
            </a:r>
            <a:endParaRPr sz="600">
              <a:latin typeface="Arial MT"/>
              <a:cs typeface="Arial MT"/>
            </a:endParaRPr>
          </a:p>
        </p:txBody>
      </p:sp>
      <p:grpSp>
        <p:nvGrpSpPr>
          <p:cNvPr id="426" name="object 192"/>
          <p:cNvGrpSpPr/>
          <p:nvPr/>
        </p:nvGrpSpPr>
        <p:grpSpPr>
          <a:xfrm>
            <a:off x="3277900" y="2132424"/>
            <a:ext cx="33655" cy="5715"/>
            <a:chOff x="3277900" y="2132424"/>
            <a:chExt cx="33655" cy="5715"/>
          </a:xfrm>
        </p:grpSpPr>
        <p:sp>
          <p:nvSpPr>
            <p:cNvPr id="427" name="object 193"/>
            <p:cNvSpPr/>
            <p:nvPr/>
          </p:nvSpPr>
          <p:spPr>
            <a:xfrm>
              <a:off x="3278535" y="2133059"/>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28" name="object 194"/>
            <p:cNvSpPr/>
            <p:nvPr/>
          </p:nvSpPr>
          <p:spPr>
            <a:xfrm>
              <a:off x="3304101" y="2135362"/>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29" name="object 195"/>
          <p:cNvSpPr txBox="1"/>
          <p:nvPr/>
        </p:nvSpPr>
        <p:spPr>
          <a:xfrm>
            <a:off x="3139212" y="2073601"/>
            <a:ext cx="132715"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2</a:t>
            </a:r>
            <a:r>
              <a:rPr sz="600" spc="15" dirty="0">
                <a:latin typeface="Arial MT"/>
                <a:cs typeface="Arial MT"/>
              </a:rPr>
              <a:t>.</a:t>
            </a:r>
            <a:r>
              <a:rPr sz="600" spc="-10" dirty="0">
                <a:latin typeface="Arial MT"/>
                <a:cs typeface="Arial MT"/>
              </a:rPr>
              <a:t>5</a:t>
            </a:r>
            <a:endParaRPr sz="600">
              <a:latin typeface="Arial MT"/>
              <a:cs typeface="Arial MT"/>
            </a:endParaRPr>
          </a:p>
        </p:txBody>
      </p:sp>
      <p:grpSp>
        <p:nvGrpSpPr>
          <p:cNvPr id="430" name="object 196"/>
          <p:cNvGrpSpPr/>
          <p:nvPr/>
        </p:nvGrpSpPr>
        <p:grpSpPr>
          <a:xfrm>
            <a:off x="3277900" y="1865382"/>
            <a:ext cx="33655" cy="5715"/>
            <a:chOff x="3277900" y="1865382"/>
            <a:chExt cx="33655" cy="5715"/>
          </a:xfrm>
        </p:grpSpPr>
        <p:sp>
          <p:nvSpPr>
            <p:cNvPr id="431" name="object 197"/>
            <p:cNvSpPr/>
            <p:nvPr/>
          </p:nvSpPr>
          <p:spPr>
            <a:xfrm>
              <a:off x="3278535" y="1866017"/>
              <a:ext cx="23495" cy="0"/>
            </a:xfrm>
            <a:custGeom>
              <a:avLst/>
              <a:gdLst/>
              <a:ahLst/>
              <a:cxnLst/>
              <a:rect l="l" t="t" r="r" b="b"/>
              <a:pathLst>
                <a:path w="23495">
                  <a:moveTo>
                    <a:pt x="0" y="0"/>
                  </a:moveTo>
                  <a:lnTo>
                    <a:pt x="23304" y="0"/>
                  </a:lnTo>
                </a:path>
              </a:pathLst>
            </a:custGeom>
            <a:ln w="3175">
              <a:solidFill>
                <a:srgbClr val="000000"/>
              </a:solidFill>
            </a:ln>
          </p:spPr>
          <p:txBody>
            <a:bodyPr wrap="square" lIns="0" tIns="0" rIns="0" bIns="0" rtlCol="0"/>
            <a:lstStyle/>
            <a:p>
              <a:endParaRPr/>
            </a:p>
          </p:txBody>
        </p:sp>
        <p:sp>
          <p:nvSpPr>
            <p:cNvPr id="432" name="object 198"/>
            <p:cNvSpPr/>
            <p:nvPr/>
          </p:nvSpPr>
          <p:spPr>
            <a:xfrm>
              <a:off x="3304101" y="1868250"/>
              <a:ext cx="5080" cy="0"/>
            </a:xfrm>
            <a:custGeom>
              <a:avLst/>
              <a:gdLst/>
              <a:ahLst/>
              <a:cxnLst/>
              <a:rect l="l" t="t" r="r" b="b"/>
              <a:pathLst>
                <a:path w="5079">
                  <a:moveTo>
                    <a:pt x="0" y="0"/>
                  </a:moveTo>
                  <a:lnTo>
                    <a:pt x="4697" y="0"/>
                  </a:lnTo>
                </a:path>
              </a:pathLst>
            </a:custGeom>
            <a:ln w="4694">
              <a:solidFill>
                <a:srgbClr val="000000"/>
              </a:solidFill>
            </a:ln>
          </p:spPr>
          <p:txBody>
            <a:bodyPr wrap="square" lIns="0" tIns="0" rIns="0" bIns="0" rtlCol="0"/>
            <a:lstStyle/>
            <a:p>
              <a:endParaRPr/>
            </a:p>
          </p:txBody>
        </p:sp>
      </p:grpSp>
      <p:sp>
        <p:nvSpPr>
          <p:cNvPr id="433" name="object 199"/>
          <p:cNvSpPr txBox="1"/>
          <p:nvPr/>
        </p:nvSpPr>
        <p:spPr>
          <a:xfrm>
            <a:off x="3200088" y="1806489"/>
            <a:ext cx="67310" cy="115570"/>
          </a:xfrm>
          <a:prstGeom prst="rect">
            <a:avLst/>
          </a:prstGeom>
        </p:spPr>
        <p:txBody>
          <a:bodyPr vert="horz" wrap="square" lIns="0" tIns="11430" rIns="0" bIns="0" rtlCol="0">
            <a:spAutoFit/>
          </a:bodyPr>
          <a:lstStyle/>
          <a:p>
            <a:pPr marL="12700">
              <a:lnSpc>
                <a:spcPct val="100000"/>
              </a:lnSpc>
              <a:spcBef>
                <a:spcPts val="90"/>
              </a:spcBef>
            </a:pPr>
            <a:r>
              <a:rPr sz="600" spc="-10" dirty="0">
                <a:latin typeface="Arial MT"/>
                <a:cs typeface="Arial MT"/>
              </a:rPr>
              <a:t>3</a:t>
            </a:r>
            <a:endParaRPr sz="600">
              <a:latin typeface="Arial MT"/>
              <a:cs typeface="Arial MT"/>
            </a:endParaRPr>
          </a:p>
        </p:txBody>
      </p:sp>
      <p:grpSp>
        <p:nvGrpSpPr>
          <p:cNvPr id="434" name="object 200"/>
          <p:cNvGrpSpPr/>
          <p:nvPr/>
        </p:nvGrpSpPr>
        <p:grpSpPr>
          <a:xfrm>
            <a:off x="3727639" y="1827918"/>
            <a:ext cx="1448435" cy="1903730"/>
            <a:chOff x="3727639" y="1827918"/>
            <a:chExt cx="1448435" cy="1903730"/>
          </a:xfrm>
        </p:grpSpPr>
        <p:sp>
          <p:nvSpPr>
            <p:cNvPr id="435" name="object 201"/>
            <p:cNvSpPr/>
            <p:nvPr/>
          </p:nvSpPr>
          <p:spPr>
            <a:xfrm>
              <a:off x="3925020" y="3684158"/>
              <a:ext cx="46990" cy="46990"/>
            </a:xfrm>
            <a:custGeom>
              <a:avLst/>
              <a:gdLst/>
              <a:ahLst/>
              <a:cxnLst/>
              <a:rect l="l" t="t" r="r" b="b"/>
              <a:pathLst>
                <a:path w="46989" h="46989">
                  <a:moveTo>
                    <a:pt x="23311" y="0"/>
                  </a:moveTo>
                  <a:lnTo>
                    <a:pt x="13721" y="1684"/>
                  </a:lnTo>
                  <a:lnTo>
                    <a:pt x="6368" y="6435"/>
                  </a:lnTo>
                  <a:lnTo>
                    <a:pt x="1659" y="13794"/>
                  </a:lnTo>
                  <a:lnTo>
                    <a:pt x="0" y="23306"/>
                  </a:lnTo>
                  <a:lnTo>
                    <a:pt x="1659" y="32914"/>
                  </a:lnTo>
                  <a:lnTo>
                    <a:pt x="6368" y="40323"/>
                  </a:lnTo>
                  <a:lnTo>
                    <a:pt x="13721" y="45091"/>
                  </a:lnTo>
                  <a:lnTo>
                    <a:pt x="23311" y="46779"/>
                  </a:lnTo>
                  <a:lnTo>
                    <a:pt x="32923" y="45091"/>
                  </a:lnTo>
                  <a:lnTo>
                    <a:pt x="40324" y="40323"/>
                  </a:lnTo>
                  <a:lnTo>
                    <a:pt x="45081" y="32914"/>
                  </a:lnTo>
                  <a:lnTo>
                    <a:pt x="46762" y="23306"/>
                  </a:lnTo>
                  <a:lnTo>
                    <a:pt x="45081" y="13794"/>
                  </a:lnTo>
                  <a:lnTo>
                    <a:pt x="40324" y="6435"/>
                  </a:lnTo>
                  <a:lnTo>
                    <a:pt x="32923" y="1684"/>
                  </a:lnTo>
                  <a:lnTo>
                    <a:pt x="23311" y="0"/>
                  </a:lnTo>
                  <a:close/>
                </a:path>
              </a:pathLst>
            </a:custGeom>
            <a:solidFill>
              <a:srgbClr val="8FFF80"/>
            </a:solidFill>
          </p:spPr>
          <p:txBody>
            <a:bodyPr wrap="square" lIns="0" tIns="0" rIns="0" bIns="0" rtlCol="0"/>
            <a:lstStyle/>
            <a:p>
              <a:endParaRPr/>
            </a:p>
          </p:txBody>
        </p:sp>
        <p:sp>
          <p:nvSpPr>
            <p:cNvPr id="436" name="object 202"/>
            <p:cNvSpPr/>
            <p:nvPr/>
          </p:nvSpPr>
          <p:spPr>
            <a:xfrm>
              <a:off x="3925020" y="3684158"/>
              <a:ext cx="46990" cy="46990"/>
            </a:xfrm>
            <a:custGeom>
              <a:avLst/>
              <a:gdLst/>
              <a:ahLst/>
              <a:cxnLst/>
              <a:rect l="l" t="t" r="r" b="b"/>
              <a:pathLst>
                <a:path w="46989" h="46989">
                  <a:moveTo>
                    <a:pt x="0" y="23306"/>
                  </a:moveTo>
                  <a:lnTo>
                    <a:pt x="1659" y="32914"/>
                  </a:lnTo>
                  <a:lnTo>
                    <a:pt x="6368" y="40323"/>
                  </a:lnTo>
                  <a:lnTo>
                    <a:pt x="13721" y="45091"/>
                  </a:lnTo>
                  <a:lnTo>
                    <a:pt x="23311" y="46779"/>
                  </a:lnTo>
                  <a:lnTo>
                    <a:pt x="32923" y="45091"/>
                  </a:lnTo>
                  <a:lnTo>
                    <a:pt x="40324" y="40323"/>
                  </a:lnTo>
                  <a:lnTo>
                    <a:pt x="45081" y="32914"/>
                  </a:lnTo>
                  <a:lnTo>
                    <a:pt x="46762" y="23306"/>
                  </a:lnTo>
                  <a:lnTo>
                    <a:pt x="45081" y="13794"/>
                  </a:lnTo>
                  <a:lnTo>
                    <a:pt x="40324" y="6435"/>
                  </a:lnTo>
                  <a:lnTo>
                    <a:pt x="32923" y="1684"/>
                  </a:lnTo>
                  <a:lnTo>
                    <a:pt x="23311" y="0"/>
                  </a:lnTo>
                  <a:lnTo>
                    <a:pt x="13721" y="1684"/>
                  </a:lnTo>
                  <a:lnTo>
                    <a:pt x="6368" y="6435"/>
                  </a:lnTo>
                  <a:lnTo>
                    <a:pt x="1659" y="13794"/>
                  </a:lnTo>
                  <a:lnTo>
                    <a:pt x="0" y="23306"/>
                  </a:lnTo>
                  <a:close/>
                </a:path>
              </a:pathLst>
            </a:custGeom>
            <a:ln w="3175">
              <a:solidFill>
                <a:srgbClr val="8FFF7E"/>
              </a:solidFill>
            </a:ln>
          </p:spPr>
          <p:txBody>
            <a:bodyPr wrap="square" lIns="0" tIns="0" rIns="0" bIns="0" rtlCol="0"/>
            <a:lstStyle/>
            <a:p>
              <a:endParaRPr/>
            </a:p>
          </p:txBody>
        </p:sp>
        <p:sp>
          <p:nvSpPr>
            <p:cNvPr id="437" name="object 203"/>
            <p:cNvSpPr/>
            <p:nvPr/>
          </p:nvSpPr>
          <p:spPr>
            <a:xfrm>
              <a:off x="4149761" y="3421763"/>
              <a:ext cx="46990" cy="46990"/>
            </a:xfrm>
            <a:custGeom>
              <a:avLst/>
              <a:gdLst/>
              <a:ahLst/>
              <a:cxnLst/>
              <a:rect l="l" t="t" r="r" b="b"/>
              <a:pathLst>
                <a:path w="46989" h="46989">
                  <a:moveTo>
                    <a:pt x="23451" y="0"/>
                  </a:moveTo>
                  <a:lnTo>
                    <a:pt x="13839" y="1660"/>
                  </a:lnTo>
                  <a:lnTo>
                    <a:pt x="6438" y="6369"/>
                  </a:lnTo>
                  <a:lnTo>
                    <a:pt x="1681" y="13718"/>
                  </a:lnTo>
                  <a:lnTo>
                    <a:pt x="0" y="23299"/>
                  </a:lnTo>
                  <a:lnTo>
                    <a:pt x="1681" y="32911"/>
                  </a:lnTo>
                  <a:lnTo>
                    <a:pt x="6438" y="40322"/>
                  </a:lnTo>
                  <a:lnTo>
                    <a:pt x="13839" y="45091"/>
                  </a:lnTo>
                  <a:lnTo>
                    <a:pt x="23451" y="46779"/>
                  </a:lnTo>
                  <a:lnTo>
                    <a:pt x="33074" y="45091"/>
                  </a:lnTo>
                  <a:lnTo>
                    <a:pt x="40498" y="40322"/>
                  </a:lnTo>
                  <a:lnTo>
                    <a:pt x="45279" y="32911"/>
                  </a:lnTo>
                  <a:lnTo>
                    <a:pt x="46972" y="23299"/>
                  </a:lnTo>
                  <a:lnTo>
                    <a:pt x="45279" y="13718"/>
                  </a:lnTo>
                  <a:lnTo>
                    <a:pt x="40498" y="6369"/>
                  </a:lnTo>
                  <a:lnTo>
                    <a:pt x="33074" y="1660"/>
                  </a:lnTo>
                  <a:lnTo>
                    <a:pt x="23451" y="0"/>
                  </a:lnTo>
                  <a:close/>
                </a:path>
              </a:pathLst>
            </a:custGeom>
            <a:solidFill>
              <a:srgbClr val="8FFF80"/>
            </a:solidFill>
          </p:spPr>
          <p:txBody>
            <a:bodyPr wrap="square" lIns="0" tIns="0" rIns="0" bIns="0" rtlCol="0"/>
            <a:lstStyle/>
            <a:p>
              <a:endParaRPr/>
            </a:p>
          </p:txBody>
        </p:sp>
        <p:pic>
          <p:nvPicPr>
            <p:cNvPr id="438" name="object 204"/>
            <p:cNvPicPr/>
            <p:nvPr/>
          </p:nvPicPr>
          <p:blipFill>
            <a:blip r:embed="rId6" cstate="print"/>
            <a:stretch>
              <a:fillRect/>
            </a:stretch>
          </p:blipFill>
          <p:spPr>
            <a:xfrm>
              <a:off x="3727639" y="3229140"/>
              <a:ext cx="352326" cy="361780"/>
            </a:xfrm>
            <a:prstGeom prst="rect">
              <a:avLst/>
            </a:prstGeom>
          </p:spPr>
        </p:pic>
        <p:sp>
          <p:nvSpPr>
            <p:cNvPr id="439" name="object 205"/>
            <p:cNvSpPr/>
            <p:nvPr/>
          </p:nvSpPr>
          <p:spPr>
            <a:xfrm>
              <a:off x="4149761" y="3421763"/>
              <a:ext cx="46990" cy="46990"/>
            </a:xfrm>
            <a:custGeom>
              <a:avLst/>
              <a:gdLst/>
              <a:ahLst/>
              <a:cxnLst/>
              <a:rect l="l" t="t" r="r" b="b"/>
              <a:pathLst>
                <a:path w="46989" h="46989">
                  <a:moveTo>
                    <a:pt x="0" y="23299"/>
                  </a:moveTo>
                  <a:lnTo>
                    <a:pt x="1681" y="32911"/>
                  </a:lnTo>
                  <a:lnTo>
                    <a:pt x="6438" y="40322"/>
                  </a:lnTo>
                  <a:lnTo>
                    <a:pt x="13839" y="45091"/>
                  </a:lnTo>
                  <a:lnTo>
                    <a:pt x="23451" y="46779"/>
                  </a:lnTo>
                  <a:lnTo>
                    <a:pt x="33074" y="45091"/>
                  </a:lnTo>
                  <a:lnTo>
                    <a:pt x="40498" y="40322"/>
                  </a:lnTo>
                  <a:lnTo>
                    <a:pt x="45279" y="32911"/>
                  </a:lnTo>
                  <a:lnTo>
                    <a:pt x="46972" y="23299"/>
                  </a:lnTo>
                  <a:lnTo>
                    <a:pt x="45279" y="13718"/>
                  </a:lnTo>
                  <a:lnTo>
                    <a:pt x="40498" y="6369"/>
                  </a:lnTo>
                  <a:lnTo>
                    <a:pt x="33074" y="1660"/>
                  </a:lnTo>
                  <a:lnTo>
                    <a:pt x="23451" y="0"/>
                  </a:lnTo>
                  <a:lnTo>
                    <a:pt x="13839" y="1660"/>
                  </a:lnTo>
                  <a:lnTo>
                    <a:pt x="6438" y="6369"/>
                  </a:lnTo>
                  <a:lnTo>
                    <a:pt x="1681" y="13718"/>
                  </a:lnTo>
                  <a:lnTo>
                    <a:pt x="0" y="23299"/>
                  </a:lnTo>
                  <a:close/>
                </a:path>
              </a:pathLst>
            </a:custGeom>
            <a:ln w="3175">
              <a:solidFill>
                <a:srgbClr val="8FFF7E"/>
              </a:solidFill>
            </a:ln>
          </p:spPr>
          <p:txBody>
            <a:bodyPr wrap="square" lIns="0" tIns="0" rIns="0" bIns="0" rtlCol="0"/>
            <a:lstStyle/>
            <a:p>
              <a:endParaRPr/>
            </a:p>
          </p:txBody>
        </p:sp>
        <p:sp>
          <p:nvSpPr>
            <p:cNvPr id="440" name="object 206"/>
            <p:cNvSpPr/>
            <p:nvPr/>
          </p:nvSpPr>
          <p:spPr>
            <a:xfrm>
              <a:off x="4084153" y="3112400"/>
              <a:ext cx="46990" cy="46990"/>
            </a:xfrm>
            <a:custGeom>
              <a:avLst/>
              <a:gdLst/>
              <a:ahLst/>
              <a:cxnLst/>
              <a:rect l="l" t="t" r="r" b="b"/>
              <a:pathLst>
                <a:path w="46989" h="46989">
                  <a:moveTo>
                    <a:pt x="23520" y="0"/>
                  </a:moveTo>
                  <a:lnTo>
                    <a:pt x="13897" y="1692"/>
                  </a:lnTo>
                  <a:lnTo>
                    <a:pt x="6473" y="6471"/>
                  </a:lnTo>
                  <a:lnTo>
                    <a:pt x="1692" y="13894"/>
                  </a:lnTo>
                  <a:lnTo>
                    <a:pt x="0" y="23515"/>
                  </a:lnTo>
                  <a:lnTo>
                    <a:pt x="1692" y="33103"/>
                  </a:lnTo>
                  <a:lnTo>
                    <a:pt x="6473" y="40454"/>
                  </a:lnTo>
                  <a:lnTo>
                    <a:pt x="13897" y="45161"/>
                  </a:lnTo>
                  <a:lnTo>
                    <a:pt x="23520" y="46821"/>
                  </a:lnTo>
                  <a:lnTo>
                    <a:pt x="33133" y="45161"/>
                  </a:lnTo>
                  <a:lnTo>
                    <a:pt x="40533" y="40454"/>
                  </a:lnTo>
                  <a:lnTo>
                    <a:pt x="45290" y="33103"/>
                  </a:lnTo>
                  <a:lnTo>
                    <a:pt x="46972" y="23515"/>
                  </a:lnTo>
                  <a:lnTo>
                    <a:pt x="45290" y="13894"/>
                  </a:lnTo>
                  <a:lnTo>
                    <a:pt x="40533" y="6471"/>
                  </a:lnTo>
                  <a:lnTo>
                    <a:pt x="33133" y="1692"/>
                  </a:lnTo>
                  <a:lnTo>
                    <a:pt x="23520" y="0"/>
                  </a:lnTo>
                  <a:close/>
                </a:path>
              </a:pathLst>
            </a:custGeom>
            <a:solidFill>
              <a:srgbClr val="8FFF80"/>
            </a:solidFill>
          </p:spPr>
          <p:txBody>
            <a:bodyPr wrap="square" lIns="0" tIns="0" rIns="0" bIns="0" rtlCol="0"/>
            <a:lstStyle/>
            <a:p>
              <a:endParaRPr/>
            </a:p>
          </p:txBody>
        </p:sp>
        <p:sp>
          <p:nvSpPr>
            <p:cNvPr id="441" name="object 207"/>
            <p:cNvSpPr/>
            <p:nvPr/>
          </p:nvSpPr>
          <p:spPr>
            <a:xfrm>
              <a:off x="4084153" y="3112400"/>
              <a:ext cx="46990" cy="46990"/>
            </a:xfrm>
            <a:custGeom>
              <a:avLst/>
              <a:gdLst/>
              <a:ahLst/>
              <a:cxnLst/>
              <a:rect l="l" t="t" r="r" b="b"/>
              <a:pathLst>
                <a:path w="46989" h="46989">
                  <a:moveTo>
                    <a:pt x="0" y="23515"/>
                  </a:moveTo>
                  <a:lnTo>
                    <a:pt x="1692" y="33103"/>
                  </a:lnTo>
                  <a:lnTo>
                    <a:pt x="6473" y="40454"/>
                  </a:lnTo>
                  <a:lnTo>
                    <a:pt x="13897" y="45161"/>
                  </a:lnTo>
                  <a:lnTo>
                    <a:pt x="23520" y="46821"/>
                  </a:lnTo>
                  <a:lnTo>
                    <a:pt x="33133" y="45161"/>
                  </a:lnTo>
                  <a:lnTo>
                    <a:pt x="40533" y="40454"/>
                  </a:lnTo>
                  <a:lnTo>
                    <a:pt x="45290" y="33103"/>
                  </a:lnTo>
                  <a:lnTo>
                    <a:pt x="46972" y="23515"/>
                  </a:lnTo>
                  <a:lnTo>
                    <a:pt x="45290" y="13894"/>
                  </a:lnTo>
                  <a:lnTo>
                    <a:pt x="40533" y="6471"/>
                  </a:lnTo>
                  <a:lnTo>
                    <a:pt x="33133" y="1692"/>
                  </a:lnTo>
                  <a:lnTo>
                    <a:pt x="23520" y="0"/>
                  </a:lnTo>
                  <a:lnTo>
                    <a:pt x="13897" y="1692"/>
                  </a:lnTo>
                  <a:lnTo>
                    <a:pt x="6473" y="6471"/>
                  </a:lnTo>
                  <a:lnTo>
                    <a:pt x="1692" y="13894"/>
                  </a:lnTo>
                  <a:lnTo>
                    <a:pt x="0" y="23515"/>
                  </a:lnTo>
                  <a:close/>
                </a:path>
              </a:pathLst>
            </a:custGeom>
            <a:ln w="3175">
              <a:solidFill>
                <a:srgbClr val="8FFF7E"/>
              </a:solidFill>
            </a:ln>
          </p:spPr>
          <p:txBody>
            <a:bodyPr wrap="square" lIns="0" tIns="0" rIns="0" bIns="0" rtlCol="0"/>
            <a:lstStyle/>
            <a:p>
              <a:endParaRPr/>
            </a:p>
          </p:txBody>
        </p:sp>
        <p:sp>
          <p:nvSpPr>
            <p:cNvPr id="442" name="object 208"/>
            <p:cNvSpPr/>
            <p:nvPr/>
          </p:nvSpPr>
          <p:spPr>
            <a:xfrm>
              <a:off x="3934233" y="2404847"/>
              <a:ext cx="46990" cy="56515"/>
            </a:xfrm>
            <a:custGeom>
              <a:avLst/>
              <a:gdLst/>
              <a:ahLst/>
              <a:cxnLst/>
              <a:rect l="l" t="t" r="r" b="b"/>
              <a:pathLst>
                <a:path w="46989" h="56514">
                  <a:moveTo>
                    <a:pt x="23520" y="0"/>
                  </a:moveTo>
                  <a:lnTo>
                    <a:pt x="0" y="28190"/>
                  </a:lnTo>
                  <a:lnTo>
                    <a:pt x="23520" y="56171"/>
                  </a:lnTo>
                  <a:lnTo>
                    <a:pt x="46972" y="28190"/>
                  </a:lnTo>
                  <a:lnTo>
                    <a:pt x="23520" y="0"/>
                  </a:lnTo>
                  <a:close/>
                </a:path>
              </a:pathLst>
            </a:custGeom>
            <a:solidFill>
              <a:srgbClr val="8F0000"/>
            </a:solidFill>
          </p:spPr>
          <p:txBody>
            <a:bodyPr wrap="square" lIns="0" tIns="0" rIns="0" bIns="0" rtlCol="0"/>
            <a:lstStyle/>
            <a:p>
              <a:endParaRPr/>
            </a:p>
          </p:txBody>
        </p:sp>
        <p:sp>
          <p:nvSpPr>
            <p:cNvPr id="443" name="object 209"/>
            <p:cNvSpPr/>
            <p:nvPr/>
          </p:nvSpPr>
          <p:spPr>
            <a:xfrm>
              <a:off x="3934233" y="2404847"/>
              <a:ext cx="46990" cy="56515"/>
            </a:xfrm>
            <a:custGeom>
              <a:avLst/>
              <a:gdLst/>
              <a:ahLst/>
              <a:cxnLst/>
              <a:rect l="l" t="t" r="r" b="b"/>
              <a:pathLst>
                <a:path w="46989" h="56514">
                  <a:moveTo>
                    <a:pt x="23520" y="56171"/>
                  </a:moveTo>
                  <a:lnTo>
                    <a:pt x="46972" y="28190"/>
                  </a:lnTo>
                  <a:lnTo>
                    <a:pt x="23520" y="0"/>
                  </a:lnTo>
                  <a:lnTo>
                    <a:pt x="0" y="28190"/>
                  </a:lnTo>
                  <a:lnTo>
                    <a:pt x="23520" y="56171"/>
                  </a:lnTo>
                  <a:close/>
                </a:path>
              </a:pathLst>
            </a:custGeom>
            <a:ln w="3175">
              <a:solidFill>
                <a:srgbClr val="8F0000"/>
              </a:solidFill>
            </a:ln>
          </p:spPr>
          <p:txBody>
            <a:bodyPr wrap="square" lIns="0" tIns="0" rIns="0" bIns="0" rtlCol="0"/>
            <a:lstStyle/>
            <a:p>
              <a:endParaRPr/>
            </a:p>
          </p:txBody>
        </p:sp>
        <p:pic>
          <p:nvPicPr>
            <p:cNvPr id="444" name="object 210"/>
            <p:cNvPicPr/>
            <p:nvPr/>
          </p:nvPicPr>
          <p:blipFill>
            <a:blip r:embed="rId7" cstate="print"/>
            <a:stretch>
              <a:fillRect/>
            </a:stretch>
          </p:blipFill>
          <p:spPr>
            <a:xfrm>
              <a:off x="4083665" y="1968592"/>
              <a:ext cx="905244" cy="994413"/>
            </a:xfrm>
            <a:prstGeom prst="rect">
              <a:avLst/>
            </a:prstGeom>
          </p:spPr>
        </p:pic>
        <p:sp>
          <p:nvSpPr>
            <p:cNvPr id="445" name="object 211"/>
            <p:cNvSpPr/>
            <p:nvPr/>
          </p:nvSpPr>
          <p:spPr>
            <a:xfrm>
              <a:off x="4557435" y="1833152"/>
              <a:ext cx="46990" cy="56515"/>
            </a:xfrm>
            <a:custGeom>
              <a:avLst/>
              <a:gdLst/>
              <a:ahLst/>
              <a:cxnLst/>
              <a:rect l="l" t="t" r="r" b="b"/>
              <a:pathLst>
                <a:path w="46989" h="56514">
                  <a:moveTo>
                    <a:pt x="23311" y="0"/>
                  </a:moveTo>
                  <a:lnTo>
                    <a:pt x="0" y="28120"/>
                  </a:lnTo>
                  <a:lnTo>
                    <a:pt x="23311" y="56311"/>
                  </a:lnTo>
                  <a:lnTo>
                    <a:pt x="46762" y="28120"/>
                  </a:lnTo>
                  <a:lnTo>
                    <a:pt x="23311" y="0"/>
                  </a:lnTo>
                  <a:close/>
                </a:path>
              </a:pathLst>
            </a:custGeom>
            <a:solidFill>
              <a:srgbClr val="8F0000"/>
            </a:solidFill>
          </p:spPr>
          <p:txBody>
            <a:bodyPr wrap="square" lIns="0" tIns="0" rIns="0" bIns="0" rtlCol="0"/>
            <a:lstStyle/>
            <a:p>
              <a:endParaRPr/>
            </a:p>
          </p:txBody>
        </p:sp>
        <p:sp>
          <p:nvSpPr>
            <p:cNvPr id="446" name="object 212"/>
            <p:cNvSpPr/>
            <p:nvPr/>
          </p:nvSpPr>
          <p:spPr>
            <a:xfrm>
              <a:off x="4557435" y="1833152"/>
              <a:ext cx="46990" cy="56515"/>
            </a:xfrm>
            <a:custGeom>
              <a:avLst/>
              <a:gdLst/>
              <a:ahLst/>
              <a:cxnLst/>
              <a:rect l="l" t="t" r="r" b="b"/>
              <a:pathLst>
                <a:path w="46989" h="56514">
                  <a:moveTo>
                    <a:pt x="23311" y="56311"/>
                  </a:moveTo>
                  <a:lnTo>
                    <a:pt x="46762" y="28120"/>
                  </a:lnTo>
                  <a:lnTo>
                    <a:pt x="23311" y="0"/>
                  </a:lnTo>
                  <a:lnTo>
                    <a:pt x="0" y="28120"/>
                  </a:lnTo>
                  <a:lnTo>
                    <a:pt x="23311" y="56311"/>
                  </a:lnTo>
                  <a:close/>
                </a:path>
              </a:pathLst>
            </a:custGeom>
            <a:ln w="3175">
              <a:solidFill>
                <a:srgbClr val="8F0000"/>
              </a:solidFill>
            </a:ln>
          </p:spPr>
          <p:txBody>
            <a:bodyPr wrap="square" lIns="0" tIns="0" rIns="0" bIns="0" rtlCol="0"/>
            <a:lstStyle/>
            <a:p>
              <a:endParaRPr/>
            </a:p>
          </p:txBody>
        </p:sp>
        <p:sp>
          <p:nvSpPr>
            <p:cNvPr id="447" name="object 213"/>
            <p:cNvSpPr/>
            <p:nvPr/>
          </p:nvSpPr>
          <p:spPr>
            <a:xfrm>
              <a:off x="4313780" y="1828407"/>
              <a:ext cx="46990" cy="56515"/>
            </a:xfrm>
            <a:custGeom>
              <a:avLst/>
              <a:gdLst/>
              <a:ahLst/>
              <a:cxnLst/>
              <a:rect l="l" t="t" r="r" b="b"/>
              <a:pathLst>
                <a:path w="46989" h="56514">
                  <a:moveTo>
                    <a:pt x="23451" y="0"/>
                  </a:moveTo>
                  <a:lnTo>
                    <a:pt x="0" y="28190"/>
                  </a:lnTo>
                  <a:lnTo>
                    <a:pt x="23451" y="56381"/>
                  </a:lnTo>
                  <a:lnTo>
                    <a:pt x="46762" y="28190"/>
                  </a:lnTo>
                  <a:lnTo>
                    <a:pt x="23451" y="0"/>
                  </a:lnTo>
                  <a:close/>
                </a:path>
              </a:pathLst>
            </a:custGeom>
            <a:solidFill>
              <a:srgbClr val="8F0000"/>
            </a:solidFill>
          </p:spPr>
          <p:txBody>
            <a:bodyPr wrap="square" lIns="0" tIns="0" rIns="0" bIns="0" rtlCol="0"/>
            <a:lstStyle/>
            <a:p>
              <a:endParaRPr/>
            </a:p>
          </p:txBody>
        </p:sp>
        <p:sp>
          <p:nvSpPr>
            <p:cNvPr id="448" name="object 214"/>
            <p:cNvSpPr/>
            <p:nvPr/>
          </p:nvSpPr>
          <p:spPr>
            <a:xfrm>
              <a:off x="4313780" y="1828407"/>
              <a:ext cx="46990" cy="56515"/>
            </a:xfrm>
            <a:custGeom>
              <a:avLst/>
              <a:gdLst/>
              <a:ahLst/>
              <a:cxnLst/>
              <a:rect l="l" t="t" r="r" b="b"/>
              <a:pathLst>
                <a:path w="46989" h="56514">
                  <a:moveTo>
                    <a:pt x="23451" y="56381"/>
                  </a:moveTo>
                  <a:lnTo>
                    <a:pt x="46762" y="28190"/>
                  </a:lnTo>
                  <a:lnTo>
                    <a:pt x="23451" y="0"/>
                  </a:lnTo>
                  <a:lnTo>
                    <a:pt x="0" y="28190"/>
                  </a:lnTo>
                  <a:lnTo>
                    <a:pt x="23451" y="56381"/>
                  </a:lnTo>
                  <a:close/>
                </a:path>
              </a:pathLst>
            </a:custGeom>
            <a:ln w="3175">
              <a:solidFill>
                <a:srgbClr val="8F0000"/>
              </a:solidFill>
            </a:ln>
          </p:spPr>
          <p:txBody>
            <a:bodyPr wrap="square" lIns="0" tIns="0" rIns="0" bIns="0" rtlCol="0"/>
            <a:lstStyle/>
            <a:p>
              <a:endParaRPr/>
            </a:p>
          </p:txBody>
        </p:sp>
        <p:sp>
          <p:nvSpPr>
            <p:cNvPr id="449" name="object 215"/>
            <p:cNvSpPr/>
            <p:nvPr/>
          </p:nvSpPr>
          <p:spPr>
            <a:xfrm>
              <a:off x="4632395" y="3098305"/>
              <a:ext cx="46990" cy="56515"/>
            </a:xfrm>
            <a:custGeom>
              <a:avLst/>
              <a:gdLst/>
              <a:ahLst/>
              <a:cxnLst/>
              <a:rect l="l" t="t" r="r" b="b"/>
              <a:pathLst>
                <a:path w="46989" h="56514">
                  <a:moveTo>
                    <a:pt x="23311" y="0"/>
                  </a:moveTo>
                  <a:lnTo>
                    <a:pt x="0" y="28190"/>
                  </a:lnTo>
                  <a:lnTo>
                    <a:pt x="23311" y="56381"/>
                  </a:lnTo>
                  <a:lnTo>
                    <a:pt x="46762" y="28190"/>
                  </a:lnTo>
                  <a:lnTo>
                    <a:pt x="23311" y="0"/>
                  </a:lnTo>
                  <a:close/>
                </a:path>
              </a:pathLst>
            </a:custGeom>
            <a:solidFill>
              <a:srgbClr val="00008F"/>
            </a:solidFill>
          </p:spPr>
          <p:txBody>
            <a:bodyPr wrap="square" lIns="0" tIns="0" rIns="0" bIns="0" rtlCol="0"/>
            <a:lstStyle/>
            <a:p>
              <a:endParaRPr/>
            </a:p>
          </p:txBody>
        </p:sp>
        <p:sp>
          <p:nvSpPr>
            <p:cNvPr id="450" name="object 216"/>
            <p:cNvSpPr/>
            <p:nvPr/>
          </p:nvSpPr>
          <p:spPr>
            <a:xfrm>
              <a:off x="4632395" y="3098305"/>
              <a:ext cx="46990" cy="56515"/>
            </a:xfrm>
            <a:custGeom>
              <a:avLst/>
              <a:gdLst/>
              <a:ahLst/>
              <a:cxnLst/>
              <a:rect l="l" t="t" r="r" b="b"/>
              <a:pathLst>
                <a:path w="46989" h="56514">
                  <a:moveTo>
                    <a:pt x="23311" y="56381"/>
                  </a:moveTo>
                  <a:lnTo>
                    <a:pt x="46762" y="28190"/>
                  </a:lnTo>
                  <a:lnTo>
                    <a:pt x="23311" y="0"/>
                  </a:lnTo>
                  <a:lnTo>
                    <a:pt x="0" y="28190"/>
                  </a:lnTo>
                  <a:lnTo>
                    <a:pt x="23311" y="56381"/>
                  </a:lnTo>
                  <a:close/>
                </a:path>
              </a:pathLst>
            </a:custGeom>
            <a:ln w="3175">
              <a:solidFill>
                <a:srgbClr val="00008F"/>
              </a:solidFill>
            </a:ln>
          </p:spPr>
          <p:txBody>
            <a:bodyPr wrap="square" lIns="0" tIns="0" rIns="0" bIns="0" rtlCol="0"/>
            <a:lstStyle/>
            <a:p>
              <a:endParaRPr/>
            </a:p>
          </p:txBody>
        </p:sp>
        <p:sp>
          <p:nvSpPr>
            <p:cNvPr id="451" name="object 217"/>
            <p:cNvSpPr/>
            <p:nvPr/>
          </p:nvSpPr>
          <p:spPr>
            <a:xfrm>
              <a:off x="4843170" y="3328047"/>
              <a:ext cx="332740" cy="337820"/>
            </a:xfrm>
            <a:custGeom>
              <a:avLst/>
              <a:gdLst/>
              <a:ahLst/>
              <a:cxnLst/>
              <a:rect l="l" t="t" r="r" b="b"/>
              <a:pathLst>
                <a:path w="332739" h="337820">
                  <a:moveTo>
                    <a:pt x="37401" y="0"/>
                  </a:moveTo>
                  <a:lnTo>
                    <a:pt x="0" y="0"/>
                  </a:lnTo>
                  <a:lnTo>
                    <a:pt x="0" y="37388"/>
                  </a:lnTo>
                  <a:lnTo>
                    <a:pt x="37401" y="37388"/>
                  </a:lnTo>
                  <a:lnTo>
                    <a:pt x="37401" y="0"/>
                  </a:lnTo>
                  <a:close/>
                </a:path>
                <a:path w="332739" h="337820">
                  <a:moveTo>
                    <a:pt x="65620" y="98247"/>
                  </a:moveTo>
                  <a:lnTo>
                    <a:pt x="51498" y="98247"/>
                  </a:lnTo>
                  <a:lnTo>
                    <a:pt x="51498" y="93726"/>
                  </a:lnTo>
                  <a:lnTo>
                    <a:pt x="14097" y="93726"/>
                  </a:lnTo>
                  <a:lnTo>
                    <a:pt x="14097" y="131114"/>
                  </a:lnTo>
                  <a:lnTo>
                    <a:pt x="28054" y="131114"/>
                  </a:lnTo>
                  <a:lnTo>
                    <a:pt x="28054" y="135801"/>
                  </a:lnTo>
                  <a:lnTo>
                    <a:pt x="65620" y="135801"/>
                  </a:lnTo>
                  <a:lnTo>
                    <a:pt x="65620" y="98247"/>
                  </a:lnTo>
                  <a:close/>
                </a:path>
                <a:path w="332739" h="337820">
                  <a:moveTo>
                    <a:pt x="117106" y="60858"/>
                  </a:moveTo>
                  <a:lnTo>
                    <a:pt x="79705" y="60858"/>
                  </a:lnTo>
                  <a:lnTo>
                    <a:pt x="79705" y="98247"/>
                  </a:lnTo>
                  <a:lnTo>
                    <a:pt x="117106" y="98247"/>
                  </a:lnTo>
                  <a:lnTo>
                    <a:pt x="117106" y="60858"/>
                  </a:lnTo>
                  <a:close/>
                </a:path>
                <a:path w="332739" h="337820">
                  <a:moveTo>
                    <a:pt x="131165" y="253009"/>
                  </a:moveTo>
                  <a:lnTo>
                    <a:pt x="126453" y="253009"/>
                  </a:lnTo>
                  <a:lnTo>
                    <a:pt x="93599" y="253009"/>
                  </a:lnTo>
                  <a:lnTo>
                    <a:pt x="89065" y="253009"/>
                  </a:lnTo>
                  <a:lnTo>
                    <a:pt x="89065" y="290398"/>
                  </a:lnTo>
                  <a:lnTo>
                    <a:pt x="93599" y="290398"/>
                  </a:lnTo>
                  <a:lnTo>
                    <a:pt x="126453" y="290398"/>
                  </a:lnTo>
                  <a:lnTo>
                    <a:pt x="131165" y="290398"/>
                  </a:lnTo>
                  <a:lnTo>
                    <a:pt x="131165" y="253009"/>
                  </a:lnTo>
                  <a:close/>
                </a:path>
                <a:path w="332739" h="337820">
                  <a:moveTo>
                    <a:pt x="173291" y="187452"/>
                  </a:moveTo>
                  <a:lnTo>
                    <a:pt x="135890" y="187452"/>
                  </a:lnTo>
                  <a:lnTo>
                    <a:pt x="135890" y="224840"/>
                  </a:lnTo>
                  <a:lnTo>
                    <a:pt x="173291" y="224840"/>
                  </a:lnTo>
                  <a:lnTo>
                    <a:pt x="173291" y="187452"/>
                  </a:lnTo>
                  <a:close/>
                </a:path>
                <a:path w="332739" h="337820">
                  <a:moveTo>
                    <a:pt x="192062" y="107632"/>
                  </a:moveTo>
                  <a:lnTo>
                    <a:pt x="168541" y="107632"/>
                  </a:lnTo>
                  <a:lnTo>
                    <a:pt x="168541" y="74942"/>
                  </a:lnTo>
                  <a:lnTo>
                    <a:pt x="131140" y="74942"/>
                  </a:lnTo>
                  <a:lnTo>
                    <a:pt x="131140" y="107632"/>
                  </a:lnTo>
                  <a:lnTo>
                    <a:pt x="121793" y="107632"/>
                  </a:lnTo>
                  <a:lnTo>
                    <a:pt x="93599" y="107632"/>
                  </a:lnTo>
                  <a:lnTo>
                    <a:pt x="93599" y="140500"/>
                  </a:lnTo>
                  <a:lnTo>
                    <a:pt x="60934" y="140500"/>
                  </a:lnTo>
                  <a:lnTo>
                    <a:pt x="60934" y="178054"/>
                  </a:lnTo>
                  <a:lnTo>
                    <a:pt x="98323" y="178054"/>
                  </a:lnTo>
                  <a:lnTo>
                    <a:pt x="98323" y="145186"/>
                  </a:lnTo>
                  <a:lnTo>
                    <a:pt x="121793" y="145186"/>
                  </a:lnTo>
                  <a:lnTo>
                    <a:pt x="131165" y="145186"/>
                  </a:lnTo>
                  <a:lnTo>
                    <a:pt x="135890" y="145186"/>
                  </a:lnTo>
                  <a:lnTo>
                    <a:pt x="135890" y="159283"/>
                  </a:lnTo>
                  <a:lnTo>
                    <a:pt x="173291" y="159283"/>
                  </a:lnTo>
                  <a:lnTo>
                    <a:pt x="173291" y="145186"/>
                  </a:lnTo>
                  <a:lnTo>
                    <a:pt x="192062" y="145186"/>
                  </a:lnTo>
                  <a:lnTo>
                    <a:pt x="192062" y="107632"/>
                  </a:lnTo>
                  <a:close/>
                </a:path>
                <a:path w="332739" h="337820">
                  <a:moveTo>
                    <a:pt x="210807" y="295084"/>
                  </a:moveTo>
                  <a:lnTo>
                    <a:pt x="173228" y="295084"/>
                  </a:lnTo>
                  <a:lnTo>
                    <a:pt x="173228" y="332638"/>
                  </a:lnTo>
                  <a:lnTo>
                    <a:pt x="210807" y="332638"/>
                  </a:lnTo>
                  <a:lnTo>
                    <a:pt x="210807" y="295084"/>
                  </a:lnTo>
                  <a:close/>
                </a:path>
                <a:path w="332739" h="337820">
                  <a:moveTo>
                    <a:pt x="210807" y="9220"/>
                  </a:moveTo>
                  <a:lnTo>
                    <a:pt x="173228" y="9220"/>
                  </a:lnTo>
                  <a:lnTo>
                    <a:pt x="173228" y="27990"/>
                  </a:lnTo>
                  <a:lnTo>
                    <a:pt x="163868" y="27990"/>
                  </a:lnTo>
                  <a:lnTo>
                    <a:pt x="163868" y="23291"/>
                  </a:lnTo>
                  <a:lnTo>
                    <a:pt x="126466" y="23291"/>
                  </a:lnTo>
                  <a:lnTo>
                    <a:pt x="126466" y="60858"/>
                  </a:lnTo>
                  <a:lnTo>
                    <a:pt x="149923" y="60858"/>
                  </a:lnTo>
                  <a:lnTo>
                    <a:pt x="149923" y="65557"/>
                  </a:lnTo>
                  <a:lnTo>
                    <a:pt x="187312" y="65557"/>
                  </a:lnTo>
                  <a:lnTo>
                    <a:pt x="187312" y="46774"/>
                  </a:lnTo>
                  <a:lnTo>
                    <a:pt x="210807" y="46774"/>
                  </a:lnTo>
                  <a:lnTo>
                    <a:pt x="210807" y="9220"/>
                  </a:lnTo>
                  <a:close/>
                </a:path>
                <a:path w="332739" h="337820">
                  <a:moveTo>
                    <a:pt x="248246" y="145199"/>
                  </a:moveTo>
                  <a:lnTo>
                    <a:pt x="210858" y="145199"/>
                  </a:lnTo>
                  <a:lnTo>
                    <a:pt x="210858" y="182753"/>
                  </a:lnTo>
                  <a:lnTo>
                    <a:pt x="248246" y="182753"/>
                  </a:lnTo>
                  <a:lnTo>
                    <a:pt x="248246" y="145199"/>
                  </a:lnTo>
                  <a:close/>
                </a:path>
                <a:path w="332739" h="337820">
                  <a:moveTo>
                    <a:pt x="309105" y="23291"/>
                  </a:moveTo>
                  <a:lnTo>
                    <a:pt x="271716" y="23291"/>
                  </a:lnTo>
                  <a:lnTo>
                    <a:pt x="271716" y="46774"/>
                  </a:lnTo>
                  <a:lnTo>
                    <a:pt x="248246" y="46774"/>
                  </a:lnTo>
                  <a:lnTo>
                    <a:pt x="248246" y="42075"/>
                  </a:lnTo>
                  <a:lnTo>
                    <a:pt x="210858" y="42075"/>
                  </a:lnTo>
                  <a:lnTo>
                    <a:pt x="210858" y="79641"/>
                  </a:lnTo>
                  <a:lnTo>
                    <a:pt x="243522" y="79641"/>
                  </a:lnTo>
                  <a:lnTo>
                    <a:pt x="243522" y="107632"/>
                  </a:lnTo>
                  <a:lnTo>
                    <a:pt x="281089" y="107632"/>
                  </a:lnTo>
                  <a:lnTo>
                    <a:pt x="281089" y="102946"/>
                  </a:lnTo>
                  <a:lnTo>
                    <a:pt x="285762" y="102946"/>
                  </a:lnTo>
                  <a:lnTo>
                    <a:pt x="285762" y="84328"/>
                  </a:lnTo>
                  <a:lnTo>
                    <a:pt x="285762" y="65557"/>
                  </a:lnTo>
                  <a:lnTo>
                    <a:pt x="285762" y="60858"/>
                  </a:lnTo>
                  <a:lnTo>
                    <a:pt x="309105" y="60858"/>
                  </a:lnTo>
                  <a:lnTo>
                    <a:pt x="309105" y="23291"/>
                  </a:lnTo>
                  <a:close/>
                </a:path>
                <a:path w="332739" h="337820">
                  <a:moveTo>
                    <a:pt x="323202" y="74942"/>
                  </a:moveTo>
                  <a:lnTo>
                    <a:pt x="285813" y="74942"/>
                  </a:lnTo>
                  <a:lnTo>
                    <a:pt x="285813" y="112318"/>
                  </a:lnTo>
                  <a:lnTo>
                    <a:pt x="323202" y="112318"/>
                  </a:lnTo>
                  <a:lnTo>
                    <a:pt x="323202" y="74942"/>
                  </a:lnTo>
                  <a:close/>
                </a:path>
                <a:path w="332739" h="337820">
                  <a:moveTo>
                    <a:pt x="332562" y="299783"/>
                  </a:moveTo>
                  <a:lnTo>
                    <a:pt x="295160" y="299783"/>
                  </a:lnTo>
                  <a:lnTo>
                    <a:pt x="295160" y="337337"/>
                  </a:lnTo>
                  <a:lnTo>
                    <a:pt x="332562" y="337337"/>
                  </a:lnTo>
                  <a:lnTo>
                    <a:pt x="332562" y="299783"/>
                  </a:lnTo>
                  <a:close/>
                </a:path>
              </a:pathLst>
            </a:custGeom>
            <a:solidFill>
              <a:srgbClr val="00008F"/>
            </a:solidFill>
          </p:spPr>
          <p:txBody>
            <a:bodyPr wrap="square" lIns="0" tIns="0" rIns="0" bIns="0" rtlCol="0"/>
            <a:lstStyle/>
            <a:p>
              <a:endParaRPr/>
            </a:p>
          </p:txBody>
        </p:sp>
        <p:sp>
          <p:nvSpPr>
            <p:cNvPr id="452" name="object 218"/>
            <p:cNvSpPr/>
            <p:nvPr/>
          </p:nvSpPr>
          <p:spPr>
            <a:xfrm>
              <a:off x="4894686" y="3421763"/>
              <a:ext cx="206375" cy="0"/>
            </a:xfrm>
            <a:custGeom>
              <a:avLst/>
              <a:gdLst/>
              <a:ahLst/>
              <a:cxnLst/>
              <a:rect l="l" t="t" r="r" b="b"/>
              <a:pathLst>
                <a:path w="206375">
                  <a:moveTo>
                    <a:pt x="0" y="0"/>
                  </a:moveTo>
                  <a:lnTo>
                    <a:pt x="206105" y="0"/>
                  </a:lnTo>
                </a:path>
              </a:pathLst>
            </a:custGeom>
            <a:ln w="3175">
              <a:solidFill>
                <a:srgbClr val="000000"/>
              </a:solidFill>
            </a:ln>
          </p:spPr>
          <p:txBody>
            <a:bodyPr wrap="square" lIns="0" tIns="0" rIns="0" bIns="0" rtlCol="0"/>
            <a:lstStyle/>
            <a:p>
              <a:endParaRPr/>
            </a:p>
          </p:txBody>
        </p:sp>
        <p:sp>
          <p:nvSpPr>
            <p:cNvPr id="453" name="object 219"/>
            <p:cNvSpPr/>
            <p:nvPr/>
          </p:nvSpPr>
          <p:spPr>
            <a:xfrm>
              <a:off x="5103025" y="3424024"/>
              <a:ext cx="5080" cy="0"/>
            </a:xfrm>
            <a:custGeom>
              <a:avLst/>
              <a:gdLst/>
              <a:ahLst/>
              <a:cxnLst/>
              <a:rect l="l" t="t" r="r" b="b"/>
              <a:pathLst>
                <a:path w="5079">
                  <a:moveTo>
                    <a:pt x="0" y="0"/>
                  </a:moveTo>
                  <a:lnTo>
                    <a:pt x="4746" y="0"/>
                  </a:lnTo>
                </a:path>
              </a:pathLst>
            </a:custGeom>
            <a:ln w="4694">
              <a:solidFill>
                <a:srgbClr val="000000"/>
              </a:solidFill>
            </a:ln>
          </p:spPr>
          <p:txBody>
            <a:bodyPr wrap="square" lIns="0" tIns="0" rIns="0" bIns="0" rtlCol="0"/>
            <a:lstStyle/>
            <a:p>
              <a:endParaRPr/>
            </a:p>
          </p:txBody>
        </p:sp>
        <p:sp>
          <p:nvSpPr>
            <p:cNvPr id="454" name="object 220"/>
            <p:cNvSpPr/>
            <p:nvPr/>
          </p:nvSpPr>
          <p:spPr>
            <a:xfrm>
              <a:off x="4997843" y="3318651"/>
              <a:ext cx="0" cy="206375"/>
            </a:xfrm>
            <a:custGeom>
              <a:avLst/>
              <a:gdLst/>
              <a:ahLst/>
              <a:cxnLst/>
              <a:rect l="l" t="t" r="r" b="b"/>
              <a:pathLst>
                <a:path h="206375">
                  <a:moveTo>
                    <a:pt x="0" y="0"/>
                  </a:moveTo>
                  <a:lnTo>
                    <a:pt x="0" y="206055"/>
                  </a:lnTo>
                </a:path>
              </a:pathLst>
            </a:custGeom>
            <a:ln w="3175">
              <a:solidFill>
                <a:srgbClr val="000000"/>
              </a:solidFill>
            </a:ln>
          </p:spPr>
          <p:txBody>
            <a:bodyPr wrap="square" lIns="0" tIns="0" rIns="0" bIns="0" rtlCol="0"/>
            <a:lstStyle/>
            <a:p>
              <a:endParaRPr/>
            </a:p>
          </p:txBody>
        </p:sp>
        <p:sp>
          <p:nvSpPr>
            <p:cNvPr id="455" name="object 221"/>
            <p:cNvSpPr/>
            <p:nvPr/>
          </p:nvSpPr>
          <p:spPr>
            <a:xfrm>
              <a:off x="5000077" y="3526968"/>
              <a:ext cx="5080" cy="0"/>
            </a:xfrm>
            <a:custGeom>
              <a:avLst/>
              <a:gdLst/>
              <a:ahLst/>
              <a:cxnLst/>
              <a:rect l="l" t="t" r="r" b="b"/>
              <a:pathLst>
                <a:path w="5079">
                  <a:moveTo>
                    <a:pt x="0" y="0"/>
                  </a:moveTo>
                  <a:lnTo>
                    <a:pt x="4676" y="0"/>
                  </a:lnTo>
                </a:path>
              </a:pathLst>
            </a:custGeom>
            <a:ln w="4694">
              <a:solidFill>
                <a:srgbClr val="000000"/>
              </a:solidFill>
            </a:ln>
          </p:spPr>
          <p:txBody>
            <a:bodyPr wrap="square" lIns="0" tIns="0" rIns="0" bIns="0" rtlCol="0"/>
            <a:lstStyle/>
            <a:p>
              <a:endParaRPr/>
            </a:p>
          </p:txBody>
        </p:sp>
      </p:grpSp>
      <p:sp>
        <p:nvSpPr>
          <p:cNvPr id="456" name="object 222"/>
          <p:cNvSpPr txBox="1"/>
          <p:nvPr/>
        </p:nvSpPr>
        <p:spPr>
          <a:xfrm>
            <a:off x="4127848" y="3713534"/>
            <a:ext cx="1454150" cy="239395"/>
          </a:xfrm>
          <a:prstGeom prst="rect">
            <a:avLst/>
          </a:prstGeom>
        </p:spPr>
        <p:txBody>
          <a:bodyPr vert="horz" wrap="square" lIns="0" tIns="11430" rIns="0" bIns="0" rtlCol="0">
            <a:spAutoFit/>
          </a:bodyPr>
          <a:lstStyle/>
          <a:p>
            <a:pPr marL="12700">
              <a:lnSpc>
                <a:spcPts val="695"/>
              </a:lnSpc>
              <a:spcBef>
                <a:spcPts val="90"/>
              </a:spcBef>
              <a:tabLst>
                <a:tab pos="330835" algn="l"/>
                <a:tab pos="565150" algn="l"/>
                <a:tab pos="864869" algn="l"/>
                <a:tab pos="1099185" algn="l"/>
                <a:tab pos="1398905" algn="l"/>
              </a:tabLst>
            </a:pPr>
            <a:r>
              <a:rPr sz="600" spc="15" dirty="0">
                <a:latin typeface="Arial MT"/>
                <a:cs typeface="Arial MT"/>
              </a:rPr>
              <a:t>-</a:t>
            </a:r>
            <a:r>
              <a:rPr sz="600" spc="-10" dirty="0">
                <a:latin typeface="Arial MT"/>
                <a:cs typeface="Arial MT"/>
              </a:rPr>
              <a:t>0</a:t>
            </a:r>
            <a:r>
              <a:rPr sz="600" spc="-25" dirty="0">
                <a:latin typeface="Arial MT"/>
                <a:cs typeface="Arial MT"/>
              </a:rPr>
              <a:t>.</a:t>
            </a:r>
            <a:r>
              <a:rPr sz="600" spc="-10" dirty="0">
                <a:latin typeface="Arial MT"/>
                <a:cs typeface="Arial MT"/>
              </a:rPr>
              <a:t>5</a:t>
            </a:r>
            <a:r>
              <a:rPr sz="600" dirty="0">
                <a:latin typeface="Arial MT"/>
                <a:cs typeface="Arial MT"/>
              </a:rPr>
              <a:t>	</a:t>
            </a:r>
            <a:r>
              <a:rPr sz="600" spc="-10" dirty="0">
                <a:latin typeface="Arial MT"/>
                <a:cs typeface="Arial MT"/>
              </a:rPr>
              <a:t>0</a:t>
            </a:r>
            <a:r>
              <a:rPr sz="600" dirty="0">
                <a:latin typeface="Arial MT"/>
                <a:cs typeface="Arial MT"/>
              </a:rPr>
              <a:t>	</a:t>
            </a:r>
            <a:r>
              <a:rPr sz="600" spc="-10" dirty="0">
                <a:latin typeface="Arial MT"/>
                <a:cs typeface="Arial MT"/>
              </a:rPr>
              <a:t>0</a:t>
            </a:r>
            <a:r>
              <a:rPr sz="600" spc="15" dirty="0">
                <a:latin typeface="Arial MT"/>
                <a:cs typeface="Arial MT"/>
              </a:rPr>
              <a:t>.</a:t>
            </a:r>
            <a:r>
              <a:rPr sz="600" spc="-10" dirty="0">
                <a:latin typeface="Arial MT"/>
                <a:cs typeface="Arial MT"/>
              </a:rPr>
              <a:t>5</a:t>
            </a:r>
            <a:r>
              <a:rPr sz="600" dirty="0">
                <a:latin typeface="Arial MT"/>
                <a:cs typeface="Arial MT"/>
              </a:rPr>
              <a:t>	</a:t>
            </a:r>
            <a:r>
              <a:rPr sz="600" spc="-10" dirty="0">
                <a:latin typeface="Arial MT"/>
                <a:cs typeface="Arial MT"/>
              </a:rPr>
              <a:t>1</a:t>
            </a:r>
            <a:r>
              <a:rPr sz="600" dirty="0">
                <a:latin typeface="Arial MT"/>
                <a:cs typeface="Arial MT"/>
              </a:rPr>
              <a:t>	</a:t>
            </a:r>
            <a:r>
              <a:rPr sz="600" spc="-10" dirty="0">
                <a:latin typeface="Arial MT"/>
                <a:cs typeface="Arial MT"/>
              </a:rPr>
              <a:t>1</a:t>
            </a:r>
            <a:r>
              <a:rPr sz="600" spc="15" dirty="0">
                <a:latin typeface="Arial MT"/>
                <a:cs typeface="Arial MT"/>
              </a:rPr>
              <a:t>.</a:t>
            </a:r>
            <a:r>
              <a:rPr sz="600" spc="-10" dirty="0">
                <a:latin typeface="Arial MT"/>
                <a:cs typeface="Arial MT"/>
              </a:rPr>
              <a:t>5</a:t>
            </a:r>
            <a:r>
              <a:rPr sz="600" dirty="0">
                <a:latin typeface="Arial MT"/>
                <a:cs typeface="Arial MT"/>
              </a:rPr>
              <a:t>	</a:t>
            </a:r>
            <a:r>
              <a:rPr sz="600" spc="-10" dirty="0">
                <a:latin typeface="Arial MT"/>
                <a:cs typeface="Arial MT"/>
              </a:rPr>
              <a:t>2</a:t>
            </a:r>
            <a:endParaRPr sz="600">
              <a:latin typeface="Arial MT"/>
              <a:cs typeface="Arial MT"/>
            </a:endParaRPr>
          </a:p>
          <a:p>
            <a:pPr marL="293370">
              <a:lnSpc>
                <a:spcPts val="994"/>
              </a:lnSpc>
            </a:pPr>
            <a:r>
              <a:rPr sz="850" spc="-5" dirty="0">
                <a:latin typeface="Arial MT"/>
                <a:cs typeface="Arial MT"/>
              </a:rPr>
              <a:t>x</a:t>
            </a:r>
            <a:endParaRPr sz="850">
              <a:latin typeface="Arial MT"/>
              <a:cs typeface="Arial MT"/>
            </a:endParaRPr>
          </a:p>
        </p:txBody>
      </p:sp>
      <p:sp>
        <p:nvSpPr>
          <p:cNvPr id="457" name="object 223"/>
          <p:cNvSpPr txBox="1"/>
          <p:nvPr/>
        </p:nvSpPr>
        <p:spPr>
          <a:xfrm>
            <a:off x="3018289" y="2745888"/>
            <a:ext cx="146050" cy="79375"/>
          </a:xfrm>
          <a:prstGeom prst="rect">
            <a:avLst/>
          </a:prstGeom>
        </p:spPr>
        <p:txBody>
          <a:bodyPr vert="vert270" wrap="square" lIns="0" tIns="1905" rIns="0" bIns="0" rtlCol="0">
            <a:spAutoFit/>
          </a:bodyPr>
          <a:lstStyle/>
          <a:p>
            <a:pPr marL="12700">
              <a:lnSpc>
                <a:spcPct val="100000"/>
              </a:lnSpc>
              <a:spcBef>
                <a:spcPts val="15"/>
              </a:spcBef>
            </a:pPr>
            <a:r>
              <a:rPr sz="850" dirty="0">
                <a:latin typeface="Arial MT"/>
                <a:cs typeface="Arial MT"/>
              </a:rPr>
              <a:t>y</a:t>
            </a:r>
            <a:endParaRPr sz="850">
              <a:latin typeface="Arial MT"/>
              <a:cs typeface="Arial MT"/>
            </a:endParaRPr>
          </a:p>
        </p:txBody>
      </p:sp>
      <p:pic>
        <p:nvPicPr>
          <p:cNvPr id="468" name="object 224"/>
          <p:cNvPicPr/>
          <p:nvPr/>
        </p:nvPicPr>
        <p:blipFill>
          <a:blip r:embed="rId8" cstate="print"/>
          <a:stretch>
            <a:fillRect/>
          </a:stretch>
        </p:blipFill>
        <p:spPr>
          <a:xfrm>
            <a:off x="278928" y="4648200"/>
            <a:ext cx="8712672" cy="914400"/>
          </a:xfrm>
          <a:prstGeom prst="rect">
            <a:avLst/>
          </a:prstGeom>
        </p:spPr>
      </p:pic>
    </p:spTree>
    <p:extLst>
      <p:ext uri="{BB962C8B-B14F-4D97-AF65-F5344CB8AC3E}">
        <p14:creationId xmlns:p14="http://schemas.microsoft.com/office/powerpoint/2010/main" val="22398099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970" y="0"/>
            <a:ext cx="8229600" cy="1143000"/>
          </a:xfrm>
        </p:spPr>
        <p:txBody>
          <a:bodyPr>
            <a:normAutofit/>
          </a:bodyPr>
          <a:lstStyle/>
          <a:p>
            <a:r>
              <a:rPr lang="en-GB" sz="4400" spc="-5" dirty="0">
                <a:solidFill>
                  <a:schemeClr val="accent1">
                    <a:lumMod val="75000"/>
                  </a:schemeClr>
                </a:solidFill>
                <a:uFill>
                  <a:solidFill>
                    <a:srgbClr val="006FC0"/>
                  </a:solidFill>
                </a:uFill>
                <a:latin typeface="+mn-lt"/>
                <a:cs typeface="Calibri"/>
              </a:rPr>
              <a:t>Choice</a:t>
            </a:r>
            <a:r>
              <a:rPr lang="en-GB" sz="4400" spc="-25" dirty="0">
                <a:solidFill>
                  <a:schemeClr val="accent1">
                    <a:lumMod val="75000"/>
                  </a:schemeClr>
                </a:solidFill>
                <a:uFill>
                  <a:solidFill>
                    <a:srgbClr val="006FC0"/>
                  </a:solidFill>
                </a:uFill>
                <a:latin typeface="+mn-lt"/>
                <a:cs typeface="Calibri"/>
              </a:rPr>
              <a:t> </a:t>
            </a:r>
            <a:r>
              <a:rPr lang="en-GB" sz="4400" dirty="0">
                <a:solidFill>
                  <a:schemeClr val="accent1">
                    <a:lumMod val="75000"/>
                  </a:schemeClr>
                </a:solidFill>
                <a:uFill>
                  <a:solidFill>
                    <a:srgbClr val="006FC0"/>
                  </a:solidFill>
                </a:uFill>
                <a:latin typeface="+mn-lt"/>
                <a:cs typeface="Calibri"/>
              </a:rPr>
              <a:t>of</a:t>
            </a:r>
            <a:r>
              <a:rPr lang="en-GB" sz="4400" spc="-35" dirty="0">
                <a:solidFill>
                  <a:schemeClr val="accent1">
                    <a:lumMod val="75000"/>
                  </a:schemeClr>
                </a:solidFill>
                <a:uFill>
                  <a:solidFill>
                    <a:srgbClr val="006FC0"/>
                  </a:solidFill>
                </a:uFill>
                <a:latin typeface="+mn-lt"/>
                <a:cs typeface="Calibri"/>
              </a:rPr>
              <a:t> </a:t>
            </a:r>
            <a:r>
              <a:rPr lang="en-GB" sz="4400" dirty="0">
                <a:solidFill>
                  <a:schemeClr val="accent1">
                    <a:lumMod val="75000"/>
                  </a:schemeClr>
                </a:solidFill>
                <a:uFill>
                  <a:solidFill>
                    <a:srgbClr val="006FC0"/>
                  </a:solidFill>
                </a:uFill>
                <a:latin typeface="+mn-lt"/>
                <a:cs typeface="Calibri"/>
              </a:rPr>
              <a:t>Initial</a:t>
            </a:r>
            <a:r>
              <a:rPr lang="en-GB" sz="4400" spc="-25" dirty="0">
                <a:solidFill>
                  <a:schemeClr val="accent1">
                    <a:lumMod val="75000"/>
                  </a:schemeClr>
                </a:solidFill>
                <a:uFill>
                  <a:solidFill>
                    <a:srgbClr val="006FC0"/>
                  </a:solidFill>
                </a:uFill>
                <a:latin typeface="+mn-lt"/>
                <a:cs typeface="Calibri"/>
              </a:rPr>
              <a:t> </a:t>
            </a:r>
            <a:r>
              <a:rPr lang="en-GB" sz="4400" spc="-10" dirty="0">
                <a:solidFill>
                  <a:schemeClr val="accent1">
                    <a:lumMod val="75000"/>
                  </a:schemeClr>
                </a:solidFill>
                <a:uFill>
                  <a:solidFill>
                    <a:srgbClr val="006FC0"/>
                  </a:solidFill>
                </a:uFill>
                <a:latin typeface="+mn-lt"/>
                <a:cs typeface="Calibri"/>
              </a:rPr>
              <a:t>Centroids</a:t>
            </a:r>
            <a:endParaRPr lang="en-GB" sz="4400" dirty="0">
              <a:solidFill>
                <a:schemeClr val="accent1">
                  <a:lumMod val="75000"/>
                </a:schemeClr>
              </a:solidFill>
              <a:latin typeface="+mn-lt"/>
            </a:endParaRPr>
          </a:p>
        </p:txBody>
      </p:sp>
      <p:sp>
        <p:nvSpPr>
          <p:cNvPr id="459" name="object 225"/>
          <p:cNvSpPr txBox="1"/>
          <p:nvPr/>
        </p:nvSpPr>
        <p:spPr>
          <a:xfrm>
            <a:off x="457200" y="1524000"/>
            <a:ext cx="5410200" cy="382156"/>
          </a:xfrm>
          <a:prstGeom prst="rect">
            <a:avLst/>
          </a:prstGeom>
        </p:spPr>
        <p:txBody>
          <a:bodyPr vert="horz" wrap="square" lIns="0" tIns="12700" rIns="0" bIns="0" rtlCol="0">
            <a:spAutoFit/>
          </a:bodyPr>
          <a:lstStyle/>
          <a:p>
            <a:pPr marL="12700">
              <a:lnSpc>
                <a:spcPct val="100000"/>
              </a:lnSpc>
              <a:spcBef>
                <a:spcPts val="100"/>
              </a:spcBef>
            </a:pPr>
            <a:r>
              <a:rPr sz="2400" spc="-5" dirty="0">
                <a:solidFill>
                  <a:schemeClr val="accent1">
                    <a:lumMod val="75000"/>
                  </a:schemeClr>
                </a:solidFill>
                <a:uFill>
                  <a:solidFill>
                    <a:srgbClr val="006FC0"/>
                  </a:solidFill>
                </a:uFill>
                <a:cs typeface="Calibri"/>
              </a:rPr>
              <a:t>Possible</a:t>
            </a:r>
            <a:r>
              <a:rPr sz="2400" spc="-85" dirty="0">
                <a:solidFill>
                  <a:schemeClr val="accent1">
                    <a:lumMod val="75000"/>
                  </a:schemeClr>
                </a:solidFill>
                <a:uFill>
                  <a:solidFill>
                    <a:srgbClr val="006FC0"/>
                  </a:solidFill>
                </a:uFill>
                <a:cs typeface="Calibri"/>
              </a:rPr>
              <a:t> </a:t>
            </a:r>
            <a:r>
              <a:rPr lang="en-US" sz="2400" dirty="0">
                <a:solidFill>
                  <a:schemeClr val="accent1">
                    <a:lumMod val="75000"/>
                  </a:schemeClr>
                </a:solidFill>
                <a:uFill>
                  <a:solidFill>
                    <a:srgbClr val="006FC0"/>
                  </a:solidFill>
                </a:uFill>
                <a:cs typeface="Calibri"/>
              </a:rPr>
              <a:t>S</a:t>
            </a:r>
            <a:r>
              <a:rPr sz="2400" dirty="0">
                <a:solidFill>
                  <a:schemeClr val="accent1">
                    <a:lumMod val="75000"/>
                  </a:schemeClr>
                </a:solidFill>
                <a:uFill>
                  <a:solidFill>
                    <a:srgbClr val="006FC0"/>
                  </a:solidFill>
                </a:uFill>
                <a:cs typeface="Calibri"/>
              </a:rPr>
              <a:t>olutions</a:t>
            </a:r>
            <a:endParaRPr sz="2400" dirty="0">
              <a:solidFill>
                <a:schemeClr val="accent1">
                  <a:lumMod val="75000"/>
                </a:schemeClr>
              </a:solidFill>
              <a:cs typeface="Calibri"/>
            </a:endParaRPr>
          </a:p>
        </p:txBody>
      </p:sp>
      <p:pic>
        <p:nvPicPr>
          <p:cNvPr id="460" name="object 226"/>
          <p:cNvPicPr/>
          <p:nvPr/>
        </p:nvPicPr>
        <p:blipFill>
          <a:blip r:embed="rId2" cstate="print"/>
          <a:stretch>
            <a:fillRect/>
          </a:stretch>
        </p:blipFill>
        <p:spPr>
          <a:xfrm>
            <a:off x="362547" y="2209800"/>
            <a:ext cx="6899148" cy="207263"/>
          </a:xfrm>
          <a:prstGeom prst="rect">
            <a:avLst/>
          </a:prstGeom>
        </p:spPr>
      </p:pic>
      <p:pic>
        <p:nvPicPr>
          <p:cNvPr id="461" name="object 227"/>
          <p:cNvPicPr/>
          <p:nvPr/>
        </p:nvPicPr>
        <p:blipFill>
          <a:blip r:embed="rId3" cstate="print"/>
          <a:stretch>
            <a:fillRect/>
          </a:stretch>
        </p:blipFill>
        <p:spPr>
          <a:xfrm>
            <a:off x="362547" y="2743200"/>
            <a:ext cx="4443222" cy="204215"/>
          </a:xfrm>
          <a:prstGeom prst="rect">
            <a:avLst/>
          </a:prstGeom>
        </p:spPr>
      </p:pic>
      <p:pic>
        <p:nvPicPr>
          <p:cNvPr id="462" name="object 228"/>
          <p:cNvPicPr/>
          <p:nvPr/>
        </p:nvPicPr>
        <p:blipFill>
          <a:blip r:embed="rId4" cstate="print"/>
          <a:stretch>
            <a:fillRect/>
          </a:stretch>
        </p:blipFill>
        <p:spPr>
          <a:xfrm>
            <a:off x="362547" y="3200400"/>
            <a:ext cx="6982968" cy="206502"/>
          </a:xfrm>
          <a:prstGeom prst="rect">
            <a:avLst/>
          </a:prstGeom>
        </p:spPr>
      </p:pic>
      <p:pic>
        <p:nvPicPr>
          <p:cNvPr id="463" name="object 229"/>
          <p:cNvPicPr/>
          <p:nvPr/>
        </p:nvPicPr>
        <p:blipFill>
          <a:blip r:embed="rId5" cstate="print"/>
          <a:stretch>
            <a:fillRect/>
          </a:stretch>
        </p:blipFill>
        <p:spPr>
          <a:xfrm>
            <a:off x="328877" y="3657600"/>
            <a:ext cx="5777484" cy="204215"/>
          </a:xfrm>
          <a:prstGeom prst="rect">
            <a:avLst/>
          </a:prstGeom>
        </p:spPr>
      </p:pic>
      <p:pic>
        <p:nvPicPr>
          <p:cNvPr id="464" name="object 230"/>
          <p:cNvPicPr/>
          <p:nvPr/>
        </p:nvPicPr>
        <p:blipFill>
          <a:blip r:embed="rId6" cstate="print"/>
          <a:stretch>
            <a:fillRect/>
          </a:stretch>
        </p:blipFill>
        <p:spPr>
          <a:xfrm>
            <a:off x="362547" y="4191000"/>
            <a:ext cx="1750314" cy="201930"/>
          </a:xfrm>
          <a:prstGeom prst="rect">
            <a:avLst/>
          </a:prstGeom>
        </p:spPr>
      </p:pic>
      <p:pic>
        <p:nvPicPr>
          <p:cNvPr id="465" name="object 231"/>
          <p:cNvPicPr/>
          <p:nvPr/>
        </p:nvPicPr>
        <p:blipFill>
          <a:blip r:embed="rId7" cstate="print"/>
          <a:stretch>
            <a:fillRect/>
          </a:stretch>
        </p:blipFill>
        <p:spPr>
          <a:xfrm>
            <a:off x="362547" y="4648200"/>
            <a:ext cx="2132838" cy="201168"/>
          </a:xfrm>
          <a:prstGeom prst="rect">
            <a:avLst/>
          </a:prstGeom>
        </p:spPr>
      </p:pic>
      <p:pic>
        <p:nvPicPr>
          <p:cNvPr id="466" name="object 232"/>
          <p:cNvPicPr/>
          <p:nvPr/>
        </p:nvPicPr>
        <p:blipFill>
          <a:blip r:embed="rId8" cstate="print"/>
          <a:stretch>
            <a:fillRect/>
          </a:stretch>
        </p:blipFill>
        <p:spPr>
          <a:xfrm>
            <a:off x="362547" y="5029200"/>
            <a:ext cx="3062478" cy="207263"/>
          </a:xfrm>
          <a:prstGeom prst="rect">
            <a:avLst/>
          </a:prstGeom>
        </p:spPr>
      </p:pic>
      <p:pic>
        <p:nvPicPr>
          <p:cNvPr id="467" name="object 233"/>
          <p:cNvPicPr/>
          <p:nvPr/>
        </p:nvPicPr>
        <p:blipFill>
          <a:blip r:embed="rId9" cstate="print"/>
          <a:stretch>
            <a:fillRect/>
          </a:stretch>
        </p:blipFill>
        <p:spPr>
          <a:xfrm>
            <a:off x="328877" y="5486400"/>
            <a:ext cx="3062478" cy="207264"/>
          </a:xfrm>
          <a:prstGeom prst="rect">
            <a:avLst/>
          </a:prstGeom>
        </p:spPr>
      </p:pic>
    </p:spTree>
    <p:extLst>
      <p:ext uri="{BB962C8B-B14F-4D97-AF65-F5344CB8AC3E}">
        <p14:creationId xmlns:p14="http://schemas.microsoft.com/office/powerpoint/2010/main" val="31398209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rmAutofit/>
          </a:bodyPr>
          <a:lstStyle/>
          <a:p>
            <a:r>
              <a:rPr lang="en-GB" sz="4400" dirty="0">
                <a:solidFill>
                  <a:schemeClr val="accent1">
                    <a:lumMod val="75000"/>
                  </a:schemeClr>
                </a:solidFill>
                <a:uFill>
                  <a:solidFill>
                    <a:srgbClr val="006FC0"/>
                  </a:solidFill>
                </a:uFill>
                <a:latin typeface="+mn-lt"/>
                <a:cs typeface="Calibri"/>
              </a:rPr>
              <a:t>Number</a:t>
            </a:r>
            <a:r>
              <a:rPr lang="en-GB" sz="4400" spc="-55" dirty="0">
                <a:solidFill>
                  <a:schemeClr val="accent1">
                    <a:lumMod val="75000"/>
                  </a:schemeClr>
                </a:solidFill>
                <a:uFill>
                  <a:solidFill>
                    <a:srgbClr val="006FC0"/>
                  </a:solidFill>
                </a:uFill>
                <a:latin typeface="+mn-lt"/>
                <a:cs typeface="Calibri"/>
              </a:rPr>
              <a:t> </a:t>
            </a:r>
            <a:r>
              <a:rPr lang="en-GB" sz="4400" dirty="0">
                <a:solidFill>
                  <a:schemeClr val="accent1">
                    <a:lumMod val="75000"/>
                  </a:schemeClr>
                </a:solidFill>
                <a:uFill>
                  <a:solidFill>
                    <a:srgbClr val="006FC0"/>
                  </a:solidFill>
                </a:uFill>
                <a:latin typeface="+mn-lt"/>
                <a:cs typeface="Calibri"/>
              </a:rPr>
              <a:t>of</a:t>
            </a:r>
            <a:r>
              <a:rPr lang="en-GB" sz="4400" spc="-35" dirty="0">
                <a:solidFill>
                  <a:schemeClr val="accent1">
                    <a:lumMod val="75000"/>
                  </a:schemeClr>
                </a:solidFill>
                <a:uFill>
                  <a:solidFill>
                    <a:srgbClr val="006FC0"/>
                  </a:solidFill>
                </a:uFill>
                <a:latin typeface="+mn-lt"/>
                <a:cs typeface="Calibri"/>
              </a:rPr>
              <a:t> </a:t>
            </a:r>
            <a:r>
              <a:rPr lang="en-GB" sz="4400" spc="-15" dirty="0">
                <a:solidFill>
                  <a:schemeClr val="accent1">
                    <a:lumMod val="75000"/>
                  </a:schemeClr>
                </a:solidFill>
                <a:uFill>
                  <a:solidFill>
                    <a:srgbClr val="006FC0"/>
                  </a:solidFill>
                </a:uFill>
                <a:latin typeface="+mn-lt"/>
                <a:cs typeface="Calibri"/>
              </a:rPr>
              <a:t>Clusters</a:t>
            </a:r>
            <a:endParaRPr lang="en-GB" sz="4400" dirty="0">
              <a:solidFill>
                <a:schemeClr val="accent1">
                  <a:lumMod val="75000"/>
                </a:schemeClr>
              </a:solidFill>
              <a:latin typeface="+mn-lt"/>
            </a:endParaRPr>
          </a:p>
        </p:txBody>
      </p:sp>
      <p:pic>
        <p:nvPicPr>
          <p:cNvPr id="6" name="object 4"/>
          <p:cNvPicPr/>
          <p:nvPr/>
        </p:nvPicPr>
        <p:blipFill>
          <a:blip r:embed="rId2" cstate="print"/>
          <a:stretch>
            <a:fillRect/>
          </a:stretch>
        </p:blipFill>
        <p:spPr>
          <a:xfrm>
            <a:off x="152400" y="1676400"/>
            <a:ext cx="7486650" cy="435863"/>
          </a:xfrm>
          <a:prstGeom prst="rect">
            <a:avLst/>
          </a:prstGeom>
        </p:spPr>
      </p:pic>
      <p:pic>
        <p:nvPicPr>
          <p:cNvPr id="7" name="object 5"/>
          <p:cNvPicPr/>
          <p:nvPr/>
        </p:nvPicPr>
        <p:blipFill>
          <a:blip r:embed="rId3" cstate="print"/>
          <a:stretch>
            <a:fillRect/>
          </a:stretch>
        </p:blipFill>
        <p:spPr>
          <a:xfrm>
            <a:off x="152400" y="2286000"/>
            <a:ext cx="7495032" cy="477012"/>
          </a:xfrm>
          <a:prstGeom prst="rect">
            <a:avLst/>
          </a:prstGeom>
        </p:spPr>
      </p:pic>
      <p:pic>
        <p:nvPicPr>
          <p:cNvPr id="8" name="object 6"/>
          <p:cNvPicPr/>
          <p:nvPr/>
        </p:nvPicPr>
        <p:blipFill>
          <a:blip r:embed="rId4" cstate="print"/>
          <a:stretch>
            <a:fillRect/>
          </a:stretch>
        </p:blipFill>
        <p:spPr>
          <a:xfrm>
            <a:off x="281940" y="2971800"/>
            <a:ext cx="2795016" cy="621029"/>
          </a:xfrm>
          <a:prstGeom prst="rect">
            <a:avLst/>
          </a:prstGeom>
        </p:spPr>
      </p:pic>
      <p:pic>
        <p:nvPicPr>
          <p:cNvPr id="9" name="object 7"/>
          <p:cNvPicPr/>
          <p:nvPr/>
        </p:nvPicPr>
        <p:blipFill>
          <a:blip r:embed="rId5" cstate="print"/>
          <a:stretch>
            <a:fillRect/>
          </a:stretch>
        </p:blipFill>
        <p:spPr>
          <a:xfrm>
            <a:off x="281940" y="3861053"/>
            <a:ext cx="4985004" cy="480059"/>
          </a:xfrm>
          <a:prstGeom prst="rect">
            <a:avLst/>
          </a:prstGeom>
        </p:spPr>
      </p:pic>
      <p:grpSp>
        <p:nvGrpSpPr>
          <p:cNvPr id="10" name="object 8"/>
          <p:cNvGrpSpPr/>
          <p:nvPr/>
        </p:nvGrpSpPr>
        <p:grpSpPr>
          <a:xfrm>
            <a:off x="6376388" y="2532722"/>
            <a:ext cx="2525323" cy="2396601"/>
            <a:chOff x="7224815" y="3220973"/>
            <a:chExt cx="4683125" cy="3061970"/>
          </a:xfrm>
        </p:grpSpPr>
        <p:pic>
          <p:nvPicPr>
            <p:cNvPr id="11" name="object 9"/>
            <p:cNvPicPr/>
            <p:nvPr/>
          </p:nvPicPr>
          <p:blipFill>
            <a:blip r:embed="rId6" cstate="print"/>
            <a:stretch>
              <a:fillRect/>
            </a:stretch>
          </p:blipFill>
          <p:spPr>
            <a:xfrm>
              <a:off x="7224815" y="3220973"/>
              <a:ext cx="4682869" cy="3061639"/>
            </a:xfrm>
            <a:prstGeom prst="rect">
              <a:avLst/>
            </a:prstGeom>
          </p:spPr>
        </p:pic>
        <p:sp>
          <p:nvSpPr>
            <p:cNvPr id="12" name="object 10"/>
            <p:cNvSpPr/>
            <p:nvPr/>
          </p:nvSpPr>
          <p:spPr>
            <a:xfrm>
              <a:off x="8764086" y="5473849"/>
              <a:ext cx="720090" cy="531495"/>
            </a:xfrm>
            <a:custGeom>
              <a:avLst/>
              <a:gdLst/>
              <a:ahLst/>
              <a:cxnLst/>
              <a:rect l="l" t="t" r="r" b="b"/>
              <a:pathLst>
                <a:path w="720090" h="531495">
                  <a:moveTo>
                    <a:pt x="12375" y="118061"/>
                  </a:moveTo>
                  <a:lnTo>
                    <a:pt x="54198" y="60506"/>
                  </a:lnTo>
                  <a:lnTo>
                    <a:pt x="119491" y="21558"/>
                  </a:lnTo>
                  <a:lnTo>
                    <a:pt x="159228" y="9344"/>
                  </a:lnTo>
                  <a:lnTo>
                    <a:pt x="202781" y="2120"/>
                  </a:lnTo>
                  <a:lnTo>
                    <a:pt x="249465" y="0"/>
                  </a:lnTo>
                  <a:lnTo>
                    <a:pt x="298595" y="3095"/>
                  </a:lnTo>
                  <a:lnTo>
                    <a:pt x="349489" y="11520"/>
                  </a:lnTo>
                  <a:lnTo>
                    <a:pt x="401461" y="25386"/>
                  </a:lnTo>
                  <a:lnTo>
                    <a:pt x="453827" y="44808"/>
                  </a:lnTo>
                  <a:lnTo>
                    <a:pt x="504189" y="69035"/>
                  </a:lnTo>
                  <a:lnTo>
                    <a:pt x="550273" y="96829"/>
                  </a:lnTo>
                  <a:lnTo>
                    <a:pt x="591685" y="127620"/>
                  </a:lnTo>
                  <a:lnTo>
                    <a:pt x="628034" y="160838"/>
                  </a:lnTo>
                  <a:lnTo>
                    <a:pt x="658926" y="195912"/>
                  </a:lnTo>
                  <a:lnTo>
                    <a:pt x="683969" y="232273"/>
                  </a:lnTo>
                  <a:lnTo>
                    <a:pt x="702770" y="269350"/>
                  </a:lnTo>
                  <a:lnTo>
                    <a:pt x="714937" y="306574"/>
                  </a:lnTo>
                  <a:lnTo>
                    <a:pt x="720076" y="343375"/>
                  </a:lnTo>
                  <a:lnTo>
                    <a:pt x="717794" y="379182"/>
                  </a:lnTo>
                  <a:lnTo>
                    <a:pt x="690065" y="444466"/>
                  </a:lnTo>
                  <a:lnTo>
                    <a:pt x="635822" y="492822"/>
                  </a:lnTo>
                  <a:lnTo>
                    <a:pt x="600584" y="509911"/>
                  </a:lnTo>
                  <a:lnTo>
                    <a:pt x="560847" y="522123"/>
                  </a:lnTo>
                  <a:lnTo>
                    <a:pt x="517294" y="529345"/>
                  </a:lnTo>
                  <a:lnTo>
                    <a:pt x="470610" y="531462"/>
                  </a:lnTo>
                  <a:lnTo>
                    <a:pt x="421480" y="528362"/>
                  </a:lnTo>
                  <a:lnTo>
                    <a:pt x="370586" y="519932"/>
                  </a:lnTo>
                  <a:lnTo>
                    <a:pt x="318614" y="506059"/>
                  </a:lnTo>
                  <a:lnTo>
                    <a:pt x="266248" y="486628"/>
                  </a:lnTo>
                  <a:lnTo>
                    <a:pt x="215886" y="462411"/>
                  </a:lnTo>
                  <a:lnTo>
                    <a:pt x="169803" y="434625"/>
                  </a:lnTo>
                  <a:lnTo>
                    <a:pt x="128390" y="403842"/>
                  </a:lnTo>
                  <a:lnTo>
                    <a:pt x="92041" y="370630"/>
                  </a:lnTo>
                  <a:lnTo>
                    <a:pt x="61149" y="335561"/>
                  </a:lnTo>
                  <a:lnTo>
                    <a:pt x="36106" y="299205"/>
                  </a:lnTo>
                  <a:lnTo>
                    <a:pt x="17305" y="262131"/>
                  </a:lnTo>
                  <a:lnTo>
                    <a:pt x="5138" y="224909"/>
                  </a:lnTo>
                  <a:lnTo>
                    <a:pt x="0" y="188111"/>
                  </a:lnTo>
                  <a:lnTo>
                    <a:pt x="2281" y="152305"/>
                  </a:lnTo>
                  <a:lnTo>
                    <a:pt x="12375" y="118061"/>
                  </a:lnTo>
                  <a:close/>
                </a:path>
              </a:pathLst>
            </a:custGeom>
            <a:ln w="57149">
              <a:solidFill>
                <a:srgbClr val="00AF50"/>
              </a:solidFill>
            </a:ln>
          </p:spPr>
          <p:txBody>
            <a:bodyPr wrap="square" lIns="0" tIns="0" rIns="0" bIns="0" rtlCol="0"/>
            <a:lstStyle/>
            <a:p>
              <a:endParaRPr/>
            </a:p>
          </p:txBody>
        </p:sp>
      </p:grpSp>
      <p:pic>
        <p:nvPicPr>
          <p:cNvPr id="15" name="object 13"/>
          <p:cNvPicPr/>
          <p:nvPr/>
        </p:nvPicPr>
        <p:blipFill>
          <a:blip r:embed="rId7" cstate="print"/>
          <a:stretch>
            <a:fillRect/>
          </a:stretch>
        </p:blipFill>
        <p:spPr>
          <a:xfrm>
            <a:off x="294345" y="4593734"/>
            <a:ext cx="5940552" cy="206501"/>
          </a:xfrm>
          <a:prstGeom prst="rect">
            <a:avLst/>
          </a:prstGeom>
        </p:spPr>
      </p:pic>
      <p:pic>
        <p:nvPicPr>
          <p:cNvPr id="16" name="object 14"/>
          <p:cNvPicPr/>
          <p:nvPr/>
        </p:nvPicPr>
        <p:blipFill>
          <a:blip r:embed="rId8" cstate="print"/>
          <a:stretch>
            <a:fillRect/>
          </a:stretch>
        </p:blipFill>
        <p:spPr>
          <a:xfrm>
            <a:off x="275081" y="5899617"/>
            <a:ext cx="5600700" cy="480059"/>
          </a:xfrm>
          <a:prstGeom prst="rect">
            <a:avLst/>
          </a:prstGeom>
        </p:spPr>
      </p:pic>
      <p:pic>
        <p:nvPicPr>
          <p:cNvPr id="17" name="object 15"/>
          <p:cNvPicPr/>
          <p:nvPr/>
        </p:nvPicPr>
        <p:blipFill>
          <a:blip r:embed="rId9" cstate="print"/>
          <a:stretch>
            <a:fillRect/>
          </a:stretch>
        </p:blipFill>
        <p:spPr>
          <a:xfrm>
            <a:off x="281940" y="5140792"/>
            <a:ext cx="6326886" cy="502157"/>
          </a:xfrm>
          <a:prstGeom prst="rect">
            <a:avLst/>
          </a:prstGeom>
        </p:spPr>
      </p:pic>
    </p:spTree>
    <p:extLst>
      <p:ext uri="{BB962C8B-B14F-4D97-AF65-F5344CB8AC3E}">
        <p14:creationId xmlns:p14="http://schemas.microsoft.com/office/powerpoint/2010/main" val="13278506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3893" y="701933"/>
            <a:ext cx="7654837" cy="689192"/>
          </a:xfrm>
          <a:prstGeom prst="rect">
            <a:avLst/>
          </a:prstGeom>
        </p:spPr>
        <p:txBody>
          <a:bodyPr vert="horz" wrap="square" lIns="0" tIns="11967" rIns="0" bIns="0" rtlCol="0">
            <a:spAutoFit/>
          </a:bodyPr>
          <a:lstStyle/>
          <a:p>
            <a:pPr marL="11397">
              <a:spcBef>
                <a:spcPts val="94"/>
              </a:spcBef>
            </a:pPr>
            <a:r>
              <a:rPr sz="4400" spc="-22" dirty="0">
                <a:latin typeface="+mn-lt"/>
              </a:rPr>
              <a:t>Limitations</a:t>
            </a:r>
            <a:r>
              <a:rPr sz="4400" spc="-31" dirty="0">
                <a:latin typeface="+mn-lt"/>
              </a:rPr>
              <a:t> </a:t>
            </a:r>
            <a:r>
              <a:rPr sz="4400" spc="-9" dirty="0">
                <a:latin typeface="+mn-lt"/>
              </a:rPr>
              <a:t>of</a:t>
            </a:r>
            <a:r>
              <a:rPr sz="4400" spc="-36" dirty="0">
                <a:latin typeface="+mn-lt"/>
              </a:rPr>
              <a:t> </a:t>
            </a:r>
            <a:r>
              <a:rPr lang="en-GB" sz="4400" spc="-36" dirty="0">
                <a:latin typeface="+mn-lt"/>
              </a:rPr>
              <a:t>K</a:t>
            </a:r>
            <a:r>
              <a:rPr sz="4400" spc="-36" dirty="0">
                <a:latin typeface="+mn-lt"/>
              </a:rPr>
              <a:t>-means</a:t>
            </a:r>
          </a:p>
        </p:txBody>
      </p:sp>
      <p:sp>
        <p:nvSpPr>
          <p:cNvPr id="3" name="object 3"/>
          <p:cNvSpPr txBox="1"/>
          <p:nvPr/>
        </p:nvSpPr>
        <p:spPr>
          <a:xfrm>
            <a:off x="1755978" y="2525854"/>
            <a:ext cx="84282" cy="198344"/>
          </a:xfrm>
          <a:prstGeom prst="rect">
            <a:avLst/>
          </a:prstGeom>
        </p:spPr>
        <p:txBody>
          <a:bodyPr vert="horz" wrap="square" lIns="0" tIns="11967" rIns="0" bIns="0" rtlCol="0">
            <a:spAutoFit/>
          </a:bodyPr>
          <a:lstStyle/>
          <a:p>
            <a:pPr marL="11397">
              <a:spcBef>
                <a:spcPts val="94"/>
              </a:spcBef>
            </a:pPr>
            <a:r>
              <a:rPr sz="1200" i="1" spc="202" dirty="0">
                <a:cs typeface="Calibri"/>
              </a:rPr>
              <a:t>i</a:t>
            </a:r>
            <a:endParaRPr sz="1200">
              <a:cs typeface="Calibri"/>
            </a:endParaRPr>
          </a:p>
        </p:txBody>
      </p:sp>
      <p:sp>
        <p:nvSpPr>
          <p:cNvPr id="4" name="object 4"/>
          <p:cNvSpPr txBox="1"/>
          <p:nvPr/>
        </p:nvSpPr>
        <p:spPr>
          <a:xfrm>
            <a:off x="2639184" y="2626092"/>
            <a:ext cx="94672" cy="198344"/>
          </a:xfrm>
          <a:prstGeom prst="rect">
            <a:avLst/>
          </a:prstGeom>
        </p:spPr>
        <p:txBody>
          <a:bodyPr vert="horz" wrap="square" lIns="0" tIns="11967" rIns="0" bIns="0" rtlCol="0">
            <a:spAutoFit/>
          </a:bodyPr>
          <a:lstStyle/>
          <a:p>
            <a:pPr marL="11397">
              <a:spcBef>
                <a:spcPts val="94"/>
              </a:spcBef>
            </a:pPr>
            <a:r>
              <a:rPr sz="1200" i="1" spc="269" dirty="0">
                <a:cs typeface="Calibri"/>
              </a:rPr>
              <a:t>j</a:t>
            </a:r>
            <a:endParaRPr sz="1200">
              <a:cs typeface="Calibri"/>
            </a:endParaRPr>
          </a:p>
        </p:txBody>
      </p:sp>
      <p:sp>
        <p:nvSpPr>
          <p:cNvPr id="5" name="object 5"/>
          <p:cNvSpPr txBox="1"/>
          <p:nvPr/>
        </p:nvSpPr>
        <p:spPr>
          <a:xfrm>
            <a:off x="3143063" y="2525854"/>
            <a:ext cx="94672" cy="198344"/>
          </a:xfrm>
          <a:prstGeom prst="rect">
            <a:avLst/>
          </a:prstGeom>
        </p:spPr>
        <p:txBody>
          <a:bodyPr vert="horz" wrap="square" lIns="0" tIns="11967" rIns="0" bIns="0" rtlCol="0">
            <a:spAutoFit/>
          </a:bodyPr>
          <a:lstStyle/>
          <a:p>
            <a:pPr marL="11397">
              <a:spcBef>
                <a:spcPts val="94"/>
              </a:spcBef>
            </a:pPr>
            <a:r>
              <a:rPr sz="1200" i="1" spc="269" dirty="0">
                <a:cs typeface="Calibri"/>
              </a:rPr>
              <a:t>j</a:t>
            </a:r>
            <a:endParaRPr sz="1200">
              <a:cs typeface="Calibri"/>
            </a:endParaRPr>
          </a:p>
        </p:txBody>
      </p:sp>
      <p:sp>
        <p:nvSpPr>
          <p:cNvPr id="6" name="object 6"/>
          <p:cNvSpPr txBox="1"/>
          <p:nvPr/>
        </p:nvSpPr>
        <p:spPr>
          <a:xfrm>
            <a:off x="3626873" y="2525854"/>
            <a:ext cx="84282" cy="198344"/>
          </a:xfrm>
          <a:prstGeom prst="rect">
            <a:avLst/>
          </a:prstGeom>
        </p:spPr>
        <p:txBody>
          <a:bodyPr vert="horz" wrap="square" lIns="0" tIns="11967" rIns="0" bIns="0" rtlCol="0">
            <a:spAutoFit/>
          </a:bodyPr>
          <a:lstStyle/>
          <a:p>
            <a:pPr marL="11397">
              <a:spcBef>
                <a:spcPts val="94"/>
              </a:spcBef>
            </a:pPr>
            <a:r>
              <a:rPr sz="1200" i="1" spc="202" dirty="0">
                <a:cs typeface="Calibri"/>
              </a:rPr>
              <a:t>i</a:t>
            </a:r>
            <a:endParaRPr sz="1200">
              <a:cs typeface="Calibri"/>
            </a:endParaRPr>
          </a:p>
        </p:txBody>
      </p:sp>
      <p:sp>
        <p:nvSpPr>
          <p:cNvPr id="7" name="object 7"/>
          <p:cNvSpPr txBox="1"/>
          <p:nvPr/>
        </p:nvSpPr>
        <p:spPr>
          <a:xfrm>
            <a:off x="1656005" y="2431830"/>
            <a:ext cx="2184977" cy="273424"/>
          </a:xfrm>
          <a:prstGeom prst="rect">
            <a:avLst/>
          </a:prstGeom>
        </p:spPr>
        <p:txBody>
          <a:bodyPr vert="horz" wrap="square" lIns="0" tIns="13107" rIns="0" bIns="0" rtlCol="0">
            <a:spAutoFit/>
          </a:bodyPr>
          <a:lstStyle/>
          <a:p>
            <a:pPr marL="11397">
              <a:spcBef>
                <a:spcPts val="103"/>
              </a:spcBef>
              <a:tabLst>
                <a:tab pos="239337" algn="l"/>
                <a:tab pos="1615522" algn="l"/>
              </a:tabLst>
            </a:pPr>
            <a:r>
              <a:rPr sz="1700" i="1" spc="-13" dirty="0">
                <a:cs typeface="Trebuchet MS"/>
              </a:rPr>
              <a:t>z	</a:t>
            </a:r>
            <a:r>
              <a:rPr sz="1700" i="1" spc="9" dirty="0">
                <a:cs typeface="Times New Roman"/>
              </a:rPr>
              <a:t>←</a:t>
            </a:r>
            <a:r>
              <a:rPr sz="1700" i="1" spc="45" dirty="0">
                <a:cs typeface="Times New Roman"/>
              </a:rPr>
              <a:t> </a:t>
            </a:r>
            <a:r>
              <a:rPr sz="1700" spc="54" dirty="0">
                <a:cs typeface="Calibri"/>
              </a:rPr>
              <a:t>arg</a:t>
            </a:r>
            <a:r>
              <a:rPr sz="1700" spc="-76" dirty="0">
                <a:cs typeface="Calibri"/>
              </a:rPr>
              <a:t> </a:t>
            </a:r>
            <a:r>
              <a:rPr sz="1700" spc="63" dirty="0">
                <a:cs typeface="Calibri"/>
              </a:rPr>
              <a:t>m</a:t>
            </a:r>
            <a:r>
              <a:rPr sz="1700" spc="81" dirty="0">
                <a:cs typeface="Calibri"/>
              </a:rPr>
              <a:t>i</a:t>
            </a:r>
            <a:r>
              <a:rPr sz="1700" spc="54" dirty="0">
                <a:cs typeface="Calibri"/>
              </a:rPr>
              <a:t>n</a:t>
            </a:r>
            <a:r>
              <a:rPr sz="1700" spc="-99" dirty="0">
                <a:cs typeface="Calibri"/>
              </a:rPr>
              <a:t> </a:t>
            </a:r>
            <a:r>
              <a:rPr sz="1700" i="1" spc="4" dirty="0">
                <a:cs typeface="Times New Roman"/>
              </a:rPr>
              <a:t>||</a:t>
            </a:r>
            <a:r>
              <a:rPr sz="1700" i="1" spc="81" dirty="0">
                <a:cs typeface="Trebuchet MS"/>
              </a:rPr>
              <a:t>µ</a:t>
            </a:r>
            <a:r>
              <a:rPr sz="1700" i="1" dirty="0">
                <a:cs typeface="Trebuchet MS"/>
              </a:rPr>
              <a:t>	</a:t>
            </a:r>
            <a:r>
              <a:rPr sz="1700" i="1" spc="-179" dirty="0">
                <a:cs typeface="Times New Roman"/>
              </a:rPr>
              <a:t>—</a:t>
            </a:r>
            <a:r>
              <a:rPr sz="1700" i="1" spc="-45" dirty="0">
                <a:cs typeface="Times New Roman"/>
              </a:rPr>
              <a:t> </a:t>
            </a:r>
            <a:r>
              <a:rPr sz="1700" b="1" spc="9" dirty="0">
                <a:cs typeface="Tahoma"/>
              </a:rPr>
              <a:t>x</a:t>
            </a:r>
            <a:r>
              <a:rPr sz="1700" b="1" spc="67" dirty="0">
                <a:cs typeface="Tahoma"/>
              </a:rPr>
              <a:t> </a:t>
            </a:r>
            <a:r>
              <a:rPr sz="1700" i="1" spc="4" dirty="0">
                <a:cs typeface="Times New Roman"/>
              </a:rPr>
              <a:t>||</a:t>
            </a:r>
            <a:endParaRPr sz="1700">
              <a:cs typeface="Times New Roman"/>
            </a:endParaRPr>
          </a:p>
        </p:txBody>
      </p:sp>
      <p:sp>
        <p:nvSpPr>
          <p:cNvPr id="8" name="object 8"/>
          <p:cNvSpPr txBox="1"/>
          <p:nvPr/>
        </p:nvSpPr>
        <p:spPr>
          <a:xfrm>
            <a:off x="957195" y="2114000"/>
            <a:ext cx="3700895" cy="745337"/>
          </a:xfrm>
          <a:prstGeom prst="rect">
            <a:avLst/>
          </a:prstGeom>
        </p:spPr>
        <p:txBody>
          <a:bodyPr vert="horz" wrap="square" lIns="0" tIns="42169" rIns="0" bIns="0" rtlCol="0">
            <a:spAutoFit/>
          </a:bodyPr>
          <a:lstStyle/>
          <a:p>
            <a:pPr marL="11397">
              <a:spcBef>
                <a:spcPts val="332"/>
              </a:spcBef>
            </a:pPr>
            <a:r>
              <a:rPr sz="1600" spc="-9" dirty="0">
                <a:solidFill>
                  <a:srgbClr val="118CC4"/>
                </a:solidFill>
                <a:cs typeface="Calibri"/>
              </a:rPr>
              <a:t>Assign</a:t>
            </a:r>
            <a:r>
              <a:rPr sz="1600" spc="-27" dirty="0">
                <a:solidFill>
                  <a:srgbClr val="118CC4"/>
                </a:solidFill>
                <a:cs typeface="Calibri"/>
              </a:rPr>
              <a:t> </a:t>
            </a:r>
            <a:r>
              <a:rPr sz="1600" spc="-13" dirty="0">
                <a:solidFill>
                  <a:srgbClr val="118CC4"/>
                </a:solidFill>
                <a:cs typeface="Calibri"/>
              </a:rPr>
              <a:t>observations</a:t>
            </a:r>
            <a:r>
              <a:rPr sz="1600" spc="-22" dirty="0">
                <a:solidFill>
                  <a:srgbClr val="118CC4"/>
                </a:solidFill>
                <a:cs typeface="Calibri"/>
              </a:rPr>
              <a:t> </a:t>
            </a:r>
            <a:r>
              <a:rPr sz="1600" spc="-13" dirty="0">
                <a:solidFill>
                  <a:srgbClr val="118CC4"/>
                </a:solidFill>
                <a:cs typeface="Calibri"/>
              </a:rPr>
              <a:t>to</a:t>
            </a:r>
            <a:r>
              <a:rPr sz="1600" spc="-22" dirty="0">
                <a:solidFill>
                  <a:srgbClr val="118CC4"/>
                </a:solidFill>
                <a:cs typeface="Calibri"/>
              </a:rPr>
              <a:t> </a:t>
            </a:r>
            <a:r>
              <a:rPr sz="1600" spc="-13" dirty="0">
                <a:solidFill>
                  <a:srgbClr val="118CC4"/>
                </a:solidFill>
                <a:cs typeface="Calibri"/>
              </a:rPr>
              <a:t>closest</a:t>
            </a:r>
            <a:r>
              <a:rPr sz="1600" spc="-22" dirty="0">
                <a:solidFill>
                  <a:srgbClr val="118CC4"/>
                </a:solidFill>
                <a:cs typeface="Calibri"/>
              </a:rPr>
              <a:t> </a:t>
            </a:r>
            <a:r>
              <a:rPr sz="1600" spc="-13" dirty="0">
                <a:solidFill>
                  <a:srgbClr val="118CC4"/>
                </a:solidFill>
                <a:cs typeface="Calibri"/>
              </a:rPr>
              <a:t>cluster</a:t>
            </a:r>
            <a:r>
              <a:rPr sz="1600" spc="-18" dirty="0">
                <a:solidFill>
                  <a:srgbClr val="118CC4"/>
                </a:solidFill>
                <a:cs typeface="Calibri"/>
              </a:rPr>
              <a:t> </a:t>
            </a:r>
            <a:r>
              <a:rPr sz="1600" spc="-13" dirty="0">
                <a:solidFill>
                  <a:srgbClr val="118CC4"/>
                </a:solidFill>
                <a:cs typeface="Calibri"/>
              </a:rPr>
              <a:t>center</a:t>
            </a:r>
            <a:endParaRPr sz="1600">
              <a:cs typeface="Calibri"/>
            </a:endParaRPr>
          </a:p>
          <a:p>
            <a:pPr marR="725988" algn="r">
              <a:spcBef>
                <a:spcPts val="179"/>
              </a:spcBef>
            </a:pPr>
            <a:r>
              <a:rPr sz="1200" spc="49" dirty="0">
                <a:cs typeface="Trebuchet MS"/>
              </a:rPr>
              <a:t>2</a:t>
            </a:r>
            <a:endParaRPr sz="1200">
              <a:cs typeface="Trebuchet MS"/>
            </a:endParaRPr>
          </a:p>
        </p:txBody>
      </p:sp>
      <p:sp>
        <p:nvSpPr>
          <p:cNvPr id="9" name="object 9"/>
          <p:cNvSpPr txBox="1"/>
          <p:nvPr/>
        </p:nvSpPr>
        <p:spPr>
          <a:xfrm>
            <a:off x="3817863" y="2546154"/>
            <a:ext cx="109104" cy="198344"/>
          </a:xfrm>
          <a:prstGeom prst="rect">
            <a:avLst/>
          </a:prstGeom>
        </p:spPr>
        <p:txBody>
          <a:bodyPr vert="horz" wrap="square" lIns="0" tIns="11967" rIns="0" bIns="0" rtlCol="0">
            <a:spAutoFit/>
          </a:bodyPr>
          <a:lstStyle/>
          <a:p>
            <a:pPr marL="11397">
              <a:spcBef>
                <a:spcPts val="94"/>
              </a:spcBef>
            </a:pPr>
            <a:r>
              <a:rPr sz="1200" spc="49" dirty="0">
                <a:cs typeface="Trebuchet MS"/>
              </a:rPr>
              <a:t>2</a:t>
            </a:r>
            <a:endParaRPr sz="1200">
              <a:cs typeface="Trebuchet MS"/>
            </a:endParaRPr>
          </a:p>
        </p:txBody>
      </p:sp>
      <p:grpSp>
        <p:nvGrpSpPr>
          <p:cNvPr id="10" name="object 10"/>
          <p:cNvGrpSpPr/>
          <p:nvPr/>
        </p:nvGrpSpPr>
        <p:grpSpPr>
          <a:xfrm>
            <a:off x="3293687" y="2677309"/>
            <a:ext cx="293832" cy="341779"/>
            <a:chOff x="3623055" y="3034283"/>
            <a:chExt cx="323215" cy="387350"/>
          </a:xfrm>
        </p:grpSpPr>
        <p:pic>
          <p:nvPicPr>
            <p:cNvPr id="11" name="object 11"/>
            <p:cNvPicPr/>
            <p:nvPr/>
          </p:nvPicPr>
          <p:blipFill>
            <a:blip r:embed="rId2" cstate="print"/>
            <a:stretch>
              <a:fillRect/>
            </a:stretch>
          </p:blipFill>
          <p:spPr>
            <a:xfrm>
              <a:off x="3623055" y="3034283"/>
              <a:ext cx="323088" cy="387096"/>
            </a:xfrm>
            <a:prstGeom prst="rect">
              <a:avLst/>
            </a:prstGeom>
          </p:spPr>
        </p:pic>
        <p:pic>
          <p:nvPicPr>
            <p:cNvPr id="12" name="object 12"/>
            <p:cNvPicPr/>
            <p:nvPr/>
          </p:nvPicPr>
          <p:blipFill>
            <a:blip r:embed="rId3" cstate="print"/>
            <a:stretch>
              <a:fillRect/>
            </a:stretch>
          </p:blipFill>
          <p:spPr>
            <a:xfrm>
              <a:off x="3738749" y="3134771"/>
              <a:ext cx="177214" cy="241319"/>
            </a:xfrm>
            <a:prstGeom prst="rect">
              <a:avLst/>
            </a:prstGeom>
          </p:spPr>
        </p:pic>
      </p:grpSp>
      <p:sp>
        <p:nvSpPr>
          <p:cNvPr id="13" name="object 13"/>
          <p:cNvSpPr txBox="1"/>
          <p:nvPr/>
        </p:nvSpPr>
        <p:spPr>
          <a:xfrm>
            <a:off x="3577435" y="2938869"/>
            <a:ext cx="2007755" cy="604701"/>
          </a:xfrm>
          <a:prstGeom prst="rect">
            <a:avLst/>
          </a:prstGeom>
        </p:spPr>
        <p:txBody>
          <a:bodyPr vert="horz" wrap="square" lIns="0" tIns="27353" rIns="0" bIns="0" rtlCol="0">
            <a:spAutoFit/>
          </a:bodyPr>
          <a:lstStyle/>
          <a:p>
            <a:pPr marL="11397" marR="4559">
              <a:lnSpc>
                <a:spcPts val="1526"/>
              </a:lnSpc>
              <a:spcBef>
                <a:spcPts val="215"/>
              </a:spcBef>
            </a:pPr>
            <a:r>
              <a:rPr sz="1300" spc="-9" dirty="0">
                <a:cs typeface="Calibri"/>
              </a:rPr>
              <a:t>Can</a:t>
            </a:r>
            <a:r>
              <a:rPr sz="1300" spc="-27" dirty="0">
                <a:cs typeface="Calibri"/>
              </a:rPr>
              <a:t> </a:t>
            </a:r>
            <a:r>
              <a:rPr sz="1300" spc="-4" dirty="0">
                <a:cs typeface="Calibri"/>
              </a:rPr>
              <a:t>use</a:t>
            </a:r>
            <a:r>
              <a:rPr sz="1300" spc="-27" dirty="0">
                <a:cs typeface="Calibri"/>
              </a:rPr>
              <a:t> </a:t>
            </a:r>
            <a:r>
              <a:rPr sz="1300" spc="-13" dirty="0">
                <a:cs typeface="Calibri"/>
              </a:rPr>
              <a:t>weighted</a:t>
            </a:r>
            <a:r>
              <a:rPr sz="1300" spc="-22" dirty="0">
                <a:cs typeface="Calibri"/>
              </a:rPr>
              <a:t> </a:t>
            </a:r>
            <a:r>
              <a:rPr sz="1300" spc="-9" dirty="0">
                <a:cs typeface="Calibri"/>
              </a:rPr>
              <a:t>Euclidean, </a:t>
            </a:r>
            <a:r>
              <a:rPr sz="1300" spc="-292" dirty="0">
                <a:cs typeface="Calibri"/>
              </a:rPr>
              <a:t> </a:t>
            </a:r>
            <a:r>
              <a:rPr sz="1300" spc="-9" dirty="0">
                <a:cs typeface="Calibri"/>
              </a:rPr>
              <a:t>but</a:t>
            </a:r>
            <a:r>
              <a:rPr sz="1300" spc="-13" dirty="0">
                <a:cs typeface="Calibri"/>
              </a:rPr>
              <a:t> requires </a:t>
            </a:r>
            <a:r>
              <a:rPr sz="1300" i="1" spc="-13" dirty="0">
                <a:solidFill>
                  <a:srgbClr val="B0007E"/>
                </a:solidFill>
                <a:cs typeface="Calibri"/>
              </a:rPr>
              <a:t>known</a:t>
            </a:r>
            <a:r>
              <a:rPr sz="1300" i="1" spc="-22" dirty="0">
                <a:solidFill>
                  <a:srgbClr val="B0007E"/>
                </a:solidFill>
                <a:cs typeface="Calibri"/>
              </a:rPr>
              <a:t> </a:t>
            </a:r>
            <a:r>
              <a:rPr sz="1300" spc="-13" dirty="0">
                <a:cs typeface="Calibri"/>
              </a:rPr>
              <a:t>weights</a:t>
            </a:r>
            <a:endParaRPr sz="1300">
              <a:cs typeface="Calibri"/>
            </a:endParaRPr>
          </a:p>
        </p:txBody>
      </p:sp>
      <p:sp>
        <p:nvSpPr>
          <p:cNvPr id="14" name="object 14"/>
          <p:cNvSpPr txBox="1"/>
          <p:nvPr/>
        </p:nvSpPr>
        <p:spPr>
          <a:xfrm>
            <a:off x="1222644" y="3939330"/>
            <a:ext cx="2107623" cy="604701"/>
          </a:xfrm>
          <a:prstGeom prst="rect">
            <a:avLst/>
          </a:prstGeom>
        </p:spPr>
        <p:txBody>
          <a:bodyPr vert="horz" wrap="square" lIns="0" tIns="27353" rIns="0" bIns="0" rtlCol="0">
            <a:spAutoFit/>
          </a:bodyPr>
          <a:lstStyle/>
          <a:p>
            <a:pPr marL="11397" marR="4559">
              <a:lnSpc>
                <a:spcPts val="1526"/>
              </a:lnSpc>
              <a:spcBef>
                <a:spcPts val="215"/>
              </a:spcBef>
            </a:pPr>
            <a:r>
              <a:rPr sz="1300" spc="-13" dirty="0">
                <a:cs typeface="Calibri"/>
              </a:rPr>
              <a:t>Equivalent </a:t>
            </a:r>
            <a:r>
              <a:rPr sz="1300" spc="-9" dirty="0">
                <a:cs typeface="Calibri"/>
              </a:rPr>
              <a:t>to assuming </a:t>
            </a:r>
            <a:r>
              <a:rPr sz="1300" spc="-4" dirty="0">
                <a:cs typeface="Calibri"/>
              </a:rPr>
              <a:t> </a:t>
            </a:r>
            <a:r>
              <a:rPr sz="1300" spc="-9" dirty="0">
                <a:solidFill>
                  <a:srgbClr val="B0007E"/>
                </a:solidFill>
                <a:cs typeface="Calibri"/>
              </a:rPr>
              <a:t>spherically</a:t>
            </a:r>
            <a:r>
              <a:rPr sz="1300" spc="-27" dirty="0">
                <a:solidFill>
                  <a:srgbClr val="B0007E"/>
                </a:solidFill>
                <a:cs typeface="Calibri"/>
              </a:rPr>
              <a:t> </a:t>
            </a:r>
            <a:r>
              <a:rPr sz="1300" spc="-13" dirty="0">
                <a:solidFill>
                  <a:srgbClr val="B0007E"/>
                </a:solidFill>
                <a:cs typeface="Calibri"/>
              </a:rPr>
              <a:t>symmetric </a:t>
            </a:r>
            <a:r>
              <a:rPr sz="1300" spc="-13" dirty="0">
                <a:cs typeface="Calibri"/>
              </a:rPr>
              <a:t>clusters</a:t>
            </a:r>
            <a:endParaRPr sz="1300">
              <a:cs typeface="Calibri"/>
            </a:endParaRPr>
          </a:p>
        </p:txBody>
      </p:sp>
      <p:sp>
        <p:nvSpPr>
          <p:cNvPr id="15" name="object 15"/>
          <p:cNvSpPr txBox="1"/>
          <p:nvPr/>
        </p:nvSpPr>
        <p:spPr>
          <a:xfrm>
            <a:off x="3928514" y="3549365"/>
            <a:ext cx="2080491" cy="415738"/>
          </a:xfrm>
          <a:prstGeom prst="rect">
            <a:avLst/>
          </a:prstGeom>
        </p:spPr>
        <p:txBody>
          <a:bodyPr vert="horz" wrap="square" lIns="0" tIns="27353" rIns="0" bIns="0" rtlCol="0">
            <a:spAutoFit/>
          </a:bodyPr>
          <a:lstStyle/>
          <a:p>
            <a:pPr marL="11397" marR="4559">
              <a:lnSpc>
                <a:spcPts val="1526"/>
              </a:lnSpc>
              <a:spcBef>
                <a:spcPts val="215"/>
              </a:spcBef>
            </a:pPr>
            <a:r>
              <a:rPr sz="1300" spc="-4" dirty="0">
                <a:cs typeface="Calibri"/>
              </a:rPr>
              <a:t>Still </a:t>
            </a:r>
            <a:r>
              <a:rPr sz="1300" spc="-9" dirty="0">
                <a:cs typeface="Calibri"/>
              </a:rPr>
              <a:t>assumes </a:t>
            </a:r>
            <a:r>
              <a:rPr sz="1300" spc="-4" dirty="0">
                <a:cs typeface="Calibri"/>
              </a:rPr>
              <a:t>all </a:t>
            </a:r>
            <a:r>
              <a:rPr sz="1300" spc="-13" dirty="0">
                <a:cs typeface="Calibri"/>
              </a:rPr>
              <a:t>clusters </a:t>
            </a:r>
            <a:r>
              <a:rPr sz="1300" spc="-18" dirty="0">
                <a:cs typeface="Calibri"/>
              </a:rPr>
              <a:t>have </a:t>
            </a:r>
            <a:r>
              <a:rPr sz="1300" spc="-292" dirty="0">
                <a:cs typeface="Calibri"/>
              </a:rPr>
              <a:t> </a:t>
            </a:r>
            <a:r>
              <a:rPr sz="1300" spc="-4" dirty="0">
                <a:cs typeface="Calibri"/>
              </a:rPr>
              <a:t>the</a:t>
            </a:r>
            <a:r>
              <a:rPr sz="1300" spc="-22" dirty="0">
                <a:cs typeface="Calibri"/>
              </a:rPr>
              <a:t> </a:t>
            </a:r>
            <a:r>
              <a:rPr sz="1300" spc="-9" dirty="0">
                <a:cs typeface="Calibri"/>
              </a:rPr>
              <a:t>same</a:t>
            </a:r>
            <a:r>
              <a:rPr sz="1300" spc="-22" dirty="0">
                <a:cs typeface="Calibri"/>
              </a:rPr>
              <a:t> </a:t>
            </a:r>
            <a:r>
              <a:rPr sz="1300" spc="-9" dirty="0">
                <a:cs typeface="Calibri"/>
              </a:rPr>
              <a:t>axis-aligned</a:t>
            </a:r>
            <a:r>
              <a:rPr sz="1300" spc="-27" dirty="0">
                <a:cs typeface="Calibri"/>
              </a:rPr>
              <a:t> </a:t>
            </a:r>
            <a:r>
              <a:rPr sz="1300" spc="-9" dirty="0">
                <a:cs typeface="Calibri"/>
              </a:rPr>
              <a:t>ellipses</a:t>
            </a:r>
            <a:endParaRPr sz="1300">
              <a:cs typeface="Calibri"/>
            </a:endParaRPr>
          </a:p>
        </p:txBody>
      </p:sp>
      <p:grpSp>
        <p:nvGrpSpPr>
          <p:cNvPr id="16" name="object 16"/>
          <p:cNvGrpSpPr/>
          <p:nvPr/>
        </p:nvGrpSpPr>
        <p:grpSpPr>
          <a:xfrm>
            <a:off x="2285076" y="2685377"/>
            <a:ext cx="884381" cy="753035"/>
            <a:chOff x="2513583" y="3043427"/>
            <a:chExt cx="972819" cy="853440"/>
          </a:xfrm>
        </p:grpSpPr>
        <p:pic>
          <p:nvPicPr>
            <p:cNvPr id="17" name="object 17"/>
            <p:cNvPicPr/>
            <p:nvPr/>
          </p:nvPicPr>
          <p:blipFill>
            <a:blip r:embed="rId4" cstate="print"/>
            <a:stretch>
              <a:fillRect/>
            </a:stretch>
          </p:blipFill>
          <p:spPr>
            <a:xfrm>
              <a:off x="2513583" y="3043427"/>
              <a:ext cx="972312" cy="853439"/>
            </a:xfrm>
            <a:prstGeom prst="rect">
              <a:avLst/>
            </a:prstGeom>
          </p:spPr>
        </p:pic>
        <p:sp>
          <p:nvSpPr>
            <p:cNvPr id="18" name="object 18"/>
            <p:cNvSpPr/>
            <p:nvPr/>
          </p:nvSpPr>
          <p:spPr>
            <a:xfrm>
              <a:off x="2545855" y="3144208"/>
              <a:ext cx="826135" cy="705485"/>
            </a:xfrm>
            <a:custGeom>
              <a:avLst/>
              <a:gdLst/>
              <a:ahLst/>
              <a:cxnLst/>
              <a:rect l="l" t="t" r="r" b="b"/>
              <a:pathLst>
                <a:path w="826135" h="705485">
                  <a:moveTo>
                    <a:pt x="797124" y="24253"/>
                  </a:moveTo>
                  <a:lnTo>
                    <a:pt x="778723" y="27544"/>
                  </a:lnTo>
                  <a:lnTo>
                    <a:pt x="0" y="690733"/>
                  </a:lnTo>
                  <a:lnTo>
                    <a:pt x="12205" y="705101"/>
                  </a:lnTo>
                  <a:lnTo>
                    <a:pt x="790927" y="41912"/>
                  </a:lnTo>
                  <a:lnTo>
                    <a:pt x="797124" y="24253"/>
                  </a:lnTo>
                  <a:close/>
                </a:path>
                <a:path w="826135" h="705485">
                  <a:moveTo>
                    <a:pt x="823869" y="4941"/>
                  </a:moveTo>
                  <a:lnTo>
                    <a:pt x="805263" y="4941"/>
                  </a:lnTo>
                  <a:lnTo>
                    <a:pt x="817468" y="19309"/>
                  </a:lnTo>
                  <a:lnTo>
                    <a:pt x="790927" y="41912"/>
                  </a:lnTo>
                  <a:lnTo>
                    <a:pt x="779063" y="75719"/>
                  </a:lnTo>
                  <a:lnTo>
                    <a:pt x="781645" y="81103"/>
                  </a:lnTo>
                  <a:lnTo>
                    <a:pt x="791460" y="84556"/>
                  </a:lnTo>
                  <a:lnTo>
                    <a:pt x="796837" y="81973"/>
                  </a:lnTo>
                  <a:lnTo>
                    <a:pt x="823869" y="4941"/>
                  </a:lnTo>
                  <a:close/>
                </a:path>
                <a:path w="826135" h="705485">
                  <a:moveTo>
                    <a:pt x="808711" y="9000"/>
                  </a:moveTo>
                  <a:lnTo>
                    <a:pt x="802477" y="9000"/>
                  </a:lnTo>
                  <a:lnTo>
                    <a:pt x="813020" y="21410"/>
                  </a:lnTo>
                  <a:lnTo>
                    <a:pt x="797124" y="24253"/>
                  </a:lnTo>
                  <a:lnTo>
                    <a:pt x="790927" y="41912"/>
                  </a:lnTo>
                  <a:lnTo>
                    <a:pt x="817468" y="19309"/>
                  </a:lnTo>
                  <a:lnTo>
                    <a:pt x="808711" y="9000"/>
                  </a:lnTo>
                  <a:close/>
                </a:path>
                <a:path w="826135" h="705485">
                  <a:moveTo>
                    <a:pt x="825604" y="0"/>
                  </a:moveTo>
                  <a:lnTo>
                    <a:pt x="740178" y="15278"/>
                  </a:lnTo>
                  <a:lnTo>
                    <a:pt x="736768" y="20177"/>
                  </a:lnTo>
                  <a:lnTo>
                    <a:pt x="738598" y="30431"/>
                  </a:lnTo>
                  <a:lnTo>
                    <a:pt x="743491" y="33845"/>
                  </a:lnTo>
                  <a:lnTo>
                    <a:pt x="778723" y="27544"/>
                  </a:lnTo>
                  <a:lnTo>
                    <a:pt x="805263" y="4941"/>
                  </a:lnTo>
                  <a:lnTo>
                    <a:pt x="823869" y="4941"/>
                  </a:lnTo>
                  <a:lnTo>
                    <a:pt x="825604" y="0"/>
                  </a:lnTo>
                  <a:close/>
                </a:path>
                <a:path w="826135" h="705485">
                  <a:moveTo>
                    <a:pt x="805263" y="4941"/>
                  </a:moveTo>
                  <a:lnTo>
                    <a:pt x="778723" y="27544"/>
                  </a:lnTo>
                  <a:lnTo>
                    <a:pt x="797124" y="24253"/>
                  </a:lnTo>
                  <a:lnTo>
                    <a:pt x="802477" y="9000"/>
                  </a:lnTo>
                  <a:lnTo>
                    <a:pt x="808711" y="9000"/>
                  </a:lnTo>
                  <a:lnTo>
                    <a:pt x="805263" y="4941"/>
                  </a:lnTo>
                  <a:close/>
                </a:path>
                <a:path w="826135" h="705485">
                  <a:moveTo>
                    <a:pt x="802477" y="9000"/>
                  </a:moveTo>
                  <a:lnTo>
                    <a:pt x="797124" y="24253"/>
                  </a:lnTo>
                  <a:lnTo>
                    <a:pt x="813020" y="21410"/>
                  </a:lnTo>
                  <a:lnTo>
                    <a:pt x="802477" y="9000"/>
                  </a:lnTo>
                  <a:close/>
                </a:path>
              </a:pathLst>
            </a:custGeom>
            <a:solidFill>
              <a:srgbClr val="B0007E"/>
            </a:solidFill>
          </p:spPr>
          <p:txBody>
            <a:bodyPr wrap="square" lIns="0" tIns="0" rIns="0" bIns="0" rtlCol="0"/>
            <a:lstStyle/>
            <a:p>
              <a:endParaRPr/>
            </a:p>
          </p:txBody>
        </p:sp>
      </p:grpSp>
      <p:sp>
        <p:nvSpPr>
          <p:cNvPr id="19" name="object 19"/>
          <p:cNvSpPr txBox="1"/>
          <p:nvPr/>
        </p:nvSpPr>
        <p:spPr>
          <a:xfrm>
            <a:off x="1232478" y="3381789"/>
            <a:ext cx="2201141" cy="318148"/>
          </a:xfrm>
          <a:prstGeom prst="rect">
            <a:avLst/>
          </a:prstGeom>
          <a:solidFill>
            <a:srgbClr val="B0007E"/>
          </a:solidFill>
          <a:ln w="18861">
            <a:solidFill>
              <a:srgbClr val="80005B"/>
            </a:solidFill>
          </a:ln>
        </p:spPr>
        <p:txBody>
          <a:bodyPr vert="horz" wrap="square" lIns="0" tIns="71231" rIns="0" bIns="0" rtlCol="0">
            <a:spAutoFit/>
          </a:bodyPr>
          <a:lstStyle/>
          <a:p>
            <a:pPr marL="268399">
              <a:spcBef>
                <a:spcPts val="561"/>
              </a:spcBef>
            </a:pPr>
            <a:r>
              <a:rPr sz="1600" spc="-9" dirty="0">
                <a:solidFill>
                  <a:srgbClr val="FFFFFF"/>
                </a:solidFill>
                <a:cs typeface="Calibri"/>
              </a:rPr>
              <a:t>Only</a:t>
            </a:r>
            <a:r>
              <a:rPr sz="1600" spc="-36" dirty="0">
                <a:solidFill>
                  <a:srgbClr val="FFFFFF"/>
                </a:solidFill>
                <a:cs typeface="Calibri"/>
              </a:rPr>
              <a:t> </a:t>
            </a:r>
            <a:r>
              <a:rPr sz="1600" spc="-18" dirty="0">
                <a:solidFill>
                  <a:srgbClr val="FFFFFF"/>
                </a:solidFill>
                <a:cs typeface="Calibri"/>
              </a:rPr>
              <a:t>center</a:t>
            </a:r>
            <a:r>
              <a:rPr sz="1600" spc="-31" dirty="0">
                <a:solidFill>
                  <a:srgbClr val="FFFFFF"/>
                </a:solidFill>
                <a:cs typeface="Calibri"/>
              </a:rPr>
              <a:t> </a:t>
            </a:r>
            <a:r>
              <a:rPr sz="1600" spc="-22" dirty="0">
                <a:solidFill>
                  <a:srgbClr val="FFFFFF"/>
                </a:solidFill>
                <a:cs typeface="Calibri"/>
              </a:rPr>
              <a:t>matters</a:t>
            </a:r>
            <a:endParaRPr sz="1600">
              <a:cs typeface="Calibri"/>
            </a:endParaRPr>
          </a:p>
        </p:txBody>
      </p:sp>
      <p:grpSp>
        <p:nvGrpSpPr>
          <p:cNvPr id="20" name="object 20"/>
          <p:cNvGrpSpPr/>
          <p:nvPr/>
        </p:nvGrpSpPr>
        <p:grpSpPr>
          <a:xfrm>
            <a:off x="1455106" y="4463578"/>
            <a:ext cx="1413164" cy="1081928"/>
            <a:chOff x="1600617" y="5058721"/>
            <a:chExt cx="1554480" cy="1226185"/>
          </a:xfrm>
        </p:grpSpPr>
        <p:sp>
          <p:nvSpPr>
            <p:cNvPr id="21" name="object 21"/>
            <p:cNvSpPr/>
            <p:nvPr/>
          </p:nvSpPr>
          <p:spPr>
            <a:xfrm>
              <a:off x="1610042" y="5209609"/>
              <a:ext cx="631190" cy="622935"/>
            </a:xfrm>
            <a:custGeom>
              <a:avLst/>
              <a:gdLst/>
              <a:ahLst/>
              <a:cxnLst/>
              <a:rect l="l" t="t" r="r" b="b"/>
              <a:pathLst>
                <a:path w="631189" h="622935">
                  <a:moveTo>
                    <a:pt x="315541" y="0"/>
                  </a:moveTo>
                  <a:lnTo>
                    <a:pt x="268913" y="3374"/>
                  </a:lnTo>
                  <a:lnTo>
                    <a:pt x="224409" y="13176"/>
                  </a:lnTo>
                  <a:lnTo>
                    <a:pt x="182517" y="28925"/>
                  </a:lnTo>
                  <a:lnTo>
                    <a:pt x="143726" y="50139"/>
                  </a:lnTo>
                  <a:lnTo>
                    <a:pt x="108523" y="76337"/>
                  </a:lnTo>
                  <a:lnTo>
                    <a:pt x="77397" y="107037"/>
                  </a:lnTo>
                  <a:lnTo>
                    <a:pt x="50835" y="141758"/>
                  </a:lnTo>
                  <a:lnTo>
                    <a:pt x="29327" y="180018"/>
                  </a:lnTo>
                  <a:lnTo>
                    <a:pt x="13359" y="221336"/>
                  </a:lnTo>
                  <a:lnTo>
                    <a:pt x="3421" y="265231"/>
                  </a:lnTo>
                  <a:lnTo>
                    <a:pt x="0" y="311221"/>
                  </a:lnTo>
                  <a:lnTo>
                    <a:pt x="3421" y="357210"/>
                  </a:lnTo>
                  <a:lnTo>
                    <a:pt x="13359" y="401105"/>
                  </a:lnTo>
                  <a:lnTo>
                    <a:pt x="29327" y="442423"/>
                  </a:lnTo>
                  <a:lnTo>
                    <a:pt x="50835" y="480683"/>
                  </a:lnTo>
                  <a:lnTo>
                    <a:pt x="77397" y="515404"/>
                  </a:lnTo>
                  <a:lnTo>
                    <a:pt x="108523" y="546104"/>
                  </a:lnTo>
                  <a:lnTo>
                    <a:pt x="143726" y="572302"/>
                  </a:lnTo>
                  <a:lnTo>
                    <a:pt x="182517" y="593516"/>
                  </a:lnTo>
                  <a:lnTo>
                    <a:pt x="224409" y="609265"/>
                  </a:lnTo>
                  <a:lnTo>
                    <a:pt x="268913" y="619067"/>
                  </a:lnTo>
                  <a:lnTo>
                    <a:pt x="315541" y="622442"/>
                  </a:lnTo>
                  <a:lnTo>
                    <a:pt x="362170" y="619067"/>
                  </a:lnTo>
                  <a:lnTo>
                    <a:pt x="406674" y="609265"/>
                  </a:lnTo>
                  <a:lnTo>
                    <a:pt x="448566" y="593516"/>
                  </a:lnTo>
                  <a:lnTo>
                    <a:pt x="487358" y="572302"/>
                  </a:lnTo>
                  <a:lnTo>
                    <a:pt x="522560" y="546104"/>
                  </a:lnTo>
                  <a:lnTo>
                    <a:pt x="553687" y="515404"/>
                  </a:lnTo>
                  <a:lnTo>
                    <a:pt x="580248" y="480683"/>
                  </a:lnTo>
                  <a:lnTo>
                    <a:pt x="601757" y="442423"/>
                  </a:lnTo>
                  <a:lnTo>
                    <a:pt x="617724" y="401105"/>
                  </a:lnTo>
                  <a:lnTo>
                    <a:pt x="627663" y="357210"/>
                  </a:lnTo>
                  <a:lnTo>
                    <a:pt x="631084" y="311221"/>
                  </a:lnTo>
                  <a:lnTo>
                    <a:pt x="627663" y="265231"/>
                  </a:lnTo>
                  <a:lnTo>
                    <a:pt x="617724" y="221336"/>
                  </a:lnTo>
                  <a:lnTo>
                    <a:pt x="601757" y="180018"/>
                  </a:lnTo>
                  <a:lnTo>
                    <a:pt x="580248" y="141758"/>
                  </a:lnTo>
                  <a:lnTo>
                    <a:pt x="553687" y="107037"/>
                  </a:lnTo>
                  <a:lnTo>
                    <a:pt x="522560" y="76337"/>
                  </a:lnTo>
                  <a:lnTo>
                    <a:pt x="487358" y="50139"/>
                  </a:lnTo>
                  <a:lnTo>
                    <a:pt x="448566" y="28925"/>
                  </a:lnTo>
                  <a:lnTo>
                    <a:pt x="406674" y="13176"/>
                  </a:lnTo>
                  <a:lnTo>
                    <a:pt x="362170" y="3374"/>
                  </a:lnTo>
                  <a:lnTo>
                    <a:pt x="315541" y="0"/>
                  </a:lnTo>
                  <a:close/>
                </a:path>
              </a:pathLst>
            </a:custGeom>
            <a:solidFill>
              <a:srgbClr val="FC5507">
                <a:alpha val="49018"/>
              </a:srgbClr>
            </a:solidFill>
          </p:spPr>
          <p:txBody>
            <a:bodyPr wrap="square" lIns="0" tIns="0" rIns="0" bIns="0" rtlCol="0"/>
            <a:lstStyle/>
            <a:p>
              <a:endParaRPr/>
            </a:p>
          </p:txBody>
        </p:sp>
        <p:sp>
          <p:nvSpPr>
            <p:cNvPr id="22" name="object 22"/>
            <p:cNvSpPr/>
            <p:nvPr/>
          </p:nvSpPr>
          <p:spPr>
            <a:xfrm>
              <a:off x="1610042" y="5209609"/>
              <a:ext cx="631190" cy="622935"/>
            </a:xfrm>
            <a:custGeom>
              <a:avLst/>
              <a:gdLst/>
              <a:ahLst/>
              <a:cxnLst/>
              <a:rect l="l" t="t" r="r" b="b"/>
              <a:pathLst>
                <a:path w="631189" h="622935">
                  <a:moveTo>
                    <a:pt x="0" y="311220"/>
                  </a:moveTo>
                  <a:lnTo>
                    <a:pt x="3421" y="265230"/>
                  </a:lnTo>
                  <a:lnTo>
                    <a:pt x="13359" y="221335"/>
                  </a:lnTo>
                  <a:lnTo>
                    <a:pt x="29327" y="180017"/>
                  </a:lnTo>
                  <a:lnTo>
                    <a:pt x="50835" y="141757"/>
                  </a:lnTo>
                  <a:lnTo>
                    <a:pt x="77397" y="107037"/>
                  </a:lnTo>
                  <a:lnTo>
                    <a:pt x="108523" y="76337"/>
                  </a:lnTo>
                  <a:lnTo>
                    <a:pt x="143726" y="50139"/>
                  </a:lnTo>
                  <a:lnTo>
                    <a:pt x="182517" y="28925"/>
                  </a:lnTo>
                  <a:lnTo>
                    <a:pt x="224409" y="13176"/>
                  </a:lnTo>
                  <a:lnTo>
                    <a:pt x="268913" y="3374"/>
                  </a:lnTo>
                  <a:lnTo>
                    <a:pt x="315542" y="0"/>
                  </a:lnTo>
                  <a:lnTo>
                    <a:pt x="362170" y="3374"/>
                  </a:lnTo>
                  <a:lnTo>
                    <a:pt x="406674" y="13176"/>
                  </a:lnTo>
                  <a:lnTo>
                    <a:pt x="448566" y="28925"/>
                  </a:lnTo>
                  <a:lnTo>
                    <a:pt x="487358" y="50139"/>
                  </a:lnTo>
                  <a:lnTo>
                    <a:pt x="522560" y="76337"/>
                  </a:lnTo>
                  <a:lnTo>
                    <a:pt x="553686" y="107037"/>
                  </a:lnTo>
                  <a:lnTo>
                    <a:pt x="580248" y="141757"/>
                  </a:lnTo>
                  <a:lnTo>
                    <a:pt x="601756" y="180017"/>
                  </a:lnTo>
                  <a:lnTo>
                    <a:pt x="617724" y="221335"/>
                  </a:lnTo>
                  <a:lnTo>
                    <a:pt x="627662" y="265230"/>
                  </a:lnTo>
                  <a:lnTo>
                    <a:pt x="631084" y="311220"/>
                  </a:lnTo>
                  <a:lnTo>
                    <a:pt x="627662" y="357210"/>
                  </a:lnTo>
                  <a:lnTo>
                    <a:pt x="617724" y="401105"/>
                  </a:lnTo>
                  <a:lnTo>
                    <a:pt x="601756" y="442423"/>
                  </a:lnTo>
                  <a:lnTo>
                    <a:pt x="580248" y="480683"/>
                  </a:lnTo>
                  <a:lnTo>
                    <a:pt x="553686" y="515404"/>
                  </a:lnTo>
                  <a:lnTo>
                    <a:pt x="522560" y="546103"/>
                  </a:lnTo>
                  <a:lnTo>
                    <a:pt x="487358" y="572301"/>
                  </a:lnTo>
                  <a:lnTo>
                    <a:pt x="448566" y="593515"/>
                  </a:lnTo>
                  <a:lnTo>
                    <a:pt x="406674" y="609264"/>
                  </a:lnTo>
                  <a:lnTo>
                    <a:pt x="362170" y="619066"/>
                  </a:lnTo>
                  <a:lnTo>
                    <a:pt x="315542" y="622441"/>
                  </a:lnTo>
                  <a:lnTo>
                    <a:pt x="268913" y="619066"/>
                  </a:lnTo>
                  <a:lnTo>
                    <a:pt x="224409" y="609264"/>
                  </a:lnTo>
                  <a:lnTo>
                    <a:pt x="182517" y="593515"/>
                  </a:lnTo>
                  <a:lnTo>
                    <a:pt x="143726" y="572301"/>
                  </a:lnTo>
                  <a:lnTo>
                    <a:pt x="108523" y="546103"/>
                  </a:lnTo>
                  <a:lnTo>
                    <a:pt x="77397" y="515404"/>
                  </a:lnTo>
                  <a:lnTo>
                    <a:pt x="50835" y="480683"/>
                  </a:lnTo>
                  <a:lnTo>
                    <a:pt x="29327" y="442423"/>
                  </a:lnTo>
                  <a:lnTo>
                    <a:pt x="13359" y="401105"/>
                  </a:lnTo>
                  <a:lnTo>
                    <a:pt x="3421" y="357210"/>
                  </a:lnTo>
                  <a:lnTo>
                    <a:pt x="0" y="311220"/>
                  </a:lnTo>
                  <a:close/>
                </a:path>
              </a:pathLst>
            </a:custGeom>
            <a:ln w="18850">
              <a:solidFill>
                <a:srgbClr val="B93C03"/>
              </a:solidFill>
            </a:ln>
          </p:spPr>
          <p:txBody>
            <a:bodyPr wrap="square" lIns="0" tIns="0" rIns="0" bIns="0" rtlCol="0"/>
            <a:lstStyle/>
            <a:p>
              <a:endParaRPr/>
            </a:p>
          </p:txBody>
        </p:sp>
        <p:sp>
          <p:nvSpPr>
            <p:cNvPr id="23" name="object 23"/>
            <p:cNvSpPr/>
            <p:nvPr/>
          </p:nvSpPr>
          <p:spPr>
            <a:xfrm>
              <a:off x="2514282" y="5068146"/>
              <a:ext cx="631190" cy="622935"/>
            </a:xfrm>
            <a:custGeom>
              <a:avLst/>
              <a:gdLst/>
              <a:ahLst/>
              <a:cxnLst/>
              <a:rect l="l" t="t" r="r" b="b"/>
              <a:pathLst>
                <a:path w="631189" h="622935">
                  <a:moveTo>
                    <a:pt x="315541" y="0"/>
                  </a:moveTo>
                  <a:lnTo>
                    <a:pt x="268913" y="3374"/>
                  </a:lnTo>
                  <a:lnTo>
                    <a:pt x="224409" y="13176"/>
                  </a:lnTo>
                  <a:lnTo>
                    <a:pt x="182517" y="28925"/>
                  </a:lnTo>
                  <a:lnTo>
                    <a:pt x="143726" y="50139"/>
                  </a:lnTo>
                  <a:lnTo>
                    <a:pt x="108523" y="76337"/>
                  </a:lnTo>
                  <a:lnTo>
                    <a:pt x="77397" y="107036"/>
                  </a:lnTo>
                  <a:lnTo>
                    <a:pt x="50835" y="141757"/>
                  </a:lnTo>
                  <a:lnTo>
                    <a:pt x="29327" y="180017"/>
                  </a:lnTo>
                  <a:lnTo>
                    <a:pt x="13359" y="221335"/>
                  </a:lnTo>
                  <a:lnTo>
                    <a:pt x="3421" y="265230"/>
                  </a:lnTo>
                  <a:lnTo>
                    <a:pt x="0" y="311219"/>
                  </a:lnTo>
                  <a:lnTo>
                    <a:pt x="3421" y="357209"/>
                  </a:lnTo>
                  <a:lnTo>
                    <a:pt x="13359" y="401104"/>
                  </a:lnTo>
                  <a:lnTo>
                    <a:pt x="29327" y="442422"/>
                  </a:lnTo>
                  <a:lnTo>
                    <a:pt x="50835" y="480683"/>
                  </a:lnTo>
                  <a:lnTo>
                    <a:pt x="77397" y="515403"/>
                  </a:lnTo>
                  <a:lnTo>
                    <a:pt x="108523" y="546103"/>
                  </a:lnTo>
                  <a:lnTo>
                    <a:pt x="143726" y="572301"/>
                  </a:lnTo>
                  <a:lnTo>
                    <a:pt x="182517" y="593515"/>
                  </a:lnTo>
                  <a:lnTo>
                    <a:pt x="224409" y="609264"/>
                  </a:lnTo>
                  <a:lnTo>
                    <a:pt x="268913" y="619066"/>
                  </a:lnTo>
                  <a:lnTo>
                    <a:pt x="315541" y="622440"/>
                  </a:lnTo>
                  <a:lnTo>
                    <a:pt x="362170" y="619066"/>
                  </a:lnTo>
                  <a:lnTo>
                    <a:pt x="406674" y="609264"/>
                  </a:lnTo>
                  <a:lnTo>
                    <a:pt x="448566" y="593515"/>
                  </a:lnTo>
                  <a:lnTo>
                    <a:pt x="487358" y="572301"/>
                  </a:lnTo>
                  <a:lnTo>
                    <a:pt x="522560" y="546103"/>
                  </a:lnTo>
                  <a:lnTo>
                    <a:pt x="553687" y="515403"/>
                  </a:lnTo>
                  <a:lnTo>
                    <a:pt x="580248" y="480683"/>
                  </a:lnTo>
                  <a:lnTo>
                    <a:pt x="601757" y="442422"/>
                  </a:lnTo>
                  <a:lnTo>
                    <a:pt x="617724" y="401104"/>
                  </a:lnTo>
                  <a:lnTo>
                    <a:pt x="627663" y="357209"/>
                  </a:lnTo>
                  <a:lnTo>
                    <a:pt x="631084" y="311219"/>
                  </a:lnTo>
                  <a:lnTo>
                    <a:pt x="627663" y="265230"/>
                  </a:lnTo>
                  <a:lnTo>
                    <a:pt x="617724" y="221335"/>
                  </a:lnTo>
                  <a:lnTo>
                    <a:pt x="601757" y="180017"/>
                  </a:lnTo>
                  <a:lnTo>
                    <a:pt x="580248" y="141757"/>
                  </a:lnTo>
                  <a:lnTo>
                    <a:pt x="553687" y="107036"/>
                  </a:lnTo>
                  <a:lnTo>
                    <a:pt x="522560" y="76337"/>
                  </a:lnTo>
                  <a:lnTo>
                    <a:pt x="487358" y="50139"/>
                  </a:lnTo>
                  <a:lnTo>
                    <a:pt x="448566" y="28925"/>
                  </a:lnTo>
                  <a:lnTo>
                    <a:pt x="406674" y="13176"/>
                  </a:lnTo>
                  <a:lnTo>
                    <a:pt x="362170" y="3374"/>
                  </a:lnTo>
                  <a:lnTo>
                    <a:pt x="315541" y="0"/>
                  </a:lnTo>
                  <a:close/>
                </a:path>
              </a:pathLst>
            </a:custGeom>
            <a:solidFill>
              <a:srgbClr val="118CC4">
                <a:alpha val="49018"/>
              </a:srgbClr>
            </a:solidFill>
          </p:spPr>
          <p:txBody>
            <a:bodyPr wrap="square" lIns="0" tIns="0" rIns="0" bIns="0" rtlCol="0"/>
            <a:lstStyle/>
            <a:p>
              <a:endParaRPr/>
            </a:p>
          </p:txBody>
        </p:sp>
        <p:sp>
          <p:nvSpPr>
            <p:cNvPr id="24" name="object 24"/>
            <p:cNvSpPr/>
            <p:nvPr/>
          </p:nvSpPr>
          <p:spPr>
            <a:xfrm>
              <a:off x="2514282" y="5068146"/>
              <a:ext cx="631190" cy="622935"/>
            </a:xfrm>
            <a:custGeom>
              <a:avLst/>
              <a:gdLst/>
              <a:ahLst/>
              <a:cxnLst/>
              <a:rect l="l" t="t" r="r" b="b"/>
              <a:pathLst>
                <a:path w="631189" h="622935">
                  <a:moveTo>
                    <a:pt x="0" y="311220"/>
                  </a:moveTo>
                  <a:lnTo>
                    <a:pt x="3421" y="265230"/>
                  </a:lnTo>
                  <a:lnTo>
                    <a:pt x="13359" y="221335"/>
                  </a:lnTo>
                  <a:lnTo>
                    <a:pt x="29327" y="180017"/>
                  </a:lnTo>
                  <a:lnTo>
                    <a:pt x="50835" y="141757"/>
                  </a:lnTo>
                  <a:lnTo>
                    <a:pt x="77397" y="107037"/>
                  </a:lnTo>
                  <a:lnTo>
                    <a:pt x="108523" y="76337"/>
                  </a:lnTo>
                  <a:lnTo>
                    <a:pt x="143726" y="50139"/>
                  </a:lnTo>
                  <a:lnTo>
                    <a:pt x="182517" y="28925"/>
                  </a:lnTo>
                  <a:lnTo>
                    <a:pt x="224409" y="13176"/>
                  </a:lnTo>
                  <a:lnTo>
                    <a:pt x="268913" y="3374"/>
                  </a:lnTo>
                  <a:lnTo>
                    <a:pt x="315542" y="0"/>
                  </a:lnTo>
                  <a:lnTo>
                    <a:pt x="362170" y="3374"/>
                  </a:lnTo>
                  <a:lnTo>
                    <a:pt x="406674" y="13176"/>
                  </a:lnTo>
                  <a:lnTo>
                    <a:pt x="448566" y="28925"/>
                  </a:lnTo>
                  <a:lnTo>
                    <a:pt x="487358" y="50139"/>
                  </a:lnTo>
                  <a:lnTo>
                    <a:pt x="522560" y="76337"/>
                  </a:lnTo>
                  <a:lnTo>
                    <a:pt x="553686" y="107037"/>
                  </a:lnTo>
                  <a:lnTo>
                    <a:pt x="580248" y="141757"/>
                  </a:lnTo>
                  <a:lnTo>
                    <a:pt x="601756" y="180017"/>
                  </a:lnTo>
                  <a:lnTo>
                    <a:pt x="617724" y="221335"/>
                  </a:lnTo>
                  <a:lnTo>
                    <a:pt x="627662" y="265230"/>
                  </a:lnTo>
                  <a:lnTo>
                    <a:pt x="631084" y="311220"/>
                  </a:lnTo>
                  <a:lnTo>
                    <a:pt x="627662" y="357210"/>
                  </a:lnTo>
                  <a:lnTo>
                    <a:pt x="617724" y="401105"/>
                  </a:lnTo>
                  <a:lnTo>
                    <a:pt x="601756" y="442423"/>
                  </a:lnTo>
                  <a:lnTo>
                    <a:pt x="580248" y="480683"/>
                  </a:lnTo>
                  <a:lnTo>
                    <a:pt x="553686" y="515404"/>
                  </a:lnTo>
                  <a:lnTo>
                    <a:pt x="522560" y="546103"/>
                  </a:lnTo>
                  <a:lnTo>
                    <a:pt x="487358" y="572301"/>
                  </a:lnTo>
                  <a:lnTo>
                    <a:pt x="448566" y="593515"/>
                  </a:lnTo>
                  <a:lnTo>
                    <a:pt x="406674" y="609264"/>
                  </a:lnTo>
                  <a:lnTo>
                    <a:pt x="362170" y="619066"/>
                  </a:lnTo>
                  <a:lnTo>
                    <a:pt x="315542" y="622441"/>
                  </a:lnTo>
                  <a:lnTo>
                    <a:pt x="268913" y="619066"/>
                  </a:lnTo>
                  <a:lnTo>
                    <a:pt x="224409" y="609264"/>
                  </a:lnTo>
                  <a:lnTo>
                    <a:pt x="182517" y="593515"/>
                  </a:lnTo>
                  <a:lnTo>
                    <a:pt x="143726" y="572301"/>
                  </a:lnTo>
                  <a:lnTo>
                    <a:pt x="108523" y="546103"/>
                  </a:lnTo>
                  <a:lnTo>
                    <a:pt x="77397" y="515404"/>
                  </a:lnTo>
                  <a:lnTo>
                    <a:pt x="50835" y="480683"/>
                  </a:lnTo>
                  <a:lnTo>
                    <a:pt x="29327" y="442423"/>
                  </a:lnTo>
                  <a:lnTo>
                    <a:pt x="13359" y="401105"/>
                  </a:lnTo>
                  <a:lnTo>
                    <a:pt x="3421" y="357210"/>
                  </a:lnTo>
                  <a:lnTo>
                    <a:pt x="0" y="311220"/>
                  </a:lnTo>
                  <a:close/>
                </a:path>
              </a:pathLst>
            </a:custGeom>
            <a:ln w="18850">
              <a:solidFill>
                <a:srgbClr val="09658F"/>
              </a:solidFill>
            </a:ln>
          </p:spPr>
          <p:txBody>
            <a:bodyPr wrap="square" lIns="0" tIns="0" rIns="0" bIns="0" rtlCol="0"/>
            <a:lstStyle/>
            <a:p>
              <a:endParaRPr/>
            </a:p>
          </p:txBody>
        </p:sp>
        <p:sp>
          <p:nvSpPr>
            <p:cNvPr id="25" name="object 25"/>
            <p:cNvSpPr/>
            <p:nvPr/>
          </p:nvSpPr>
          <p:spPr>
            <a:xfrm>
              <a:off x="2137515" y="5652863"/>
              <a:ext cx="631190" cy="622935"/>
            </a:xfrm>
            <a:custGeom>
              <a:avLst/>
              <a:gdLst/>
              <a:ahLst/>
              <a:cxnLst/>
              <a:rect l="l" t="t" r="r" b="b"/>
              <a:pathLst>
                <a:path w="631189" h="622935">
                  <a:moveTo>
                    <a:pt x="315542" y="0"/>
                  </a:moveTo>
                  <a:lnTo>
                    <a:pt x="268914" y="3374"/>
                  </a:lnTo>
                  <a:lnTo>
                    <a:pt x="224410" y="13176"/>
                  </a:lnTo>
                  <a:lnTo>
                    <a:pt x="182518" y="28925"/>
                  </a:lnTo>
                  <a:lnTo>
                    <a:pt x="143726" y="50139"/>
                  </a:lnTo>
                  <a:lnTo>
                    <a:pt x="108523" y="76337"/>
                  </a:lnTo>
                  <a:lnTo>
                    <a:pt x="77397" y="107037"/>
                  </a:lnTo>
                  <a:lnTo>
                    <a:pt x="50835" y="141757"/>
                  </a:lnTo>
                  <a:lnTo>
                    <a:pt x="29327" y="180017"/>
                  </a:lnTo>
                  <a:lnTo>
                    <a:pt x="13359" y="221336"/>
                  </a:lnTo>
                  <a:lnTo>
                    <a:pt x="3421" y="265231"/>
                  </a:lnTo>
                  <a:lnTo>
                    <a:pt x="0" y="311221"/>
                  </a:lnTo>
                  <a:lnTo>
                    <a:pt x="3421" y="357210"/>
                  </a:lnTo>
                  <a:lnTo>
                    <a:pt x="13359" y="401105"/>
                  </a:lnTo>
                  <a:lnTo>
                    <a:pt x="29327" y="442423"/>
                  </a:lnTo>
                  <a:lnTo>
                    <a:pt x="50835" y="480683"/>
                  </a:lnTo>
                  <a:lnTo>
                    <a:pt x="77397" y="515404"/>
                  </a:lnTo>
                  <a:lnTo>
                    <a:pt x="108523" y="546103"/>
                  </a:lnTo>
                  <a:lnTo>
                    <a:pt x="143726" y="572301"/>
                  </a:lnTo>
                  <a:lnTo>
                    <a:pt x="182518" y="593515"/>
                  </a:lnTo>
                  <a:lnTo>
                    <a:pt x="224410" y="609264"/>
                  </a:lnTo>
                  <a:lnTo>
                    <a:pt x="268914" y="619066"/>
                  </a:lnTo>
                  <a:lnTo>
                    <a:pt x="315542" y="622440"/>
                  </a:lnTo>
                  <a:lnTo>
                    <a:pt x="362171" y="619066"/>
                  </a:lnTo>
                  <a:lnTo>
                    <a:pt x="406675" y="609264"/>
                  </a:lnTo>
                  <a:lnTo>
                    <a:pt x="448567" y="593515"/>
                  </a:lnTo>
                  <a:lnTo>
                    <a:pt x="487358" y="572301"/>
                  </a:lnTo>
                  <a:lnTo>
                    <a:pt x="522561" y="546103"/>
                  </a:lnTo>
                  <a:lnTo>
                    <a:pt x="553687" y="515404"/>
                  </a:lnTo>
                  <a:lnTo>
                    <a:pt x="580248" y="480683"/>
                  </a:lnTo>
                  <a:lnTo>
                    <a:pt x="601757" y="442423"/>
                  </a:lnTo>
                  <a:lnTo>
                    <a:pt x="617724" y="401105"/>
                  </a:lnTo>
                  <a:lnTo>
                    <a:pt x="627663" y="357210"/>
                  </a:lnTo>
                  <a:lnTo>
                    <a:pt x="631084" y="311221"/>
                  </a:lnTo>
                  <a:lnTo>
                    <a:pt x="627663" y="265231"/>
                  </a:lnTo>
                  <a:lnTo>
                    <a:pt x="617724" y="221336"/>
                  </a:lnTo>
                  <a:lnTo>
                    <a:pt x="601757" y="180017"/>
                  </a:lnTo>
                  <a:lnTo>
                    <a:pt x="580248" y="141757"/>
                  </a:lnTo>
                  <a:lnTo>
                    <a:pt x="553687" y="107037"/>
                  </a:lnTo>
                  <a:lnTo>
                    <a:pt x="522561" y="76337"/>
                  </a:lnTo>
                  <a:lnTo>
                    <a:pt x="487358" y="50139"/>
                  </a:lnTo>
                  <a:lnTo>
                    <a:pt x="448567" y="28925"/>
                  </a:lnTo>
                  <a:lnTo>
                    <a:pt x="406675" y="13176"/>
                  </a:lnTo>
                  <a:lnTo>
                    <a:pt x="362171" y="3374"/>
                  </a:lnTo>
                  <a:lnTo>
                    <a:pt x="315542" y="0"/>
                  </a:lnTo>
                  <a:close/>
                </a:path>
              </a:pathLst>
            </a:custGeom>
            <a:solidFill>
              <a:srgbClr val="85BD05">
                <a:alpha val="50199"/>
              </a:srgbClr>
            </a:solidFill>
          </p:spPr>
          <p:txBody>
            <a:bodyPr wrap="square" lIns="0" tIns="0" rIns="0" bIns="0" rtlCol="0"/>
            <a:lstStyle/>
            <a:p>
              <a:endParaRPr/>
            </a:p>
          </p:txBody>
        </p:sp>
        <p:sp>
          <p:nvSpPr>
            <p:cNvPr id="26" name="object 26"/>
            <p:cNvSpPr/>
            <p:nvPr/>
          </p:nvSpPr>
          <p:spPr>
            <a:xfrm>
              <a:off x="2137515" y="5652863"/>
              <a:ext cx="631190" cy="622935"/>
            </a:xfrm>
            <a:custGeom>
              <a:avLst/>
              <a:gdLst/>
              <a:ahLst/>
              <a:cxnLst/>
              <a:rect l="l" t="t" r="r" b="b"/>
              <a:pathLst>
                <a:path w="631189" h="622935">
                  <a:moveTo>
                    <a:pt x="0" y="311220"/>
                  </a:moveTo>
                  <a:lnTo>
                    <a:pt x="3421" y="265230"/>
                  </a:lnTo>
                  <a:lnTo>
                    <a:pt x="13359" y="221335"/>
                  </a:lnTo>
                  <a:lnTo>
                    <a:pt x="29327" y="180017"/>
                  </a:lnTo>
                  <a:lnTo>
                    <a:pt x="50835" y="141757"/>
                  </a:lnTo>
                  <a:lnTo>
                    <a:pt x="77397" y="107037"/>
                  </a:lnTo>
                  <a:lnTo>
                    <a:pt x="108523" y="76337"/>
                  </a:lnTo>
                  <a:lnTo>
                    <a:pt x="143726" y="50139"/>
                  </a:lnTo>
                  <a:lnTo>
                    <a:pt x="182517" y="28925"/>
                  </a:lnTo>
                  <a:lnTo>
                    <a:pt x="224409" y="13176"/>
                  </a:lnTo>
                  <a:lnTo>
                    <a:pt x="268913" y="3374"/>
                  </a:lnTo>
                  <a:lnTo>
                    <a:pt x="315542" y="0"/>
                  </a:lnTo>
                  <a:lnTo>
                    <a:pt x="362170" y="3374"/>
                  </a:lnTo>
                  <a:lnTo>
                    <a:pt x="406674" y="13176"/>
                  </a:lnTo>
                  <a:lnTo>
                    <a:pt x="448566" y="28925"/>
                  </a:lnTo>
                  <a:lnTo>
                    <a:pt x="487358" y="50139"/>
                  </a:lnTo>
                  <a:lnTo>
                    <a:pt x="522560" y="76337"/>
                  </a:lnTo>
                  <a:lnTo>
                    <a:pt x="553686" y="107037"/>
                  </a:lnTo>
                  <a:lnTo>
                    <a:pt x="580248" y="141757"/>
                  </a:lnTo>
                  <a:lnTo>
                    <a:pt x="601756" y="180017"/>
                  </a:lnTo>
                  <a:lnTo>
                    <a:pt x="617724" y="221335"/>
                  </a:lnTo>
                  <a:lnTo>
                    <a:pt x="627662" y="265230"/>
                  </a:lnTo>
                  <a:lnTo>
                    <a:pt x="631084" y="311220"/>
                  </a:lnTo>
                  <a:lnTo>
                    <a:pt x="627662" y="357210"/>
                  </a:lnTo>
                  <a:lnTo>
                    <a:pt x="617724" y="401105"/>
                  </a:lnTo>
                  <a:lnTo>
                    <a:pt x="601756" y="442423"/>
                  </a:lnTo>
                  <a:lnTo>
                    <a:pt x="580248" y="480683"/>
                  </a:lnTo>
                  <a:lnTo>
                    <a:pt x="553686" y="515404"/>
                  </a:lnTo>
                  <a:lnTo>
                    <a:pt x="522560" y="546103"/>
                  </a:lnTo>
                  <a:lnTo>
                    <a:pt x="487358" y="572301"/>
                  </a:lnTo>
                  <a:lnTo>
                    <a:pt x="448566" y="593515"/>
                  </a:lnTo>
                  <a:lnTo>
                    <a:pt x="406674" y="609264"/>
                  </a:lnTo>
                  <a:lnTo>
                    <a:pt x="362170" y="619066"/>
                  </a:lnTo>
                  <a:lnTo>
                    <a:pt x="315542" y="622441"/>
                  </a:lnTo>
                  <a:lnTo>
                    <a:pt x="268913" y="619066"/>
                  </a:lnTo>
                  <a:lnTo>
                    <a:pt x="224409" y="609264"/>
                  </a:lnTo>
                  <a:lnTo>
                    <a:pt x="182517" y="593515"/>
                  </a:lnTo>
                  <a:lnTo>
                    <a:pt x="143726" y="572301"/>
                  </a:lnTo>
                  <a:lnTo>
                    <a:pt x="108523" y="546103"/>
                  </a:lnTo>
                  <a:lnTo>
                    <a:pt x="77397" y="515404"/>
                  </a:lnTo>
                  <a:lnTo>
                    <a:pt x="50835" y="480683"/>
                  </a:lnTo>
                  <a:lnTo>
                    <a:pt x="29327" y="442423"/>
                  </a:lnTo>
                  <a:lnTo>
                    <a:pt x="13359" y="401105"/>
                  </a:lnTo>
                  <a:lnTo>
                    <a:pt x="3421" y="357210"/>
                  </a:lnTo>
                  <a:lnTo>
                    <a:pt x="0" y="311220"/>
                  </a:lnTo>
                  <a:close/>
                </a:path>
              </a:pathLst>
            </a:custGeom>
            <a:ln w="18850">
              <a:solidFill>
                <a:srgbClr val="608A03"/>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1864354" y="5461107"/>
              <a:ext cx="122460" cy="122590"/>
            </a:xfrm>
            <a:prstGeom prst="rect">
              <a:avLst/>
            </a:prstGeom>
          </p:spPr>
        </p:pic>
        <p:pic>
          <p:nvPicPr>
            <p:cNvPr id="28" name="object 28"/>
            <p:cNvPicPr/>
            <p:nvPr/>
          </p:nvPicPr>
          <p:blipFill>
            <a:blip r:embed="rId6" cstate="print"/>
            <a:stretch>
              <a:fillRect/>
            </a:stretch>
          </p:blipFill>
          <p:spPr>
            <a:xfrm>
              <a:off x="2391827" y="5904361"/>
              <a:ext cx="122460" cy="122590"/>
            </a:xfrm>
            <a:prstGeom prst="rect">
              <a:avLst/>
            </a:prstGeom>
          </p:spPr>
        </p:pic>
        <p:pic>
          <p:nvPicPr>
            <p:cNvPr id="29" name="object 29"/>
            <p:cNvPicPr/>
            <p:nvPr/>
          </p:nvPicPr>
          <p:blipFill>
            <a:blip r:embed="rId7" cstate="print"/>
            <a:stretch>
              <a:fillRect/>
            </a:stretch>
          </p:blipFill>
          <p:spPr>
            <a:xfrm>
              <a:off x="2768594" y="5319644"/>
              <a:ext cx="122460" cy="122590"/>
            </a:xfrm>
            <a:prstGeom prst="rect">
              <a:avLst/>
            </a:prstGeom>
          </p:spPr>
        </p:pic>
      </p:grpSp>
      <p:grpSp>
        <p:nvGrpSpPr>
          <p:cNvPr id="30" name="object 30"/>
          <p:cNvGrpSpPr/>
          <p:nvPr/>
        </p:nvGrpSpPr>
        <p:grpSpPr>
          <a:xfrm>
            <a:off x="4297985" y="4005904"/>
            <a:ext cx="1558636" cy="1606363"/>
            <a:chOff x="4727783" y="4540024"/>
            <a:chExt cx="1714500" cy="1820545"/>
          </a:xfrm>
        </p:grpSpPr>
        <p:sp>
          <p:nvSpPr>
            <p:cNvPr id="31" name="object 31"/>
            <p:cNvSpPr/>
            <p:nvPr/>
          </p:nvSpPr>
          <p:spPr>
            <a:xfrm>
              <a:off x="5311775" y="5200179"/>
              <a:ext cx="574675" cy="1150620"/>
            </a:xfrm>
            <a:custGeom>
              <a:avLst/>
              <a:gdLst/>
              <a:ahLst/>
              <a:cxnLst/>
              <a:rect l="l" t="t" r="r" b="b"/>
              <a:pathLst>
                <a:path w="574675" h="1150620">
                  <a:moveTo>
                    <a:pt x="287284" y="0"/>
                  </a:moveTo>
                  <a:lnTo>
                    <a:pt x="225655" y="13268"/>
                  </a:lnTo>
                  <a:lnTo>
                    <a:pt x="168632" y="51203"/>
                  </a:lnTo>
                  <a:lnTo>
                    <a:pt x="117617" y="110996"/>
                  </a:lnTo>
                  <a:lnTo>
                    <a:pt x="94802" y="148212"/>
                  </a:lnTo>
                  <a:lnTo>
                    <a:pt x="74014" y="189840"/>
                  </a:lnTo>
                  <a:lnTo>
                    <a:pt x="55429" y="235529"/>
                  </a:lnTo>
                  <a:lnTo>
                    <a:pt x="39222" y="284927"/>
                  </a:lnTo>
                  <a:lnTo>
                    <a:pt x="25569" y="337685"/>
                  </a:lnTo>
                  <a:lnTo>
                    <a:pt x="14645" y="393450"/>
                  </a:lnTo>
                  <a:lnTo>
                    <a:pt x="6626" y="451873"/>
                  </a:lnTo>
                  <a:lnTo>
                    <a:pt x="1685" y="512602"/>
                  </a:lnTo>
                  <a:lnTo>
                    <a:pt x="0" y="575285"/>
                  </a:lnTo>
                  <a:lnTo>
                    <a:pt x="1685" y="637969"/>
                  </a:lnTo>
                  <a:lnTo>
                    <a:pt x="6626" y="698698"/>
                  </a:lnTo>
                  <a:lnTo>
                    <a:pt x="14645" y="757121"/>
                  </a:lnTo>
                  <a:lnTo>
                    <a:pt x="25569" y="812886"/>
                  </a:lnTo>
                  <a:lnTo>
                    <a:pt x="39222" y="865644"/>
                  </a:lnTo>
                  <a:lnTo>
                    <a:pt x="55429" y="915042"/>
                  </a:lnTo>
                  <a:lnTo>
                    <a:pt x="74014" y="960731"/>
                  </a:lnTo>
                  <a:lnTo>
                    <a:pt x="94802" y="1002359"/>
                  </a:lnTo>
                  <a:lnTo>
                    <a:pt x="117617" y="1039575"/>
                  </a:lnTo>
                  <a:lnTo>
                    <a:pt x="142286" y="1072029"/>
                  </a:lnTo>
                  <a:lnTo>
                    <a:pt x="196480" y="1121244"/>
                  </a:lnTo>
                  <a:lnTo>
                    <a:pt x="255981" y="1147197"/>
                  </a:lnTo>
                  <a:lnTo>
                    <a:pt x="287284" y="1150573"/>
                  </a:lnTo>
                  <a:lnTo>
                    <a:pt x="318587" y="1147197"/>
                  </a:lnTo>
                  <a:lnTo>
                    <a:pt x="378088" y="1121244"/>
                  </a:lnTo>
                  <a:lnTo>
                    <a:pt x="432282" y="1072029"/>
                  </a:lnTo>
                  <a:lnTo>
                    <a:pt x="456950" y="1039575"/>
                  </a:lnTo>
                  <a:lnTo>
                    <a:pt x="479766" y="1002359"/>
                  </a:lnTo>
                  <a:lnTo>
                    <a:pt x="500554" y="960731"/>
                  </a:lnTo>
                  <a:lnTo>
                    <a:pt x="519139" y="915042"/>
                  </a:lnTo>
                  <a:lnTo>
                    <a:pt x="535345" y="865644"/>
                  </a:lnTo>
                  <a:lnTo>
                    <a:pt x="548998" y="812886"/>
                  </a:lnTo>
                  <a:lnTo>
                    <a:pt x="559922" y="757121"/>
                  </a:lnTo>
                  <a:lnTo>
                    <a:pt x="567942" y="698698"/>
                  </a:lnTo>
                  <a:lnTo>
                    <a:pt x="572882" y="637969"/>
                  </a:lnTo>
                  <a:lnTo>
                    <a:pt x="574568" y="575285"/>
                  </a:lnTo>
                  <a:lnTo>
                    <a:pt x="572882" y="512602"/>
                  </a:lnTo>
                  <a:lnTo>
                    <a:pt x="567942" y="451873"/>
                  </a:lnTo>
                  <a:lnTo>
                    <a:pt x="559922" y="393450"/>
                  </a:lnTo>
                  <a:lnTo>
                    <a:pt x="548998" y="337685"/>
                  </a:lnTo>
                  <a:lnTo>
                    <a:pt x="535345" y="284927"/>
                  </a:lnTo>
                  <a:lnTo>
                    <a:pt x="519139" y="235529"/>
                  </a:lnTo>
                  <a:lnTo>
                    <a:pt x="500554" y="189840"/>
                  </a:lnTo>
                  <a:lnTo>
                    <a:pt x="479766" y="148212"/>
                  </a:lnTo>
                  <a:lnTo>
                    <a:pt x="456950" y="110996"/>
                  </a:lnTo>
                  <a:lnTo>
                    <a:pt x="432282" y="78543"/>
                  </a:lnTo>
                  <a:lnTo>
                    <a:pt x="378088" y="29328"/>
                  </a:lnTo>
                  <a:lnTo>
                    <a:pt x="318587" y="3375"/>
                  </a:lnTo>
                  <a:lnTo>
                    <a:pt x="287284" y="0"/>
                  </a:lnTo>
                  <a:close/>
                </a:path>
              </a:pathLst>
            </a:custGeom>
            <a:solidFill>
              <a:srgbClr val="85BD05">
                <a:alpha val="50199"/>
              </a:srgbClr>
            </a:solidFill>
          </p:spPr>
          <p:txBody>
            <a:bodyPr wrap="square" lIns="0" tIns="0" rIns="0" bIns="0" rtlCol="0"/>
            <a:lstStyle/>
            <a:p>
              <a:endParaRPr/>
            </a:p>
          </p:txBody>
        </p:sp>
        <p:sp>
          <p:nvSpPr>
            <p:cNvPr id="32" name="object 32"/>
            <p:cNvSpPr/>
            <p:nvPr/>
          </p:nvSpPr>
          <p:spPr>
            <a:xfrm>
              <a:off x="5311775" y="5200179"/>
              <a:ext cx="574675" cy="1150620"/>
            </a:xfrm>
            <a:custGeom>
              <a:avLst/>
              <a:gdLst/>
              <a:ahLst/>
              <a:cxnLst/>
              <a:rect l="l" t="t" r="r" b="b"/>
              <a:pathLst>
                <a:path w="574675" h="1150620">
                  <a:moveTo>
                    <a:pt x="0" y="575286"/>
                  </a:moveTo>
                  <a:lnTo>
                    <a:pt x="1685" y="512602"/>
                  </a:lnTo>
                  <a:lnTo>
                    <a:pt x="6626" y="451873"/>
                  </a:lnTo>
                  <a:lnTo>
                    <a:pt x="14645" y="393451"/>
                  </a:lnTo>
                  <a:lnTo>
                    <a:pt x="25569" y="337685"/>
                  </a:lnTo>
                  <a:lnTo>
                    <a:pt x="39222" y="284928"/>
                  </a:lnTo>
                  <a:lnTo>
                    <a:pt x="55429" y="235529"/>
                  </a:lnTo>
                  <a:lnTo>
                    <a:pt x="74014" y="189840"/>
                  </a:lnTo>
                  <a:lnTo>
                    <a:pt x="94802" y="148213"/>
                  </a:lnTo>
                  <a:lnTo>
                    <a:pt x="117618" y="110996"/>
                  </a:lnTo>
                  <a:lnTo>
                    <a:pt x="142286" y="78543"/>
                  </a:lnTo>
                  <a:lnTo>
                    <a:pt x="196480" y="29328"/>
                  </a:lnTo>
                  <a:lnTo>
                    <a:pt x="255981" y="3375"/>
                  </a:lnTo>
                  <a:lnTo>
                    <a:pt x="287284" y="0"/>
                  </a:lnTo>
                  <a:lnTo>
                    <a:pt x="318587" y="3375"/>
                  </a:lnTo>
                  <a:lnTo>
                    <a:pt x="378088" y="29328"/>
                  </a:lnTo>
                  <a:lnTo>
                    <a:pt x="432282" y="78543"/>
                  </a:lnTo>
                  <a:lnTo>
                    <a:pt x="456951" y="110996"/>
                  </a:lnTo>
                  <a:lnTo>
                    <a:pt x="479767" y="148213"/>
                  </a:lnTo>
                  <a:lnTo>
                    <a:pt x="500555" y="189840"/>
                  </a:lnTo>
                  <a:lnTo>
                    <a:pt x="519139" y="235529"/>
                  </a:lnTo>
                  <a:lnTo>
                    <a:pt x="535346" y="284928"/>
                  </a:lnTo>
                  <a:lnTo>
                    <a:pt x="548999" y="337685"/>
                  </a:lnTo>
                  <a:lnTo>
                    <a:pt x="559923" y="393451"/>
                  </a:lnTo>
                  <a:lnTo>
                    <a:pt x="567943" y="451873"/>
                  </a:lnTo>
                  <a:lnTo>
                    <a:pt x="572883" y="512602"/>
                  </a:lnTo>
                  <a:lnTo>
                    <a:pt x="574569" y="575286"/>
                  </a:lnTo>
                  <a:lnTo>
                    <a:pt x="572883" y="637970"/>
                  </a:lnTo>
                  <a:lnTo>
                    <a:pt x="567943" y="698698"/>
                  </a:lnTo>
                  <a:lnTo>
                    <a:pt x="559923" y="757121"/>
                  </a:lnTo>
                  <a:lnTo>
                    <a:pt x="548999" y="812886"/>
                  </a:lnTo>
                  <a:lnTo>
                    <a:pt x="535346" y="865644"/>
                  </a:lnTo>
                  <a:lnTo>
                    <a:pt x="519139" y="915043"/>
                  </a:lnTo>
                  <a:lnTo>
                    <a:pt x="500555" y="960731"/>
                  </a:lnTo>
                  <a:lnTo>
                    <a:pt x="479767" y="1002359"/>
                  </a:lnTo>
                  <a:lnTo>
                    <a:pt x="456951" y="1039575"/>
                  </a:lnTo>
                  <a:lnTo>
                    <a:pt x="432282" y="1072029"/>
                  </a:lnTo>
                  <a:lnTo>
                    <a:pt x="378088" y="1121244"/>
                  </a:lnTo>
                  <a:lnTo>
                    <a:pt x="318587" y="1147197"/>
                  </a:lnTo>
                  <a:lnTo>
                    <a:pt x="287284" y="1150572"/>
                  </a:lnTo>
                  <a:lnTo>
                    <a:pt x="255981" y="1147197"/>
                  </a:lnTo>
                  <a:lnTo>
                    <a:pt x="196480" y="1121244"/>
                  </a:lnTo>
                  <a:lnTo>
                    <a:pt x="142286" y="1072029"/>
                  </a:lnTo>
                  <a:lnTo>
                    <a:pt x="117618" y="1039575"/>
                  </a:lnTo>
                  <a:lnTo>
                    <a:pt x="94802" y="1002359"/>
                  </a:lnTo>
                  <a:lnTo>
                    <a:pt x="74014" y="960731"/>
                  </a:lnTo>
                  <a:lnTo>
                    <a:pt x="55429" y="915043"/>
                  </a:lnTo>
                  <a:lnTo>
                    <a:pt x="39222" y="865644"/>
                  </a:lnTo>
                  <a:lnTo>
                    <a:pt x="25569" y="812886"/>
                  </a:lnTo>
                  <a:lnTo>
                    <a:pt x="14645" y="757121"/>
                  </a:lnTo>
                  <a:lnTo>
                    <a:pt x="6626" y="698698"/>
                  </a:lnTo>
                  <a:lnTo>
                    <a:pt x="1685" y="637970"/>
                  </a:lnTo>
                  <a:lnTo>
                    <a:pt x="0" y="575286"/>
                  </a:lnTo>
                  <a:close/>
                </a:path>
              </a:pathLst>
            </a:custGeom>
            <a:ln w="18843">
              <a:solidFill>
                <a:srgbClr val="608A03"/>
              </a:solidFill>
            </a:ln>
          </p:spPr>
          <p:txBody>
            <a:bodyPr wrap="square" lIns="0" tIns="0" rIns="0" bIns="0" rtlCol="0"/>
            <a:lstStyle/>
            <a:p>
              <a:endParaRPr/>
            </a:p>
          </p:txBody>
        </p:sp>
        <p:sp>
          <p:nvSpPr>
            <p:cNvPr id="33" name="object 33"/>
            <p:cNvSpPr/>
            <p:nvPr/>
          </p:nvSpPr>
          <p:spPr>
            <a:xfrm>
              <a:off x="5858087" y="4549445"/>
              <a:ext cx="574675" cy="1150620"/>
            </a:xfrm>
            <a:custGeom>
              <a:avLst/>
              <a:gdLst/>
              <a:ahLst/>
              <a:cxnLst/>
              <a:rect l="l" t="t" r="r" b="b"/>
              <a:pathLst>
                <a:path w="574675" h="1150620">
                  <a:moveTo>
                    <a:pt x="287284" y="0"/>
                  </a:moveTo>
                  <a:lnTo>
                    <a:pt x="225655" y="13268"/>
                  </a:lnTo>
                  <a:lnTo>
                    <a:pt x="168632" y="51203"/>
                  </a:lnTo>
                  <a:lnTo>
                    <a:pt x="117617" y="110996"/>
                  </a:lnTo>
                  <a:lnTo>
                    <a:pt x="94802" y="148212"/>
                  </a:lnTo>
                  <a:lnTo>
                    <a:pt x="74014" y="189840"/>
                  </a:lnTo>
                  <a:lnTo>
                    <a:pt x="55429" y="235529"/>
                  </a:lnTo>
                  <a:lnTo>
                    <a:pt x="39222" y="284927"/>
                  </a:lnTo>
                  <a:lnTo>
                    <a:pt x="25569" y="337685"/>
                  </a:lnTo>
                  <a:lnTo>
                    <a:pt x="14645" y="393450"/>
                  </a:lnTo>
                  <a:lnTo>
                    <a:pt x="6626" y="451873"/>
                  </a:lnTo>
                  <a:lnTo>
                    <a:pt x="1685" y="512602"/>
                  </a:lnTo>
                  <a:lnTo>
                    <a:pt x="0" y="575285"/>
                  </a:lnTo>
                  <a:lnTo>
                    <a:pt x="1685" y="637969"/>
                  </a:lnTo>
                  <a:lnTo>
                    <a:pt x="6626" y="698698"/>
                  </a:lnTo>
                  <a:lnTo>
                    <a:pt x="14645" y="757121"/>
                  </a:lnTo>
                  <a:lnTo>
                    <a:pt x="25569" y="812886"/>
                  </a:lnTo>
                  <a:lnTo>
                    <a:pt x="39222" y="865644"/>
                  </a:lnTo>
                  <a:lnTo>
                    <a:pt x="55429" y="915042"/>
                  </a:lnTo>
                  <a:lnTo>
                    <a:pt x="74014" y="960731"/>
                  </a:lnTo>
                  <a:lnTo>
                    <a:pt x="94802" y="1002359"/>
                  </a:lnTo>
                  <a:lnTo>
                    <a:pt x="117617" y="1039575"/>
                  </a:lnTo>
                  <a:lnTo>
                    <a:pt x="142286" y="1072029"/>
                  </a:lnTo>
                  <a:lnTo>
                    <a:pt x="196480" y="1121244"/>
                  </a:lnTo>
                  <a:lnTo>
                    <a:pt x="255981" y="1147197"/>
                  </a:lnTo>
                  <a:lnTo>
                    <a:pt x="287284" y="1150573"/>
                  </a:lnTo>
                  <a:lnTo>
                    <a:pt x="318586" y="1147197"/>
                  </a:lnTo>
                  <a:lnTo>
                    <a:pt x="378088" y="1121244"/>
                  </a:lnTo>
                  <a:lnTo>
                    <a:pt x="432281" y="1072029"/>
                  </a:lnTo>
                  <a:lnTo>
                    <a:pt x="456950" y="1039575"/>
                  </a:lnTo>
                  <a:lnTo>
                    <a:pt x="479766" y="1002359"/>
                  </a:lnTo>
                  <a:lnTo>
                    <a:pt x="500554" y="960731"/>
                  </a:lnTo>
                  <a:lnTo>
                    <a:pt x="519139" y="915042"/>
                  </a:lnTo>
                  <a:lnTo>
                    <a:pt x="535345" y="865644"/>
                  </a:lnTo>
                  <a:lnTo>
                    <a:pt x="548998" y="812886"/>
                  </a:lnTo>
                  <a:lnTo>
                    <a:pt x="559922" y="757121"/>
                  </a:lnTo>
                  <a:lnTo>
                    <a:pt x="567942" y="698698"/>
                  </a:lnTo>
                  <a:lnTo>
                    <a:pt x="572882" y="637969"/>
                  </a:lnTo>
                  <a:lnTo>
                    <a:pt x="574568" y="575285"/>
                  </a:lnTo>
                  <a:lnTo>
                    <a:pt x="572882" y="512602"/>
                  </a:lnTo>
                  <a:lnTo>
                    <a:pt x="567942" y="451873"/>
                  </a:lnTo>
                  <a:lnTo>
                    <a:pt x="559922" y="393450"/>
                  </a:lnTo>
                  <a:lnTo>
                    <a:pt x="548998" y="337685"/>
                  </a:lnTo>
                  <a:lnTo>
                    <a:pt x="535345" y="284927"/>
                  </a:lnTo>
                  <a:lnTo>
                    <a:pt x="519139" y="235529"/>
                  </a:lnTo>
                  <a:lnTo>
                    <a:pt x="500554" y="189840"/>
                  </a:lnTo>
                  <a:lnTo>
                    <a:pt x="479766" y="148212"/>
                  </a:lnTo>
                  <a:lnTo>
                    <a:pt x="456950" y="110996"/>
                  </a:lnTo>
                  <a:lnTo>
                    <a:pt x="432281" y="78543"/>
                  </a:lnTo>
                  <a:lnTo>
                    <a:pt x="378088" y="29328"/>
                  </a:lnTo>
                  <a:lnTo>
                    <a:pt x="318586" y="3375"/>
                  </a:lnTo>
                  <a:lnTo>
                    <a:pt x="287284" y="0"/>
                  </a:lnTo>
                  <a:close/>
                </a:path>
              </a:pathLst>
            </a:custGeom>
            <a:solidFill>
              <a:srgbClr val="118CC4">
                <a:alpha val="50199"/>
              </a:srgbClr>
            </a:solidFill>
          </p:spPr>
          <p:txBody>
            <a:bodyPr wrap="square" lIns="0" tIns="0" rIns="0" bIns="0" rtlCol="0"/>
            <a:lstStyle/>
            <a:p>
              <a:endParaRPr/>
            </a:p>
          </p:txBody>
        </p:sp>
        <p:sp>
          <p:nvSpPr>
            <p:cNvPr id="34" name="object 34"/>
            <p:cNvSpPr/>
            <p:nvPr/>
          </p:nvSpPr>
          <p:spPr>
            <a:xfrm>
              <a:off x="5858087" y="4549445"/>
              <a:ext cx="574675" cy="1150620"/>
            </a:xfrm>
            <a:custGeom>
              <a:avLst/>
              <a:gdLst/>
              <a:ahLst/>
              <a:cxnLst/>
              <a:rect l="l" t="t" r="r" b="b"/>
              <a:pathLst>
                <a:path w="574675" h="1150620">
                  <a:moveTo>
                    <a:pt x="0" y="575286"/>
                  </a:moveTo>
                  <a:lnTo>
                    <a:pt x="1685" y="512602"/>
                  </a:lnTo>
                  <a:lnTo>
                    <a:pt x="6626" y="451873"/>
                  </a:lnTo>
                  <a:lnTo>
                    <a:pt x="14645" y="393451"/>
                  </a:lnTo>
                  <a:lnTo>
                    <a:pt x="25569" y="337685"/>
                  </a:lnTo>
                  <a:lnTo>
                    <a:pt x="39222" y="284928"/>
                  </a:lnTo>
                  <a:lnTo>
                    <a:pt x="55429" y="235529"/>
                  </a:lnTo>
                  <a:lnTo>
                    <a:pt x="74014" y="189840"/>
                  </a:lnTo>
                  <a:lnTo>
                    <a:pt x="94802" y="148213"/>
                  </a:lnTo>
                  <a:lnTo>
                    <a:pt x="117618" y="110996"/>
                  </a:lnTo>
                  <a:lnTo>
                    <a:pt x="142286" y="78543"/>
                  </a:lnTo>
                  <a:lnTo>
                    <a:pt x="196480" y="29328"/>
                  </a:lnTo>
                  <a:lnTo>
                    <a:pt x="255981" y="3375"/>
                  </a:lnTo>
                  <a:lnTo>
                    <a:pt x="287284" y="0"/>
                  </a:lnTo>
                  <a:lnTo>
                    <a:pt x="318587" y="3375"/>
                  </a:lnTo>
                  <a:lnTo>
                    <a:pt x="378088" y="29328"/>
                  </a:lnTo>
                  <a:lnTo>
                    <a:pt x="432282" y="78543"/>
                  </a:lnTo>
                  <a:lnTo>
                    <a:pt x="456951" y="110996"/>
                  </a:lnTo>
                  <a:lnTo>
                    <a:pt x="479767" y="148213"/>
                  </a:lnTo>
                  <a:lnTo>
                    <a:pt x="500555" y="189840"/>
                  </a:lnTo>
                  <a:lnTo>
                    <a:pt x="519139" y="235529"/>
                  </a:lnTo>
                  <a:lnTo>
                    <a:pt x="535346" y="284928"/>
                  </a:lnTo>
                  <a:lnTo>
                    <a:pt x="548999" y="337685"/>
                  </a:lnTo>
                  <a:lnTo>
                    <a:pt x="559923" y="393451"/>
                  </a:lnTo>
                  <a:lnTo>
                    <a:pt x="567943" y="451873"/>
                  </a:lnTo>
                  <a:lnTo>
                    <a:pt x="572883" y="512602"/>
                  </a:lnTo>
                  <a:lnTo>
                    <a:pt x="574569" y="575286"/>
                  </a:lnTo>
                  <a:lnTo>
                    <a:pt x="572883" y="637970"/>
                  </a:lnTo>
                  <a:lnTo>
                    <a:pt x="567943" y="698698"/>
                  </a:lnTo>
                  <a:lnTo>
                    <a:pt x="559923" y="757121"/>
                  </a:lnTo>
                  <a:lnTo>
                    <a:pt x="548999" y="812886"/>
                  </a:lnTo>
                  <a:lnTo>
                    <a:pt x="535346" y="865644"/>
                  </a:lnTo>
                  <a:lnTo>
                    <a:pt x="519139" y="915043"/>
                  </a:lnTo>
                  <a:lnTo>
                    <a:pt x="500555" y="960731"/>
                  </a:lnTo>
                  <a:lnTo>
                    <a:pt x="479767" y="1002359"/>
                  </a:lnTo>
                  <a:lnTo>
                    <a:pt x="456951" y="1039575"/>
                  </a:lnTo>
                  <a:lnTo>
                    <a:pt x="432282" y="1072029"/>
                  </a:lnTo>
                  <a:lnTo>
                    <a:pt x="378088" y="1121244"/>
                  </a:lnTo>
                  <a:lnTo>
                    <a:pt x="318587" y="1147197"/>
                  </a:lnTo>
                  <a:lnTo>
                    <a:pt x="287284" y="1150572"/>
                  </a:lnTo>
                  <a:lnTo>
                    <a:pt x="255981" y="1147197"/>
                  </a:lnTo>
                  <a:lnTo>
                    <a:pt x="196480" y="1121244"/>
                  </a:lnTo>
                  <a:lnTo>
                    <a:pt x="142286" y="1072029"/>
                  </a:lnTo>
                  <a:lnTo>
                    <a:pt x="117618" y="1039575"/>
                  </a:lnTo>
                  <a:lnTo>
                    <a:pt x="94802" y="1002359"/>
                  </a:lnTo>
                  <a:lnTo>
                    <a:pt x="74014" y="960731"/>
                  </a:lnTo>
                  <a:lnTo>
                    <a:pt x="55429" y="915043"/>
                  </a:lnTo>
                  <a:lnTo>
                    <a:pt x="39222" y="865644"/>
                  </a:lnTo>
                  <a:lnTo>
                    <a:pt x="25569" y="812886"/>
                  </a:lnTo>
                  <a:lnTo>
                    <a:pt x="14645" y="757121"/>
                  </a:lnTo>
                  <a:lnTo>
                    <a:pt x="6626" y="698698"/>
                  </a:lnTo>
                  <a:lnTo>
                    <a:pt x="1685" y="637970"/>
                  </a:lnTo>
                  <a:lnTo>
                    <a:pt x="0" y="575286"/>
                  </a:lnTo>
                  <a:close/>
                </a:path>
              </a:pathLst>
            </a:custGeom>
            <a:ln w="18843">
              <a:solidFill>
                <a:srgbClr val="09658F"/>
              </a:solidFill>
            </a:ln>
          </p:spPr>
          <p:txBody>
            <a:bodyPr wrap="square" lIns="0" tIns="0" rIns="0" bIns="0" rtlCol="0"/>
            <a:lstStyle/>
            <a:p>
              <a:endParaRPr/>
            </a:p>
          </p:txBody>
        </p:sp>
        <p:sp>
          <p:nvSpPr>
            <p:cNvPr id="35" name="object 35"/>
            <p:cNvSpPr/>
            <p:nvPr/>
          </p:nvSpPr>
          <p:spPr>
            <a:xfrm>
              <a:off x="4737205" y="4738063"/>
              <a:ext cx="574675" cy="1150620"/>
            </a:xfrm>
            <a:custGeom>
              <a:avLst/>
              <a:gdLst/>
              <a:ahLst/>
              <a:cxnLst/>
              <a:rect l="l" t="t" r="r" b="b"/>
              <a:pathLst>
                <a:path w="574675" h="1150620">
                  <a:moveTo>
                    <a:pt x="287284" y="0"/>
                  </a:moveTo>
                  <a:lnTo>
                    <a:pt x="225655" y="13268"/>
                  </a:lnTo>
                  <a:lnTo>
                    <a:pt x="168632" y="51203"/>
                  </a:lnTo>
                  <a:lnTo>
                    <a:pt x="117617" y="110997"/>
                  </a:lnTo>
                  <a:lnTo>
                    <a:pt x="94802" y="148213"/>
                  </a:lnTo>
                  <a:lnTo>
                    <a:pt x="74014" y="189841"/>
                  </a:lnTo>
                  <a:lnTo>
                    <a:pt x="55429" y="235530"/>
                  </a:lnTo>
                  <a:lnTo>
                    <a:pt x="39222" y="284928"/>
                  </a:lnTo>
                  <a:lnTo>
                    <a:pt x="25569" y="337686"/>
                  </a:lnTo>
                  <a:lnTo>
                    <a:pt x="14645" y="393451"/>
                  </a:lnTo>
                  <a:lnTo>
                    <a:pt x="6626" y="451874"/>
                  </a:lnTo>
                  <a:lnTo>
                    <a:pt x="1685" y="512603"/>
                  </a:lnTo>
                  <a:lnTo>
                    <a:pt x="0" y="575287"/>
                  </a:lnTo>
                  <a:lnTo>
                    <a:pt x="1685" y="637970"/>
                  </a:lnTo>
                  <a:lnTo>
                    <a:pt x="6626" y="698699"/>
                  </a:lnTo>
                  <a:lnTo>
                    <a:pt x="14645" y="757121"/>
                  </a:lnTo>
                  <a:lnTo>
                    <a:pt x="25569" y="812887"/>
                  </a:lnTo>
                  <a:lnTo>
                    <a:pt x="39222" y="865644"/>
                  </a:lnTo>
                  <a:lnTo>
                    <a:pt x="55429" y="915043"/>
                  </a:lnTo>
                  <a:lnTo>
                    <a:pt x="74014" y="960731"/>
                  </a:lnTo>
                  <a:lnTo>
                    <a:pt x="94802" y="1002359"/>
                  </a:lnTo>
                  <a:lnTo>
                    <a:pt x="117617" y="1039576"/>
                  </a:lnTo>
                  <a:lnTo>
                    <a:pt x="142286" y="1072029"/>
                  </a:lnTo>
                  <a:lnTo>
                    <a:pt x="196480" y="1121244"/>
                  </a:lnTo>
                  <a:lnTo>
                    <a:pt x="255981" y="1147197"/>
                  </a:lnTo>
                  <a:lnTo>
                    <a:pt x="287284" y="1150573"/>
                  </a:lnTo>
                  <a:lnTo>
                    <a:pt x="318587" y="1147197"/>
                  </a:lnTo>
                  <a:lnTo>
                    <a:pt x="378088" y="1121244"/>
                  </a:lnTo>
                  <a:lnTo>
                    <a:pt x="432282" y="1072029"/>
                  </a:lnTo>
                  <a:lnTo>
                    <a:pt x="456951" y="1039576"/>
                  </a:lnTo>
                  <a:lnTo>
                    <a:pt x="479767" y="1002359"/>
                  </a:lnTo>
                  <a:lnTo>
                    <a:pt x="500555" y="960731"/>
                  </a:lnTo>
                  <a:lnTo>
                    <a:pt x="519140" y="915043"/>
                  </a:lnTo>
                  <a:lnTo>
                    <a:pt x="535346" y="865644"/>
                  </a:lnTo>
                  <a:lnTo>
                    <a:pt x="548999" y="812887"/>
                  </a:lnTo>
                  <a:lnTo>
                    <a:pt x="559923" y="757121"/>
                  </a:lnTo>
                  <a:lnTo>
                    <a:pt x="567943" y="698699"/>
                  </a:lnTo>
                  <a:lnTo>
                    <a:pt x="572883" y="637970"/>
                  </a:lnTo>
                  <a:lnTo>
                    <a:pt x="574569" y="575287"/>
                  </a:lnTo>
                  <a:lnTo>
                    <a:pt x="572883" y="512603"/>
                  </a:lnTo>
                  <a:lnTo>
                    <a:pt x="567943" y="451874"/>
                  </a:lnTo>
                  <a:lnTo>
                    <a:pt x="559923" y="393451"/>
                  </a:lnTo>
                  <a:lnTo>
                    <a:pt x="548999" y="337686"/>
                  </a:lnTo>
                  <a:lnTo>
                    <a:pt x="535346" y="284928"/>
                  </a:lnTo>
                  <a:lnTo>
                    <a:pt x="519140" y="235530"/>
                  </a:lnTo>
                  <a:lnTo>
                    <a:pt x="500555" y="189841"/>
                  </a:lnTo>
                  <a:lnTo>
                    <a:pt x="479767" y="148213"/>
                  </a:lnTo>
                  <a:lnTo>
                    <a:pt x="456951" y="110997"/>
                  </a:lnTo>
                  <a:lnTo>
                    <a:pt x="432282" y="78543"/>
                  </a:lnTo>
                  <a:lnTo>
                    <a:pt x="378088" y="29328"/>
                  </a:lnTo>
                  <a:lnTo>
                    <a:pt x="318587" y="3375"/>
                  </a:lnTo>
                  <a:lnTo>
                    <a:pt x="287284" y="0"/>
                  </a:lnTo>
                  <a:close/>
                </a:path>
              </a:pathLst>
            </a:custGeom>
            <a:solidFill>
              <a:srgbClr val="FC5507">
                <a:alpha val="50199"/>
              </a:srgbClr>
            </a:solidFill>
          </p:spPr>
          <p:txBody>
            <a:bodyPr wrap="square" lIns="0" tIns="0" rIns="0" bIns="0" rtlCol="0"/>
            <a:lstStyle/>
            <a:p>
              <a:endParaRPr/>
            </a:p>
          </p:txBody>
        </p:sp>
        <p:sp>
          <p:nvSpPr>
            <p:cNvPr id="36" name="object 36"/>
            <p:cNvSpPr/>
            <p:nvPr/>
          </p:nvSpPr>
          <p:spPr>
            <a:xfrm>
              <a:off x="4737205" y="4738063"/>
              <a:ext cx="574675" cy="1150620"/>
            </a:xfrm>
            <a:custGeom>
              <a:avLst/>
              <a:gdLst/>
              <a:ahLst/>
              <a:cxnLst/>
              <a:rect l="l" t="t" r="r" b="b"/>
              <a:pathLst>
                <a:path w="574675" h="1150620">
                  <a:moveTo>
                    <a:pt x="0" y="575286"/>
                  </a:moveTo>
                  <a:lnTo>
                    <a:pt x="1685" y="512602"/>
                  </a:lnTo>
                  <a:lnTo>
                    <a:pt x="6626" y="451873"/>
                  </a:lnTo>
                  <a:lnTo>
                    <a:pt x="14645" y="393451"/>
                  </a:lnTo>
                  <a:lnTo>
                    <a:pt x="25569" y="337685"/>
                  </a:lnTo>
                  <a:lnTo>
                    <a:pt x="39222" y="284928"/>
                  </a:lnTo>
                  <a:lnTo>
                    <a:pt x="55429" y="235529"/>
                  </a:lnTo>
                  <a:lnTo>
                    <a:pt x="74014" y="189840"/>
                  </a:lnTo>
                  <a:lnTo>
                    <a:pt x="94802" y="148213"/>
                  </a:lnTo>
                  <a:lnTo>
                    <a:pt x="117618" y="110996"/>
                  </a:lnTo>
                  <a:lnTo>
                    <a:pt x="142286" y="78543"/>
                  </a:lnTo>
                  <a:lnTo>
                    <a:pt x="196480" y="29328"/>
                  </a:lnTo>
                  <a:lnTo>
                    <a:pt x="255981" y="3375"/>
                  </a:lnTo>
                  <a:lnTo>
                    <a:pt x="287284" y="0"/>
                  </a:lnTo>
                  <a:lnTo>
                    <a:pt x="318587" y="3375"/>
                  </a:lnTo>
                  <a:lnTo>
                    <a:pt x="378088" y="29328"/>
                  </a:lnTo>
                  <a:lnTo>
                    <a:pt x="432282" y="78543"/>
                  </a:lnTo>
                  <a:lnTo>
                    <a:pt x="456951" y="110996"/>
                  </a:lnTo>
                  <a:lnTo>
                    <a:pt x="479767" y="148213"/>
                  </a:lnTo>
                  <a:lnTo>
                    <a:pt x="500555" y="189840"/>
                  </a:lnTo>
                  <a:lnTo>
                    <a:pt x="519139" y="235529"/>
                  </a:lnTo>
                  <a:lnTo>
                    <a:pt x="535346" y="284928"/>
                  </a:lnTo>
                  <a:lnTo>
                    <a:pt x="548999" y="337685"/>
                  </a:lnTo>
                  <a:lnTo>
                    <a:pt x="559923" y="393451"/>
                  </a:lnTo>
                  <a:lnTo>
                    <a:pt x="567943" y="451873"/>
                  </a:lnTo>
                  <a:lnTo>
                    <a:pt x="572883" y="512602"/>
                  </a:lnTo>
                  <a:lnTo>
                    <a:pt x="574569" y="575286"/>
                  </a:lnTo>
                  <a:lnTo>
                    <a:pt x="572883" y="637970"/>
                  </a:lnTo>
                  <a:lnTo>
                    <a:pt x="567943" y="698698"/>
                  </a:lnTo>
                  <a:lnTo>
                    <a:pt x="559923" y="757121"/>
                  </a:lnTo>
                  <a:lnTo>
                    <a:pt x="548999" y="812886"/>
                  </a:lnTo>
                  <a:lnTo>
                    <a:pt x="535346" y="865644"/>
                  </a:lnTo>
                  <a:lnTo>
                    <a:pt x="519139" y="915043"/>
                  </a:lnTo>
                  <a:lnTo>
                    <a:pt x="500555" y="960731"/>
                  </a:lnTo>
                  <a:lnTo>
                    <a:pt x="479767" y="1002359"/>
                  </a:lnTo>
                  <a:lnTo>
                    <a:pt x="456951" y="1039575"/>
                  </a:lnTo>
                  <a:lnTo>
                    <a:pt x="432282" y="1072029"/>
                  </a:lnTo>
                  <a:lnTo>
                    <a:pt x="378088" y="1121244"/>
                  </a:lnTo>
                  <a:lnTo>
                    <a:pt x="318587" y="1147197"/>
                  </a:lnTo>
                  <a:lnTo>
                    <a:pt x="287284" y="1150572"/>
                  </a:lnTo>
                  <a:lnTo>
                    <a:pt x="255981" y="1147197"/>
                  </a:lnTo>
                  <a:lnTo>
                    <a:pt x="196480" y="1121244"/>
                  </a:lnTo>
                  <a:lnTo>
                    <a:pt x="142286" y="1072029"/>
                  </a:lnTo>
                  <a:lnTo>
                    <a:pt x="117618" y="1039575"/>
                  </a:lnTo>
                  <a:lnTo>
                    <a:pt x="94802" y="1002359"/>
                  </a:lnTo>
                  <a:lnTo>
                    <a:pt x="74014" y="960731"/>
                  </a:lnTo>
                  <a:lnTo>
                    <a:pt x="55429" y="915043"/>
                  </a:lnTo>
                  <a:lnTo>
                    <a:pt x="39222" y="865644"/>
                  </a:lnTo>
                  <a:lnTo>
                    <a:pt x="25569" y="812886"/>
                  </a:lnTo>
                  <a:lnTo>
                    <a:pt x="14645" y="757121"/>
                  </a:lnTo>
                  <a:lnTo>
                    <a:pt x="6626" y="698698"/>
                  </a:lnTo>
                  <a:lnTo>
                    <a:pt x="1685" y="637970"/>
                  </a:lnTo>
                  <a:lnTo>
                    <a:pt x="0" y="575286"/>
                  </a:lnTo>
                  <a:close/>
                </a:path>
              </a:pathLst>
            </a:custGeom>
            <a:ln w="18843">
              <a:solidFill>
                <a:srgbClr val="B93C03"/>
              </a:solidFill>
            </a:ln>
          </p:spPr>
          <p:txBody>
            <a:bodyPr wrap="square" lIns="0" tIns="0" rIns="0" bIns="0" rtlCol="0"/>
            <a:lstStyle/>
            <a:p>
              <a:endParaRPr/>
            </a:p>
          </p:txBody>
        </p:sp>
      </p:grpSp>
      <p:pic>
        <p:nvPicPr>
          <p:cNvPr id="37" name="object 37"/>
          <p:cNvPicPr/>
          <p:nvPr/>
        </p:nvPicPr>
        <p:blipFill>
          <a:blip r:embed="rId8" cstate="print"/>
          <a:stretch>
            <a:fillRect/>
          </a:stretch>
        </p:blipFill>
        <p:spPr>
          <a:xfrm>
            <a:off x="4512054" y="4634166"/>
            <a:ext cx="111327" cy="108168"/>
          </a:xfrm>
          <a:prstGeom prst="rect">
            <a:avLst/>
          </a:prstGeom>
        </p:spPr>
      </p:pic>
      <p:pic>
        <p:nvPicPr>
          <p:cNvPr id="38" name="object 38"/>
          <p:cNvPicPr/>
          <p:nvPr/>
        </p:nvPicPr>
        <p:blipFill>
          <a:blip r:embed="rId6" cstate="print"/>
          <a:stretch>
            <a:fillRect/>
          </a:stretch>
        </p:blipFill>
        <p:spPr>
          <a:xfrm>
            <a:off x="5034390" y="5041915"/>
            <a:ext cx="111327" cy="108168"/>
          </a:xfrm>
          <a:prstGeom prst="rect">
            <a:avLst/>
          </a:prstGeom>
        </p:spPr>
      </p:pic>
      <p:pic>
        <p:nvPicPr>
          <p:cNvPr id="39" name="object 39"/>
          <p:cNvPicPr/>
          <p:nvPr/>
        </p:nvPicPr>
        <p:blipFill>
          <a:blip r:embed="rId9" cstate="print"/>
          <a:stretch>
            <a:fillRect/>
          </a:stretch>
        </p:blipFill>
        <p:spPr>
          <a:xfrm>
            <a:off x="5531036" y="4467738"/>
            <a:ext cx="111327" cy="108168"/>
          </a:xfrm>
          <a:prstGeom prst="rect">
            <a:avLst/>
          </a:prstGeom>
        </p:spPr>
      </p:pic>
    </p:spTree>
    <p:extLst>
      <p:ext uri="{BB962C8B-B14F-4D97-AF65-F5344CB8AC3E}">
        <p14:creationId xmlns:p14="http://schemas.microsoft.com/office/powerpoint/2010/main" val="3439575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4"/>
          <p:cNvPicPr/>
          <p:nvPr/>
        </p:nvPicPr>
        <p:blipFill>
          <a:blip r:embed="rId2" cstate="print"/>
          <a:stretch>
            <a:fillRect/>
          </a:stretch>
        </p:blipFill>
        <p:spPr>
          <a:xfrm>
            <a:off x="233027" y="1114042"/>
            <a:ext cx="3975354" cy="166115"/>
          </a:xfrm>
          <a:prstGeom prst="rect">
            <a:avLst/>
          </a:prstGeom>
        </p:spPr>
      </p:pic>
      <p:grpSp>
        <p:nvGrpSpPr>
          <p:cNvPr id="7" name="object 5"/>
          <p:cNvGrpSpPr/>
          <p:nvPr/>
        </p:nvGrpSpPr>
        <p:grpSpPr>
          <a:xfrm>
            <a:off x="227839" y="1509076"/>
            <a:ext cx="5954610" cy="4891405"/>
            <a:chOff x="313943" y="1403603"/>
            <a:chExt cx="7802245" cy="4891405"/>
          </a:xfrm>
        </p:grpSpPr>
        <p:pic>
          <p:nvPicPr>
            <p:cNvPr id="8" name="object 6"/>
            <p:cNvPicPr/>
            <p:nvPr/>
          </p:nvPicPr>
          <p:blipFill>
            <a:blip r:embed="rId3" cstate="print"/>
            <a:stretch>
              <a:fillRect/>
            </a:stretch>
          </p:blipFill>
          <p:spPr>
            <a:xfrm>
              <a:off x="1139952" y="1614677"/>
              <a:ext cx="3121152" cy="4680204"/>
            </a:xfrm>
            <a:prstGeom prst="rect">
              <a:avLst/>
            </a:prstGeom>
          </p:spPr>
        </p:pic>
        <p:pic>
          <p:nvPicPr>
            <p:cNvPr id="9" name="object 7"/>
            <p:cNvPicPr/>
            <p:nvPr/>
          </p:nvPicPr>
          <p:blipFill>
            <a:blip r:embed="rId4" cstate="print"/>
            <a:stretch>
              <a:fillRect/>
            </a:stretch>
          </p:blipFill>
          <p:spPr>
            <a:xfrm>
              <a:off x="4994909" y="1614677"/>
              <a:ext cx="3121151" cy="4680204"/>
            </a:xfrm>
            <a:prstGeom prst="rect">
              <a:avLst/>
            </a:prstGeom>
          </p:spPr>
        </p:pic>
        <p:pic>
          <p:nvPicPr>
            <p:cNvPr id="10" name="object 8"/>
            <p:cNvPicPr/>
            <p:nvPr/>
          </p:nvPicPr>
          <p:blipFill>
            <a:blip r:embed="rId5" cstate="print"/>
            <a:stretch>
              <a:fillRect/>
            </a:stretch>
          </p:blipFill>
          <p:spPr>
            <a:xfrm>
              <a:off x="313943" y="1403603"/>
              <a:ext cx="7480554" cy="204977"/>
            </a:xfrm>
            <a:prstGeom prst="rect">
              <a:avLst/>
            </a:prstGeom>
          </p:spPr>
        </p:pic>
        <p:pic>
          <p:nvPicPr>
            <p:cNvPr id="11" name="object 9"/>
            <p:cNvPicPr/>
            <p:nvPr/>
          </p:nvPicPr>
          <p:blipFill>
            <a:blip r:embed="rId6" cstate="print"/>
            <a:stretch>
              <a:fillRect/>
            </a:stretch>
          </p:blipFill>
          <p:spPr>
            <a:xfrm>
              <a:off x="313943" y="2615183"/>
              <a:ext cx="792480" cy="207263"/>
            </a:xfrm>
            <a:prstGeom prst="rect">
              <a:avLst/>
            </a:prstGeom>
          </p:spPr>
        </p:pic>
        <p:pic>
          <p:nvPicPr>
            <p:cNvPr id="12" name="object 10"/>
            <p:cNvPicPr/>
            <p:nvPr/>
          </p:nvPicPr>
          <p:blipFill>
            <a:blip r:embed="rId7" cstate="print"/>
            <a:stretch>
              <a:fillRect/>
            </a:stretch>
          </p:blipFill>
          <p:spPr>
            <a:xfrm>
              <a:off x="313943" y="4955286"/>
              <a:ext cx="890016" cy="157733"/>
            </a:xfrm>
            <a:prstGeom prst="rect">
              <a:avLst/>
            </a:prstGeom>
          </p:spPr>
        </p:pic>
      </p:grpSp>
      <p:pic>
        <p:nvPicPr>
          <p:cNvPr id="13" name="object 11"/>
          <p:cNvPicPr/>
          <p:nvPr/>
        </p:nvPicPr>
        <p:blipFill>
          <a:blip r:embed="rId8" cstate="print"/>
          <a:stretch>
            <a:fillRect/>
          </a:stretch>
        </p:blipFill>
        <p:spPr>
          <a:xfrm>
            <a:off x="6207160" y="1766014"/>
            <a:ext cx="2632040" cy="4680204"/>
          </a:xfrm>
          <a:prstGeom prst="rect">
            <a:avLst/>
          </a:prstGeom>
        </p:spPr>
      </p:pic>
      <p:pic>
        <p:nvPicPr>
          <p:cNvPr id="14" name="object 12"/>
          <p:cNvPicPr/>
          <p:nvPr/>
        </p:nvPicPr>
        <p:blipFill>
          <a:blip r:embed="rId9" cstate="print"/>
          <a:stretch>
            <a:fillRect/>
          </a:stretch>
        </p:blipFill>
        <p:spPr>
          <a:xfrm>
            <a:off x="1360794" y="6446218"/>
            <a:ext cx="1376933" cy="163068"/>
          </a:xfrm>
          <a:prstGeom prst="rect">
            <a:avLst/>
          </a:prstGeom>
        </p:spPr>
      </p:pic>
      <p:pic>
        <p:nvPicPr>
          <p:cNvPr id="15" name="object 13"/>
          <p:cNvPicPr/>
          <p:nvPr/>
        </p:nvPicPr>
        <p:blipFill>
          <a:blip r:embed="rId10" cstate="print"/>
          <a:stretch>
            <a:fillRect/>
          </a:stretch>
        </p:blipFill>
        <p:spPr>
          <a:xfrm>
            <a:off x="4100554" y="6453376"/>
            <a:ext cx="1781556" cy="163068"/>
          </a:xfrm>
          <a:prstGeom prst="rect">
            <a:avLst/>
          </a:prstGeom>
        </p:spPr>
      </p:pic>
      <p:pic>
        <p:nvPicPr>
          <p:cNvPr id="16" name="object 14"/>
          <p:cNvPicPr/>
          <p:nvPr/>
        </p:nvPicPr>
        <p:blipFill>
          <a:blip r:embed="rId11" cstate="print"/>
          <a:stretch>
            <a:fillRect/>
          </a:stretch>
        </p:blipFill>
        <p:spPr>
          <a:xfrm>
            <a:off x="6477000" y="6537939"/>
            <a:ext cx="2013203" cy="204215"/>
          </a:xfrm>
          <a:prstGeom prst="rect">
            <a:avLst/>
          </a:prstGeom>
        </p:spPr>
      </p:pic>
      <p:sp>
        <p:nvSpPr>
          <p:cNvPr id="17" name="object 2"/>
          <p:cNvSpPr txBox="1">
            <a:spLocks noGrp="1"/>
          </p:cNvSpPr>
          <p:nvPr>
            <p:ph type="title"/>
          </p:nvPr>
        </p:nvSpPr>
        <p:spPr>
          <a:xfrm>
            <a:off x="422363" y="228600"/>
            <a:ext cx="7654837" cy="689192"/>
          </a:xfrm>
          <a:prstGeom prst="rect">
            <a:avLst/>
          </a:prstGeom>
        </p:spPr>
        <p:txBody>
          <a:bodyPr vert="horz" wrap="square" lIns="0" tIns="11967" rIns="0" bIns="0" rtlCol="0">
            <a:spAutoFit/>
          </a:bodyPr>
          <a:lstStyle/>
          <a:p>
            <a:pPr marL="11397">
              <a:spcBef>
                <a:spcPts val="94"/>
              </a:spcBef>
            </a:pPr>
            <a:r>
              <a:rPr sz="4400" spc="-22" dirty="0">
                <a:latin typeface="+mn-lt"/>
              </a:rPr>
              <a:t>Limitations</a:t>
            </a:r>
            <a:r>
              <a:rPr sz="4400" spc="-31" dirty="0">
                <a:latin typeface="+mn-lt"/>
              </a:rPr>
              <a:t> </a:t>
            </a:r>
            <a:r>
              <a:rPr sz="4400" spc="-9" dirty="0">
                <a:latin typeface="+mn-lt"/>
              </a:rPr>
              <a:t>of</a:t>
            </a:r>
            <a:r>
              <a:rPr sz="4400" spc="-36" dirty="0">
                <a:latin typeface="+mn-lt"/>
              </a:rPr>
              <a:t> </a:t>
            </a:r>
            <a:r>
              <a:rPr lang="en-GB" sz="4400" spc="-36" dirty="0">
                <a:latin typeface="+mn-lt"/>
              </a:rPr>
              <a:t>K</a:t>
            </a:r>
            <a:r>
              <a:rPr sz="4400" spc="-36" dirty="0">
                <a:latin typeface="+mn-lt"/>
              </a:rPr>
              <a:t>-means</a:t>
            </a:r>
          </a:p>
        </p:txBody>
      </p:sp>
    </p:spTree>
    <p:extLst>
      <p:ext uri="{BB962C8B-B14F-4D97-AF65-F5344CB8AC3E}">
        <p14:creationId xmlns:p14="http://schemas.microsoft.com/office/powerpoint/2010/main" val="811406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0741" y="854333"/>
            <a:ext cx="7197637" cy="689192"/>
          </a:xfrm>
          <a:prstGeom prst="rect">
            <a:avLst/>
          </a:prstGeom>
        </p:spPr>
        <p:txBody>
          <a:bodyPr vert="horz" wrap="square" lIns="0" tIns="11967" rIns="0" bIns="0" rtlCol="0">
            <a:spAutoFit/>
          </a:bodyPr>
          <a:lstStyle/>
          <a:p>
            <a:pPr marL="11397">
              <a:spcBef>
                <a:spcPts val="94"/>
              </a:spcBef>
            </a:pPr>
            <a:r>
              <a:rPr lang="en-GB" sz="4400" spc="-31" dirty="0">
                <a:latin typeface="+mn-lt"/>
              </a:rPr>
              <a:t>Failure</a:t>
            </a:r>
            <a:r>
              <a:rPr lang="en-GB" sz="4400" spc="-36" dirty="0">
                <a:latin typeface="+mn-lt"/>
              </a:rPr>
              <a:t> </a:t>
            </a:r>
            <a:r>
              <a:rPr lang="en-GB" sz="4400" spc="-18" dirty="0">
                <a:latin typeface="+mn-lt"/>
              </a:rPr>
              <a:t>Modes</a:t>
            </a:r>
            <a:r>
              <a:rPr lang="en-GB" sz="4400" spc="-27" dirty="0">
                <a:latin typeface="+mn-lt"/>
              </a:rPr>
              <a:t> </a:t>
            </a:r>
            <a:r>
              <a:rPr lang="en-GB" sz="4400" spc="-9" dirty="0">
                <a:latin typeface="+mn-lt"/>
              </a:rPr>
              <a:t>Of</a:t>
            </a:r>
            <a:r>
              <a:rPr lang="en-GB" sz="4400" spc="-31" dirty="0">
                <a:latin typeface="+mn-lt"/>
              </a:rPr>
              <a:t> </a:t>
            </a:r>
            <a:r>
              <a:rPr lang="en-GB" sz="4400" spc="-36" dirty="0">
                <a:latin typeface="+mn-lt"/>
              </a:rPr>
              <a:t>K-means</a:t>
            </a:r>
          </a:p>
        </p:txBody>
      </p:sp>
      <p:grpSp>
        <p:nvGrpSpPr>
          <p:cNvPr id="3" name="object 3"/>
          <p:cNvGrpSpPr/>
          <p:nvPr/>
        </p:nvGrpSpPr>
        <p:grpSpPr>
          <a:xfrm>
            <a:off x="941334" y="2235540"/>
            <a:ext cx="1875558" cy="1933575"/>
            <a:chOff x="1035467" y="2533611"/>
            <a:chExt cx="2063114" cy="2191385"/>
          </a:xfrm>
        </p:grpSpPr>
        <p:sp>
          <p:nvSpPr>
            <p:cNvPr id="4" name="object 4"/>
            <p:cNvSpPr/>
            <p:nvPr/>
          </p:nvSpPr>
          <p:spPr>
            <a:xfrm>
              <a:off x="1044892" y="2762285"/>
              <a:ext cx="631190" cy="622935"/>
            </a:xfrm>
            <a:custGeom>
              <a:avLst/>
              <a:gdLst/>
              <a:ahLst/>
              <a:cxnLst/>
              <a:rect l="l" t="t" r="r" b="b"/>
              <a:pathLst>
                <a:path w="631189" h="622935">
                  <a:moveTo>
                    <a:pt x="315541" y="0"/>
                  </a:moveTo>
                  <a:lnTo>
                    <a:pt x="268913" y="3374"/>
                  </a:lnTo>
                  <a:lnTo>
                    <a:pt x="224409" y="13176"/>
                  </a:lnTo>
                  <a:lnTo>
                    <a:pt x="182517" y="28925"/>
                  </a:lnTo>
                  <a:lnTo>
                    <a:pt x="143726" y="50139"/>
                  </a:lnTo>
                  <a:lnTo>
                    <a:pt x="108523" y="76337"/>
                  </a:lnTo>
                  <a:lnTo>
                    <a:pt x="77397" y="107036"/>
                  </a:lnTo>
                  <a:lnTo>
                    <a:pt x="50835" y="141757"/>
                  </a:lnTo>
                  <a:lnTo>
                    <a:pt x="29327" y="180017"/>
                  </a:lnTo>
                  <a:lnTo>
                    <a:pt x="13359" y="221335"/>
                  </a:lnTo>
                  <a:lnTo>
                    <a:pt x="3421" y="265230"/>
                  </a:lnTo>
                  <a:lnTo>
                    <a:pt x="0" y="311219"/>
                  </a:lnTo>
                  <a:lnTo>
                    <a:pt x="3421" y="357209"/>
                  </a:lnTo>
                  <a:lnTo>
                    <a:pt x="13359" y="401104"/>
                  </a:lnTo>
                  <a:lnTo>
                    <a:pt x="29327" y="442422"/>
                  </a:lnTo>
                  <a:lnTo>
                    <a:pt x="50835" y="480683"/>
                  </a:lnTo>
                  <a:lnTo>
                    <a:pt x="77397" y="515403"/>
                  </a:lnTo>
                  <a:lnTo>
                    <a:pt x="108523" y="546103"/>
                  </a:lnTo>
                  <a:lnTo>
                    <a:pt x="143726" y="572301"/>
                  </a:lnTo>
                  <a:lnTo>
                    <a:pt x="182517" y="593515"/>
                  </a:lnTo>
                  <a:lnTo>
                    <a:pt x="224409" y="609264"/>
                  </a:lnTo>
                  <a:lnTo>
                    <a:pt x="268913" y="619066"/>
                  </a:lnTo>
                  <a:lnTo>
                    <a:pt x="315541" y="622440"/>
                  </a:lnTo>
                  <a:lnTo>
                    <a:pt x="362170" y="619066"/>
                  </a:lnTo>
                  <a:lnTo>
                    <a:pt x="406674" y="609264"/>
                  </a:lnTo>
                  <a:lnTo>
                    <a:pt x="448566" y="593515"/>
                  </a:lnTo>
                  <a:lnTo>
                    <a:pt x="487358" y="572301"/>
                  </a:lnTo>
                  <a:lnTo>
                    <a:pt x="522560" y="546103"/>
                  </a:lnTo>
                  <a:lnTo>
                    <a:pt x="553687" y="515403"/>
                  </a:lnTo>
                  <a:lnTo>
                    <a:pt x="580248" y="480683"/>
                  </a:lnTo>
                  <a:lnTo>
                    <a:pt x="601757" y="442422"/>
                  </a:lnTo>
                  <a:lnTo>
                    <a:pt x="617724" y="401104"/>
                  </a:lnTo>
                  <a:lnTo>
                    <a:pt x="627663" y="357209"/>
                  </a:lnTo>
                  <a:lnTo>
                    <a:pt x="631084" y="311219"/>
                  </a:lnTo>
                  <a:lnTo>
                    <a:pt x="627663" y="265230"/>
                  </a:lnTo>
                  <a:lnTo>
                    <a:pt x="617724" y="221335"/>
                  </a:lnTo>
                  <a:lnTo>
                    <a:pt x="601757" y="180017"/>
                  </a:lnTo>
                  <a:lnTo>
                    <a:pt x="580248" y="141757"/>
                  </a:lnTo>
                  <a:lnTo>
                    <a:pt x="553687" y="107036"/>
                  </a:lnTo>
                  <a:lnTo>
                    <a:pt x="522560" y="76337"/>
                  </a:lnTo>
                  <a:lnTo>
                    <a:pt x="487358" y="50139"/>
                  </a:lnTo>
                  <a:lnTo>
                    <a:pt x="448566" y="28925"/>
                  </a:lnTo>
                  <a:lnTo>
                    <a:pt x="406674" y="13176"/>
                  </a:lnTo>
                  <a:lnTo>
                    <a:pt x="362170" y="3374"/>
                  </a:lnTo>
                  <a:lnTo>
                    <a:pt x="315541" y="0"/>
                  </a:lnTo>
                  <a:close/>
                </a:path>
              </a:pathLst>
            </a:custGeom>
            <a:solidFill>
              <a:srgbClr val="FC5507">
                <a:alpha val="49018"/>
              </a:srgbClr>
            </a:solidFill>
          </p:spPr>
          <p:txBody>
            <a:bodyPr wrap="square" lIns="0" tIns="0" rIns="0" bIns="0" rtlCol="0"/>
            <a:lstStyle/>
            <a:p>
              <a:endParaRPr/>
            </a:p>
          </p:txBody>
        </p:sp>
        <p:sp>
          <p:nvSpPr>
            <p:cNvPr id="5" name="object 5"/>
            <p:cNvSpPr/>
            <p:nvPr/>
          </p:nvSpPr>
          <p:spPr>
            <a:xfrm>
              <a:off x="1044892" y="2762285"/>
              <a:ext cx="631190" cy="622935"/>
            </a:xfrm>
            <a:custGeom>
              <a:avLst/>
              <a:gdLst/>
              <a:ahLst/>
              <a:cxnLst/>
              <a:rect l="l" t="t" r="r" b="b"/>
              <a:pathLst>
                <a:path w="631189" h="622935">
                  <a:moveTo>
                    <a:pt x="0" y="311220"/>
                  </a:moveTo>
                  <a:lnTo>
                    <a:pt x="3421" y="265230"/>
                  </a:lnTo>
                  <a:lnTo>
                    <a:pt x="13359" y="221335"/>
                  </a:lnTo>
                  <a:lnTo>
                    <a:pt x="29327" y="180017"/>
                  </a:lnTo>
                  <a:lnTo>
                    <a:pt x="50835" y="141757"/>
                  </a:lnTo>
                  <a:lnTo>
                    <a:pt x="77397" y="107037"/>
                  </a:lnTo>
                  <a:lnTo>
                    <a:pt x="108523" y="76337"/>
                  </a:lnTo>
                  <a:lnTo>
                    <a:pt x="143726" y="50139"/>
                  </a:lnTo>
                  <a:lnTo>
                    <a:pt x="182517" y="28925"/>
                  </a:lnTo>
                  <a:lnTo>
                    <a:pt x="224409" y="13176"/>
                  </a:lnTo>
                  <a:lnTo>
                    <a:pt x="268913" y="3374"/>
                  </a:lnTo>
                  <a:lnTo>
                    <a:pt x="315542" y="0"/>
                  </a:lnTo>
                  <a:lnTo>
                    <a:pt x="362170" y="3374"/>
                  </a:lnTo>
                  <a:lnTo>
                    <a:pt x="406674" y="13176"/>
                  </a:lnTo>
                  <a:lnTo>
                    <a:pt x="448566" y="28925"/>
                  </a:lnTo>
                  <a:lnTo>
                    <a:pt x="487358" y="50139"/>
                  </a:lnTo>
                  <a:lnTo>
                    <a:pt x="522560" y="76337"/>
                  </a:lnTo>
                  <a:lnTo>
                    <a:pt x="553686" y="107037"/>
                  </a:lnTo>
                  <a:lnTo>
                    <a:pt x="580248" y="141757"/>
                  </a:lnTo>
                  <a:lnTo>
                    <a:pt x="601756" y="180017"/>
                  </a:lnTo>
                  <a:lnTo>
                    <a:pt x="617724" y="221335"/>
                  </a:lnTo>
                  <a:lnTo>
                    <a:pt x="627662" y="265230"/>
                  </a:lnTo>
                  <a:lnTo>
                    <a:pt x="631084" y="311220"/>
                  </a:lnTo>
                  <a:lnTo>
                    <a:pt x="627662" y="357210"/>
                  </a:lnTo>
                  <a:lnTo>
                    <a:pt x="617724" y="401105"/>
                  </a:lnTo>
                  <a:lnTo>
                    <a:pt x="601756" y="442423"/>
                  </a:lnTo>
                  <a:lnTo>
                    <a:pt x="580248" y="480683"/>
                  </a:lnTo>
                  <a:lnTo>
                    <a:pt x="553686" y="515404"/>
                  </a:lnTo>
                  <a:lnTo>
                    <a:pt x="522560" y="546103"/>
                  </a:lnTo>
                  <a:lnTo>
                    <a:pt x="487358" y="572301"/>
                  </a:lnTo>
                  <a:lnTo>
                    <a:pt x="448566" y="593515"/>
                  </a:lnTo>
                  <a:lnTo>
                    <a:pt x="406674" y="609264"/>
                  </a:lnTo>
                  <a:lnTo>
                    <a:pt x="362170" y="619066"/>
                  </a:lnTo>
                  <a:lnTo>
                    <a:pt x="315542" y="622441"/>
                  </a:lnTo>
                  <a:lnTo>
                    <a:pt x="268913" y="619066"/>
                  </a:lnTo>
                  <a:lnTo>
                    <a:pt x="224409" y="609264"/>
                  </a:lnTo>
                  <a:lnTo>
                    <a:pt x="182517" y="593515"/>
                  </a:lnTo>
                  <a:lnTo>
                    <a:pt x="143726" y="572301"/>
                  </a:lnTo>
                  <a:lnTo>
                    <a:pt x="108523" y="546103"/>
                  </a:lnTo>
                  <a:lnTo>
                    <a:pt x="77397" y="515404"/>
                  </a:lnTo>
                  <a:lnTo>
                    <a:pt x="50835" y="480683"/>
                  </a:lnTo>
                  <a:lnTo>
                    <a:pt x="29327" y="442423"/>
                  </a:lnTo>
                  <a:lnTo>
                    <a:pt x="13359" y="401105"/>
                  </a:lnTo>
                  <a:lnTo>
                    <a:pt x="3421" y="357210"/>
                  </a:lnTo>
                  <a:lnTo>
                    <a:pt x="0" y="311220"/>
                  </a:lnTo>
                  <a:close/>
                </a:path>
              </a:pathLst>
            </a:custGeom>
            <a:ln w="18850">
              <a:solidFill>
                <a:srgbClr val="B93C03"/>
              </a:solidFill>
            </a:ln>
          </p:spPr>
          <p:txBody>
            <a:bodyPr wrap="square" lIns="0" tIns="0" rIns="0" bIns="0" rtlCol="0"/>
            <a:lstStyle/>
            <a:p>
              <a:endParaRPr/>
            </a:p>
          </p:txBody>
        </p:sp>
        <p:sp>
          <p:nvSpPr>
            <p:cNvPr id="6" name="object 6"/>
            <p:cNvSpPr/>
            <p:nvPr/>
          </p:nvSpPr>
          <p:spPr>
            <a:xfrm>
              <a:off x="2457767" y="2762285"/>
              <a:ext cx="631190" cy="622935"/>
            </a:xfrm>
            <a:custGeom>
              <a:avLst/>
              <a:gdLst/>
              <a:ahLst/>
              <a:cxnLst/>
              <a:rect l="l" t="t" r="r" b="b"/>
              <a:pathLst>
                <a:path w="631189" h="622935">
                  <a:moveTo>
                    <a:pt x="315541" y="0"/>
                  </a:moveTo>
                  <a:lnTo>
                    <a:pt x="268913" y="3374"/>
                  </a:lnTo>
                  <a:lnTo>
                    <a:pt x="224409" y="13176"/>
                  </a:lnTo>
                  <a:lnTo>
                    <a:pt x="182517" y="28925"/>
                  </a:lnTo>
                  <a:lnTo>
                    <a:pt x="143726" y="50139"/>
                  </a:lnTo>
                  <a:lnTo>
                    <a:pt x="108523" y="76337"/>
                  </a:lnTo>
                  <a:lnTo>
                    <a:pt x="77397" y="107036"/>
                  </a:lnTo>
                  <a:lnTo>
                    <a:pt x="50835" y="141757"/>
                  </a:lnTo>
                  <a:lnTo>
                    <a:pt x="29327" y="180017"/>
                  </a:lnTo>
                  <a:lnTo>
                    <a:pt x="13359" y="221335"/>
                  </a:lnTo>
                  <a:lnTo>
                    <a:pt x="3421" y="265230"/>
                  </a:lnTo>
                  <a:lnTo>
                    <a:pt x="0" y="311219"/>
                  </a:lnTo>
                  <a:lnTo>
                    <a:pt x="3421" y="357209"/>
                  </a:lnTo>
                  <a:lnTo>
                    <a:pt x="13359" y="401104"/>
                  </a:lnTo>
                  <a:lnTo>
                    <a:pt x="29327" y="442422"/>
                  </a:lnTo>
                  <a:lnTo>
                    <a:pt x="50835" y="480683"/>
                  </a:lnTo>
                  <a:lnTo>
                    <a:pt x="77397" y="515403"/>
                  </a:lnTo>
                  <a:lnTo>
                    <a:pt x="108523" y="546103"/>
                  </a:lnTo>
                  <a:lnTo>
                    <a:pt x="143726" y="572301"/>
                  </a:lnTo>
                  <a:lnTo>
                    <a:pt x="182517" y="593515"/>
                  </a:lnTo>
                  <a:lnTo>
                    <a:pt x="224409" y="609264"/>
                  </a:lnTo>
                  <a:lnTo>
                    <a:pt x="268913" y="619066"/>
                  </a:lnTo>
                  <a:lnTo>
                    <a:pt x="315541" y="622440"/>
                  </a:lnTo>
                  <a:lnTo>
                    <a:pt x="362170" y="619066"/>
                  </a:lnTo>
                  <a:lnTo>
                    <a:pt x="406674" y="609264"/>
                  </a:lnTo>
                  <a:lnTo>
                    <a:pt x="448566" y="593515"/>
                  </a:lnTo>
                  <a:lnTo>
                    <a:pt x="487358" y="572301"/>
                  </a:lnTo>
                  <a:lnTo>
                    <a:pt x="522560" y="546103"/>
                  </a:lnTo>
                  <a:lnTo>
                    <a:pt x="553687" y="515403"/>
                  </a:lnTo>
                  <a:lnTo>
                    <a:pt x="580248" y="480683"/>
                  </a:lnTo>
                  <a:lnTo>
                    <a:pt x="601757" y="442422"/>
                  </a:lnTo>
                  <a:lnTo>
                    <a:pt x="617724" y="401104"/>
                  </a:lnTo>
                  <a:lnTo>
                    <a:pt x="627663" y="357209"/>
                  </a:lnTo>
                  <a:lnTo>
                    <a:pt x="631084" y="311219"/>
                  </a:lnTo>
                  <a:lnTo>
                    <a:pt x="627663" y="265230"/>
                  </a:lnTo>
                  <a:lnTo>
                    <a:pt x="617724" y="221335"/>
                  </a:lnTo>
                  <a:lnTo>
                    <a:pt x="601757" y="180017"/>
                  </a:lnTo>
                  <a:lnTo>
                    <a:pt x="580248" y="141757"/>
                  </a:lnTo>
                  <a:lnTo>
                    <a:pt x="553687" y="107036"/>
                  </a:lnTo>
                  <a:lnTo>
                    <a:pt x="522560" y="76337"/>
                  </a:lnTo>
                  <a:lnTo>
                    <a:pt x="487358" y="50139"/>
                  </a:lnTo>
                  <a:lnTo>
                    <a:pt x="448566" y="28925"/>
                  </a:lnTo>
                  <a:lnTo>
                    <a:pt x="406674" y="13176"/>
                  </a:lnTo>
                  <a:lnTo>
                    <a:pt x="362170" y="3374"/>
                  </a:lnTo>
                  <a:lnTo>
                    <a:pt x="315541" y="0"/>
                  </a:lnTo>
                  <a:close/>
                </a:path>
              </a:pathLst>
            </a:custGeom>
            <a:solidFill>
              <a:srgbClr val="118CC4">
                <a:alpha val="49018"/>
              </a:srgbClr>
            </a:solidFill>
          </p:spPr>
          <p:txBody>
            <a:bodyPr wrap="square" lIns="0" tIns="0" rIns="0" bIns="0" rtlCol="0"/>
            <a:lstStyle/>
            <a:p>
              <a:endParaRPr/>
            </a:p>
          </p:txBody>
        </p:sp>
        <p:sp>
          <p:nvSpPr>
            <p:cNvPr id="7" name="object 7"/>
            <p:cNvSpPr/>
            <p:nvPr/>
          </p:nvSpPr>
          <p:spPr>
            <a:xfrm>
              <a:off x="2457767" y="2762285"/>
              <a:ext cx="631190" cy="622935"/>
            </a:xfrm>
            <a:custGeom>
              <a:avLst/>
              <a:gdLst/>
              <a:ahLst/>
              <a:cxnLst/>
              <a:rect l="l" t="t" r="r" b="b"/>
              <a:pathLst>
                <a:path w="631189" h="622935">
                  <a:moveTo>
                    <a:pt x="0" y="311220"/>
                  </a:moveTo>
                  <a:lnTo>
                    <a:pt x="3421" y="265230"/>
                  </a:lnTo>
                  <a:lnTo>
                    <a:pt x="13359" y="221335"/>
                  </a:lnTo>
                  <a:lnTo>
                    <a:pt x="29327" y="180017"/>
                  </a:lnTo>
                  <a:lnTo>
                    <a:pt x="50835" y="141757"/>
                  </a:lnTo>
                  <a:lnTo>
                    <a:pt x="77397" y="107037"/>
                  </a:lnTo>
                  <a:lnTo>
                    <a:pt x="108523" y="76337"/>
                  </a:lnTo>
                  <a:lnTo>
                    <a:pt x="143726" y="50139"/>
                  </a:lnTo>
                  <a:lnTo>
                    <a:pt x="182517" y="28925"/>
                  </a:lnTo>
                  <a:lnTo>
                    <a:pt x="224409" y="13176"/>
                  </a:lnTo>
                  <a:lnTo>
                    <a:pt x="268913" y="3374"/>
                  </a:lnTo>
                  <a:lnTo>
                    <a:pt x="315542" y="0"/>
                  </a:lnTo>
                  <a:lnTo>
                    <a:pt x="362170" y="3374"/>
                  </a:lnTo>
                  <a:lnTo>
                    <a:pt x="406674" y="13176"/>
                  </a:lnTo>
                  <a:lnTo>
                    <a:pt x="448566" y="28925"/>
                  </a:lnTo>
                  <a:lnTo>
                    <a:pt x="487358" y="50139"/>
                  </a:lnTo>
                  <a:lnTo>
                    <a:pt x="522560" y="76337"/>
                  </a:lnTo>
                  <a:lnTo>
                    <a:pt x="553686" y="107037"/>
                  </a:lnTo>
                  <a:lnTo>
                    <a:pt x="580248" y="141757"/>
                  </a:lnTo>
                  <a:lnTo>
                    <a:pt x="601756" y="180017"/>
                  </a:lnTo>
                  <a:lnTo>
                    <a:pt x="617724" y="221335"/>
                  </a:lnTo>
                  <a:lnTo>
                    <a:pt x="627662" y="265230"/>
                  </a:lnTo>
                  <a:lnTo>
                    <a:pt x="631084" y="311220"/>
                  </a:lnTo>
                  <a:lnTo>
                    <a:pt x="627662" y="357210"/>
                  </a:lnTo>
                  <a:lnTo>
                    <a:pt x="617724" y="401105"/>
                  </a:lnTo>
                  <a:lnTo>
                    <a:pt x="601756" y="442423"/>
                  </a:lnTo>
                  <a:lnTo>
                    <a:pt x="580248" y="480683"/>
                  </a:lnTo>
                  <a:lnTo>
                    <a:pt x="553686" y="515404"/>
                  </a:lnTo>
                  <a:lnTo>
                    <a:pt x="522560" y="546103"/>
                  </a:lnTo>
                  <a:lnTo>
                    <a:pt x="487358" y="572301"/>
                  </a:lnTo>
                  <a:lnTo>
                    <a:pt x="448566" y="593515"/>
                  </a:lnTo>
                  <a:lnTo>
                    <a:pt x="406674" y="609264"/>
                  </a:lnTo>
                  <a:lnTo>
                    <a:pt x="362170" y="619066"/>
                  </a:lnTo>
                  <a:lnTo>
                    <a:pt x="315542" y="622441"/>
                  </a:lnTo>
                  <a:lnTo>
                    <a:pt x="268913" y="619066"/>
                  </a:lnTo>
                  <a:lnTo>
                    <a:pt x="224409" y="609264"/>
                  </a:lnTo>
                  <a:lnTo>
                    <a:pt x="182517" y="593515"/>
                  </a:lnTo>
                  <a:lnTo>
                    <a:pt x="143726" y="572301"/>
                  </a:lnTo>
                  <a:lnTo>
                    <a:pt x="108523" y="546103"/>
                  </a:lnTo>
                  <a:lnTo>
                    <a:pt x="77397" y="515404"/>
                  </a:lnTo>
                  <a:lnTo>
                    <a:pt x="50835" y="480683"/>
                  </a:lnTo>
                  <a:lnTo>
                    <a:pt x="29327" y="442423"/>
                  </a:lnTo>
                  <a:lnTo>
                    <a:pt x="13359" y="401105"/>
                  </a:lnTo>
                  <a:lnTo>
                    <a:pt x="3421" y="357210"/>
                  </a:lnTo>
                  <a:lnTo>
                    <a:pt x="0" y="311220"/>
                  </a:lnTo>
                  <a:close/>
                </a:path>
              </a:pathLst>
            </a:custGeom>
            <a:ln w="18850">
              <a:solidFill>
                <a:srgbClr val="09658F"/>
              </a:solidFill>
            </a:ln>
          </p:spPr>
          <p:txBody>
            <a:bodyPr wrap="square" lIns="0" tIns="0" rIns="0" bIns="0" rtlCol="0"/>
            <a:lstStyle/>
            <a:p>
              <a:endParaRPr/>
            </a:p>
          </p:txBody>
        </p:sp>
        <p:sp>
          <p:nvSpPr>
            <p:cNvPr id="8" name="object 8"/>
            <p:cNvSpPr/>
            <p:nvPr/>
          </p:nvSpPr>
          <p:spPr>
            <a:xfrm>
              <a:off x="1327467" y="3229115"/>
              <a:ext cx="1507490" cy="1486535"/>
            </a:xfrm>
            <a:custGeom>
              <a:avLst/>
              <a:gdLst/>
              <a:ahLst/>
              <a:cxnLst/>
              <a:rect l="l" t="t" r="r" b="b"/>
              <a:pathLst>
                <a:path w="1507489" h="1486535">
                  <a:moveTo>
                    <a:pt x="753532" y="0"/>
                  </a:moveTo>
                  <a:lnTo>
                    <a:pt x="705878" y="1462"/>
                  </a:lnTo>
                  <a:lnTo>
                    <a:pt x="659011" y="5790"/>
                  </a:lnTo>
                  <a:lnTo>
                    <a:pt x="613020" y="12898"/>
                  </a:lnTo>
                  <a:lnTo>
                    <a:pt x="567993" y="22698"/>
                  </a:lnTo>
                  <a:lnTo>
                    <a:pt x="524018" y="35103"/>
                  </a:lnTo>
                  <a:lnTo>
                    <a:pt x="481185" y="50026"/>
                  </a:lnTo>
                  <a:lnTo>
                    <a:pt x="439580" y="67380"/>
                  </a:lnTo>
                  <a:lnTo>
                    <a:pt x="399293" y="87079"/>
                  </a:lnTo>
                  <a:lnTo>
                    <a:pt x="360411" y="109034"/>
                  </a:lnTo>
                  <a:lnTo>
                    <a:pt x="323023" y="133159"/>
                  </a:lnTo>
                  <a:lnTo>
                    <a:pt x="287217" y="159366"/>
                  </a:lnTo>
                  <a:lnTo>
                    <a:pt x="253081" y="187570"/>
                  </a:lnTo>
                  <a:lnTo>
                    <a:pt x="220704" y="217682"/>
                  </a:lnTo>
                  <a:lnTo>
                    <a:pt x="190174" y="249615"/>
                  </a:lnTo>
                  <a:lnTo>
                    <a:pt x="161579" y="283283"/>
                  </a:lnTo>
                  <a:lnTo>
                    <a:pt x="135007" y="318599"/>
                  </a:lnTo>
                  <a:lnTo>
                    <a:pt x="110548" y="355475"/>
                  </a:lnTo>
                  <a:lnTo>
                    <a:pt x="88288" y="393825"/>
                  </a:lnTo>
                  <a:lnTo>
                    <a:pt x="68316" y="433560"/>
                  </a:lnTo>
                  <a:lnTo>
                    <a:pt x="50721" y="474595"/>
                  </a:lnTo>
                  <a:lnTo>
                    <a:pt x="35590" y="516842"/>
                  </a:lnTo>
                  <a:lnTo>
                    <a:pt x="23013" y="560215"/>
                  </a:lnTo>
                  <a:lnTo>
                    <a:pt x="13077" y="604625"/>
                  </a:lnTo>
                  <a:lnTo>
                    <a:pt x="5871" y="649986"/>
                  </a:lnTo>
                  <a:lnTo>
                    <a:pt x="1482" y="696212"/>
                  </a:lnTo>
                  <a:lnTo>
                    <a:pt x="0" y="743214"/>
                  </a:lnTo>
                  <a:lnTo>
                    <a:pt x="1482" y="790216"/>
                  </a:lnTo>
                  <a:lnTo>
                    <a:pt x="5871" y="836441"/>
                  </a:lnTo>
                  <a:lnTo>
                    <a:pt x="13077" y="881802"/>
                  </a:lnTo>
                  <a:lnTo>
                    <a:pt x="23013" y="926212"/>
                  </a:lnTo>
                  <a:lnTo>
                    <a:pt x="35590" y="969584"/>
                  </a:lnTo>
                  <a:lnTo>
                    <a:pt x="50721" y="1011831"/>
                  </a:lnTo>
                  <a:lnTo>
                    <a:pt x="68316" y="1052866"/>
                  </a:lnTo>
                  <a:lnTo>
                    <a:pt x="88288" y="1092602"/>
                  </a:lnTo>
                  <a:lnTo>
                    <a:pt x="110548" y="1130951"/>
                  </a:lnTo>
                  <a:lnTo>
                    <a:pt x="135007" y="1167827"/>
                  </a:lnTo>
                  <a:lnTo>
                    <a:pt x="161579" y="1203143"/>
                  </a:lnTo>
                  <a:lnTo>
                    <a:pt x="190174" y="1236811"/>
                  </a:lnTo>
                  <a:lnTo>
                    <a:pt x="220704" y="1268745"/>
                  </a:lnTo>
                  <a:lnTo>
                    <a:pt x="253081" y="1298857"/>
                  </a:lnTo>
                  <a:lnTo>
                    <a:pt x="287217" y="1327060"/>
                  </a:lnTo>
                  <a:lnTo>
                    <a:pt x="323023" y="1353268"/>
                  </a:lnTo>
                  <a:lnTo>
                    <a:pt x="360411" y="1377392"/>
                  </a:lnTo>
                  <a:lnTo>
                    <a:pt x="399293" y="1399348"/>
                  </a:lnTo>
                  <a:lnTo>
                    <a:pt x="439580" y="1419046"/>
                  </a:lnTo>
                  <a:lnTo>
                    <a:pt x="481185" y="1436400"/>
                  </a:lnTo>
                  <a:lnTo>
                    <a:pt x="524018" y="1451323"/>
                  </a:lnTo>
                  <a:lnTo>
                    <a:pt x="567993" y="1463728"/>
                  </a:lnTo>
                  <a:lnTo>
                    <a:pt x="613020" y="1473528"/>
                  </a:lnTo>
                  <a:lnTo>
                    <a:pt x="659011" y="1480636"/>
                  </a:lnTo>
                  <a:lnTo>
                    <a:pt x="705878" y="1484964"/>
                  </a:lnTo>
                  <a:lnTo>
                    <a:pt x="753532" y="1486427"/>
                  </a:lnTo>
                  <a:lnTo>
                    <a:pt x="801187" y="1484964"/>
                  </a:lnTo>
                  <a:lnTo>
                    <a:pt x="848054" y="1480636"/>
                  </a:lnTo>
                  <a:lnTo>
                    <a:pt x="894045" y="1473528"/>
                  </a:lnTo>
                  <a:lnTo>
                    <a:pt x="939072" y="1463728"/>
                  </a:lnTo>
                  <a:lnTo>
                    <a:pt x="983047" y="1451323"/>
                  </a:lnTo>
                  <a:lnTo>
                    <a:pt x="1025880" y="1436400"/>
                  </a:lnTo>
                  <a:lnTo>
                    <a:pt x="1067485" y="1419046"/>
                  </a:lnTo>
                  <a:lnTo>
                    <a:pt x="1107772" y="1399348"/>
                  </a:lnTo>
                  <a:lnTo>
                    <a:pt x="1146654" y="1377392"/>
                  </a:lnTo>
                  <a:lnTo>
                    <a:pt x="1184043" y="1353268"/>
                  </a:lnTo>
                  <a:lnTo>
                    <a:pt x="1219849" y="1327060"/>
                  </a:lnTo>
                  <a:lnTo>
                    <a:pt x="1253984" y="1298857"/>
                  </a:lnTo>
                  <a:lnTo>
                    <a:pt x="1286361" y="1268745"/>
                  </a:lnTo>
                  <a:lnTo>
                    <a:pt x="1316892" y="1236811"/>
                  </a:lnTo>
                  <a:lnTo>
                    <a:pt x="1345487" y="1203143"/>
                  </a:lnTo>
                  <a:lnTo>
                    <a:pt x="1372058" y="1167827"/>
                  </a:lnTo>
                  <a:lnTo>
                    <a:pt x="1396518" y="1130951"/>
                  </a:lnTo>
                  <a:lnTo>
                    <a:pt x="1418778" y="1092602"/>
                  </a:lnTo>
                  <a:lnTo>
                    <a:pt x="1438750" y="1052866"/>
                  </a:lnTo>
                  <a:lnTo>
                    <a:pt x="1456345" y="1011831"/>
                  </a:lnTo>
                  <a:lnTo>
                    <a:pt x="1471476" y="969584"/>
                  </a:lnTo>
                  <a:lnTo>
                    <a:pt x="1484053" y="926212"/>
                  </a:lnTo>
                  <a:lnTo>
                    <a:pt x="1493989" y="881802"/>
                  </a:lnTo>
                  <a:lnTo>
                    <a:pt x="1501195" y="836441"/>
                  </a:lnTo>
                  <a:lnTo>
                    <a:pt x="1505584" y="790216"/>
                  </a:lnTo>
                  <a:lnTo>
                    <a:pt x="1507067" y="743214"/>
                  </a:lnTo>
                  <a:lnTo>
                    <a:pt x="1505584" y="696212"/>
                  </a:lnTo>
                  <a:lnTo>
                    <a:pt x="1501195" y="649986"/>
                  </a:lnTo>
                  <a:lnTo>
                    <a:pt x="1493989" y="604625"/>
                  </a:lnTo>
                  <a:lnTo>
                    <a:pt x="1484053" y="560215"/>
                  </a:lnTo>
                  <a:lnTo>
                    <a:pt x="1471476" y="516842"/>
                  </a:lnTo>
                  <a:lnTo>
                    <a:pt x="1456345" y="474595"/>
                  </a:lnTo>
                  <a:lnTo>
                    <a:pt x="1438750" y="433560"/>
                  </a:lnTo>
                  <a:lnTo>
                    <a:pt x="1418778" y="393825"/>
                  </a:lnTo>
                  <a:lnTo>
                    <a:pt x="1396518" y="355475"/>
                  </a:lnTo>
                  <a:lnTo>
                    <a:pt x="1372058" y="318599"/>
                  </a:lnTo>
                  <a:lnTo>
                    <a:pt x="1345487" y="283283"/>
                  </a:lnTo>
                  <a:lnTo>
                    <a:pt x="1316892" y="249615"/>
                  </a:lnTo>
                  <a:lnTo>
                    <a:pt x="1286361" y="217682"/>
                  </a:lnTo>
                  <a:lnTo>
                    <a:pt x="1253984" y="187570"/>
                  </a:lnTo>
                  <a:lnTo>
                    <a:pt x="1219849" y="159366"/>
                  </a:lnTo>
                  <a:lnTo>
                    <a:pt x="1184043" y="133159"/>
                  </a:lnTo>
                  <a:lnTo>
                    <a:pt x="1146654" y="109034"/>
                  </a:lnTo>
                  <a:lnTo>
                    <a:pt x="1107772" y="87079"/>
                  </a:lnTo>
                  <a:lnTo>
                    <a:pt x="1067485" y="67380"/>
                  </a:lnTo>
                  <a:lnTo>
                    <a:pt x="1025880" y="50026"/>
                  </a:lnTo>
                  <a:lnTo>
                    <a:pt x="983047" y="35103"/>
                  </a:lnTo>
                  <a:lnTo>
                    <a:pt x="939072" y="22698"/>
                  </a:lnTo>
                  <a:lnTo>
                    <a:pt x="894045" y="12898"/>
                  </a:lnTo>
                  <a:lnTo>
                    <a:pt x="848054" y="5790"/>
                  </a:lnTo>
                  <a:lnTo>
                    <a:pt x="801187" y="1462"/>
                  </a:lnTo>
                  <a:lnTo>
                    <a:pt x="753532" y="0"/>
                  </a:lnTo>
                  <a:close/>
                </a:path>
              </a:pathLst>
            </a:custGeom>
            <a:solidFill>
              <a:srgbClr val="85BD05">
                <a:alpha val="50199"/>
              </a:srgbClr>
            </a:solidFill>
          </p:spPr>
          <p:txBody>
            <a:bodyPr wrap="square" lIns="0" tIns="0" rIns="0" bIns="0" rtlCol="0"/>
            <a:lstStyle/>
            <a:p>
              <a:endParaRPr/>
            </a:p>
          </p:txBody>
        </p:sp>
        <p:sp>
          <p:nvSpPr>
            <p:cNvPr id="9" name="object 9"/>
            <p:cNvSpPr/>
            <p:nvPr/>
          </p:nvSpPr>
          <p:spPr>
            <a:xfrm>
              <a:off x="1327467" y="3229115"/>
              <a:ext cx="1507490" cy="1486535"/>
            </a:xfrm>
            <a:custGeom>
              <a:avLst/>
              <a:gdLst/>
              <a:ahLst/>
              <a:cxnLst/>
              <a:rect l="l" t="t" r="r" b="b"/>
              <a:pathLst>
                <a:path w="1507489" h="1486535">
                  <a:moveTo>
                    <a:pt x="0" y="743213"/>
                  </a:moveTo>
                  <a:lnTo>
                    <a:pt x="1482" y="696211"/>
                  </a:lnTo>
                  <a:lnTo>
                    <a:pt x="5871" y="649986"/>
                  </a:lnTo>
                  <a:lnTo>
                    <a:pt x="13077" y="604625"/>
                  </a:lnTo>
                  <a:lnTo>
                    <a:pt x="23013" y="560214"/>
                  </a:lnTo>
                  <a:lnTo>
                    <a:pt x="35590" y="516842"/>
                  </a:lnTo>
                  <a:lnTo>
                    <a:pt x="50721" y="474595"/>
                  </a:lnTo>
                  <a:lnTo>
                    <a:pt x="68316" y="433560"/>
                  </a:lnTo>
                  <a:lnTo>
                    <a:pt x="88288" y="393824"/>
                  </a:lnTo>
                  <a:lnTo>
                    <a:pt x="110548" y="355475"/>
                  </a:lnTo>
                  <a:lnTo>
                    <a:pt x="135008" y="318599"/>
                  </a:lnTo>
                  <a:lnTo>
                    <a:pt x="161579" y="283283"/>
                  </a:lnTo>
                  <a:lnTo>
                    <a:pt x="190174" y="249615"/>
                  </a:lnTo>
                  <a:lnTo>
                    <a:pt x="220704" y="217682"/>
                  </a:lnTo>
                  <a:lnTo>
                    <a:pt x="253081" y="187570"/>
                  </a:lnTo>
                  <a:lnTo>
                    <a:pt x="287217" y="159366"/>
                  </a:lnTo>
                  <a:lnTo>
                    <a:pt x="323023" y="133159"/>
                  </a:lnTo>
                  <a:lnTo>
                    <a:pt x="360411" y="109034"/>
                  </a:lnTo>
                  <a:lnTo>
                    <a:pt x="399293" y="87079"/>
                  </a:lnTo>
                  <a:lnTo>
                    <a:pt x="439580" y="67380"/>
                  </a:lnTo>
                  <a:lnTo>
                    <a:pt x="481185" y="50026"/>
                  </a:lnTo>
                  <a:lnTo>
                    <a:pt x="524019" y="35103"/>
                  </a:lnTo>
                  <a:lnTo>
                    <a:pt x="567993" y="22698"/>
                  </a:lnTo>
                  <a:lnTo>
                    <a:pt x="613020" y="12898"/>
                  </a:lnTo>
                  <a:lnTo>
                    <a:pt x="659011" y="5790"/>
                  </a:lnTo>
                  <a:lnTo>
                    <a:pt x="705878" y="1462"/>
                  </a:lnTo>
                  <a:lnTo>
                    <a:pt x="753533" y="0"/>
                  </a:lnTo>
                  <a:lnTo>
                    <a:pt x="801187" y="1462"/>
                  </a:lnTo>
                  <a:lnTo>
                    <a:pt x="848054" y="5790"/>
                  </a:lnTo>
                  <a:lnTo>
                    <a:pt x="894045" y="12898"/>
                  </a:lnTo>
                  <a:lnTo>
                    <a:pt x="939072" y="22698"/>
                  </a:lnTo>
                  <a:lnTo>
                    <a:pt x="983047" y="35103"/>
                  </a:lnTo>
                  <a:lnTo>
                    <a:pt x="1025880" y="50026"/>
                  </a:lnTo>
                  <a:lnTo>
                    <a:pt x="1067485" y="67380"/>
                  </a:lnTo>
                  <a:lnTo>
                    <a:pt x="1107773" y="87079"/>
                  </a:lnTo>
                  <a:lnTo>
                    <a:pt x="1146654" y="109034"/>
                  </a:lnTo>
                  <a:lnTo>
                    <a:pt x="1184043" y="133159"/>
                  </a:lnTo>
                  <a:lnTo>
                    <a:pt x="1219849" y="159366"/>
                  </a:lnTo>
                  <a:lnTo>
                    <a:pt x="1253984" y="187570"/>
                  </a:lnTo>
                  <a:lnTo>
                    <a:pt x="1286361" y="217682"/>
                  </a:lnTo>
                  <a:lnTo>
                    <a:pt x="1316891" y="249615"/>
                  </a:lnTo>
                  <a:lnTo>
                    <a:pt x="1345486" y="283283"/>
                  </a:lnTo>
                  <a:lnTo>
                    <a:pt x="1372058" y="318599"/>
                  </a:lnTo>
                  <a:lnTo>
                    <a:pt x="1396518" y="355475"/>
                  </a:lnTo>
                  <a:lnTo>
                    <a:pt x="1418778" y="393824"/>
                  </a:lnTo>
                  <a:lnTo>
                    <a:pt x="1438750" y="433560"/>
                  </a:lnTo>
                  <a:lnTo>
                    <a:pt x="1456345" y="474595"/>
                  </a:lnTo>
                  <a:lnTo>
                    <a:pt x="1471475" y="516842"/>
                  </a:lnTo>
                  <a:lnTo>
                    <a:pt x="1484053" y="560214"/>
                  </a:lnTo>
                  <a:lnTo>
                    <a:pt x="1493989" y="604625"/>
                  </a:lnTo>
                  <a:lnTo>
                    <a:pt x="1501195" y="649986"/>
                  </a:lnTo>
                  <a:lnTo>
                    <a:pt x="1505584" y="696211"/>
                  </a:lnTo>
                  <a:lnTo>
                    <a:pt x="1507066" y="743213"/>
                  </a:lnTo>
                  <a:lnTo>
                    <a:pt x="1505584" y="790215"/>
                  </a:lnTo>
                  <a:lnTo>
                    <a:pt x="1501195" y="836440"/>
                  </a:lnTo>
                  <a:lnTo>
                    <a:pt x="1493989" y="881801"/>
                  </a:lnTo>
                  <a:lnTo>
                    <a:pt x="1484053" y="926211"/>
                  </a:lnTo>
                  <a:lnTo>
                    <a:pt x="1471475" y="969583"/>
                  </a:lnTo>
                  <a:lnTo>
                    <a:pt x="1456345" y="1011830"/>
                  </a:lnTo>
                  <a:lnTo>
                    <a:pt x="1438750" y="1052865"/>
                  </a:lnTo>
                  <a:lnTo>
                    <a:pt x="1418778" y="1092601"/>
                  </a:lnTo>
                  <a:lnTo>
                    <a:pt x="1396518" y="1130950"/>
                  </a:lnTo>
                  <a:lnTo>
                    <a:pt x="1372058" y="1167826"/>
                  </a:lnTo>
                  <a:lnTo>
                    <a:pt x="1345486" y="1203142"/>
                  </a:lnTo>
                  <a:lnTo>
                    <a:pt x="1316891" y="1236810"/>
                  </a:lnTo>
                  <a:lnTo>
                    <a:pt x="1286361" y="1268744"/>
                  </a:lnTo>
                  <a:lnTo>
                    <a:pt x="1253984" y="1298856"/>
                  </a:lnTo>
                  <a:lnTo>
                    <a:pt x="1219849" y="1327059"/>
                  </a:lnTo>
                  <a:lnTo>
                    <a:pt x="1184043" y="1353267"/>
                  </a:lnTo>
                  <a:lnTo>
                    <a:pt x="1146654" y="1377392"/>
                  </a:lnTo>
                  <a:lnTo>
                    <a:pt x="1107773" y="1399347"/>
                  </a:lnTo>
                  <a:lnTo>
                    <a:pt x="1067485" y="1419045"/>
                  </a:lnTo>
                  <a:lnTo>
                    <a:pt x="1025880" y="1436399"/>
                  </a:lnTo>
                  <a:lnTo>
                    <a:pt x="983047" y="1451323"/>
                  </a:lnTo>
                  <a:lnTo>
                    <a:pt x="939072" y="1463728"/>
                  </a:lnTo>
                  <a:lnTo>
                    <a:pt x="894045" y="1473528"/>
                  </a:lnTo>
                  <a:lnTo>
                    <a:pt x="848054" y="1480635"/>
                  </a:lnTo>
                  <a:lnTo>
                    <a:pt x="801187" y="1484964"/>
                  </a:lnTo>
                  <a:lnTo>
                    <a:pt x="753533" y="1486426"/>
                  </a:lnTo>
                  <a:lnTo>
                    <a:pt x="705878" y="1484964"/>
                  </a:lnTo>
                  <a:lnTo>
                    <a:pt x="659011" y="1480635"/>
                  </a:lnTo>
                  <a:lnTo>
                    <a:pt x="613020" y="1473528"/>
                  </a:lnTo>
                  <a:lnTo>
                    <a:pt x="567993" y="1463728"/>
                  </a:lnTo>
                  <a:lnTo>
                    <a:pt x="524019" y="1451323"/>
                  </a:lnTo>
                  <a:lnTo>
                    <a:pt x="481185" y="1436399"/>
                  </a:lnTo>
                  <a:lnTo>
                    <a:pt x="439580" y="1419045"/>
                  </a:lnTo>
                  <a:lnTo>
                    <a:pt x="399293" y="1399347"/>
                  </a:lnTo>
                  <a:lnTo>
                    <a:pt x="360411" y="1377392"/>
                  </a:lnTo>
                  <a:lnTo>
                    <a:pt x="323023" y="1353267"/>
                  </a:lnTo>
                  <a:lnTo>
                    <a:pt x="287217" y="1327059"/>
                  </a:lnTo>
                  <a:lnTo>
                    <a:pt x="253081" y="1298856"/>
                  </a:lnTo>
                  <a:lnTo>
                    <a:pt x="220704" y="1268744"/>
                  </a:lnTo>
                  <a:lnTo>
                    <a:pt x="190174" y="1236810"/>
                  </a:lnTo>
                  <a:lnTo>
                    <a:pt x="161579" y="1203142"/>
                  </a:lnTo>
                  <a:lnTo>
                    <a:pt x="135008" y="1167826"/>
                  </a:lnTo>
                  <a:lnTo>
                    <a:pt x="110548" y="1130950"/>
                  </a:lnTo>
                  <a:lnTo>
                    <a:pt x="88288" y="1092601"/>
                  </a:lnTo>
                  <a:lnTo>
                    <a:pt x="68316" y="1052865"/>
                  </a:lnTo>
                  <a:lnTo>
                    <a:pt x="50721" y="1011830"/>
                  </a:lnTo>
                  <a:lnTo>
                    <a:pt x="35590" y="969583"/>
                  </a:lnTo>
                  <a:lnTo>
                    <a:pt x="23013" y="926211"/>
                  </a:lnTo>
                  <a:lnTo>
                    <a:pt x="13077" y="881801"/>
                  </a:lnTo>
                  <a:lnTo>
                    <a:pt x="5871" y="836440"/>
                  </a:lnTo>
                  <a:lnTo>
                    <a:pt x="1482" y="790215"/>
                  </a:lnTo>
                  <a:lnTo>
                    <a:pt x="0" y="743213"/>
                  </a:lnTo>
                  <a:close/>
                </a:path>
              </a:pathLst>
            </a:custGeom>
            <a:ln w="18850">
              <a:solidFill>
                <a:srgbClr val="608A03"/>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1299204" y="3012211"/>
              <a:ext cx="122460" cy="122590"/>
            </a:xfrm>
            <a:prstGeom prst="rect">
              <a:avLst/>
            </a:prstGeom>
          </p:spPr>
        </p:pic>
        <p:pic>
          <p:nvPicPr>
            <p:cNvPr id="11" name="object 11"/>
            <p:cNvPicPr/>
            <p:nvPr/>
          </p:nvPicPr>
          <p:blipFill>
            <a:blip r:embed="rId3" cstate="print"/>
            <a:stretch>
              <a:fillRect/>
            </a:stretch>
          </p:blipFill>
          <p:spPr>
            <a:xfrm>
              <a:off x="2019770" y="3909719"/>
              <a:ext cx="122460" cy="122590"/>
            </a:xfrm>
            <a:prstGeom prst="rect">
              <a:avLst/>
            </a:prstGeom>
          </p:spPr>
        </p:pic>
        <p:pic>
          <p:nvPicPr>
            <p:cNvPr id="12" name="object 12"/>
            <p:cNvPicPr/>
            <p:nvPr/>
          </p:nvPicPr>
          <p:blipFill>
            <a:blip r:embed="rId4" cstate="print"/>
            <a:stretch>
              <a:fillRect/>
            </a:stretch>
          </p:blipFill>
          <p:spPr>
            <a:xfrm>
              <a:off x="2712079" y="3012211"/>
              <a:ext cx="122460" cy="122590"/>
            </a:xfrm>
            <a:prstGeom prst="rect">
              <a:avLst/>
            </a:prstGeom>
          </p:spPr>
        </p:pic>
        <p:pic>
          <p:nvPicPr>
            <p:cNvPr id="13" name="object 13"/>
            <p:cNvPicPr/>
            <p:nvPr/>
          </p:nvPicPr>
          <p:blipFill>
            <a:blip r:embed="rId5" cstate="print"/>
            <a:stretch>
              <a:fillRect/>
            </a:stretch>
          </p:blipFill>
          <p:spPr>
            <a:xfrm>
              <a:off x="2019807" y="2537459"/>
              <a:ext cx="112775" cy="999744"/>
            </a:xfrm>
            <a:prstGeom prst="rect">
              <a:avLst/>
            </a:prstGeom>
          </p:spPr>
        </p:pic>
        <p:sp>
          <p:nvSpPr>
            <p:cNvPr id="14" name="object 14"/>
            <p:cNvSpPr/>
            <p:nvPr/>
          </p:nvSpPr>
          <p:spPr>
            <a:xfrm>
              <a:off x="2071582" y="2554804"/>
              <a:ext cx="9525" cy="915035"/>
            </a:xfrm>
            <a:custGeom>
              <a:avLst/>
              <a:gdLst/>
              <a:ahLst/>
              <a:cxnLst/>
              <a:rect l="l" t="t" r="r" b="b"/>
              <a:pathLst>
                <a:path w="9525" h="915035">
                  <a:moveTo>
                    <a:pt x="0" y="0"/>
                  </a:moveTo>
                  <a:lnTo>
                    <a:pt x="9419" y="914799"/>
                  </a:lnTo>
                </a:path>
              </a:pathLst>
            </a:custGeom>
            <a:ln w="42386">
              <a:solidFill>
                <a:srgbClr val="5D5555"/>
              </a:solidFill>
            </a:ln>
          </p:spPr>
          <p:txBody>
            <a:bodyPr wrap="square" lIns="0" tIns="0" rIns="0" bIns="0" rtlCol="0"/>
            <a:lstStyle/>
            <a:p>
              <a:endParaRPr/>
            </a:p>
          </p:txBody>
        </p:sp>
        <p:pic>
          <p:nvPicPr>
            <p:cNvPr id="15" name="object 15"/>
            <p:cNvPicPr/>
            <p:nvPr/>
          </p:nvPicPr>
          <p:blipFill>
            <a:blip r:embed="rId6" cstate="print"/>
            <a:stretch>
              <a:fillRect/>
            </a:stretch>
          </p:blipFill>
          <p:spPr>
            <a:xfrm>
              <a:off x="1120647" y="3421380"/>
              <a:ext cx="1008888" cy="682751"/>
            </a:xfrm>
            <a:prstGeom prst="rect">
              <a:avLst/>
            </a:prstGeom>
          </p:spPr>
        </p:pic>
        <p:sp>
          <p:nvSpPr>
            <p:cNvPr id="16" name="object 16"/>
            <p:cNvSpPr/>
            <p:nvPr/>
          </p:nvSpPr>
          <p:spPr>
            <a:xfrm>
              <a:off x="1162631" y="3460174"/>
              <a:ext cx="913765" cy="580390"/>
            </a:xfrm>
            <a:custGeom>
              <a:avLst/>
              <a:gdLst/>
              <a:ahLst/>
              <a:cxnLst/>
              <a:rect l="l" t="t" r="r" b="b"/>
              <a:pathLst>
                <a:path w="913764" h="580389">
                  <a:moveTo>
                    <a:pt x="0" y="580001"/>
                  </a:moveTo>
                  <a:lnTo>
                    <a:pt x="913659" y="0"/>
                  </a:lnTo>
                </a:path>
              </a:pathLst>
            </a:custGeom>
            <a:ln w="42423">
              <a:solidFill>
                <a:srgbClr val="5D5555"/>
              </a:solidFill>
            </a:ln>
          </p:spPr>
          <p:txBody>
            <a:bodyPr wrap="square" lIns="0" tIns="0" rIns="0" bIns="0" rtlCol="0"/>
            <a:lstStyle/>
            <a:p>
              <a:endParaRPr/>
            </a:p>
          </p:txBody>
        </p:sp>
        <p:pic>
          <p:nvPicPr>
            <p:cNvPr id="17" name="object 17"/>
            <p:cNvPicPr/>
            <p:nvPr/>
          </p:nvPicPr>
          <p:blipFill>
            <a:blip r:embed="rId7" cstate="print"/>
            <a:stretch>
              <a:fillRect/>
            </a:stretch>
          </p:blipFill>
          <p:spPr>
            <a:xfrm>
              <a:off x="2044191" y="3421380"/>
              <a:ext cx="975359" cy="670560"/>
            </a:xfrm>
            <a:prstGeom prst="rect">
              <a:avLst/>
            </a:prstGeom>
          </p:spPr>
        </p:pic>
        <p:sp>
          <p:nvSpPr>
            <p:cNvPr id="18" name="object 18"/>
            <p:cNvSpPr/>
            <p:nvPr/>
          </p:nvSpPr>
          <p:spPr>
            <a:xfrm>
              <a:off x="2085710" y="3455457"/>
              <a:ext cx="880744" cy="570865"/>
            </a:xfrm>
            <a:custGeom>
              <a:avLst/>
              <a:gdLst/>
              <a:ahLst/>
              <a:cxnLst/>
              <a:rect l="l" t="t" r="r" b="b"/>
              <a:pathLst>
                <a:path w="880744" h="570864">
                  <a:moveTo>
                    <a:pt x="0" y="0"/>
                  </a:moveTo>
                  <a:lnTo>
                    <a:pt x="880692" y="570570"/>
                  </a:lnTo>
                </a:path>
              </a:pathLst>
            </a:custGeom>
            <a:ln w="42423">
              <a:solidFill>
                <a:srgbClr val="5D5555"/>
              </a:solidFill>
            </a:ln>
          </p:spPr>
          <p:txBody>
            <a:bodyPr wrap="square" lIns="0" tIns="0" rIns="0" bIns="0" rtlCol="0"/>
            <a:lstStyle/>
            <a:p>
              <a:endParaRPr/>
            </a:p>
          </p:txBody>
        </p:sp>
      </p:grpSp>
      <p:sp>
        <p:nvSpPr>
          <p:cNvPr id="19" name="object 19"/>
          <p:cNvSpPr txBox="1"/>
          <p:nvPr/>
        </p:nvSpPr>
        <p:spPr>
          <a:xfrm>
            <a:off x="1034262" y="4202894"/>
            <a:ext cx="1541895" cy="211563"/>
          </a:xfrm>
          <a:prstGeom prst="rect">
            <a:avLst/>
          </a:prstGeom>
        </p:spPr>
        <p:txBody>
          <a:bodyPr vert="horz" wrap="square" lIns="0" tIns="11397" rIns="0" bIns="0" rtlCol="0">
            <a:spAutoFit/>
          </a:bodyPr>
          <a:lstStyle/>
          <a:p>
            <a:pPr marL="11397">
              <a:spcBef>
                <a:spcPts val="90"/>
              </a:spcBef>
            </a:pPr>
            <a:r>
              <a:rPr sz="1300" spc="-13" dirty="0">
                <a:cs typeface="Calibri"/>
              </a:rPr>
              <a:t>disparate</a:t>
            </a:r>
            <a:r>
              <a:rPr sz="1300" spc="-36" dirty="0">
                <a:cs typeface="Calibri"/>
              </a:rPr>
              <a:t> </a:t>
            </a:r>
            <a:r>
              <a:rPr sz="1300" spc="-9" dirty="0">
                <a:cs typeface="Calibri"/>
              </a:rPr>
              <a:t>cluster</a:t>
            </a:r>
            <a:r>
              <a:rPr sz="1300" spc="-31" dirty="0">
                <a:cs typeface="Calibri"/>
              </a:rPr>
              <a:t> </a:t>
            </a:r>
            <a:r>
              <a:rPr sz="1300" spc="-13" dirty="0">
                <a:cs typeface="Calibri"/>
              </a:rPr>
              <a:t>sizes</a:t>
            </a:r>
            <a:endParaRPr sz="1300">
              <a:cs typeface="Calibri"/>
            </a:endParaRPr>
          </a:p>
        </p:txBody>
      </p:sp>
      <p:grpSp>
        <p:nvGrpSpPr>
          <p:cNvPr id="20" name="object 20"/>
          <p:cNvGrpSpPr/>
          <p:nvPr/>
        </p:nvGrpSpPr>
        <p:grpSpPr>
          <a:xfrm>
            <a:off x="3727459" y="2802652"/>
            <a:ext cx="1494558" cy="1399054"/>
            <a:chOff x="4100205" y="3176338"/>
            <a:chExt cx="1644014" cy="1585595"/>
          </a:xfrm>
        </p:grpSpPr>
        <p:sp>
          <p:nvSpPr>
            <p:cNvPr id="21" name="object 21"/>
            <p:cNvSpPr/>
            <p:nvPr/>
          </p:nvSpPr>
          <p:spPr>
            <a:xfrm>
              <a:off x="4109630" y="3204624"/>
              <a:ext cx="909319" cy="909955"/>
            </a:xfrm>
            <a:custGeom>
              <a:avLst/>
              <a:gdLst/>
              <a:ahLst/>
              <a:cxnLst/>
              <a:rect l="l" t="t" r="r" b="b"/>
              <a:pathLst>
                <a:path w="909320" h="909954">
                  <a:moveTo>
                    <a:pt x="454380" y="0"/>
                  </a:moveTo>
                  <a:lnTo>
                    <a:pt x="407922" y="2348"/>
                  </a:lnTo>
                  <a:lnTo>
                    <a:pt x="362807" y="9242"/>
                  </a:lnTo>
                  <a:lnTo>
                    <a:pt x="319261" y="20453"/>
                  </a:lnTo>
                  <a:lnTo>
                    <a:pt x="277515" y="35752"/>
                  </a:lnTo>
                  <a:lnTo>
                    <a:pt x="237796" y="54909"/>
                  </a:lnTo>
                  <a:lnTo>
                    <a:pt x="200332" y="77698"/>
                  </a:lnTo>
                  <a:lnTo>
                    <a:pt x="165352" y="103888"/>
                  </a:lnTo>
                  <a:lnTo>
                    <a:pt x="133085" y="133251"/>
                  </a:lnTo>
                  <a:lnTo>
                    <a:pt x="103758" y="165559"/>
                  </a:lnTo>
                  <a:lnTo>
                    <a:pt x="77601" y="200582"/>
                  </a:lnTo>
                  <a:lnTo>
                    <a:pt x="54841" y="238093"/>
                  </a:lnTo>
                  <a:lnTo>
                    <a:pt x="35707" y="277862"/>
                  </a:lnTo>
                  <a:lnTo>
                    <a:pt x="20428" y="319660"/>
                  </a:lnTo>
                  <a:lnTo>
                    <a:pt x="9231" y="363260"/>
                  </a:lnTo>
                  <a:lnTo>
                    <a:pt x="2345" y="408432"/>
                  </a:lnTo>
                  <a:lnTo>
                    <a:pt x="0" y="454948"/>
                  </a:lnTo>
                  <a:lnTo>
                    <a:pt x="2345" y="501464"/>
                  </a:lnTo>
                  <a:lnTo>
                    <a:pt x="9231" y="546636"/>
                  </a:lnTo>
                  <a:lnTo>
                    <a:pt x="20428" y="590235"/>
                  </a:lnTo>
                  <a:lnTo>
                    <a:pt x="35707" y="632034"/>
                  </a:lnTo>
                  <a:lnTo>
                    <a:pt x="54841" y="671803"/>
                  </a:lnTo>
                  <a:lnTo>
                    <a:pt x="77601" y="709314"/>
                  </a:lnTo>
                  <a:lnTo>
                    <a:pt x="103758" y="744337"/>
                  </a:lnTo>
                  <a:lnTo>
                    <a:pt x="133085" y="776645"/>
                  </a:lnTo>
                  <a:lnTo>
                    <a:pt x="165352" y="806008"/>
                  </a:lnTo>
                  <a:lnTo>
                    <a:pt x="200332" y="832198"/>
                  </a:lnTo>
                  <a:lnTo>
                    <a:pt x="237796" y="854986"/>
                  </a:lnTo>
                  <a:lnTo>
                    <a:pt x="277515" y="874144"/>
                  </a:lnTo>
                  <a:lnTo>
                    <a:pt x="319261" y="889442"/>
                  </a:lnTo>
                  <a:lnTo>
                    <a:pt x="362807" y="900653"/>
                  </a:lnTo>
                  <a:lnTo>
                    <a:pt x="407922" y="907547"/>
                  </a:lnTo>
                  <a:lnTo>
                    <a:pt x="454380" y="909896"/>
                  </a:lnTo>
                  <a:lnTo>
                    <a:pt x="500838" y="907547"/>
                  </a:lnTo>
                  <a:lnTo>
                    <a:pt x="545954" y="900653"/>
                  </a:lnTo>
                  <a:lnTo>
                    <a:pt x="589499" y="889442"/>
                  </a:lnTo>
                  <a:lnTo>
                    <a:pt x="631246" y="874144"/>
                  </a:lnTo>
                  <a:lnTo>
                    <a:pt x="670965" y="854986"/>
                  </a:lnTo>
                  <a:lnTo>
                    <a:pt x="708429" y="832198"/>
                  </a:lnTo>
                  <a:lnTo>
                    <a:pt x="743409" y="806008"/>
                  </a:lnTo>
                  <a:lnTo>
                    <a:pt x="775676" y="776645"/>
                  </a:lnTo>
                  <a:lnTo>
                    <a:pt x="805002" y="744337"/>
                  </a:lnTo>
                  <a:lnTo>
                    <a:pt x="831160" y="709314"/>
                  </a:lnTo>
                  <a:lnTo>
                    <a:pt x="853920" y="671803"/>
                  </a:lnTo>
                  <a:lnTo>
                    <a:pt x="873053" y="632034"/>
                  </a:lnTo>
                  <a:lnTo>
                    <a:pt x="888333" y="590235"/>
                  </a:lnTo>
                  <a:lnTo>
                    <a:pt x="899529" y="546636"/>
                  </a:lnTo>
                  <a:lnTo>
                    <a:pt x="906415" y="501464"/>
                  </a:lnTo>
                  <a:lnTo>
                    <a:pt x="908761" y="454948"/>
                  </a:lnTo>
                  <a:lnTo>
                    <a:pt x="906415" y="408432"/>
                  </a:lnTo>
                  <a:lnTo>
                    <a:pt x="899529" y="363260"/>
                  </a:lnTo>
                  <a:lnTo>
                    <a:pt x="888333" y="319660"/>
                  </a:lnTo>
                  <a:lnTo>
                    <a:pt x="873053" y="277862"/>
                  </a:lnTo>
                  <a:lnTo>
                    <a:pt x="853920" y="238093"/>
                  </a:lnTo>
                  <a:lnTo>
                    <a:pt x="831160" y="200582"/>
                  </a:lnTo>
                  <a:lnTo>
                    <a:pt x="805002" y="165559"/>
                  </a:lnTo>
                  <a:lnTo>
                    <a:pt x="775676" y="133251"/>
                  </a:lnTo>
                  <a:lnTo>
                    <a:pt x="743409" y="103888"/>
                  </a:lnTo>
                  <a:lnTo>
                    <a:pt x="708429" y="77698"/>
                  </a:lnTo>
                  <a:lnTo>
                    <a:pt x="670965" y="54909"/>
                  </a:lnTo>
                  <a:lnTo>
                    <a:pt x="631246" y="35752"/>
                  </a:lnTo>
                  <a:lnTo>
                    <a:pt x="589499" y="20453"/>
                  </a:lnTo>
                  <a:lnTo>
                    <a:pt x="545954" y="9242"/>
                  </a:lnTo>
                  <a:lnTo>
                    <a:pt x="500838" y="2348"/>
                  </a:lnTo>
                  <a:lnTo>
                    <a:pt x="454380" y="0"/>
                  </a:lnTo>
                  <a:close/>
                </a:path>
              </a:pathLst>
            </a:custGeom>
            <a:solidFill>
              <a:srgbClr val="FC5507">
                <a:alpha val="49018"/>
              </a:srgbClr>
            </a:solidFill>
          </p:spPr>
          <p:txBody>
            <a:bodyPr wrap="square" lIns="0" tIns="0" rIns="0" bIns="0" rtlCol="0"/>
            <a:lstStyle/>
            <a:p>
              <a:endParaRPr/>
            </a:p>
          </p:txBody>
        </p:sp>
        <p:sp>
          <p:nvSpPr>
            <p:cNvPr id="22" name="object 22"/>
            <p:cNvSpPr/>
            <p:nvPr/>
          </p:nvSpPr>
          <p:spPr>
            <a:xfrm>
              <a:off x="4109630" y="3204624"/>
              <a:ext cx="909319" cy="909955"/>
            </a:xfrm>
            <a:custGeom>
              <a:avLst/>
              <a:gdLst/>
              <a:ahLst/>
              <a:cxnLst/>
              <a:rect l="l" t="t" r="r" b="b"/>
              <a:pathLst>
                <a:path w="909320" h="909954">
                  <a:moveTo>
                    <a:pt x="0" y="454947"/>
                  </a:moveTo>
                  <a:lnTo>
                    <a:pt x="2345" y="408432"/>
                  </a:lnTo>
                  <a:lnTo>
                    <a:pt x="9231" y="363259"/>
                  </a:lnTo>
                  <a:lnTo>
                    <a:pt x="20428" y="319660"/>
                  </a:lnTo>
                  <a:lnTo>
                    <a:pt x="35707" y="277861"/>
                  </a:lnTo>
                  <a:lnTo>
                    <a:pt x="54841" y="238092"/>
                  </a:lnTo>
                  <a:lnTo>
                    <a:pt x="77601" y="200582"/>
                  </a:lnTo>
                  <a:lnTo>
                    <a:pt x="103758" y="165558"/>
                  </a:lnTo>
                  <a:lnTo>
                    <a:pt x="133085" y="133251"/>
                  </a:lnTo>
                  <a:lnTo>
                    <a:pt x="165352" y="103887"/>
                  </a:lnTo>
                  <a:lnTo>
                    <a:pt x="200332" y="77697"/>
                  </a:lnTo>
                  <a:lnTo>
                    <a:pt x="237795" y="54909"/>
                  </a:lnTo>
                  <a:lnTo>
                    <a:pt x="277515" y="35752"/>
                  </a:lnTo>
                  <a:lnTo>
                    <a:pt x="319261" y="20453"/>
                  </a:lnTo>
                  <a:lnTo>
                    <a:pt x="362807" y="9242"/>
                  </a:lnTo>
                  <a:lnTo>
                    <a:pt x="407922" y="2348"/>
                  </a:lnTo>
                  <a:lnTo>
                    <a:pt x="454380" y="0"/>
                  </a:lnTo>
                  <a:lnTo>
                    <a:pt x="500838" y="2348"/>
                  </a:lnTo>
                  <a:lnTo>
                    <a:pt x="545954" y="9242"/>
                  </a:lnTo>
                  <a:lnTo>
                    <a:pt x="589499" y="20453"/>
                  </a:lnTo>
                  <a:lnTo>
                    <a:pt x="631246" y="35752"/>
                  </a:lnTo>
                  <a:lnTo>
                    <a:pt x="670965" y="54909"/>
                  </a:lnTo>
                  <a:lnTo>
                    <a:pt x="708429" y="77697"/>
                  </a:lnTo>
                  <a:lnTo>
                    <a:pt x="743408" y="103887"/>
                  </a:lnTo>
                  <a:lnTo>
                    <a:pt x="775676" y="133251"/>
                  </a:lnTo>
                  <a:lnTo>
                    <a:pt x="805002" y="165558"/>
                  </a:lnTo>
                  <a:lnTo>
                    <a:pt x="831160" y="200582"/>
                  </a:lnTo>
                  <a:lnTo>
                    <a:pt x="853919" y="238092"/>
                  </a:lnTo>
                  <a:lnTo>
                    <a:pt x="873053" y="277861"/>
                  </a:lnTo>
                  <a:lnTo>
                    <a:pt x="888333" y="319660"/>
                  </a:lnTo>
                  <a:lnTo>
                    <a:pt x="899529" y="363259"/>
                  </a:lnTo>
                  <a:lnTo>
                    <a:pt x="906415" y="408432"/>
                  </a:lnTo>
                  <a:lnTo>
                    <a:pt x="908761" y="454947"/>
                  </a:lnTo>
                  <a:lnTo>
                    <a:pt x="906415" y="501463"/>
                  </a:lnTo>
                  <a:lnTo>
                    <a:pt x="899529" y="546635"/>
                  </a:lnTo>
                  <a:lnTo>
                    <a:pt x="888333" y="590235"/>
                  </a:lnTo>
                  <a:lnTo>
                    <a:pt x="873053" y="632034"/>
                  </a:lnTo>
                  <a:lnTo>
                    <a:pt x="853919" y="671802"/>
                  </a:lnTo>
                  <a:lnTo>
                    <a:pt x="831160" y="709313"/>
                  </a:lnTo>
                  <a:lnTo>
                    <a:pt x="805002" y="744336"/>
                  </a:lnTo>
                  <a:lnTo>
                    <a:pt x="775676" y="776644"/>
                  </a:lnTo>
                  <a:lnTo>
                    <a:pt x="743408" y="806007"/>
                  </a:lnTo>
                  <a:lnTo>
                    <a:pt x="708429" y="832197"/>
                  </a:lnTo>
                  <a:lnTo>
                    <a:pt x="670965" y="854985"/>
                  </a:lnTo>
                  <a:lnTo>
                    <a:pt x="631246" y="874143"/>
                  </a:lnTo>
                  <a:lnTo>
                    <a:pt x="589499" y="889442"/>
                  </a:lnTo>
                  <a:lnTo>
                    <a:pt x="545954" y="900652"/>
                  </a:lnTo>
                  <a:lnTo>
                    <a:pt x="500838" y="907546"/>
                  </a:lnTo>
                  <a:lnTo>
                    <a:pt x="454380" y="909895"/>
                  </a:lnTo>
                  <a:lnTo>
                    <a:pt x="407922" y="907546"/>
                  </a:lnTo>
                  <a:lnTo>
                    <a:pt x="362807" y="900652"/>
                  </a:lnTo>
                  <a:lnTo>
                    <a:pt x="319261" y="889442"/>
                  </a:lnTo>
                  <a:lnTo>
                    <a:pt x="277515" y="874143"/>
                  </a:lnTo>
                  <a:lnTo>
                    <a:pt x="237795" y="854985"/>
                  </a:lnTo>
                  <a:lnTo>
                    <a:pt x="200332" y="832197"/>
                  </a:lnTo>
                  <a:lnTo>
                    <a:pt x="165352" y="806007"/>
                  </a:lnTo>
                  <a:lnTo>
                    <a:pt x="133085" y="776644"/>
                  </a:lnTo>
                  <a:lnTo>
                    <a:pt x="103758" y="744336"/>
                  </a:lnTo>
                  <a:lnTo>
                    <a:pt x="77601" y="709313"/>
                  </a:lnTo>
                  <a:lnTo>
                    <a:pt x="54841" y="671802"/>
                  </a:lnTo>
                  <a:lnTo>
                    <a:pt x="35707" y="632034"/>
                  </a:lnTo>
                  <a:lnTo>
                    <a:pt x="20428" y="590235"/>
                  </a:lnTo>
                  <a:lnTo>
                    <a:pt x="9231" y="546635"/>
                  </a:lnTo>
                  <a:lnTo>
                    <a:pt x="2345" y="501463"/>
                  </a:lnTo>
                  <a:lnTo>
                    <a:pt x="0" y="454947"/>
                  </a:lnTo>
                  <a:close/>
                </a:path>
              </a:pathLst>
            </a:custGeom>
            <a:ln w="18850">
              <a:solidFill>
                <a:srgbClr val="B93C03"/>
              </a:solidFill>
            </a:ln>
          </p:spPr>
          <p:txBody>
            <a:bodyPr wrap="square" lIns="0" tIns="0" rIns="0" bIns="0" rtlCol="0"/>
            <a:lstStyle/>
            <a:p>
              <a:endParaRPr/>
            </a:p>
          </p:txBody>
        </p:sp>
        <p:sp>
          <p:nvSpPr>
            <p:cNvPr id="23" name="object 23"/>
            <p:cNvSpPr/>
            <p:nvPr/>
          </p:nvSpPr>
          <p:spPr>
            <a:xfrm>
              <a:off x="4825488" y="3185763"/>
              <a:ext cx="909319" cy="909955"/>
            </a:xfrm>
            <a:custGeom>
              <a:avLst/>
              <a:gdLst/>
              <a:ahLst/>
              <a:cxnLst/>
              <a:rect l="l" t="t" r="r" b="b"/>
              <a:pathLst>
                <a:path w="909320" h="909954">
                  <a:moveTo>
                    <a:pt x="454380" y="0"/>
                  </a:moveTo>
                  <a:lnTo>
                    <a:pt x="407922" y="2348"/>
                  </a:lnTo>
                  <a:lnTo>
                    <a:pt x="362806" y="9242"/>
                  </a:lnTo>
                  <a:lnTo>
                    <a:pt x="319261" y="20453"/>
                  </a:lnTo>
                  <a:lnTo>
                    <a:pt x="277514" y="35751"/>
                  </a:lnTo>
                  <a:lnTo>
                    <a:pt x="237795" y="54909"/>
                  </a:lnTo>
                  <a:lnTo>
                    <a:pt x="200331" y="77697"/>
                  </a:lnTo>
                  <a:lnTo>
                    <a:pt x="165352" y="103887"/>
                  </a:lnTo>
                  <a:lnTo>
                    <a:pt x="133084" y="133250"/>
                  </a:lnTo>
                  <a:lnTo>
                    <a:pt x="103758" y="165558"/>
                  </a:lnTo>
                  <a:lnTo>
                    <a:pt x="77600" y="200581"/>
                  </a:lnTo>
                  <a:lnTo>
                    <a:pt x="54841" y="238092"/>
                  </a:lnTo>
                  <a:lnTo>
                    <a:pt x="35707" y="277860"/>
                  </a:lnTo>
                  <a:lnTo>
                    <a:pt x="20427" y="319659"/>
                  </a:lnTo>
                  <a:lnTo>
                    <a:pt x="9231" y="363259"/>
                  </a:lnTo>
                  <a:lnTo>
                    <a:pt x="2345" y="408431"/>
                  </a:lnTo>
                  <a:lnTo>
                    <a:pt x="0" y="454947"/>
                  </a:lnTo>
                  <a:lnTo>
                    <a:pt x="2345" y="501462"/>
                  </a:lnTo>
                  <a:lnTo>
                    <a:pt x="9231" y="546634"/>
                  </a:lnTo>
                  <a:lnTo>
                    <a:pt x="20427" y="590234"/>
                  </a:lnTo>
                  <a:lnTo>
                    <a:pt x="35707" y="632033"/>
                  </a:lnTo>
                  <a:lnTo>
                    <a:pt x="54841" y="671802"/>
                  </a:lnTo>
                  <a:lnTo>
                    <a:pt x="77600" y="709312"/>
                  </a:lnTo>
                  <a:lnTo>
                    <a:pt x="103758" y="744336"/>
                  </a:lnTo>
                  <a:lnTo>
                    <a:pt x="133084" y="776643"/>
                  </a:lnTo>
                  <a:lnTo>
                    <a:pt x="165352" y="806007"/>
                  </a:lnTo>
                  <a:lnTo>
                    <a:pt x="200331" y="832197"/>
                  </a:lnTo>
                  <a:lnTo>
                    <a:pt x="237795" y="854985"/>
                  </a:lnTo>
                  <a:lnTo>
                    <a:pt x="277514" y="874143"/>
                  </a:lnTo>
                  <a:lnTo>
                    <a:pt x="319261" y="889441"/>
                  </a:lnTo>
                  <a:lnTo>
                    <a:pt x="362806" y="900652"/>
                  </a:lnTo>
                  <a:lnTo>
                    <a:pt x="407922" y="907546"/>
                  </a:lnTo>
                  <a:lnTo>
                    <a:pt x="454380" y="909895"/>
                  </a:lnTo>
                  <a:lnTo>
                    <a:pt x="500838" y="907546"/>
                  </a:lnTo>
                  <a:lnTo>
                    <a:pt x="545953" y="900652"/>
                  </a:lnTo>
                  <a:lnTo>
                    <a:pt x="589499" y="889441"/>
                  </a:lnTo>
                  <a:lnTo>
                    <a:pt x="631245" y="874143"/>
                  </a:lnTo>
                  <a:lnTo>
                    <a:pt x="670965" y="854985"/>
                  </a:lnTo>
                  <a:lnTo>
                    <a:pt x="708428" y="832197"/>
                  </a:lnTo>
                  <a:lnTo>
                    <a:pt x="743408" y="806007"/>
                  </a:lnTo>
                  <a:lnTo>
                    <a:pt x="775675" y="776643"/>
                  </a:lnTo>
                  <a:lnTo>
                    <a:pt x="805002" y="744336"/>
                  </a:lnTo>
                  <a:lnTo>
                    <a:pt x="831159" y="709312"/>
                  </a:lnTo>
                  <a:lnTo>
                    <a:pt x="853919" y="671802"/>
                  </a:lnTo>
                  <a:lnTo>
                    <a:pt x="873053" y="632033"/>
                  </a:lnTo>
                  <a:lnTo>
                    <a:pt x="888333" y="590234"/>
                  </a:lnTo>
                  <a:lnTo>
                    <a:pt x="899529" y="546634"/>
                  </a:lnTo>
                  <a:lnTo>
                    <a:pt x="906415" y="501462"/>
                  </a:lnTo>
                  <a:lnTo>
                    <a:pt x="908761" y="454947"/>
                  </a:lnTo>
                  <a:lnTo>
                    <a:pt x="906415" y="408431"/>
                  </a:lnTo>
                  <a:lnTo>
                    <a:pt x="899529" y="363259"/>
                  </a:lnTo>
                  <a:lnTo>
                    <a:pt x="888333" y="319659"/>
                  </a:lnTo>
                  <a:lnTo>
                    <a:pt x="873053" y="277860"/>
                  </a:lnTo>
                  <a:lnTo>
                    <a:pt x="853919" y="238092"/>
                  </a:lnTo>
                  <a:lnTo>
                    <a:pt x="831159" y="200581"/>
                  </a:lnTo>
                  <a:lnTo>
                    <a:pt x="805002" y="165558"/>
                  </a:lnTo>
                  <a:lnTo>
                    <a:pt x="775675" y="133250"/>
                  </a:lnTo>
                  <a:lnTo>
                    <a:pt x="743408" y="103887"/>
                  </a:lnTo>
                  <a:lnTo>
                    <a:pt x="708428" y="77697"/>
                  </a:lnTo>
                  <a:lnTo>
                    <a:pt x="670965" y="54909"/>
                  </a:lnTo>
                  <a:lnTo>
                    <a:pt x="631245" y="35751"/>
                  </a:lnTo>
                  <a:lnTo>
                    <a:pt x="589499" y="20453"/>
                  </a:lnTo>
                  <a:lnTo>
                    <a:pt x="545953" y="9242"/>
                  </a:lnTo>
                  <a:lnTo>
                    <a:pt x="500838" y="2348"/>
                  </a:lnTo>
                  <a:lnTo>
                    <a:pt x="454380" y="0"/>
                  </a:lnTo>
                  <a:close/>
                </a:path>
              </a:pathLst>
            </a:custGeom>
            <a:solidFill>
              <a:srgbClr val="118CC4">
                <a:alpha val="49018"/>
              </a:srgbClr>
            </a:solidFill>
          </p:spPr>
          <p:txBody>
            <a:bodyPr wrap="square" lIns="0" tIns="0" rIns="0" bIns="0" rtlCol="0"/>
            <a:lstStyle/>
            <a:p>
              <a:endParaRPr/>
            </a:p>
          </p:txBody>
        </p:sp>
        <p:sp>
          <p:nvSpPr>
            <p:cNvPr id="24" name="object 24"/>
            <p:cNvSpPr/>
            <p:nvPr/>
          </p:nvSpPr>
          <p:spPr>
            <a:xfrm>
              <a:off x="4825488" y="3185763"/>
              <a:ext cx="909319" cy="909955"/>
            </a:xfrm>
            <a:custGeom>
              <a:avLst/>
              <a:gdLst/>
              <a:ahLst/>
              <a:cxnLst/>
              <a:rect l="l" t="t" r="r" b="b"/>
              <a:pathLst>
                <a:path w="909320" h="909954">
                  <a:moveTo>
                    <a:pt x="0" y="454947"/>
                  </a:moveTo>
                  <a:lnTo>
                    <a:pt x="2345" y="408432"/>
                  </a:lnTo>
                  <a:lnTo>
                    <a:pt x="9231" y="363259"/>
                  </a:lnTo>
                  <a:lnTo>
                    <a:pt x="20428" y="319660"/>
                  </a:lnTo>
                  <a:lnTo>
                    <a:pt x="35707" y="277861"/>
                  </a:lnTo>
                  <a:lnTo>
                    <a:pt x="54841" y="238092"/>
                  </a:lnTo>
                  <a:lnTo>
                    <a:pt x="77601" y="200582"/>
                  </a:lnTo>
                  <a:lnTo>
                    <a:pt x="103758" y="165558"/>
                  </a:lnTo>
                  <a:lnTo>
                    <a:pt x="133085" y="133251"/>
                  </a:lnTo>
                  <a:lnTo>
                    <a:pt x="165352" y="103887"/>
                  </a:lnTo>
                  <a:lnTo>
                    <a:pt x="200332" y="77697"/>
                  </a:lnTo>
                  <a:lnTo>
                    <a:pt x="237795" y="54909"/>
                  </a:lnTo>
                  <a:lnTo>
                    <a:pt x="277515" y="35752"/>
                  </a:lnTo>
                  <a:lnTo>
                    <a:pt x="319261" y="20453"/>
                  </a:lnTo>
                  <a:lnTo>
                    <a:pt x="362807" y="9242"/>
                  </a:lnTo>
                  <a:lnTo>
                    <a:pt x="407922" y="2348"/>
                  </a:lnTo>
                  <a:lnTo>
                    <a:pt x="454380" y="0"/>
                  </a:lnTo>
                  <a:lnTo>
                    <a:pt x="500838" y="2348"/>
                  </a:lnTo>
                  <a:lnTo>
                    <a:pt x="545954" y="9242"/>
                  </a:lnTo>
                  <a:lnTo>
                    <a:pt x="589499" y="20453"/>
                  </a:lnTo>
                  <a:lnTo>
                    <a:pt x="631246" y="35752"/>
                  </a:lnTo>
                  <a:lnTo>
                    <a:pt x="670965" y="54909"/>
                  </a:lnTo>
                  <a:lnTo>
                    <a:pt x="708429" y="77697"/>
                  </a:lnTo>
                  <a:lnTo>
                    <a:pt x="743408" y="103887"/>
                  </a:lnTo>
                  <a:lnTo>
                    <a:pt x="775676" y="133251"/>
                  </a:lnTo>
                  <a:lnTo>
                    <a:pt x="805002" y="165558"/>
                  </a:lnTo>
                  <a:lnTo>
                    <a:pt x="831160" y="200582"/>
                  </a:lnTo>
                  <a:lnTo>
                    <a:pt x="853919" y="238092"/>
                  </a:lnTo>
                  <a:lnTo>
                    <a:pt x="873053" y="277861"/>
                  </a:lnTo>
                  <a:lnTo>
                    <a:pt x="888333" y="319660"/>
                  </a:lnTo>
                  <a:lnTo>
                    <a:pt x="899529" y="363259"/>
                  </a:lnTo>
                  <a:lnTo>
                    <a:pt x="906415" y="408432"/>
                  </a:lnTo>
                  <a:lnTo>
                    <a:pt x="908761" y="454947"/>
                  </a:lnTo>
                  <a:lnTo>
                    <a:pt x="906415" y="501463"/>
                  </a:lnTo>
                  <a:lnTo>
                    <a:pt x="899529" y="546635"/>
                  </a:lnTo>
                  <a:lnTo>
                    <a:pt x="888333" y="590235"/>
                  </a:lnTo>
                  <a:lnTo>
                    <a:pt x="873053" y="632034"/>
                  </a:lnTo>
                  <a:lnTo>
                    <a:pt x="853919" y="671802"/>
                  </a:lnTo>
                  <a:lnTo>
                    <a:pt x="831160" y="709313"/>
                  </a:lnTo>
                  <a:lnTo>
                    <a:pt x="805002" y="744336"/>
                  </a:lnTo>
                  <a:lnTo>
                    <a:pt x="775676" y="776644"/>
                  </a:lnTo>
                  <a:lnTo>
                    <a:pt x="743408" y="806007"/>
                  </a:lnTo>
                  <a:lnTo>
                    <a:pt x="708429" y="832197"/>
                  </a:lnTo>
                  <a:lnTo>
                    <a:pt x="670965" y="854985"/>
                  </a:lnTo>
                  <a:lnTo>
                    <a:pt x="631246" y="874143"/>
                  </a:lnTo>
                  <a:lnTo>
                    <a:pt x="589499" y="889442"/>
                  </a:lnTo>
                  <a:lnTo>
                    <a:pt x="545954" y="900652"/>
                  </a:lnTo>
                  <a:lnTo>
                    <a:pt x="500838" y="907546"/>
                  </a:lnTo>
                  <a:lnTo>
                    <a:pt x="454380" y="909895"/>
                  </a:lnTo>
                  <a:lnTo>
                    <a:pt x="407922" y="907546"/>
                  </a:lnTo>
                  <a:lnTo>
                    <a:pt x="362807" y="900652"/>
                  </a:lnTo>
                  <a:lnTo>
                    <a:pt x="319261" y="889442"/>
                  </a:lnTo>
                  <a:lnTo>
                    <a:pt x="277515" y="874143"/>
                  </a:lnTo>
                  <a:lnTo>
                    <a:pt x="237795" y="854985"/>
                  </a:lnTo>
                  <a:lnTo>
                    <a:pt x="200332" y="832197"/>
                  </a:lnTo>
                  <a:lnTo>
                    <a:pt x="165352" y="806007"/>
                  </a:lnTo>
                  <a:lnTo>
                    <a:pt x="133085" y="776644"/>
                  </a:lnTo>
                  <a:lnTo>
                    <a:pt x="103758" y="744336"/>
                  </a:lnTo>
                  <a:lnTo>
                    <a:pt x="77601" y="709313"/>
                  </a:lnTo>
                  <a:lnTo>
                    <a:pt x="54841" y="671802"/>
                  </a:lnTo>
                  <a:lnTo>
                    <a:pt x="35707" y="632034"/>
                  </a:lnTo>
                  <a:lnTo>
                    <a:pt x="20428" y="590235"/>
                  </a:lnTo>
                  <a:lnTo>
                    <a:pt x="9231" y="546635"/>
                  </a:lnTo>
                  <a:lnTo>
                    <a:pt x="2345" y="501463"/>
                  </a:lnTo>
                  <a:lnTo>
                    <a:pt x="0" y="454947"/>
                  </a:lnTo>
                  <a:close/>
                </a:path>
              </a:pathLst>
            </a:custGeom>
            <a:ln w="18850">
              <a:solidFill>
                <a:srgbClr val="09658F"/>
              </a:solidFill>
            </a:ln>
          </p:spPr>
          <p:txBody>
            <a:bodyPr wrap="square" lIns="0" tIns="0" rIns="0" bIns="0" rtlCol="0"/>
            <a:lstStyle/>
            <a:p>
              <a:endParaRPr/>
            </a:p>
          </p:txBody>
        </p:sp>
        <p:sp>
          <p:nvSpPr>
            <p:cNvPr id="25" name="object 25"/>
            <p:cNvSpPr/>
            <p:nvPr/>
          </p:nvSpPr>
          <p:spPr>
            <a:xfrm>
              <a:off x="4476978" y="3841916"/>
              <a:ext cx="923290" cy="910590"/>
            </a:xfrm>
            <a:custGeom>
              <a:avLst/>
              <a:gdLst/>
              <a:ahLst/>
              <a:cxnLst/>
              <a:rect l="l" t="t" r="r" b="b"/>
              <a:pathLst>
                <a:path w="923289" h="910589">
                  <a:moveTo>
                    <a:pt x="461539" y="0"/>
                  </a:moveTo>
                  <a:lnTo>
                    <a:pt x="414349" y="2350"/>
                  </a:lnTo>
                  <a:lnTo>
                    <a:pt x="368523" y="9248"/>
                  </a:lnTo>
                  <a:lnTo>
                    <a:pt x="324291" y="20465"/>
                  </a:lnTo>
                  <a:lnTo>
                    <a:pt x="281887" y="35773"/>
                  </a:lnTo>
                  <a:lnTo>
                    <a:pt x="241542" y="54942"/>
                  </a:lnTo>
                  <a:lnTo>
                    <a:pt x="203488" y="77744"/>
                  </a:lnTo>
                  <a:lnTo>
                    <a:pt x="167957" y="103949"/>
                  </a:lnTo>
                  <a:lnTo>
                    <a:pt x="135181" y="133330"/>
                  </a:lnTo>
                  <a:lnTo>
                    <a:pt x="105393" y="165657"/>
                  </a:lnTo>
                  <a:lnTo>
                    <a:pt x="78823" y="200701"/>
                  </a:lnTo>
                  <a:lnTo>
                    <a:pt x="55705" y="238234"/>
                  </a:lnTo>
                  <a:lnTo>
                    <a:pt x="36270" y="278026"/>
                  </a:lnTo>
                  <a:lnTo>
                    <a:pt x="20749" y="319849"/>
                  </a:lnTo>
                  <a:lnTo>
                    <a:pt x="9376" y="363475"/>
                  </a:lnTo>
                  <a:lnTo>
                    <a:pt x="2382" y="408674"/>
                  </a:lnTo>
                  <a:lnTo>
                    <a:pt x="0" y="455217"/>
                  </a:lnTo>
                  <a:lnTo>
                    <a:pt x="2382" y="501761"/>
                  </a:lnTo>
                  <a:lnTo>
                    <a:pt x="9376" y="546960"/>
                  </a:lnTo>
                  <a:lnTo>
                    <a:pt x="20749" y="590585"/>
                  </a:lnTo>
                  <a:lnTo>
                    <a:pt x="36270" y="632409"/>
                  </a:lnTo>
                  <a:lnTo>
                    <a:pt x="55705" y="672201"/>
                  </a:lnTo>
                  <a:lnTo>
                    <a:pt x="78823" y="709734"/>
                  </a:lnTo>
                  <a:lnTo>
                    <a:pt x="105393" y="744778"/>
                  </a:lnTo>
                  <a:lnTo>
                    <a:pt x="135181" y="777105"/>
                  </a:lnTo>
                  <a:lnTo>
                    <a:pt x="167957" y="806486"/>
                  </a:lnTo>
                  <a:lnTo>
                    <a:pt x="203488" y="832692"/>
                  </a:lnTo>
                  <a:lnTo>
                    <a:pt x="241542" y="855493"/>
                  </a:lnTo>
                  <a:lnTo>
                    <a:pt x="281887" y="874662"/>
                  </a:lnTo>
                  <a:lnTo>
                    <a:pt x="324291" y="889970"/>
                  </a:lnTo>
                  <a:lnTo>
                    <a:pt x="368523" y="901187"/>
                  </a:lnTo>
                  <a:lnTo>
                    <a:pt x="414349" y="908086"/>
                  </a:lnTo>
                  <a:lnTo>
                    <a:pt x="461539" y="910436"/>
                  </a:lnTo>
                  <a:lnTo>
                    <a:pt x="508729" y="908086"/>
                  </a:lnTo>
                  <a:lnTo>
                    <a:pt x="554555" y="901187"/>
                  </a:lnTo>
                  <a:lnTo>
                    <a:pt x="598786" y="889970"/>
                  </a:lnTo>
                  <a:lnTo>
                    <a:pt x="641191" y="874662"/>
                  </a:lnTo>
                  <a:lnTo>
                    <a:pt x="681536" y="855493"/>
                  </a:lnTo>
                  <a:lnTo>
                    <a:pt x="719589" y="832692"/>
                  </a:lnTo>
                  <a:lnTo>
                    <a:pt x="755120" y="806486"/>
                  </a:lnTo>
                  <a:lnTo>
                    <a:pt x="787896" y="777105"/>
                  </a:lnTo>
                  <a:lnTo>
                    <a:pt x="817684" y="744778"/>
                  </a:lnTo>
                  <a:lnTo>
                    <a:pt x="844254" y="709734"/>
                  </a:lnTo>
                  <a:lnTo>
                    <a:pt x="867372" y="672201"/>
                  </a:lnTo>
                  <a:lnTo>
                    <a:pt x="886807" y="632409"/>
                  </a:lnTo>
                  <a:lnTo>
                    <a:pt x="902328" y="590585"/>
                  </a:lnTo>
                  <a:lnTo>
                    <a:pt x="913701" y="546960"/>
                  </a:lnTo>
                  <a:lnTo>
                    <a:pt x="920695" y="501761"/>
                  </a:lnTo>
                  <a:lnTo>
                    <a:pt x="923077" y="455217"/>
                  </a:lnTo>
                  <a:lnTo>
                    <a:pt x="920695" y="408674"/>
                  </a:lnTo>
                  <a:lnTo>
                    <a:pt x="913701" y="363475"/>
                  </a:lnTo>
                  <a:lnTo>
                    <a:pt x="902328" y="319849"/>
                  </a:lnTo>
                  <a:lnTo>
                    <a:pt x="886807" y="278026"/>
                  </a:lnTo>
                  <a:lnTo>
                    <a:pt x="867372" y="238234"/>
                  </a:lnTo>
                  <a:lnTo>
                    <a:pt x="844254" y="200701"/>
                  </a:lnTo>
                  <a:lnTo>
                    <a:pt x="817684" y="165657"/>
                  </a:lnTo>
                  <a:lnTo>
                    <a:pt x="787896" y="133330"/>
                  </a:lnTo>
                  <a:lnTo>
                    <a:pt x="755120" y="103949"/>
                  </a:lnTo>
                  <a:lnTo>
                    <a:pt x="719589" y="77744"/>
                  </a:lnTo>
                  <a:lnTo>
                    <a:pt x="681536" y="54942"/>
                  </a:lnTo>
                  <a:lnTo>
                    <a:pt x="641191" y="35773"/>
                  </a:lnTo>
                  <a:lnTo>
                    <a:pt x="598786" y="20465"/>
                  </a:lnTo>
                  <a:lnTo>
                    <a:pt x="554555" y="9248"/>
                  </a:lnTo>
                  <a:lnTo>
                    <a:pt x="508729" y="2350"/>
                  </a:lnTo>
                  <a:lnTo>
                    <a:pt x="461539" y="0"/>
                  </a:lnTo>
                  <a:close/>
                </a:path>
              </a:pathLst>
            </a:custGeom>
            <a:solidFill>
              <a:srgbClr val="85BD05">
                <a:alpha val="50199"/>
              </a:srgbClr>
            </a:solidFill>
          </p:spPr>
          <p:txBody>
            <a:bodyPr wrap="square" lIns="0" tIns="0" rIns="0" bIns="0" rtlCol="0"/>
            <a:lstStyle/>
            <a:p>
              <a:endParaRPr/>
            </a:p>
          </p:txBody>
        </p:sp>
        <p:sp>
          <p:nvSpPr>
            <p:cNvPr id="26" name="object 26"/>
            <p:cNvSpPr/>
            <p:nvPr/>
          </p:nvSpPr>
          <p:spPr>
            <a:xfrm>
              <a:off x="4476978" y="3841916"/>
              <a:ext cx="923290" cy="910590"/>
            </a:xfrm>
            <a:custGeom>
              <a:avLst/>
              <a:gdLst/>
              <a:ahLst/>
              <a:cxnLst/>
              <a:rect l="l" t="t" r="r" b="b"/>
              <a:pathLst>
                <a:path w="923289" h="910589">
                  <a:moveTo>
                    <a:pt x="0" y="455218"/>
                  </a:moveTo>
                  <a:lnTo>
                    <a:pt x="2382" y="408674"/>
                  </a:lnTo>
                  <a:lnTo>
                    <a:pt x="9376" y="363475"/>
                  </a:lnTo>
                  <a:lnTo>
                    <a:pt x="20749" y="319850"/>
                  </a:lnTo>
                  <a:lnTo>
                    <a:pt x="36270" y="278026"/>
                  </a:lnTo>
                  <a:lnTo>
                    <a:pt x="55705" y="238234"/>
                  </a:lnTo>
                  <a:lnTo>
                    <a:pt x="78823" y="200701"/>
                  </a:lnTo>
                  <a:lnTo>
                    <a:pt x="105393" y="165657"/>
                  </a:lnTo>
                  <a:lnTo>
                    <a:pt x="135181" y="133330"/>
                  </a:lnTo>
                  <a:lnTo>
                    <a:pt x="167957" y="103949"/>
                  </a:lnTo>
                  <a:lnTo>
                    <a:pt x="203488" y="77744"/>
                  </a:lnTo>
                  <a:lnTo>
                    <a:pt x="241542" y="54942"/>
                  </a:lnTo>
                  <a:lnTo>
                    <a:pt x="281887" y="35773"/>
                  </a:lnTo>
                  <a:lnTo>
                    <a:pt x="324291" y="20465"/>
                  </a:lnTo>
                  <a:lnTo>
                    <a:pt x="368522" y="9248"/>
                  </a:lnTo>
                  <a:lnTo>
                    <a:pt x="414349" y="2350"/>
                  </a:lnTo>
                  <a:lnTo>
                    <a:pt x="461539" y="0"/>
                  </a:lnTo>
                  <a:lnTo>
                    <a:pt x="508728" y="2350"/>
                  </a:lnTo>
                  <a:lnTo>
                    <a:pt x="554555" y="9248"/>
                  </a:lnTo>
                  <a:lnTo>
                    <a:pt x="598786" y="20465"/>
                  </a:lnTo>
                  <a:lnTo>
                    <a:pt x="641191" y="35773"/>
                  </a:lnTo>
                  <a:lnTo>
                    <a:pt x="681536" y="54942"/>
                  </a:lnTo>
                  <a:lnTo>
                    <a:pt x="719590" y="77744"/>
                  </a:lnTo>
                  <a:lnTo>
                    <a:pt x="755120" y="103949"/>
                  </a:lnTo>
                  <a:lnTo>
                    <a:pt x="787896" y="133330"/>
                  </a:lnTo>
                  <a:lnTo>
                    <a:pt x="817685" y="165657"/>
                  </a:lnTo>
                  <a:lnTo>
                    <a:pt x="844254" y="200701"/>
                  </a:lnTo>
                  <a:lnTo>
                    <a:pt x="867373" y="238234"/>
                  </a:lnTo>
                  <a:lnTo>
                    <a:pt x="886808" y="278026"/>
                  </a:lnTo>
                  <a:lnTo>
                    <a:pt x="902328" y="319850"/>
                  </a:lnTo>
                  <a:lnTo>
                    <a:pt x="913701" y="363475"/>
                  </a:lnTo>
                  <a:lnTo>
                    <a:pt x="920695" y="408674"/>
                  </a:lnTo>
                  <a:lnTo>
                    <a:pt x="923078" y="455218"/>
                  </a:lnTo>
                  <a:lnTo>
                    <a:pt x="920695" y="501761"/>
                  </a:lnTo>
                  <a:lnTo>
                    <a:pt x="913701" y="546960"/>
                  </a:lnTo>
                  <a:lnTo>
                    <a:pt x="902328" y="590586"/>
                  </a:lnTo>
                  <a:lnTo>
                    <a:pt x="886808" y="632409"/>
                  </a:lnTo>
                  <a:lnTo>
                    <a:pt x="867373" y="672202"/>
                  </a:lnTo>
                  <a:lnTo>
                    <a:pt x="844254" y="709734"/>
                  </a:lnTo>
                  <a:lnTo>
                    <a:pt x="817685" y="744779"/>
                  </a:lnTo>
                  <a:lnTo>
                    <a:pt x="787896" y="777105"/>
                  </a:lnTo>
                  <a:lnTo>
                    <a:pt x="755120" y="806486"/>
                  </a:lnTo>
                  <a:lnTo>
                    <a:pt x="719590" y="832692"/>
                  </a:lnTo>
                  <a:lnTo>
                    <a:pt x="681536" y="855493"/>
                  </a:lnTo>
                  <a:lnTo>
                    <a:pt x="641191" y="874662"/>
                  </a:lnTo>
                  <a:lnTo>
                    <a:pt x="598786" y="889970"/>
                  </a:lnTo>
                  <a:lnTo>
                    <a:pt x="554555" y="901187"/>
                  </a:lnTo>
                  <a:lnTo>
                    <a:pt x="508728" y="908085"/>
                  </a:lnTo>
                  <a:lnTo>
                    <a:pt x="461539" y="910436"/>
                  </a:lnTo>
                  <a:lnTo>
                    <a:pt x="414349" y="908085"/>
                  </a:lnTo>
                  <a:lnTo>
                    <a:pt x="368522" y="901187"/>
                  </a:lnTo>
                  <a:lnTo>
                    <a:pt x="324291" y="889970"/>
                  </a:lnTo>
                  <a:lnTo>
                    <a:pt x="281887" y="874662"/>
                  </a:lnTo>
                  <a:lnTo>
                    <a:pt x="241542" y="855493"/>
                  </a:lnTo>
                  <a:lnTo>
                    <a:pt x="203488" y="832692"/>
                  </a:lnTo>
                  <a:lnTo>
                    <a:pt x="167957" y="806486"/>
                  </a:lnTo>
                  <a:lnTo>
                    <a:pt x="135181" y="777105"/>
                  </a:lnTo>
                  <a:lnTo>
                    <a:pt x="105393" y="744779"/>
                  </a:lnTo>
                  <a:lnTo>
                    <a:pt x="78823" y="709734"/>
                  </a:lnTo>
                  <a:lnTo>
                    <a:pt x="55705" y="672202"/>
                  </a:lnTo>
                  <a:lnTo>
                    <a:pt x="36270" y="632409"/>
                  </a:lnTo>
                  <a:lnTo>
                    <a:pt x="20749" y="590586"/>
                  </a:lnTo>
                  <a:lnTo>
                    <a:pt x="9376" y="546960"/>
                  </a:lnTo>
                  <a:lnTo>
                    <a:pt x="2382" y="501761"/>
                  </a:lnTo>
                  <a:lnTo>
                    <a:pt x="0" y="455218"/>
                  </a:lnTo>
                  <a:close/>
                </a:path>
              </a:pathLst>
            </a:custGeom>
            <a:ln w="18850">
              <a:solidFill>
                <a:srgbClr val="608A03"/>
              </a:solidFill>
            </a:ln>
          </p:spPr>
          <p:txBody>
            <a:bodyPr wrap="square" lIns="0" tIns="0" rIns="0" bIns="0" rtlCol="0"/>
            <a:lstStyle/>
            <a:p>
              <a:endParaRPr/>
            </a:p>
          </p:txBody>
        </p:sp>
        <p:pic>
          <p:nvPicPr>
            <p:cNvPr id="27" name="object 27"/>
            <p:cNvPicPr/>
            <p:nvPr/>
          </p:nvPicPr>
          <p:blipFill>
            <a:blip r:embed="rId8" cstate="print"/>
            <a:stretch>
              <a:fillRect/>
            </a:stretch>
          </p:blipFill>
          <p:spPr>
            <a:xfrm>
              <a:off x="4502780" y="3598277"/>
              <a:ext cx="122460" cy="122590"/>
            </a:xfrm>
            <a:prstGeom prst="rect">
              <a:avLst/>
            </a:prstGeom>
          </p:spPr>
        </p:pic>
        <p:pic>
          <p:nvPicPr>
            <p:cNvPr id="28" name="object 28"/>
            <p:cNvPicPr/>
            <p:nvPr/>
          </p:nvPicPr>
          <p:blipFill>
            <a:blip r:embed="rId3" cstate="print"/>
            <a:stretch>
              <a:fillRect/>
            </a:stretch>
          </p:blipFill>
          <p:spPr>
            <a:xfrm>
              <a:off x="4877287" y="4229457"/>
              <a:ext cx="122460" cy="122590"/>
            </a:xfrm>
            <a:prstGeom prst="rect">
              <a:avLst/>
            </a:prstGeom>
          </p:spPr>
        </p:pic>
        <p:pic>
          <p:nvPicPr>
            <p:cNvPr id="29" name="object 29"/>
            <p:cNvPicPr/>
            <p:nvPr/>
          </p:nvPicPr>
          <p:blipFill>
            <a:blip r:embed="rId9" cstate="print"/>
            <a:stretch>
              <a:fillRect/>
            </a:stretch>
          </p:blipFill>
          <p:spPr>
            <a:xfrm>
              <a:off x="5218637" y="3579415"/>
              <a:ext cx="122460" cy="122590"/>
            </a:xfrm>
            <a:prstGeom prst="rect">
              <a:avLst/>
            </a:prstGeom>
          </p:spPr>
        </p:pic>
      </p:grpSp>
      <p:sp>
        <p:nvSpPr>
          <p:cNvPr id="30" name="object 30"/>
          <p:cNvSpPr txBox="1"/>
          <p:nvPr/>
        </p:nvSpPr>
        <p:spPr>
          <a:xfrm>
            <a:off x="3858021" y="4200203"/>
            <a:ext cx="1418359" cy="211563"/>
          </a:xfrm>
          <a:prstGeom prst="rect">
            <a:avLst/>
          </a:prstGeom>
        </p:spPr>
        <p:txBody>
          <a:bodyPr vert="horz" wrap="square" lIns="0" tIns="11397" rIns="0" bIns="0" rtlCol="0">
            <a:spAutoFit/>
          </a:bodyPr>
          <a:lstStyle/>
          <a:p>
            <a:pPr marL="11397">
              <a:spcBef>
                <a:spcPts val="90"/>
              </a:spcBef>
            </a:pPr>
            <a:r>
              <a:rPr sz="1300" spc="-9" dirty="0">
                <a:cs typeface="Calibri"/>
              </a:rPr>
              <a:t>overlapping</a:t>
            </a:r>
            <a:r>
              <a:rPr sz="1300" spc="-63" dirty="0">
                <a:cs typeface="Calibri"/>
              </a:rPr>
              <a:t> </a:t>
            </a:r>
            <a:r>
              <a:rPr sz="1300" spc="-13" dirty="0">
                <a:cs typeface="Calibri"/>
              </a:rPr>
              <a:t>clusters</a:t>
            </a:r>
            <a:endParaRPr sz="1300">
              <a:cs typeface="Calibri"/>
            </a:endParaRPr>
          </a:p>
        </p:txBody>
      </p:sp>
      <p:grpSp>
        <p:nvGrpSpPr>
          <p:cNvPr id="31" name="object 31"/>
          <p:cNvGrpSpPr/>
          <p:nvPr/>
        </p:nvGrpSpPr>
        <p:grpSpPr>
          <a:xfrm>
            <a:off x="6032409" y="2556099"/>
            <a:ext cx="1403927" cy="1538007"/>
            <a:chOff x="6635650" y="2896911"/>
            <a:chExt cx="1544320" cy="1743075"/>
          </a:xfrm>
        </p:grpSpPr>
        <p:sp>
          <p:nvSpPr>
            <p:cNvPr id="32" name="object 32"/>
            <p:cNvSpPr/>
            <p:nvPr/>
          </p:nvSpPr>
          <p:spPr>
            <a:xfrm>
              <a:off x="7539323" y="2926412"/>
              <a:ext cx="631190" cy="622935"/>
            </a:xfrm>
            <a:custGeom>
              <a:avLst/>
              <a:gdLst/>
              <a:ahLst/>
              <a:cxnLst/>
              <a:rect l="l" t="t" r="r" b="b"/>
              <a:pathLst>
                <a:path w="631190" h="622935">
                  <a:moveTo>
                    <a:pt x="315541" y="0"/>
                  </a:moveTo>
                  <a:lnTo>
                    <a:pt x="268913" y="3374"/>
                  </a:lnTo>
                  <a:lnTo>
                    <a:pt x="224408" y="13176"/>
                  </a:lnTo>
                  <a:lnTo>
                    <a:pt x="182517" y="28925"/>
                  </a:lnTo>
                  <a:lnTo>
                    <a:pt x="143725" y="50139"/>
                  </a:lnTo>
                  <a:lnTo>
                    <a:pt x="108522" y="76337"/>
                  </a:lnTo>
                  <a:lnTo>
                    <a:pt x="77396" y="107036"/>
                  </a:lnTo>
                  <a:lnTo>
                    <a:pt x="50835" y="141757"/>
                  </a:lnTo>
                  <a:lnTo>
                    <a:pt x="29327" y="180017"/>
                  </a:lnTo>
                  <a:lnTo>
                    <a:pt x="13359" y="221335"/>
                  </a:lnTo>
                  <a:lnTo>
                    <a:pt x="3421" y="265230"/>
                  </a:lnTo>
                  <a:lnTo>
                    <a:pt x="0" y="311219"/>
                  </a:lnTo>
                  <a:lnTo>
                    <a:pt x="3421" y="357209"/>
                  </a:lnTo>
                  <a:lnTo>
                    <a:pt x="13359" y="401104"/>
                  </a:lnTo>
                  <a:lnTo>
                    <a:pt x="29327" y="442422"/>
                  </a:lnTo>
                  <a:lnTo>
                    <a:pt x="50835" y="480683"/>
                  </a:lnTo>
                  <a:lnTo>
                    <a:pt x="77396" y="515403"/>
                  </a:lnTo>
                  <a:lnTo>
                    <a:pt x="108522" y="546103"/>
                  </a:lnTo>
                  <a:lnTo>
                    <a:pt x="143725" y="572301"/>
                  </a:lnTo>
                  <a:lnTo>
                    <a:pt x="182517" y="593515"/>
                  </a:lnTo>
                  <a:lnTo>
                    <a:pt x="224408" y="609264"/>
                  </a:lnTo>
                  <a:lnTo>
                    <a:pt x="268913" y="619066"/>
                  </a:lnTo>
                  <a:lnTo>
                    <a:pt x="315541" y="622440"/>
                  </a:lnTo>
                  <a:lnTo>
                    <a:pt x="362170" y="619066"/>
                  </a:lnTo>
                  <a:lnTo>
                    <a:pt x="406674" y="609264"/>
                  </a:lnTo>
                  <a:lnTo>
                    <a:pt x="448566" y="593515"/>
                  </a:lnTo>
                  <a:lnTo>
                    <a:pt x="487357" y="572301"/>
                  </a:lnTo>
                  <a:lnTo>
                    <a:pt x="522560" y="546103"/>
                  </a:lnTo>
                  <a:lnTo>
                    <a:pt x="553686" y="515403"/>
                  </a:lnTo>
                  <a:lnTo>
                    <a:pt x="580247" y="480683"/>
                  </a:lnTo>
                  <a:lnTo>
                    <a:pt x="601756" y="442422"/>
                  </a:lnTo>
                  <a:lnTo>
                    <a:pt x="617723" y="401104"/>
                  </a:lnTo>
                  <a:lnTo>
                    <a:pt x="627662" y="357209"/>
                  </a:lnTo>
                  <a:lnTo>
                    <a:pt x="631083" y="311219"/>
                  </a:lnTo>
                  <a:lnTo>
                    <a:pt x="627662" y="265230"/>
                  </a:lnTo>
                  <a:lnTo>
                    <a:pt x="617723" y="221335"/>
                  </a:lnTo>
                  <a:lnTo>
                    <a:pt x="601756" y="180017"/>
                  </a:lnTo>
                  <a:lnTo>
                    <a:pt x="580247" y="141757"/>
                  </a:lnTo>
                  <a:lnTo>
                    <a:pt x="553686" y="107036"/>
                  </a:lnTo>
                  <a:lnTo>
                    <a:pt x="522560" y="76337"/>
                  </a:lnTo>
                  <a:lnTo>
                    <a:pt x="487357" y="50139"/>
                  </a:lnTo>
                  <a:lnTo>
                    <a:pt x="448566" y="28925"/>
                  </a:lnTo>
                  <a:lnTo>
                    <a:pt x="406674" y="13176"/>
                  </a:lnTo>
                  <a:lnTo>
                    <a:pt x="362170" y="3374"/>
                  </a:lnTo>
                  <a:lnTo>
                    <a:pt x="315541" y="0"/>
                  </a:lnTo>
                  <a:close/>
                </a:path>
              </a:pathLst>
            </a:custGeom>
            <a:solidFill>
              <a:srgbClr val="118CC4">
                <a:alpha val="49018"/>
              </a:srgbClr>
            </a:solidFill>
          </p:spPr>
          <p:txBody>
            <a:bodyPr wrap="square" lIns="0" tIns="0" rIns="0" bIns="0" rtlCol="0"/>
            <a:lstStyle/>
            <a:p>
              <a:endParaRPr/>
            </a:p>
          </p:txBody>
        </p:sp>
        <p:sp>
          <p:nvSpPr>
            <p:cNvPr id="33" name="object 33"/>
            <p:cNvSpPr/>
            <p:nvPr/>
          </p:nvSpPr>
          <p:spPr>
            <a:xfrm>
              <a:off x="7539323" y="2926412"/>
              <a:ext cx="631190" cy="622935"/>
            </a:xfrm>
            <a:custGeom>
              <a:avLst/>
              <a:gdLst/>
              <a:ahLst/>
              <a:cxnLst/>
              <a:rect l="l" t="t" r="r" b="b"/>
              <a:pathLst>
                <a:path w="631190" h="622935">
                  <a:moveTo>
                    <a:pt x="0" y="311220"/>
                  </a:moveTo>
                  <a:lnTo>
                    <a:pt x="3421" y="265230"/>
                  </a:lnTo>
                  <a:lnTo>
                    <a:pt x="13359" y="221335"/>
                  </a:lnTo>
                  <a:lnTo>
                    <a:pt x="29327" y="180017"/>
                  </a:lnTo>
                  <a:lnTo>
                    <a:pt x="50835" y="141757"/>
                  </a:lnTo>
                  <a:lnTo>
                    <a:pt x="77397" y="107037"/>
                  </a:lnTo>
                  <a:lnTo>
                    <a:pt x="108523" y="76337"/>
                  </a:lnTo>
                  <a:lnTo>
                    <a:pt x="143726" y="50139"/>
                  </a:lnTo>
                  <a:lnTo>
                    <a:pt x="182517" y="28925"/>
                  </a:lnTo>
                  <a:lnTo>
                    <a:pt x="224409" y="13176"/>
                  </a:lnTo>
                  <a:lnTo>
                    <a:pt x="268913" y="3374"/>
                  </a:lnTo>
                  <a:lnTo>
                    <a:pt x="315542" y="0"/>
                  </a:lnTo>
                  <a:lnTo>
                    <a:pt x="362170" y="3374"/>
                  </a:lnTo>
                  <a:lnTo>
                    <a:pt x="406674" y="13176"/>
                  </a:lnTo>
                  <a:lnTo>
                    <a:pt x="448566" y="28925"/>
                  </a:lnTo>
                  <a:lnTo>
                    <a:pt x="487358" y="50139"/>
                  </a:lnTo>
                  <a:lnTo>
                    <a:pt x="522560" y="76337"/>
                  </a:lnTo>
                  <a:lnTo>
                    <a:pt x="553686" y="107037"/>
                  </a:lnTo>
                  <a:lnTo>
                    <a:pt x="580248" y="141757"/>
                  </a:lnTo>
                  <a:lnTo>
                    <a:pt x="601756" y="180017"/>
                  </a:lnTo>
                  <a:lnTo>
                    <a:pt x="617724" y="221335"/>
                  </a:lnTo>
                  <a:lnTo>
                    <a:pt x="627662" y="265230"/>
                  </a:lnTo>
                  <a:lnTo>
                    <a:pt x="631084" y="311220"/>
                  </a:lnTo>
                  <a:lnTo>
                    <a:pt x="627662" y="357210"/>
                  </a:lnTo>
                  <a:lnTo>
                    <a:pt x="617724" y="401105"/>
                  </a:lnTo>
                  <a:lnTo>
                    <a:pt x="601756" y="442423"/>
                  </a:lnTo>
                  <a:lnTo>
                    <a:pt x="580248" y="480683"/>
                  </a:lnTo>
                  <a:lnTo>
                    <a:pt x="553686" y="515404"/>
                  </a:lnTo>
                  <a:lnTo>
                    <a:pt x="522560" y="546103"/>
                  </a:lnTo>
                  <a:lnTo>
                    <a:pt x="487358" y="572301"/>
                  </a:lnTo>
                  <a:lnTo>
                    <a:pt x="448566" y="593515"/>
                  </a:lnTo>
                  <a:lnTo>
                    <a:pt x="406674" y="609264"/>
                  </a:lnTo>
                  <a:lnTo>
                    <a:pt x="362170" y="619066"/>
                  </a:lnTo>
                  <a:lnTo>
                    <a:pt x="315542" y="622441"/>
                  </a:lnTo>
                  <a:lnTo>
                    <a:pt x="268913" y="619066"/>
                  </a:lnTo>
                  <a:lnTo>
                    <a:pt x="224409" y="609264"/>
                  </a:lnTo>
                  <a:lnTo>
                    <a:pt x="182517" y="593515"/>
                  </a:lnTo>
                  <a:lnTo>
                    <a:pt x="143726" y="572301"/>
                  </a:lnTo>
                  <a:lnTo>
                    <a:pt x="108523" y="546103"/>
                  </a:lnTo>
                  <a:lnTo>
                    <a:pt x="77397" y="515404"/>
                  </a:lnTo>
                  <a:lnTo>
                    <a:pt x="50835" y="480683"/>
                  </a:lnTo>
                  <a:lnTo>
                    <a:pt x="29327" y="442423"/>
                  </a:lnTo>
                  <a:lnTo>
                    <a:pt x="13359" y="401105"/>
                  </a:lnTo>
                  <a:lnTo>
                    <a:pt x="3421" y="357210"/>
                  </a:lnTo>
                  <a:lnTo>
                    <a:pt x="0" y="311220"/>
                  </a:lnTo>
                  <a:close/>
                </a:path>
              </a:pathLst>
            </a:custGeom>
            <a:ln w="18850">
              <a:solidFill>
                <a:srgbClr val="09658F"/>
              </a:solidFill>
            </a:ln>
          </p:spPr>
          <p:txBody>
            <a:bodyPr wrap="square" lIns="0" tIns="0" rIns="0" bIns="0" rtlCol="0"/>
            <a:lstStyle/>
            <a:p>
              <a:endParaRPr/>
            </a:p>
          </p:txBody>
        </p:sp>
        <p:sp>
          <p:nvSpPr>
            <p:cNvPr id="34" name="object 34"/>
            <p:cNvSpPr/>
            <p:nvPr/>
          </p:nvSpPr>
          <p:spPr>
            <a:xfrm>
              <a:off x="7018062" y="3504969"/>
              <a:ext cx="784860" cy="1125855"/>
            </a:xfrm>
            <a:custGeom>
              <a:avLst/>
              <a:gdLst/>
              <a:ahLst/>
              <a:cxnLst/>
              <a:rect l="l" t="t" r="r" b="b"/>
              <a:pathLst>
                <a:path w="784859" h="1125854">
                  <a:moveTo>
                    <a:pt x="474156" y="0"/>
                  </a:moveTo>
                  <a:lnTo>
                    <a:pt x="435842" y="3811"/>
                  </a:lnTo>
                  <a:lnTo>
                    <a:pt x="397536" y="13000"/>
                  </a:lnTo>
                  <a:lnTo>
                    <a:pt x="359498" y="27340"/>
                  </a:lnTo>
                  <a:lnTo>
                    <a:pt x="321988" y="46603"/>
                  </a:lnTo>
                  <a:lnTo>
                    <a:pt x="285264" y="70564"/>
                  </a:lnTo>
                  <a:lnTo>
                    <a:pt x="249588" y="98995"/>
                  </a:lnTo>
                  <a:lnTo>
                    <a:pt x="215218" y="131671"/>
                  </a:lnTo>
                  <a:lnTo>
                    <a:pt x="182415" y="168364"/>
                  </a:lnTo>
                  <a:lnTo>
                    <a:pt x="151437" y="208848"/>
                  </a:lnTo>
                  <a:lnTo>
                    <a:pt x="122546" y="252896"/>
                  </a:lnTo>
                  <a:lnTo>
                    <a:pt x="96001" y="300282"/>
                  </a:lnTo>
                  <a:lnTo>
                    <a:pt x="72061" y="350779"/>
                  </a:lnTo>
                  <a:lnTo>
                    <a:pt x="50986" y="404161"/>
                  </a:lnTo>
                  <a:lnTo>
                    <a:pt x="33036" y="460201"/>
                  </a:lnTo>
                  <a:lnTo>
                    <a:pt x="18796" y="517300"/>
                  </a:lnTo>
                  <a:lnTo>
                    <a:pt x="8611" y="573788"/>
                  </a:lnTo>
                  <a:lnTo>
                    <a:pt x="2379" y="629336"/>
                  </a:lnTo>
                  <a:lnTo>
                    <a:pt x="0" y="683615"/>
                  </a:lnTo>
                  <a:lnTo>
                    <a:pt x="1370" y="736295"/>
                  </a:lnTo>
                  <a:lnTo>
                    <a:pt x="6389" y="787046"/>
                  </a:lnTo>
                  <a:lnTo>
                    <a:pt x="14956" y="835538"/>
                  </a:lnTo>
                  <a:lnTo>
                    <a:pt x="26968" y="881443"/>
                  </a:lnTo>
                  <a:lnTo>
                    <a:pt x="42325" y="924431"/>
                  </a:lnTo>
                  <a:lnTo>
                    <a:pt x="60924" y="964171"/>
                  </a:lnTo>
                  <a:lnTo>
                    <a:pt x="82665" y="1000334"/>
                  </a:lnTo>
                  <a:lnTo>
                    <a:pt x="107446" y="1032591"/>
                  </a:lnTo>
                  <a:lnTo>
                    <a:pt x="135166" y="1060612"/>
                  </a:lnTo>
                  <a:lnTo>
                    <a:pt x="165722" y="1084068"/>
                  </a:lnTo>
                  <a:lnTo>
                    <a:pt x="199013" y="1102628"/>
                  </a:lnTo>
                  <a:lnTo>
                    <a:pt x="234939" y="1115963"/>
                  </a:lnTo>
                  <a:lnTo>
                    <a:pt x="272490" y="1123585"/>
                  </a:lnTo>
                  <a:lnTo>
                    <a:pt x="310552" y="1125377"/>
                  </a:lnTo>
                  <a:lnTo>
                    <a:pt x="348866" y="1121565"/>
                  </a:lnTo>
                  <a:lnTo>
                    <a:pt x="387172" y="1112376"/>
                  </a:lnTo>
                  <a:lnTo>
                    <a:pt x="425210" y="1098037"/>
                  </a:lnTo>
                  <a:lnTo>
                    <a:pt x="462721" y="1078773"/>
                  </a:lnTo>
                  <a:lnTo>
                    <a:pt x="499444" y="1054813"/>
                  </a:lnTo>
                  <a:lnTo>
                    <a:pt x="535120" y="1026381"/>
                  </a:lnTo>
                  <a:lnTo>
                    <a:pt x="569490" y="993706"/>
                  </a:lnTo>
                  <a:lnTo>
                    <a:pt x="602293" y="957013"/>
                  </a:lnTo>
                  <a:lnTo>
                    <a:pt x="633270" y="916529"/>
                  </a:lnTo>
                  <a:lnTo>
                    <a:pt x="662161" y="872481"/>
                  </a:lnTo>
                  <a:lnTo>
                    <a:pt x="688707" y="825094"/>
                  </a:lnTo>
                  <a:lnTo>
                    <a:pt x="712647" y="774597"/>
                  </a:lnTo>
                  <a:lnTo>
                    <a:pt x="733722" y="721215"/>
                  </a:lnTo>
                  <a:lnTo>
                    <a:pt x="751671" y="665175"/>
                  </a:lnTo>
                  <a:lnTo>
                    <a:pt x="765911" y="608077"/>
                  </a:lnTo>
                  <a:lnTo>
                    <a:pt x="776096" y="551589"/>
                  </a:lnTo>
                  <a:lnTo>
                    <a:pt x="782328" y="496041"/>
                  </a:lnTo>
                  <a:lnTo>
                    <a:pt x="784708" y="441762"/>
                  </a:lnTo>
                  <a:lnTo>
                    <a:pt x="783338" y="389082"/>
                  </a:lnTo>
                  <a:lnTo>
                    <a:pt x="778319" y="338331"/>
                  </a:lnTo>
                  <a:lnTo>
                    <a:pt x="769752" y="289838"/>
                  </a:lnTo>
                  <a:lnTo>
                    <a:pt x="757740" y="243933"/>
                  </a:lnTo>
                  <a:lnTo>
                    <a:pt x="742383" y="200946"/>
                  </a:lnTo>
                  <a:lnTo>
                    <a:pt x="723784" y="161206"/>
                  </a:lnTo>
                  <a:lnTo>
                    <a:pt x="702043" y="125042"/>
                  </a:lnTo>
                  <a:lnTo>
                    <a:pt x="677262" y="92785"/>
                  </a:lnTo>
                  <a:lnTo>
                    <a:pt x="649543" y="64764"/>
                  </a:lnTo>
                  <a:lnTo>
                    <a:pt x="618986" y="41309"/>
                  </a:lnTo>
                  <a:lnTo>
                    <a:pt x="585695" y="22749"/>
                  </a:lnTo>
                  <a:lnTo>
                    <a:pt x="549769" y="9413"/>
                  </a:lnTo>
                  <a:lnTo>
                    <a:pt x="512219" y="1791"/>
                  </a:lnTo>
                  <a:lnTo>
                    <a:pt x="474156" y="0"/>
                  </a:lnTo>
                  <a:close/>
                </a:path>
              </a:pathLst>
            </a:custGeom>
            <a:solidFill>
              <a:srgbClr val="85BD05">
                <a:alpha val="50199"/>
              </a:srgbClr>
            </a:solidFill>
          </p:spPr>
          <p:txBody>
            <a:bodyPr wrap="square" lIns="0" tIns="0" rIns="0" bIns="0" rtlCol="0"/>
            <a:lstStyle/>
            <a:p>
              <a:endParaRPr/>
            </a:p>
          </p:txBody>
        </p:sp>
        <p:sp>
          <p:nvSpPr>
            <p:cNvPr id="35" name="object 35"/>
            <p:cNvSpPr/>
            <p:nvPr/>
          </p:nvSpPr>
          <p:spPr>
            <a:xfrm>
              <a:off x="7018063" y="3504969"/>
              <a:ext cx="784860" cy="1125855"/>
            </a:xfrm>
            <a:custGeom>
              <a:avLst/>
              <a:gdLst/>
              <a:ahLst/>
              <a:cxnLst/>
              <a:rect l="l" t="t" r="r" b="b"/>
              <a:pathLst>
                <a:path w="784859" h="1125854">
                  <a:moveTo>
                    <a:pt x="33036" y="460201"/>
                  </a:moveTo>
                  <a:lnTo>
                    <a:pt x="50986" y="404161"/>
                  </a:lnTo>
                  <a:lnTo>
                    <a:pt x="72060" y="350779"/>
                  </a:lnTo>
                  <a:lnTo>
                    <a:pt x="96000" y="300282"/>
                  </a:lnTo>
                  <a:lnTo>
                    <a:pt x="122546" y="252896"/>
                  </a:lnTo>
                  <a:lnTo>
                    <a:pt x="151437" y="208847"/>
                  </a:lnTo>
                  <a:lnTo>
                    <a:pt x="182414" y="168363"/>
                  </a:lnTo>
                  <a:lnTo>
                    <a:pt x="215217" y="131670"/>
                  </a:lnTo>
                  <a:lnTo>
                    <a:pt x="249587" y="98995"/>
                  </a:lnTo>
                  <a:lnTo>
                    <a:pt x="285263" y="70563"/>
                  </a:lnTo>
                  <a:lnTo>
                    <a:pt x="321987" y="46603"/>
                  </a:lnTo>
                  <a:lnTo>
                    <a:pt x="359498" y="27340"/>
                  </a:lnTo>
                  <a:lnTo>
                    <a:pt x="397536" y="13000"/>
                  </a:lnTo>
                  <a:lnTo>
                    <a:pt x="435842" y="3811"/>
                  </a:lnTo>
                  <a:lnTo>
                    <a:pt x="474156" y="0"/>
                  </a:lnTo>
                  <a:lnTo>
                    <a:pt x="512218" y="1791"/>
                  </a:lnTo>
                  <a:lnTo>
                    <a:pt x="549769" y="9414"/>
                  </a:lnTo>
                  <a:lnTo>
                    <a:pt x="585694" y="22749"/>
                  </a:lnTo>
                  <a:lnTo>
                    <a:pt x="618986" y="41309"/>
                  </a:lnTo>
                  <a:lnTo>
                    <a:pt x="649542" y="64764"/>
                  </a:lnTo>
                  <a:lnTo>
                    <a:pt x="677261" y="92785"/>
                  </a:lnTo>
                  <a:lnTo>
                    <a:pt x="702042" y="125042"/>
                  </a:lnTo>
                  <a:lnTo>
                    <a:pt x="723783" y="161206"/>
                  </a:lnTo>
                  <a:lnTo>
                    <a:pt x="742382" y="200946"/>
                  </a:lnTo>
                  <a:lnTo>
                    <a:pt x="757739" y="243933"/>
                  </a:lnTo>
                  <a:lnTo>
                    <a:pt x="769751" y="289838"/>
                  </a:lnTo>
                  <a:lnTo>
                    <a:pt x="778318" y="338331"/>
                  </a:lnTo>
                  <a:lnTo>
                    <a:pt x="783337" y="389082"/>
                  </a:lnTo>
                  <a:lnTo>
                    <a:pt x="784708" y="441762"/>
                  </a:lnTo>
                  <a:lnTo>
                    <a:pt x="782328" y="496041"/>
                  </a:lnTo>
                  <a:lnTo>
                    <a:pt x="776096" y="551589"/>
                  </a:lnTo>
                  <a:lnTo>
                    <a:pt x="765911" y="608077"/>
                  </a:lnTo>
                  <a:lnTo>
                    <a:pt x="751671" y="665175"/>
                  </a:lnTo>
                  <a:lnTo>
                    <a:pt x="733721" y="721215"/>
                  </a:lnTo>
                  <a:lnTo>
                    <a:pt x="712647" y="774597"/>
                  </a:lnTo>
                  <a:lnTo>
                    <a:pt x="688707" y="825095"/>
                  </a:lnTo>
                  <a:lnTo>
                    <a:pt x="662161" y="872481"/>
                  </a:lnTo>
                  <a:lnTo>
                    <a:pt x="633270" y="916529"/>
                  </a:lnTo>
                  <a:lnTo>
                    <a:pt x="602293" y="957013"/>
                  </a:lnTo>
                  <a:lnTo>
                    <a:pt x="569490" y="993707"/>
                  </a:lnTo>
                  <a:lnTo>
                    <a:pt x="535120" y="1026382"/>
                  </a:lnTo>
                  <a:lnTo>
                    <a:pt x="499444" y="1054813"/>
                  </a:lnTo>
                  <a:lnTo>
                    <a:pt x="462720" y="1078774"/>
                  </a:lnTo>
                  <a:lnTo>
                    <a:pt x="425210" y="1098037"/>
                  </a:lnTo>
                  <a:lnTo>
                    <a:pt x="387171" y="1112377"/>
                  </a:lnTo>
                  <a:lnTo>
                    <a:pt x="348865" y="1121566"/>
                  </a:lnTo>
                  <a:lnTo>
                    <a:pt x="310551" y="1125377"/>
                  </a:lnTo>
                  <a:lnTo>
                    <a:pt x="272489" y="1123585"/>
                  </a:lnTo>
                  <a:lnTo>
                    <a:pt x="234938" y="1115963"/>
                  </a:lnTo>
                  <a:lnTo>
                    <a:pt x="199013" y="1102628"/>
                  </a:lnTo>
                  <a:lnTo>
                    <a:pt x="165721" y="1084068"/>
                  </a:lnTo>
                  <a:lnTo>
                    <a:pt x="135165" y="1060613"/>
                  </a:lnTo>
                  <a:lnTo>
                    <a:pt x="107446" y="1032592"/>
                  </a:lnTo>
                  <a:lnTo>
                    <a:pt x="82665" y="1000335"/>
                  </a:lnTo>
                  <a:lnTo>
                    <a:pt x="60924" y="964171"/>
                  </a:lnTo>
                  <a:lnTo>
                    <a:pt x="42325" y="924431"/>
                  </a:lnTo>
                  <a:lnTo>
                    <a:pt x="26968" y="881443"/>
                  </a:lnTo>
                  <a:lnTo>
                    <a:pt x="14956" y="835539"/>
                  </a:lnTo>
                  <a:lnTo>
                    <a:pt x="6389" y="787046"/>
                  </a:lnTo>
                  <a:lnTo>
                    <a:pt x="1370" y="736295"/>
                  </a:lnTo>
                  <a:lnTo>
                    <a:pt x="0" y="683615"/>
                  </a:lnTo>
                  <a:lnTo>
                    <a:pt x="2379" y="629336"/>
                  </a:lnTo>
                  <a:lnTo>
                    <a:pt x="8611" y="573788"/>
                  </a:lnTo>
                  <a:lnTo>
                    <a:pt x="18796" y="517300"/>
                  </a:lnTo>
                  <a:lnTo>
                    <a:pt x="33036" y="460201"/>
                  </a:lnTo>
                  <a:close/>
                </a:path>
              </a:pathLst>
            </a:custGeom>
            <a:ln w="18846">
              <a:solidFill>
                <a:srgbClr val="608A03"/>
              </a:solidFill>
            </a:ln>
          </p:spPr>
          <p:txBody>
            <a:bodyPr wrap="square" lIns="0" tIns="0" rIns="0" bIns="0" rtlCol="0"/>
            <a:lstStyle/>
            <a:p>
              <a:endParaRPr/>
            </a:p>
          </p:txBody>
        </p:sp>
        <p:sp>
          <p:nvSpPr>
            <p:cNvPr id="36" name="object 36"/>
            <p:cNvSpPr/>
            <p:nvPr/>
          </p:nvSpPr>
          <p:spPr>
            <a:xfrm>
              <a:off x="6645072" y="2906334"/>
              <a:ext cx="687070" cy="1087120"/>
            </a:xfrm>
            <a:custGeom>
              <a:avLst/>
              <a:gdLst/>
              <a:ahLst/>
              <a:cxnLst/>
              <a:rect l="l" t="t" r="r" b="b"/>
              <a:pathLst>
                <a:path w="687070" h="1087120">
                  <a:moveTo>
                    <a:pt x="187585" y="0"/>
                  </a:moveTo>
                  <a:lnTo>
                    <a:pt x="125530" y="11100"/>
                  </a:lnTo>
                  <a:lnTo>
                    <a:pt x="73516" y="46759"/>
                  </a:lnTo>
                  <a:lnTo>
                    <a:pt x="35100" y="103498"/>
                  </a:lnTo>
                  <a:lnTo>
                    <a:pt x="10516" y="178186"/>
                  </a:lnTo>
                  <a:lnTo>
                    <a:pt x="3485" y="221283"/>
                  </a:lnTo>
                  <a:lnTo>
                    <a:pt x="0" y="267694"/>
                  </a:lnTo>
                  <a:lnTo>
                    <a:pt x="90" y="317026"/>
                  </a:lnTo>
                  <a:lnTo>
                    <a:pt x="3785" y="368890"/>
                  </a:lnTo>
                  <a:lnTo>
                    <a:pt x="11115" y="422894"/>
                  </a:lnTo>
                  <a:lnTo>
                    <a:pt x="22108" y="478646"/>
                  </a:lnTo>
                  <a:lnTo>
                    <a:pt x="36794" y="535755"/>
                  </a:lnTo>
                  <a:lnTo>
                    <a:pt x="55203" y="593830"/>
                  </a:lnTo>
                  <a:lnTo>
                    <a:pt x="77364" y="652479"/>
                  </a:lnTo>
                  <a:lnTo>
                    <a:pt x="102645" y="709850"/>
                  </a:lnTo>
                  <a:lnTo>
                    <a:pt x="130197" y="764177"/>
                  </a:lnTo>
                  <a:lnTo>
                    <a:pt x="159728" y="815201"/>
                  </a:lnTo>
                  <a:lnTo>
                    <a:pt x="190940" y="862664"/>
                  </a:lnTo>
                  <a:lnTo>
                    <a:pt x="223539" y="906309"/>
                  </a:lnTo>
                  <a:lnTo>
                    <a:pt x="257231" y="945876"/>
                  </a:lnTo>
                  <a:lnTo>
                    <a:pt x="291720" y="981108"/>
                  </a:lnTo>
                  <a:lnTo>
                    <a:pt x="326711" y="1011746"/>
                  </a:lnTo>
                  <a:lnTo>
                    <a:pt x="361909" y="1037532"/>
                  </a:lnTo>
                  <a:lnTo>
                    <a:pt x="397019" y="1058207"/>
                  </a:lnTo>
                  <a:lnTo>
                    <a:pt x="465796" y="1083194"/>
                  </a:lnTo>
                  <a:lnTo>
                    <a:pt x="498873" y="1086988"/>
                  </a:lnTo>
                  <a:lnTo>
                    <a:pt x="530682" y="1084638"/>
                  </a:lnTo>
                  <a:lnTo>
                    <a:pt x="588620" y="1060888"/>
                  </a:lnTo>
                  <a:lnTo>
                    <a:pt x="633864" y="1014298"/>
                  </a:lnTo>
                  <a:lnTo>
                    <a:pt x="665393" y="948193"/>
                  </a:lnTo>
                  <a:lnTo>
                    <a:pt x="675941" y="908801"/>
                  </a:lnTo>
                  <a:lnTo>
                    <a:pt x="682973" y="865704"/>
                  </a:lnTo>
                  <a:lnTo>
                    <a:pt x="686458" y="819294"/>
                  </a:lnTo>
                  <a:lnTo>
                    <a:pt x="686368" y="769961"/>
                  </a:lnTo>
                  <a:lnTo>
                    <a:pt x="682672" y="718097"/>
                  </a:lnTo>
                  <a:lnTo>
                    <a:pt x="675343" y="664094"/>
                  </a:lnTo>
                  <a:lnTo>
                    <a:pt x="664350" y="608342"/>
                  </a:lnTo>
                  <a:lnTo>
                    <a:pt x="649663" y="551233"/>
                  </a:lnTo>
                  <a:lnTo>
                    <a:pt x="631254" y="493158"/>
                  </a:lnTo>
                  <a:lnTo>
                    <a:pt x="609094" y="434508"/>
                  </a:lnTo>
                  <a:lnTo>
                    <a:pt x="583813" y="377137"/>
                  </a:lnTo>
                  <a:lnTo>
                    <a:pt x="556260" y="322811"/>
                  </a:lnTo>
                  <a:lnTo>
                    <a:pt x="526730" y="271786"/>
                  </a:lnTo>
                  <a:lnTo>
                    <a:pt x="495518" y="224323"/>
                  </a:lnTo>
                  <a:lnTo>
                    <a:pt x="462918" y="180678"/>
                  </a:lnTo>
                  <a:lnTo>
                    <a:pt x="429227" y="141111"/>
                  </a:lnTo>
                  <a:lnTo>
                    <a:pt x="394738" y="105879"/>
                  </a:lnTo>
                  <a:lnTo>
                    <a:pt x="359747" y="75241"/>
                  </a:lnTo>
                  <a:lnTo>
                    <a:pt x="324549" y="49455"/>
                  </a:lnTo>
                  <a:lnTo>
                    <a:pt x="289439" y="28780"/>
                  </a:lnTo>
                  <a:lnTo>
                    <a:pt x="220662" y="3794"/>
                  </a:lnTo>
                  <a:lnTo>
                    <a:pt x="187585" y="0"/>
                  </a:lnTo>
                  <a:close/>
                </a:path>
              </a:pathLst>
            </a:custGeom>
            <a:solidFill>
              <a:srgbClr val="FC5507">
                <a:alpha val="50199"/>
              </a:srgbClr>
            </a:solidFill>
          </p:spPr>
          <p:txBody>
            <a:bodyPr wrap="square" lIns="0" tIns="0" rIns="0" bIns="0" rtlCol="0"/>
            <a:lstStyle/>
            <a:p>
              <a:endParaRPr/>
            </a:p>
          </p:txBody>
        </p:sp>
        <p:sp>
          <p:nvSpPr>
            <p:cNvPr id="37" name="object 37"/>
            <p:cNvSpPr/>
            <p:nvPr/>
          </p:nvSpPr>
          <p:spPr>
            <a:xfrm>
              <a:off x="6645073" y="2906334"/>
              <a:ext cx="687070" cy="1087120"/>
            </a:xfrm>
            <a:custGeom>
              <a:avLst/>
              <a:gdLst/>
              <a:ahLst/>
              <a:cxnLst/>
              <a:rect l="l" t="t" r="r" b="b"/>
              <a:pathLst>
                <a:path w="687070" h="1087120">
                  <a:moveTo>
                    <a:pt x="77364" y="652479"/>
                  </a:moveTo>
                  <a:lnTo>
                    <a:pt x="55203" y="593830"/>
                  </a:lnTo>
                  <a:lnTo>
                    <a:pt x="36794" y="535755"/>
                  </a:lnTo>
                  <a:lnTo>
                    <a:pt x="22108" y="478645"/>
                  </a:lnTo>
                  <a:lnTo>
                    <a:pt x="11115" y="422894"/>
                  </a:lnTo>
                  <a:lnTo>
                    <a:pt x="3785" y="368890"/>
                  </a:lnTo>
                  <a:lnTo>
                    <a:pt x="90" y="317027"/>
                  </a:lnTo>
                  <a:lnTo>
                    <a:pt x="0" y="267694"/>
                  </a:lnTo>
                  <a:lnTo>
                    <a:pt x="3485" y="221283"/>
                  </a:lnTo>
                  <a:lnTo>
                    <a:pt x="10516" y="178187"/>
                  </a:lnTo>
                  <a:lnTo>
                    <a:pt x="21064" y="138794"/>
                  </a:lnTo>
                  <a:lnTo>
                    <a:pt x="52594" y="72690"/>
                  </a:lnTo>
                  <a:lnTo>
                    <a:pt x="97838" y="26099"/>
                  </a:lnTo>
                  <a:lnTo>
                    <a:pt x="155776" y="2349"/>
                  </a:lnTo>
                  <a:lnTo>
                    <a:pt x="187585" y="0"/>
                  </a:lnTo>
                  <a:lnTo>
                    <a:pt x="220662" y="3794"/>
                  </a:lnTo>
                  <a:lnTo>
                    <a:pt x="289439" y="28780"/>
                  </a:lnTo>
                  <a:lnTo>
                    <a:pt x="324549" y="49456"/>
                  </a:lnTo>
                  <a:lnTo>
                    <a:pt x="359747" y="75241"/>
                  </a:lnTo>
                  <a:lnTo>
                    <a:pt x="394738" y="105879"/>
                  </a:lnTo>
                  <a:lnTo>
                    <a:pt x="429227" y="141111"/>
                  </a:lnTo>
                  <a:lnTo>
                    <a:pt x="462918" y="180678"/>
                  </a:lnTo>
                  <a:lnTo>
                    <a:pt x="495518" y="224323"/>
                  </a:lnTo>
                  <a:lnTo>
                    <a:pt x="526730" y="271787"/>
                  </a:lnTo>
                  <a:lnTo>
                    <a:pt x="556260" y="322811"/>
                  </a:lnTo>
                  <a:lnTo>
                    <a:pt x="583813" y="377137"/>
                  </a:lnTo>
                  <a:lnTo>
                    <a:pt x="609094" y="434508"/>
                  </a:lnTo>
                  <a:lnTo>
                    <a:pt x="631254" y="493158"/>
                  </a:lnTo>
                  <a:lnTo>
                    <a:pt x="649663" y="551233"/>
                  </a:lnTo>
                  <a:lnTo>
                    <a:pt x="664350" y="608342"/>
                  </a:lnTo>
                  <a:lnTo>
                    <a:pt x="675343" y="664094"/>
                  </a:lnTo>
                  <a:lnTo>
                    <a:pt x="682672" y="718097"/>
                  </a:lnTo>
                  <a:lnTo>
                    <a:pt x="686368" y="769961"/>
                  </a:lnTo>
                  <a:lnTo>
                    <a:pt x="686458" y="819293"/>
                  </a:lnTo>
                  <a:lnTo>
                    <a:pt x="682973" y="865704"/>
                  </a:lnTo>
                  <a:lnTo>
                    <a:pt x="675941" y="908801"/>
                  </a:lnTo>
                  <a:lnTo>
                    <a:pt x="665393" y="948193"/>
                  </a:lnTo>
                  <a:lnTo>
                    <a:pt x="633864" y="1014298"/>
                  </a:lnTo>
                  <a:lnTo>
                    <a:pt x="588620" y="1060888"/>
                  </a:lnTo>
                  <a:lnTo>
                    <a:pt x="530682" y="1084638"/>
                  </a:lnTo>
                  <a:lnTo>
                    <a:pt x="498873" y="1086988"/>
                  </a:lnTo>
                  <a:lnTo>
                    <a:pt x="465796" y="1083193"/>
                  </a:lnTo>
                  <a:lnTo>
                    <a:pt x="397019" y="1058207"/>
                  </a:lnTo>
                  <a:lnTo>
                    <a:pt x="361908" y="1037532"/>
                  </a:lnTo>
                  <a:lnTo>
                    <a:pt x="326710" y="1011746"/>
                  </a:lnTo>
                  <a:lnTo>
                    <a:pt x="291720" y="981108"/>
                  </a:lnTo>
                  <a:lnTo>
                    <a:pt x="257231" y="945876"/>
                  </a:lnTo>
                  <a:lnTo>
                    <a:pt x="223539" y="906309"/>
                  </a:lnTo>
                  <a:lnTo>
                    <a:pt x="190940" y="862664"/>
                  </a:lnTo>
                  <a:lnTo>
                    <a:pt x="159728" y="815201"/>
                  </a:lnTo>
                  <a:lnTo>
                    <a:pt x="130198" y="764176"/>
                  </a:lnTo>
                  <a:lnTo>
                    <a:pt x="102645" y="709850"/>
                  </a:lnTo>
                  <a:lnTo>
                    <a:pt x="77364" y="652479"/>
                  </a:lnTo>
                  <a:close/>
                </a:path>
              </a:pathLst>
            </a:custGeom>
            <a:ln w="18846">
              <a:solidFill>
                <a:srgbClr val="B93C03"/>
              </a:solidFill>
            </a:ln>
          </p:spPr>
          <p:txBody>
            <a:bodyPr wrap="square" lIns="0" tIns="0" rIns="0" bIns="0" rtlCol="0"/>
            <a:lstStyle/>
            <a:p>
              <a:endParaRPr/>
            </a:p>
          </p:txBody>
        </p:sp>
        <p:pic>
          <p:nvPicPr>
            <p:cNvPr id="38" name="object 38"/>
            <p:cNvPicPr/>
            <p:nvPr/>
          </p:nvPicPr>
          <p:blipFill>
            <a:blip r:embed="rId10" cstate="print"/>
            <a:stretch>
              <a:fillRect/>
            </a:stretch>
          </p:blipFill>
          <p:spPr>
            <a:xfrm>
              <a:off x="6927061" y="3388523"/>
              <a:ext cx="122481" cy="122610"/>
            </a:xfrm>
            <a:prstGeom prst="rect">
              <a:avLst/>
            </a:prstGeom>
          </p:spPr>
        </p:pic>
        <p:pic>
          <p:nvPicPr>
            <p:cNvPr id="39" name="object 39"/>
            <p:cNvPicPr/>
            <p:nvPr/>
          </p:nvPicPr>
          <p:blipFill>
            <a:blip r:embed="rId11" cstate="print"/>
            <a:stretch>
              <a:fillRect/>
            </a:stretch>
          </p:blipFill>
          <p:spPr>
            <a:xfrm>
              <a:off x="7351307" y="3992485"/>
              <a:ext cx="121715" cy="121843"/>
            </a:xfrm>
            <a:prstGeom prst="rect">
              <a:avLst/>
            </a:prstGeom>
          </p:spPr>
        </p:pic>
        <p:pic>
          <p:nvPicPr>
            <p:cNvPr id="40" name="object 40"/>
            <p:cNvPicPr/>
            <p:nvPr/>
          </p:nvPicPr>
          <p:blipFill>
            <a:blip r:embed="rId12" cstate="print"/>
            <a:stretch>
              <a:fillRect/>
            </a:stretch>
          </p:blipFill>
          <p:spPr>
            <a:xfrm>
              <a:off x="7793634" y="3176338"/>
              <a:ext cx="122460" cy="122590"/>
            </a:xfrm>
            <a:prstGeom prst="rect">
              <a:avLst/>
            </a:prstGeom>
          </p:spPr>
        </p:pic>
      </p:grpSp>
      <p:sp>
        <p:nvSpPr>
          <p:cNvPr id="41" name="object 41"/>
          <p:cNvSpPr txBox="1"/>
          <p:nvPr/>
        </p:nvSpPr>
        <p:spPr>
          <a:xfrm>
            <a:off x="6115567" y="4232476"/>
            <a:ext cx="1188027" cy="617444"/>
          </a:xfrm>
          <a:prstGeom prst="rect">
            <a:avLst/>
          </a:prstGeom>
        </p:spPr>
        <p:txBody>
          <a:bodyPr vert="horz" wrap="square" lIns="0" tIns="17095" rIns="0" bIns="0" rtlCol="0">
            <a:spAutoFit/>
          </a:bodyPr>
          <a:lstStyle/>
          <a:p>
            <a:pPr marL="11397" marR="4559">
              <a:lnSpc>
                <a:spcPct val="97300"/>
              </a:lnSpc>
              <a:spcBef>
                <a:spcPts val="135"/>
              </a:spcBef>
            </a:pPr>
            <a:r>
              <a:rPr sz="1300" spc="-18" dirty="0">
                <a:cs typeface="Calibri"/>
              </a:rPr>
              <a:t>different </a:t>
            </a:r>
            <a:r>
              <a:rPr sz="1300" spc="-13" dirty="0">
                <a:cs typeface="Calibri"/>
              </a:rPr>
              <a:t> </a:t>
            </a:r>
            <a:r>
              <a:rPr sz="1300" spc="-4" dirty="0">
                <a:cs typeface="Calibri"/>
              </a:rPr>
              <a:t>s</a:t>
            </a:r>
            <a:r>
              <a:rPr sz="1300" spc="-9" dirty="0">
                <a:cs typeface="Calibri"/>
              </a:rPr>
              <a:t>hap</a:t>
            </a:r>
            <a:r>
              <a:rPr sz="1300" spc="-4" dirty="0">
                <a:cs typeface="Calibri"/>
              </a:rPr>
              <a:t>e</a:t>
            </a:r>
            <a:r>
              <a:rPr sz="1300" spc="-9" dirty="0">
                <a:cs typeface="Calibri"/>
              </a:rPr>
              <a:t>d</a:t>
            </a:r>
            <a:r>
              <a:rPr sz="1300" spc="-27" dirty="0">
                <a:cs typeface="Calibri"/>
              </a:rPr>
              <a:t>/</a:t>
            </a:r>
            <a:r>
              <a:rPr sz="1300" spc="-13" dirty="0">
                <a:cs typeface="Calibri"/>
              </a:rPr>
              <a:t>o</a:t>
            </a:r>
            <a:r>
              <a:rPr sz="1300" spc="-4" dirty="0">
                <a:cs typeface="Calibri"/>
              </a:rPr>
              <a:t>rie</a:t>
            </a:r>
            <a:r>
              <a:rPr sz="1300" spc="-22" dirty="0">
                <a:cs typeface="Calibri"/>
              </a:rPr>
              <a:t>n</a:t>
            </a:r>
            <a:r>
              <a:rPr sz="1300" spc="-18" dirty="0">
                <a:cs typeface="Calibri"/>
              </a:rPr>
              <a:t>t</a:t>
            </a:r>
            <a:r>
              <a:rPr sz="1300" spc="-4" dirty="0">
                <a:cs typeface="Calibri"/>
              </a:rPr>
              <a:t>e</a:t>
            </a:r>
            <a:r>
              <a:rPr sz="1300" dirty="0">
                <a:cs typeface="Calibri"/>
              </a:rPr>
              <a:t>d  </a:t>
            </a:r>
            <a:r>
              <a:rPr sz="1300" spc="-13" dirty="0">
                <a:cs typeface="Calibri"/>
              </a:rPr>
              <a:t>clusters</a:t>
            </a:r>
            <a:endParaRPr sz="1300">
              <a:cs typeface="Calibri"/>
            </a:endParaRPr>
          </a:p>
        </p:txBody>
      </p:sp>
    </p:spTree>
    <p:extLst>
      <p:ext uri="{BB962C8B-B14F-4D97-AF65-F5344CB8AC3E}">
        <p14:creationId xmlns:p14="http://schemas.microsoft.com/office/powerpoint/2010/main" val="42152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7106" y="854333"/>
            <a:ext cx="7121437" cy="689192"/>
          </a:xfrm>
          <a:prstGeom prst="rect">
            <a:avLst/>
          </a:prstGeom>
        </p:spPr>
        <p:txBody>
          <a:bodyPr vert="horz" wrap="square" lIns="0" tIns="11967" rIns="0" bIns="0" rtlCol="0">
            <a:spAutoFit/>
          </a:bodyPr>
          <a:lstStyle/>
          <a:p>
            <a:pPr marL="11397">
              <a:spcBef>
                <a:spcPts val="94"/>
              </a:spcBef>
            </a:pPr>
            <a:r>
              <a:rPr lang="en-US" sz="4400" spc="-27" dirty="0">
                <a:latin typeface="+mn-lt"/>
              </a:rPr>
              <a:t>What</a:t>
            </a:r>
            <a:r>
              <a:rPr lang="en-US" sz="4400" spc="-31" dirty="0">
                <a:latin typeface="+mn-lt"/>
              </a:rPr>
              <a:t> </a:t>
            </a:r>
            <a:r>
              <a:rPr lang="en-US" sz="4400" spc="-27" dirty="0">
                <a:latin typeface="+mn-lt"/>
              </a:rPr>
              <a:t>You</a:t>
            </a:r>
            <a:r>
              <a:rPr lang="en-US" sz="4400" spc="-40" dirty="0">
                <a:latin typeface="+mn-lt"/>
              </a:rPr>
              <a:t> </a:t>
            </a:r>
            <a:r>
              <a:rPr lang="en-US" sz="4400" spc="-22" dirty="0">
                <a:latin typeface="+mn-lt"/>
              </a:rPr>
              <a:t>Can</a:t>
            </a:r>
            <a:r>
              <a:rPr lang="en-US" sz="4400" spc="-40" dirty="0">
                <a:latin typeface="+mn-lt"/>
              </a:rPr>
              <a:t> </a:t>
            </a:r>
            <a:r>
              <a:rPr lang="en-US" sz="4400" spc="-13" dirty="0">
                <a:latin typeface="+mn-lt"/>
              </a:rPr>
              <a:t>Do</a:t>
            </a:r>
            <a:r>
              <a:rPr lang="en-US" sz="4400" spc="-36" dirty="0">
                <a:latin typeface="+mn-lt"/>
              </a:rPr>
              <a:t> </a:t>
            </a:r>
            <a:r>
              <a:rPr lang="en-US" sz="4400" spc="-18" dirty="0">
                <a:latin typeface="+mn-lt"/>
              </a:rPr>
              <a:t>Now…</a:t>
            </a:r>
          </a:p>
        </p:txBody>
      </p:sp>
      <p:sp>
        <p:nvSpPr>
          <p:cNvPr id="3" name="object 3"/>
          <p:cNvSpPr txBox="1"/>
          <p:nvPr/>
        </p:nvSpPr>
        <p:spPr>
          <a:xfrm>
            <a:off x="953155" y="2032453"/>
            <a:ext cx="6849341" cy="2413191"/>
          </a:xfrm>
          <a:prstGeom prst="rect">
            <a:avLst/>
          </a:prstGeom>
        </p:spPr>
        <p:txBody>
          <a:bodyPr vert="horz" wrap="square" lIns="0" tIns="11397" rIns="0" bIns="0" rtlCol="0">
            <a:spAutoFit/>
          </a:bodyPr>
          <a:lstStyle/>
          <a:p>
            <a:pPr marL="239337" marR="4559" indent="-228509" algn="just">
              <a:lnSpc>
                <a:spcPct val="150000"/>
              </a:lnSpc>
              <a:spcBef>
                <a:spcPts val="90"/>
              </a:spcBef>
              <a:buClr>
                <a:srgbClr val="5D5555"/>
              </a:buClr>
              <a:buFont typeface="Arial MT"/>
              <a:buChar char="•"/>
              <a:tabLst>
                <a:tab pos="239337" algn="l"/>
                <a:tab pos="239906" algn="l"/>
              </a:tabLst>
            </a:pPr>
            <a:r>
              <a:rPr sz="2000" spc="-13" dirty="0">
                <a:solidFill>
                  <a:srgbClr val="2B2728"/>
                </a:solidFill>
                <a:cs typeface="Calibri"/>
              </a:rPr>
              <a:t>Describe</a:t>
            </a:r>
            <a:r>
              <a:rPr sz="2000" spc="-18" dirty="0">
                <a:solidFill>
                  <a:srgbClr val="2B2728"/>
                </a:solidFill>
                <a:cs typeface="Calibri"/>
              </a:rPr>
              <a:t> </a:t>
            </a:r>
            <a:r>
              <a:rPr sz="2000" spc="-9" dirty="0">
                <a:solidFill>
                  <a:srgbClr val="2B2728"/>
                </a:solidFill>
                <a:cs typeface="Calibri"/>
              </a:rPr>
              <a:t>the</a:t>
            </a:r>
            <a:r>
              <a:rPr sz="2000" spc="-13" dirty="0">
                <a:solidFill>
                  <a:srgbClr val="2B2728"/>
                </a:solidFill>
                <a:cs typeface="Calibri"/>
              </a:rPr>
              <a:t> </a:t>
            </a:r>
            <a:r>
              <a:rPr sz="2000" spc="-9" dirty="0">
                <a:solidFill>
                  <a:srgbClr val="2B2728"/>
                </a:solidFill>
                <a:cs typeface="Calibri"/>
              </a:rPr>
              <a:t>input</a:t>
            </a:r>
            <a:r>
              <a:rPr sz="2000" spc="-4" dirty="0">
                <a:solidFill>
                  <a:srgbClr val="2B2728"/>
                </a:solidFill>
                <a:cs typeface="Calibri"/>
              </a:rPr>
              <a:t> </a:t>
            </a:r>
            <a:r>
              <a:rPr sz="2000" spc="-13" dirty="0">
                <a:solidFill>
                  <a:srgbClr val="2B2728"/>
                </a:solidFill>
                <a:cs typeface="Calibri"/>
              </a:rPr>
              <a:t>(unlabeled</a:t>
            </a:r>
            <a:r>
              <a:rPr sz="2000" spc="-9" dirty="0">
                <a:solidFill>
                  <a:srgbClr val="2B2728"/>
                </a:solidFill>
                <a:cs typeface="Calibri"/>
              </a:rPr>
              <a:t> </a:t>
            </a:r>
            <a:r>
              <a:rPr sz="2000" spc="-13" dirty="0">
                <a:solidFill>
                  <a:srgbClr val="2B2728"/>
                </a:solidFill>
                <a:cs typeface="Calibri"/>
              </a:rPr>
              <a:t>observations)</a:t>
            </a:r>
            <a:r>
              <a:rPr sz="2000" spc="-4" dirty="0">
                <a:solidFill>
                  <a:srgbClr val="2B2728"/>
                </a:solidFill>
                <a:cs typeface="Calibri"/>
              </a:rPr>
              <a:t> </a:t>
            </a:r>
            <a:r>
              <a:rPr sz="2000" spc="-9" dirty="0">
                <a:solidFill>
                  <a:srgbClr val="2B2728"/>
                </a:solidFill>
                <a:cs typeface="Calibri"/>
              </a:rPr>
              <a:t>and output</a:t>
            </a:r>
            <a:r>
              <a:rPr sz="2000" spc="-4" dirty="0">
                <a:solidFill>
                  <a:srgbClr val="2B2728"/>
                </a:solidFill>
                <a:cs typeface="Calibri"/>
              </a:rPr>
              <a:t> </a:t>
            </a:r>
            <a:r>
              <a:rPr sz="2000" spc="-13" dirty="0">
                <a:solidFill>
                  <a:srgbClr val="2B2728"/>
                </a:solidFill>
                <a:cs typeface="Calibri"/>
              </a:rPr>
              <a:t>(labels)</a:t>
            </a:r>
            <a:r>
              <a:rPr sz="2000" spc="-9" dirty="0">
                <a:solidFill>
                  <a:srgbClr val="2B2728"/>
                </a:solidFill>
                <a:cs typeface="Calibri"/>
              </a:rPr>
              <a:t> of </a:t>
            </a:r>
            <a:r>
              <a:rPr sz="2000" dirty="0">
                <a:solidFill>
                  <a:srgbClr val="2B2728"/>
                </a:solidFill>
                <a:cs typeface="Calibri"/>
              </a:rPr>
              <a:t>a </a:t>
            </a:r>
            <a:r>
              <a:rPr sz="2000" spc="-412" dirty="0">
                <a:solidFill>
                  <a:srgbClr val="2B2728"/>
                </a:solidFill>
                <a:cs typeface="Calibri"/>
              </a:rPr>
              <a:t> </a:t>
            </a:r>
            <a:r>
              <a:rPr sz="2000" spc="-13" dirty="0">
                <a:solidFill>
                  <a:srgbClr val="2B2728"/>
                </a:solidFill>
                <a:cs typeface="Calibri"/>
              </a:rPr>
              <a:t>clustering</a:t>
            </a:r>
            <a:r>
              <a:rPr sz="2000" spc="-22" dirty="0">
                <a:solidFill>
                  <a:srgbClr val="2B2728"/>
                </a:solidFill>
                <a:cs typeface="Calibri"/>
              </a:rPr>
              <a:t> </a:t>
            </a:r>
            <a:r>
              <a:rPr sz="2000" spc="-13" dirty="0">
                <a:solidFill>
                  <a:srgbClr val="2B2728"/>
                </a:solidFill>
                <a:cs typeface="Calibri"/>
              </a:rPr>
              <a:t>algorithm</a:t>
            </a:r>
            <a:endParaRPr sz="2000" dirty="0">
              <a:cs typeface="Calibri"/>
            </a:endParaRPr>
          </a:p>
          <a:p>
            <a:pPr marL="239337" indent="-228509" algn="just">
              <a:lnSpc>
                <a:spcPct val="150000"/>
              </a:lnSpc>
              <a:spcBef>
                <a:spcPts val="431"/>
              </a:spcBef>
              <a:buClr>
                <a:srgbClr val="5D5555"/>
              </a:buClr>
              <a:buFont typeface="Arial MT"/>
              <a:buChar char="•"/>
              <a:tabLst>
                <a:tab pos="239337" algn="l"/>
                <a:tab pos="239906" algn="l"/>
              </a:tabLst>
            </a:pPr>
            <a:r>
              <a:rPr sz="2000" spc="-18" dirty="0">
                <a:solidFill>
                  <a:srgbClr val="2B2728"/>
                </a:solidFill>
                <a:cs typeface="Calibri"/>
              </a:rPr>
              <a:t>Determine</a:t>
            </a:r>
            <a:r>
              <a:rPr sz="2000" spc="-27" dirty="0">
                <a:solidFill>
                  <a:srgbClr val="2B2728"/>
                </a:solidFill>
                <a:cs typeface="Calibri"/>
              </a:rPr>
              <a:t> </a:t>
            </a:r>
            <a:r>
              <a:rPr sz="2000" spc="-13" dirty="0">
                <a:solidFill>
                  <a:srgbClr val="2B2728"/>
                </a:solidFill>
                <a:cs typeface="Calibri"/>
              </a:rPr>
              <a:t>whether</a:t>
            </a:r>
            <a:r>
              <a:rPr sz="2000" spc="-18" dirty="0">
                <a:solidFill>
                  <a:srgbClr val="2B2728"/>
                </a:solidFill>
                <a:cs typeface="Calibri"/>
              </a:rPr>
              <a:t> </a:t>
            </a:r>
            <a:r>
              <a:rPr sz="2000" dirty="0">
                <a:solidFill>
                  <a:srgbClr val="2B2728"/>
                </a:solidFill>
                <a:cs typeface="Calibri"/>
              </a:rPr>
              <a:t>a</a:t>
            </a:r>
            <a:r>
              <a:rPr sz="2000" spc="-27" dirty="0">
                <a:solidFill>
                  <a:srgbClr val="2B2728"/>
                </a:solidFill>
                <a:cs typeface="Calibri"/>
              </a:rPr>
              <a:t> </a:t>
            </a:r>
            <a:r>
              <a:rPr sz="2000" spc="-13" dirty="0">
                <a:solidFill>
                  <a:srgbClr val="2B2728"/>
                </a:solidFill>
                <a:cs typeface="Calibri"/>
              </a:rPr>
              <a:t>task</a:t>
            </a:r>
            <a:r>
              <a:rPr sz="2000" spc="-18" dirty="0">
                <a:solidFill>
                  <a:srgbClr val="2B2728"/>
                </a:solidFill>
                <a:cs typeface="Calibri"/>
              </a:rPr>
              <a:t> </a:t>
            </a:r>
            <a:r>
              <a:rPr sz="2000" spc="-4" dirty="0">
                <a:solidFill>
                  <a:srgbClr val="2B2728"/>
                </a:solidFill>
                <a:cs typeface="Calibri"/>
              </a:rPr>
              <a:t>is</a:t>
            </a:r>
            <a:r>
              <a:rPr sz="2000" spc="-18" dirty="0">
                <a:solidFill>
                  <a:srgbClr val="2B2728"/>
                </a:solidFill>
                <a:cs typeface="Calibri"/>
              </a:rPr>
              <a:t> </a:t>
            </a:r>
            <a:r>
              <a:rPr sz="2000" spc="-9" dirty="0">
                <a:solidFill>
                  <a:srgbClr val="2B2728"/>
                </a:solidFill>
                <a:cs typeface="Calibri"/>
              </a:rPr>
              <a:t>supervised</a:t>
            </a:r>
            <a:r>
              <a:rPr sz="2000" spc="-18" dirty="0">
                <a:solidFill>
                  <a:srgbClr val="2B2728"/>
                </a:solidFill>
                <a:cs typeface="Calibri"/>
              </a:rPr>
              <a:t> </a:t>
            </a:r>
            <a:r>
              <a:rPr sz="2000" spc="-9" dirty="0">
                <a:solidFill>
                  <a:srgbClr val="2B2728"/>
                </a:solidFill>
                <a:cs typeface="Calibri"/>
              </a:rPr>
              <a:t>or</a:t>
            </a:r>
            <a:r>
              <a:rPr sz="2000" spc="-18" dirty="0">
                <a:solidFill>
                  <a:srgbClr val="2B2728"/>
                </a:solidFill>
                <a:cs typeface="Calibri"/>
              </a:rPr>
              <a:t> </a:t>
            </a:r>
            <a:r>
              <a:rPr sz="2000" spc="-9" dirty="0">
                <a:solidFill>
                  <a:srgbClr val="2B2728"/>
                </a:solidFill>
                <a:cs typeface="Calibri"/>
              </a:rPr>
              <a:t>unsupervised</a:t>
            </a:r>
            <a:endParaRPr sz="2000" dirty="0">
              <a:cs typeface="Calibri"/>
            </a:endParaRPr>
          </a:p>
          <a:p>
            <a:pPr marL="239337" indent="-228509" algn="just">
              <a:lnSpc>
                <a:spcPct val="150000"/>
              </a:lnSpc>
              <a:spcBef>
                <a:spcPts val="345"/>
              </a:spcBef>
              <a:buClr>
                <a:srgbClr val="5D5555"/>
              </a:buClr>
              <a:buFont typeface="Arial MT"/>
              <a:buChar char="•"/>
              <a:tabLst>
                <a:tab pos="239337" algn="l"/>
                <a:tab pos="239906" algn="l"/>
              </a:tabLst>
            </a:pPr>
            <a:r>
              <a:rPr sz="2000" spc="-18" dirty="0">
                <a:solidFill>
                  <a:srgbClr val="2B2728"/>
                </a:solidFill>
                <a:cs typeface="Calibri"/>
              </a:rPr>
              <a:t>Cluster</a:t>
            </a:r>
            <a:r>
              <a:rPr sz="2000" spc="-27" dirty="0">
                <a:solidFill>
                  <a:srgbClr val="2B2728"/>
                </a:solidFill>
                <a:cs typeface="Calibri"/>
              </a:rPr>
              <a:t> </a:t>
            </a:r>
            <a:r>
              <a:rPr sz="2000" spc="-13" dirty="0">
                <a:solidFill>
                  <a:srgbClr val="2B2728"/>
                </a:solidFill>
                <a:cs typeface="Calibri"/>
              </a:rPr>
              <a:t>documents</a:t>
            </a:r>
            <a:r>
              <a:rPr sz="2000" spc="-22" dirty="0">
                <a:solidFill>
                  <a:srgbClr val="2B2728"/>
                </a:solidFill>
                <a:cs typeface="Calibri"/>
              </a:rPr>
              <a:t> </a:t>
            </a:r>
            <a:r>
              <a:rPr sz="2000" spc="-9" dirty="0">
                <a:solidFill>
                  <a:srgbClr val="2B2728"/>
                </a:solidFill>
                <a:cs typeface="Calibri"/>
              </a:rPr>
              <a:t>using</a:t>
            </a:r>
            <a:r>
              <a:rPr sz="2000" spc="-27" dirty="0">
                <a:solidFill>
                  <a:srgbClr val="2B2728"/>
                </a:solidFill>
                <a:cs typeface="Calibri"/>
              </a:rPr>
              <a:t> </a:t>
            </a:r>
            <a:r>
              <a:rPr sz="2000" spc="-22" dirty="0">
                <a:solidFill>
                  <a:srgbClr val="2B2728"/>
                </a:solidFill>
                <a:cs typeface="Calibri"/>
              </a:rPr>
              <a:t>k-means</a:t>
            </a:r>
            <a:endParaRPr sz="2000" dirty="0">
              <a:cs typeface="Calibri"/>
            </a:endParaRPr>
          </a:p>
          <a:p>
            <a:pPr marL="239337" indent="-228509" algn="just">
              <a:lnSpc>
                <a:spcPct val="150000"/>
              </a:lnSpc>
              <a:spcBef>
                <a:spcPts val="431"/>
              </a:spcBef>
              <a:buClr>
                <a:srgbClr val="5D5555"/>
              </a:buClr>
              <a:buFont typeface="Arial MT"/>
              <a:buChar char="•"/>
              <a:tabLst>
                <a:tab pos="239337" algn="l"/>
                <a:tab pos="239906" algn="l"/>
              </a:tabLst>
            </a:pPr>
            <a:r>
              <a:rPr sz="2000" spc="-13" dirty="0">
                <a:solidFill>
                  <a:srgbClr val="2B2728"/>
                </a:solidFill>
                <a:cs typeface="Calibri"/>
              </a:rPr>
              <a:t>Describe</a:t>
            </a:r>
            <a:r>
              <a:rPr sz="2000" spc="-18" dirty="0">
                <a:solidFill>
                  <a:srgbClr val="2B2728"/>
                </a:solidFill>
                <a:cs typeface="Calibri"/>
              </a:rPr>
              <a:t> potential</a:t>
            </a:r>
            <a:r>
              <a:rPr sz="2000" spc="-13" dirty="0">
                <a:solidFill>
                  <a:srgbClr val="2B2728"/>
                </a:solidFill>
                <a:cs typeface="Calibri"/>
              </a:rPr>
              <a:t> applications</a:t>
            </a:r>
            <a:r>
              <a:rPr sz="2000" spc="-9" dirty="0">
                <a:solidFill>
                  <a:srgbClr val="2B2728"/>
                </a:solidFill>
                <a:cs typeface="Calibri"/>
              </a:rPr>
              <a:t> of</a:t>
            </a:r>
            <a:r>
              <a:rPr sz="2000" spc="-13" dirty="0">
                <a:solidFill>
                  <a:srgbClr val="2B2728"/>
                </a:solidFill>
                <a:cs typeface="Calibri"/>
              </a:rPr>
              <a:t> clustering</a:t>
            </a:r>
            <a:endParaRPr sz="2000" dirty="0">
              <a:cs typeface="Calibri"/>
            </a:endParaRPr>
          </a:p>
        </p:txBody>
      </p:sp>
    </p:spTree>
    <p:extLst>
      <p:ext uri="{BB962C8B-B14F-4D97-AF65-F5344CB8AC3E}">
        <p14:creationId xmlns:p14="http://schemas.microsoft.com/office/powerpoint/2010/main" val="22432865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p:cNvSpPr txBox="1">
            <a:spLocks noGrp="1"/>
          </p:cNvSpPr>
          <p:nvPr>
            <p:ph type="title"/>
          </p:nvPr>
        </p:nvSpPr>
        <p:spPr>
          <a:xfrm>
            <a:off x="381000" y="228600"/>
            <a:ext cx="7131557" cy="689932"/>
          </a:xfrm>
          <a:prstGeom prst="rect">
            <a:avLst/>
          </a:prstGeom>
        </p:spPr>
        <p:txBody>
          <a:bodyPr vert="horz" wrap="square" lIns="0" tIns="12700" rIns="0" bIns="0" rtlCol="0">
            <a:spAutoFit/>
          </a:bodyPr>
          <a:lstStyle/>
          <a:p>
            <a:pPr marL="12700">
              <a:lnSpc>
                <a:spcPct val="100000"/>
              </a:lnSpc>
              <a:spcBef>
                <a:spcPts val="100"/>
              </a:spcBef>
            </a:pPr>
            <a:r>
              <a:rPr lang="en-GB" sz="4400" spc="-5" dirty="0">
                <a:latin typeface="+mn-lt"/>
              </a:rPr>
              <a:t>Summary</a:t>
            </a:r>
            <a:endParaRPr sz="4400" spc="-5" dirty="0">
              <a:latin typeface="+mn-lt"/>
            </a:endParaRPr>
          </a:p>
        </p:txBody>
      </p:sp>
      <p:sp>
        <p:nvSpPr>
          <p:cNvPr id="17" name="object 5"/>
          <p:cNvSpPr txBox="1"/>
          <p:nvPr/>
        </p:nvSpPr>
        <p:spPr>
          <a:xfrm>
            <a:off x="328295" y="1080542"/>
            <a:ext cx="8593641" cy="5638082"/>
          </a:xfrm>
          <a:prstGeom prst="rect">
            <a:avLst/>
          </a:prstGeom>
        </p:spPr>
        <p:txBody>
          <a:bodyPr vert="horz" wrap="square" lIns="0" tIns="135255" rIns="0" bIns="0" rtlCol="0">
            <a:spAutoFit/>
          </a:bodyPr>
          <a:lstStyle/>
          <a:p>
            <a:pPr marL="640715" indent="-342900" algn="just">
              <a:spcBef>
                <a:spcPts val="1065"/>
              </a:spcBef>
              <a:buFont typeface="Wingdings" pitchFamily="2" charset="2"/>
              <a:buChar char="ü"/>
            </a:pPr>
            <a:r>
              <a:rPr lang="en-US" sz="2000" spc="-5" dirty="0">
                <a:cs typeface="Segoe Print"/>
              </a:rPr>
              <a:t>Despite</a:t>
            </a:r>
            <a:r>
              <a:rPr lang="en-US" sz="2000" spc="5" dirty="0">
                <a:cs typeface="Segoe Print"/>
              </a:rPr>
              <a:t> </a:t>
            </a:r>
            <a:r>
              <a:rPr lang="en-US" sz="2000" dirty="0">
                <a:cs typeface="Segoe Print"/>
              </a:rPr>
              <a:t>these </a:t>
            </a:r>
            <a:r>
              <a:rPr lang="en-US" sz="2000" spc="-5" dirty="0">
                <a:cs typeface="Segoe Print"/>
              </a:rPr>
              <a:t>limitations,</a:t>
            </a:r>
            <a:r>
              <a:rPr lang="en-US" sz="2000" spc="5" dirty="0">
                <a:cs typeface="Segoe Print"/>
              </a:rPr>
              <a:t> </a:t>
            </a:r>
            <a:r>
              <a:rPr lang="en-US" sz="2000" dirty="0">
                <a:cs typeface="Segoe Print"/>
              </a:rPr>
              <a:t>K-means</a:t>
            </a:r>
            <a:r>
              <a:rPr lang="en-US" sz="2000" spc="-5" dirty="0">
                <a:cs typeface="Segoe Print"/>
              </a:rPr>
              <a:t> is</a:t>
            </a:r>
            <a:r>
              <a:rPr lang="en-US" sz="2000" spc="5" dirty="0">
                <a:cs typeface="Segoe Print"/>
              </a:rPr>
              <a:t> </a:t>
            </a:r>
            <a:r>
              <a:rPr lang="en-US" sz="2000" dirty="0">
                <a:cs typeface="Segoe Print"/>
              </a:rPr>
              <a:t>the</a:t>
            </a:r>
            <a:r>
              <a:rPr lang="en-US" sz="2000" spc="5" dirty="0">
                <a:cs typeface="Segoe Print"/>
              </a:rPr>
              <a:t> </a:t>
            </a:r>
            <a:r>
              <a:rPr lang="en-US" sz="2000" dirty="0">
                <a:cs typeface="Segoe Print"/>
              </a:rPr>
              <a:t>most</a:t>
            </a:r>
            <a:r>
              <a:rPr lang="en-US" sz="2000" spc="-5" dirty="0">
                <a:cs typeface="Segoe Print"/>
              </a:rPr>
              <a:t> popular </a:t>
            </a:r>
            <a:r>
              <a:rPr lang="en-US" sz="2000" dirty="0">
                <a:cs typeface="Segoe Print"/>
              </a:rPr>
              <a:t>and</a:t>
            </a:r>
            <a:r>
              <a:rPr lang="en-US" sz="2000" spc="-5" dirty="0">
                <a:cs typeface="Segoe Print"/>
              </a:rPr>
              <a:t> </a:t>
            </a:r>
            <a:r>
              <a:rPr lang="en-US" sz="2000" dirty="0">
                <a:cs typeface="Segoe Print"/>
              </a:rPr>
              <a:t>fundamental</a:t>
            </a:r>
          </a:p>
          <a:p>
            <a:pPr marL="640715" indent="-342900" algn="just">
              <a:lnSpc>
                <a:spcPct val="100000"/>
              </a:lnSpc>
              <a:spcBef>
                <a:spcPts val="1065"/>
              </a:spcBef>
              <a:buFont typeface="Wingdings" pitchFamily="2" charset="2"/>
              <a:buChar char="ü"/>
            </a:pPr>
            <a:r>
              <a:rPr lang="en-GB" sz="2000" spc="-5" dirty="0">
                <a:cs typeface="Segoe Print"/>
              </a:rPr>
              <a:t>U</a:t>
            </a:r>
            <a:r>
              <a:rPr sz="2000" spc="-5" dirty="0">
                <a:cs typeface="Segoe Print"/>
              </a:rPr>
              <a:t>unsupervised</a:t>
            </a:r>
            <a:r>
              <a:rPr sz="2000" spc="-15" dirty="0">
                <a:cs typeface="Segoe Print"/>
              </a:rPr>
              <a:t> </a:t>
            </a:r>
            <a:r>
              <a:rPr sz="2000" dirty="0">
                <a:cs typeface="Segoe Print"/>
              </a:rPr>
              <a:t>clustering</a:t>
            </a:r>
            <a:r>
              <a:rPr sz="2000" spc="-15" dirty="0">
                <a:cs typeface="Segoe Print"/>
              </a:rPr>
              <a:t> </a:t>
            </a:r>
            <a:r>
              <a:rPr sz="2000" dirty="0">
                <a:cs typeface="Segoe Print"/>
              </a:rPr>
              <a:t>algorithm;</a:t>
            </a:r>
          </a:p>
          <a:p>
            <a:pPr marL="812165" indent="-342900" algn="just">
              <a:lnSpc>
                <a:spcPct val="100000"/>
              </a:lnSpc>
              <a:spcBef>
                <a:spcPts val="960"/>
              </a:spcBef>
              <a:buFont typeface="Courier New" pitchFamily="49" charset="0"/>
              <a:buChar char="o"/>
              <a:tabLst>
                <a:tab pos="755650" algn="l"/>
                <a:tab pos="756285" algn="l"/>
              </a:tabLst>
            </a:pPr>
            <a:r>
              <a:rPr sz="2000" dirty="0">
                <a:cs typeface="Segoe Print"/>
              </a:rPr>
              <a:t>Simple:</a:t>
            </a:r>
            <a:r>
              <a:rPr sz="2000" spc="-5" dirty="0">
                <a:cs typeface="Segoe Print"/>
              </a:rPr>
              <a:t> two-step</a:t>
            </a:r>
            <a:r>
              <a:rPr sz="2000" spc="5" dirty="0">
                <a:cs typeface="Segoe Print"/>
              </a:rPr>
              <a:t> </a:t>
            </a:r>
            <a:r>
              <a:rPr sz="2000" spc="-5" dirty="0">
                <a:cs typeface="Segoe Print"/>
              </a:rPr>
              <a:t>iterative</a:t>
            </a:r>
            <a:r>
              <a:rPr sz="2000" spc="20" dirty="0">
                <a:cs typeface="Segoe Print"/>
              </a:rPr>
              <a:t> </a:t>
            </a:r>
            <a:r>
              <a:rPr sz="2000" dirty="0">
                <a:cs typeface="Segoe Print"/>
              </a:rPr>
              <a:t>algorithm;</a:t>
            </a:r>
            <a:r>
              <a:rPr sz="2000" spc="5" dirty="0">
                <a:cs typeface="Segoe Print"/>
              </a:rPr>
              <a:t> </a:t>
            </a:r>
            <a:r>
              <a:rPr sz="2000" spc="-5" dirty="0">
                <a:cs typeface="Segoe Print"/>
              </a:rPr>
              <a:t>easy</a:t>
            </a:r>
            <a:r>
              <a:rPr sz="2000" dirty="0">
                <a:cs typeface="Segoe Print"/>
              </a:rPr>
              <a:t> to understand</a:t>
            </a:r>
            <a:r>
              <a:rPr sz="2000" spc="-5" dirty="0">
                <a:cs typeface="Segoe Print"/>
              </a:rPr>
              <a:t> </a:t>
            </a:r>
            <a:r>
              <a:rPr sz="2000" dirty="0">
                <a:cs typeface="Segoe Print"/>
              </a:rPr>
              <a:t>and</a:t>
            </a:r>
            <a:r>
              <a:rPr sz="2000" spc="-5" dirty="0">
                <a:cs typeface="Segoe Print"/>
              </a:rPr>
              <a:t> </a:t>
            </a:r>
            <a:r>
              <a:rPr sz="2000" dirty="0">
                <a:cs typeface="Segoe Print"/>
              </a:rPr>
              <a:t>to </a:t>
            </a:r>
            <a:r>
              <a:rPr sz="2000" spc="-5" dirty="0">
                <a:cs typeface="Segoe Print"/>
              </a:rPr>
              <a:t>implement.</a:t>
            </a:r>
            <a:endParaRPr sz="2000" dirty="0">
              <a:cs typeface="Segoe Print"/>
            </a:endParaRPr>
          </a:p>
          <a:p>
            <a:pPr marL="812165" indent="-342900" algn="just">
              <a:lnSpc>
                <a:spcPct val="100000"/>
              </a:lnSpc>
              <a:spcBef>
                <a:spcPts val="960"/>
              </a:spcBef>
              <a:buFont typeface="Courier New" pitchFamily="49" charset="0"/>
              <a:buChar char="o"/>
              <a:tabLst>
                <a:tab pos="755650" algn="l"/>
                <a:tab pos="756285" algn="l"/>
              </a:tabLst>
            </a:pPr>
            <a:r>
              <a:rPr sz="2000" spc="-5" dirty="0">
                <a:cs typeface="Segoe Print"/>
              </a:rPr>
              <a:t>Computationally </a:t>
            </a:r>
            <a:r>
              <a:rPr sz="2000" dirty="0">
                <a:cs typeface="Segoe Print"/>
              </a:rPr>
              <a:t>efficient:</a:t>
            </a:r>
            <a:r>
              <a:rPr sz="2000" spc="15" dirty="0">
                <a:cs typeface="Segoe Print"/>
              </a:rPr>
              <a:t> </a:t>
            </a:r>
            <a:r>
              <a:rPr sz="2000" dirty="0">
                <a:cs typeface="Segoe Print"/>
              </a:rPr>
              <a:t>O(K</a:t>
            </a:r>
            <a:r>
              <a:rPr sz="2000" spc="-5" dirty="0">
                <a:cs typeface="Segoe Print"/>
              </a:rPr>
              <a:t> </a:t>
            </a:r>
            <a:r>
              <a:rPr sz="2000" dirty="0">
                <a:cs typeface="Segoe Print"/>
              </a:rPr>
              <a:t>n</a:t>
            </a:r>
            <a:r>
              <a:rPr sz="2000" spc="-10" dirty="0">
                <a:cs typeface="Segoe Print"/>
              </a:rPr>
              <a:t> </a:t>
            </a:r>
            <a:r>
              <a:rPr sz="2000" spc="-5" dirty="0">
                <a:cs typeface="Segoe Print"/>
              </a:rPr>
              <a:t>d)</a:t>
            </a:r>
            <a:r>
              <a:rPr sz="2000" spc="-15" dirty="0">
                <a:cs typeface="Segoe Print"/>
              </a:rPr>
              <a:t> </a:t>
            </a:r>
            <a:r>
              <a:rPr sz="2000" spc="-5" dirty="0">
                <a:cs typeface="Segoe Print"/>
              </a:rPr>
              <a:t>is </a:t>
            </a:r>
            <a:r>
              <a:rPr sz="2000" dirty="0">
                <a:cs typeface="Segoe Print"/>
              </a:rPr>
              <a:t>the time</a:t>
            </a:r>
            <a:r>
              <a:rPr sz="2000" spc="10" dirty="0">
                <a:cs typeface="Segoe Print"/>
              </a:rPr>
              <a:t> </a:t>
            </a:r>
            <a:r>
              <a:rPr sz="2000" dirty="0">
                <a:cs typeface="Segoe Print"/>
              </a:rPr>
              <a:t>complexity.</a:t>
            </a:r>
          </a:p>
          <a:p>
            <a:pPr marL="355600" indent="-342900" algn="just">
              <a:lnSpc>
                <a:spcPct val="100000"/>
              </a:lnSpc>
              <a:spcBef>
                <a:spcPts val="2160"/>
              </a:spcBef>
              <a:buFont typeface="Wingdings" pitchFamily="2" charset="2"/>
              <a:buChar char="ü"/>
              <a:tabLst>
                <a:tab pos="297815" algn="l"/>
                <a:tab pos="298450" algn="l"/>
              </a:tabLst>
            </a:pPr>
            <a:r>
              <a:rPr sz="2000" dirty="0">
                <a:cs typeface="Segoe Print"/>
              </a:rPr>
              <a:t>It assumes</a:t>
            </a:r>
            <a:r>
              <a:rPr sz="2000" spc="-5" dirty="0">
                <a:cs typeface="Segoe Print"/>
              </a:rPr>
              <a:t> </a:t>
            </a:r>
            <a:r>
              <a:rPr sz="2000" dirty="0">
                <a:cs typeface="Segoe Print"/>
              </a:rPr>
              <a:t>that</a:t>
            </a:r>
            <a:r>
              <a:rPr sz="2000" spc="10" dirty="0">
                <a:cs typeface="Segoe Print"/>
              </a:rPr>
              <a:t> </a:t>
            </a:r>
            <a:r>
              <a:rPr sz="2000" dirty="0">
                <a:cs typeface="Segoe Print"/>
              </a:rPr>
              <a:t>the</a:t>
            </a:r>
            <a:r>
              <a:rPr sz="2000" spc="-5" dirty="0">
                <a:cs typeface="Segoe Print"/>
              </a:rPr>
              <a:t> number</a:t>
            </a:r>
            <a:r>
              <a:rPr sz="2000" spc="-15" dirty="0">
                <a:cs typeface="Segoe Print"/>
              </a:rPr>
              <a:t> </a:t>
            </a:r>
            <a:r>
              <a:rPr sz="2000" spc="-5" dirty="0">
                <a:cs typeface="Segoe Print"/>
              </a:rPr>
              <a:t>of</a:t>
            </a:r>
            <a:r>
              <a:rPr sz="2000" spc="-10" dirty="0">
                <a:cs typeface="Segoe Print"/>
              </a:rPr>
              <a:t> </a:t>
            </a:r>
            <a:r>
              <a:rPr sz="2000" dirty="0">
                <a:cs typeface="Segoe Print"/>
              </a:rPr>
              <a:t>clusters</a:t>
            </a:r>
            <a:r>
              <a:rPr sz="2000" spc="-5" dirty="0">
                <a:cs typeface="Segoe Print"/>
              </a:rPr>
              <a:t> is</a:t>
            </a:r>
            <a:r>
              <a:rPr sz="2000" dirty="0">
                <a:cs typeface="Segoe Print"/>
              </a:rPr>
              <a:t> </a:t>
            </a:r>
            <a:r>
              <a:rPr sz="2000" spc="-5" dirty="0">
                <a:cs typeface="Segoe Print"/>
              </a:rPr>
              <a:t>known.</a:t>
            </a:r>
            <a:endParaRPr sz="2000" dirty="0">
              <a:cs typeface="Segoe Print"/>
            </a:endParaRPr>
          </a:p>
          <a:p>
            <a:pPr marL="355600" indent="-342900" algn="just">
              <a:lnSpc>
                <a:spcPct val="100000"/>
              </a:lnSpc>
              <a:spcBef>
                <a:spcPts val="2160"/>
              </a:spcBef>
              <a:buFont typeface="Wingdings" pitchFamily="2" charset="2"/>
              <a:buChar char="ü"/>
              <a:tabLst>
                <a:tab pos="297815" algn="l"/>
                <a:tab pos="298450" algn="l"/>
              </a:tabLst>
            </a:pPr>
            <a:r>
              <a:rPr sz="2000" spc="-5" dirty="0">
                <a:cs typeface="Segoe Print"/>
              </a:rPr>
              <a:t>Most</a:t>
            </a:r>
            <a:r>
              <a:rPr sz="2000" spc="-10" dirty="0">
                <a:cs typeface="Segoe Print"/>
              </a:rPr>
              <a:t> </a:t>
            </a:r>
            <a:r>
              <a:rPr sz="2000" dirty="0">
                <a:cs typeface="Segoe Print"/>
              </a:rPr>
              <a:t>of the </a:t>
            </a:r>
            <a:r>
              <a:rPr sz="2000" spc="-5" dirty="0">
                <a:cs typeface="Segoe Print"/>
              </a:rPr>
              <a:t>convergence</a:t>
            </a:r>
            <a:r>
              <a:rPr sz="2000" spc="-10" dirty="0">
                <a:cs typeface="Segoe Print"/>
              </a:rPr>
              <a:t> </a:t>
            </a:r>
            <a:r>
              <a:rPr sz="2000" dirty="0">
                <a:cs typeface="Segoe Print"/>
              </a:rPr>
              <a:t>takes</a:t>
            </a:r>
            <a:r>
              <a:rPr sz="2000" spc="10" dirty="0">
                <a:cs typeface="Segoe Print"/>
              </a:rPr>
              <a:t> </a:t>
            </a:r>
            <a:r>
              <a:rPr sz="2000" spc="-5" dirty="0">
                <a:cs typeface="Segoe Print"/>
              </a:rPr>
              <a:t>place</a:t>
            </a:r>
            <a:r>
              <a:rPr sz="2000" dirty="0">
                <a:cs typeface="Segoe Print"/>
              </a:rPr>
              <a:t> </a:t>
            </a:r>
            <a:r>
              <a:rPr sz="2000" spc="-5" dirty="0">
                <a:cs typeface="Segoe Print"/>
              </a:rPr>
              <a:t>in</a:t>
            </a:r>
            <a:r>
              <a:rPr sz="2000" dirty="0">
                <a:cs typeface="Segoe Print"/>
              </a:rPr>
              <a:t> the</a:t>
            </a:r>
            <a:r>
              <a:rPr sz="2000" spc="5" dirty="0">
                <a:cs typeface="Segoe Print"/>
              </a:rPr>
              <a:t> </a:t>
            </a:r>
            <a:r>
              <a:rPr sz="2000" dirty="0">
                <a:cs typeface="Segoe Print"/>
              </a:rPr>
              <a:t>first</a:t>
            </a:r>
            <a:r>
              <a:rPr sz="2000" spc="10" dirty="0">
                <a:cs typeface="Segoe Print"/>
              </a:rPr>
              <a:t> </a:t>
            </a:r>
            <a:r>
              <a:rPr sz="2000" dirty="0">
                <a:cs typeface="Segoe Print"/>
              </a:rPr>
              <a:t>few</a:t>
            </a:r>
            <a:r>
              <a:rPr sz="2000" spc="10" dirty="0">
                <a:cs typeface="Segoe Print"/>
              </a:rPr>
              <a:t> </a:t>
            </a:r>
            <a:r>
              <a:rPr sz="2000" spc="-5" dirty="0">
                <a:cs typeface="Segoe Print"/>
              </a:rPr>
              <a:t>iterations.</a:t>
            </a:r>
            <a:endParaRPr lang="en-GB" sz="2000" spc="-5" dirty="0">
              <a:cs typeface="Segoe Print"/>
            </a:endParaRPr>
          </a:p>
          <a:p>
            <a:pPr marL="355600" indent="-342900" algn="just">
              <a:lnSpc>
                <a:spcPct val="100000"/>
              </a:lnSpc>
              <a:spcBef>
                <a:spcPts val="2160"/>
              </a:spcBef>
              <a:buFont typeface="Wingdings" pitchFamily="2" charset="2"/>
              <a:buChar char="ü"/>
              <a:tabLst>
                <a:tab pos="297815" algn="l"/>
                <a:tab pos="298450" algn="l"/>
              </a:tabLst>
            </a:pPr>
            <a:r>
              <a:rPr lang="en-US" sz="2000" dirty="0">
                <a:cs typeface="Segoe Print"/>
              </a:rPr>
              <a:t>Performance</a:t>
            </a:r>
            <a:r>
              <a:rPr lang="en-US" sz="2000" spc="-10" dirty="0">
                <a:cs typeface="Segoe Print"/>
              </a:rPr>
              <a:t> </a:t>
            </a:r>
            <a:r>
              <a:rPr lang="en-US" sz="2000" spc="-5" dirty="0">
                <a:cs typeface="Segoe Print"/>
              </a:rPr>
              <a:t>of </a:t>
            </a:r>
            <a:r>
              <a:rPr lang="en-US" sz="2000" dirty="0">
                <a:cs typeface="Segoe Print"/>
              </a:rPr>
              <a:t>the clustering</a:t>
            </a:r>
            <a:r>
              <a:rPr lang="en-US" sz="2000" spc="-5" dirty="0">
                <a:cs typeface="Segoe Print"/>
              </a:rPr>
              <a:t> is</a:t>
            </a:r>
            <a:r>
              <a:rPr lang="en-US" sz="2000" spc="5" dirty="0">
                <a:cs typeface="Segoe Print"/>
              </a:rPr>
              <a:t> </a:t>
            </a:r>
            <a:r>
              <a:rPr lang="en-US" sz="2000" spc="-5" dirty="0">
                <a:cs typeface="Segoe Print"/>
              </a:rPr>
              <a:t>often </a:t>
            </a:r>
            <a:r>
              <a:rPr lang="en-US" sz="2000" dirty="0">
                <a:cs typeface="Segoe Print"/>
              </a:rPr>
              <a:t>hard</a:t>
            </a:r>
            <a:r>
              <a:rPr lang="en-US" sz="2000" spc="-10" dirty="0">
                <a:cs typeface="Segoe Print"/>
              </a:rPr>
              <a:t> </a:t>
            </a:r>
            <a:r>
              <a:rPr lang="en-US" sz="2000" dirty="0">
                <a:cs typeface="Segoe Print"/>
              </a:rPr>
              <a:t>to</a:t>
            </a:r>
            <a:r>
              <a:rPr lang="en-US" sz="2000" spc="-5" dirty="0">
                <a:cs typeface="Segoe Print"/>
              </a:rPr>
              <a:t> evaluate,</a:t>
            </a:r>
            <a:r>
              <a:rPr lang="en-US" sz="2000" spc="20" dirty="0">
                <a:cs typeface="Segoe Print"/>
              </a:rPr>
              <a:t> </a:t>
            </a:r>
            <a:r>
              <a:rPr lang="en-US" sz="2000" dirty="0">
                <a:cs typeface="Segoe Print"/>
              </a:rPr>
              <a:t>that</a:t>
            </a:r>
            <a:r>
              <a:rPr lang="en-US" sz="2000" spc="10" dirty="0">
                <a:cs typeface="Segoe Print"/>
              </a:rPr>
              <a:t> </a:t>
            </a:r>
            <a:r>
              <a:rPr lang="en-US" sz="2000" spc="-5" dirty="0">
                <a:cs typeface="Segoe Print"/>
              </a:rPr>
              <a:t>is</a:t>
            </a:r>
            <a:r>
              <a:rPr lang="en-US" sz="2000" dirty="0">
                <a:cs typeface="Segoe Print"/>
              </a:rPr>
              <a:t> true for</a:t>
            </a:r>
            <a:r>
              <a:rPr lang="en-US" sz="2000" spc="-10" dirty="0">
                <a:cs typeface="Segoe Print"/>
              </a:rPr>
              <a:t> </a:t>
            </a:r>
            <a:r>
              <a:rPr lang="en-US" sz="2000" spc="-5" dirty="0">
                <a:cs typeface="Segoe Print"/>
              </a:rPr>
              <a:t>every </a:t>
            </a:r>
            <a:r>
              <a:rPr lang="en-US" sz="2000" spc="-705" dirty="0">
                <a:cs typeface="Segoe Print"/>
              </a:rPr>
              <a:t> </a:t>
            </a:r>
            <a:r>
              <a:rPr lang="en-US" sz="2000" dirty="0">
                <a:cs typeface="Segoe Print"/>
              </a:rPr>
              <a:t>clustering algorithm.</a:t>
            </a:r>
          </a:p>
          <a:p>
            <a:pPr marL="355600" indent="-342900" algn="just">
              <a:lnSpc>
                <a:spcPct val="100000"/>
              </a:lnSpc>
              <a:spcBef>
                <a:spcPts val="2160"/>
              </a:spcBef>
              <a:buFont typeface="Wingdings" pitchFamily="2" charset="2"/>
              <a:buChar char="ü"/>
              <a:tabLst>
                <a:tab pos="297815" algn="l"/>
                <a:tab pos="298450" algn="l"/>
              </a:tabLst>
            </a:pPr>
            <a:r>
              <a:rPr lang="en-US" sz="2000" dirty="0">
                <a:cs typeface="Segoe Print"/>
              </a:rPr>
              <a:t>It</a:t>
            </a:r>
            <a:r>
              <a:rPr lang="en-US" sz="2000" spc="5" dirty="0">
                <a:cs typeface="Segoe Print"/>
              </a:rPr>
              <a:t> </a:t>
            </a:r>
            <a:r>
              <a:rPr lang="en-US" sz="2000" spc="-5" dirty="0">
                <a:cs typeface="Segoe Print"/>
              </a:rPr>
              <a:t>is</a:t>
            </a:r>
            <a:r>
              <a:rPr lang="en-US" sz="2000" spc="10" dirty="0">
                <a:cs typeface="Segoe Print"/>
              </a:rPr>
              <a:t> </a:t>
            </a:r>
            <a:r>
              <a:rPr lang="en-US" sz="2000" spc="-5" dirty="0">
                <a:cs typeface="Segoe Print"/>
              </a:rPr>
              <a:t>sensitive</a:t>
            </a:r>
            <a:r>
              <a:rPr lang="en-US" sz="2000" spc="10" dirty="0">
                <a:cs typeface="Segoe Print"/>
              </a:rPr>
              <a:t> </a:t>
            </a:r>
            <a:r>
              <a:rPr lang="en-US" sz="2000" dirty="0">
                <a:cs typeface="Segoe Print"/>
              </a:rPr>
              <a:t>to</a:t>
            </a:r>
            <a:r>
              <a:rPr lang="en-US" sz="2000" spc="10" dirty="0">
                <a:cs typeface="Segoe Print"/>
              </a:rPr>
              <a:t> </a:t>
            </a:r>
            <a:r>
              <a:rPr lang="en-US" sz="2000" spc="-5" dirty="0">
                <a:cs typeface="Segoe Print"/>
              </a:rPr>
              <a:t>initial</a:t>
            </a:r>
            <a:r>
              <a:rPr lang="en-US" sz="2000" spc="10" dirty="0">
                <a:cs typeface="Segoe Print"/>
              </a:rPr>
              <a:t> </a:t>
            </a:r>
            <a:r>
              <a:rPr lang="en-US" sz="2000" dirty="0">
                <a:cs typeface="Segoe Print"/>
              </a:rPr>
              <a:t>values</a:t>
            </a:r>
            <a:r>
              <a:rPr lang="en-US" sz="2000" spc="15" dirty="0">
                <a:cs typeface="Segoe Print"/>
              </a:rPr>
              <a:t> </a:t>
            </a:r>
            <a:r>
              <a:rPr lang="en-US" sz="2000" spc="-5" dirty="0">
                <a:cs typeface="Segoe Print"/>
              </a:rPr>
              <a:t>of</a:t>
            </a:r>
            <a:r>
              <a:rPr lang="en-US" sz="2000" spc="-10" dirty="0">
                <a:cs typeface="Segoe Print"/>
              </a:rPr>
              <a:t> </a:t>
            </a:r>
            <a:r>
              <a:rPr lang="en-US" sz="2000" spc="-5" dirty="0">
                <a:cs typeface="Segoe Print"/>
              </a:rPr>
              <a:t>centroids,</a:t>
            </a:r>
            <a:r>
              <a:rPr lang="en-US" sz="2000" spc="-15" dirty="0">
                <a:cs typeface="Segoe Print"/>
              </a:rPr>
              <a:t> </a:t>
            </a:r>
            <a:r>
              <a:rPr lang="en-US" sz="2000" dirty="0">
                <a:cs typeface="Segoe Print"/>
              </a:rPr>
              <a:t>outliers</a:t>
            </a:r>
            <a:r>
              <a:rPr lang="en-US" sz="2000" spc="-5" dirty="0">
                <a:cs typeface="Segoe Print"/>
              </a:rPr>
              <a:t> </a:t>
            </a:r>
            <a:r>
              <a:rPr lang="en-US" sz="2000" dirty="0">
                <a:cs typeface="Segoe Print"/>
              </a:rPr>
              <a:t>and</a:t>
            </a:r>
            <a:r>
              <a:rPr lang="en-US" sz="2000" spc="5" dirty="0">
                <a:cs typeface="Segoe Print"/>
              </a:rPr>
              <a:t> </a:t>
            </a:r>
            <a:r>
              <a:rPr lang="en-US" sz="2000" spc="-5" dirty="0">
                <a:cs typeface="Segoe Print"/>
              </a:rPr>
              <a:t>difference</a:t>
            </a:r>
            <a:r>
              <a:rPr lang="en-US" sz="2000" spc="5" dirty="0">
                <a:cs typeface="Segoe Print"/>
              </a:rPr>
              <a:t> </a:t>
            </a:r>
            <a:r>
              <a:rPr lang="en-US" sz="2000" spc="-5" dirty="0">
                <a:cs typeface="Segoe Print"/>
              </a:rPr>
              <a:t>in</a:t>
            </a:r>
            <a:r>
              <a:rPr lang="en-US" sz="2000" dirty="0">
                <a:cs typeface="Segoe Print"/>
              </a:rPr>
              <a:t> </a:t>
            </a:r>
            <a:r>
              <a:rPr lang="en-US" sz="2000" spc="-5" dirty="0">
                <a:cs typeface="Segoe Print"/>
              </a:rPr>
              <a:t>sizes,</a:t>
            </a:r>
            <a:r>
              <a:rPr lang="en-US" sz="2000" dirty="0">
                <a:cs typeface="Segoe Print"/>
              </a:rPr>
              <a:t> </a:t>
            </a:r>
            <a:r>
              <a:rPr lang="en-US" sz="2000" spc="-5" dirty="0">
                <a:cs typeface="Segoe Print"/>
              </a:rPr>
              <a:t>densities </a:t>
            </a:r>
            <a:r>
              <a:rPr lang="en-US" sz="2000" spc="-705" dirty="0">
                <a:cs typeface="Segoe Print"/>
              </a:rPr>
              <a:t> </a:t>
            </a:r>
            <a:r>
              <a:rPr lang="en-US" sz="2000" dirty="0">
                <a:cs typeface="Segoe Print"/>
              </a:rPr>
              <a:t>and</a:t>
            </a:r>
            <a:r>
              <a:rPr lang="en-US" sz="2000" spc="-5" dirty="0">
                <a:cs typeface="Segoe Print"/>
              </a:rPr>
              <a:t> shapes</a:t>
            </a:r>
            <a:r>
              <a:rPr lang="en-US" sz="2000" spc="5" dirty="0">
                <a:cs typeface="Segoe Print"/>
              </a:rPr>
              <a:t> </a:t>
            </a:r>
            <a:r>
              <a:rPr lang="en-US" sz="2000" spc="-5" dirty="0">
                <a:cs typeface="Segoe Print"/>
              </a:rPr>
              <a:t>of clusters.</a:t>
            </a:r>
            <a:endParaRPr lang="en-US" sz="2000" dirty="0">
              <a:cs typeface="Segoe Print"/>
            </a:endParaRPr>
          </a:p>
          <a:p>
            <a:pPr marL="298450" indent="-285750" algn="just">
              <a:lnSpc>
                <a:spcPct val="100000"/>
              </a:lnSpc>
              <a:spcBef>
                <a:spcPts val="2160"/>
              </a:spcBef>
              <a:buChar char="-"/>
              <a:tabLst>
                <a:tab pos="297815" algn="l"/>
                <a:tab pos="298450" algn="l"/>
              </a:tabLst>
            </a:pPr>
            <a:endParaRPr sz="2000" dirty="0">
              <a:cs typeface="Segoe Print"/>
            </a:endParaRPr>
          </a:p>
        </p:txBody>
      </p:sp>
    </p:spTree>
    <p:extLst>
      <p:ext uri="{BB962C8B-B14F-4D97-AF65-F5344CB8AC3E}">
        <p14:creationId xmlns:p14="http://schemas.microsoft.com/office/powerpoint/2010/main" val="3747346761"/>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2679</TotalTime>
  <Words>2843</Words>
  <Application>Microsoft Office PowerPoint</Application>
  <PresentationFormat>On-screen Show (4:3)</PresentationFormat>
  <Paragraphs>412</Paragraphs>
  <Slides>59</Slides>
  <Notes>5</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59</vt:i4>
      </vt:variant>
    </vt:vector>
  </HeadingPairs>
  <TitlesOfParts>
    <vt:vector size="76" baseType="lpstr">
      <vt:lpstr>Arial</vt:lpstr>
      <vt:lpstr>Arial MT</vt:lpstr>
      <vt:lpstr>Calibri</vt:lpstr>
      <vt:lpstr>Century Schoolbook</vt:lpstr>
      <vt:lpstr>Constantia</vt:lpstr>
      <vt:lpstr>Courier New</vt:lpstr>
      <vt:lpstr>Lucida Sans Unicode</vt:lpstr>
      <vt:lpstr>Segoe Print</vt:lpstr>
      <vt:lpstr>Tahoma</vt:lpstr>
      <vt:lpstr>Times New Roman</vt:lpstr>
      <vt:lpstr>Trebuchet MS</vt:lpstr>
      <vt:lpstr>Wingdings</vt:lpstr>
      <vt:lpstr>Wingdings 2</vt:lpstr>
      <vt:lpstr>1_Custom Design</vt:lpstr>
      <vt:lpstr>Custom Design</vt:lpstr>
      <vt:lpstr>Flow</vt:lpstr>
      <vt:lpstr>Equation</vt:lpstr>
      <vt:lpstr>PowerPoint Presentation</vt:lpstr>
      <vt:lpstr>Outline</vt:lpstr>
      <vt:lpstr>Unsupervised Learning</vt:lpstr>
      <vt:lpstr>Unsupervised Learning</vt:lpstr>
      <vt:lpstr>Major Types</vt:lpstr>
      <vt:lpstr>Motivating Examples</vt:lpstr>
      <vt:lpstr>Structure Documents By Topic</vt:lpstr>
      <vt:lpstr>Why Might Clustering Be Useful?</vt:lpstr>
      <vt:lpstr>Learn User Preferences</vt:lpstr>
      <vt:lpstr>Clustering</vt:lpstr>
      <vt:lpstr>Applications Of Clustering </vt:lpstr>
      <vt:lpstr>Clustering Methods/Algorithms</vt:lpstr>
      <vt:lpstr>Clustering Methods</vt:lpstr>
      <vt:lpstr>Clustering Methods</vt:lpstr>
      <vt:lpstr>Clustering Methods</vt:lpstr>
      <vt:lpstr>Grid-based Methods</vt:lpstr>
      <vt:lpstr>Clustering</vt:lpstr>
      <vt:lpstr>Evaluating K-means Clusters</vt:lpstr>
      <vt:lpstr>Evaluation Of Clustering</vt:lpstr>
      <vt:lpstr>Evaluation Of Clustering Using Internal Data</vt:lpstr>
      <vt:lpstr>Evaluation Of Clustering Using External (Labeled) Data</vt:lpstr>
      <vt:lpstr>Evaluation Of K-means Clustering</vt:lpstr>
      <vt:lpstr>PowerPoint Presentation</vt:lpstr>
      <vt:lpstr>K-means Clustering</vt:lpstr>
      <vt:lpstr>K-means Clustering</vt:lpstr>
      <vt:lpstr>K-means Clustering</vt:lpstr>
      <vt:lpstr>K-means Clustering</vt:lpstr>
      <vt:lpstr>K-means Clustering Algorithm</vt:lpstr>
      <vt:lpstr>K-means Clustering Algorithm</vt:lpstr>
      <vt:lpstr>K-means Clustering Algorithm</vt:lpstr>
      <vt:lpstr>PowerPoint Presentation</vt:lpstr>
      <vt:lpstr>Questions About K-means</vt:lpstr>
      <vt:lpstr>Why K-means Converges</vt:lpstr>
      <vt:lpstr>K-means – Example </vt:lpstr>
      <vt:lpstr>K-means – Example </vt:lpstr>
      <vt:lpstr>K-means – Example </vt:lpstr>
      <vt:lpstr>K-means – Example </vt:lpstr>
      <vt:lpstr>PowerPoint Presentation</vt:lpstr>
      <vt:lpstr>PowerPoint Presentation</vt:lpstr>
      <vt:lpstr>K-means – Example </vt:lpstr>
      <vt:lpstr>K-means – Example </vt:lpstr>
      <vt:lpstr>K-means – Example </vt:lpstr>
      <vt:lpstr>K-means – Example </vt:lpstr>
      <vt:lpstr>K-means – Example </vt:lpstr>
      <vt:lpstr>K-means – Example </vt:lpstr>
      <vt:lpstr>K-means – Example </vt:lpstr>
      <vt:lpstr>K-means – Example </vt:lpstr>
      <vt:lpstr>K-means – Example </vt:lpstr>
      <vt:lpstr>K-means – Example </vt:lpstr>
      <vt:lpstr>Clustering Images</vt:lpstr>
      <vt:lpstr>Feature Scaling in K-Means</vt:lpstr>
      <vt:lpstr>Choice of Initial Centroids</vt:lpstr>
      <vt:lpstr>Choice of Initial Centroids</vt:lpstr>
      <vt:lpstr>Number of Clusters</vt:lpstr>
      <vt:lpstr>Limitations of K-means</vt:lpstr>
      <vt:lpstr>Limitations of K-means</vt:lpstr>
      <vt:lpstr>Failure Modes Of K-means</vt:lpstr>
      <vt:lpstr>What You Can Do Now…</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Qurat ul Ain</dc:creator>
  <cp:lastModifiedBy>Qurat-ul-Ain</cp:lastModifiedBy>
  <cp:revision>280</cp:revision>
  <dcterms:created xsi:type="dcterms:W3CDTF">2010-09-06T07:03:57Z</dcterms:created>
  <dcterms:modified xsi:type="dcterms:W3CDTF">2025-10-18T05:38:40Z</dcterms:modified>
</cp:coreProperties>
</file>