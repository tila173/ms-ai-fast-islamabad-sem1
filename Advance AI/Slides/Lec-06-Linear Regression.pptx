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9.jpg" ContentType="image/jpg"/>
  <Override PartName="/ppt/media/image41.jpg" ContentType="image/jpg"/>
  <Override PartName="/ppt/media/image8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75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20" r:id="rId55"/>
    <p:sldId id="319" r:id="rId56"/>
    <p:sldId id="317" r:id="rId5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53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0FFB-9021-4DF5-AFA0-7CBA32D0C5B7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27F79-9883-492F-9F74-B65E05F5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5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2140" y="769621"/>
            <a:ext cx="791971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5B383-7475-4694-AC62-FC54B5255820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74C2D-0520-4AA0-85F2-FC78D954DD90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F680E-3F77-480B-A565-5F1DFECD8318}" type="datetime1">
              <a:rPr lang="en-US" smtClean="0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D9DFC-AE65-4F91-9F66-8101E56E27D6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D64E0-092C-4045-AA8D-08965083F17E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51022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5034" y="1516380"/>
            <a:ext cx="7313930" cy="136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404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1" y="2608579"/>
            <a:ext cx="8681717" cy="331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0" y="6619553"/>
            <a:ext cx="109918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F202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9"/>
              </a:lnSpc>
            </a:pPr>
            <a:r>
              <a:rPr lang="en-US" spc="-135"/>
              <a:t>Ms. Anum Naseem</a:t>
            </a:r>
            <a:endParaRPr spc="-1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25335-612D-4F78-B064-0AE761E1FE6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2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0.png"/><Relationship Id="rId7" Type="http://schemas.openxmlformats.org/officeDocument/2006/relationships/image" Target="../media/image2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2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2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2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C9E7AF35-8116-4962-B1EC-6B1FF6F1DC08}"/>
              </a:ext>
            </a:extLst>
          </p:cNvPr>
          <p:cNvGrpSpPr/>
          <p:nvPr/>
        </p:nvGrpSpPr>
        <p:grpSpPr>
          <a:xfrm>
            <a:off x="941197" y="996984"/>
            <a:ext cx="7051431" cy="2601248"/>
            <a:chOff x="1093177" y="989695"/>
            <a:chExt cx="10005646" cy="3691046"/>
          </a:xfrm>
          <a:solidFill>
            <a:schemeClr val="accent1">
              <a:lumMod val="5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302FF1-D9B6-4C53-A2F6-0E3993A2689C}"/>
                </a:ext>
              </a:extLst>
            </p:cNvPr>
            <p:cNvSpPr/>
            <p:nvPr/>
          </p:nvSpPr>
          <p:spPr>
            <a:xfrm flipH="1" flipV="1">
              <a:off x="6623408" y="1349111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903A63-4FFE-45B1-82B1-6934A2CAAEAC}"/>
                </a:ext>
              </a:extLst>
            </p:cNvPr>
            <p:cNvSpPr/>
            <p:nvPr/>
          </p:nvSpPr>
          <p:spPr>
            <a:xfrm>
              <a:off x="1667706" y="1575962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1C6270-AAE8-43D7-B33E-A9AC33F2D067}"/>
                </a:ext>
              </a:extLst>
            </p:cNvPr>
            <p:cNvSpPr/>
            <p:nvPr/>
          </p:nvSpPr>
          <p:spPr>
            <a:xfrm flipH="1" flipV="1">
              <a:off x="6724533" y="2670316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473D73F-D2DE-4109-91E2-410C80B504F3}"/>
                </a:ext>
              </a:extLst>
            </p:cNvPr>
            <p:cNvGrpSpPr/>
            <p:nvPr/>
          </p:nvGrpSpPr>
          <p:grpSpPr>
            <a:xfrm>
              <a:off x="4692156" y="989695"/>
              <a:ext cx="2795565" cy="3631621"/>
              <a:chOff x="1257518" y="2316205"/>
              <a:chExt cx="1389446" cy="1804981"/>
            </a:xfrm>
            <a:grpFill/>
          </p:grpSpPr>
          <p:sp>
            <p:nvSpPr>
              <p:cNvPr id="40" name="Graphic 2">
                <a:extLst>
                  <a:ext uri="{FF2B5EF4-FFF2-40B4-BE49-F238E27FC236}">
                    <a16:creationId xmlns:a16="http://schemas.microsoft.com/office/drawing/2014/main" id="{53347B15-B39D-4B3A-92A7-16F069593A4D}"/>
                  </a:ext>
                </a:extLst>
              </p:cNvPr>
              <p:cNvSpPr/>
              <p:nvPr/>
            </p:nvSpPr>
            <p:spPr>
              <a:xfrm>
                <a:off x="1257518" y="2316205"/>
                <a:ext cx="1389446" cy="1804981"/>
              </a:xfrm>
              <a:custGeom>
                <a:avLst/>
                <a:gdLst>
                  <a:gd name="connsiteX0" fmla="*/ 198332 w 800100"/>
                  <a:gd name="connsiteY0" fmla="*/ 961703 h 962025"/>
                  <a:gd name="connsiteX1" fmla="*/ 646959 w 800100"/>
                  <a:gd name="connsiteY1" fmla="*/ 961703 h 962025"/>
                  <a:gd name="connsiteX2" fmla="*/ 610764 w 800100"/>
                  <a:gd name="connsiteY2" fmla="*/ 885503 h 962025"/>
                  <a:gd name="connsiteX3" fmla="*/ 686964 w 800100"/>
                  <a:gd name="connsiteY3" fmla="*/ 625471 h 962025"/>
                  <a:gd name="connsiteX4" fmla="*/ 786024 w 800100"/>
                  <a:gd name="connsiteY4" fmla="*/ 283523 h 962025"/>
                  <a:gd name="connsiteX5" fmla="*/ 359304 w 800100"/>
                  <a:gd name="connsiteY5" fmla="*/ 14918 h 962025"/>
                  <a:gd name="connsiteX6" fmla="*/ 124037 w 800100"/>
                  <a:gd name="connsiteY6" fmla="*/ 211133 h 962025"/>
                  <a:gd name="connsiteX7" fmla="*/ 116417 w 800100"/>
                  <a:gd name="connsiteY7" fmla="*/ 270188 h 962025"/>
                  <a:gd name="connsiteX8" fmla="*/ 59267 w 800100"/>
                  <a:gd name="connsiteY8" fmla="*/ 367343 h 962025"/>
                  <a:gd name="connsiteX9" fmla="*/ 13547 w 800100"/>
                  <a:gd name="connsiteY9" fmla="*/ 427351 h 962025"/>
                  <a:gd name="connsiteX10" fmla="*/ 24024 w 800100"/>
                  <a:gd name="connsiteY10" fmla="*/ 515933 h 962025"/>
                  <a:gd name="connsiteX11" fmla="*/ 63077 w 800100"/>
                  <a:gd name="connsiteY11" fmla="*/ 552128 h 962025"/>
                  <a:gd name="connsiteX12" fmla="*/ 18309 w 800100"/>
                  <a:gd name="connsiteY12" fmla="*/ 570226 h 962025"/>
                  <a:gd name="connsiteX13" fmla="*/ 30692 w 800100"/>
                  <a:gd name="connsiteY13" fmla="*/ 609278 h 962025"/>
                  <a:gd name="connsiteX14" fmla="*/ 29739 w 800100"/>
                  <a:gd name="connsiteY14" fmla="*/ 673096 h 962025"/>
                  <a:gd name="connsiteX15" fmla="*/ 85937 w 800100"/>
                  <a:gd name="connsiteY15" fmla="*/ 744533 h 962025"/>
                  <a:gd name="connsiteX16" fmla="*/ 225002 w 800100"/>
                  <a:gd name="connsiteY16" fmla="*/ 764536 h 962025"/>
                  <a:gd name="connsiteX17" fmla="*/ 198332 w 800100"/>
                  <a:gd name="connsiteY17" fmla="*/ 961703 h 962025"/>
                  <a:gd name="connsiteX0" fmla="*/ 173835 w 788240"/>
                  <a:gd name="connsiteY0" fmla="*/ 1023975 h 1023975"/>
                  <a:gd name="connsiteX1" fmla="*/ 639815 w 788240"/>
                  <a:gd name="connsiteY1" fmla="*/ 954560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8932"/>
                  <a:gd name="connsiteX1" fmla="*/ 654690 w 788240"/>
                  <a:gd name="connsiteY1" fmla="*/ 1028932 h 1028932"/>
                  <a:gd name="connsiteX2" fmla="*/ 603620 w 788240"/>
                  <a:gd name="connsiteY2" fmla="*/ 878360 h 1028932"/>
                  <a:gd name="connsiteX3" fmla="*/ 679820 w 788240"/>
                  <a:gd name="connsiteY3" fmla="*/ 618328 h 1028932"/>
                  <a:gd name="connsiteX4" fmla="*/ 778880 w 788240"/>
                  <a:gd name="connsiteY4" fmla="*/ 276380 h 1028932"/>
                  <a:gd name="connsiteX5" fmla="*/ 352160 w 788240"/>
                  <a:gd name="connsiteY5" fmla="*/ 7775 h 1028932"/>
                  <a:gd name="connsiteX6" fmla="*/ 116893 w 788240"/>
                  <a:gd name="connsiteY6" fmla="*/ 203990 h 1028932"/>
                  <a:gd name="connsiteX7" fmla="*/ 109273 w 788240"/>
                  <a:gd name="connsiteY7" fmla="*/ 263045 h 1028932"/>
                  <a:gd name="connsiteX8" fmla="*/ 52123 w 788240"/>
                  <a:gd name="connsiteY8" fmla="*/ 360200 h 1028932"/>
                  <a:gd name="connsiteX9" fmla="*/ 6403 w 788240"/>
                  <a:gd name="connsiteY9" fmla="*/ 420208 h 1028932"/>
                  <a:gd name="connsiteX10" fmla="*/ 16880 w 788240"/>
                  <a:gd name="connsiteY10" fmla="*/ 508790 h 1028932"/>
                  <a:gd name="connsiteX11" fmla="*/ 55933 w 788240"/>
                  <a:gd name="connsiteY11" fmla="*/ 544985 h 1028932"/>
                  <a:gd name="connsiteX12" fmla="*/ 11165 w 788240"/>
                  <a:gd name="connsiteY12" fmla="*/ 563083 h 1028932"/>
                  <a:gd name="connsiteX13" fmla="*/ 23548 w 788240"/>
                  <a:gd name="connsiteY13" fmla="*/ 602135 h 1028932"/>
                  <a:gd name="connsiteX14" fmla="*/ 22595 w 788240"/>
                  <a:gd name="connsiteY14" fmla="*/ 665953 h 1028932"/>
                  <a:gd name="connsiteX15" fmla="*/ 78793 w 788240"/>
                  <a:gd name="connsiteY15" fmla="*/ 737390 h 1028932"/>
                  <a:gd name="connsiteX16" fmla="*/ 217858 w 788240"/>
                  <a:gd name="connsiteY16" fmla="*/ 757393 h 1028932"/>
                  <a:gd name="connsiteX17" fmla="*/ 173835 w 788240"/>
                  <a:gd name="connsiteY17" fmla="*/ 1023975 h 1028932"/>
                  <a:gd name="connsiteX0" fmla="*/ 173835 w 788240"/>
                  <a:gd name="connsiteY0" fmla="*/ 1023975 h 1023975"/>
                  <a:gd name="connsiteX1" fmla="*/ 674523 w 788240"/>
                  <a:gd name="connsiteY1" fmla="*/ 1023974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4058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9016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21495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88240" h="1023975">
                    <a:moveTo>
                      <a:pt x="173835" y="1023975"/>
                    </a:moveTo>
                    <a:lnTo>
                      <a:pt x="679481" y="1021495"/>
                    </a:lnTo>
                    <a:cubicBezTo>
                      <a:pt x="666146" y="995778"/>
                      <a:pt x="612193" y="896458"/>
                      <a:pt x="603620" y="878360"/>
                    </a:cubicBezTo>
                    <a:cubicBezTo>
                      <a:pt x="579808" y="822163"/>
                      <a:pt x="596953" y="699290"/>
                      <a:pt x="679820" y="618328"/>
                    </a:cubicBezTo>
                    <a:cubicBezTo>
                      <a:pt x="758878" y="541175"/>
                      <a:pt x="810313" y="391633"/>
                      <a:pt x="778880" y="276380"/>
                    </a:cubicBezTo>
                    <a:cubicBezTo>
                      <a:pt x="727445" y="85880"/>
                      <a:pt x="555995" y="-32230"/>
                      <a:pt x="352160" y="7775"/>
                    </a:cubicBezTo>
                    <a:cubicBezTo>
                      <a:pt x="352160" y="7775"/>
                      <a:pt x="175948" y="29683"/>
                      <a:pt x="116893" y="203990"/>
                    </a:cubicBezTo>
                    <a:cubicBezTo>
                      <a:pt x="116893" y="203990"/>
                      <a:pt x="107368" y="229708"/>
                      <a:pt x="109273" y="263045"/>
                    </a:cubicBezTo>
                    <a:cubicBezTo>
                      <a:pt x="114035" y="316385"/>
                      <a:pt x="75935" y="347818"/>
                      <a:pt x="52123" y="360200"/>
                    </a:cubicBezTo>
                    <a:cubicBezTo>
                      <a:pt x="27358" y="373535"/>
                      <a:pt x="-16457" y="395443"/>
                      <a:pt x="6403" y="420208"/>
                    </a:cubicBezTo>
                    <a:cubicBezTo>
                      <a:pt x="34025" y="450688"/>
                      <a:pt x="32120" y="489740"/>
                      <a:pt x="16880" y="508790"/>
                    </a:cubicBezTo>
                    <a:cubicBezTo>
                      <a:pt x="-2170" y="531650"/>
                      <a:pt x="53075" y="532603"/>
                      <a:pt x="55933" y="544985"/>
                    </a:cubicBezTo>
                    <a:cubicBezTo>
                      <a:pt x="58790" y="558320"/>
                      <a:pt x="14975" y="547843"/>
                      <a:pt x="11165" y="563083"/>
                    </a:cubicBezTo>
                    <a:cubicBezTo>
                      <a:pt x="7355" y="579275"/>
                      <a:pt x="19738" y="583085"/>
                      <a:pt x="23548" y="602135"/>
                    </a:cubicBezTo>
                    <a:cubicBezTo>
                      <a:pt x="27358" y="621185"/>
                      <a:pt x="24500" y="656428"/>
                      <a:pt x="22595" y="665953"/>
                    </a:cubicBezTo>
                    <a:cubicBezTo>
                      <a:pt x="20690" y="675478"/>
                      <a:pt x="26405" y="732628"/>
                      <a:pt x="78793" y="737390"/>
                    </a:cubicBezTo>
                    <a:cubicBezTo>
                      <a:pt x="131180" y="742153"/>
                      <a:pt x="196903" y="731675"/>
                      <a:pt x="217858" y="757393"/>
                    </a:cubicBezTo>
                    <a:cubicBezTo>
                      <a:pt x="236908" y="783110"/>
                      <a:pt x="197647" y="952538"/>
                      <a:pt x="173835" y="10239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79248F5-92F6-4CD2-BAF4-37327B4E7647}"/>
                  </a:ext>
                </a:extLst>
              </p:cNvPr>
              <p:cNvGrpSpPr/>
              <p:nvPr/>
            </p:nvGrpSpPr>
            <p:grpSpPr>
              <a:xfrm>
                <a:off x="1684786" y="2516290"/>
                <a:ext cx="702035" cy="687994"/>
                <a:chOff x="1684786" y="2516290"/>
                <a:chExt cx="702035" cy="687994"/>
              </a:xfrm>
              <a:grpFill/>
            </p:grpSpPr>
            <p:sp>
              <p:nvSpPr>
                <p:cNvPr id="42" name="Graphic 4">
                  <a:extLst>
                    <a:ext uri="{FF2B5EF4-FFF2-40B4-BE49-F238E27FC236}">
                      <a16:creationId xmlns:a16="http://schemas.microsoft.com/office/drawing/2014/main" id="{18927834-337B-4774-B8C4-66F5BF0CE3E4}"/>
                    </a:ext>
                  </a:extLst>
                </p:cNvPr>
                <p:cNvSpPr/>
                <p:nvPr/>
              </p:nvSpPr>
              <p:spPr>
                <a:xfrm>
                  <a:off x="1684786" y="2516290"/>
                  <a:ext cx="702035" cy="687994"/>
                </a:xfrm>
                <a:custGeom>
                  <a:avLst/>
                  <a:gdLst>
                    <a:gd name="connsiteX0" fmla="*/ 462439 w 476250"/>
                    <a:gd name="connsiteY0" fmla="*/ 160496 h 466725"/>
                    <a:gd name="connsiteX1" fmla="*/ 469106 w 476250"/>
                    <a:gd name="connsiteY1" fmla="*/ 153829 h 466725"/>
                    <a:gd name="connsiteX2" fmla="*/ 469106 w 476250"/>
                    <a:gd name="connsiteY2" fmla="*/ 149066 h 466725"/>
                    <a:gd name="connsiteX3" fmla="*/ 462439 w 476250"/>
                    <a:gd name="connsiteY3" fmla="*/ 142399 h 466725"/>
                    <a:gd name="connsiteX4" fmla="*/ 415766 w 476250"/>
                    <a:gd name="connsiteY4" fmla="*/ 142399 h 466725"/>
                    <a:gd name="connsiteX5" fmla="*/ 415766 w 476250"/>
                    <a:gd name="connsiteY5" fmla="*/ 93821 h 466725"/>
                    <a:gd name="connsiteX6" fmla="*/ 391954 w 476250"/>
                    <a:gd name="connsiteY6" fmla="*/ 70009 h 466725"/>
                    <a:gd name="connsiteX7" fmla="*/ 333851 w 476250"/>
                    <a:gd name="connsiteY7" fmla="*/ 70009 h 466725"/>
                    <a:gd name="connsiteX8" fmla="*/ 333851 w 476250"/>
                    <a:gd name="connsiteY8" fmla="*/ 13811 h 466725"/>
                    <a:gd name="connsiteX9" fmla="*/ 327184 w 476250"/>
                    <a:gd name="connsiteY9" fmla="*/ 7144 h 466725"/>
                    <a:gd name="connsiteX10" fmla="*/ 322421 w 476250"/>
                    <a:gd name="connsiteY10" fmla="*/ 7144 h 466725"/>
                    <a:gd name="connsiteX11" fmla="*/ 315754 w 476250"/>
                    <a:gd name="connsiteY11" fmla="*/ 13811 h 466725"/>
                    <a:gd name="connsiteX12" fmla="*/ 315754 w 476250"/>
                    <a:gd name="connsiteY12" fmla="*/ 70009 h 466725"/>
                    <a:gd name="connsiteX13" fmla="*/ 290989 w 476250"/>
                    <a:gd name="connsiteY13" fmla="*/ 70009 h 466725"/>
                    <a:gd name="connsiteX14" fmla="*/ 290989 w 476250"/>
                    <a:gd name="connsiteY14" fmla="*/ 13811 h 466725"/>
                    <a:gd name="connsiteX15" fmla="*/ 283369 w 476250"/>
                    <a:gd name="connsiteY15" fmla="*/ 7144 h 466725"/>
                    <a:gd name="connsiteX16" fmla="*/ 278606 w 476250"/>
                    <a:gd name="connsiteY16" fmla="*/ 7144 h 466725"/>
                    <a:gd name="connsiteX17" fmla="*/ 271939 w 476250"/>
                    <a:gd name="connsiteY17" fmla="*/ 13811 h 466725"/>
                    <a:gd name="connsiteX18" fmla="*/ 271939 w 476250"/>
                    <a:gd name="connsiteY18" fmla="*/ 70009 h 466725"/>
                    <a:gd name="connsiteX19" fmla="*/ 247174 w 476250"/>
                    <a:gd name="connsiteY19" fmla="*/ 70009 h 466725"/>
                    <a:gd name="connsiteX20" fmla="*/ 247174 w 476250"/>
                    <a:gd name="connsiteY20" fmla="*/ 13811 h 466725"/>
                    <a:gd name="connsiteX21" fmla="*/ 240506 w 476250"/>
                    <a:gd name="connsiteY21" fmla="*/ 7144 h 466725"/>
                    <a:gd name="connsiteX22" fmla="*/ 235744 w 476250"/>
                    <a:gd name="connsiteY22" fmla="*/ 7144 h 466725"/>
                    <a:gd name="connsiteX23" fmla="*/ 229076 w 476250"/>
                    <a:gd name="connsiteY23" fmla="*/ 13811 h 466725"/>
                    <a:gd name="connsiteX24" fmla="*/ 229076 w 476250"/>
                    <a:gd name="connsiteY24" fmla="*/ 70009 h 466725"/>
                    <a:gd name="connsiteX25" fmla="*/ 204311 w 476250"/>
                    <a:gd name="connsiteY25" fmla="*/ 70009 h 466725"/>
                    <a:gd name="connsiteX26" fmla="*/ 204311 w 476250"/>
                    <a:gd name="connsiteY26" fmla="*/ 13811 h 466725"/>
                    <a:gd name="connsiteX27" fmla="*/ 197644 w 476250"/>
                    <a:gd name="connsiteY27" fmla="*/ 7144 h 466725"/>
                    <a:gd name="connsiteX28" fmla="*/ 192881 w 476250"/>
                    <a:gd name="connsiteY28" fmla="*/ 7144 h 466725"/>
                    <a:gd name="connsiteX29" fmla="*/ 186214 w 476250"/>
                    <a:gd name="connsiteY29" fmla="*/ 13811 h 466725"/>
                    <a:gd name="connsiteX30" fmla="*/ 186214 w 476250"/>
                    <a:gd name="connsiteY30" fmla="*/ 70009 h 466725"/>
                    <a:gd name="connsiteX31" fmla="*/ 161449 w 476250"/>
                    <a:gd name="connsiteY31" fmla="*/ 70009 h 466725"/>
                    <a:gd name="connsiteX32" fmla="*/ 161449 w 476250"/>
                    <a:gd name="connsiteY32" fmla="*/ 13811 h 466725"/>
                    <a:gd name="connsiteX33" fmla="*/ 154781 w 476250"/>
                    <a:gd name="connsiteY33" fmla="*/ 7144 h 466725"/>
                    <a:gd name="connsiteX34" fmla="*/ 150019 w 476250"/>
                    <a:gd name="connsiteY34" fmla="*/ 7144 h 466725"/>
                    <a:gd name="connsiteX35" fmla="*/ 143351 w 476250"/>
                    <a:gd name="connsiteY35" fmla="*/ 13811 h 466725"/>
                    <a:gd name="connsiteX36" fmla="*/ 143351 w 476250"/>
                    <a:gd name="connsiteY36" fmla="*/ 70009 h 466725"/>
                    <a:gd name="connsiteX37" fmla="*/ 88106 w 476250"/>
                    <a:gd name="connsiteY37" fmla="*/ 70009 h 466725"/>
                    <a:gd name="connsiteX38" fmla="*/ 64294 w 476250"/>
                    <a:gd name="connsiteY38" fmla="*/ 93821 h 466725"/>
                    <a:gd name="connsiteX39" fmla="*/ 64294 w 476250"/>
                    <a:gd name="connsiteY39" fmla="*/ 142399 h 466725"/>
                    <a:gd name="connsiteX40" fmla="*/ 13811 w 476250"/>
                    <a:gd name="connsiteY40" fmla="*/ 142399 h 466725"/>
                    <a:gd name="connsiteX41" fmla="*/ 7144 w 476250"/>
                    <a:gd name="connsiteY41" fmla="*/ 149066 h 466725"/>
                    <a:gd name="connsiteX42" fmla="*/ 7144 w 476250"/>
                    <a:gd name="connsiteY42" fmla="*/ 153829 h 466725"/>
                    <a:gd name="connsiteX43" fmla="*/ 13811 w 476250"/>
                    <a:gd name="connsiteY43" fmla="*/ 160496 h 466725"/>
                    <a:gd name="connsiteX44" fmla="*/ 64294 w 476250"/>
                    <a:gd name="connsiteY44" fmla="*/ 160496 h 466725"/>
                    <a:gd name="connsiteX45" fmla="*/ 64294 w 476250"/>
                    <a:gd name="connsiteY45" fmla="*/ 185261 h 466725"/>
                    <a:gd name="connsiteX46" fmla="*/ 13811 w 476250"/>
                    <a:gd name="connsiteY46" fmla="*/ 185261 h 466725"/>
                    <a:gd name="connsiteX47" fmla="*/ 7144 w 476250"/>
                    <a:gd name="connsiteY47" fmla="*/ 191929 h 466725"/>
                    <a:gd name="connsiteX48" fmla="*/ 7144 w 476250"/>
                    <a:gd name="connsiteY48" fmla="*/ 196691 h 466725"/>
                    <a:gd name="connsiteX49" fmla="*/ 13811 w 476250"/>
                    <a:gd name="connsiteY49" fmla="*/ 203359 h 466725"/>
                    <a:gd name="connsiteX50" fmla="*/ 64294 w 476250"/>
                    <a:gd name="connsiteY50" fmla="*/ 203359 h 466725"/>
                    <a:gd name="connsiteX51" fmla="*/ 64294 w 476250"/>
                    <a:gd name="connsiteY51" fmla="*/ 228124 h 466725"/>
                    <a:gd name="connsiteX52" fmla="*/ 13811 w 476250"/>
                    <a:gd name="connsiteY52" fmla="*/ 228124 h 466725"/>
                    <a:gd name="connsiteX53" fmla="*/ 7144 w 476250"/>
                    <a:gd name="connsiteY53" fmla="*/ 235744 h 466725"/>
                    <a:gd name="connsiteX54" fmla="*/ 7144 w 476250"/>
                    <a:gd name="connsiteY54" fmla="*/ 240506 h 466725"/>
                    <a:gd name="connsiteX55" fmla="*/ 13811 w 476250"/>
                    <a:gd name="connsiteY55" fmla="*/ 247174 h 466725"/>
                    <a:gd name="connsiteX56" fmla="*/ 64294 w 476250"/>
                    <a:gd name="connsiteY56" fmla="*/ 247174 h 466725"/>
                    <a:gd name="connsiteX57" fmla="*/ 64294 w 476250"/>
                    <a:gd name="connsiteY57" fmla="*/ 271939 h 466725"/>
                    <a:gd name="connsiteX58" fmla="*/ 13811 w 476250"/>
                    <a:gd name="connsiteY58" fmla="*/ 271939 h 466725"/>
                    <a:gd name="connsiteX59" fmla="*/ 7144 w 476250"/>
                    <a:gd name="connsiteY59" fmla="*/ 278606 h 466725"/>
                    <a:gd name="connsiteX60" fmla="*/ 7144 w 476250"/>
                    <a:gd name="connsiteY60" fmla="*/ 283369 h 466725"/>
                    <a:gd name="connsiteX61" fmla="*/ 13811 w 476250"/>
                    <a:gd name="connsiteY61" fmla="*/ 290036 h 466725"/>
                    <a:gd name="connsiteX62" fmla="*/ 64294 w 476250"/>
                    <a:gd name="connsiteY62" fmla="*/ 290036 h 466725"/>
                    <a:gd name="connsiteX63" fmla="*/ 64294 w 476250"/>
                    <a:gd name="connsiteY63" fmla="*/ 314801 h 466725"/>
                    <a:gd name="connsiteX64" fmla="*/ 13811 w 476250"/>
                    <a:gd name="connsiteY64" fmla="*/ 314801 h 466725"/>
                    <a:gd name="connsiteX65" fmla="*/ 7144 w 476250"/>
                    <a:gd name="connsiteY65" fmla="*/ 321469 h 466725"/>
                    <a:gd name="connsiteX66" fmla="*/ 7144 w 476250"/>
                    <a:gd name="connsiteY66" fmla="*/ 326231 h 466725"/>
                    <a:gd name="connsiteX67" fmla="*/ 13811 w 476250"/>
                    <a:gd name="connsiteY67" fmla="*/ 332899 h 466725"/>
                    <a:gd name="connsiteX68" fmla="*/ 64294 w 476250"/>
                    <a:gd name="connsiteY68" fmla="*/ 332899 h 466725"/>
                    <a:gd name="connsiteX69" fmla="*/ 64294 w 476250"/>
                    <a:gd name="connsiteY69" fmla="*/ 380524 h 466725"/>
                    <a:gd name="connsiteX70" fmla="*/ 88106 w 476250"/>
                    <a:gd name="connsiteY70" fmla="*/ 404336 h 466725"/>
                    <a:gd name="connsiteX71" fmla="*/ 142399 w 476250"/>
                    <a:gd name="connsiteY71" fmla="*/ 404336 h 466725"/>
                    <a:gd name="connsiteX72" fmla="*/ 142399 w 476250"/>
                    <a:gd name="connsiteY72" fmla="*/ 461486 h 466725"/>
                    <a:gd name="connsiteX73" fmla="*/ 149066 w 476250"/>
                    <a:gd name="connsiteY73" fmla="*/ 468154 h 466725"/>
                    <a:gd name="connsiteX74" fmla="*/ 153829 w 476250"/>
                    <a:gd name="connsiteY74" fmla="*/ 468154 h 466725"/>
                    <a:gd name="connsiteX75" fmla="*/ 160496 w 476250"/>
                    <a:gd name="connsiteY75" fmla="*/ 461486 h 466725"/>
                    <a:gd name="connsiteX76" fmla="*/ 160496 w 476250"/>
                    <a:gd name="connsiteY76" fmla="*/ 404336 h 466725"/>
                    <a:gd name="connsiteX77" fmla="*/ 185261 w 476250"/>
                    <a:gd name="connsiteY77" fmla="*/ 404336 h 466725"/>
                    <a:gd name="connsiteX78" fmla="*/ 185261 w 476250"/>
                    <a:gd name="connsiteY78" fmla="*/ 461486 h 466725"/>
                    <a:gd name="connsiteX79" fmla="*/ 191929 w 476250"/>
                    <a:gd name="connsiteY79" fmla="*/ 468154 h 466725"/>
                    <a:gd name="connsiteX80" fmla="*/ 196691 w 476250"/>
                    <a:gd name="connsiteY80" fmla="*/ 468154 h 466725"/>
                    <a:gd name="connsiteX81" fmla="*/ 203359 w 476250"/>
                    <a:gd name="connsiteY81" fmla="*/ 461486 h 466725"/>
                    <a:gd name="connsiteX82" fmla="*/ 203359 w 476250"/>
                    <a:gd name="connsiteY82" fmla="*/ 404336 h 466725"/>
                    <a:gd name="connsiteX83" fmla="*/ 228124 w 476250"/>
                    <a:gd name="connsiteY83" fmla="*/ 404336 h 466725"/>
                    <a:gd name="connsiteX84" fmla="*/ 228124 w 476250"/>
                    <a:gd name="connsiteY84" fmla="*/ 461486 h 466725"/>
                    <a:gd name="connsiteX85" fmla="*/ 234791 w 476250"/>
                    <a:gd name="connsiteY85" fmla="*/ 468154 h 466725"/>
                    <a:gd name="connsiteX86" fmla="*/ 239554 w 476250"/>
                    <a:gd name="connsiteY86" fmla="*/ 468154 h 466725"/>
                    <a:gd name="connsiteX87" fmla="*/ 246221 w 476250"/>
                    <a:gd name="connsiteY87" fmla="*/ 461486 h 466725"/>
                    <a:gd name="connsiteX88" fmla="*/ 246221 w 476250"/>
                    <a:gd name="connsiteY88" fmla="*/ 404336 h 466725"/>
                    <a:gd name="connsiteX89" fmla="*/ 270986 w 476250"/>
                    <a:gd name="connsiteY89" fmla="*/ 404336 h 466725"/>
                    <a:gd name="connsiteX90" fmla="*/ 270986 w 476250"/>
                    <a:gd name="connsiteY90" fmla="*/ 461486 h 466725"/>
                    <a:gd name="connsiteX91" fmla="*/ 277654 w 476250"/>
                    <a:gd name="connsiteY91" fmla="*/ 468154 h 466725"/>
                    <a:gd name="connsiteX92" fmla="*/ 283369 w 476250"/>
                    <a:gd name="connsiteY92" fmla="*/ 468154 h 466725"/>
                    <a:gd name="connsiteX93" fmla="*/ 290036 w 476250"/>
                    <a:gd name="connsiteY93" fmla="*/ 461486 h 466725"/>
                    <a:gd name="connsiteX94" fmla="*/ 290036 w 476250"/>
                    <a:gd name="connsiteY94" fmla="*/ 404336 h 466725"/>
                    <a:gd name="connsiteX95" fmla="*/ 314801 w 476250"/>
                    <a:gd name="connsiteY95" fmla="*/ 404336 h 466725"/>
                    <a:gd name="connsiteX96" fmla="*/ 314801 w 476250"/>
                    <a:gd name="connsiteY96" fmla="*/ 461486 h 466725"/>
                    <a:gd name="connsiteX97" fmla="*/ 321469 w 476250"/>
                    <a:gd name="connsiteY97" fmla="*/ 468154 h 466725"/>
                    <a:gd name="connsiteX98" fmla="*/ 326231 w 476250"/>
                    <a:gd name="connsiteY98" fmla="*/ 468154 h 466725"/>
                    <a:gd name="connsiteX99" fmla="*/ 332899 w 476250"/>
                    <a:gd name="connsiteY99" fmla="*/ 461486 h 466725"/>
                    <a:gd name="connsiteX100" fmla="*/ 332899 w 476250"/>
                    <a:gd name="connsiteY100" fmla="*/ 404336 h 466725"/>
                    <a:gd name="connsiteX101" fmla="*/ 391001 w 476250"/>
                    <a:gd name="connsiteY101" fmla="*/ 404336 h 466725"/>
                    <a:gd name="connsiteX102" fmla="*/ 414814 w 476250"/>
                    <a:gd name="connsiteY102" fmla="*/ 380524 h 466725"/>
                    <a:gd name="connsiteX103" fmla="*/ 414814 w 476250"/>
                    <a:gd name="connsiteY103" fmla="*/ 332899 h 466725"/>
                    <a:gd name="connsiteX104" fmla="*/ 461486 w 476250"/>
                    <a:gd name="connsiteY104" fmla="*/ 332899 h 466725"/>
                    <a:gd name="connsiteX105" fmla="*/ 468154 w 476250"/>
                    <a:gd name="connsiteY105" fmla="*/ 326231 h 466725"/>
                    <a:gd name="connsiteX106" fmla="*/ 468154 w 476250"/>
                    <a:gd name="connsiteY106" fmla="*/ 321469 h 466725"/>
                    <a:gd name="connsiteX107" fmla="*/ 461486 w 476250"/>
                    <a:gd name="connsiteY107" fmla="*/ 314801 h 466725"/>
                    <a:gd name="connsiteX108" fmla="*/ 414814 w 476250"/>
                    <a:gd name="connsiteY108" fmla="*/ 314801 h 466725"/>
                    <a:gd name="connsiteX109" fmla="*/ 414814 w 476250"/>
                    <a:gd name="connsiteY109" fmla="*/ 290036 h 466725"/>
                    <a:gd name="connsiteX110" fmla="*/ 461486 w 476250"/>
                    <a:gd name="connsiteY110" fmla="*/ 290036 h 466725"/>
                    <a:gd name="connsiteX111" fmla="*/ 468154 w 476250"/>
                    <a:gd name="connsiteY111" fmla="*/ 283369 h 466725"/>
                    <a:gd name="connsiteX112" fmla="*/ 468154 w 476250"/>
                    <a:gd name="connsiteY112" fmla="*/ 278606 h 466725"/>
                    <a:gd name="connsiteX113" fmla="*/ 461486 w 476250"/>
                    <a:gd name="connsiteY113" fmla="*/ 271939 h 466725"/>
                    <a:gd name="connsiteX114" fmla="*/ 414814 w 476250"/>
                    <a:gd name="connsiteY114" fmla="*/ 271939 h 466725"/>
                    <a:gd name="connsiteX115" fmla="*/ 414814 w 476250"/>
                    <a:gd name="connsiteY115" fmla="*/ 247174 h 466725"/>
                    <a:gd name="connsiteX116" fmla="*/ 461486 w 476250"/>
                    <a:gd name="connsiteY116" fmla="*/ 247174 h 466725"/>
                    <a:gd name="connsiteX117" fmla="*/ 468154 w 476250"/>
                    <a:gd name="connsiteY117" fmla="*/ 240506 h 466725"/>
                    <a:gd name="connsiteX118" fmla="*/ 468154 w 476250"/>
                    <a:gd name="connsiteY118" fmla="*/ 235744 h 466725"/>
                    <a:gd name="connsiteX119" fmla="*/ 461486 w 476250"/>
                    <a:gd name="connsiteY119" fmla="*/ 229076 h 466725"/>
                    <a:gd name="connsiteX120" fmla="*/ 414814 w 476250"/>
                    <a:gd name="connsiteY120" fmla="*/ 229076 h 466725"/>
                    <a:gd name="connsiteX121" fmla="*/ 414814 w 476250"/>
                    <a:gd name="connsiteY121" fmla="*/ 204311 h 466725"/>
                    <a:gd name="connsiteX122" fmla="*/ 461486 w 476250"/>
                    <a:gd name="connsiteY122" fmla="*/ 204311 h 466725"/>
                    <a:gd name="connsiteX123" fmla="*/ 468154 w 476250"/>
                    <a:gd name="connsiteY123" fmla="*/ 197644 h 466725"/>
                    <a:gd name="connsiteX124" fmla="*/ 468154 w 476250"/>
                    <a:gd name="connsiteY124" fmla="*/ 192881 h 466725"/>
                    <a:gd name="connsiteX125" fmla="*/ 461486 w 476250"/>
                    <a:gd name="connsiteY125" fmla="*/ 186214 h 466725"/>
                    <a:gd name="connsiteX126" fmla="*/ 414814 w 476250"/>
                    <a:gd name="connsiteY126" fmla="*/ 186214 h 466725"/>
                    <a:gd name="connsiteX127" fmla="*/ 414814 w 476250"/>
                    <a:gd name="connsiteY127" fmla="*/ 161449 h 466725"/>
                    <a:gd name="connsiteX128" fmla="*/ 462439 w 476250"/>
                    <a:gd name="connsiteY128" fmla="*/ 161449 h 466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</a:cxnLst>
                  <a:rect l="l" t="t" r="r" b="b"/>
                  <a:pathLst>
                    <a:path w="476250" h="466725">
                      <a:moveTo>
                        <a:pt x="462439" y="160496"/>
                      </a:moveTo>
                      <a:cubicBezTo>
                        <a:pt x="466249" y="160496"/>
                        <a:pt x="469106" y="157639"/>
                        <a:pt x="469106" y="153829"/>
                      </a:cubicBezTo>
                      <a:lnTo>
                        <a:pt x="469106" y="149066"/>
                      </a:lnTo>
                      <a:cubicBezTo>
                        <a:pt x="469106" y="145256"/>
                        <a:pt x="466249" y="142399"/>
                        <a:pt x="462439" y="142399"/>
                      </a:cubicBezTo>
                      <a:lnTo>
                        <a:pt x="415766" y="142399"/>
                      </a:lnTo>
                      <a:lnTo>
                        <a:pt x="415766" y="93821"/>
                      </a:lnTo>
                      <a:cubicBezTo>
                        <a:pt x="415766" y="80486"/>
                        <a:pt x="405289" y="70009"/>
                        <a:pt x="391954" y="70009"/>
                      </a:cubicBezTo>
                      <a:lnTo>
                        <a:pt x="333851" y="70009"/>
                      </a:lnTo>
                      <a:lnTo>
                        <a:pt x="333851" y="13811"/>
                      </a:lnTo>
                      <a:cubicBezTo>
                        <a:pt x="333851" y="10001"/>
                        <a:pt x="330994" y="7144"/>
                        <a:pt x="327184" y="7144"/>
                      </a:cubicBezTo>
                      <a:lnTo>
                        <a:pt x="322421" y="7144"/>
                      </a:lnTo>
                      <a:cubicBezTo>
                        <a:pt x="318611" y="7144"/>
                        <a:pt x="315754" y="10001"/>
                        <a:pt x="315754" y="13811"/>
                      </a:cubicBezTo>
                      <a:lnTo>
                        <a:pt x="315754" y="70009"/>
                      </a:lnTo>
                      <a:lnTo>
                        <a:pt x="290989" y="70009"/>
                      </a:lnTo>
                      <a:lnTo>
                        <a:pt x="290989" y="13811"/>
                      </a:lnTo>
                      <a:cubicBezTo>
                        <a:pt x="290989" y="10001"/>
                        <a:pt x="287179" y="7144"/>
                        <a:pt x="283369" y="7144"/>
                      </a:cubicBezTo>
                      <a:lnTo>
                        <a:pt x="278606" y="7144"/>
                      </a:lnTo>
                      <a:cubicBezTo>
                        <a:pt x="274796" y="7144"/>
                        <a:pt x="271939" y="10001"/>
                        <a:pt x="271939" y="13811"/>
                      </a:cubicBezTo>
                      <a:lnTo>
                        <a:pt x="271939" y="70009"/>
                      </a:lnTo>
                      <a:lnTo>
                        <a:pt x="247174" y="70009"/>
                      </a:lnTo>
                      <a:lnTo>
                        <a:pt x="247174" y="13811"/>
                      </a:lnTo>
                      <a:cubicBezTo>
                        <a:pt x="247174" y="10001"/>
                        <a:pt x="244316" y="7144"/>
                        <a:pt x="240506" y="7144"/>
                      </a:cubicBezTo>
                      <a:lnTo>
                        <a:pt x="235744" y="7144"/>
                      </a:lnTo>
                      <a:cubicBezTo>
                        <a:pt x="231934" y="7144"/>
                        <a:pt x="229076" y="10001"/>
                        <a:pt x="229076" y="13811"/>
                      </a:cubicBezTo>
                      <a:lnTo>
                        <a:pt x="229076" y="70009"/>
                      </a:lnTo>
                      <a:lnTo>
                        <a:pt x="204311" y="70009"/>
                      </a:lnTo>
                      <a:lnTo>
                        <a:pt x="204311" y="13811"/>
                      </a:lnTo>
                      <a:cubicBezTo>
                        <a:pt x="204311" y="10001"/>
                        <a:pt x="201454" y="7144"/>
                        <a:pt x="197644" y="7144"/>
                      </a:cubicBezTo>
                      <a:lnTo>
                        <a:pt x="192881" y="7144"/>
                      </a:lnTo>
                      <a:cubicBezTo>
                        <a:pt x="189071" y="7144"/>
                        <a:pt x="186214" y="10001"/>
                        <a:pt x="186214" y="13811"/>
                      </a:cubicBezTo>
                      <a:lnTo>
                        <a:pt x="186214" y="70009"/>
                      </a:lnTo>
                      <a:lnTo>
                        <a:pt x="161449" y="70009"/>
                      </a:lnTo>
                      <a:lnTo>
                        <a:pt x="161449" y="13811"/>
                      </a:lnTo>
                      <a:cubicBezTo>
                        <a:pt x="161449" y="10001"/>
                        <a:pt x="158591" y="7144"/>
                        <a:pt x="154781" y="7144"/>
                      </a:cubicBezTo>
                      <a:lnTo>
                        <a:pt x="150019" y="7144"/>
                      </a:lnTo>
                      <a:cubicBezTo>
                        <a:pt x="146209" y="7144"/>
                        <a:pt x="143351" y="10001"/>
                        <a:pt x="143351" y="13811"/>
                      </a:cubicBezTo>
                      <a:lnTo>
                        <a:pt x="143351" y="70009"/>
                      </a:lnTo>
                      <a:lnTo>
                        <a:pt x="88106" y="70009"/>
                      </a:lnTo>
                      <a:cubicBezTo>
                        <a:pt x="74771" y="70009"/>
                        <a:pt x="64294" y="81439"/>
                        <a:pt x="64294" y="93821"/>
                      </a:cubicBezTo>
                      <a:lnTo>
                        <a:pt x="64294" y="142399"/>
                      </a:lnTo>
                      <a:lnTo>
                        <a:pt x="13811" y="142399"/>
                      </a:lnTo>
                      <a:cubicBezTo>
                        <a:pt x="10001" y="142399"/>
                        <a:pt x="7144" y="145256"/>
                        <a:pt x="7144" y="149066"/>
                      </a:cubicBezTo>
                      <a:lnTo>
                        <a:pt x="7144" y="153829"/>
                      </a:lnTo>
                      <a:cubicBezTo>
                        <a:pt x="7144" y="157639"/>
                        <a:pt x="10001" y="160496"/>
                        <a:pt x="13811" y="160496"/>
                      </a:cubicBezTo>
                      <a:lnTo>
                        <a:pt x="64294" y="160496"/>
                      </a:lnTo>
                      <a:lnTo>
                        <a:pt x="64294" y="185261"/>
                      </a:lnTo>
                      <a:lnTo>
                        <a:pt x="13811" y="185261"/>
                      </a:lnTo>
                      <a:cubicBezTo>
                        <a:pt x="10001" y="185261"/>
                        <a:pt x="7144" y="188119"/>
                        <a:pt x="7144" y="191929"/>
                      </a:cubicBezTo>
                      <a:lnTo>
                        <a:pt x="7144" y="196691"/>
                      </a:lnTo>
                      <a:cubicBezTo>
                        <a:pt x="7144" y="200501"/>
                        <a:pt x="10001" y="203359"/>
                        <a:pt x="13811" y="203359"/>
                      </a:cubicBezTo>
                      <a:lnTo>
                        <a:pt x="64294" y="203359"/>
                      </a:lnTo>
                      <a:lnTo>
                        <a:pt x="64294" y="228124"/>
                      </a:lnTo>
                      <a:lnTo>
                        <a:pt x="13811" y="228124"/>
                      </a:lnTo>
                      <a:cubicBezTo>
                        <a:pt x="10001" y="229076"/>
                        <a:pt x="7144" y="231934"/>
                        <a:pt x="7144" y="235744"/>
                      </a:cubicBezTo>
                      <a:lnTo>
                        <a:pt x="7144" y="240506"/>
                      </a:lnTo>
                      <a:cubicBezTo>
                        <a:pt x="7144" y="244316"/>
                        <a:pt x="10001" y="247174"/>
                        <a:pt x="13811" y="247174"/>
                      </a:cubicBezTo>
                      <a:lnTo>
                        <a:pt x="64294" y="247174"/>
                      </a:lnTo>
                      <a:lnTo>
                        <a:pt x="64294" y="271939"/>
                      </a:lnTo>
                      <a:lnTo>
                        <a:pt x="13811" y="271939"/>
                      </a:lnTo>
                      <a:cubicBezTo>
                        <a:pt x="10001" y="271939"/>
                        <a:pt x="7144" y="274796"/>
                        <a:pt x="7144" y="278606"/>
                      </a:cubicBezTo>
                      <a:lnTo>
                        <a:pt x="7144" y="283369"/>
                      </a:lnTo>
                      <a:cubicBezTo>
                        <a:pt x="7144" y="287179"/>
                        <a:pt x="10001" y="290036"/>
                        <a:pt x="13811" y="290036"/>
                      </a:cubicBezTo>
                      <a:lnTo>
                        <a:pt x="64294" y="290036"/>
                      </a:lnTo>
                      <a:lnTo>
                        <a:pt x="64294" y="314801"/>
                      </a:lnTo>
                      <a:lnTo>
                        <a:pt x="13811" y="314801"/>
                      </a:lnTo>
                      <a:cubicBezTo>
                        <a:pt x="10001" y="314801"/>
                        <a:pt x="7144" y="317659"/>
                        <a:pt x="7144" y="321469"/>
                      </a:cubicBezTo>
                      <a:lnTo>
                        <a:pt x="7144" y="326231"/>
                      </a:lnTo>
                      <a:cubicBezTo>
                        <a:pt x="7144" y="330041"/>
                        <a:pt x="10001" y="332899"/>
                        <a:pt x="13811" y="332899"/>
                      </a:cubicBezTo>
                      <a:lnTo>
                        <a:pt x="64294" y="332899"/>
                      </a:lnTo>
                      <a:lnTo>
                        <a:pt x="64294" y="380524"/>
                      </a:lnTo>
                      <a:cubicBezTo>
                        <a:pt x="64294" y="393859"/>
                        <a:pt x="74771" y="404336"/>
                        <a:pt x="88106" y="404336"/>
                      </a:cubicBezTo>
                      <a:lnTo>
                        <a:pt x="142399" y="404336"/>
                      </a:lnTo>
                      <a:lnTo>
                        <a:pt x="142399" y="461486"/>
                      </a:lnTo>
                      <a:cubicBezTo>
                        <a:pt x="142399" y="465296"/>
                        <a:pt x="145256" y="468154"/>
                        <a:pt x="149066" y="468154"/>
                      </a:cubicBezTo>
                      <a:lnTo>
                        <a:pt x="153829" y="468154"/>
                      </a:lnTo>
                      <a:cubicBezTo>
                        <a:pt x="157639" y="468154"/>
                        <a:pt x="160496" y="465296"/>
                        <a:pt x="160496" y="461486"/>
                      </a:cubicBezTo>
                      <a:lnTo>
                        <a:pt x="160496" y="404336"/>
                      </a:lnTo>
                      <a:lnTo>
                        <a:pt x="185261" y="404336"/>
                      </a:lnTo>
                      <a:lnTo>
                        <a:pt x="185261" y="461486"/>
                      </a:lnTo>
                      <a:cubicBezTo>
                        <a:pt x="185261" y="465296"/>
                        <a:pt x="188119" y="468154"/>
                        <a:pt x="191929" y="468154"/>
                      </a:cubicBezTo>
                      <a:lnTo>
                        <a:pt x="196691" y="468154"/>
                      </a:lnTo>
                      <a:cubicBezTo>
                        <a:pt x="200501" y="468154"/>
                        <a:pt x="203359" y="465296"/>
                        <a:pt x="203359" y="461486"/>
                      </a:cubicBezTo>
                      <a:lnTo>
                        <a:pt x="203359" y="404336"/>
                      </a:lnTo>
                      <a:lnTo>
                        <a:pt x="228124" y="404336"/>
                      </a:lnTo>
                      <a:lnTo>
                        <a:pt x="228124" y="461486"/>
                      </a:lnTo>
                      <a:cubicBezTo>
                        <a:pt x="228124" y="465296"/>
                        <a:pt x="230981" y="468154"/>
                        <a:pt x="234791" y="468154"/>
                      </a:cubicBezTo>
                      <a:lnTo>
                        <a:pt x="239554" y="468154"/>
                      </a:lnTo>
                      <a:cubicBezTo>
                        <a:pt x="243364" y="468154"/>
                        <a:pt x="246221" y="465296"/>
                        <a:pt x="246221" y="461486"/>
                      </a:cubicBezTo>
                      <a:lnTo>
                        <a:pt x="246221" y="404336"/>
                      </a:lnTo>
                      <a:lnTo>
                        <a:pt x="270986" y="404336"/>
                      </a:lnTo>
                      <a:lnTo>
                        <a:pt x="270986" y="461486"/>
                      </a:lnTo>
                      <a:cubicBezTo>
                        <a:pt x="270986" y="465296"/>
                        <a:pt x="273844" y="468154"/>
                        <a:pt x="277654" y="468154"/>
                      </a:cubicBezTo>
                      <a:lnTo>
                        <a:pt x="283369" y="468154"/>
                      </a:lnTo>
                      <a:cubicBezTo>
                        <a:pt x="287179" y="468154"/>
                        <a:pt x="290036" y="465296"/>
                        <a:pt x="290036" y="461486"/>
                      </a:cubicBezTo>
                      <a:lnTo>
                        <a:pt x="290036" y="404336"/>
                      </a:lnTo>
                      <a:lnTo>
                        <a:pt x="314801" y="404336"/>
                      </a:lnTo>
                      <a:lnTo>
                        <a:pt x="314801" y="461486"/>
                      </a:lnTo>
                      <a:cubicBezTo>
                        <a:pt x="314801" y="465296"/>
                        <a:pt x="317659" y="468154"/>
                        <a:pt x="321469" y="468154"/>
                      </a:cubicBezTo>
                      <a:lnTo>
                        <a:pt x="326231" y="468154"/>
                      </a:lnTo>
                      <a:cubicBezTo>
                        <a:pt x="330041" y="468154"/>
                        <a:pt x="332899" y="465296"/>
                        <a:pt x="332899" y="461486"/>
                      </a:cubicBezTo>
                      <a:lnTo>
                        <a:pt x="332899" y="404336"/>
                      </a:lnTo>
                      <a:lnTo>
                        <a:pt x="391001" y="404336"/>
                      </a:lnTo>
                      <a:cubicBezTo>
                        <a:pt x="404336" y="404336"/>
                        <a:pt x="414814" y="393859"/>
                        <a:pt x="414814" y="380524"/>
                      </a:cubicBezTo>
                      <a:lnTo>
                        <a:pt x="414814" y="332899"/>
                      </a:lnTo>
                      <a:lnTo>
                        <a:pt x="461486" y="332899"/>
                      </a:lnTo>
                      <a:cubicBezTo>
                        <a:pt x="465296" y="332899"/>
                        <a:pt x="468154" y="330041"/>
                        <a:pt x="468154" y="326231"/>
                      </a:cubicBezTo>
                      <a:lnTo>
                        <a:pt x="468154" y="321469"/>
                      </a:lnTo>
                      <a:cubicBezTo>
                        <a:pt x="468154" y="317659"/>
                        <a:pt x="465296" y="314801"/>
                        <a:pt x="461486" y="314801"/>
                      </a:cubicBezTo>
                      <a:lnTo>
                        <a:pt x="414814" y="314801"/>
                      </a:lnTo>
                      <a:lnTo>
                        <a:pt x="414814" y="290036"/>
                      </a:lnTo>
                      <a:lnTo>
                        <a:pt x="461486" y="290036"/>
                      </a:lnTo>
                      <a:cubicBezTo>
                        <a:pt x="465296" y="290036"/>
                        <a:pt x="468154" y="287179"/>
                        <a:pt x="468154" y="283369"/>
                      </a:cubicBezTo>
                      <a:lnTo>
                        <a:pt x="468154" y="278606"/>
                      </a:lnTo>
                      <a:cubicBezTo>
                        <a:pt x="468154" y="274796"/>
                        <a:pt x="465296" y="271939"/>
                        <a:pt x="461486" y="271939"/>
                      </a:cubicBezTo>
                      <a:lnTo>
                        <a:pt x="414814" y="271939"/>
                      </a:lnTo>
                      <a:lnTo>
                        <a:pt x="414814" y="247174"/>
                      </a:lnTo>
                      <a:lnTo>
                        <a:pt x="461486" y="247174"/>
                      </a:lnTo>
                      <a:cubicBezTo>
                        <a:pt x="465296" y="247174"/>
                        <a:pt x="468154" y="244316"/>
                        <a:pt x="468154" y="240506"/>
                      </a:cubicBezTo>
                      <a:lnTo>
                        <a:pt x="468154" y="235744"/>
                      </a:lnTo>
                      <a:cubicBezTo>
                        <a:pt x="468154" y="231934"/>
                        <a:pt x="465296" y="229076"/>
                        <a:pt x="461486" y="229076"/>
                      </a:cubicBezTo>
                      <a:lnTo>
                        <a:pt x="414814" y="229076"/>
                      </a:lnTo>
                      <a:lnTo>
                        <a:pt x="414814" y="204311"/>
                      </a:lnTo>
                      <a:lnTo>
                        <a:pt x="461486" y="204311"/>
                      </a:lnTo>
                      <a:cubicBezTo>
                        <a:pt x="465296" y="204311"/>
                        <a:pt x="468154" y="201454"/>
                        <a:pt x="468154" y="197644"/>
                      </a:cubicBezTo>
                      <a:lnTo>
                        <a:pt x="468154" y="192881"/>
                      </a:lnTo>
                      <a:cubicBezTo>
                        <a:pt x="468154" y="189071"/>
                        <a:pt x="465296" y="186214"/>
                        <a:pt x="461486" y="186214"/>
                      </a:cubicBezTo>
                      <a:lnTo>
                        <a:pt x="414814" y="186214"/>
                      </a:lnTo>
                      <a:lnTo>
                        <a:pt x="414814" y="161449"/>
                      </a:lnTo>
                      <a:lnTo>
                        <a:pt x="462439" y="16144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93BEA3D9-9AE5-46B2-A231-8B49AC2E558A}"/>
                    </a:ext>
                  </a:extLst>
                </p:cNvPr>
                <p:cNvSpPr/>
                <p:nvPr/>
              </p:nvSpPr>
              <p:spPr>
                <a:xfrm>
                  <a:off x="1855157" y="2765044"/>
                  <a:ext cx="330249" cy="218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49" h="218182">
                      <a:moveTo>
                        <a:pt x="117946" y="56554"/>
                      </a:moveTo>
                      <a:lnTo>
                        <a:pt x="94115" y="134987"/>
                      </a:lnTo>
                      <a:lnTo>
                        <a:pt x="142028" y="134987"/>
                      </a:lnTo>
                      <a:close/>
                      <a:moveTo>
                        <a:pt x="262681" y="0"/>
                      </a:moveTo>
                      <a:lnTo>
                        <a:pt x="330249" y="0"/>
                      </a:lnTo>
                      <a:lnTo>
                        <a:pt x="330249" y="218182"/>
                      </a:lnTo>
                      <a:lnTo>
                        <a:pt x="262681" y="218182"/>
                      </a:lnTo>
                      <a:close/>
                      <a:moveTo>
                        <a:pt x="82004" y="0"/>
                      </a:moveTo>
                      <a:lnTo>
                        <a:pt x="155544" y="0"/>
                      </a:lnTo>
                      <a:lnTo>
                        <a:pt x="237529" y="218182"/>
                      </a:lnTo>
                      <a:lnTo>
                        <a:pt x="166929" y="218182"/>
                      </a:lnTo>
                      <a:lnTo>
                        <a:pt x="156013" y="182165"/>
                      </a:lnTo>
                      <a:lnTo>
                        <a:pt x="79472" y="182165"/>
                      </a:lnTo>
                      <a:lnTo>
                        <a:pt x="68837" y="218182"/>
                      </a:lnTo>
                      <a:lnTo>
                        <a:pt x="0" y="218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6EB048-7D81-463A-970A-20BB88838548}"/>
                </a:ext>
              </a:extLst>
            </p:cNvPr>
            <p:cNvSpPr/>
            <p:nvPr/>
          </p:nvSpPr>
          <p:spPr>
            <a:xfrm>
              <a:off x="1912556" y="2967547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19F564-C784-4AD8-912A-2FD004D79F20}"/>
                </a:ext>
              </a:extLst>
            </p:cNvPr>
            <p:cNvSpPr/>
            <p:nvPr/>
          </p:nvSpPr>
          <p:spPr>
            <a:xfrm>
              <a:off x="1093177" y="4613033"/>
              <a:ext cx="10005646" cy="6770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02F4B8E-9B3E-4F0F-A7A3-4E4CCE2F61D7}"/>
              </a:ext>
            </a:extLst>
          </p:cNvPr>
          <p:cNvSpPr txBox="1"/>
          <p:nvPr/>
        </p:nvSpPr>
        <p:spPr>
          <a:xfrm>
            <a:off x="1030086" y="3704061"/>
            <a:ext cx="6865108" cy="5078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3300" dirty="0">
                <a:solidFill>
                  <a:schemeClr val="bg1"/>
                </a:solidFill>
                <a:cs typeface="Arial" pitchFamily="34" charset="0"/>
              </a:rPr>
              <a:t>Advanced Artificial Intelligence</a:t>
            </a:r>
            <a:endParaRPr lang="ko-KR" altLang="en-US" sz="33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9F391-7E1F-4012-B14B-0323F1643F27}"/>
              </a:ext>
            </a:extLst>
          </p:cNvPr>
          <p:cNvSpPr txBox="1"/>
          <p:nvPr/>
        </p:nvSpPr>
        <p:spPr>
          <a:xfrm>
            <a:off x="6233113" y="4846588"/>
            <a:ext cx="2910887" cy="11541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  <a:cs typeface="Arial" pitchFamily="34" charset="0"/>
              </a:rPr>
              <a:t>Dr. Qurat Ul Ain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Assistant Professor</a:t>
            </a:r>
            <a:b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</a:br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Dept. of AI &amp; DS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FAST NUCES, Islamabad</a:t>
            </a:r>
          </a:p>
          <a:p>
            <a:r>
              <a:rPr lang="en-US" sz="1500" dirty="0">
                <a:solidFill>
                  <a:schemeClr val="bg1"/>
                </a:solidFill>
              </a:rPr>
              <a:t>Email: quratul.ain@isb.nu.edu.pk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87D2B-81E8-6A6D-CC3C-D10A47D9498F}"/>
              </a:ext>
            </a:extLst>
          </p:cNvPr>
          <p:cNvSpPr txBox="1"/>
          <p:nvPr/>
        </p:nvSpPr>
        <p:spPr>
          <a:xfrm>
            <a:off x="3528583" y="4342761"/>
            <a:ext cx="1546698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  Week #6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6" y="318516"/>
            <a:ext cx="41725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>
                <a:solidFill>
                  <a:srgbClr val="1F2022"/>
                </a:solidFill>
                <a:latin typeface="Arial"/>
                <a:cs typeface="Arial"/>
              </a:rPr>
              <a:t>Course</a:t>
            </a:r>
            <a:r>
              <a:rPr spc="-114" dirty="0">
                <a:solidFill>
                  <a:srgbClr val="1F2022"/>
                </a:solidFill>
                <a:latin typeface="Arial"/>
                <a:cs typeface="Arial"/>
              </a:rPr>
              <a:t> </a:t>
            </a:r>
            <a:r>
              <a:rPr spc="-225" dirty="0">
                <a:solidFill>
                  <a:srgbClr val="1F2022"/>
                </a:solidFill>
                <a:latin typeface="Arial"/>
                <a:cs typeface="Arial"/>
              </a:rPr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461" y="1252220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751" y="1604771"/>
            <a:ext cx="492887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 indent="-320675">
              <a:lnSpc>
                <a:spcPct val="100000"/>
              </a:lnSpc>
              <a:spcBef>
                <a:spcPts val="100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sz="2000" b="1" spc="-200" dirty="0">
                <a:latin typeface="Arial"/>
                <a:cs typeface="Arial"/>
              </a:rPr>
              <a:t>Course </a:t>
            </a:r>
            <a:r>
              <a:rPr sz="2000" b="1" spc="-130" dirty="0">
                <a:latin typeface="Arial"/>
                <a:cs typeface="Arial"/>
              </a:rPr>
              <a:t>Name: </a:t>
            </a:r>
            <a:r>
              <a:rPr sz="2000" b="1" spc="-140" dirty="0">
                <a:latin typeface="Arial"/>
                <a:cs typeface="Arial"/>
              </a:rPr>
              <a:t>Machine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Learning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CC8E5F"/>
              </a:buClr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8462" y="2920589"/>
            <a:ext cx="6371018" cy="33195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692" y="237599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667000"/>
            <a:chOff x="0" y="0"/>
            <a:chExt cx="9144000" cy="266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1524000"/>
            </a:xfrm>
            <a:custGeom>
              <a:avLst/>
              <a:gdLst/>
              <a:ahLst/>
              <a:cxnLst/>
              <a:rect l="l" t="t" r="r" b="b"/>
              <a:pathLst>
                <a:path w="9144000" h="1524000">
                  <a:moveTo>
                    <a:pt x="91440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144000" y="1524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718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24000"/>
              <a:ext cx="9144000" cy="1143000"/>
            </a:xfrm>
            <a:custGeom>
              <a:avLst/>
              <a:gdLst/>
              <a:ahLst/>
              <a:cxnLst/>
              <a:rect l="l" t="t" r="r" b="b"/>
              <a:pathLst>
                <a:path w="9144000" h="1143000">
                  <a:moveTo>
                    <a:pt x="9144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9144000" y="1143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00200"/>
              <a:ext cx="1295400" cy="990600"/>
            </a:xfrm>
            <a:custGeom>
              <a:avLst/>
              <a:gdLst/>
              <a:ahLst/>
              <a:cxnLst/>
              <a:rect l="l" t="t" r="r" b="b"/>
              <a:pathLst>
                <a:path w="1295400" h="990600">
                  <a:moveTo>
                    <a:pt x="1295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295400" y="9906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CC8E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6302" y="2796539"/>
            <a:ext cx="4473575" cy="246697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91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81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79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790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215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81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Gradient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95" dirty="0">
                <a:solidFill>
                  <a:srgbClr val="FFFFFF"/>
                </a:solidFill>
                <a:latin typeface="Arial"/>
                <a:cs typeface="Arial"/>
              </a:rPr>
              <a:t>Descent</a:t>
            </a:r>
            <a:endParaRPr sz="20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79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Gradient </a:t>
            </a:r>
            <a:r>
              <a:rPr sz="2000" b="1" spc="-195" dirty="0">
                <a:solidFill>
                  <a:srgbClr val="FFFFFF"/>
                </a:solidFill>
                <a:latin typeface="Arial"/>
                <a:cs typeface="Arial"/>
              </a:rPr>
              <a:t>Descent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2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rgbClr val="7D96AC"/>
          </a:solidFill>
        </p:spPr>
        <p:txBody>
          <a:bodyPr vert="horz" wrap="square" lIns="0" tIns="1022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05"/>
              </a:spcBef>
            </a:pPr>
            <a:r>
              <a:rPr spc="-355" dirty="0">
                <a:solidFill>
                  <a:srgbClr val="FFFFFF"/>
                </a:solidFill>
                <a:latin typeface="Arial"/>
                <a:cs typeface="Arial"/>
              </a:rPr>
              <a:t>Regression-I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894" y="706628"/>
            <a:ext cx="1494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latin typeface="Arial"/>
                <a:cs typeface="Arial"/>
              </a:rPr>
              <a:t>Problem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0" y="1954807"/>
            <a:ext cx="6050407" cy="47845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530" y="1599691"/>
            <a:ext cx="277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What </a:t>
            </a:r>
            <a:r>
              <a:rPr sz="1800" spc="-210" dirty="0">
                <a:latin typeface="Arial"/>
                <a:cs typeface="Arial"/>
              </a:rPr>
              <a:t>should </a:t>
            </a:r>
            <a:r>
              <a:rPr sz="1800" spc="-110" dirty="0">
                <a:latin typeface="Arial"/>
                <a:cs typeface="Arial"/>
              </a:rPr>
              <a:t>I </a:t>
            </a:r>
            <a:r>
              <a:rPr sz="1800" spc="-185" dirty="0">
                <a:latin typeface="Arial"/>
                <a:cs typeface="Arial"/>
              </a:rPr>
              <a:t>watch </a:t>
            </a:r>
            <a:r>
              <a:rPr sz="1800" spc="-165" dirty="0">
                <a:latin typeface="Arial"/>
                <a:cs typeface="Arial"/>
              </a:rPr>
              <a:t>this</a:t>
            </a:r>
            <a:r>
              <a:rPr sz="1800" spc="-280" dirty="0">
                <a:latin typeface="Arial"/>
                <a:cs typeface="Arial"/>
              </a:rPr>
              <a:t> </a:t>
            </a:r>
            <a:r>
              <a:rPr sz="1800" spc="-155" dirty="0">
                <a:latin typeface="Arial"/>
                <a:cs typeface="Arial"/>
              </a:rPr>
              <a:t>Friday?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0598" y="2086203"/>
            <a:ext cx="6436601" cy="4543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6530" y="1599691"/>
            <a:ext cx="355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Goal</a:t>
            </a:r>
            <a:r>
              <a:rPr sz="1800" spc="-185" dirty="0">
                <a:latin typeface="Arial"/>
                <a:cs typeface="Arial"/>
              </a:rPr>
              <a:t>: </a:t>
            </a:r>
            <a:r>
              <a:rPr sz="1800" spc="-110" dirty="0">
                <a:latin typeface="Arial"/>
                <a:cs typeface="Arial"/>
              </a:rPr>
              <a:t>Predict </a:t>
            </a:r>
            <a:r>
              <a:rPr sz="1800" spc="-195" dirty="0">
                <a:latin typeface="Arial"/>
                <a:cs typeface="Arial"/>
              </a:rPr>
              <a:t>movie </a:t>
            </a:r>
            <a:r>
              <a:rPr sz="1800" spc="-90" dirty="0">
                <a:latin typeface="Arial"/>
                <a:cs typeface="Arial"/>
              </a:rPr>
              <a:t>rating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automatically!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894" y="706628"/>
            <a:ext cx="1494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latin typeface="Arial"/>
                <a:cs typeface="Arial"/>
              </a:rPr>
              <a:t>Problem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530" y="1599691"/>
            <a:ext cx="290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latin typeface="Arial"/>
                <a:cs typeface="Arial"/>
              </a:rPr>
              <a:t>Goal: </a:t>
            </a:r>
            <a:r>
              <a:rPr sz="1800" spc="-225" dirty="0">
                <a:latin typeface="Arial"/>
                <a:cs typeface="Arial"/>
              </a:rPr>
              <a:t>How many </a:t>
            </a:r>
            <a:r>
              <a:rPr sz="1800" spc="-175" dirty="0">
                <a:latin typeface="Arial"/>
                <a:cs typeface="Arial"/>
              </a:rPr>
              <a:t>followers </a:t>
            </a:r>
            <a:r>
              <a:rPr sz="1800" spc="-105" dirty="0">
                <a:latin typeface="Arial"/>
                <a:cs typeface="Arial"/>
              </a:rPr>
              <a:t>will </a:t>
            </a:r>
            <a:r>
              <a:rPr sz="1800" spc="-110" dirty="0">
                <a:latin typeface="Arial"/>
                <a:cs typeface="Arial"/>
              </a:rPr>
              <a:t>I</a:t>
            </a:r>
            <a:r>
              <a:rPr sz="1800" spc="-310" dirty="0">
                <a:latin typeface="Arial"/>
                <a:cs typeface="Arial"/>
              </a:rPr>
              <a:t> </a:t>
            </a:r>
            <a:r>
              <a:rPr sz="1800" spc="-220" dirty="0">
                <a:latin typeface="Arial"/>
                <a:cs typeface="Arial"/>
              </a:rPr>
              <a:t>get?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894" y="706628"/>
            <a:ext cx="1494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latin typeface="Arial"/>
                <a:cs typeface="Arial"/>
              </a:rPr>
              <a:t>Problem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1981331"/>
            <a:ext cx="4682629" cy="4827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530" y="1599691"/>
            <a:ext cx="2515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latin typeface="Arial"/>
                <a:cs typeface="Arial"/>
              </a:rPr>
              <a:t>Goal: </a:t>
            </a:r>
            <a:r>
              <a:rPr sz="1800" spc="-180" dirty="0">
                <a:latin typeface="Arial"/>
                <a:cs typeface="Arial"/>
              </a:rPr>
              <a:t>Predict the </a:t>
            </a:r>
            <a:r>
              <a:rPr sz="1800" spc="-150" dirty="0">
                <a:latin typeface="Arial"/>
                <a:cs typeface="Arial"/>
              </a:rPr>
              <a:t>price </a:t>
            </a:r>
            <a:r>
              <a:rPr sz="1800" spc="-55" dirty="0">
                <a:latin typeface="Arial"/>
                <a:cs typeface="Arial"/>
              </a:rPr>
              <a:t>of</a:t>
            </a:r>
            <a:r>
              <a:rPr sz="1800" spc="-290" dirty="0">
                <a:latin typeface="Arial"/>
                <a:cs typeface="Arial"/>
              </a:rPr>
              <a:t> house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894" y="706628"/>
            <a:ext cx="1494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latin typeface="Arial"/>
                <a:cs typeface="Arial"/>
              </a:rPr>
              <a:t>Problem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905000"/>
            <a:ext cx="8153171" cy="4683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111" y="600963"/>
            <a:ext cx="20161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65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166" y="1724659"/>
            <a:ext cx="8266430" cy="42481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8775" indent="-320675">
              <a:lnSpc>
                <a:spcPct val="100000"/>
              </a:lnSpc>
              <a:spcBef>
                <a:spcPts val="240"/>
              </a:spcBef>
              <a:buClr>
                <a:srgbClr val="CC8E5F"/>
              </a:buClr>
              <a:buSzPct val="61111"/>
              <a:buFont typeface="Wingdings"/>
              <a:buChar char=""/>
              <a:tabLst>
                <a:tab pos="358140" algn="l"/>
                <a:tab pos="358775" algn="l"/>
              </a:tabLst>
            </a:pPr>
            <a:r>
              <a:rPr sz="1800" spc="-40" dirty="0">
                <a:latin typeface="Arial"/>
                <a:cs typeface="Arial"/>
              </a:rPr>
              <a:t>What </a:t>
            </a:r>
            <a:r>
              <a:rPr sz="1800" spc="-60" dirty="0">
                <a:latin typeface="Arial"/>
                <a:cs typeface="Arial"/>
              </a:rPr>
              <a:t>do </a:t>
            </a:r>
            <a:r>
              <a:rPr sz="1800" spc="-10" dirty="0">
                <a:latin typeface="Arial"/>
                <a:cs typeface="Arial"/>
              </a:rPr>
              <a:t>all </a:t>
            </a:r>
            <a:r>
              <a:rPr sz="1800" spc="-150" dirty="0">
                <a:latin typeface="Arial"/>
                <a:cs typeface="Arial"/>
              </a:rPr>
              <a:t>these </a:t>
            </a:r>
            <a:r>
              <a:rPr sz="1800" spc="-114" dirty="0">
                <a:latin typeface="Arial"/>
                <a:cs typeface="Arial"/>
              </a:rPr>
              <a:t>problems </a:t>
            </a:r>
            <a:r>
              <a:rPr sz="1800" spc="-125" dirty="0">
                <a:latin typeface="Arial"/>
                <a:cs typeface="Arial"/>
              </a:rPr>
              <a:t>have </a:t>
            </a:r>
            <a:r>
              <a:rPr sz="1800" spc="-110" dirty="0">
                <a:latin typeface="Arial"/>
                <a:cs typeface="Arial"/>
              </a:rPr>
              <a:t>in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spc="-225" dirty="0">
                <a:latin typeface="Arial"/>
                <a:cs typeface="Arial"/>
              </a:rPr>
              <a:t>common?</a:t>
            </a:r>
            <a:endParaRPr sz="1800">
              <a:latin typeface="Arial"/>
              <a:cs typeface="Arial"/>
            </a:endParaRPr>
          </a:p>
          <a:p>
            <a:pPr marL="815975" lvl="1" indent="-320675">
              <a:lnSpc>
                <a:spcPct val="100000"/>
              </a:lnSpc>
              <a:spcBef>
                <a:spcPts val="130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145" dirty="0">
                <a:latin typeface="Arial"/>
                <a:cs typeface="Arial"/>
              </a:rPr>
              <a:t>Continuous </a:t>
            </a:r>
            <a:r>
              <a:rPr sz="1600" spc="-114" dirty="0">
                <a:latin typeface="Arial"/>
                <a:cs typeface="Arial"/>
              </a:rPr>
              <a:t>outputs, </a:t>
            </a:r>
            <a:r>
              <a:rPr sz="1600" spc="-50" dirty="0">
                <a:latin typeface="Arial"/>
                <a:cs typeface="Arial"/>
              </a:rPr>
              <a:t>we’ll </a:t>
            </a:r>
            <a:r>
              <a:rPr sz="1600" spc="-55" dirty="0">
                <a:latin typeface="Arial"/>
                <a:cs typeface="Arial"/>
              </a:rPr>
              <a:t>call </a:t>
            </a:r>
            <a:r>
              <a:rPr sz="1600" spc="-135" dirty="0">
                <a:latin typeface="Arial"/>
                <a:cs typeface="Arial"/>
              </a:rPr>
              <a:t>these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  <a:p>
            <a:pPr marL="815975" lvl="1" indent="-320675">
              <a:lnSpc>
                <a:spcPct val="100000"/>
              </a:lnSpc>
              <a:spcBef>
                <a:spcPts val="480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90" dirty="0">
                <a:latin typeface="Arial"/>
                <a:cs typeface="Arial"/>
              </a:rPr>
              <a:t>(e.g.,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50" dirty="0">
                <a:latin typeface="Arial"/>
                <a:cs typeface="Arial"/>
              </a:rPr>
              <a:t>rating: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30" dirty="0">
                <a:latin typeface="Arial"/>
                <a:cs typeface="Arial"/>
              </a:rPr>
              <a:t>real </a:t>
            </a:r>
            <a:r>
              <a:rPr sz="1600" spc="-130" dirty="0">
                <a:latin typeface="Arial"/>
                <a:cs typeface="Arial"/>
              </a:rPr>
              <a:t>number </a:t>
            </a:r>
            <a:r>
              <a:rPr sz="1600" spc="-90" dirty="0">
                <a:latin typeface="Arial"/>
                <a:cs typeface="Arial"/>
              </a:rPr>
              <a:t>between </a:t>
            </a:r>
            <a:r>
              <a:rPr sz="1600" spc="-25" dirty="0">
                <a:latin typeface="Arial"/>
                <a:cs typeface="Arial"/>
              </a:rPr>
              <a:t>0-10, </a:t>
            </a:r>
            <a:r>
              <a:rPr sz="1600" spc="175" dirty="0">
                <a:latin typeface="Arial"/>
                <a:cs typeface="Arial"/>
              </a:rPr>
              <a:t>#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80" dirty="0">
                <a:latin typeface="Arial"/>
                <a:cs typeface="Arial"/>
              </a:rPr>
              <a:t>followers, </a:t>
            </a:r>
            <a:r>
              <a:rPr sz="1600" spc="-170" dirty="0">
                <a:latin typeface="Arial"/>
                <a:cs typeface="Arial"/>
              </a:rPr>
              <a:t>house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price)</a:t>
            </a:r>
            <a:endParaRPr sz="1600">
              <a:latin typeface="Arial"/>
              <a:cs typeface="Arial"/>
            </a:endParaRPr>
          </a:p>
          <a:p>
            <a:pPr marL="358775" indent="-320675">
              <a:lnSpc>
                <a:spcPct val="100000"/>
              </a:lnSpc>
              <a:spcBef>
                <a:spcPts val="1190"/>
              </a:spcBef>
              <a:buClr>
                <a:srgbClr val="CC8E5F"/>
              </a:buClr>
              <a:buSzPct val="61111"/>
              <a:buFont typeface="Wingdings"/>
              <a:buChar char=""/>
              <a:tabLst>
                <a:tab pos="358140" algn="l"/>
                <a:tab pos="358775" algn="l"/>
              </a:tabLst>
            </a:pPr>
            <a:r>
              <a:rPr sz="1800" spc="-90" dirty="0">
                <a:latin typeface="Arial"/>
                <a:cs typeface="Arial"/>
              </a:rPr>
              <a:t>Predicting </a:t>
            </a:r>
            <a:r>
              <a:rPr sz="1800" spc="-165" dirty="0">
                <a:latin typeface="Arial"/>
                <a:cs typeface="Arial"/>
              </a:rPr>
              <a:t>continuous </a:t>
            </a:r>
            <a:r>
              <a:rPr sz="1800" spc="-130" dirty="0">
                <a:latin typeface="Arial"/>
                <a:cs typeface="Arial"/>
              </a:rPr>
              <a:t>outputs </a:t>
            </a:r>
            <a:r>
              <a:rPr sz="1800" spc="-155" dirty="0">
                <a:latin typeface="Arial"/>
                <a:cs typeface="Arial"/>
              </a:rPr>
              <a:t>is </a:t>
            </a:r>
            <a:r>
              <a:rPr sz="1800" spc="-60" dirty="0">
                <a:latin typeface="Arial"/>
                <a:cs typeface="Arial"/>
              </a:rPr>
              <a:t>called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  <a:p>
            <a:pPr marL="320040" marR="3398520" indent="-320040" algn="r">
              <a:lnSpc>
                <a:spcPct val="100000"/>
              </a:lnSpc>
              <a:spcBef>
                <a:spcPts val="1440"/>
              </a:spcBef>
              <a:buClr>
                <a:srgbClr val="CC8E5F"/>
              </a:buClr>
              <a:buSzPct val="61111"/>
              <a:buFont typeface="Wingdings"/>
              <a:buChar char=""/>
              <a:tabLst>
                <a:tab pos="320040" algn="l"/>
                <a:tab pos="358775" algn="l"/>
              </a:tabLst>
            </a:pPr>
            <a:r>
              <a:rPr sz="1800" spc="-40" dirty="0">
                <a:latin typeface="Arial"/>
                <a:cs typeface="Arial"/>
              </a:rPr>
              <a:t>What </a:t>
            </a:r>
            <a:r>
              <a:rPr sz="1800" spc="-60" dirty="0">
                <a:latin typeface="Arial"/>
                <a:cs typeface="Arial"/>
              </a:rPr>
              <a:t>do </a:t>
            </a:r>
            <a:r>
              <a:rPr sz="1800" spc="-110" dirty="0">
                <a:latin typeface="Arial"/>
                <a:cs typeface="Arial"/>
              </a:rPr>
              <a:t>I need in </a:t>
            </a:r>
            <a:r>
              <a:rPr sz="1800" spc="-45" dirty="0">
                <a:latin typeface="Arial"/>
                <a:cs typeface="Arial"/>
              </a:rPr>
              <a:t>order </a:t>
            </a:r>
            <a:r>
              <a:rPr sz="1800" spc="-60" dirty="0">
                <a:latin typeface="Arial"/>
                <a:cs typeface="Arial"/>
              </a:rPr>
              <a:t>to </a:t>
            </a:r>
            <a:r>
              <a:rPr sz="1800" spc="-55" dirty="0">
                <a:latin typeface="Arial"/>
                <a:cs typeface="Arial"/>
              </a:rPr>
              <a:t>predict</a:t>
            </a:r>
            <a:r>
              <a:rPr sz="1800" spc="29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these  outputs?</a:t>
            </a:r>
            <a:endParaRPr sz="1800">
              <a:latin typeface="Arial"/>
              <a:cs typeface="Arial"/>
            </a:endParaRPr>
          </a:p>
          <a:p>
            <a:pPr marL="320040" marR="3418840" lvl="1" indent="-320040" algn="r">
              <a:lnSpc>
                <a:spcPct val="100000"/>
              </a:lnSpc>
              <a:spcBef>
                <a:spcPts val="540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320040" algn="l"/>
                <a:tab pos="320675" algn="l"/>
              </a:tabLst>
            </a:pPr>
            <a:r>
              <a:rPr sz="1600" spc="-120" dirty="0">
                <a:latin typeface="Arial"/>
                <a:cs typeface="Arial"/>
              </a:rPr>
              <a:t>Features  </a:t>
            </a:r>
            <a:r>
              <a:rPr sz="1600" spc="-110" dirty="0">
                <a:latin typeface="Arial"/>
                <a:cs typeface="Arial"/>
              </a:rPr>
              <a:t>(inputs), </a:t>
            </a:r>
            <a:r>
              <a:rPr sz="1600" spc="-50" dirty="0">
                <a:latin typeface="Arial"/>
                <a:cs typeface="Arial"/>
              </a:rPr>
              <a:t>we’ll </a:t>
            </a:r>
            <a:r>
              <a:rPr sz="1600" spc="-55" dirty="0">
                <a:latin typeface="Arial"/>
                <a:cs typeface="Arial"/>
              </a:rPr>
              <a:t>call </a:t>
            </a:r>
            <a:r>
              <a:rPr sz="1600" spc="-135" dirty="0">
                <a:latin typeface="Arial"/>
                <a:cs typeface="Arial"/>
              </a:rPr>
              <a:t>these</a:t>
            </a:r>
            <a:r>
              <a:rPr sz="1600" spc="1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 </a:t>
            </a:r>
            <a:r>
              <a:rPr sz="1600" spc="-65" dirty="0">
                <a:latin typeface="Arial"/>
                <a:cs typeface="Arial"/>
              </a:rPr>
              <a:t>(or </a:t>
            </a:r>
            <a:r>
              <a:rPr sz="1600" dirty="0">
                <a:latin typeface="Arial"/>
                <a:cs typeface="Arial"/>
              </a:rPr>
              <a:t>x </a:t>
            </a:r>
            <a:r>
              <a:rPr sz="1600" spc="35" dirty="0">
                <a:latin typeface="Arial"/>
                <a:cs typeface="Arial"/>
              </a:rPr>
              <a:t>if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14" dirty="0">
                <a:latin typeface="Arial"/>
                <a:cs typeface="Arial"/>
              </a:rPr>
              <a:t>vectors)</a:t>
            </a:r>
            <a:endParaRPr sz="1600">
              <a:latin typeface="Arial"/>
              <a:cs typeface="Arial"/>
            </a:endParaRPr>
          </a:p>
          <a:p>
            <a:pPr marL="815975" marR="415925" lvl="1" indent="-320675">
              <a:lnSpc>
                <a:spcPts val="2500"/>
              </a:lnSpc>
              <a:spcBef>
                <a:spcPts val="80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100" dirty="0">
                <a:latin typeface="Arial"/>
                <a:cs typeface="Arial"/>
              </a:rPr>
              <a:t>Training </a:t>
            </a:r>
            <a:r>
              <a:rPr sz="1600" spc="-105" dirty="0">
                <a:latin typeface="Arial"/>
                <a:cs typeface="Arial"/>
              </a:rPr>
              <a:t>examples, </a:t>
            </a:r>
            <a:r>
              <a:rPr sz="1600" spc="-130" dirty="0">
                <a:latin typeface="Arial"/>
                <a:cs typeface="Arial"/>
              </a:rPr>
              <a:t>many </a:t>
            </a:r>
            <a:r>
              <a:rPr sz="1600" spc="-40" dirty="0">
                <a:latin typeface="Arial"/>
                <a:cs typeface="Arial"/>
              </a:rPr>
              <a:t>x</a:t>
            </a:r>
            <a:r>
              <a:rPr sz="1650" spc="-60" baseline="25252" dirty="0">
                <a:latin typeface="Arial"/>
                <a:cs typeface="Arial"/>
              </a:rPr>
              <a:t>(i) </a:t>
            </a:r>
            <a:r>
              <a:rPr sz="1600" spc="-15" dirty="0">
                <a:latin typeface="Arial"/>
                <a:cs typeface="Arial"/>
              </a:rPr>
              <a:t>for </a:t>
            </a:r>
            <a:r>
              <a:rPr sz="1600" spc="-125" dirty="0">
                <a:latin typeface="Arial"/>
                <a:cs typeface="Arial"/>
              </a:rPr>
              <a:t>which </a:t>
            </a:r>
            <a:r>
              <a:rPr sz="1600" spc="-40" dirty="0">
                <a:latin typeface="Arial"/>
                <a:cs typeface="Arial"/>
              </a:rPr>
              <a:t>y</a:t>
            </a:r>
            <a:r>
              <a:rPr sz="1650" spc="-60" baseline="25252" dirty="0">
                <a:latin typeface="Arial"/>
                <a:cs typeface="Arial"/>
              </a:rPr>
              <a:t>(i) </a:t>
            </a:r>
            <a:r>
              <a:rPr sz="1600" spc="-140" dirty="0">
                <a:latin typeface="Arial"/>
                <a:cs typeface="Arial"/>
              </a:rPr>
              <a:t>is </a:t>
            </a:r>
            <a:r>
              <a:rPr sz="1600" spc="-145" dirty="0">
                <a:latin typeface="Arial"/>
                <a:cs typeface="Arial"/>
              </a:rPr>
              <a:t>known </a:t>
            </a:r>
            <a:r>
              <a:rPr sz="1600" spc="-90" dirty="0">
                <a:latin typeface="Arial"/>
                <a:cs typeface="Arial"/>
              </a:rPr>
              <a:t>(e.g., </a:t>
            </a:r>
            <a:r>
              <a:rPr sz="1600" spc="-130" dirty="0">
                <a:latin typeface="Arial"/>
                <a:cs typeface="Arial"/>
              </a:rPr>
              <a:t>many </a:t>
            </a:r>
            <a:r>
              <a:rPr sz="1600" spc="-140" dirty="0">
                <a:latin typeface="Arial"/>
                <a:cs typeface="Arial"/>
              </a:rPr>
              <a:t>movies </a:t>
            </a:r>
            <a:r>
              <a:rPr sz="1600" spc="-15" dirty="0">
                <a:latin typeface="Arial"/>
                <a:cs typeface="Arial"/>
              </a:rPr>
              <a:t>for </a:t>
            </a:r>
            <a:r>
              <a:rPr sz="1600" spc="-125" dirty="0">
                <a:latin typeface="Arial"/>
                <a:cs typeface="Arial"/>
              </a:rPr>
              <a:t>which </a:t>
            </a:r>
            <a:r>
              <a:rPr sz="1600" spc="-130" dirty="0">
                <a:latin typeface="Arial"/>
                <a:cs typeface="Arial"/>
              </a:rPr>
              <a:t>we  </a:t>
            </a:r>
            <a:r>
              <a:rPr sz="1600" spc="-135" dirty="0">
                <a:latin typeface="Arial"/>
                <a:cs typeface="Arial"/>
              </a:rPr>
              <a:t>know </a:t>
            </a:r>
            <a:r>
              <a:rPr sz="1600" spc="-100" dirty="0">
                <a:latin typeface="Arial"/>
                <a:cs typeface="Arial"/>
              </a:rPr>
              <a:t>the</a:t>
            </a:r>
            <a:r>
              <a:rPr sz="1600" spc="-204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rating)</a:t>
            </a:r>
            <a:endParaRPr sz="1600">
              <a:latin typeface="Arial"/>
              <a:cs typeface="Arial"/>
            </a:endParaRPr>
          </a:p>
          <a:p>
            <a:pPr marL="815975" lvl="1" indent="-320675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105" dirty="0">
                <a:latin typeface="Arial"/>
                <a:cs typeface="Arial"/>
              </a:rPr>
              <a:t>A </a:t>
            </a:r>
            <a:r>
              <a:rPr sz="1600" spc="-95" dirty="0">
                <a:latin typeface="Arial"/>
                <a:cs typeface="Arial"/>
              </a:rPr>
              <a:t>model,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100" dirty="0">
                <a:latin typeface="Arial"/>
                <a:cs typeface="Arial"/>
              </a:rPr>
              <a:t>function </a:t>
            </a:r>
            <a:r>
              <a:rPr sz="1600" spc="-60" dirty="0">
                <a:latin typeface="Arial"/>
                <a:cs typeface="Arial"/>
              </a:rPr>
              <a:t>that </a:t>
            </a:r>
            <a:r>
              <a:rPr sz="1600" spc="-105" dirty="0">
                <a:latin typeface="Arial"/>
                <a:cs typeface="Arial"/>
              </a:rPr>
              <a:t>represents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75" dirty="0">
                <a:latin typeface="Arial"/>
                <a:cs typeface="Arial"/>
              </a:rPr>
              <a:t>relationship </a:t>
            </a:r>
            <a:r>
              <a:rPr sz="1600" spc="-90" dirty="0">
                <a:latin typeface="Arial"/>
                <a:cs typeface="Arial"/>
              </a:rPr>
              <a:t>between </a:t>
            </a:r>
            <a:r>
              <a:rPr sz="1600" dirty="0">
                <a:latin typeface="Arial"/>
                <a:cs typeface="Arial"/>
              </a:rPr>
              <a:t>x</a:t>
            </a:r>
            <a:r>
              <a:rPr sz="1600" spc="28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  <a:p>
            <a:pPr marL="815975" marR="30480" lvl="1" indent="-320675">
              <a:lnSpc>
                <a:spcPts val="2500"/>
              </a:lnSpc>
              <a:spcBef>
                <a:spcPts val="80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105" dirty="0">
                <a:latin typeface="Arial"/>
                <a:cs typeface="Arial"/>
              </a:rPr>
              <a:t>A </a:t>
            </a:r>
            <a:r>
              <a:rPr sz="1600" spc="-160" dirty="0">
                <a:latin typeface="Arial"/>
                <a:cs typeface="Arial"/>
              </a:rPr>
              <a:t>loss </a:t>
            </a:r>
            <a:r>
              <a:rPr sz="1600" spc="-45" dirty="0">
                <a:latin typeface="Arial"/>
                <a:cs typeface="Arial"/>
              </a:rPr>
              <a:t>or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140" dirty="0">
                <a:latin typeface="Arial"/>
                <a:cs typeface="Arial"/>
              </a:rPr>
              <a:t>cost </a:t>
            </a:r>
            <a:r>
              <a:rPr sz="1600" spc="-45" dirty="0">
                <a:latin typeface="Arial"/>
                <a:cs typeface="Arial"/>
              </a:rPr>
              <a:t>or </a:t>
            </a:r>
            <a:r>
              <a:rPr sz="1600" spc="-100" dirty="0">
                <a:latin typeface="Arial"/>
                <a:cs typeface="Arial"/>
              </a:rPr>
              <a:t>an </a:t>
            </a:r>
            <a:r>
              <a:rPr sz="1600" spc="-75" dirty="0">
                <a:latin typeface="Arial"/>
                <a:cs typeface="Arial"/>
              </a:rPr>
              <a:t>objective </a:t>
            </a:r>
            <a:r>
              <a:rPr sz="1600" spc="-100" dirty="0">
                <a:latin typeface="Arial"/>
                <a:cs typeface="Arial"/>
              </a:rPr>
              <a:t>function, </a:t>
            </a:r>
            <a:r>
              <a:rPr sz="1600" spc="-125" dirty="0">
                <a:latin typeface="Arial"/>
                <a:cs typeface="Arial"/>
              </a:rPr>
              <a:t>which </a:t>
            </a:r>
            <a:r>
              <a:rPr sz="1600" spc="-80" dirty="0">
                <a:latin typeface="Arial"/>
                <a:cs typeface="Arial"/>
              </a:rPr>
              <a:t>tells </a:t>
            </a:r>
            <a:r>
              <a:rPr sz="1600" spc="-235" dirty="0">
                <a:latin typeface="Arial"/>
                <a:cs typeface="Arial"/>
              </a:rPr>
              <a:t>us </a:t>
            </a:r>
            <a:r>
              <a:rPr sz="1600" spc="-145" dirty="0">
                <a:latin typeface="Arial"/>
                <a:cs typeface="Arial"/>
              </a:rPr>
              <a:t>how </a:t>
            </a:r>
            <a:r>
              <a:rPr sz="1600" spc="-60" dirty="0">
                <a:latin typeface="Arial"/>
                <a:cs typeface="Arial"/>
              </a:rPr>
              <a:t>well </a:t>
            </a:r>
            <a:r>
              <a:rPr sz="1600" spc="-95" dirty="0">
                <a:latin typeface="Arial"/>
                <a:cs typeface="Arial"/>
              </a:rPr>
              <a:t>our model </a:t>
            </a:r>
            <a:r>
              <a:rPr sz="1600" spc="-75" dirty="0">
                <a:latin typeface="Arial"/>
                <a:cs typeface="Arial"/>
              </a:rPr>
              <a:t>approximates </a:t>
            </a:r>
            <a:r>
              <a:rPr sz="1600" spc="-100" dirty="0">
                <a:latin typeface="Arial"/>
                <a:cs typeface="Arial"/>
              </a:rPr>
              <a:t>the  </a:t>
            </a:r>
            <a:r>
              <a:rPr sz="1600" spc="-60" dirty="0">
                <a:latin typeface="Arial"/>
                <a:cs typeface="Arial"/>
              </a:rPr>
              <a:t>training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examples</a:t>
            </a:r>
            <a:endParaRPr sz="1600">
              <a:latin typeface="Arial"/>
              <a:cs typeface="Arial"/>
            </a:endParaRPr>
          </a:p>
          <a:p>
            <a:pPr marL="815975" marR="422909" lvl="1" indent="-320675">
              <a:lnSpc>
                <a:spcPts val="2500"/>
              </a:lnSpc>
              <a:spcBef>
                <a:spcPts val="85"/>
              </a:spcBef>
              <a:buClr>
                <a:srgbClr val="CC8E5F"/>
              </a:buClr>
              <a:buSzPct val="62500"/>
              <a:buFont typeface="Wingdings"/>
              <a:buChar char=""/>
              <a:tabLst>
                <a:tab pos="815340" algn="l"/>
                <a:tab pos="815975" algn="l"/>
              </a:tabLst>
            </a:pPr>
            <a:r>
              <a:rPr sz="1600" spc="-65" dirty="0">
                <a:latin typeface="Arial"/>
                <a:cs typeface="Arial"/>
              </a:rPr>
              <a:t>Optimization,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70" dirty="0">
                <a:latin typeface="Arial"/>
                <a:cs typeface="Arial"/>
              </a:rPr>
              <a:t>way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50" dirty="0">
                <a:latin typeface="Arial"/>
                <a:cs typeface="Arial"/>
              </a:rPr>
              <a:t>finding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80" dirty="0">
                <a:latin typeface="Arial"/>
                <a:cs typeface="Arial"/>
              </a:rPr>
              <a:t>parameters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95" dirty="0">
                <a:latin typeface="Arial"/>
                <a:cs typeface="Arial"/>
              </a:rPr>
              <a:t>our model </a:t>
            </a:r>
            <a:r>
              <a:rPr sz="1600" spc="-60" dirty="0">
                <a:latin typeface="Arial"/>
                <a:cs typeface="Arial"/>
              </a:rPr>
              <a:t>that </a:t>
            </a:r>
            <a:r>
              <a:rPr sz="1600" spc="-140" dirty="0">
                <a:latin typeface="Arial"/>
                <a:cs typeface="Arial"/>
              </a:rPr>
              <a:t>minimizes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160" dirty="0">
                <a:latin typeface="Arial"/>
                <a:cs typeface="Arial"/>
              </a:rPr>
              <a:t>loss  </a:t>
            </a:r>
            <a:r>
              <a:rPr sz="1600" spc="-100" dirty="0">
                <a:latin typeface="Arial"/>
                <a:cs typeface="Arial"/>
              </a:rPr>
              <a:t>function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547" y="640587"/>
            <a:ext cx="42506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35" dirty="0">
                <a:solidFill>
                  <a:srgbClr val="000000"/>
                </a:solidFill>
                <a:latin typeface="Arial"/>
                <a:cs typeface="Arial"/>
              </a:rPr>
              <a:t>Simple </a:t>
            </a:r>
            <a:r>
              <a:rPr sz="4000" spc="-185" dirty="0">
                <a:solidFill>
                  <a:srgbClr val="000000"/>
                </a:solidFill>
                <a:latin typeface="Arial"/>
                <a:cs typeface="Arial"/>
              </a:rPr>
              <a:t>1-D</a:t>
            </a:r>
            <a:r>
              <a:rPr sz="4000" spc="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spc="-370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4025" y="1595615"/>
            <a:ext cx="3371240" cy="2489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440" y="3866388"/>
            <a:ext cx="7127240" cy="174180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33375" indent="-320675">
              <a:lnSpc>
                <a:spcPct val="100000"/>
              </a:lnSpc>
              <a:spcBef>
                <a:spcPts val="110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sz="2000" spc="-135" dirty="0">
                <a:latin typeface="Arial"/>
                <a:cs typeface="Arial"/>
              </a:rPr>
              <a:t>Circles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are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data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points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(i.e.,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training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examples)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that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are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given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40" dirty="0">
                <a:latin typeface="Arial"/>
                <a:cs typeface="Arial"/>
              </a:rPr>
              <a:t>us.</a:t>
            </a:r>
            <a:endParaRPr sz="2000">
              <a:latin typeface="Arial"/>
              <a:cs typeface="Arial"/>
            </a:endParaRPr>
          </a:p>
          <a:p>
            <a:pPr marL="333375" indent="-320675">
              <a:lnSpc>
                <a:spcPct val="100000"/>
              </a:lnSpc>
              <a:spcBef>
                <a:spcPts val="1010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740" algn="l"/>
                <a:tab pos="333375" algn="l"/>
                <a:tab pos="2161540" algn="l"/>
              </a:tabLst>
            </a:pPr>
            <a:r>
              <a:rPr sz="2000" spc="-65" dirty="0">
                <a:latin typeface="Arial"/>
                <a:cs typeface="Arial"/>
              </a:rPr>
              <a:t>y(x) </a:t>
            </a:r>
            <a:r>
              <a:rPr sz="2000" spc="165" dirty="0">
                <a:latin typeface="Arial"/>
                <a:cs typeface="Arial"/>
              </a:rPr>
              <a:t>= </a:t>
            </a:r>
            <a:r>
              <a:rPr sz="2000" spc="-240" dirty="0">
                <a:latin typeface="Arial"/>
                <a:cs typeface="Arial"/>
              </a:rPr>
              <a:t>h  </a:t>
            </a:r>
            <a:r>
              <a:rPr sz="2000" spc="-65" dirty="0">
                <a:latin typeface="Arial"/>
                <a:cs typeface="Arial"/>
              </a:rPr>
              <a:t>(x </a:t>
            </a:r>
            <a:r>
              <a:rPr sz="2000" spc="-125" dirty="0">
                <a:latin typeface="Arial"/>
                <a:cs typeface="Arial"/>
              </a:rPr>
              <a:t>)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165" dirty="0">
                <a:latin typeface="Arial"/>
                <a:cs typeface="Arial"/>
              </a:rPr>
              <a:t>+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65" dirty="0">
                <a:latin typeface="Carlito"/>
                <a:cs typeface="Carlito"/>
              </a:rPr>
              <a:t>ϵ</a:t>
            </a:r>
            <a:r>
              <a:rPr sz="2000" spc="-65" dirty="0">
                <a:latin typeface="Arial"/>
                <a:cs typeface="Arial"/>
              </a:rPr>
              <a:t>,	</a:t>
            </a:r>
            <a:r>
              <a:rPr sz="2000" spc="-95" dirty="0">
                <a:latin typeface="Arial"/>
                <a:cs typeface="Arial"/>
              </a:rPr>
              <a:t>with </a:t>
            </a:r>
            <a:r>
              <a:rPr sz="2000" dirty="0">
                <a:latin typeface="Carlito"/>
                <a:cs typeface="Carlito"/>
              </a:rPr>
              <a:t>ϵ </a:t>
            </a:r>
            <a:r>
              <a:rPr sz="2000" spc="-225" dirty="0">
                <a:latin typeface="Arial"/>
                <a:cs typeface="Arial"/>
              </a:rPr>
              <a:t>some</a:t>
            </a:r>
            <a:r>
              <a:rPr sz="2000" spc="-165" dirty="0">
                <a:latin typeface="Arial"/>
                <a:cs typeface="Arial"/>
              </a:rPr>
              <a:t> noise</a:t>
            </a:r>
            <a:endParaRPr sz="2000">
              <a:latin typeface="Arial"/>
              <a:cs typeface="Arial"/>
            </a:endParaRPr>
          </a:p>
          <a:p>
            <a:pPr marL="333375" indent="-320675">
              <a:lnSpc>
                <a:spcPct val="100000"/>
              </a:lnSpc>
              <a:spcBef>
                <a:spcPts val="88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sz="2000" spc="-100" dirty="0">
                <a:latin typeface="Arial"/>
                <a:cs typeface="Arial"/>
              </a:rPr>
              <a:t>Green </a:t>
            </a:r>
            <a:r>
              <a:rPr sz="2000" spc="-135" dirty="0">
                <a:latin typeface="Arial"/>
                <a:cs typeface="Arial"/>
              </a:rPr>
              <a:t>curve </a:t>
            </a:r>
            <a:r>
              <a:rPr sz="2000" spc="-175" dirty="0">
                <a:latin typeface="Arial"/>
                <a:cs typeface="Arial"/>
              </a:rPr>
              <a:t>is </a:t>
            </a:r>
            <a:r>
              <a:rPr sz="2000" spc="-125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”true” </a:t>
            </a:r>
            <a:r>
              <a:rPr sz="2000" spc="-135" dirty="0">
                <a:latin typeface="Arial"/>
                <a:cs typeface="Arial"/>
              </a:rPr>
              <a:t>curve </a:t>
            </a:r>
            <a:r>
              <a:rPr sz="2000" spc="-75" dirty="0">
                <a:latin typeface="Arial"/>
                <a:cs typeface="Arial"/>
              </a:rPr>
              <a:t>that </a:t>
            </a:r>
            <a:r>
              <a:rPr sz="2000" spc="-135" dirty="0">
                <a:latin typeface="Arial"/>
                <a:cs typeface="Arial"/>
              </a:rPr>
              <a:t>we </a:t>
            </a:r>
            <a:r>
              <a:rPr sz="2000" spc="-90" dirty="0">
                <a:latin typeface="Arial"/>
                <a:cs typeface="Arial"/>
              </a:rPr>
              <a:t>don’t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know</a:t>
            </a:r>
            <a:endParaRPr sz="2000">
              <a:latin typeface="Arial"/>
              <a:cs typeface="Arial"/>
            </a:endParaRPr>
          </a:p>
          <a:p>
            <a:pPr marL="333375" indent="-320675">
              <a:lnSpc>
                <a:spcPct val="100000"/>
              </a:lnSpc>
              <a:spcBef>
                <a:spcPts val="1010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32740" algn="l"/>
                <a:tab pos="333375" algn="l"/>
              </a:tabLst>
            </a:pPr>
            <a:r>
              <a:rPr sz="2000" spc="-55" dirty="0">
                <a:latin typeface="Arial"/>
                <a:cs typeface="Arial"/>
              </a:rPr>
              <a:t>Goal: </a:t>
            </a:r>
            <a:r>
              <a:rPr sz="2000" spc="-80" dirty="0">
                <a:latin typeface="Arial"/>
                <a:cs typeface="Arial"/>
              </a:rPr>
              <a:t>We </a:t>
            </a:r>
            <a:r>
              <a:rPr sz="2000" spc="-114" dirty="0">
                <a:latin typeface="Arial"/>
                <a:cs typeface="Arial"/>
              </a:rPr>
              <a:t>want </a:t>
            </a:r>
            <a:r>
              <a:rPr sz="2000" spc="-70" dirty="0">
                <a:latin typeface="Arial"/>
                <a:cs typeface="Arial"/>
              </a:rPr>
              <a:t>to </a:t>
            </a:r>
            <a:r>
              <a:rPr sz="2000" spc="25" dirty="0">
                <a:latin typeface="Arial"/>
                <a:cs typeface="Arial"/>
              </a:rPr>
              <a:t>fit </a:t>
            </a:r>
            <a:r>
              <a:rPr sz="2000" spc="-10" dirty="0">
                <a:latin typeface="Arial"/>
                <a:cs typeface="Arial"/>
              </a:rPr>
              <a:t>a </a:t>
            </a:r>
            <a:r>
              <a:rPr sz="2000" spc="-135" dirty="0">
                <a:latin typeface="Arial"/>
                <a:cs typeface="Arial"/>
              </a:rPr>
              <a:t>curve </a:t>
            </a:r>
            <a:r>
              <a:rPr sz="2000" spc="-70" dirty="0">
                <a:latin typeface="Arial"/>
                <a:cs typeface="Arial"/>
              </a:rPr>
              <a:t>to </a:t>
            </a:r>
            <a:r>
              <a:rPr sz="2000" spc="-165" dirty="0">
                <a:latin typeface="Arial"/>
                <a:cs typeface="Arial"/>
              </a:rPr>
              <a:t>these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points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dirty="0"/>
              <a:t>Linear </a:t>
            </a:r>
            <a:r>
              <a:rPr spc="-15" dirty="0"/>
              <a:t>regression  </a:t>
            </a:r>
            <a:r>
              <a:rPr dirty="0"/>
              <a:t>with one</a:t>
            </a:r>
            <a:r>
              <a:rPr spc="-95" dirty="0"/>
              <a:t> </a:t>
            </a:r>
            <a:r>
              <a:rPr spc="-10" dirty="0"/>
              <a:t>variable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4" name="object 4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67835" y="3605425"/>
            <a:ext cx="3961129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75"/>
              </a:spcBef>
            </a:pPr>
            <a:r>
              <a:rPr sz="5400" spc="-200" dirty="0">
                <a:solidFill>
                  <a:srgbClr val="404040"/>
                </a:solidFill>
                <a:latin typeface="Arial"/>
                <a:cs typeface="Arial"/>
              </a:rPr>
              <a:t>Model  </a:t>
            </a:r>
            <a:r>
              <a:rPr sz="5400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5400" spc="-16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5400" spc="-175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5400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5400" spc="-605" dirty="0">
                <a:solidFill>
                  <a:srgbClr val="404040"/>
                </a:solidFill>
                <a:latin typeface="Arial"/>
                <a:cs typeface="Arial"/>
              </a:rPr>
              <a:t>es</a:t>
            </a:r>
            <a:r>
              <a:rPr sz="5400" spc="-47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5400" spc="-48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5400" spc="-45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5400" spc="-3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5400" spc="-45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5400" spc="-2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5400" spc="-475" dirty="0">
                <a:solidFill>
                  <a:srgbClr val="404040"/>
                </a:solidFill>
                <a:latin typeface="Arial"/>
                <a:cs typeface="Arial"/>
              </a:rPr>
              <a:t>on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3618" y="18994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6939" y="5303011"/>
            <a:ext cx="2239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4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7045" y="3465568"/>
            <a:ext cx="4393565" cy="0"/>
          </a:xfrm>
          <a:custGeom>
            <a:avLst/>
            <a:gdLst/>
            <a:ahLst/>
            <a:cxnLst/>
            <a:rect l="l" t="t" r="r" b="b"/>
            <a:pathLst>
              <a:path w="4393565">
                <a:moveTo>
                  <a:pt x="0" y="0"/>
                </a:moveTo>
                <a:lnTo>
                  <a:pt x="4393072" y="0"/>
                </a:lnTo>
              </a:path>
            </a:pathLst>
          </a:custGeom>
          <a:ln w="9525">
            <a:solidFill>
              <a:srgbClr val="8686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47045" y="3044948"/>
            <a:ext cx="4393565" cy="0"/>
          </a:xfrm>
          <a:custGeom>
            <a:avLst/>
            <a:gdLst/>
            <a:ahLst/>
            <a:cxnLst/>
            <a:rect l="l" t="t" r="r" b="b"/>
            <a:pathLst>
              <a:path w="4393565">
                <a:moveTo>
                  <a:pt x="0" y="0"/>
                </a:moveTo>
                <a:lnTo>
                  <a:pt x="4393072" y="0"/>
                </a:lnTo>
              </a:path>
            </a:pathLst>
          </a:custGeom>
          <a:ln w="9525">
            <a:solidFill>
              <a:srgbClr val="8686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47045" y="2627370"/>
            <a:ext cx="4393565" cy="0"/>
          </a:xfrm>
          <a:custGeom>
            <a:avLst/>
            <a:gdLst/>
            <a:ahLst/>
            <a:cxnLst/>
            <a:rect l="l" t="t" r="r" b="b"/>
            <a:pathLst>
              <a:path w="4393565">
                <a:moveTo>
                  <a:pt x="0" y="0"/>
                </a:moveTo>
                <a:lnTo>
                  <a:pt x="4393072" y="0"/>
                </a:lnTo>
              </a:path>
            </a:pathLst>
          </a:custGeom>
          <a:ln w="9525">
            <a:solidFill>
              <a:srgbClr val="8686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47045" y="2206746"/>
            <a:ext cx="4393565" cy="0"/>
          </a:xfrm>
          <a:custGeom>
            <a:avLst/>
            <a:gdLst/>
            <a:ahLst/>
            <a:cxnLst/>
            <a:rect l="l" t="t" r="r" b="b"/>
            <a:pathLst>
              <a:path w="4393565">
                <a:moveTo>
                  <a:pt x="0" y="0"/>
                </a:moveTo>
                <a:lnTo>
                  <a:pt x="4393072" y="0"/>
                </a:lnTo>
              </a:path>
            </a:pathLst>
          </a:custGeom>
          <a:ln w="9525">
            <a:solidFill>
              <a:srgbClr val="8686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782580" y="1734057"/>
            <a:ext cx="4462780" cy="2214880"/>
            <a:chOff x="3782580" y="1734057"/>
            <a:chExt cx="4462780" cy="2214880"/>
          </a:xfrm>
        </p:grpSpPr>
        <p:sp>
          <p:nvSpPr>
            <p:cNvPr id="7" name="object 7"/>
            <p:cNvSpPr/>
            <p:nvPr/>
          </p:nvSpPr>
          <p:spPr>
            <a:xfrm>
              <a:off x="3847045" y="1787677"/>
              <a:ext cx="4393565" cy="0"/>
            </a:xfrm>
            <a:custGeom>
              <a:avLst/>
              <a:gdLst/>
              <a:ahLst/>
              <a:cxnLst/>
              <a:rect l="l" t="t" r="r" b="b"/>
              <a:pathLst>
                <a:path w="4393565">
                  <a:moveTo>
                    <a:pt x="0" y="0"/>
                  </a:moveTo>
                  <a:lnTo>
                    <a:pt x="4393072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47045" y="1787688"/>
              <a:ext cx="0" cy="2096770"/>
            </a:xfrm>
            <a:custGeom>
              <a:avLst/>
              <a:gdLst/>
              <a:ahLst/>
              <a:cxnLst/>
              <a:rect l="l" t="t" r="r" b="b"/>
              <a:pathLst>
                <a:path h="2096770">
                  <a:moveTo>
                    <a:pt x="0" y="2096251"/>
                  </a:moveTo>
                  <a:lnTo>
                    <a:pt x="1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2580" y="1787677"/>
              <a:ext cx="64769" cy="2096770"/>
            </a:xfrm>
            <a:custGeom>
              <a:avLst/>
              <a:gdLst/>
              <a:ahLst/>
              <a:cxnLst/>
              <a:rect l="l" t="t" r="r" b="b"/>
              <a:pathLst>
                <a:path w="64770" h="2096770">
                  <a:moveTo>
                    <a:pt x="0" y="2096251"/>
                  </a:moveTo>
                  <a:lnTo>
                    <a:pt x="64473" y="2096251"/>
                  </a:lnTo>
                </a:path>
                <a:path w="64770" h="2096770">
                  <a:moveTo>
                    <a:pt x="0" y="1677890"/>
                  </a:moveTo>
                  <a:lnTo>
                    <a:pt x="64473" y="1677890"/>
                  </a:lnTo>
                </a:path>
                <a:path w="64770" h="2096770">
                  <a:moveTo>
                    <a:pt x="0" y="1257270"/>
                  </a:moveTo>
                  <a:lnTo>
                    <a:pt x="64473" y="1257270"/>
                  </a:lnTo>
                </a:path>
                <a:path w="64770" h="2096770">
                  <a:moveTo>
                    <a:pt x="0" y="839693"/>
                  </a:moveTo>
                  <a:lnTo>
                    <a:pt x="64473" y="839693"/>
                  </a:lnTo>
                </a:path>
                <a:path w="64770" h="2096770">
                  <a:moveTo>
                    <a:pt x="0" y="419069"/>
                  </a:moveTo>
                  <a:lnTo>
                    <a:pt x="64473" y="419069"/>
                  </a:lnTo>
                </a:path>
                <a:path w="64770" h="2096770">
                  <a:moveTo>
                    <a:pt x="0" y="0"/>
                  </a:moveTo>
                  <a:lnTo>
                    <a:pt x="64473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47045" y="3883939"/>
              <a:ext cx="4393565" cy="64769"/>
            </a:xfrm>
            <a:custGeom>
              <a:avLst/>
              <a:gdLst/>
              <a:ahLst/>
              <a:cxnLst/>
              <a:rect l="l" t="t" r="r" b="b"/>
              <a:pathLst>
                <a:path w="4393565" h="64770">
                  <a:moveTo>
                    <a:pt x="0" y="0"/>
                  </a:moveTo>
                  <a:lnTo>
                    <a:pt x="4393072" y="1"/>
                  </a:lnTo>
                </a:path>
                <a:path w="4393565" h="64770">
                  <a:moveTo>
                    <a:pt x="0" y="0"/>
                  </a:moveTo>
                  <a:lnTo>
                    <a:pt x="0" y="64473"/>
                  </a:lnTo>
                </a:path>
                <a:path w="4393565" h="64770">
                  <a:moveTo>
                    <a:pt x="731046" y="0"/>
                  </a:moveTo>
                  <a:lnTo>
                    <a:pt x="731046" y="64473"/>
                  </a:lnTo>
                </a:path>
                <a:path w="4393565" h="64770">
                  <a:moveTo>
                    <a:pt x="1465610" y="0"/>
                  </a:moveTo>
                  <a:lnTo>
                    <a:pt x="1465610" y="64473"/>
                  </a:lnTo>
                </a:path>
                <a:path w="4393565" h="64770">
                  <a:moveTo>
                    <a:pt x="2197131" y="0"/>
                  </a:moveTo>
                  <a:lnTo>
                    <a:pt x="2197131" y="64473"/>
                  </a:lnTo>
                </a:path>
                <a:path w="4393565" h="64770">
                  <a:moveTo>
                    <a:pt x="2928651" y="0"/>
                  </a:moveTo>
                  <a:lnTo>
                    <a:pt x="2928651" y="64473"/>
                  </a:lnTo>
                </a:path>
                <a:path w="4393565" h="64770">
                  <a:moveTo>
                    <a:pt x="3660172" y="0"/>
                  </a:moveTo>
                  <a:lnTo>
                    <a:pt x="3660172" y="64473"/>
                  </a:lnTo>
                </a:path>
                <a:path w="4393565" h="64770">
                  <a:moveTo>
                    <a:pt x="4393072" y="0"/>
                  </a:moveTo>
                  <a:lnTo>
                    <a:pt x="4393072" y="64473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47045" y="1787677"/>
              <a:ext cx="4393565" cy="1678305"/>
            </a:xfrm>
            <a:custGeom>
              <a:avLst/>
              <a:gdLst/>
              <a:ahLst/>
              <a:cxnLst/>
              <a:rect l="l" t="t" r="r" b="b"/>
              <a:pathLst>
                <a:path w="4393565" h="1678304">
                  <a:moveTo>
                    <a:pt x="0" y="1677890"/>
                  </a:moveTo>
                  <a:lnTo>
                    <a:pt x="4393072" y="1677890"/>
                  </a:lnTo>
                </a:path>
                <a:path w="4393565" h="1678304">
                  <a:moveTo>
                    <a:pt x="0" y="1257270"/>
                  </a:moveTo>
                  <a:lnTo>
                    <a:pt x="4393072" y="1257270"/>
                  </a:lnTo>
                </a:path>
                <a:path w="4393565" h="1678304">
                  <a:moveTo>
                    <a:pt x="0" y="839693"/>
                  </a:moveTo>
                  <a:lnTo>
                    <a:pt x="4393072" y="839693"/>
                  </a:lnTo>
                </a:path>
                <a:path w="4393565" h="1678304">
                  <a:moveTo>
                    <a:pt x="0" y="419069"/>
                  </a:moveTo>
                  <a:lnTo>
                    <a:pt x="4393072" y="419069"/>
                  </a:lnTo>
                </a:path>
                <a:path w="4393565" h="1678304">
                  <a:moveTo>
                    <a:pt x="0" y="0"/>
                  </a:moveTo>
                  <a:lnTo>
                    <a:pt x="4393072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7045" y="1787688"/>
              <a:ext cx="0" cy="2096770"/>
            </a:xfrm>
            <a:custGeom>
              <a:avLst/>
              <a:gdLst/>
              <a:ahLst/>
              <a:cxnLst/>
              <a:rect l="l" t="t" r="r" b="b"/>
              <a:pathLst>
                <a:path h="2096770">
                  <a:moveTo>
                    <a:pt x="0" y="2096251"/>
                  </a:moveTo>
                  <a:lnTo>
                    <a:pt x="1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2580" y="1787677"/>
              <a:ext cx="64769" cy="2096770"/>
            </a:xfrm>
            <a:custGeom>
              <a:avLst/>
              <a:gdLst/>
              <a:ahLst/>
              <a:cxnLst/>
              <a:rect l="l" t="t" r="r" b="b"/>
              <a:pathLst>
                <a:path w="64770" h="2096770">
                  <a:moveTo>
                    <a:pt x="0" y="2096251"/>
                  </a:moveTo>
                  <a:lnTo>
                    <a:pt x="64473" y="2096251"/>
                  </a:lnTo>
                </a:path>
                <a:path w="64770" h="2096770">
                  <a:moveTo>
                    <a:pt x="0" y="1677890"/>
                  </a:moveTo>
                  <a:lnTo>
                    <a:pt x="64473" y="1677890"/>
                  </a:lnTo>
                </a:path>
                <a:path w="64770" h="2096770">
                  <a:moveTo>
                    <a:pt x="0" y="1257270"/>
                  </a:moveTo>
                  <a:lnTo>
                    <a:pt x="64473" y="1257270"/>
                  </a:lnTo>
                </a:path>
                <a:path w="64770" h="2096770">
                  <a:moveTo>
                    <a:pt x="0" y="839693"/>
                  </a:moveTo>
                  <a:lnTo>
                    <a:pt x="64473" y="839693"/>
                  </a:lnTo>
                </a:path>
                <a:path w="64770" h="2096770">
                  <a:moveTo>
                    <a:pt x="0" y="419069"/>
                  </a:moveTo>
                  <a:lnTo>
                    <a:pt x="64473" y="419069"/>
                  </a:lnTo>
                </a:path>
                <a:path w="64770" h="2096770">
                  <a:moveTo>
                    <a:pt x="0" y="0"/>
                  </a:moveTo>
                  <a:lnTo>
                    <a:pt x="64473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7045" y="3883939"/>
              <a:ext cx="4393565" cy="64769"/>
            </a:xfrm>
            <a:custGeom>
              <a:avLst/>
              <a:gdLst/>
              <a:ahLst/>
              <a:cxnLst/>
              <a:rect l="l" t="t" r="r" b="b"/>
              <a:pathLst>
                <a:path w="4393565" h="64770">
                  <a:moveTo>
                    <a:pt x="0" y="0"/>
                  </a:moveTo>
                  <a:lnTo>
                    <a:pt x="4393072" y="1"/>
                  </a:lnTo>
                </a:path>
                <a:path w="4393565" h="64770">
                  <a:moveTo>
                    <a:pt x="0" y="0"/>
                  </a:moveTo>
                  <a:lnTo>
                    <a:pt x="0" y="64473"/>
                  </a:lnTo>
                </a:path>
                <a:path w="4393565" h="64770">
                  <a:moveTo>
                    <a:pt x="731046" y="0"/>
                  </a:moveTo>
                  <a:lnTo>
                    <a:pt x="731046" y="64473"/>
                  </a:lnTo>
                </a:path>
                <a:path w="4393565" h="64770">
                  <a:moveTo>
                    <a:pt x="1465610" y="0"/>
                  </a:moveTo>
                  <a:lnTo>
                    <a:pt x="1465610" y="64473"/>
                  </a:lnTo>
                </a:path>
                <a:path w="4393565" h="64770">
                  <a:moveTo>
                    <a:pt x="2197131" y="0"/>
                  </a:moveTo>
                  <a:lnTo>
                    <a:pt x="2197131" y="64473"/>
                  </a:lnTo>
                </a:path>
                <a:path w="4393565" h="64770">
                  <a:moveTo>
                    <a:pt x="2928651" y="0"/>
                  </a:moveTo>
                  <a:lnTo>
                    <a:pt x="2928651" y="64473"/>
                  </a:lnTo>
                </a:path>
                <a:path w="4393565" h="64770">
                  <a:moveTo>
                    <a:pt x="3660172" y="0"/>
                  </a:moveTo>
                  <a:lnTo>
                    <a:pt x="3660172" y="64473"/>
                  </a:lnTo>
                </a:path>
                <a:path w="4393565" h="64770">
                  <a:moveTo>
                    <a:pt x="4393072" y="0"/>
                  </a:moveTo>
                  <a:lnTo>
                    <a:pt x="4393072" y="64473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8929" y="215798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1313" y="245059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11745" y="228904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70041" y="286207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05193" y="257860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43777" y="25145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88329" y="300227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8225" y="2947415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85865" y="28193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38137" y="282854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26529" y="238048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64985" y="245059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53633" y="274624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65441" y="194767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29833" y="257860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07913" y="299618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9593" y="174040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5153" y="277367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61937" y="276758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47409" y="281635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71665" y="274624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09793" y="278891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34049" y="188671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97673" y="186842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19137" y="184403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59217" y="257860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91833" y="2368295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63489" y="31241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84441" y="25145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49161" y="263651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03569" y="278891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10961" y="2871215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8553" y="238963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64273" y="2630423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35801" y="228904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74001" y="245059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5585" y="251764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556097" y="2581655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44033" y="308152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10121" y="257860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36" y="97536"/>
                  </a:moveTo>
                  <a:lnTo>
                    <a:pt x="0" y="0"/>
                  </a:lnTo>
                </a:path>
                <a:path w="97790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559145" y="2831591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89">
                  <a:moveTo>
                    <a:pt x="97536" y="97536"/>
                  </a:moveTo>
                  <a:lnTo>
                    <a:pt x="0" y="0"/>
                  </a:lnTo>
                </a:path>
                <a:path w="97789" h="97789">
                  <a:moveTo>
                    <a:pt x="0" y="97536"/>
                  </a:moveTo>
                  <a:lnTo>
                    <a:pt x="97536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336899" y="1622043"/>
            <a:ext cx="334645" cy="2203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Carlito"/>
                <a:cs typeface="Carlito"/>
              </a:rPr>
              <a:t>500</a:t>
            </a:r>
            <a:endParaRPr sz="1400" dirty="0">
              <a:latin typeface="Carlito"/>
              <a:cs typeface="Carlito"/>
            </a:endParaRPr>
          </a:p>
          <a:p>
            <a:pPr marR="8890" algn="r">
              <a:lnSpc>
                <a:spcPct val="100000"/>
              </a:lnSpc>
              <a:spcBef>
                <a:spcPts val="1390"/>
              </a:spcBef>
            </a:pPr>
            <a:r>
              <a:rPr sz="1400" spc="-15" dirty="0">
                <a:latin typeface="Carlito"/>
                <a:cs typeface="Carlito"/>
              </a:rPr>
              <a:t>400</a:t>
            </a:r>
            <a:endParaRPr sz="1400" dirty="0">
              <a:latin typeface="Carlito"/>
              <a:cs typeface="Carlito"/>
            </a:endParaRPr>
          </a:p>
          <a:p>
            <a:pPr marR="8890" algn="r">
              <a:lnSpc>
                <a:spcPct val="100000"/>
              </a:lnSpc>
              <a:spcBef>
                <a:spcPts val="1370"/>
              </a:spcBef>
            </a:pPr>
            <a:r>
              <a:rPr sz="1400" spc="-15" dirty="0">
                <a:latin typeface="Carlito"/>
                <a:cs typeface="Carlito"/>
              </a:rPr>
              <a:t>300</a:t>
            </a:r>
            <a:endParaRPr sz="1400" dirty="0">
              <a:latin typeface="Carlito"/>
              <a:cs typeface="Carlito"/>
            </a:endParaRPr>
          </a:p>
          <a:p>
            <a:pPr marR="8890" algn="r">
              <a:lnSpc>
                <a:spcPct val="100000"/>
              </a:lnSpc>
              <a:spcBef>
                <a:spcPts val="1390"/>
              </a:spcBef>
            </a:pPr>
            <a:r>
              <a:rPr sz="1400" spc="-15" dirty="0">
                <a:latin typeface="Carlito"/>
                <a:cs typeface="Carlito"/>
              </a:rPr>
              <a:t>200</a:t>
            </a:r>
            <a:endParaRPr sz="1400" dirty="0">
              <a:latin typeface="Carlito"/>
              <a:cs typeface="Carlito"/>
            </a:endParaRPr>
          </a:p>
          <a:p>
            <a:pPr marR="8890" algn="r">
              <a:lnSpc>
                <a:spcPct val="100000"/>
              </a:lnSpc>
              <a:spcBef>
                <a:spcPts val="1370"/>
              </a:spcBef>
            </a:pPr>
            <a:r>
              <a:rPr sz="1400" spc="-15" dirty="0">
                <a:latin typeface="Carlito"/>
                <a:cs typeface="Carlito"/>
              </a:rPr>
              <a:t>100</a:t>
            </a:r>
            <a:endParaRPr sz="1400" dirty="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1390"/>
              </a:spcBef>
            </a:pPr>
            <a:r>
              <a:rPr sz="1400" dirty="0">
                <a:latin typeface="Carlito"/>
                <a:cs typeface="Carlito"/>
              </a:rPr>
              <a:t>0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782847" y="3987291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0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95140" y="3957489"/>
            <a:ext cx="4184015" cy="17005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34"/>
              </a:spcBef>
              <a:tabLst>
                <a:tab pos="809625" algn="l"/>
                <a:tab pos="1541780" algn="l"/>
                <a:tab pos="2274570" algn="l"/>
                <a:tab pos="3006725" algn="l"/>
                <a:tab pos="3738879" algn="l"/>
              </a:tabLst>
            </a:pPr>
            <a:r>
              <a:rPr sz="1600" spc="-10" dirty="0">
                <a:latin typeface="Carlito"/>
                <a:cs typeface="Carlito"/>
              </a:rPr>
              <a:t>500	</a:t>
            </a:r>
            <a:r>
              <a:rPr sz="1600" spc="-15" dirty="0">
                <a:latin typeface="Carlito"/>
                <a:cs typeface="Carlito"/>
              </a:rPr>
              <a:t>1000	1500	2000	2500	3000</a:t>
            </a:r>
            <a:endParaRPr sz="1600" dirty="0">
              <a:latin typeface="Carlito"/>
              <a:cs typeface="Carlito"/>
            </a:endParaRPr>
          </a:p>
          <a:p>
            <a:pPr marR="1747520" algn="r">
              <a:lnSpc>
                <a:spcPct val="100000"/>
              </a:lnSpc>
              <a:spcBef>
                <a:spcPts val="350"/>
              </a:spcBef>
            </a:pPr>
            <a:r>
              <a:rPr sz="2400" spc="-20" dirty="0">
                <a:latin typeface="Carlito"/>
                <a:cs typeface="Carlito"/>
              </a:rPr>
              <a:t>Size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(feet</a:t>
            </a:r>
            <a:r>
              <a:rPr sz="2400" spc="-22" baseline="24305" dirty="0">
                <a:latin typeface="Carlito"/>
                <a:cs typeface="Carlito"/>
              </a:rPr>
              <a:t>2</a:t>
            </a:r>
            <a:r>
              <a:rPr sz="2400" spc="-15" dirty="0">
                <a:latin typeface="Carlito"/>
                <a:cs typeface="Carlito"/>
              </a:rPr>
              <a:t>)</a:t>
            </a:r>
            <a:endParaRPr sz="2400" dirty="0">
              <a:latin typeface="Carlito"/>
              <a:cs typeface="Carlito"/>
            </a:endParaRPr>
          </a:p>
          <a:p>
            <a:pPr marR="1659889" algn="r">
              <a:lnSpc>
                <a:spcPct val="100000"/>
              </a:lnSpc>
              <a:spcBef>
                <a:spcPts val="815"/>
              </a:spcBef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Regression</a:t>
            </a:r>
            <a:r>
              <a:rPr sz="2400" u="heavy" spc="-7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Problem</a:t>
            </a:r>
            <a:endParaRPr sz="2400" dirty="0">
              <a:latin typeface="Carlito"/>
              <a:cs typeface="Carlito"/>
            </a:endParaRPr>
          </a:p>
          <a:p>
            <a:pPr marL="63500">
              <a:lnSpc>
                <a:spcPct val="100000"/>
              </a:lnSpc>
              <a:spcBef>
                <a:spcPts val="1225"/>
              </a:spcBef>
            </a:pPr>
            <a:r>
              <a:rPr sz="2400" spc="-10" dirty="0">
                <a:latin typeface="Carlito"/>
                <a:cs typeface="Carlito"/>
              </a:rPr>
              <a:t>Predict real-valued </a:t>
            </a:r>
            <a:r>
              <a:rPr sz="2400" spc="-5" dirty="0">
                <a:latin typeface="Carlito"/>
                <a:cs typeface="Carlito"/>
              </a:rPr>
              <a:t>output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5656" y="1683003"/>
            <a:ext cx="2584883" cy="264566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3655" marR="538480" indent="-21590">
              <a:lnSpc>
                <a:spcPct val="101400"/>
              </a:lnSpc>
              <a:spcBef>
                <a:spcPts val="50"/>
              </a:spcBef>
            </a:pPr>
            <a:r>
              <a:rPr sz="2400" b="1" spc="-5" dirty="0">
                <a:latin typeface="Carlito"/>
                <a:cs typeface="Carlito"/>
              </a:rPr>
              <a:t>Housing</a:t>
            </a:r>
            <a:r>
              <a:rPr sz="2400" b="1" spc="-7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Prices  </a:t>
            </a:r>
            <a:r>
              <a:rPr sz="2400" b="1" spc="-10" dirty="0">
                <a:latin typeface="Carlito"/>
                <a:cs typeface="Carlito"/>
              </a:rPr>
              <a:t>(Portland,</a:t>
            </a:r>
            <a:r>
              <a:rPr sz="2400" b="1" spc="-35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OR)</a:t>
            </a:r>
            <a:endParaRPr sz="2400" dirty="0">
              <a:latin typeface="Carlito"/>
              <a:cs typeface="Carlito"/>
            </a:endParaRPr>
          </a:p>
          <a:p>
            <a:pPr marL="1452245" marR="5080" indent="313055">
              <a:lnSpc>
                <a:spcPct val="100800"/>
              </a:lnSpc>
              <a:spcBef>
                <a:spcPts val="2370"/>
              </a:spcBef>
            </a:pPr>
            <a:r>
              <a:rPr spc="-5" dirty="0">
                <a:latin typeface="Carlito"/>
                <a:cs typeface="Carlito"/>
              </a:rPr>
              <a:t>Price  (in 1000s  of</a:t>
            </a:r>
            <a:r>
              <a:rPr spc="-7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dollars)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3540" y="4589779"/>
            <a:ext cx="3520440" cy="143700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Supervised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Learning</a:t>
            </a:r>
            <a:endParaRPr sz="2400" dirty="0">
              <a:latin typeface="Carlito"/>
              <a:cs typeface="Carlito"/>
            </a:endParaRPr>
          </a:p>
          <a:p>
            <a:pPr marL="12700" marR="5080">
              <a:lnSpc>
                <a:spcPct val="100800"/>
              </a:lnSpc>
              <a:spcBef>
                <a:spcPts val="1200"/>
              </a:spcBef>
            </a:pP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“right </a:t>
            </a:r>
            <a:r>
              <a:rPr sz="2400" spc="10" dirty="0">
                <a:latin typeface="Carlito"/>
                <a:cs typeface="Carlito"/>
              </a:rPr>
              <a:t>answer”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15" dirty="0">
                <a:latin typeface="Carlito"/>
                <a:cs typeface="Carlito"/>
              </a:rPr>
              <a:t>example </a:t>
            </a:r>
            <a:r>
              <a:rPr sz="2400" spc="-5" dirty="0">
                <a:latin typeface="Carlito"/>
                <a:cs typeface="Carlito"/>
              </a:rPr>
              <a:t>in the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data.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114800" y="4813998"/>
            <a:ext cx="0" cy="1510665"/>
          </a:xfrm>
          <a:custGeom>
            <a:avLst/>
            <a:gdLst/>
            <a:ahLst/>
            <a:cxnLst/>
            <a:rect l="l" t="t" r="r" b="b"/>
            <a:pathLst>
              <a:path h="1510664">
                <a:moveTo>
                  <a:pt x="0" y="0"/>
                </a:moveTo>
                <a:lnTo>
                  <a:pt x="1" y="15106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688340" y="537972"/>
            <a:ext cx="48964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>
                <a:solidFill>
                  <a:srgbClr val="1F2022"/>
                </a:solidFill>
                <a:latin typeface="Arial"/>
                <a:cs typeface="Arial"/>
              </a:rPr>
              <a:t>Model</a:t>
            </a:r>
            <a:r>
              <a:rPr spc="-70" dirty="0">
                <a:solidFill>
                  <a:srgbClr val="1F2022"/>
                </a:solidFill>
                <a:latin typeface="Arial"/>
                <a:cs typeface="Arial"/>
              </a:rPr>
              <a:t> </a:t>
            </a:r>
            <a:r>
              <a:rPr spc="-280" dirty="0">
                <a:solidFill>
                  <a:srgbClr val="1F2022"/>
                </a:solidFill>
                <a:latin typeface="Arial"/>
                <a:cs typeface="Arial"/>
              </a:rPr>
              <a:t>Representation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163" y="3916171"/>
            <a:ext cx="5302250" cy="150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rlito"/>
                <a:cs typeface="Carlito"/>
              </a:rPr>
              <a:t>Notation:</a:t>
            </a:r>
            <a:endParaRPr sz="2400">
              <a:latin typeface="Carlito"/>
              <a:cs typeface="Carlito"/>
            </a:endParaRPr>
          </a:p>
          <a:p>
            <a:pPr marL="217170">
              <a:lnSpc>
                <a:spcPct val="100000"/>
              </a:lnSpc>
              <a:spcBef>
                <a:spcPts val="120"/>
              </a:spcBef>
            </a:pPr>
            <a:r>
              <a:rPr sz="2400" b="1" dirty="0">
                <a:latin typeface="Carlito"/>
                <a:cs typeface="Carlito"/>
              </a:rPr>
              <a:t>m </a:t>
            </a:r>
            <a:r>
              <a:rPr sz="2400" dirty="0">
                <a:latin typeface="Carlito"/>
                <a:cs typeface="Carlito"/>
              </a:rPr>
              <a:t>= Number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examples</a:t>
            </a:r>
            <a:endParaRPr sz="2400">
              <a:latin typeface="Carlito"/>
              <a:cs typeface="Carlito"/>
            </a:endParaRPr>
          </a:p>
          <a:p>
            <a:pPr marL="217170">
              <a:lnSpc>
                <a:spcPct val="100000"/>
              </a:lnSpc>
            </a:pPr>
            <a:r>
              <a:rPr sz="2400" b="1" spc="-55" dirty="0">
                <a:latin typeface="Carlito"/>
                <a:cs typeface="Carlito"/>
              </a:rPr>
              <a:t>x</a:t>
            </a:r>
            <a:r>
              <a:rPr sz="2400" spc="-55" dirty="0">
                <a:latin typeface="Carlito"/>
                <a:cs typeface="Carlito"/>
              </a:rPr>
              <a:t>’s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5" dirty="0">
                <a:latin typeface="Carlito"/>
                <a:cs typeface="Carlito"/>
              </a:rPr>
              <a:t>“input” </a:t>
            </a:r>
            <a:r>
              <a:rPr sz="2400" spc="-5" dirty="0">
                <a:latin typeface="Carlito"/>
                <a:cs typeface="Carlito"/>
              </a:rPr>
              <a:t>variable </a:t>
            </a:r>
            <a:r>
              <a:rPr sz="2400" dirty="0">
                <a:latin typeface="Carlito"/>
                <a:cs typeface="Carlito"/>
              </a:rPr>
              <a:t>/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features</a:t>
            </a:r>
            <a:endParaRPr sz="2400">
              <a:latin typeface="Carlito"/>
              <a:cs typeface="Carlito"/>
            </a:endParaRPr>
          </a:p>
          <a:p>
            <a:pPr marL="217170">
              <a:lnSpc>
                <a:spcPct val="100000"/>
              </a:lnSpc>
              <a:spcBef>
                <a:spcPts val="20"/>
              </a:spcBef>
            </a:pPr>
            <a:r>
              <a:rPr sz="2400" b="1" spc="-50" dirty="0">
                <a:latin typeface="Carlito"/>
                <a:cs typeface="Carlito"/>
              </a:rPr>
              <a:t>y</a:t>
            </a:r>
            <a:r>
              <a:rPr sz="2400" spc="-50" dirty="0">
                <a:latin typeface="Carlito"/>
                <a:cs typeface="Carlito"/>
              </a:rPr>
              <a:t>’s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5" dirty="0">
                <a:latin typeface="Carlito"/>
                <a:cs typeface="Carlito"/>
              </a:rPr>
              <a:t>“output” variable </a:t>
            </a:r>
            <a:r>
              <a:rPr sz="2400" dirty="0">
                <a:latin typeface="Carlito"/>
                <a:cs typeface="Carlito"/>
              </a:rPr>
              <a:t>/ </a:t>
            </a:r>
            <a:r>
              <a:rPr sz="2400" spc="-5" dirty="0">
                <a:latin typeface="Carlito"/>
                <a:cs typeface="Carlito"/>
              </a:rPr>
              <a:t>“target”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variable</a:t>
            </a:r>
            <a:endParaRPr sz="2400">
              <a:latin typeface="Carlito"/>
              <a:cs typeface="Carlito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76600" y="1621345"/>
          <a:ext cx="5334635" cy="2331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b="1" spc="-5" dirty="0">
                          <a:latin typeface="Carlito"/>
                          <a:cs typeface="Carlito"/>
                        </a:rPr>
                        <a:t>Size in </a:t>
                      </a:r>
                      <a:r>
                        <a:rPr sz="2400" b="1" dirty="0">
                          <a:latin typeface="Carlito"/>
                          <a:cs typeface="Carlito"/>
                        </a:rPr>
                        <a:t>feet</a:t>
                      </a:r>
                      <a:r>
                        <a:rPr sz="2400" b="1" baseline="20833" dirty="0">
                          <a:latin typeface="Carlito"/>
                          <a:cs typeface="Carlito"/>
                        </a:rPr>
                        <a:t>2</a:t>
                      </a:r>
                      <a:r>
                        <a:rPr sz="2400" b="1" spc="209" baseline="20833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(</a:t>
                      </a:r>
                      <a:r>
                        <a:rPr sz="2400" spc="-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)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3683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b="1" spc="-5" dirty="0">
                          <a:latin typeface="Carlito"/>
                          <a:cs typeface="Carlito"/>
                        </a:rPr>
                        <a:t>Price ($) </a:t>
                      </a:r>
                      <a:r>
                        <a:rPr sz="2400" b="1" dirty="0">
                          <a:latin typeface="Carlito"/>
                          <a:cs typeface="Carlito"/>
                        </a:rPr>
                        <a:t>in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1000's</a:t>
                      </a:r>
                      <a:r>
                        <a:rPr sz="2400" b="1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(</a:t>
                      </a:r>
                      <a:r>
                        <a:rPr sz="2400" spc="-5" dirty="0">
                          <a:latin typeface="Carlito"/>
                          <a:cs typeface="Carlito"/>
                        </a:rPr>
                        <a:t>y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)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166"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2104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460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1416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232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1534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315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852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178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963"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dirty="0">
                          <a:latin typeface="Carlito"/>
                          <a:cs typeface="Carlito"/>
                        </a:rPr>
                        <a:t>…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dirty="0">
                          <a:latin typeface="Carlito"/>
                          <a:cs typeface="Carlito"/>
                        </a:rPr>
                        <a:t>…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59409" y="1628139"/>
            <a:ext cx="2141855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4604" algn="just">
              <a:lnSpc>
                <a:spcPct val="99600"/>
              </a:lnSpc>
              <a:spcBef>
                <a:spcPts val="110"/>
              </a:spcBef>
            </a:pPr>
            <a:r>
              <a:rPr sz="2400" b="1" spc="-30" dirty="0">
                <a:latin typeface="Carlito"/>
                <a:cs typeface="Carlito"/>
              </a:rPr>
              <a:t>Training </a:t>
            </a:r>
            <a:r>
              <a:rPr sz="2400" b="1" spc="-10" dirty="0">
                <a:latin typeface="Carlito"/>
                <a:cs typeface="Carlito"/>
              </a:rPr>
              <a:t>set </a:t>
            </a:r>
            <a:r>
              <a:rPr sz="2400" b="1" spc="-5" dirty="0">
                <a:latin typeface="Carlito"/>
                <a:cs typeface="Carlito"/>
              </a:rPr>
              <a:t>of  housing</a:t>
            </a:r>
            <a:r>
              <a:rPr sz="2400" b="1" spc="-9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prices  </a:t>
            </a:r>
            <a:r>
              <a:rPr sz="2400" b="1" spc="-10" dirty="0">
                <a:latin typeface="Carlito"/>
                <a:cs typeface="Carlito"/>
              </a:rPr>
              <a:t>(Portland,</a:t>
            </a:r>
            <a:r>
              <a:rPr sz="2400" b="1" spc="-4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OR)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525780"/>
            <a:ext cx="50907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1F2022"/>
                </a:solidFill>
              </a:rPr>
              <a:t>Model</a:t>
            </a:r>
            <a:r>
              <a:rPr sz="4000" spc="-10" dirty="0">
                <a:solidFill>
                  <a:srgbClr val="1F2022"/>
                </a:solidFill>
              </a:rPr>
              <a:t> </a:t>
            </a:r>
            <a:r>
              <a:rPr sz="4000" spc="-25" dirty="0">
                <a:solidFill>
                  <a:srgbClr val="1F2022"/>
                </a:solidFill>
              </a:rPr>
              <a:t>Representation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00600" y="1757426"/>
            <a:ext cx="0" cy="4114800"/>
          </a:xfrm>
          <a:custGeom>
            <a:avLst/>
            <a:gdLst/>
            <a:ahLst/>
            <a:cxnLst/>
            <a:rect l="l" t="t" r="r" b="b"/>
            <a:pathLst>
              <a:path h="4114800">
                <a:moveTo>
                  <a:pt x="0" y="0"/>
                </a:moveTo>
                <a:lnTo>
                  <a:pt x="1" y="4114802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1048288" y="1718767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3" y="7984"/>
                </a:lnTo>
                <a:lnTo>
                  <a:pt x="101601" y="0"/>
                </a:lnTo>
                <a:lnTo>
                  <a:pt x="2431511" y="0"/>
                </a:lnTo>
                <a:lnTo>
                  <a:pt x="2471057" y="7984"/>
                </a:lnTo>
                <a:lnTo>
                  <a:pt x="2503352" y="29758"/>
                </a:lnTo>
                <a:lnTo>
                  <a:pt x="2525126" y="62053"/>
                </a:lnTo>
                <a:lnTo>
                  <a:pt x="2533111" y="101602"/>
                </a:lnTo>
                <a:lnTo>
                  <a:pt x="2533111" y="507998"/>
                </a:lnTo>
                <a:lnTo>
                  <a:pt x="2525126" y="547546"/>
                </a:lnTo>
                <a:lnTo>
                  <a:pt x="2503352" y="579841"/>
                </a:lnTo>
                <a:lnTo>
                  <a:pt x="2471057" y="601615"/>
                </a:lnTo>
                <a:lnTo>
                  <a:pt x="2431511" y="609600"/>
                </a:lnTo>
                <a:lnTo>
                  <a:pt x="101601" y="609600"/>
                </a:lnTo>
                <a:lnTo>
                  <a:pt x="62053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8"/>
                </a:lnTo>
                <a:lnTo>
                  <a:pt x="0" y="101602"/>
                </a:lnTo>
                <a:close/>
              </a:path>
            </a:pathLst>
          </a:custGeom>
          <a:ln w="25400">
            <a:solidFill>
              <a:srgbClr val="10253F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1582115" y="1803908"/>
            <a:ext cx="14668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rlito"/>
                <a:cs typeface="Carlito"/>
              </a:rPr>
              <a:t>Training</a:t>
            </a:r>
            <a:r>
              <a:rPr sz="2000" spc="-9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Set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488" y="2937967"/>
            <a:ext cx="3143250" cy="586740"/>
          </a:xfrm>
          <a:custGeom>
            <a:avLst/>
            <a:gdLst/>
            <a:ahLst/>
            <a:cxnLst/>
            <a:rect l="l" t="t" r="r" b="b"/>
            <a:pathLst>
              <a:path w="3143250" h="586739">
                <a:moveTo>
                  <a:pt x="0" y="97759"/>
                </a:moveTo>
                <a:lnTo>
                  <a:pt x="7682" y="59707"/>
                </a:lnTo>
                <a:lnTo>
                  <a:pt x="28633" y="28633"/>
                </a:lnTo>
                <a:lnTo>
                  <a:pt x="59707" y="7682"/>
                </a:lnTo>
                <a:lnTo>
                  <a:pt x="97759" y="0"/>
                </a:lnTo>
                <a:lnTo>
                  <a:pt x="3044951" y="0"/>
                </a:lnTo>
                <a:lnTo>
                  <a:pt x="3083003" y="7682"/>
                </a:lnTo>
                <a:lnTo>
                  <a:pt x="3114078" y="28633"/>
                </a:lnTo>
                <a:lnTo>
                  <a:pt x="3135029" y="59707"/>
                </a:lnTo>
                <a:lnTo>
                  <a:pt x="3142711" y="97759"/>
                </a:lnTo>
                <a:lnTo>
                  <a:pt x="3142711" y="488796"/>
                </a:lnTo>
                <a:lnTo>
                  <a:pt x="3135029" y="526848"/>
                </a:lnTo>
                <a:lnTo>
                  <a:pt x="3114078" y="557922"/>
                </a:lnTo>
                <a:lnTo>
                  <a:pt x="3083003" y="578873"/>
                </a:lnTo>
                <a:lnTo>
                  <a:pt x="3044951" y="586556"/>
                </a:lnTo>
                <a:lnTo>
                  <a:pt x="97759" y="586556"/>
                </a:lnTo>
                <a:lnTo>
                  <a:pt x="59707" y="578873"/>
                </a:lnTo>
                <a:lnTo>
                  <a:pt x="28633" y="557922"/>
                </a:lnTo>
                <a:lnTo>
                  <a:pt x="7682" y="526848"/>
                </a:lnTo>
                <a:lnTo>
                  <a:pt x="0" y="488796"/>
                </a:lnTo>
                <a:lnTo>
                  <a:pt x="0" y="97759"/>
                </a:lnTo>
                <a:close/>
              </a:path>
            </a:pathLst>
          </a:custGeom>
          <a:ln w="25400">
            <a:solidFill>
              <a:srgbClr val="10253F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" name="object 6"/>
          <p:cNvSpPr txBox="1"/>
          <p:nvPr/>
        </p:nvSpPr>
        <p:spPr>
          <a:xfrm>
            <a:off x="1120504" y="3010915"/>
            <a:ext cx="2390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Learning</a:t>
            </a:r>
            <a:r>
              <a:rPr sz="2000" spc="-9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Algorithm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33841" y="4157167"/>
            <a:ext cx="762000" cy="586740"/>
          </a:xfrm>
          <a:custGeom>
            <a:avLst/>
            <a:gdLst/>
            <a:ahLst/>
            <a:cxnLst/>
            <a:rect l="l" t="t" r="r" b="b"/>
            <a:pathLst>
              <a:path w="762000" h="586739">
                <a:moveTo>
                  <a:pt x="0" y="97761"/>
                </a:moveTo>
                <a:lnTo>
                  <a:pt x="7682" y="59708"/>
                </a:lnTo>
                <a:lnTo>
                  <a:pt x="28633" y="28633"/>
                </a:lnTo>
                <a:lnTo>
                  <a:pt x="59708" y="7682"/>
                </a:lnTo>
                <a:lnTo>
                  <a:pt x="97761" y="0"/>
                </a:lnTo>
                <a:lnTo>
                  <a:pt x="664238" y="0"/>
                </a:lnTo>
                <a:lnTo>
                  <a:pt x="702292" y="7682"/>
                </a:lnTo>
                <a:lnTo>
                  <a:pt x="733366" y="28633"/>
                </a:lnTo>
                <a:lnTo>
                  <a:pt x="754317" y="59708"/>
                </a:lnTo>
                <a:lnTo>
                  <a:pt x="762000" y="97761"/>
                </a:lnTo>
                <a:lnTo>
                  <a:pt x="762000" y="488794"/>
                </a:lnTo>
                <a:lnTo>
                  <a:pt x="754317" y="526847"/>
                </a:lnTo>
                <a:lnTo>
                  <a:pt x="733366" y="557922"/>
                </a:lnTo>
                <a:lnTo>
                  <a:pt x="702292" y="578873"/>
                </a:lnTo>
                <a:lnTo>
                  <a:pt x="664238" y="586556"/>
                </a:lnTo>
                <a:lnTo>
                  <a:pt x="97761" y="586556"/>
                </a:lnTo>
                <a:lnTo>
                  <a:pt x="59708" y="578873"/>
                </a:lnTo>
                <a:lnTo>
                  <a:pt x="28633" y="557922"/>
                </a:lnTo>
                <a:lnTo>
                  <a:pt x="7682" y="526847"/>
                </a:lnTo>
                <a:lnTo>
                  <a:pt x="0" y="488794"/>
                </a:lnTo>
                <a:lnTo>
                  <a:pt x="0" y="97761"/>
                </a:lnTo>
                <a:close/>
              </a:path>
            </a:pathLst>
          </a:custGeom>
          <a:ln w="25400">
            <a:solidFill>
              <a:srgbClr val="10253F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2223566" y="4230116"/>
            <a:ext cx="1822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Carlito"/>
                <a:cs typeface="Carlito"/>
              </a:rPr>
              <a:t>h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797" y="4135628"/>
            <a:ext cx="8229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rlito"/>
                <a:cs typeface="Carlito"/>
              </a:rPr>
              <a:t>Size</a:t>
            </a:r>
            <a:r>
              <a:rPr sz="2000" spc="-8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of  house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7288" y="4135628"/>
            <a:ext cx="12598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marR="5080" indent="-3079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E</a:t>
            </a:r>
            <a:r>
              <a:rPr sz="2000" spc="-30" dirty="0">
                <a:latin typeface="Carlito"/>
                <a:cs typeface="Carlito"/>
              </a:rPr>
              <a:t>s</a:t>
            </a:r>
            <a:r>
              <a:rPr sz="2000" spc="-5" dirty="0">
                <a:latin typeface="Carlito"/>
                <a:cs typeface="Carlito"/>
              </a:rPr>
              <a:t>t</a:t>
            </a:r>
            <a:r>
              <a:rPr sz="2000" dirty="0">
                <a:latin typeface="Carlito"/>
                <a:cs typeface="Carlito"/>
              </a:rPr>
              <a:t>i</a:t>
            </a:r>
            <a:r>
              <a:rPr sz="2000" spc="-10" dirty="0">
                <a:latin typeface="Carlito"/>
                <a:cs typeface="Carlito"/>
              </a:rPr>
              <a:t>m</a:t>
            </a:r>
            <a:r>
              <a:rPr sz="2000" spc="-25" dirty="0">
                <a:latin typeface="Carlito"/>
                <a:cs typeface="Carlito"/>
              </a:rPr>
              <a:t>a</a:t>
            </a:r>
            <a:r>
              <a:rPr sz="2000" spc="-30" dirty="0">
                <a:latin typeface="Carlito"/>
                <a:cs typeface="Carlito"/>
              </a:rPr>
              <a:t>t</a:t>
            </a:r>
            <a:r>
              <a:rPr sz="2000" dirty="0">
                <a:latin typeface="Carlito"/>
                <a:cs typeface="Carlito"/>
              </a:rPr>
              <a:t>ed  </a:t>
            </a:r>
            <a:r>
              <a:rPr sz="2000" spc="-5" dirty="0">
                <a:latin typeface="Carlito"/>
                <a:cs typeface="Carlito"/>
              </a:rPr>
              <a:t>price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3000" y="2328366"/>
            <a:ext cx="2286000" cy="2265045"/>
          </a:xfrm>
          <a:custGeom>
            <a:avLst/>
            <a:gdLst/>
            <a:ahLst/>
            <a:cxnLst/>
            <a:rect l="l" t="t" r="r" b="b"/>
            <a:pathLst>
              <a:path w="2286000" h="2265045">
                <a:moveTo>
                  <a:pt x="790841" y="2122081"/>
                </a:moveTo>
                <a:lnTo>
                  <a:pt x="733691" y="2093506"/>
                </a:lnTo>
                <a:lnTo>
                  <a:pt x="505079" y="1979206"/>
                </a:lnTo>
                <a:lnTo>
                  <a:pt x="596519" y="2093506"/>
                </a:lnTo>
                <a:lnTo>
                  <a:pt x="0" y="2093506"/>
                </a:lnTo>
                <a:lnTo>
                  <a:pt x="0" y="2150656"/>
                </a:lnTo>
                <a:lnTo>
                  <a:pt x="596519" y="2150656"/>
                </a:lnTo>
                <a:lnTo>
                  <a:pt x="505079" y="2264956"/>
                </a:lnTo>
                <a:lnTo>
                  <a:pt x="733691" y="2150656"/>
                </a:lnTo>
                <a:lnTo>
                  <a:pt x="790841" y="2122081"/>
                </a:lnTo>
                <a:close/>
              </a:path>
              <a:path w="2286000" h="2265045">
                <a:moveTo>
                  <a:pt x="1314716" y="1543050"/>
                </a:moveTo>
                <a:lnTo>
                  <a:pt x="1200416" y="1634490"/>
                </a:lnTo>
                <a:lnTo>
                  <a:pt x="1200416" y="1196149"/>
                </a:lnTo>
                <a:lnTo>
                  <a:pt x="1143266" y="1196149"/>
                </a:lnTo>
                <a:lnTo>
                  <a:pt x="1143266" y="1634490"/>
                </a:lnTo>
                <a:lnTo>
                  <a:pt x="1028966" y="1543050"/>
                </a:lnTo>
                <a:lnTo>
                  <a:pt x="1171841" y="1828800"/>
                </a:lnTo>
                <a:lnTo>
                  <a:pt x="1257566" y="1657350"/>
                </a:lnTo>
                <a:lnTo>
                  <a:pt x="1314716" y="1543050"/>
                </a:lnTo>
                <a:close/>
              </a:path>
              <a:path w="2286000" h="2265045">
                <a:moveTo>
                  <a:pt x="1314716" y="323850"/>
                </a:moveTo>
                <a:lnTo>
                  <a:pt x="1200416" y="415290"/>
                </a:lnTo>
                <a:lnTo>
                  <a:pt x="1200416" y="0"/>
                </a:lnTo>
                <a:lnTo>
                  <a:pt x="1143266" y="0"/>
                </a:lnTo>
                <a:lnTo>
                  <a:pt x="1143266" y="415290"/>
                </a:lnTo>
                <a:lnTo>
                  <a:pt x="1028966" y="323850"/>
                </a:lnTo>
                <a:lnTo>
                  <a:pt x="1171841" y="609600"/>
                </a:lnTo>
                <a:lnTo>
                  <a:pt x="1257566" y="438150"/>
                </a:lnTo>
                <a:lnTo>
                  <a:pt x="1314716" y="323850"/>
                </a:lnTo>
                <a:close/>
              </a:path>
              <a:path w="2286000" h="2265045">
                <a:moveTo>
                  <a:pt x="2286000" y="2122081"/>
                </a:moveTo>
                <a:lnTo>
                  <a:pt x="2228850" y="2093506"/>
                </a:lnTo>
                <a:lnTo>
                  <a:pt x="2000250" y="1979206"/>
                </a:lnTo>
                <a:lnTo>
                  <a:pt x="2091690" y="2093506"/>
                </a:lnTo>
                <a:lnTo>
                  <a:pt x="1552841" y="2093506"/>
                </a:lnTo>
                <a:lnTo>
                  <a:pt x="1552841" y="2150656"/>
                </a:lnTo>
                <a:lnTo>
                  <a:pt x="2091690" y="2150656"/>
                </a:lnTo>
                <a:lnTo>
                  <a:pt x="2000250" y="2264956"/>
                </a:lnTo>
                <a:lnTo>
                  <a:pt x="2228850" y="2150656"/>
                </a:lnTo>
                <a:lnTo>
                  <a:pt x="2286000" y="2122081"/>
                </a:lnTo>
                <a:close/>
              </a:path>
            </a:pathLst>
          </a:custGeom>
          <a:solidFill>
            <a:srgbClr val="10253F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5336540" y="1764284"/>
            <a:ext cx="31800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rlito"/>
                <a:cs typeface="Carlito"/>
              </a:rPr>
              <a:t>How do </a:t>
            </a:r>
            <a:r>
              <a:rPr sz="2000" b="1" spc="-10" dirty="0">
                <a:latin typeface="Carlito"/>
                <a:cs typeface="Carlito"/>
              </a:rPr>
              <a:t>we represent </a:t>
            </a:r>
            <a:r>
              <a:rPr sz="2000" b="1" i="1" dirty="0">
                <a:latin typeface="Carlito"/>
                <a:cs typeface="Carlito"/>
              </a:rPr>
              <a:t>h</a:t>
            </a:r>
            <a:r>
              <a:rPr sz="2000" b="1" i="1" spc="-9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?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4882" y="5207508"/>
            <a:ext cx="36982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rlito"/>
                <a:cs typeface="Carlito"/>
              </a:rPr>
              <a:t>Linear regression </a:t>
            </a:r>
            <a:r>
              <a:rPr dirty="0">
                <a:latin typeface="Carlito"/>
                <a:cs typeface="Carlito"/>
              </a:rPr>
              <a:t>with </a:t>
            </a:r>
            <a:r>
              <a:rPr spc="-5" dirty="0">
                <a:latin typeface="Carlito"/>
                <a:cs typeface="Carlito"/>
              </a:rPr>
              <a:t>one variable.  </a:t>
            </a:r>
            <a:r>
              <a:rPr spc="-10" dirty="0">
                <a:latin typeface="Carlito"/>
                <a:cs typeface="Carlito"/>
              </a:rPr>
              <a:t>Univariate </a:t>
            </a:r>
            <a:r>
              <a:rPr spc="-5" dirty="0">
                <a:latin typeface="Carlito"/>
                <a:cs typeface="Carlito"/>
              </a:rPr>
              <a:t>linear</a:t>
            </a:r>
            <a:r>
              <a:rPr spc="1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regression.</a:t>
            </a:r>
            <a:endParaRPr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50907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1F2022"/>
                </a:solidFill>
              </a:rPr>
              <a:t>Model</a:t>
            </a:r>
            <a:r>
              <a:rPr sz="3600" spc="-10" dirty="0">
                <a:solidFill>
                  <a:srgbClr val="1F2022"/>
                </a:solidFill>
              </a:rPr>
              <a:t> </a:t>
            </a:r>
            <a:r>
              <a:rPr sz="3600" spc="-25" dirty="0">
                <a:solidFill>
                  <a:srgbClr val="1F2022"/>
                </a:solidFill>
              </a:rPr>
              <a:t>Representation</a:t>
            </a:r>
          </a:p>
        </p:txBody>
      </p:sp>
      <p:sp>
        <p:nvSpPr>
          <p:cNvPr id="15" name="object 15"/>
          <p:cNvSpPr/>
          <p:nvPr/>
        </p:nvSpPr>
        <p:spPr>
          <a:xfrm>
            <a:off x="5206263" y="2501883"/>
            <a:ext cx="3377082" cy="46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6" name="object 16"/>
          <p:cNvSpPr txBox="1"/>
          <p:nvPr/>
        </p:nvSpPr>
        <p:spPr>
          <a:xfrm>
            <a:off x="1508531" y="5327396"/>
            <a:ext cx="175387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h </a:t>
            </a:r>
            <a:r>
              <a:rPr sz="1600" spc="-5" dirty="0">
                <a:latin typeface="Carlito"/>
                <a:cs typeface="Carlito"/>
              </a:rPr>
              <a:t>maps </a:t>
            </a:r>
            <a:r>
              <a:rPr sz="1600" spc="-10" dirty="0">
                <a:latin typeface="Carlito"/>
                <a:cs typeface="Carlito"/>
              </a:rPr>
              <a:t>from </a:t>
            </a:r>
            <a:r>
              <a:rPr sz="1600" dirty="0">
                <a:latin typeface="Carlito"/>
                <a:cs typeface="Carlito"/>
              </a:rPr>
              <a:t>x </a:t>
            </a:r>
            <a:r>
              <a:rPr sz="1600" spc="-15" dirty="0">
                <a:latin typeface="Carlito"/>
                <a:cs typeface="Carlito"/>
              </a:rPr>
              <a:t>to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y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17946" y="4283151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202" y="0"/>
                </a:moveTo>
                <a:lnTo>
                  <a:pt x="5537" y="0"/>
                </a:lnTo>
                <a:lnTo>
                  <a:pt x="0" y="5537"/>
                </a:lnTo>
                <a:lnTo>
                  <a:pt x="0" y="19202"/>
                </a:lnTo>
                <a:lnTo>
                  <a:pt x="5537" y="24739"/>
                </a:lnTo>
                <a:lnTo>
                  <a:pt x="19202" y="24739"/>
                </a:lnTo>
                <a:lnTo>
                  <a:pt x="24752" y="19202"/>
                </a:lnTo>
                <a:lnTo>
                  <a:pt x="24752" y="55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3" name="object 3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78300" y="2998723"/>
            <a:ext cx="34582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70" dirty="0">
                <a:solidFill>
                  <a:srgbClr val="404040"/>
                </a:solidFill>
                <a:latin typeface="Arial"/>
                <a:cs typeface="Arial"/>
              </a:rPr>
              <a:t>Cost</a:t>
            </a:r>
            <a:r>
              <a:rPr sz="48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4800" spc="-330" dirty="0">
                <a:solidFill>
                  <a:srgbClr val="404040"/>
                </a:solidFill>
                <a:latin typeface="Arial"/>
                <a:cs typeface="Arial"/>
              </a:rPr>
              <a:t>function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3618" y="18994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916939" y="5303011"/>
            <a:ext cx="22396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5034" y="1516380"/>
            <a:ext cx="7313930" cy="124008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sz="4000" dirty="0"/>
              <a:t>Linear </a:t>
            </a:r>
            <a:r>
              <a:rPr sz="4000" spc="-15" dirty="0"/>
              <a:t>regression  </a:t>
            </a:r>
            <a:r>
              <a:rPr sz="4000" dirty="0"/>
              <a:t>with one</a:t>
            </a:r>
            <a:r>
              <a:rPr sz="4000" spc="-95" dirty="0"/>
              <a:t> </a:t>
            </a:r>
            <a:r>
              <a:rPr sz="4000" spc="-10" dirty="0"/>
              <a:t>variable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449" y="1724659"/>
            <a:ext cx="21837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latin typeface="Carlito"/>
                <a:cs typeface="Carlito"/>
              </a:rPr>
              <a:t>Training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Set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5117" y="4495796"/>
            <a:ext cx="3377082" cy="46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1177291" y="5083114"/>
            <a:ext cx="315615" cy="403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533400" y="4359757"/>
            <a:ext cx="4091304" cy="1651927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800" spc="-5" dirty="0">
                <a:latin typeface="Carlito"/>
                <a:cs typeface="Carlito"/>
              </a:rPr>
              <a:t>Hypothesis:</a:t>
            </a:r>
            <a:endParaRPr sz="2800" dirty="0">
              <a:latin typeface="Carlito"/>
              <a:cs typeface="Carlito"/>
            </a:endParaRPr>
          </a:p>
          <a:p>
            <a:pPr marL="622300" marR="5080" indent="363220">
              <a:lnSpc>
                <a:spcPct val="126200"/>
              </a:lnSpc>
              <a:spcBef>
                <a:spcPts val="170"/>
              </a:spcBef>
              <a:tabLst>
                <a:tab pos="1899920" algn="l"/>
                <a:tab pos="3545840" algn="l"/>
              </a:tabLst>
            </a:pPr>
            <a:r>
              <a:rPr sz="2800" spc="-25" dirty="0">
                <a:latin typeface="Carlito"/>
                <a:cs typeface="Carlito"/>
              </a:rPr>
              <a:t>‘s:	</a:t>
            </a:r>
            <a:r>
              <a:rPr sz="2800" spc="-30" dirty="0">
                <a:latin typeface="Carlito"/>
                <a:cs typeface="Carlito"/>
              </a:rPr>
              <a:t>Parameters  </a:t>
            </a:r>
            <a:r>
              <a:rPr sz="2800" spc="-5" dirty="0">
                <a:latin typeface="Carlito"/>
                <a:cs typeface="Carlito"/>
              </a:rPr>
              <a:t>How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to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choose	</a:t>
            </a:r>
            <a:r>
              <a:rPr sz="2800" spc="-40" dirty="0">
                <a:latin typeface="Carlito"/>
                <a:cs typeface="Carlito"/>
              </a:rPr>
              <a:t>‘s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?</a:t>
            </a:r>
          </a:p>
        </p:txBody>
      </p:sp>
      <p:sp>
        <p:nvSpPr>
          <p:cNvPr id="6" name="object 6"/>
          <p:cNvSpPr/>
          <p:nvPr/>
        </p:nvSpPr>
        <p:spPr>
          <a:xfrm>
            <a:off x="3787140" y="5638800"/>
            <a:ext cx="315615" cy="403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27710"/>
              </p:ext>
            </p:extLst>
          </p:nvPr>
        </p:nvGraphicFramePr>
        <p:xfrm>
          <a:off x="3276600" y="1676400"/>
          <a:ext cx="5334635" cy="233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spc="-5" dirty="0">
                          <a:latin typeface="Carlito"/>
                          <a:cs typeface="Carlito"/>
                        </a:rPr>
                        <a:t>Size in </a:t>
                      </a:r>
                      <a:r>
                        <a:rPr sz="2400" b="1" dirty="0">
                          <a:latin typeface="Carlito"/>
                          <a:cs typeface="Carlito"/>
                        </a:rPr>
                        <a:t>feet</a:t>
                      </a:r>
                      <a:r>
                        <a:rPr sz="2400" b="1" baseline="20833" dirty="0">
                          <a:latin typeface="Carlito"/>
                          <a:cs typeface="Carlito"/>
                        </a:rPr>
                        <a:t>2</a:t>
                      </a:r>
                      <a:r>
                        <a:rPr sz="2400" b="1" spc="209" baseline="20833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(</a:t>
                      </a:r>
                      <a:r>
                        <a:rPr sz="2400" spc="-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)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spc="-5" dirty="0">
                          <a:latin typeface="Carlito"/>
                          <a:cs typeface="Carlito"/>
                        </a:rPr>
                        <a:t>Price ($) </a:t>
                      </a:r>
                      <a:r>
                        <a:rPr sz="2400" b="1" dirty="0">
                          <a:latin typeface="Carlito"/>
                          <a:cs typeface="Carlito"/>
                        </a:rPr>
                        <a:t>in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1000's</a:t>
                      </a:r>
                      <a:r>
                        <a:rPr sz="2400" b="1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(</a:t>
                      </a:r>
                      <a:r>
                        <a:rPr sz="2400" spc="-5" dirty="0">
                          <a:latin typeface="Carlito"/>
                          <a:cs typeface="Carlito"/>
                        </a:rPr>
                        <a:t>y</a:t>
                      </a:r>
                      <a:r>
                        <a:rPr sz="2400" b="1" spc="-5" dirty="0">
                          <a:latin typeface="Carlito"/>
                          <a:cs typeface="Carlito"/>
                        </a:rPr>
                        <a:t>)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76"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2104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460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1416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232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1534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315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852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5"/>
                        </a:lnSpc>
                      </a:pPr>
                      <a:r>
                        <a:rPr sz="2400" spc="-5" dirty="0">
                          <a:latin typeface="Carlito"/>
                          <a:cs typeface="Carlito"/>
                        </a:rPr>
                        <a:t>178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963"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dirty="0">
                          <a:latin typeface="Carlito"/>
                          <a:cs typeface="Carlito"/>
                        </a:rPr>
                        <a:t>…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5"/>
                        </a:lnSpc>
                      </a:pPr>
                      <a:r>
                        <a:rPr sz="2400" dirty="0">
                          <a:latin typeface="Carlito"/>
                          <a:cs typeface="Carlito"/>
                        </a:rPr>
                        <a:t>…</a:t>
                      </a:r>
                      <a:endParaRPr sz="2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799831"/>
            <a:ext cx="2201418" cy="306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grpSp>
        <p:nvGrpSpPr>
          <p:cNvPr id="3" name="object 3"/>
          <p:cNvGrpSpPr/>
          <p:nvPr/>
        </p:nvGrpSpPr>
        <p:grpSpPr>
          <a:xfrm>
            <a:off x="581573" y="2542971"/>
            <a:ext cx="2281555" cy="1727835"/>
            <a:chOff x="581573" y="2542971"/>
            <a:chExt cx="2281555" cy="1727835"/>
          </a:xfrm>
        </p:grpSpPr>
        <p:sp>
          <p:nvSpPr>
            <p:cNvPr id="4" name="object 4"/>
            <p:cNvSpPr/>
            <p:nvPr/>
          </p:nvSpPr>
          <p:spPr>
            <a:xfrm>
              <a:off x="662175" y="2562006"/>
              <a:ext cx="0" cy="1628139"/>
            </a:xfrm>
            <a:custGeom>
              <a:avLst/>
              <a:gdLst/>
              <a:ahLst/>
              <a:cxnLst/>
              <a:rect l="l" t="t" r="r" b="b"/>
              <a:pathLst>
                <a:path h="1628139">
                  <a:moveTo>
                    <a:pt x="0" y="1628040"/>
                  </a:moveTo>
                  <a:lnTo>
                    <a:pt x="1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581573" y="2562021"/>
              <a:ext cx="161290" cy="1628139"/>
            </a:xfrm>
            <a:custGeom>
              <a:avLst/>
              <a:gdLst/>
              <a:ahLst/>
              <a:cxnLst/>
              <a:rect l="l" t="t" r="r" b="b"/>
              <a:pathLst>
                <a:path w="161290" h="1628139">
                  <a:moveTo>
                    <a:pt x="0" y="1628040"/>
                  </a:moveTo>
                  <a:lnTo>
                    <a:pt x="161204" y="1628040"/>
                  </a:lnTo>
                </a:path>
                <a:path w="161290" h="1628139">
                  <a:moveTo>
                    <a:pt x="0" y="1086440"/>
                  </a:moveTo>
                  <a:lnTo>
                    <a:pt x="161204" y="1086440"/>
                  </a:lnTo>
                </a:path>
                <a:path w="161290" h="1628139">
                  <a:moveTo>
                    <a:pt x="0" y="543896"/>
                  </a:moveTo>
                  <a:lnTo>
                    <a:pt x="161204" y="543896"/>
                  </a:lnTo>
                </a:path>
                <a:path w="161290" h="1628139">
                  <a:moveTo>
                    <a:pt x="0" y="0"/>
                  </a:moveTo>
                  <a:lnTo>
                    <a:pt x="161204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5" y="4190047"/>
              <a:ext cx="2181860" cy="0"/>
            </a:xfrm>
            <a:custGeom>
              <a:avLst/>
              <a:gdLst/>
              <a:ahLst/>
              <a:cxnLst/>
              <a:rect l="l" t="t" r="r" b="b"/>
              <a:pathLst>
                <a:path w="2181860">
                  <a:moveTo>
                    <a:pt x="0" y="0"/>
                  </a:moveTo>
                  <a:lnTo>
                    <a:pt x="2181771" y="1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5" y="4109453"/>
              <a:ext cx="2181860" cy="161290"/>
            </a:xfrm>
            <a:custGeom>
              <a:avLst/>
              <a:gdLst/>
              <a:ahLst/>
              <a:cxnLst/>
              <a:rect l="l" t="t" r="r" b="b"/>
              <a:pathLst>
                <a:path w="2181860" h="161289">
                  <a:moveTo>
                    <a:pt x="0" y="0"/>
                  </a:moveTo>
                  <a:lnTo>
                    <a:pt x="0" y="161204"/>
                  </a:lnTo>
                </a:path>
                <a:path w="2181860" h="161289">
                  <a:moveTo>
                    <a:pt x="727712" y="0"/>
                  </a:moveTo>
                  <a:lnTo>
                    <a:pt x="727712" y="161204"/>
                  </a:lnTo>
                </a:path>
                <a:path w="2181860" h="161289">
                  <a:moveTo>
                    <a:pt x="1453140" y="0"/>
                  </a:moveTo>
                  <a:lnTo>
                    <a:pt x="1453140" y="161204"/>
                  </a:lnTo>
                </a:path>
                <a:path w="2181860" h="161289">
                  <a:moveTo>
                    <a:pt x="2181771" y="0"/>
                  </a:moveTo>
                  <a:lnTo>
                    <a:pt x="2181771" y="161204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5155" y="2360676"/>
            <a:ext cx="154305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119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2379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9632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6885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95400" y="4832591"/>
            <a:ext cx="1044701" cy="626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4" name="object 14"/>
          <p:cNvSpPr/>
          <p:nvPr/>
        </p:nvSpPr>
        <p:spPr>
          <a:xfrm>
            <a:off x="4267200" y="4832591"/>
            <a:ext cx="1044701" cy="626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5" name="object 15"/>
          <p:cNvSpPr/>
          <p:nvPr/>
        </p:nvSpPr>
        <p:spPr>
          <a:xfrm>
            <a:off x="7162800" y="4832591"/>
            <a:ext cx="1044701" cy="626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grpSp>
        <p:nvGrpSpPr>
          <p:cNvPr id="16" name="object 16"/>
          <p:cNvGrpSpPr/>
          <p:nvPr/>
        </p:nvGrpSpPr>
        <p:grpSpPr>
          <a:xfrm>
            <a:off x="3608323" y="2542971"/>
            <a:ext cx="2281555" cy="1727835"/>
            <a:chOff x="3608323" y="2542971"/>
            <a:chExt cx="2281555" cy="1727835"/>
          </a:xfrm>
        </p:grpSpPr>
        <p:sp>
          <p:nvSpPr>
            <p:cNvPr id="17" name="object 17"/>
            <p:cNvSpPr/>
            <p:nvPr/>
          </p:nvSpPr>
          <p:spPr>
            <a:xfrm>
              <a:off x="3688918" y="2562006"/>
              <a:ext cx="0" cy="1628139"/>
            </a:xfrm>
            <a:custGeom>
              <a:avLst/>
              <a:gdLst/>
              <a:ahLst/>
              <a:cxnLst/>
              <a:rect l="l" t="t" r="r" b="b"/>
              <a:pathLst>
                <a:path h="1628139">
                  <a:moveTo>
                    <a:pt x="0" y="1628040"/>
                  </a:moveTo>
                  <a:lnTo>
                    <a:pt x="1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8323" y="2562021"/>
              <a:ext cx="161290" cy="1628139"/>
            </a:xfrm>
            <a:custGeom>
              <a:avLst/>
              <a:gdLst/>
              <a:ahLst/>
              <a:cxnLst/>
              <a:rect l="l" t="t" r="r" b="b"/>
              <a:pathLst>
                <a:path w="161289" h="1628139">
                  <a:moveTo>
                    <a:pt x="0" y="1628040"/>
                  </a:moveTo>
                  <a:lnTo>
                    <a:pt x="161204" y="1628040"/>
                  </a:lnTo>
                </a:path>
                <a:path w="161289" h="1628139">
                  <a:moveTo>
                    <a:pt x="0" y="1086440"/>
                  </a:moveTo>
                  <a:lnTo>
                    <a:pt x="161204" y="1086440"/>
                  </a:lnTo>
                </a:path>
                <a:path w="161289" h="1628139">
                  <a:moveTo>
                    <a:pt x="0" y="543896"/>
                  </a:moveTo>
                  <a:lnTo>
                    <a:pt x="161204" y="543896"/>
                  </a:lnTo>
                </a:path>
                <a:path w="161289" h="1628139">
                  <a:moveTo>
                    <a:pt x="0" y="0"/>
                  </a:moveTo>
                  <a:lnTo>
                    <a:pt x="161204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88918" y="4190047"/>
              <a:ext cx="2181860" cy="0"/>
            </a:xfrm>
            <a:custGeom>
              <a:avLst/>
              <a:gdLst/>
              <a:ahLst/>
              <a:cxnLst/>
              <a:rect l="l" t="t" r="r" b="b"/>
              <a:pathLst>
                <a:path w="2181860">
                  <a:moveTo>
                    <a:pt x="0" y="0"/>
                  </a:moveTo>
                  <a:lnTo>
                    <a:pt x="2181771" y="1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688918" y="4109453"/>
              <a:ext cx="2181860" cy="161290"/>
            </a:xfrm>
            <a:custGeom>
              <a:avLst/>
              <a:gdLst/>
              <a:ahLst/>
              <a:cxnLst/>
              <a:rect l="l" t="t" r="r" b="b"/>
              <a:pathLst>
                <a:path w="2181860" h="161289">
                  <a:moveTo>
                    <a:pt x="0" y="0"/>
                  </a:moveTo>
                  <a:lnTo>
                    <a:pt x="0" y="161204"/>
                  </a:lnTo>
                </a:path>
                <a:path w="2181860" h="161289">
                  <a:moveTo>
                    <a:pt x="727627" y="0"/>
                  </a:moveTo>
                  <a:lnTo>
                    <a:pt x="727627" y="161204"/>
                  </a:lnTo>
                </a:path>
                <a:path w="2181860" h="161289">
                  <a:moveTo>
                    <a:pt x="1453050" y="0"/>
                  </a:moveTo>
                  <a:lnTo>
                    <a:pt x="1453050" y="161204"/>
                  </a:lnTo>
                </a:path>
                <a:path w="2181860" h="161289">
                  <a:moveTo>
                    <a:pt x="2181771" y="0"/>
                  </a:moveTo>
                  <a:lnTo>
                    <a:pt x="2181771" y="161204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11905" y="2360676"/>
            <a:ext cx="154305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1867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39120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6372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93638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35077" y="2542971"/>
            <a:ext cx="2281555" cy="1727835"/>
            <a:chOff x="6635077" y="2542971"/>
            <a:chExt cx="2281555" cy="1727835"/>
          </a:xfrm>
        </p:grpSpPr>
        <p:sp>
          <p:nvSpPr>
            <p:cNvPr id="27" name="object 27"/>
            <p:cNvSpPr/>
            <p:nvPr/>
          </p:nvSpPr>
          <p:spPr>
            <a:xfrm>
              <a:off x="6715671" y="2562006"/>
              <a:ext cx="0" cy="1628139"/>
            </a:xfrm>
            <a:custGeom>
              <a:avLst/>
              <a:gdLst/>
              <a:ahLst/>
              <a:cxnLst/>
              <a:rect l="l" t="t" r="r" b="b"/>
              <a:pathLst>
                <a:path h="1628139">
                  <a:moveTo>
                    <a:pt x="0" y="1628040"/>
                  </a:moveTo>
                  <a:lnTo>
                    <a:pt x="1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6635077" y="2562021"/>
              <a:ext cx="161290" cy="1628139"/>
            </a:xfrm>
            <a:custGeom>
              <a:avLst/>
              <a:gdLst/>
              <a:ahLst/>
              <a:cxnLst/>
              <a:rect l="l" t="t" r="r" b="b"/>
              <a:pathLst>
                <a:path w="161290" h="1628139">
                  <a:moveTo>
                    <a:pt x="0" y="1628040"/>
                  </a:moveTo>
                  <a:lnTo>
                    <a:pt x="161204" y="1628040"/>
                  </a:lnTo>
                </a:path>
                <a:path w="161290" h="1628139">
                  <a:moveTo>
                    <a:pt x="0" y="1086440"/>
                  </a:moveTo>
                  <a:lnTo>
                    <a:pt x="161204" y="1086440"/>
                  </a:lnTo>
                </a:path>
                <a:path w="161290" h="1628139">
                  <a:moveTo>
                    <a:pt x="0" y="543896"/>
                  </a:moveTo>
                  <a:lnTo>
                    <a:pt x="161204" y="543896"/>
                  </a:lnTo>
                </a:path>
                <a:path w="161290" h="1628139">
                  <a:moveTo>
                    <a:pt x="0" y="0"/>
                  </a:moveTo>
                  <a:lnTo>
                    <a:pt x="161204" y="0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715671" y="4190047"/>
              <a:ext cx="2181860" cy="0"/>
            </a:xfrm>
            <a:custGeom>
              <a:avLst/>
              <a:gdLst/>
              <a:ahLst/>
              <a:cxnLst/>
              <a:rect l="l" t="t" r="r" b="b"/>
              <a:pathLst>
                <a:path w="2181859">
                  <a:moveTo>
                    <a:pt x="0" y="0"/>
                  </a:moveTo>
                  <a:lnTo>
                    <a:pt x="2181771" y="1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715671" y="4109453"/>
              <a:ext cx="2181860" cy="161290"/>
            </a:xfrm>
            <a:custGeom>
              <a:avLst/>
              <a:gdLst/>
              <a:ahLst/>
              <a:cxnLst/>
              <a:rect l="l" t="t" r="r" b="b"/>
              <a:pathLst>
                <a:path w="2181859" h="161289">
                  <a:moveTo>
                    <a:pt x="0" y="0"/>
                  </a:moveTo>
                  <a:lnTo>
                    <a:pt x="0" y="161204"/>
                  </a:lnTo>
                </a:path>
                <a:path w="2181859" h="161289">
                  <a:moveTo>
                    <a:pt x="727542" y="0"/>
                  </a:moveTo>
                  <a:lnTo>
                    <a:pt x="727542" y="161204"/>
                  </a:lnTo>
                </a:path>
                <a:path w="2181859" h="161289">
                  <a:moveTo>
                    <a:pt x="1456010" y="0"/>
                  </a:moveTo>
                  <a:lnTo>
                    <a:pt x="1456010" y="161204"/>
                  </a:lnTo>
                </a:path>
                <a:path w="2181859" h="161289">
                  <a:moveTo>
                    <a:pt x="2181771" y="0"/>
                  </a:moveTo>
                  <a:lnTo>
                    <a:pt x="2181771" y="161204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338658" y="2360676"/>
            <a:ext cx="154305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38620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0</a:t>
            </a:r>
            <a:endParaRPr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65872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1</a:t>
            </a:r>
            <a:endParaRPr>
              <a:latin typeface="Carlito"/>
              <a:cs typeface="Carli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93126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2</a:t>
            </a:r>
            <a:endParaRPr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20378" y="4326635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3</a:t>
            </a:r>
            <a:endParaRPr>
              <a:latin typeface="Carlito"/>
              <a:cs typeface="Carlito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525" y="2089153"/>
            <a:ext cx="2972435" cy="2134235"/>
            <a:chOff x="630066" y="1914804"/>
            <a:chExt cx="2972435" cy="2134235"/>
          </a:xfrm>
        </p:grpSpPr>
        <p:sp>
          <p:nvSpPr>
            <p:cNvPr id="3" name="object 3"/>
            <p:cNvSpPr/>
            <p:nvPr/>
          </p:nvSpPr>
          <p:spPr>
            <a:xfrm>
              <a:off x="630059" y="1914804"/>
              <a:ext cx="2972435" cy="2134235"/>
            </a:xfrm>
            <a:custGeom>
              <a:avLst/>
              <a:gdLst/>
              <a:ahLst/>
              <a:cxnLst/>
              <a:rect l="l" t="t" r="r" b="b"/>
              <a:pathLst>
                <a:path w="2972435" h="2134235">
                  <a:moveTo>
                    <a:pt x="2912326" y="1905050"/>
                  </a:moveTo>
                  <a:lnTo>
                    <a:pt x="2889453" y="1885988"/>
                  </a:lnTo>
                  <a:lnTo>
                    <a:pt x="247650" y="1885988"/>
                  </a:lnTo>
                  <a:lnTo>
                    <a:pt x="247650" y="82384"/>
                  </a:lnTo>
                  <a:lnTo>
                    <a:pt x="309219" y="156260"/>
                  </a:lnTo>
                  <a:lnTo>
                    <a:pt x="315112" y="160997"/>
                  </a:lnTo>
                  <a:lnTo>
                    <a:pt x="322122" y="163042"/>
                  </a:lnTo>
                  <a:lnTo>
                    <a:pt x="329387" y="162306"/>
                  </a:lnTo>
                  <a:lnTo>
                    <a:pt x="336042" y="158699"/>
                  </a:lnTo>
                  <a:lnTo>
                    <a:pt x="340779" y="152806"/>
                  </a:lnTo>
                  <a:lnTo>
                    <a:pt x="342823" y="145783"/>
                  </a:lnTo>
                  <a:lnTo>
                    <a:pt x="342087" y="138518"/>
                  </a:lnTo>
                  <a:lnTo>
                    <a:pt x="338480" y="131864"/>
                  </a:lnTo>
                  <a:lnTo>
                    <a:pt x="253403" y="29756"/>
                  </a:lnTo>
                  <a:lnTo>
                    <a:pt x="228600" y="0"/>
                  </a:lnTo>
                  <a:lnTo>
                    <a:pt x="118719" y="131864"/>
                  </a:lnTo>
                  <a:lnTo>
                    <a:pt x="115125" y="138518"/>
                  </a:lnTo>
                  <a:lnTo>
                    <a:pt x="114376" y="145783"/>
                  </a:lnTo>
                  <a:lnTo>
                    <a:pt x="116420" y="152806"/>
                  </a:lnTo>
                  <a:lnTo>
                    <a:pt x="121158" y="158699"/>
                  </a:lnTo>
                  <a:lnTo>
                    <a:pt x="127812" y="162306"/>
                  </a:lnTo>
                  <a:lnTo>
                    <a:pt x="135077" y="163042"/>
                  </a:lnTo>
                  <a:lnTo>
                    <a:pt x="142087" y="160997"/>
                  </a:lnTo>
                  <a:lnTo>
                    <a:pt x="147980" y="156260"/>
                  </a:lnTo>
                  <a:lnTo>
                    <a:pt x="209550" y="82384"/>
                  </a:lnTo>
                  <a:lnTo>
                    <a:pt x="209550" y="1885988"/>
                  </a:lnTo>
                  <a:lnTo>
                    <a:pt x="0" y="1885988"/>
                  </a:lnTo>
                  <a:lnTo>
                    <a:pt x="0" y="1924088"/>
                  </a:lnTo>
                  <a:lnTo>
                    <a:pt x="209550" y="1924088"/>
                  </a:lnTo>
                  <a:lnTo>
                    <a:pt x="209550" y="2133638"/>
                  </a:lnTo>
                  <a:lnTo>
                    <a:pt x="247650" y="2133638"/>
                  </a:lnTo>
                  <a:lnTo>
                    <a:pt x="247650" y="1924088"/>
                  </a:lnTo>
                  <a:lnTo>
                    <a:pt x="2889466" y="1924088"/>
                  </a:lnTo>
                  <a:lnTo>
                    <a:pt x="2912326" y="1905050"/>
                  </a:lnTo>
                  <a:close/>
                </a:path>
                <a:path w="2972435" h="2134235">
                  <a:moveTo>
                    <a:pt x="2971850" y="1905038"/>
                  </a:moveTo>
                  <a:lnTo>
                    <a:pt x="2948978" y="1885988"/>
                  </a:lnTo>
                  <a:lnTo>
                    <a:pt x="2839986" y="1795157"/>
                  </a:lnTo>
                  <a:lnTo>
                    <a:pt x="2833319" y="1791563"/>
                  </a:lnTo>
                  <a:lnTo>
                    <a:pt x="2808808" y="1811515"/>
                  </a:lnTo>
                  <a:lnTo>
                    <a:pt x="2810853" y="1818538"/>
                  </a:lnTo>
                  <a:lnTo>
                    <a:pt x="2815590" y="1824431"/>
                  </a:lnTo>
                  <a:lnTo>
                    <a:pt x="2889453" y="1885988"/>
                  </a:lnTo>
                  <a:lnTo>
                    <a:pt x="2912326" y="1905038"/>
                  </a:lnTo>
                  <a:lnTo>
                    <a:pt x="2929890" y="1890407"/>
                  </a:lnTo>
                  <a:lnTo>
                    <a:pt x="2912326" y="1905050"/>
                  </a:lnTo>
                  <a:lnTo>
                    <a:pt x="2815590" y="1985657"/>
                  </a:lnTo>
                  <a:lnTo>
                    <a:pt x="2810853" y="1991563"/>
                  </a:lnTo>
                  <a:lnTo>
                    <a:pt x="2808808" y="1998573"/>
                  </a:lnTo>
                  <a:lnTo>
                    <a:pt x="2809544" y="2005838"/>
                  </a:lnTo>
                  <a:lnTo>
                    <a:pt x="2813151" y="2012492"/>
                  </a:lnTo>
                  <a:lnTo>
                    <a:pt x="2819044" y="2017229"/>
                  </a:lnTo>
                  <a:lnTo>
                    <a:pt x="2826054" y="2019274"/>
                  </a:lnTo>
                  <a:lnTo>
                    <a:pt x="2833319" y="2018538"/>
                  </a:lnTo>
                  <a:lnTo>
                    <a:pt x="2839986" y="2014931"/>
                  </a:lnTo>
                  <a:lnTo>
                    <a:pt x="2948990" y="1924088"/>
                  </a:lnTo>
                  <a:lnTo>
                    <a:pt x="2971850" y="1905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11067" y="343884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1011066" y="343884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/>
            <p:nvPr/>
          </p:nvSpPr>
          <p:spPr>
            <a:xfrm>
              <a:off x="1468272" y="3381071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7"/>
            <p:cNvSpPr/>
            <p:nvPr/>
          </p:nvSpPr>
          <p:spPr>
            <a:xfrm>
              <a:off x="1468273" y="3381071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8"/>
            <p:cNvSpPr/>
            <p:nvPr/>
          </p:nvSpPr>
          <p:spPr>
            <a:xfrm>
              <a:off x="1565643" y="306391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9" name="object 9"/>
            <p:cNvSpPr/>
            <p:nvPr/>
          </p:nvSpPr>
          <p:spPr>
            <a:xfrm>
              <a:off x="1565644" y="306391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092858" y="298164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092846" y="2981643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458872" y="2763800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8860" y="2763800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7472" y="2465299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0" y="135343"/>
                  </a:moveTo>
                  <a:lnTo>
                    <a:pt x="135343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7460" y="2465299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135343" y="13534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xfrm>
            <a:off x="228600" y="2782928"/>
            <a:ext cx="8681717" cy="2703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00"/>
                </a:solidFill>
                <a:latin typeface="Carlito"/>
                <a:cs typeface="Carlito"/>
              </a:rPr>
              <a:t>y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800">
              <a:latin typeface="Carlito"/>
              <a:cs typeface="Carlito"/>
            </a:endParaRPr>
          </a:p>
          <a:p>
            <a:pPr marR="701675" algn="ctr">
              <a:lnSpc>
                <a:spcPct val="100000"/>
              </a:lnSpc>
              <a:spcBef>
                <a:spcPts val="2580"/>
              </a:spcBef>
            </a:pPr>
            <a:r>
              <a:rPr sz="2000" dirty="0">
                <a:solidFill>
                  <a:srgbClr val="000000"/>
                </a:solidFill>
                <a:latin typeface="Carlito"/>
                <a:cs typeface="Carlito"/>
              </a:rPr>
              <a:t>x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tabLst>
                <a:tab pos="2931795" algn="l"/>
              </a:tabLst>
            </a:pPr>
            <a:r>
              <a:rPr sz="2400" spc="-5" dirty="0">
                <a:solidFill>
                  <a:srgbClr val="000000"/>
                </a:solidFill>
                <a:latin typeface="Carlito"/>
                <a:cs typeface="Carlito"/>
              </a:rPr>
              <a:t>Idea:</a:t>
            </a:r>
            <a:r>
              <a:rPr sz="2400" spc="1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rlito"/>
                <a:cs typeface="Carlito"/>
              </a:rPr>
              <a:t>Choose	</a:t>
            </a:r>
            <a:r>
              <a:rPr sz="2400" dirty="0">
                <a:solidFill>
                  <a:srgbClr val="000000"/>
                </a:solidFill>
                <a:latin typeface="Carlito"/>
                <a:cs typeface="Carlito"/>
              </a:rPr>
              <a:t>so</a:t>
            </a:r>
            <a:r>
              <a:rPr sz="2400" spc="-10" dirty="0">
                <a:solidFill>
                  <a:srgbClr val="000000"/>
                </a:solidFill>
                <a:latin typeface="Carlito"/>
                <a:cs typeface="Carlito"/>
              </a:rPr>
              <a:t> that</a:t>
            </a:r>
            <a:endParaRPr sz="2400">
              <a:latin typeface="Carlito"/>
              <a:cs typeface="Carlito"/>
            </a:endParaRPr>
          </a:p>
          <a:p>
            <a:pPr marL="815975" marR="5080" indent="920750">
              <a:lnSpc>
                <a:spcPts val="3290"/>
              </a:lnSpc>
              <a:spcBef>
                <a:spcPts val="215"/>
              </a:spcBef>
              <a:tabLst>
                <a:tab pos="3561079" algn="l"/>
              </a:tabLst>
            </a:pPr>
            <a:r>
              <a:rPr sz="2400" spc="-5" dirty="0">
                <a:solidFill>
                  <a:srgbClr val="000000"/>
                </a:solidFill>
                <a:latin typeface="Carlito"/>
                <a:cs typeface="Carlito"/>
              </a:rPr>
              <a:t>is</a:t>
            </a:r>
            <a:r>
              <a:rPr sz="2400" spc="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rlito"/>
                <a:cs typeface="Carlito"/>
              </a:rPr>
              <a:t>close</a:t>
            </a:r>
            <a:r>
              <a:rPr sz="240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rlito"/>
                <a:cs typeface="Carlito"/>
              </a:rPr>
              <a:t>to	</a:t>
            </a:r>
            <a:r>
              <a:rPr sz="2400" spc="-25" dirty="0">
                <a:solidFill>
                  <a:srgbClr val="000000"/>
                </a:solidFill>
                <a:latin typeface="Carlito"/>
                <a:cs typeface="Carlito"/>
              </a:rPr>
              <a:t>for</a:t>
            </a:r>
            <a:r>
              <a:rPr sz="2400" spc="-8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rlito"/>
                <a:cs typeface="Carlito"/>
              </a:rPr>
              <a:t>our  </a:t>
            </a:r>
            <a:r>
              <a:rPr sz="2400" spc="-10" dirty="0">
                <a:solidFill>
                  <a:srgbClr val="000000"/>
                </a:solidFill>
                <a:latin typeface="Carlito"/>
                <a:cs typeface="Carlito"/>
              </a:rPr>
              <a:t>training</a:t>
            </a:r>
            <a:r>
              <a:rPr sz="2400" spc="-15" dirty="0">
                <a:solidFill>
                  <a:srgbClr val="000000"/>
                </a:solidFill>
                <a:latin typeface="Carlito"/>
                <a:cs typeface="Carlito"/>
              </a:rPr>
              <a:t> examples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31261" y="4540906"/>
            <a:ext cx="789354" cy="335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8" name="object 18"/>
          <p:cNvSpPr/>
          <p:nvPr/>
        </p:nvSpPr>
        <p:spPr>
          <a:xfrm>
            <a:off x="1050055" y="5029200"/>
            <a:ext cx="831341" cy="3750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9" name="object 19"/>
          <p:cNvSpPr/>
          <p:nvPr/>
        </p:nvSpPr>
        <p:spPr>
          <a:xfrm>
            <a:off x="3508742" y="5029200"/>
            <a:ext cx="177164" cy="245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0" name="object 20"/>
          <p:cNvSpPr/>
          <p:nvPr/>
        </p:nvSpPr>
        <p:spPr>
          <a:xfrm>
            <a:off x="7315200" y="4960620"/>
            <a:ext cx="808672" cy="3829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30859" y="700129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  <p:sp>
        <p:nvSpPr>
          <p:cNvPr id="22" name="object 22"/>
          <p:cNvSpPr/>
          <p:nvPr/>
        </p:nvSpPr>
        <p:spPr>
          <a:xfrm>
            <a:off x="856125" y="2813089"/>
            <a:ext cx="2164715" cy="956944"/>
          </a:xfrm>
          <a:custGeom>
            <a:avLst/>
            <a:gdLst/>
            <a:ahLst/>
            <a:cxnLst/>
            <a:rect l="l" t="t" r="r" b="b"/>
            <a:pathLst>
              <a:path w="2164715" h="956945">
                <a:moveTo>
                  <a:pt x="0" y="956388"/>
                </a:moveTo>
                <a:lnTo>
                  <a:pt x="216449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3" name="object 23"/>
          <p:cNvSpPr/>
          <p:nvPr/>
        </p:nvSpPr>
        <p:spPr>
          <a:xfrm>
            <a:off x="5102859" y="2526315"/>
            <a:ext cx="3810000" cy="5354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4" name="object 24"/>
          <p:cNvSpPr txBox="1"/>
          <p:nvPr/>
        </p:nvSpPr>
        <p:spPr>
          <a:xfrm>
            <a:off x="4571999" y="2087984"/>
            <a:ext cx="179641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Cost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Function: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80836" y="3428339"/>
            <a:ext cx="3377082" cy="4699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4200" y="2462147"/>
            <a:ext cx="2261476" cy="314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463340" y="1934971"/>
            <a:ext cx="14789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Hypothesis: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7760" y="3551943"/>
            <a:ext cx="662241" cy="281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463340" y="3053588"/>
            <a:ext cx="15144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rlito"/>
                <a:cs typeface="Carlito"/>
              </a:rPr>
              <a:t>Parameters: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4200" y="2828048"/>
            <a:ext cx="3912870" cy="2315845"/>
            <a:chOff x="994200" y="2828048"/>
            <a:chExt cx="3912870" cy="2315845"/>
          </a:xfrm>
        </p:grpSpPr>
        <p:sp>
          <p:nvSpPr>
            <p:cNvPr id="7" name="object 7"/>
            <p:cNvSpPr/>
            <p:nvPr/>
          </p:nvSpPr>
          <p:spPr>
            <a:xfrm>
              <a:off x="994200" y="4607943"/>
              <a:ext cx="3810000" cy="5354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8"/>
            <p:cNvSpPr/>
            <p:nvPr/>
          </p:nvSpPr>
          <p:spPr>
            <a:xfrm>
              <a:off x="2316162" y="2828048"/>
              <a:ext cx="2591435" cy="1748789"/>
            </a:xfrm>
            <a:custGeom>
              <a:avLst/>
              <a:gdLst/>
              <a:ahLst/>
              <a:cxnLst/>
              <a:rect l="l" t="t" r="r" b="b"/>
              <a:pathLst>
                <a:path w="2591435" h="1748789">
                  <a:moveTo>
                    <a:pt x="2531313" y="1519580"/>
                  </a:moveTo>
                  <a:lnTo>
                    <a:pt x="2508440" y="1500517"/>
                  </a:lnTo>
                  <a:lnTo>
                    <a:pt x="247637" y="1500517"/>
                  </a:lnTo>
                  <a:lnTo>
                    <a:pt x="247624" y="82372"/>
                  </a:lnTo>
                  <a:lnTo>
                    <a:pt x="309206" y="156248"/>
                  </a:lnTo>
                  <a:lnTo>
                    <a:pt x="315099" y="160985"/>
                  </a:lnTo>
                  <a:lnTo>
                    <a:pt x="322122" y="163029"/>
                  </a:lnTo>
                  <a:lnTo>
                    <a:pt x="329387" y="162293"/>
                  </a:lnTo>
                  <a:lnTo>
                    <a:pt x="336042" y="158686"/>
                  </a:lnTo>
                  <a:lnTo>
                    <a:pt x="340766" y="152793"/>
                  </a:lnTo>
                  <a:lnTo>
                    <a:pt x="342811" y="145783"/>
                  </a:lnTo>
                  <a:lnTo>
                    <a:pt x="342074" y="138518"/>
                  </a:lnTo>
                  <a:lnTo>
                    <a:pt x="338480" y="131864"/>
                  </a:lnTo>
                  <a:lnTo>
                    <a:pt x="253390" y="29756"/>
                  </a:lnTo>
                  <a:lnTo>
                    <a:pt x="228600" y="0"/>
                  </a:lnTo>
                  <a:lnTo>
                    <a:pt x="118706" y="131864"/>
                  </a:lnTo>
                  <a:lnTo>
                    <a:pt x="115100" y="138518"/>
                  </a:lnTo>
                  <a:lnTo>
                    <a:pt x="114363" y="145783"/>
                  </a:lnTo>
                  <a:lnTo>
                    <a:pt x="116408" y="152793"/>
                  </a:lnTo>
                  <a:lnTo>
                    <a:pt x="121145" y="158686"/>
                  </a:lnTo>
                  <a:lnTo>
                    <a:pt x="127800" y="162293"/>
                  </a:lnTo>
                  <a:lnTo>
                    <a:pt x="135064" y="163029"/>
                  </a:lnTo>
                  <a:lnTo>
                    <a:pt x="142074" y="160985"/>
                  </a:lnTo>
                  <a:lnTo>
                    <a:pt x="147980" y="156248"/>
                  </a:lnTo>
                  <a:lnTo>
                    <a:pt x="209524" y="82384"/>
                  </a:lnTo>
                  <a:lnTo>
                    <a:pt x="209550" y="29756"/>
                  </a:lnTo>
                  <a:lnTo>
                    <a:pt x="209550" y="82372"/>
                  </a:lnTo>
                  <a:lnTo>
                    <a:pt x="209550" y="1500517"/>
                  </a:lnTo>
                  <a:lnTo>
                    <a:pt x="0" y="1500517"/>
                  </a:lnTo>
                  <a:lnTo>
                    <a:pt x="0" y="1538617"/>
                  </a:lnTo>
                  <a:lnTo>
                    <a:pt x="209550" y="1538617"/>
                  </a:lnTo>
                  <a:lnTo>
                    <a:pt x="209550" y="1748167"/>
                  </a:lnTo>
                  <a:lnTo>
                    <a:pt x="247650" y="1748167"/>
                  </a:lnTo>
                  <a:lnTo>
                    <a:pt x="247637" y="1538617"/>
                  </a:lnTo>
                  <a:lnTo>
                    <a:pt x="2508453" y="1538617"/>
                  </a:lnTo>
                  <a:lnTo>
                    <a:pt x="2531313" y="1519580"/>
                  </a:lnTo>
                  <a:close/>
                </a:path>
                <a:path w="2591435" h="1748789">
                  <a:moveTo>
                    <a:pt x="2590838" y="1519567"/>
                  </a:moveTo>
                  <a:lnTo>
                    <a:pt x="2567965" y="1500517"/>
                  </a:lnTo>
                  <a:lnTo>
                    <a:pt x="2458974" y="1409687"/>
                  </a:lnTo>
                  <a:lnTo>
                    <a:pt x="2452319" y="1406093"/>
                  </a:lnTo>
                  <a:lnTo>
                    <a:pt x="2427795" y="1426044"/>
                  </a:lnTo>
                  <a:lnTo>
                    <a:pt x="2429840" y="1433068"/>
                  </a:lnTo>
                  <a:lnTo>
                    <a:pt x="2434577" y="1438960"/>
                  </a:lnTo>
                  <a:lnTo>
                    <a:pt x="2508440" y="1500517"/>
                  </a:lnTo>
                  <a:lnTo>
                    <a:pt x="2531313" y="1519567"/>
                  </a:lnTo>
                  <a:lnTo>
                    <a:pt x="2548877" y="1504937"/>
                  </a:lnTo>
                  <a:lnTo>
                    <a:pt x="2531313" y="1519580"/>
                  </a:lnTo>
                  <a:lnTo>
                    <a:pt x="2434577" y="1600187"/>
                  </a:lnTo>
                  <a:lnTo>
                    <a:pt x="2429840" y="1606092"/>
                  </a:lnTo>
                  <a:lnTo>
                    <a:pt x="2427795" y="1613103"/>
                  </a:lnTo>
                  <a:lnTo>
                    <a:pt x="2428532" y="1620367"/>
                  </a:lnTo>
                  <a:lnTo>
                    <a:pt x="2432139" y="1627022"/>
                  </a:lnTo>
                  <a:lnTo>
                    <a:pt x="2438031" y="1631759"/>
                  </a:lnTo>
                  <a:lnTo>
                    <a:pt x="2445054" y="1633804"/>
                  </a:lnTo>
                  <a:lnTo>
                    <a:pt x="2452319" y="1633067"/>
                  </a:lnTo>
                  <a:lnTo>
                    <a:pt x="2458974" y="1629460"/>
                  </a:lnTo>
                  <a:lnTo>
                    <a:pt x="2567978" y="1538617"/>
                  </a:lnTo>
                  <a:lnTo>
                    <a:pt x="2590838" y="15195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3340" y="4169155"/>
            <a:ext cx="179641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Cost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Function: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0624" y="5485935"/>
            <a:ext cx="2435263" cy="4814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463340" y="5400547"/>
            <a:ext cx="6756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Go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-5" dirty="0">
                <a:latin typeface="Carlito"/>
                <a:cs typeface="Carlito"/>
              </a:rPr>
              <a:t>l</a:t>
            </a:r>
            <a:r>
              <a:rPr sz="2000" dirty="0">
                <a:latin typeface="Carlito"/>
                <a:cs typeface="Carlito"/>
              </a:rPr>
              <a:t>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85193" y="2133600"/>
            <a:ext cx="0" cy="3962400"/>
          </a:xfrm>
          <a:custGeom>
            <a:avLst/>
            <a:gdLst/>
            <a:ahLst/>
            <a:cxnLst/>
            <a:rect l="l" t="t" r="r" b="b"/>
            <a:pathLst>
              <a:path h="3962400">
                <a:moveTo>
                  <a:pt x="0" y="0"/>
                </a:moveTo>
                <a:lnTo>
                  <a:pt x="1" y="39624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3" name="object 13"/>
          <p:cNvSpPr/>
          <p:nvPr/>
        </p:nvSpPr>
        <p:spPr>
          <a:xfrm>
            <a:off x="5425757" y="2385951"/>
            <a:ext cx="1799412" cy="3556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4" name="object 14"/>
          <p:cNvSpPr/>
          <p:nvPr/>
        </p:nvSpPr>
        <p:spPr>
          <a:xfrm>
            <a:off x="5413793" y="3452745"/>
            <a:ext cx="268053" cy="3025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5" name="object 15"/>
          <p:cNvSpPr/>
          <p:nvPr/>
        </p:nvSpPr>
        <p:spPr>
          <a:xfrm>
            <a:off x="5261063" y="4743043"/>
            <a:ext cx="3741419" cy="5773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6" name="object 16"/>
          <p:cNvSpPr/>
          <p:nvPr/>
        </p:nvSpPr>
        <p:spPr>
          <a:xfrm>
            <a:off x="5337593" y="5468846"/>
            <a:ext cx="2133600" cy="4985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7" name="object 17"/>
          <p:cNvSpPr txBox="1"/>
          <p:nvPr/>
        </p:nvSpPr>
        <p:spPr>
          <a:xfrm>
            <a:off x="6406934" y="1630171"/>
            <a:ext cx="12547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Simplified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99373" y="3150108"/>
            <a:ext cx="1409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y</a:t>
            </a:r>
            <a:endParaRPr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6502" y="4293108"/>
            <a:ext cx="1358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x</a:t>
            </a:r>
            <a:endParaRPr>
              <a:latin typeface="Carlito"/>
              <a:cs typeface="Carli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44762" y="3224148"/>
            <a:ext cx="1269365" cy="609600"/>
          </a:xfrm>
          <a:custGeom>
            <a:avLst/>
            <a:gdLst/>
            <a:ahLst/>
            <a:cxnLst/>
            <a:rect l="l" t="t" r="r" b="b"/>
            <a:pathLst>
              <a:path w="1269364" h="609600">
                <a:moveTo>
                  <a:pt x="0" y="609600"/>
                </a:moveTo>
                <a:lnTo>
                  <a:pt x="126884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1" name="object 21"/>
          <p:cNvSpPr/>
          <p:nvPr/>
        </p:nvSpPr>
        <p:spPr>
          <a:xfrm>
            <a:off x="6861606" y="2919310"/>
            <a:ext cx="2130425" cy="1596390"/>
          </a:xfrm>
          <a:custGeom>
            <a:avLst/>
            <a:gdLst/>
            <a:ahLst/>
            <a:cxnLst/>
            <a:rect l="l" t="t" r="r" b="b"/>
            <a:pathLst>
              <a:path w="2130425" h="1596389">
                <a:moveTo>
                  <a:pt x="2130031" y="1367180"/>
                </a:moveTo>
                <a:lnTo>
                  <a:pt x="2107171" y="1348130"/>
                </a:lnTo>
                <a:lnTo>
                  <a:pt x="1998167" y="1257287"/>
                </a:lnTo>
                <a:lnTo>
                  <a:pt x="1991512" y="1253693"/>
                </a:lnTo>
                <a:lnTo>
                  <a:pt x="1967001" y="1273657"/>
                </a:lnTo>
                <a:lnTo>
                  <a:pt x="1969033" y="1280668"/>
                </a:lnTo>
                <a:lnTo>
                  <a:pt x="1973783" y="1286560"/>
                </a:lnTo>
                <a:lnTo>
                  <a:pt x="2047659" y="1348130"/>
                </a:lnTo>
                <a:lnTo>
                  <a:pt x="247637" y="1348130"/>
                </a:lnTo>
                <a:lnTo>
                  <a:pt x="247637" y="82372"/>
                </a:lnTo>
                <a:lnTo>
                  <a:pt x="309206" y="156248"/>
                </a:lnTo>
                <a:lnTo>
                  <a:pt x="315099" y="160997"/>
                </a:lnTo>
                <a:lnTo>
                  <a:pt x="322110" y="163029"/>
                </a:lnTo>
                <a:lnTo>
                  <a:pt x="329374" y="162293"/>
                </a:lnTo>
                <a:lnTo>
                  <a:pt x="336042" y="158686"/>
                </a:lnTo>
                <a:lnTo>
                  <a:pt x="340766" y="152793"/>
                </a:lnTo>
                <a:lnTo>
                  <a:pt x="342811" y="145783"/>
                </a:lnTo>
                <a:lnTo>
                  <a:pt x="342074" y="138518"/>
                </a:lnTo>
                <a:lnTo>
                  <a:pt x="338480" y="131864"/>
                </a:lnTo>
                <a:lnTo>
                  <a:pt x="253390" y="29756"/>
                </a:lnTo>
                <a:lnTo>
                  <a:pt x="228600" y="0"/>
                </a:lnTo>
                <a:lnTo>
                  <a:pt x="118706" y="131864"/>
                </a:lnTo>
                <a:lnTo>
                  <a:pt x="115100" y="138518"/>
                </a:lnTo>
                <a:lnTo>
                  <a:pt x="114363" y="145783"/>
                </a:lnTo>
                <a:lnTo>
                  <a:pt x="116408" y="152793"/>
                </a:lnTo>
                <a:lnTo>
                  <a:pt x="121145" y="158686"/>
                </a:lnTo>
                <a:lnTo>
                  <a:pt x="127800" y="162293"/>
                </a:lnTo>
                <a:lnTo>
                  <a:pt x="135064" y="163029"/>
                </a:lnTo>
                <a:lnTo>
                  <a:pt x="142074" y="160997"/>
                </a:lnTo>
                <a:lnTo>
                  <a:pt x="147980" y="156248"/>
                </a:lnTo>
                <a:lnTo>
                  <a:pt x="209537" y="82384"/>
                </a:lnTo>
                <a:lnTo>
                  <a:pt x="209550" y="29756"/>
                </a:lnTo>
                <a:lnTo>
                  <a:pt x="209550" y="82372"/>
                </a:lnTo>
                <a:lnTo>
                  <a:pt x="209550" y="1348130"/>
                </a:lnTo>
                <a:lnTo>
                  <a:pt x="0" y="1348130"/>
                </a:lnTo>
                <a:lnTo>
                  <a:pt x="0" y="1386230"/>
                </a:lnTo>
                <a:lnTo>
                  <a:pt x="209550" y="1386230"/>
                </a:lnTo>
                <a:lnTo>
                  <a:pt x="209550" y="1595780"/>
                </a:lnTo>
                <a:lnTo>
                  <a:pt x="247650" y="1595780"/>
                </a:lnTo>
                <a:lnTo>
                  <a:pt x="247637" y="1386230"/>
                </a:lnTo>
                <a:lnTo>
                  <a:pt x="2047646" y="1386230"/>
                </a:lnTo>
                <a:lnTo>
                  <a:pt x="1973783" y="1447787"/>
                </a:lnTo>
                <a:lnTo>
                  <a:pt x="1969033" y="1453692"/>
                </a:lnTo>
                <a:lnTo>
                  <a:pt x="1967001" y="1460703"/>
                </a:lnTo>
                <a:lnTo>
                  <a:pt x="1967738" y="1467967"/>
                </a:lnTo>
                <a:lnTo>
                  <a:pt x="1971344" y="1474622"/>
                </a:lnTo>
                <a:lnTo>
                  <a:pt x="1977237" y="1479359"/>
                </a:lnTo>
                <a:lnTo>
                  <a:pt x="1984248" y="1481404"/>
                </a:lnTo>
                <a:lnTo>
                  <a:pt x="1991512" y="1480667"/>
                </a:lnTo>
                <a:lnTo>
                  <a:pt x="1998167" y="1477060"/>
                </a:lnTo>
                <a:lnTo>
                  <a:pt x="2107158" y="1386230"/>
                </a:lnTo>
                <a:lnTo>
                  <a:pt x="2130031" y="1367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2" name="object 22"/>
          <p:cNvSpPr txBox="1"/>
          <p:nvPr/>
        </p:nvSpPr>
        <p:spPr>
          <a:xfrm>
            <a:off x="6844817" y="3086100"/>
            <a:ext cx="1409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y</a:t>
            </a:r>
            <a:endParaRPr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11946" y="4229100"/>
            <a:ext cx="1358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x</a:t>
            </a:r>
            <a:endParaRPr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90206" y="3438846"/>
            <a:ext cx="1244600" cy="828040"/>
          </a:xfrm>
          <a:custGeom>
            <a:avLst/>
            <a:gdLst/>
            <a:ahLst/>
            <a:cxnLst/>
            <a:rect l="l" t="t" r="r" b="b"/>
            <a:pathLst>
              <a:path w="1244600" h="828039">
                <a:moveTo>
                  <a:pt x="0" y="827794"/>
                </a:moveTo>
                <a:lnTo>
                  <a:pt x="124419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3" name="object 3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31141" y="2608579"/>
            <a:ext cx="8681717" cy="2068771"/>
          </a:xfrm>
          <a:prstGeom prst="rect">
            <a:avLst/>
          </a:prstGeom>
        </p:spPr>
        <p:txBody>
          <a:bodyPr vert="horz" wrap="square" lIns="0" tIns="402844" rIns="0" bIns="0" rtlCol="0">
            <a:spAutoFit/>
          </a:bodyPr>
          <a:lstStyle/>
          <a:p>
            <a:pPr marL="3959225" marR="5080">
              <a:lnSpc>
                <a:spcPct val="100000"/>
              </a:lnSpc>
              <a:spcBef>
                <a:spcPts val="100"/>
              </a:spcBef>
            </a:pPr>
            <a:r>
              <a:rPr sz="5400" spc="-525" dirty="0"/>
              <a:t>Cost </a:t>
            </a:r>
            <a:r>
              <a:rPr sz="5400" spc="-365" dirty="0"/>
              <a:t>function  </a:t>
            </a:r>
            <a:r>
              <a:rPr sz="5400" spc="-295" dirty="0"/>
              <a:t>intuition</a:t>
            </a:r>
            <a:r>
              <a:rPr sz="5400" spc="-35" dirty="0"/>
              <a:t> </a:t>
            </a:r>
            <a:r>
              <a:rPr sz="5400" spc="-355" dirty="0"/>
              <a:t>II</a:t>
            </a:r>
            <a:endParaRPr sz="5400"/>
          </a:p>
        </p:txBody>
      </p:sp>
      <p:sp>
        <p:nvSpPr>
          <p:cNvPr id="6" name="object 6"/>
          <p:cNvSpPr/>
          <p:nvPr/>
        </p:nvSpPr>
        <p:spPr>
          <a:xfrm>
            <a:off x="893618" y="18994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916939" y="5303011"/>
            <a:ext cx="22396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5034" y="1516380"/>
            <a:ext cx="7313930" cy="124008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sz="4000" dirty="0"/>
              <a:t>Linear </a:t>
            </a:r>
            <a:r>
              <a:rPr sz="4000" spc="-15" dirty="0"/>
              <a:t>regression  </a:t>
            </a:r>
            <a:r>
              <a:rPr sz="4000" dirty="0"/>
              <a:t>with one</a:t>
            </a:r>
            <a:r>
              <a:rPr sz="4000" spc="-95" dirty="0"/>
              <a:t> </a:t>
            </a:r>
            <a:r>
              <a:rPr sz="4000" spc="-10" dirty="0"/>
              <a:t>variable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15461" y="1752602"/>
            <a:ext cx="2580525" cy="3590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726769" y="1662368"/>
            <a:ext cx="2395855" cy="2788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arlito"/>
                <a:cs typeface="Carlito"/>
              </a:rPr>
              <a:t>Hypothesis:</a:t>
            </a:r>
            <a:endParaRPr sz="2800" dirty="0">
              <a:latin typeface="Carlito"/>
              <a:cs typeface="Carlito"/>
            </a:endParaRPr>
          </a:p>
          <a:p>
            <a:pPr marL="12700" marR="5080">
              <a:lnSpc>
                <a:spcPct val="191200"/>
              </a:lnSpc>
              <a:spcBef>
                <a:spcPts val="25"/>
              </a:spcBef>
            </a:pPr>
            <a:r>
              <a:rPr sz="2800" spc="-25" dirty="0">
                <a:latin typeface="Carlito"/>
                <a:cs typeface="Carlito"/>
              </a:rPr>
              <a:t>Parameters:  </a:t>
            </a:r>
            <a:r>
              <a:rPr sz="2800" spc="-10" dirty="0">
                <a:latin typeface="Carlito"/>
                <a:cs typeface="Carlito"/>
              </a:rPr>
              <a:t>Cost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Function:  Goal:</a:t>
            </a:r>
          </a:p>
        </p:txBody>
      </p:sp>
      <p:sp>
        <p:nvSpPr>
          <p:cNvPr id="4" name="object 4"/>
          <p:cNvSpPr/>
          <p:nvPr/>
        </p:nvSpPr>
        <p:spPr>
          <a:xfrm>
            <a:off x="3515461" y="2487833"/>
            <a:ext cx="755670" cy="321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" name="object 5"/>
          <p:cNvSpPr/>
          <p:nvPr/>
        </p:nvSpPr>
        <p:spPr>
          <a:xfrm>
            <a:off x="3415651" y="3040560"/>
            <a:ext cx="5360670" cy="753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" name="object 6"/>
          <p:cNvSpPr/>
          <p:nvPr/>
        </p:nvSpPr>
        <p:spPr>
          <a:xfrm>
            <a:off x="3392560" y="4025074"/>
            <a:ext cx="2765679" cy="5467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400875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1F2022"/>
                </a:solidFill>
              </a:rPr>
              <a:t>Linear</a:t>
            </a:r>
            <a:r>
              <a:rPr sz="3600" spc="-65" dirty="0">
                <a:solidFill>
                  <a:srgbClr val="1F2022"/>
                </a:solidFill>
              </a:rPr>
              <a:t> </a:t>
            </a:r>
            <a:r>
              <a:rPr sz="3600" spc="-15" dirty="0">
                <a:solidFill>
                  <a:srgbClr val="1F2022"/>
                </a:solidFill>
              </a:rPr>
              <a:t>Regression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9446" y="1738464"/>
            <a:ext cx="678942" cy="306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1232916" y="5929469"/>
            <a:ext cx="2484882" cy="306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1053338" y="2126996"/>
            <a:ext cx="862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rlito"/>
                <a:cs typeface="Carlito"/>
              </a:rPr>
              <a:t>(for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fixed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6588" y="2126996"/>
            <a:ext cx="21228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, </a:t>
            </a:r>
            <a:r>
              <a:rPr sz="1600" spc="-5" dirty="0">
                <a:latin typeface="Carlito"/>
                <a:cs typeface="Carlito"/>
              </a:rPr>
              <a:t>this is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function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55965" y="2195664"/>
            <a:ext cx="519390" cy="222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/>
          <p:nvPr/>
        </p:nvSpPr>
        <p:spPr>
          <a:xfrm>
            <a:off x="5241797" y="2095715"/>
            <a:ext cx="0" cy="3962400"/>
          </a:xfrm>
          <a:custGeom>
            <a:avLst/>
            <a:gdLst/>
            <a:ahLst/>
            <a:cxnLst/>
            <a:rect l="l" t="t" r="r" b="b"/>
            <a:pathLst>
              <a:path h="3962400">
                <a:moveTo>
                  <a:pt x="0" y="0"/>
                </a:moveTo>
                <a:lnTo>
                  <a:pt x="1" y="39624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6687184" y="1738464"/>
            <a:ext cx="1076705" cy="3063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5543448" y="2126996"/>
            <a:ext cx="2594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(function </a:t>
            </a:r>
            <a:r>
              <a:rPr sz="1600" dirty="0">
                <a:latin typeface="Carlito"/>
                <a:cs typeface="Carlito"/>
              </a:rPr>
              <a:t>of </a:t>
            </a:r>
            <a:r>
              <a:rPr sz="1600" spc="-5" dirty="0">
                <a:latin typeface="Carlito"/>
                <a:cs typeface="Carlito"/>
              </a:rPr>
              <a:t>the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parameters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41837" y="2126996"/>
            <a:ext cx="95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16951" y="2195664"/>
            <a:ext cx="515721" cy="2194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/>
          <p:nvPr/>
        </p:nvSpPr>
        <p:spPr>
          <a:xfrm>
            <a:off x="7060056" y="5065052"/>
            <a:ext cx="184708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grpSp>
        <p:nvGrpSpPr>
          <p:cNvPr id="13" name="object 13"/>
          <p:cNvGrpSpPr/>
          <p:nvPr/>
        </p:nvGrpSpPr>
        <p:grpSpPr>
          <a:xfrm>
            <a:off x="1594523" y="2869031"/>
            <a:ext cx="3279140" cy="2386965"/>
            <a:chOff x="1594523" y="2869031"/>
            <a:chExt cx="3279140" cy="2386965"/>
          </a:xfrm>
        </p:grpSpPr>
        <p:sp>
          <p:nvSpPr>
            <p:cNvPr id="14" name="object 14"/>
            <p:cNvSpPr/>
            <p:nvPr/>
          </p:nvSpPr>
          <p:spPr>
            <a:xfrm>
              <a:off x="1671688" y="2916555"/>
              <a:ext cx="3189605" cy="1811020"/>
            </a:xfrm>
            <a:custGeom>
              <a:avLst/>
              <a:gdLst/>
              <a:ahLst/>
              <a:cxnLst/>
              <a:rect l="l" t="t" r="r" b="b"/>
              <a:pathLst>
                <a:path w="3189604" h="1811020">
                  <a:moveTo>
                    <a:pt x="0" y="1810891"/>
                  </a:moveTo>
                  <a:lnTo>
                    <a:pt x="3189111" y="1810891"/>
                  </a:lnTo>
                </a:path>
                <a:path w="3189604" h="1811020">
                  <a:moveTo>
                    <a:pt x="0" y="1356740"/>
                  </a:moveTo>
                  <a:lnTo>
                    <a:pt x="3189111" y="1356740"/>
                  </a:lnTo>
                </a:path>
                <a:path w="3189604" h="1811020">
                  <a:moveTo>
                    <a:pt x="0" y="905637"/>
                  </a:moveTo>
                  <a:lnTo>
                    <a:pt x="3189111" y="905637"/>
                  </a:lnTo>
                </a:path>
                <a:path w="3189604" h="1811020">
                  <a:moveTo>
                    <a:pt x="0" y="451485"/>
                  </a:moveTo>
                  <a:lnTo>
                    <a:pt x="3189111" y="451485"/>
                  </a:lnTo>
                </a:path>
                <a:path w="3189604" h="1811020">
                  <a:moveTo>
                    <a:pt x="0" y="0"/>
                  </a:moveTo>
                  <a:lnTo>
                    <a:pt x="3189111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1688" y="2916552"/>
              <a:ext cx="0" cy="2262505"/>
            </a:xfrm>
            <a:custGeom>
              <a:avLst/>
              <a:gdLst/>
              <a:ahLst/>
              <a:cxnLst/>
              <a:rect l="l" t="t" r="r" b="b"/>
              <a:pathLst>
                <a:path h="2262504">
                  <a:moveTo>
                    <a:pt x="0" y="2262101"/>
                  </a:moveTo>
                  <a:lnTo>
                    <a:pt x="1" y="0"/>
                  </a:lnTo>
                </a:path>
              </a:pathLst>
            </a:custGeom>
            <a:ln w="254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607223" y="2916555"/>
              <a:ext cx="64769" cy="2262505"/>
            </a:xfrm>
            <a:custGeom>
              <a:avLst/>
              <a:gdLst/>
              <a:ahLst/>
              <a:cxnLst/>
              <a:rect l="l" t="t" r="r" b="b"/>
              <a:pathLst>
                <a:path w="64769" h="2262504">
                  <a:moveTo>
                    <a:pt x="0" y="2262101"/>
                  </a:moveTo>
                  <a:lnTo>
                    <a:pt x="64473" y="2262101"/>
                  </a:lnTo>
                </a:path>
                <a:path w="64769" h="2262504">
                  <a:moveTo>
                    <a:pt x="0" y="1810891"/>
                  </a:moveTo>
                  <a:lnTo>
                    <a:pt x="64473" y="1810891"/>
                  </a:lnTo>
                </a:path>
                <a:path w="64769" h="2262504">
                  <a:moveTo>
                    <a:pt x="0" y="1356740"/>
                  </a:moveTo>
                  <a:lnTo>
                    <a:pt x="64473" y="1356740"/>
                  </a:lnTo>
                </a:path>
                <a:path w="64769" h="2262504">
                  <a:moveTo>
                    <a:pt x="0" y="905637"/>
                  </a:moveTo>
                  <a:lnTo>
                    <a:pt x="64473" y="905637"/>
                  </a:lnTo>
                </a:path>
                <a:path w="64769" h="2262504">
                  <a:moveTo>
                    <a:pt x="0" y="451485"/>
                  </a:moveTo>
                  <a:lnTo>
                    <a:pt x="64473" y="451485"/>
                  </a:lnTo>
                </a:path>
                <a:path w="64769" h="2262504">
                  <a:moveTo>
                    <a:pt x="0" y="0"/>
                  </a:moveTo>
                  <a:lnTo>
                    <a:pt x="64473" y="0"/>
                  </a:lnTo>
                </a:path>
              </a:pathLst>
            </a:custGeom>
            <a:ln w="254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1688" y="5178653"/>
              <a:ext cx="3189605" cy="64769"/>
            </a:xfrm>
            <a:custGeom>
              <a:avLst/>
              <a:gdLst/>
              <a:ahLst/>
              <a:cxnLst/>
              <a:rect l="l" t="t" r="r" b="b"/>
              <a:pathLst>
                <a:path w="3189604" h="64770">
                  <a:moveTo>
                    <a:pt x="0" y="0"/>
                  </a:moveTo>
                  <a:lnTo>
                    <a:pt x="3189111" y="1"/>
                  </a:lnTo>
                </a:path>
                <a:path w="3189604" h="64770">
                  <a:moveTo>
                    <a:pt x="0" y="0"/>
                  </a:moveTo>
                  <a:lnTo>
                    <a:pt x="0" y="64473"/>
                  </a:lnTo>
                </a:path>
                <a:path w="3189604" h="64770">
                  <a:moveTo>
                    <a:pt x="1062360" y="0"/>
                  </a:moveTo>
                  <a:lnTo>
                    <a:pt x="1062360" y="64473"/>
                  </a:lnTo>
                </a:path>
                <a:path w="3189604" h="64770">
                  <a:moveTo>
                    <a:pt x="2126121" y="0"/>
                  </a:moveTo>
                  <a:lnTo>
                    <a:pt x="2126121" y="64473"/>
                  </a:lnTo>
                </a:path>
                <a:path w="3189604" h="64770">
                  <a:moveTo>
                    <a:pt x="3189111" y="0"/>
                  </a:moveTo>
                  <a:lnTo>
                    <a:pt x="3189111" y="64473"/>
                  </a:lnTo>
                </a:path>
              </a:pathLst>
            </a:custGeom>
            <a:ln w="254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5372" y="33264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328924" y="36434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179315" y="346669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3852" y="40884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740403" y="378062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258819" y="371358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146044" y="423783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097276" y="41768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19196" y="403971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691636" y="405190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755644" y="35672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9819" y="36434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2978404" y="39604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4075684" y="310093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3033268" y="378062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944876" y="423174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401819" y="287538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508756" y="399399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636772" y="398485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3335019" y="40366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3716019" y="39604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2798572" y="400617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572" y="30369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4313428" y="301558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3969003" y="298815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4432300" y="378062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584956" y="35550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2691891" y="43688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798315" y="371358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3554475" y="384464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3158236" y="400617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2947924" y="409762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3895852" y="357642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3926331" y="383854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3399028" y="346974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4008628" y="36434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4359147" y="371661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2905252" y="37836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2536444" y="432318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3597147" y="378062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2908300" y="405495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0" y="0"/>
                  </a:lnTo>
                </a:path>
                <a:path w="85725" h="85725">
                  <a:moveTo>
                    <a:pt x="0" y="85344"/>
                  </a:moveTo>
                  <a:lnTo>
                    <a:pt x="85344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367536" y="5014467"/>
            <a:ext cx="1289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61544" y="2749803"/>
            <a:ext cx="330200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Carlito"/>
                <a:cs typeface="Carlito"/>
              </a:rPr>
              <a:t>500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1400" spc="-15" dirty="0">
                <a:latin typeface="Carlito"/>
                <a:cs typeface="Carlito"/>
              </a:rPr>
              <a:t>400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400" spc="-15" dirty="0">
                <a:latin typeface="Carlito"/>
                <a:cs typeface="Carlito"/>
              </a:rPr>
              <a:t>300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400" spc="-15" dirty="0">
                <a:latin typeface="Carlito"/>
                <a:cs typeface="Carlito"/>
              </a:rPr>
              <a:t>200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400" spc="-15" dirty="0">
                <a:latin typeface="Carlito"/>
                <a:cs typeface="Carlito"/>
              </a:rPr>
              <a:t>100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07489" y="5282691"/>
            <a:ext cx="1289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89860" y="5282691"/>
            <a:ext cx="154686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ts val="1785"/>
              </a:lnSpc>
              <a:spcBef>
                <a:spcPts val="100"/>
              </a:spcBef>
              <a:tabLst>
                <a:tab pos="1101725" algn="l"/>
              </a:tabLst>
            </a:pPr>
            <a:r>
              <a:rPr sz="1400" spc="-15" dirty="0">
                <a:latin typeface="Carlito"/>
                <a:cs typeface="Carlito"/>
              </a:rPr>
              <a:t>1000	2000</a:t>
            </a:r>
            <a:endParaRPr sz="1400">
              <a:latin typeface="Carlito"/>
              <a:cs typeface="Carlito"/>
            </a:endParaRPr>
          </a:p>
          <a:p>
            <a:pPr marL="50800">
              <a:lnSpc>
                <a:spcPts val="2025"/>
              </a:lnSpc>
            </a:pPr>
            <a:r>
              <a:rPr sz="1600" spc="-15" dirty="0">
                <a:latin typeface="Carlito"/>
                <a:cs typeface="Carlito"/>
              </a:rPr>
              <a:t>Size </a:t>
            </a:r>
            <a:r>
              <a:rPr sz="1600" spc="-5" dirty="0">
                <a:latin typeface="Carlito"/>
                <a:cs typeface="Carlito"/>
              </a:rPr>
              <a:t>in </a:t>
            </a:r>
            <a:r>
              <a:rPr sz="1600" spc="-15" dirty="0">
                <a:latin typeface="Carlito"/>
                <a:cs typeface="Carlito"/>
              </a:rPr>
              <a:t>feet</a:t>
            </a:r>
            <a:r>
              <a:rPr sz="1600" spc="-22" baseline="23148" dirty="0">
                <a:latin typeface="Carlito"/>
                <a:cs typeface="Carlito"/>
              </a:rPr>
              <a:t>2</a:t>
            </a:r>
            <a:r>
              <a:rPr sz="1600" spc="217" baseline="23148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(x)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642103" y="5282691"/>
            <a:ext cx="4318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Carlito"/>
                <a:cs typeface="Carlito"/>
              </a:rPr>
              <a:t>3000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20041" y="3550411"/>
            <a:ext cx="84772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600" spc="-5" dirty="0">
                <a:latin typeface="Carlito"/>
                <a:cs typeface="Carlito"/>
              </a:rPr>
              <a:t>Price </a:t>
            </a:r>
            <a:r>
              <a:rPr sz="1600" dirty="0">
                <a:latin typeface="Carlito"/>
                <a:cs typeface="Carlito"/>
              </a:rPr>
              <a:t>($)  </a:t>
            </a:r>
            <a:r>
              <a:rPr sz="1600" spc="-5" dirty="0">
                <a:latin typeface="Carlito"/>
                <a:cs typeface="Carlito"/>
              </a:rPr>
              <a:t>in</a:t>
            </a:r>
            <a:r>
              <a:rPr sz="1600" spc="-75" dirty="0">
                <a:latin typeface="Carlito"/>
                <a:cs typeface="Carlito"/>
              </a:rPr>
              <a:t> </a:t>
            </a:r>
            <a:r>
              <a:rPr sz="1600" spc="-20" dirty="0">
                <a:latin typeface="Carlito"/>
                <a:cs typeface="Carlito"/>
              </a:rPr>
              <a:t>1000’s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150137" y="4063932"/>
            <a:ext cx="3863340" cy="1047750"/>
          </a:xfrm>
          <a:custGeom>
            <a:avLst/>
            <a:gdLst/>
            <a:ahLst/>
            <a:cxnLst/>
            <a:rect l="l" t="t" r="r" b="b"/>
            <a:pathLst>
              <a:path w="3863340" h="1047750">
                <a:moveTo>
                  <a:pt x="0" y="1047220"/>
                </a:moveTo>
                <a:lnTo>
                  <a:pt x="3863062" y="0"/>
                </a:lnTo>
              </a:path>
            </a:pathLst>
          </a:custGeom>
          <a:ln w="254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grpSp>
        <p:nvGrpSpPr>
          <p:cNvPr id="66" name="object 66"/>
          <p:cNvGrpSpPr/>
          <p:nvPr/>
        </p:nvGrpSpPr>
        <p:grpSpPr>
          <a:xfrm>
            <a:off x="5715000" y="2550198"/>
            <a:ext cx="2972435" cy="2630170"/>
            <a:chOff x="5715000" y="2550198"/>
            <a:chExt cx="2972435" cy="2630170"/>
          </a:xfrm>
        </p:grpSpPr>
        <p:sp>
          <p:nvSpPr>
            <p:cNvPr id="67" name="object 67"/>
            <p:cNvSpPr/>
            <p:nvPr/>
          </p:nvSpPr>
          <p:spPr>
            <a:xfrm>
              <a:off x="5715000" y="2550197"/>
              <a:ext cx="2972435" cy="2630170"/>
            </a:xfrm>
            <a:custGeom>
              <a:avLst/>
              <a:gdLst/>
              <a:ahLst/>
              <a:cxnLst/>
              <a:rect l="l" t="t" r="r" b="b"/>
              <a:pathLst>
                <a:path w="2972434" h="2630170">
                  <a:moveTo>
                    <a:pt x="2971812" y="2362225"/>
                  </a:moveTo>
                  <a:lnTo>
                    <a:pt x="2962287" y="2354288"/>
                  </a:lnTo>
                  <a:lnTo>
                    <a:pt x="2884932" y="2289822"/>
                  </a:lnTo>
                  <a:lnTo>
                    <a:pt x="2879928" y="2290267"/>
                  </a:lnTo>
                  <a:lnTo>
                    <a:pt x="2874314" y="2297011"/>
                  </a:lnTo>
                  <a:lnTo>
                    <a:pt x="2874772" y="2302014"/>
                  </a:lnTo>
                  <a:lnTo>
                    <a:pt x="2937484" y="2354288"/>
                  </a:lnTo>
                  <a:lnTo>
                    <a:pt x="236537" y="2354288"/>
                  </a:lnTo>
                  <a:lnTo>
                    <a:pt x="236537" y="34328"/>
                  </a:lnTo>
                  <a:lnTo>
                    <a:pt x="288810" y="97053"/>
                  </a:lnTo>
                  <a:lnTo>
                    <a:pt x="293814" y="97510"/>
                  </a:lnTo>
                  <a:lnTo>
                    <a:pt x="300545" y="91897"/>
                  </a:lnTo>
                  <a:lnTo>
                    <a:pt x="301002" y="86893"/>
                  </a:lnTo>
                  <a:lnTo>
                    <a:pt x="238925" y="12395"/>
                  </a:lnTo>
                  <a:lnTo>
                    <a:pt x="228600" y="0"/>
                  </a:lnTo>
                  <a:lnTo>
                    <a:pt x="156197" y="86893"/>
                  </a:lnTo>
                  <a:lnTo>
                    <a:pt x="156654" y="91897"/>
                  </a:lnTo>
                  <a:lnTo>
                    <a:pt x="163385" y="97510"/>
                  </a:lnTo>
                  <a:lnTo>
                    <a:pt x="168389" y="97053"/>
                  </a:lnTo>
                  <a:lnTo>
                    <a:pt x="220662" y="34328"/>
                  </a:lnTo>
                  <a:lnTo>
                    <a:pt x="220662" y="2354288"/>
                  </a:lnTo>
                  <a:lnTo>
                    <a:pt x="0" y="2354288"/>
                  </a:lnTo>
                  <a:lnTo>
                    <a:pt x="0" y="2370163"/>
                  </a:lnTo>
                  <a:lnTo>
                    <a:pt x="220662" y="2370163"/>
                  </a:lnTo>
                  <a:lnTo>
                    <a:pt x="220662" y="2629992"/>
                  </a:lnTo>
                  <a:lnTo>
                    <a:pt x="236537" y="2629992"/>
                  </a:lnTo>
                  <a:lnTo>
                    <a:pt x="236537" y="2370163"/>
                  </a:lnTo>
                  <a:lnTo>
                    <a:pt x="2937484" y="2370163"/>
                  </a:lnTo>
                  <a:lnTo>
                    <a:pt x="2874772" y="2422423"/>
                  </a:lnTo>
                  <a:lnTo>
                    <a:pt x="2874314" y="2427440"/>
                  </a:lnTo>
                  <a:lnTo>
                    <a:pt x="2879928" y="2434171"/>
                  </a:lnTo>
                  <a:lnTo>
                    <a:pt x="2884932" y="2434628"/>
                  </a:lnTo>
                  <a:lnTo>
                    <a:pt x="2962287" y="2370163"/>
                  </a:lnTo>
                  <a:lnTo>
                    <a:pt x="2971812" y="2362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5848350" y="2987535"/>
              <a:ext cx="2457450" cy="1760855"/>
            </a:xfrm>
            <a:custGeom>
              <a:avLst/>
              <a:gdLst/>
              <a:ahLst/>
              <a:cxnLst/>
              <a:rect l="l" t="t" r="r" b="b"/>
              <a:pathLst>
                <a:path w="2457450" h="1760854">
                  <a:moveTo>
                    <a:pt x="0" y="0"/>
                  </a:moveTo>
                  <a:lnTo>
                    <a:pt x="8909" y="54941"/>
                  </a:lnTo>
                  <a:lnTo>
                    <a:pt x="17860" y="109820"/>
                  </a:lnTo>
                  <a:lnTo>
                    <a:pt x="26895" y="164574"/>
                  </a:lnTo>
                  <a:lnTo>
                    <a:pt x="36056" y="219141"/>
                  </a:lnTo>
                  <a:lnTo>
                    <a:pt x="45384" y="273459"/>
                  </a:lnTo>
                  <a:lnTo>
                    <a:pt x="54923" y="327464"/>
                  </a:lnTo>
                  <a:lnTo>
                    <a:pt x="64713" y="381094"/>
                  </a:lnTo>
                  <a:lnTo>
                    <a:pt x="74796" y="434288"/>
                  </a:lnTo>
                  <a:lnTo>
                    <a:pt x="85216" y="486982"/>
                  </a:lnTo>
                  <a:lnTo>
                    <a:pt x="96012" y="539114"/>
                  </a:lnTo>
                  <a:lnTo>
                    <a:pt x="107229" y="590622"/>
                  </a:lnTo>
                  <a:lnTo>
                    <a:pt x="118906" y="641443"/>
                  </a:lnTo>
                  <a:lnTo>
                    <a:pt x="131087" y="691515"/>
                  </a:lnTo>
                  <a:lnTo>
                    <a:pt x="143813" y="740775"/>
                  </a:lnTo>
                  <a:lnTo>
                    <a:pt x="157127" y="789162"/>
                  </a:lnTo>
                  <a:lnTo>
                    <a:pt x="171070" y="836611"/>
                  </a:lnTo>
                  <a:lnTo>
                    <a:pt x="185683" y="883062"/>
                  </a:lnTo>
                  <a:lnTo>
                    <a:pt x="201010" y="928452"/>
                  </a:lnTo>
                  <a:lnTo>
                    <a:pt x="217092" y="972718"/>
                  </a:lnTo>
                  <a:lnTo>
                    <a:pt x="233971" y="1015798"/>
                  </a:lnTo>
                  <a:lnTo>
                    <a:pt x="251689" y="1057629"/>
                  </a:lnTo>
                  <a:lnTo>
                    <a:pt x="270288" y="1098149"/>
                  </a:lnTo>
                  <a:lnTo>
                    <a:pt x="289809" y="1137296"/>
                  </a:lnTo>
                  <a:lnTo>
                    <a:pt x="310295" y="1175006"/>
                  </a:lnTo>
                  <a:lnTo>
                    <a:pt x="331788" y="1211219"/>
                  </a:lnTo>
                  <a:lnTo>
                    <a:pt x="354330" y="1245870"/>
                  </a:lnTo>
                  <a:lnTo>
                    <a:pt x="384042" y="1287210"/>
                  </a:lnTo>
                  <a:lnTo>
                    <a:pt x="415913" y="1327357"/>
                  </a:lnTo>
                  <a:lnTo>
                    <a:pt x="449769" y="1366235"/>
                  </a:lnTo>
                  <a:lnTo>
                    <a:pt x="485435" y="1403765"/>
                  </a:lnTo>
                  <a:lnTo>
                    <a:pt x="522737" y="1439869"/>
                  </a:lnTo>
                  <a:lnTo>
                    <a:pt x="561503" y="1474469"/>
                  </a:lnTo>
                  <a:lnTo>
                    <a:pt x="601557" y="1507489"/>
                  </a:lnTo>
                  <a:lnTo>
                    <a:pt x="642725" y="1538850"/>
                  </a:lnTo>
                  <a:lnTo>
                    <a:pt x="684834" y="1568475"/>
                  </a:lnTo>
                  <a:lnTo>
                    <a:pt x="727709" y="1596285"/>
                  </a:lnTo>
                  <a:lnTo>
                    <a:pt x="771176" y="1622203"/>
                  </a:lnTo>
                  <a:lnTo>
                    <a:pt x="815062" y="1646152"/>
                  </a:lnTo>
                  <a:lnTo>
                    <a:pt x="859193" y="1668053"/>
                  </a:lnTo>
                  <a:lnTo>
                    <a:pt x="903393" y="1687828"/>
                  </a:lnTo>
                  <a:lnTo>
                    <a:pt x="947490" y="1705401"/>
                  </a:lnTo>
                  <a:lnTo>
                    <a:pt x="991310" y="1720693"/>
                  </a:lnTo>
                  <a:lnTo>
                    <a:pt x="1034677" y="1733626"/>
                  </a:lnTo>
                  <a:lnTo>
                    <a:pt x="1077419" y="1744124"/>
                  </a:lnTo>
                  <a:lnTo>
                    <a:pt x="1119361" y="1752107"/>
                  </a:lnTo>
                  <a:lnTo>
                    <a:pt x="1160330" y="1757498"/>
                  </a:lnTo>
                  <a:lnTo>
                    <a:pt x="1200150" y="1760221"/>
                  </a:lnTo>
                  <a:lnTo>
                    <a:pt x="1241594" y="1760258"/>
                  </a:lnTo>
                  <a:lnTo>
                    <a:pt x="1283555" y="1757550"/>
                  </a:lnTo>
                  <a:lnTo>
                    <a:pt x="1325922" y="1752154"/>
                  </a:lnTo>
                  <a:lnTo>
                    <a:pt x="1368583" y="1744125"/>
                  </a:lnTo>
                  <a:lnTo>
                    <a:pt x="1411427" y="1733519"/>
                  </a:lnTo>
                  <a:lnTo>
                    <a:pt x="1454342" y="1720390"/>
                  </a:lnTo>
                  <a:lnTo>
                    <a:pt x="1497217" y="1704796"/>
                  </a:lnTo>
                  <a:lnTo>
                    <a:pt x="1539941" y="1686792"/>
                  </a:lnTo>
                  <a:lnTo>
                    <a:pt x="1582402" y="1666433"/>
                  </a:lnTo>
                  <a:lnTo>
                    <a:pt x="1624489" y="1643775"/>
                  </a:lnTo>
                  <a:lnTo>
                    <a:pt x="1666090" y="1618875"/>
                  </a:lnTo>
                  <a:lnTo>
                    <a:pt x="1707094" y="1591786"/>
                  </a:lnTo>
                  <a:lnTo>
                    <a:pt x="1747389" y="1562567"/>
                  </a:lnTo>
                  <a:lnTo>
                    <a:pt x="1786864" y="1531271"/>
                  </a:lnTo>
                  <a:lnTo>
                    <a:pt x="1825407" y="1497955"/>
                  </a:lnTo>
                  <a:lnTo>
                    <a:pt x="1862908" y="1462674"/>
                  </a:lnTo>
                  <a:lnTo>
                    <a:pt x="1899254" y="1425485"/>
                  </a:lnTo>
                  <a:lnTo>
                    <a:pt x="1934334" y="1386442"/>
                  </a:lnTo>
                  <a:lnTo>
                    <a:pt x="1968037" y="1345602"/>
                  </a:lnTo>
                  <a:lnTo>
                    <a:pt x="2000251" y="1303020"/>
                  </a:lnTo>
                  <a:lnTo>
                    <a:pt x="2023186" y="1270011"/>
                  </a:lnTo>
                  <a:lnTo>
                    <a:pt x="2045441" y="1235370"/>
                  </a:lnTo>
                  <a:lnTo>
                    <a:pt x="2067043" y="1199162"/>
                  </a:lnTo>
                  <a:lnTo>
                    <a:pt x="2088018" y="1161449"/>
                  </a:lnTo>
                  <a:lnTo>
                    <a:pt x="2108392" y="1122293"/>
                  </a:lnTo>
                  <a:lnTo>
                    <a:pt x="2128191" y="1081758"/>
                  </a:lnTo>
                  <a:lnTo>
                    <a:pt x="2147441" y="1039905"/>
                  </a:lnTo>
                  <a:lnTo>
                    <a:pt x="2166169" y="996799"/>
                  </a:lnTo>
                  <a:lnTo>
                    <a:pt x="2184400" y="952500"/>
                  </a:lnTo>
                  <a:lnTo>
                    <a:pt x="2202160" y="907073"/>
                  </a:lnTo>
                  <a:lnTo>
                    <a:pt x="2219477" y="860579"/>
                  </a:lnTo>
                  <a:lnTo>
                    <a:pt x="2236375" y="813082"/>
                  </a:lnTo>
                  <a:lnTo>
                    <a:pt x="2252881" y="764644"/>
                  </a:lnTo>
                  <a:lnTo>
                    <a:pt x="2269022" y="715329"/>
                  </a:lnTo>
                  <a:lnTo>
                    <a:pt x="2284823" y="665198"/>
                  </a:lnTo>
                  <a:lnTo>
                    <a:pt x="2300310" y="614314"/>
                  </a:lnTo>
                  <a:lnTo>
                    <a:pt x="2315510" y="562740"/>
                  </a:lnTo>
                  <a:lnTo>
                    <a:pt x="2330449" y="510540"/>
                  </a:lnTo>
                  <a:lnTo>
                    <a:pt x="2345152" y="457775"/>
                  </a:lnTo>
                  <a:lnTo>
                    <a:pt x="2359647" y="404508"/>
                  </a:lnTo>
                  <a:lnTo>
                    <a:pt x="2373958" y="350802"/>
                  </a:lnTo>
                  <a:lnTo>
                    <a:pt x="2388113" y="296720"/>
                  </a:lnTo>
                  <a:lnTo>
                    <a:pt x="2402137" y="242324"/>
                  </a:lnTo>
                  <a:lnTo>
                    <a:pt x="2416057" y="187677"/>
                  </a:lnTo>
                  <a:lnTo>
                    <a:pt x="2429898" y="132843"/>
                  </a:lnTo>
                  <a:lnTo>
                    <a:pt x="2443688" y="77882"/>
                  </a:lnTo>
                  <a:lnTo>
                    <a:pt x="2457451" y="22860"/>
                  </a:lnTo>
                </a:path>
              </a:pathLst>
            </a:custGeom>
            <a:ln w="15748">
              <a:solidFill>
                <a:srgbClr val="1E1C11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8692" y="1992232"/>
            <a:ext cx="5708378" cy="4379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53107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341977" y="253107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2243048" y="1655432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916939" y="2044700"/>
            <a:ext cx="862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rlito"/>
                <a:cs typeface="Carlito"/>
              </a:rPr>
              <a:t>(for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fixed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044700"/>
            <a:ext cx="21228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, </a:t>
            </a:r>
            <a:r>
              <a:rPr sz="1600" spc="-5" dirty="0">
                <a:latin typeface="Carlito"/>
                <a:cs typeface="Carlito"/>
              </a:rPr>
              <a:t>this is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function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112632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6550786" y="1655432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5407050" y="2044700"/>
            <a:ext cx="2594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(function </a:t>
            </a:r>
            <a:r>
              <a:rPr sz="1600" dirty="0">
                <a:latin typeface="Carlito"/>
                <a:cs typeface="Carlito"/>
              </a:rPr>
              <a:t>of </a:t>
            </a:r>
            <a:r>
              <a:rPr sz="1600" spc="-5" dirty="0">
                <a:latin typeface="Carlito"/>
                <a:cs typeface="Carlito"/>
              </a:rPr>
              <a:t>the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parameters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044700"/>
            <a:ext cx="95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112632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64027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341976" y="264027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2243048" y="1764626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916939" y="2154428"/>
            <a:ext cx="862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rlito"/>
                <a:cs typeface="Carlito"/>
              </a:rPr>
              <a:t>(for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fixed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154428"/>
            <a:ext cx="21228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, </a:t>
            </a:r>
            <a:r>
              <a:rPr sz="1600" spc="-5" dirty="0">
                <a:latin typeface="Carlito"/>
                <a:cs typeface="Carlito"/>
              </a:rPr>
              <a:t>this is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function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21826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6550786" y="1764626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5407050" y="2154428"/>
            <a:ext cx="2594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(function </a:t>
            </a:r>
            <a:r>
              <a:rPr sz="1600" dirty="0">
                <a:latin typeface="Carlito"/>
                <a:cs typeface="Carlito"/>
              </a:rPr>
              <a:t>of </a:t>
            </a:r>
            <a:r>
              <a:rPr sz="1600" spc="-5" dirty="0">
                <a:latin typeface="Carlito"/>
                <a:cs typeface="Carlito"/>
              </a:rPr>
              <a:t>the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parameters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154428"/>
            <a:ext cx="95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21826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806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341976" y="27806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2243048" y="19050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916939" y="2294635"/>
            <a:ext cx="862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rlito"/>
                <a:cs typeface="Carlito"/>
              </a:rPr>
              <a:t>(for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fixed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94635"/>
            <a:ext cx="21228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, </a:t>
            </a:r>
            <a:r>
              <a:rPr sz="1600" spc="-5" dirty="0">
                <a:latin typeface="Carlito"/>
                <a:cs typeface="Carlito"/>
              </a:rPr>
              <a:t>this is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function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3622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6550786" y="19050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5407050" y="2294635"/>
            <a:ext cx="2594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(function </a:t>
            </a:r>
            <a:r>
              <a:rPr sz="1600" dirty="0">
                <a:latin typeface="Carlito"/>
                <a:cs typeface="Carlito"/>
              </a:rPr>
              <a:t>of </a:t>
            </a:r>
            <a:r>
              <a:rPr sz="1600" spc="-5" dirty="0">
                <a:latin typeface="Carlito"/>
                <a:cs typeface="Carlito"/>
              </a:rPr>
              <a:t>the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parameters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94635"/>
            <a:ext cx="95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3622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044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341976" y="27044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2243048" y="18288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916939" y="2218435"/>
            <a:ext cx="8623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rlito"/>
                <a:cs typeface="Carlito"/>
              </a:rPr>
              <a:t>(for</a:t>
            </a:r>
            <a:r>
              <a:rPr sz="1600" spc="-6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fixed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18435"/>
            <a:ext cx="21228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, </a:t>
            </a:r>
            <a:r>
              <a:rPr sz="1600" spc="-5" dirty="0">
                <a:latin typeface="Carlito"/>
                <a:cs typeface="Carlito"/>
              </a:rPr>
              <a:t>this is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function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1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x)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860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6550786" y="18288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5407050" y="2218435"/>
            <a:ext cx="2594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(function </a:t>
            </a:r>
            <a:r>
              <a:rPr sz="1600" dirty="0">
                <a:latin typeface="Carlito"/>
                <a:cs typeface="Carlito"/>
              </a:rPr>
              <a:t>of </a:t>
            </a:r>
            <a:r>
              <a:rPr sz="1600" spc="-5" dirty="0">
                <a:latin typeface="Carlito"/>
                <a:cs typeface="Carlito"/>
              </a:rPr>
              <a:t>the</a:t>
            </a:r>
            <a:r>
              <a:rPr sz="1600" spc="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parameters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18435"/>
            <a:ext cx="95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860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3400" y="525780"/>
            <a:ext cx="3131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5" dirty="0">
                <a:solidFill>
                  <a:srgbClr val="1F2022"/>
                </a:solidFill>
              </a:rPr>
              <a:t>Cost</a:t>
            </a:r>
            <a:r>
              <a:rPr sz="4000" spc="-45" dirty="0">
                <a:solidFill>
                  <a:srgbClr val="1F2022"/>
                </a:solidFill>
              </a:rPr>
              <a:t> </a:t>
            </a:r>
            <a:r>
              <a:rPr sz="4000" spc="-5" dirty="0">
                <a:solidFill>
                  <a:srgbClr val="1F2022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3" name="object 3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78300" y="2983483"/>
            <a:ext cx="307213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55" dirty="0">
                <a:solidFill>
                  <a:srgbClr val="404040"/>
                </a:solidFill>
                <a:latin typeface="Arial"/>
                <a:cs typeface="Arial"/>
              </a:rPr>
              <a:t>G</a:t>
            </a:r>
            <a:r>
              <a:rPr sz="6000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6000" spc="-35" dirty="0">
                <a:solidFill>
                  <a:srgbClr val="404040"/>
                </a:solidFill>
                <a:latin typeface="Arial"/>
                <a:cs typeface="Arial"/>
              </a:rPr>
              <a:t>ad</a:t>
            </a:r>
            <a:r>
              <a:rPr sz="6000" spc="-2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6000" spc="-580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6000" spc="-58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6000" spc="-50" dirty="0">
                <a:solidFill>
                  <a:srgbClr val="404040"/>
                </a:solidFill>
                <a:latin typeface="Arial"/>
                <a:cs typeface="Arial"/>
              </a:rPr>
              <a:t>t  </a:t>
            </a:r>
            <a:r>
              <a:rPr sz="6000" spc="-500" dirty="0">
                <a:solidFill>
                  <a:srgbClr val="404040"/>
                </a:solidFill>
                <a:latin typeface="Arial"/>
                <a:cs typeface="Arial"/>
              </a:rPr>
              <a:t>descent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3618" y="19375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1102987" y="5342635"/>
            <a:ext cx="22396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5034" y="1516380"/>
            <a:ext cx="7313930" cy="124008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sz="4000" dirty="0"/>
              <a:t>Linear </a:t>
            </a:r>
            <a:r>
              <a:rPr sz="4000" spc="-15" dirty="0"/>
              <a:t>regression  </a:t>
            </a:r>
            <a:r>
              <a:rPr sz="4000" dirty="0"/>
              <a:t>with one</a:t>
            </a:r>
            <a:r>
              <a:rPr sz="4000" spc="-95" dirty="0"/>
              <a:t> </a:t>
            </a:r>
            <a:r>
              <a:rPr sz="4000" spc="-10" dirty="0"/>
              <a:t>variable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83" y="1600708"/>
            <a:ext cx="2746375" cy="12623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2800" spc="-185" dirty="0">
                <a:latin typeface="Arial"/>
                <a:cs typeface="Arial"/>
              </a:rPr>
              <a:t>Have </a:t>
            </a:r>
            <a:r>
              <a:rPr sz="2800" spc="-315" dirty="0">
                <a:latin typeface="Arial"/>
                <a:cs typeface="Arial"/>
              </a:rPr>
              <a:t>some </a:t>
            </a:r>
            <a:r>
              <a:rPr sz="2800" spc="-170" dirty="0">
                <a:latin typeface="Arial"/>
                <a:cs typeface="Arial"/>
              </a:rPr>
              <a:t>function  </a:t>
            </a:r>
            <a:r>
              <a:rPr sz="2800" spc="-105" dirty="0">
                <a:latin typeface="Arial"/>
                <a:cs typeface="Arial"/>
              </a:rPr>
              <a:t>Want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34193" y="1871799"/>
            <a:ext cx="1305496" cy="3714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2620" y="2492822"/>
            <a:ext cx="2076030" cy="568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6757" y="3231388"/>
            <a:ext cx="2995295" cy="1950534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800" b="1" spc="-165" dirty="0">
                <a:latin typeface="Arial"/>
                <a:cs typeface="Arial"/>
              </a:rPr>
              <a:t>Outline:</a:t>
            </a:r>
            <a:endParaRPr sz="2800" dirty="0">
              <a:latin typeface="Arial"/>
              <a:cs typeface="Arial"/>
            </a:endParaRPr>
          </a:p>
          <a:p>
            <a:pPr marL="812800" indent="-343535">
              <a:lnSpc>
                <a:spcPct val="100000"/>
              </a:lnSpc>
              <a:spcBef>
                <a:spcPts val="1630"/>
              </a:spcBef>
              <a:buChar char="•"/>
              <a:tabLst>
                <a:tab pos="812165" algn="l"/>
                <a:tab pos="812800" algn="l"/>
              </a:tabLst>
            </a:pPr>
            <a:r>
              <a:rPr sz="2800" spc="-95" dirty="0">
                <a:latin typeface="Arial"/>
                <a:cs typeface="Arial"/>
              </a:rPr>
              <a:t>Start </a:t>
            </a:r>
            <a:r>
              <a:rPr sz="2800" spc="-135" dirty="0">
                <a:latin typeface="Arial"/>
                <a:cs typeface="Arial"/>
              </a:rPr>
              <a:t>with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-315" dirty="0">
                <a:latin typeface="Arial"/>
                <a:cs typeface="Arial"/>
              </a:rPr>
              <a:t>some</a:t>
            </a:r>
            <a:endParaRPr sz="2800" dirty="0">
              <a:latin typeface="Arial"/>
              <a:cs typeface="Arial"/>
            </a:endParaRPr>
          </a:p>
          <a:p>
            <a:pPr marL="812800" indent="-343535">
              <a:lnSpc>
                <a:spcPct val="100000"/>
              </a:lnSpc>
              <a:spcBef>
                <a:spcPts val="1755"/>
              </a:spcBef>
              <a:buChar char="•"/>
              <a:tabLst>
                <a:tab pos="812165" algn="l"/>
                <a:tab pos="812800" algn="l"/>
              </a:tabLst>
            </a:pPr>
            <a:r>
              <a:rPr sz="2800" spc="-170" dirty="0">
                <a:latin typeface="Arial"/>
                <a:cs typeface="Arial"/>
              </a:rPr>
              <a:t>Keep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changing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7983" y="4721859"/>
            <a:ext cx="13620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reduce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6854" y="5355842"/>
            <a:ext cx="55587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until </a:t>
            </a:r>
            <a:r>
              <a:rPr sz="2800" spc="-190" dirty="0">
                <a:latin typeface="Arial"/>
                <a:cs typeface="Arial"/>
              </a:rPr>
              <a:t>we </a:t>
            </a:r>
            <a:r>
              <a:rPr sz="2800" spc="-100" dirty="0">
                <a:latin typeface="Arial"/>
                <a:cs typeface="Arial"/>
              </a:rPr>
              <a:t>hopefully </a:t>
            </a:r>
            <a:r>
              <a:rPr sz="2800" spc="-170" dirty="0">
                <a:latin typeface="Arial"/>
                <a:cs typeface="Arial"/>
              </a:rPr>
              <a:t>end </a:t>
            </a:r>
            <a:r>
              <a:rPr sz="2800" spc="-175" dirty="0">
                <a:latin typeface="Arial"/>
                <a:cs typeface="Arial"/>
              </a:rPr>
              <a:t>up </a:t>
            </a:r>
            <a:r>
              <a:rPr sz="2800" spc="-15" dirty="0">
                <a:latin typeface="Arial"/>
                <a:cs typeface="Arial"/>
              </a:rPr>
              <a:t>at a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95" dirty="0">
                <a:latin typeface="Arial"/>
                <a:cs typeface="Arial"/>
              </a:rPr>
              <a:t>minimum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96690" y="4165422"/>
            <a:ext cx="796861" cy="3390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47459" y="4796574"/>
            <a:ext cx="1330934" cy="37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0000" y="4801692"/>
            <a:ext cx="796861" cy="3390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2206" y="694435"/>
            <a:ext cx="50107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600" spc="-27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600" spc="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spc="-150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583" y="1518411"/>
            <a:ext cx="3430904" cy="50577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33375" marR="5080" indent="-320675" algn="just">
              <a:lnSpc>
                <a:spcPct val="137100"/>
              </a:lnSpc>
              <a:spcBef>
                <a:spcPts val="80"/>
              </a:spcBef>
              <a:buClr>
                <a:srgbClr val="CC8E5F"/>
              </a:buClr>
              <a:buSzPct val="62500"/>
              <a:buFont typeface="Wingdings"/>
              <a:buChar char=""/>
              <a:tabLst>
                <a:tab pos="333375" algn="l"/>
              </a:tabLst>
            </a:pPr>
            <a:r>
              <a:rPr sz="1600" spc="-45" dirty="0">
                <a:latin typeface="Arial"/>
                <a:cs typeface="Arial"/>
              </a:rPr>
              <a:t>Gradient </a:t>
            </a:r>
            <a:r>
              <a:rPr sz="1600" spc="-125" dirty="0">
                <a:latin typeface="Arial"/>
                <a:cs typeface="Arial"/>
              </a:rPr>
              <a:t>descent </a:t>
            </a:r>
            <a:r>
              <a:rPr sz="1600" spc="-140" dirty="0">
                <a:latin typeface="Arial"/>
                <a:cs typeface="Arial"/>
              </a:rPr>
              <a:t>is </a:t>
            </a:r>
            <a:r>
              <a:rPr sz="1600" spc="-100" dirty="0">
                <a:latin typeface="Arial"/>
                <a:cs typeface="Arial"/>
              </a:rPr>
              <a:t>an </a:t>
            </a:r>
            <a:r>
              <a:rPr sz="1600" spc="-45" dirty="0">
                <a:latin typeface="Arial"/>
                <a:cs typeface="Arial"/>
              </a:rPr>
              <a:t>iterative  </a:t>
            </a:r>
            <a:r>
              <a:rPr sz="1600" spc="-70" dirty="0">
                <a:latin typeface="Arial"/>
                <a:cs typeface="Arial"/>
              </a:rPr>
              <a:t>optimization</a:t>
            </a:r>
            <a:r>
              <a:rPr sz="1600" spc="30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algorithm  </a:t>
            </a:r>
            <a:r>
              <a:rPr sz="1600" spc="-55" dirty="0">
                <a:latin typeface="Arial"/>
                <a:cs typeface="Arial"/>
              </a:rPr>
              <a:t>to </a:t>
            </a:r>
            <a:r>
              <a:rPr sz="1600" spc="-35" dirty="0">
                <a:latin typeface="Arial"/>
                <a:cs typeface="Arial"/>
              </a:rPr>
              <a:t>find </a:t>
            </a:r>
            <a:r>
              <a:rPr sz="1600" spc="-100" dirty="0">
                <a:latin typeface="Arial"/>
                <a:cs typeface="Arial"/>
              </a:rPr>
              <a:t>the  </a:t>
            </a:r>
            <a:r>
              <a:rPr sz="1600" spc="-170" dirty="0">
                <a:latin typeface="Arial"/>
                <a:cs typeface="Arial"/>
              </a:rPr>
              <a:t>minimum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100" dirty="0">
                <a:latin typeface="Arial"/>
                <a:cs typeface="Arial"/>
              </a:rPr>
              <a:t>function. </a:t>
            </a:r>
            <a:r>
              <a:rPr sz="1600" spc="-95" dirty="0">
                <a:latin typeface="Arial"/>
                <a:cs typeface="Arial"/>
              </a:rPr>
              <a:t>Here  </a:t>
            </a:r>
            <a:r>
              <a:rPr sz="1600" spc="-60" dirty="0">
                <a:latin typeface="Arial"/>
                <a:cs typeface="Arial"/>
              </a:rPr>
              <a:t>that  </a:t>
            </a:r>
            <a:r>
              <a:rPr sz="1600" spc="-100" dirty="0">
                <a:latin typeface="Arial"/>
                <a:cs typeface="Arial"/>
              </a:rPr>
              <a:t>function </a:t>
            </a:r>
            <a:r>
              <a:rPr sz="1600" spc="-140" dirty="0">
                <a:latin typeface="Arial"/>
                <a:cs typeface="Arial"/>
              </a:rPr>
              <a:t>is </a:t>
            </a:r>
            <a:r>
              <a:rPr sz="1600" spc="-95" dirty="0">
                <a:latin typeface="Arial"/>
                <a:cs typeface="Arial"/>
              </a:rPr>
              <a:t>our </a:t>
            </a:r>
            <a:r>
              <a:rPr sz="1600" spc="-229" dirty="0">
                <a:latin typeface="Arial"/>
                <a:cs typeface="Arial"/>
              </a:rPr>
              <a:t>Loss</a:t>
            </a:r>
            <a:r>
              <a:rPr sz="1600" spc="-225" dirty="0">
                <a:latin typeface="Arial"/>
                <a:cs typeface="Arial"/>
              </a:rPr>
              <a:t> </a:t>
            </a:r>
            <a:r>
              <a:rPr sz="1600" spc="-140" dirty="0">
                <a:latin typeface="Arial"/>
                <a:cs typeface="Arial"/>
              </a:rPr>
              <a:t>Function.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C8E5F"/>
              </a:buClr>
              <a:buFont typeface="Wingdings"/>
              <a:buChar char=""/>
            </a:pPr>
            <a:endParaRPr sz="2400" dirty="0">
              <a:latin typeface="Arial"/>
              <a:cs typeface="Arial"/>
            </a:endParaRPr>
          </a:p>
          <a:p>
            <a:pPr marL="333375" marR="5080" indent="-320675" algn="just">
              <a:lnSpc>
                <a:spcPct val="137200"/>
              </a:lnSpc>
              <a:spcBef>
                <a:spcPts val="5"/>
              </a:spcBef>
              <a:buClr>
                <a:srgbClr val="CC8E5F"/>
              </a:buClr>
              <a:buSzPct val="62500"/>
              <a:buFont typeface="Wingdings"/>
              <a:buChar char=""/>
              <a:tabLst>
                <a:tab pos="333375" algn="l"/>
              </a:tabLst>
            </a:pPr>
            <a:r>
              <a:rPr sz="1600" spc="-100" dirty="0">
                <a:latin typeface="Arial"/>
                <a:cs typeface="Arial"/>
              </a:rPr>
              <a:t>Imagine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55" dirty="0">
                <a:latin typeface="Arial"/>
                <a:cs typeface="Arial"/>
              </a:rPr>
              <a:t>valley </a:t>
            </a:r>
            <a:r>
              <a:rPr sz="1600" spc="-70" dirty="0">
                <a:latin typeface="Arial"/>
                <a:cs typeface="Arial"/>
              </a:rPr>
              <a:t>and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110" dirty="0">
                <a:latin typeface="Arial"/>
                <a:cs typeface="Arial"/>
              </a:rPr>
              <a:t>person </a:t>
            </a:r>
            <a:r>
              <a:rPr sz="1600" spc="-75" dirty="0">
                <a:latin typeface="Arial"/>
                <a:cs typeface="Arial"/>
              </a:rPr>
              <a:t>with  </a:t>
            </a:r>
            <a:r>
              <a:rPr sz="1600" spc="-145" dirty="0">
                <a:latin typeface="Arial"/>
                <a:cs typeface="Arial"/>
              </a:rPr>
              <a:t>no </a:t>
            </a:r>
            <a:r>
              <a:rPr sz="1600" spc="-185" dirty="0">
                <a:latin typeface="Arial"/>
                <a:cs typeface="Arial"/>
              </a:rPr>
              <a:t>sense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70" dirty="0">
                <a:latin typeface="Arial"/>
                <a:cs typeface="Arial"/>
              </a:rPr>
              <a:t>direction </a:t>
            </a:r>
            <a:r>
              <a:rPr sz="1600" spc="-130" dirty="0">
                <a:latin typeface="Arial"/>
                <a:cs typeface="Arial"/>
              </a:rPr>
              <a:t>who wants </a:t>
            </a:r>
            <a:r>
              <a:rPr sz="1600" spc="-55" dirty="0">
                <a:latin typeface="Arial"/>
                <a:cs typeface="Arial"/>
              </a:rPr>
              <a:t>to </a:t>
            </a:r>
            <a:r>
              <a:rPr sz="1600" spc="-50" dirty="0">
                <a:latin typeface="Arial"/>
                <a:cs typeface="Arial"/>
              </a:rPr>
              <a:t>get  </a:t>
            </a:r>
            <a:r>
              <a:rPr sz="1600" spc="-55" dirty="0">
                <a:latin typeface="Arial"/>
                <a:cs typeface="Arial"/>
              </a:rPr>
              <a:t>to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80" dirty="0">
                <a:latin typeface="Arial"/>
                <a:cs typeface="Arial"/>
              </a:rPr>
              <a:t>bottom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75" dirty="0">
                <a:latin typeface="Arial"/>
                <a:cs typeface="Arial"/>
              </a:rPr>
              <a:t>valley. </a:t>
            </a:r>
            <a:r>
              <a:rPr sz="1600" spc="-145" dirty="0">
                <a:latin typeface="Arial"/>
                <a:cs typeface="Arial"/>
              </a:rPr>
              <a:t>He </a:t>
            </a:r>
            <a:r>
              <a:rPr sz="1600" spc="-114" dirty="0">
                <a:latin typeface="Arial"/>
                <a:cs typeface="Arial"/>
              </a:rPr>
              <a:t>goes  </a:t>
            </a:r>
            <a:r>
              <a:rPr sz="1600" spc="-110" dirty="0">
                <a:latin typeface="Arial"/>
                <a:cs typeface="Arial"/>
              </a:rPr>
              <a:t>down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95" dirty="0">
                <a:latin typeface="Arial"/>
                <a:cs typeface="Arial"/>
              </a:rPr>
              <a:t>slope </a:t>
            </a:r>
            <a:r>
              <a:rPr sz="1600" spc="-70" dirty="0">
                <a:latin typeface="Arial"/>
                <a:cs typeface="Arial"/>
              </a:rPr>
              <a:t>and </a:t>
            </a:r>
            <a:r>
              <a:rPr sz="1600" spc="-105" dirty="0">
                <a:latin typeface="Arial"/>
                <a:cs typeface="Arial"/>
              </a:rPr>
              <a:t>takes </a:t>
            </a:r>
            <a:r>
              <a:rPr sz="1600" spc="-30" dirty="0">
                <a:latin typeface="Arial"/>
                <a:cs typeface="Arial"/>
              </a:rPr>
              <a:t>large </a:t>
            </a:r>
            <a:r>
              <a:rPr sz="1600" spc="-130" dirty="0">
                <a:latin typeface="Arial"/>
                <a:cs typeface="Arial"/>
              </a:rPr>
              <a:t>steps  </a:t>
            </a:r>
            <a:r>
              <a:rPr sz="1600" spc="-145" dirty="0">
                <a:latin typeface="Arial"/>
                <a:cs typeface="Arial"/>
              </a:rPr>
              <a:t>when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95" dirty="0">
                <a:latin typeface="Arial"/>
                <a:cs typeface="Arial"/>
              </a:rPr>
              <a:t>slope  </a:t>
            </a:r>
            <a:r>
              <a:rPr sz="1600" spc="-140" dirty="0">
                <a:latin typeface="Arial"/>
                <a:cs typeface="Arial"/>
              </a:rPr>
              <a:t>is </a:t>
            </a:r>
            <a:r>
              <a:rPr sz="1600" spc="-95" dirty="0">
                <a:latin typeface="Arial"/>
                <a:cs typeface="Arial"/>
              </a:rPr>
              <a:t>steep  </a:t>
            </a:r>
            <a:r>
              <a:rPr sz="1600" spc="-70" dirty="0">
                <a:latin typeface="Arial"/>
                <a:cs typeface="Arial"/>
              </a:rPr>
              <a:t>and </a:t>
            </a:r>
            <a:r>
              <a:rPr sz="1600" spc="-110" dirty="0">
                <a:latin typeface="Arial"/>
                <a:cs typeface="Arial"/>
              </a:rPr>
              <a:t>small  </a:t>
            </a:r>
            <a:r>
              <a:rPr sz="1600" spc="-130" dirty="0">
                <a:latin typeface="Arial"/>
                <a:cs typeface="Arial"/>
              </a:rPr>
              <a:t>steps </a:t>
            </a:r>
            <a:r>
              <a:rPr sz="1600" spc="-145" dirty="0">
                <a:latin typeface="Arial"/>
                <a:cs typeface="Arial"/>
              </a:rPr>
              <a:t>when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95" dirty="0">
                <a:latin typeface="Arial"/>
                <a:cs typeface="Arial"/>
              </a:rPr>
              <a:t>slope </a:t>
            </a:r>
            <a:r>
              <a:rPr sz="1600" spc="-140" dirty="0">
                <a:latin typeface="Arial"/>
                <a:cs typeface="Arial"/>
              </a:rPr>
              <a:t>is </a:t>
            </a:r>
            <a:r>
              <a:rPr sz="1600" spc="-160" dirty="0">
                <a:latin typeface="Arial"/>
                <a:cs typeface="Arial"/>
              </a:rPr>
              <a:t>less </a:t>
            </a:r>
            <a:r>
              <a:rPr sz="1600" spc="-100" dirty="0">
                <a:latin typeface="Arial"/>
                <a:cs typeface="Arial"/>
              </a:rPr>
              <a:t>steep. </a:t>
            </a:r>
            <a:r>
              <a:rPr sz="1600" spc="-145" dirty="0">
                <a:latin typeface="Arial"/>
                <a:cs typeface="Arial"/>
              </a:rPr>
              <a:t>He  </a:t>
            </a:r>
            <a:r>
              <a:rPr sz="1600" spc="-95" dirty="0">
                <a:latin typeface="Arial"/>
                <a:cs typeface="Arial"/>
              </a:rPr>
              <a:t>decides </a:t>
            </a:r>
            <a:r>
              <a:rPr sz="1600" spc="-160" dirty="0">
                <a:latin typeface="Arial"/>
                <a:cs typeface="Arial"/>
              </a:rPr>
              <a:t>his </a:t>
            </a:r>
            <a:r>
              <a:rPr sz="1600" spc="-90" dirty="0">
                <a:latin typeface="Arial"/>
                <a:cs typeface="Arial"/>
              </a:rPr>
              <a:t>next </a:t>
            </a:r>
            <a:r>
              <a:rPr sz="1600" spc="-85" dirty="0">
                <a:latin typeface="Arial"/>
                <a:cs typeface="Arial"/>
              </a:rPr>
              <a:t>position </a:t>
            </a:r>
            <a:r>
              <a:rPr sz="1600" spc="-80" dirty="0">
                <a:latin typeface="Arial"/>
                <a:cs typeface="Arial"/>
              </a:rPr>
              <a:t>based </a:t>
            </a:r>
            <a:r>
              <a:rPr sz="1600" spc="-140" dirty="0">
                <a:latin typeface="Arial"/>
                <a:cs typeface="Arial"/>
              </a:rPr>
              <a:t>on </a:t>
            </a:r>
            <a:r>
              <a:rPr sz="1600" spc="-160" dirty="0">
                <a:latin typeface="Arial"/>
                <a:cs typeface="Arial"/>
              </a:rPr>
              <a:t>his  </a:t>
            </a:r>
            <a:r>
              <a:rPr sz="1600" spc="-100" dirty="0">
                <a:latin typeface="Arial"/>
                <a:cs typeface="Arial"/>
              </a:rPr>
              <a:t>current </a:t>
            </a:r>
            <a:r>
              <a:rPr sz="1600" spc="-85" dirty="0">
                <a:latin typeface="Arial"/>
                <a:cs typeface="Arial"/>
              </a:rPr>
              <a:t>position </a:t>
            </a:r>
            <a:r>
              <a:rPr sz="1600" spc="-70" dirty="0">
                <a:latin typeface="Arial"/>
                <a:cs typeface="Arial"/>
              </a:rPr>
              <a:t>and </a:t>
            </a:r>
            <a:r>
              <a:rPr sz="1600" spc="-130" dirty="0">
                <a:latin typeface="Arial"/>
                <a:cs typeface="Arial"/>
              </a:rPr>
              <a:t>stops </a:t>
            </a:r>
            <a:r>
              <a:rPr sz="1600" spc="-145" dirty="0">
                <a:latin typeface="Arial"/>
                <a:cs typeface="Arial"/>
              </a:rPr>
              <a:t>when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spc="-145" dirty="0">
                <a:latin typeface="Arial"/>
                <a:cs typeface="Arial"/>
              </a:rPr>
              <a:t>he  </a:t>
            </a:r>
            <a:r>
              <a:rPr sz="1600" spc="-105" dirty="0">
                <a:latin typeface="Arial"/>
                <a:cs typeface="Arial"/>
              </a:rPr>
              <a:t>gets </a:t>
            </a:r>
            <a:r>
              <a:rPr sz="1600" spc="-55" dirty="0">
                <a:latin typeface="Arial"/>
                <a:cs typeface="Arial"/>
              </a:rPr>
              <a:t>to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80" dirty="0">
                <a:latin typeface="Arial"/>
                <a:cs typeface="Arial"/>
              </a:rPr>
              <a:t>bottom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100" dirty="0">
                <a:latin typeface="Arial"/>
                <a:cs typeface="Arial"/>
              </a:rPr>
              <a:t>the </a:t>
            </a:r>
            <a:r>
              <a:rPr sz="1600" spc="-55" dirty="0">
                <a:latin typeface="Arial"/>
                <a:cs typeface="Arial"/>
              </a:rPr>
              <a:t>valley </a:t>
            </a:r>
            <a:r>
              <a:rPr sz="1600" spc="-125" dirty="0">
                <a:latin typeface="Arial"/>
                <a:cs typeface="Arial"/>
              </a:rPr>
              <a:t>which  </a:t>
            </a:r>
            <a:r>
              <a:rPr sz="1600" spc="-145" dirty="0">
                <a:latin typeface="Arial"/>
                <a:cs typeface="Arial"/>
              </a:rPr>
              <a:t>was </a:t>
            </a:r>
            <a:r>
              <a:rPr sz="1600" spc="-160" dirty="0">
                <a:latin typeface="Arial"/>
                <a:cs typeface="Arial"/>
              </a:rPr>
              <a:t>his</a:t>
            </a:r>
            <a:r>
              <a:rPr sz="1600" spc="-17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goal.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206" y="694435"/>
            <a:ext cx="3171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solidFill>
                  <a:srgbClr val="000000"/>
                </a:solidFill>
                <a:latin typeface="Arial"/>
                <a:cs typeface="Arial"/>
              </a:rPr>
              <a:t>Gradient</a:t>
            </a:r>
            <a:r>
              <a:rPr sz="360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spc="-27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0" y="2438394"/>
            <a:ext cx="4984343" cy="33181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62058" y="2140165"/>
            <a:ext cx="6323330" cy="3422015"/>
            <a:chOff x="1562058" y="2140165"/>
            <a:chExt cx="6323330" cy="3422015"/>
          </a:xfrm>
        </p:grpSpPr>
        <p:sp>
          <p:nvSpPr>
            <p:cNvPr id="3" name="object 3"/>
            <p:cNvSpPr/>
            <p:nvPr/>
          </p:nvSpPr>
          <p:spPr>
            <a:xfrm>
              <a:off x="1562058" y="2140165"/>
              <a:ext cx="6322847" cy="34218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3957637" y="3343274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3995737" y="3561156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76687" y="37826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7"/>
            <p:cNvSpPr/>
            <p:nvPr/>
          </p:nvSpPr>
          <p:spPr>
            <a:xfrm>
              <a:off x="3748087" y="40112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8"/>
            <p:cNvSpPr/>
            <p:nvPr/>
          </p:nvSpPr>
          <p:spPr>
            <a:xfrm>
              <a:off x="3824287" y="42398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9" name="object 9"/>
            <p:cNvSpPr/>
            <p:nvPr/>
          </p:nvSpPr>
          <p:spPr>
            <a:xfrm>
              <a:off x="4129087" y="4296968"/>
              <a:ext cx="390525" cy="3524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5287" y="46970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863975" y="4101706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0" y="0"/>
                  </a:moveTo>
                  <a:lnTo>
                    <a:pt x="7620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63974" y="387310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946525" y="4330306"/>
              <a:ext cx="304800" cy="57150"/>
            </a:xfrm>
            <a:custGeom>
              <a:avLst/>
              <a:gdLst/>
              <a:ahLst/>
              <a:cxnLst/>
              <a:rect l="l" t="t" r="r" b="b"/>
              <a:pathLst>
                <a:path w="304800" h="57150">
                  <a:moveTo>
                    <a:pt x="0" y="0"/>
                  </a:moveTo>
                  <a:lnTo>
                    <a:pt x="304800" y="571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0212" y="4387456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152400" y="1714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316412" y="4558906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762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076700" y="3433762"/>
              <a:ext cx="43180" cy="228600"/>
            </a:xfrm>
            <a:custGeom>
              <a:avLst/>
              <a:gdLst/>
              <a:ahLst/>
              <a:cxnLst/>
              <a:rect l="l" t="t" r="r" b="b"/>
              <a:pathLst>
                <a:path w="43179" h="228600">
                  <a:moveTo>
                    <a:pt x="0" y="0"/>
                  </a:moveTo>
                  <a:lnTo>
                    <a:pt x="42863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095749" y="3658793"/>
              <a:ext cx="24130" cy="210820"/>
            </a:xfrm>
            <a:custGeom>
              <a:avLst/>
              <a:gdLst/>
              <a:ahLst/>
              <a:cxnLst/>
              <a:rect l="l" t="t" r="r" b="b"/>
              <a:pathLst>
                <a:path w="24129" h="210820">
                  <a:moveTo>
                    <a:pt x="11906" y="-14287"/>
                  </a:moveTo>
                  <a:lnTo>
                    <a:pt x="11906" y="225028"/>
                  </a:lnTo>
                </a:path>
              </a:pathLst>
            </a:custGeom>
            <a:ln w="52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1076" y="3724147"/>
            <a:ext cx="736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J(</a:t>
            </a:r>
            <a:r>
              <a:rPr sz="1600" spc="-5" dirty="0">
                <a:latin typeface="Symbol"/>
                <a:cs typeface="Symbol"/>
              </a:rPr>
              <a:t></a:t>
            </a:r>
            <a:r>
              <a:rPr sz="1600" spc="-7" baseline="-13888" dirty="0">
                <a:latin typeface="Symbol"/>
                <a:cs typeface="Symbol"/>
              </a:rPr>
              <a:t></a:t>
            </a:r>
            <a:r>
              <a:rPr sz="1600" spc="-5" dirty="0">
                <a:latin typeface="Symbol"/>
                <a:cs typeface="Symbol"/>
              </a:rPr>
              <a:t></a:t>
            </a:r>
            <a:r>
              <a:rPr sz="1600" spc="-7" baseline="-13888" dirty="0">
                <a:latin typeface="Symbol"/>
                <a:cs typeface="Symbol"/>
              </a:rPr>
              <a:t></a:t>
            </a:r>
            <a:r>
              <a:rPr sz="1600" spc="-5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46265" y="5140240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</a:t>
            </a:r>
            <a:endParaRPr sz="1600" baseline="-1388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5127" y="5426752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</a:t>
            </a:r>
            <a:endParaRPr sz="1600" baseline="-13888">
              <a:latin typeface="Symbol"/>
              <a:cs typeface="Symbo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592206" y="694435"/>
            <a:ext cx="50107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7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50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5858" y="2216365"/>
            <a:ext cx="6323330" cy="3422015"/>
            <a:chOff x="1485858" y="2216365"/>
            <a:chExt cx="6323330" cy="3422015"/>
          </a:xfrm>
        </p:grpSpPr>
        <p:sp>
          <p:nvSpPr>
            <p:cNvPr id="3" name="object 3"/>
            <p:cNvSpPr/>
            <p:nvPr/>
          </p:nvSpPr>
          <p:spPr>
            <a:xfrm>
              <a:off x="1485858" y="2216365"/>
              <a:ext cx="6322847" cy="34218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076700" y="3320656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4333875" y="3552824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/>
            <p:nvPr/>
          </p:nvSpPr>
          <p:spPr>
            <a:xfrm>
              <a:off x="4619625" y="3645687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7"/>
            <p:cNvSpPr/>
            <p:nvPr/>
          </p:nvSpPr>
          <p:spPr>
            <a:xfrm>
              <a:off x="4967287" y="3852862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8"/>
            <p:cNvSpPr/>
            <p:nvPr/>
          </p:nvSpPr>
          <p:spPr>
            <a:xfrm>
              <a:off x="5348287" y="4024312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29287" y="4138612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10287" y="4252912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072062" y="3943350"/>
              <a:ext cx="381000" cy="171450"/>
            </a:xfrm>
            <a:custGeom>
              <a:avLst/>
              <a:gdLst/>
              <a:ahLst/>
              <a:cxnLst/>
              <a:rect l="l" t="t" r="r" b="b"/>
              <a:pathLst>
                <a:path w="381000" h="171450">
                  <a:moveTo>
                    <a:pt x="0" y="0"/>
                  </a:moveTo>
                  <a:lnTo>
                    <a:pt x="381000" y="1714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4174" y="411480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381000" y="1143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845174" y="422910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381000" y="1143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195762" y="3414712"/>
              <a:ext cx="247650" cy="225425"/>
            </a:xfrm>
            <a:custGeom>
              <a:avLst/>
              <a:gdLst/>
              <a:ahLst/>
              <a:cxnLst/>
              <a:rect l="l" t="t" r="r" b="b"/>
              <a:pathLst>
                <a:path w="247650" h="225425">
                  <a:moveTo>
                    <a:pt x="0" y="0"/>
                  </a:moveTo>
                  <a:lnTo>
                    <a:pt x="247650" y="22502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443412" y="3643312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0" y="0"/>
                  </a:moveTo>
                  <a:lnTo>
                    <a:pt x="290512" y="10001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881437" y="34135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738687" y="3746893"/>
              <a:ext cx="333375" cy="196850"/>
            </a:xfrm>
            <a:custGeom>
              <a:avLst/>
              <a:gdLst/>
              <a:ahLst/>
              <a:cxnLst/>
              <a:rect l="l" t="t" r="r" b="b"/>
              <a:pathLst>
                <a:path w="333375" h="196850">
                  <a:moveTo>
                    <a:pt x="0" y="0"/>
                  </a:moveTo>
                  <a:lnTo>
                    <a:pt x="333375" y="19645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4875" y="3803395"/>
            <a:ext cx="736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J(</a:t>
            </a:r>
            <a:r>
              <a:rPr sz="1600" spc="-5" dirty="0">
                <a:latin typeface="Symbol"/>
                <a:cs typeface="Symbol"/>
              </a:rPr>
              <a:t></a:t>
            </a:r>
            <a:r>
              <a:rPr sz="1600" spc="-7" baseline="-13888" dirty="0">
                <a:latin typeface="Symbol"/>
                <a:cs typeface="Symbol"/>
              </a:rPr>
              <a:t></a:t>
            </a:r>
            <a:r>
              <a:rPr sz="1600" spc="-5" dirty="0">
                <a:latin typeface="Symbol"/>
                <a:cs typeface="Symbol"/>
              </a:rPr>
              <a:t></a:t>
            </a:r>
            <a:r>
              <a:rPr sz="1600" spc="-7" baseline="-13888" dirty="0">
                <a:latin typeface="Symbol"/>
                <a:cs typeface="Symbol"/>
              </a:rPr>
              <a:t></a:t>
            </a:r>
            <a:r>
              <a:rPr sz="1600" spc="-5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46265" y="5140240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</a:t>
            </a:r>
            <a:endParaRPr sz="1600" baseline="-1388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5127" y="5426752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</a:t>
            </a:r>
            <a:endParaRPr sz="1600" baseline="-13888">
              <a:latin typeface="Symbol"/>
              <a:cs typeface="Symbo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592206" y="694435"/>
            <a:ext cx="50107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7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50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206" y="694435"/>
            <a:ext cx="50107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7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50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2284" y="2005152"/>
            <a:ext cx="3230118" cy="1271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/>
          <p:nvPr/>
        </p:nvSpPr>
        <p:spPr>
          <a:xfrm>
            <a:off x="4438650" y="2500071"/>
            <a:ext cx="2731770" cy="306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/>
          <p:nvPr/>
        </p:nvSpPr>
        <p:spPr>
          <a:xfrm>
            <a:off x="609600" y="3657600"/>
            <a:ext cx="76962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6204" y="1"/>
                </a:lnTo>
              </a:path>
            </a:pathLst>
          </a:custGeom>
          <a:ln w="127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" name="object 6"/>
          <p:cNvSpPr txBox="1"/>
          <p:nvPr/>
        </p:nvSpPr>
        <p:spPr>
          <a:xfrm>
            <a:off x="592206" y="3742435"/>
            <a:ext cx="370967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Correct: </a:t>
            </a:r>
            <a:r>
              <a:rPr sz="2000" spc="-5" dirty="0">
                <a:latin typeface="Carlito"/>
                <a:cs typeface="Carlito"/>
              </a:rPr>
              <a:t>Simultaneous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update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111" y="4294022"/>
            <a:ext cx="2964484" cy="1192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/>
          <p:nvPr/>
        </p:nvSpPr>
        <p:spPr>
          <a:xfrm>
            <a:off x="4457700" y="3733800"/>
            <a:ext cx="0" cy="1905000"/>
          </a:xfrm>
          <a:custGeom>
            <a:avLst/>
            <a:gdLst/>
            <a:ahLst/>
            <a:cxnLst/>
            <a:rect l="l" t="t" r="r" b="b"/>
            <a:pathLst>
              <a:path h="1905000">
                <a:moveTo>
                  <a:pt x="0" y="0"/>
                </a:moveTo>
                <a:lnTo>
                  <a:pt x="1" y="1905001"/>
                </a:lnTo>
              </a:path>
            </a:pathLst>
          </a:custGeom>
          <a:ln w="127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4783201" y="3742435"/>
            <a:ext cx="12217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Incorrect: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93106" y="4294022"/>
            <a:ext cx="2964484" cy="11393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3" name="object 3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31141" y="2608579"/>
            <a:ext cx="8681717" cy="1757789"/>
          </a:xfrm>
          <a:prstGeom prst="rect">
            <a:avLst/>
          </a:prstGeom>
        </p:spPr>
        <p:txBody>
          <a:bodyPr vert="horz" wrap="square" lIns="0" tIns="399669" rIns="0" bIns="0" rtlCol="0">
            <a:spAutoFit/>
          </a:bodyPr>
          <a:lstStyle/>
          <a:p>
            <a:pPr marL="3959225" marR="5080">
              <a:lnSpc>
                <a:spcPct val="100400"/>
              </a:lnSpc>
              <a:spcBef>
                <a:spcPts val="75"/>
              </a:spcBef>
            </a:pPr>
            <a:r>
              <a:rPr sz="4400" spc="-125" dirty="0"/>
              <a:t>Gradient </a:t>
            </a:r>
            <a:r>
              <a:rPr sz="4400" spc="-360" dirty="0"/>
              <a:t>descent  </a:t>
            </a:r>
            <a:r>
              <a:rPr sz="4400" spc="-235" dirty="0"/>
              <a:t>intuition</a:t>
            </a:r>
          </a:p>
        </p:txBody>
      </p:sp>
      <p:sp>
        <p:nvSpPr>
          <p:cNvPr id="6" name="object 6"/>
          <p:cNvSpPr/>
          <p:nvPr/>
        </p:nvSpPr>
        <p:spPr>
          <a:xfrm>
            <a:off x="893618" y="18994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916939" y="5303011"/>
            <a:ext cx="22396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5034" y="1516380"/>
            <a:ext cx="7313930" cy="124008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sz="4000" dirty="0"/>
              <a:t>Linear </a:t>
            </a:r>
            <a:r>
              <a:rPr sz="4000" spc="-15" dirty="0"/>
              <a:t>regression  </a:t>
            </a:r>
            <a:r>
              <a:rPr sz="4000" dirty="0"/>
              <a:t>with one</a:t>
            </a:r>
            <a:r>
              <a:rPr sz="4000" spc="-95" dirty="0"/>
              <a:t> </a:t>
            </a:r>
            <a:r>
              <a:rPr sz="4000" spc="-10" dirty="0"/>
              <a:t>variable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445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0882" y="2334005"/>
            <a:ext cx="3513582" cy="1383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81549" y="2833113"/>
            <a:ext cx="2790850" cy="612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9394" y="1864308"/>
            <a:ext cx="2972435" cy="2170430"/>
          </a:xfrm>
          <a:custGeom>
            <a:avLst/>
            <a:gdLst/>
            <a:ahLst/>
            <a:cxnLst/>
            <a:rect l="l" t="t" r="r" b="b"/>
            <a:pathLst>
              <a:path w="2972435" h="2170429">
                <a:moveTo>
                  <a:pt x="2971838" y="1941779"/>
                </a:moveTo>
                <a:lnTo>
                  <a:pt x="2948978" y="1922729"/>
                </a:lnTo>
                <a:lnTo>
                  <a:pt x="2839986" y="1831898"/>
                </a:lnTo>
                <a:lnTo>
                  <a:pt x="2833319" y="1828304"/>
                </a:lnTo>
                <a:lnTo>
                  <a:pt x="2808808" y="1848256"/>
                </a:lnTo>
                <a:lnTo>
                  <a:pt x="2810853" y="1855266"/>
                </a:lnTo>
                <a:lnTo>
                  <a:pt x="2815590" y="1861159"/>
                </a:lnTo>
                <a:lnTo>
                  <a:pt x="2889466" y="1922729"/>
                </a:lnTo>
                <a:lnTo>
                  <a:pt x="247650" y="1922729"/>
                </a:lnTo>
                <a:lnTo>
                  <a:pt x="247650" y="82384"/>
                </a:lnTo>
                <a:lnTo>
                  <a:pt x="309219" y="156260"/>
                </a:lnTo>
                <a:lnTo>
                  <a:pt x="315112" y="160997"/>
                </a:lnTo>
                <a:lnTo>
                  <a:pt x="322122" y="163042"/>
                </a:lnTo>
                <a:lnTo>
                  <a:pt x="329387" y="162306"/>
                </a:lnTo>
                <a:lnTo>
                  <a:pt x="336042" y="158699"/>
                </a:lnTo>
                <a:lnTo>
                  <a:pt x="340779" y="152806"/>
                </a:lnTo>
                <a:lnTo>
                  <a:pt x="342823" y="145783"/>
                </a:lnTo>
                <a:lnTo>
                  <a:pt x="342087" y="138518"/>
                </a:lnTo>
                <a:lnTo>
                  <a:pt x="338480" y="131864"/>
                </a:lnTo>
                <a:lnTo>
                  <a:pt x="253390" y="29756"/>
                </a:lnTo>
                <a:lnTo>
                  <a:pt x="228600" y="0"/>
                </a:lnTo>
                <a:lnTo>
                  <a:pt x="118719" y="131864"/>
                </a:lnTo>
                <a:lnTo>
                  <a:pt x="115112" y="138518"/>
                </a:lnTo>
                <a:lnTo>
                  <a:pt x="114376" y="145783"/>
                </a:lnTo>
                <a:lnTo>
                  <a:pt x="116420" y="152806"/>
                </a:lnTo>
                <a:lnTo>
                  <a:pt x="121158" y="158699"/>
                </a:lnTo>
                <a:lnTo>
                  <a:pt x="127812" y="162306"/>
                </a:lnTo>
                <a:lnTo>
                  <a:pt x="135077" y="163042"/>
                </a:lnTo>
                <a:lnTo>
                  <a:pt x="142087" y="160997"/>
                </a:lnTo>
                <a:lnTo>
                  <a:pt x="147980" y="156260"/>
                </a:lnTo>
                <a:lnTo>
                  <a:pt x="209550" y="82384"/>
                </a:lnTo>
                <a:lnTo>
                  <a:pt x="209550" y="1922729"/>
                </a:lnTo>
                <a:lnTo>
                  <a:pt x="0" y="1922729"/>
                </a:lnTo>
                <a:lnTo>
                  <a:pt x="0" y="1960829"/>
                </a:lnTo>
                <a:lnTo>
                  <a:pt x="209550" y="1960829"/>
                </a:lnTo>
                <a:lnTo>
                  <a:pt x="209550" y="2170379"/>
                </a:lnTo>
                <a:lnTo>
                  <a:pt x="247650" y="2170379"/>
                </a:lnTo>
                <a:lnTo>
                  <a:pt x="247650" y="1960829"/>
                </a:lnTo>
                <a:lnTo>
                  <a:pt x="2889466" y="1960829"/>
                </a:lnTo>
                <a:lnTo>
                  <a:pt x="2815590" y="2022398"/>
                </a:lnTo>
                <a:lnTo>
                  <a:pt x="2810853" y="2028304"/>
                </a:lnTo>
                <a:lnTo>
                  <a:pt x="2808808" y="2035314"/>
                </a:lnTo>
                <a:lnTo>
                  <a:pt x="2809544" y="2042579"/>
                </a:lnTo>
                <a:lnTo>
                  <a:pt x="2813151" y="2049221"/>
                </a:lnTo>
                <a:lnTo>
                  <a:pt x="2819044" y="2053971"/>
                </a:lnTo>
                <a:lnTo>
                  <a:pt x="2826054" y="2056003"/>
                </a:lnTo>
                <a:lnTo>
                  <a:pt x="2833319" y="2055266"/>
                </a:lnTo>
                <a:lnTo>
                  <a:pt x="2839986" y="2051659"/>
                </a:lnTo>
                <a:lnTo>
                  <a:pt x="2948978" y="1960829"/>
                </a:lnTo>
                <a:lnTo>
                  <a:pt x="2971838" y="1941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9394" y="4265980"/>
            <a:ext cx="2972435" cy="2170430"/>
          </a:xfrm>
          <a:custGeom>
            <a:avLst/>
            <a:gdLst/>
            <a:ahLst/>
            <a:cxnLst/>
            <a:rect l="l" t="t" r="r" b="b"/>
            <a:pathLst>
              <a:path w="2972435" h="2170429">
                <a:moveTo>
                  <a:pt x="2971838" y="1941779"/>
                </a:moveTo>
                <a:lnTo>
                  <a:pt x="2839986" y="1831886"/>
                </a:lnTo>
                <a:lnTo>
                  <a:pt x="2833319" y="1828292"/>
                </a:lnTo>
                <a:lnTo>
                  <a:pt x="2826054" y="1827555"/>
                </a:lnTo>
                <a:lnTo>
                  <a:pt x="2819044" y="1829587"/>
                </a:lnTo>
                <a:lnTo>
                  <a:pt x="2813151" y="1834324"/>
                </a:lnTo>
                <a:lnTo>
                  <a:pt x="2809544" y="1840979"/>
                </a:lnTo>
                <a:lnTo>
                  <a:pt x="2808808" y="1848256"/>
                </a:lnTo>
                <a:lnTo>
                  <a:pt x="2810853" y="1855266"/>
                </a:lnTo>
                <a:lnTo>
                  <a:pt x="2815590" y="1861159"/>
                </a:lnTo>
                <a:lnTo>
                  <a:pt x="2889466" y="1922729"/>
                </a:lnTo>
                <a:lnTo>
                  <a:pt x="247650" y="1922729"/>
                </a:lnTo>
                <a:lnTo>
                  <a:pt x="247650" y="82372"/>
                </a:lnTo>
                <a:lnTo>
                  <a:pt x="309219" y="156248"/>
                </a:lnTo>
                <a:lnTo>
                  <a:pt x="315112" y="160985"/>
                </a:lnTo>
                <a:lnTo>
                  <a:pt x="322122" y="163029"/>
                </a:lnTo>
                <a:lnTo>
                  <a:pt x="329387" y="162293"/>
                </a:lnTo>
                <a:lnTo>
                  <a:pt x="336042" y="158686"/>
                </a:lnTo>
                <a:lnTo>
                  <a:pt x="340779" y="152793"/>
                </a:lnTo>
                <a:lnTo>
                  <a:pt x="342823" y="145783"/>
                </a:lnTo>
                <a:lnTo>
                  <a:pt x="342087" y="138518"/>
                </a:lnTo>
                <a:lnTo>
                  <a:pt x="338480" y="131851"/>
                </a:lnTo>
                <a:lnTo>
                  <a:pt x="253390" y="29743"/>
                </a:lnTo>
                <a:lnTo>
                  <a:pt x="228600" y="0"/>
                </a:lnTo>
                <a:lnTo>
                  <a:pt x="118719" y="131851"/>
                </a:lnTo>
                <a:lnTo>
                  <a:pt x="115112" y="138518"/>
                </a:lnTo>
                <a:lnTo>
                  <a:pt x="114376" y="145783"/>
                </a:lnTo>
                <a:lnTo>
                  <a:pt x="116420" y="152793"/>
                </a:lnTo>
                <a:lnTo>
                  <a:pt x="121158" y="158686"/>
                </a:lnTo>
                <a:lnTo>
                  <a:pt x="127812" y="162293"/>
                </a:lnTo>
                <a:lnTo>
                  <a:pt x="135077" y="163029"/>
                </a:lnTo>
                <a:lnTo>
                  <a:pt x="142087" y="160985"/>
                </a:lnTo>
                <a:lnTo>
                  <a:pt x="147980" y="156248"/>
                </a:lnTo>
                <a:lnTo>
                  <a:pt x="209550" y="82372"/>
                </a:lnTo>
                <a:lnTo>
                  <a:pt x="209550" y="1922729"/>
                </a:lnTo>
                <a:lnTo>
                  <a:pt x="0" y="1922729"/>
                </a:lnTo>
                <a:lnTo>
                  <a:pt x="0" y="1960829"/>
                </a:lnTo>
                <a:lnTo>
                  <a:pt x="209550" y="1960829"/>
                </a:lnTo>
                <a:lnTo>
                  <a:pt x="209550" y="2170379"/>
                </a:lnTo>
                <a:lnTo>
                  <a:pt x="247650" y="2170379"/>
                </a:lnTo>
                <a:lnTo>
                  <a:pt x="247650" y="1960829"/>
                </a:lnTo>
                <a:lnTo>
                  <a:pt x="2889466" y="1960829"/>
                </a:lnTo>
                <a:lnTo>
                  <a:pt x="2815590" y="2022386"/>
                </a:lnTo>
                <a:lnTo>
                  <a:pt x="2810853" y="2028291"/>
                </a:lnTo>
                <a:lnTo>
                  <a:pt x="2808808" y="2035302"/>
                </a:lnTo>
                <a:lnTo>
                  <a:pt x="2809544" y="2042566"/>
                </a:lnTo>
                <a:lnTo>
                  <a:pt x="2813151" y="2049221"/>
                </a:lnTo>
                <a:lnTo>
                  <a:pt x="2819044" y="2053958"/>
                </a:lnTo>
                <a:lnTo>
                  <a:pt x="2826054" y="2056003"/>
                </a:lnTo>
                <a:lnTo>
                  <a:pt x="2833319" y="2055253"/>
                </a:lnTo>
                <a:lnTo>
                  <a:pt x="2839986" y="2051659"/>
                </a:lnTo>
                <a:lnTo>
                  <a:pt x="2948978" y="1960829"/>
                </a:lnTo>
                <a:lnTo>
                  <a:pt x="2971838" y="1941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445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5124" y="1805336"/>
            <a:ext cx="2768769" cy="1776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76295" y="3900932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latin typeface="DejaVu Sans"/>
                <a:cs typeface="DejaVu Sans"/>
              </a:rPr>
              <a:t>𝜃</a:t>
            </a:r>
            <a:r>
              <a:rPr sz="1950" spc="-494" baseline="-14957" dirty="0">
                <a:latin typeface="DejaVu Sans"/>
                <a:cs typeface="DejaVu Sans"/>
              </a:rPr>
              <a:t>%</a:t>
            </a:r>
            <a:endParaRPr sz="1950" baseline="-14957">
              <a:latin typeface="DejaVu Sans"/>
              <a:cs typeface="DejaVu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04124" y="4486732"/>
            <a:ext cx="355600" cy="12700"/>
          </a:xfrm>
          <a:custGeom>
            <a:avLst/>
            <a:gdLst/>
            <a:ahLst/>
            <a:cxnLst/>
            <a:rect l="l" t="t" r="r" b="b"/>
            <a:pathLst>
              <a:path w="355600" h="12700">
                <a:moveTo>
                  <a:pt x="355600" y="0"/>
                </a:moveTo>
                <a:lnTo>
                  <a:pt x="0" y="0"/>
                </a:lnTo>
                <a:lnTo>
                  <a:pt x="0" y="12700"/>
                </a:lnTo>
                <a:lnTo>
                  <a:pt x="355600" y="12700"/>
                </a:lnTo>
                <a:lnTo>
                  <a:pt x="355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03358" y="6327140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30" dirty="0">
                <a:latin typeface="DejaVu Sans"/>
                <a:cs typeface="DejaVu Sans"/>
              </a:rPr>
              <a:t>𝜃</a:t>
            </a:r>
            <a:r>
              <a:rPr sz="1950" spc="-494" baseline="-14957" dirty="0">
                <a:latin typeface="DejaVu Sans"/>
                <a:cs typeface="DejaVu Sans"/>
              </a:rPr>
              <a:t>%</a:t>
            </a:r>
            <a:endParaRPr sz="1950" baseline="-14957">
              <a:latin typeface="DejaVu Sans"/>
              <a:cs typeface="DejaVu San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76400" y="6443507"/>
            <a:ext cx="549910" cy="76200"/>
          </a:xfrm>
          <a:custGeom>
            <a:avLst/>
            <a:gdLst/>
            <a:ahLst/>
            <a:cxnLst/>
            <a:rect l="l" t="t" r="r" b="b"/>
            <a:pathLst>
              <a:path w="549910" h="76200">
                <a:moveTo>
                  <a:pt x="473506" y="50799"/>
                </a:moveTo>
                <a:lnTo>
                  <a:pt x="473506" y="76200"/>
                </a:lnTo>
                <a:lnTo>
                  <a:pt x="524306" y="50800"/>
                </a:lnTo>
                <a:lnTo>
                  <a:pt x="473506" y="50799"/>
                </a:lnTo>
                <a:close/>
              </a:path>
              <a:path w="549910" h="76200">
                <a:moveTo>
                  <a:pt x="473506" y="25399"/>
                </a:moveTo>
                <a:lnTo>
                  <a:pt x="473506" y="50799"/>
                </a:lnTo>
                <a:lnTo>
                  <a:pt x="486206" y="50800"/>
                </a:lnTo>
                <a:lnTo>
                  <a:pt x="486206" y="25400"/>
                </a:lnTo>
                <a:lnTo>
                  <a:pt x="473506" y="25399"/>
                </a:lnTo>
                <a:close/>
              </a:path>
              <a:path w="549910" h="76200">
                <a:moveTo>
                  <a:pt x="473506" y="0"/>
                </a:moveTo>
                <a:lnTo>
                  <a:pt x="473506" y="25399"/>
                </a:lnTo>
                <a:lnTo>
                  <a:pt x="486206" y="25400"/>
                </a:lnTo>
                <a:lnTo>
                  <a:pt x="486206" y="50800"/>
                </a:lnTo>
                <a:lnTo>
                  <a:pt x="524309" y="50798"/>
                </a:lnTo>
                <a:lnTo>
                  <a:pt x="549706" y="38100"/>
                </a:lnTo>
                <a:lnTo>
                  <a:pt x="473506" y="0"/>
                </a:lnTo>
                <a:close/>
              </a:path>
              <a:path w="549910" h="76200">
                <a:moveTo>
                  <a:pt x="0" y="25398"/>
                </a:moveTo>
                <a:lnTo>
                  <a:pt x="0" y="50798"/>
                </a:lnTo>
                <a:lnTo>
                  <a:pt x="473506" y="50799"/>
                </a:lnTo>
                <a:lnTo>
                  <a:pt x="473506" y="25399"/>
                </a:lnTo>
                <a:lnTo>
                  <a:pt x="0" y="25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85859" y="4026395"/>
            <a:ext cx="414655" cy="76200"/>
          </a:xfrm>
          <a:custGeom>
            <a:avLst/>
            <a:gdLst/>
            <a:ahLst/>
            <a:cxnLst/>
            <a:rect l="l" t="t" r="r" b="b"/>
            <a:pathLst>
              <a:path w="41465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414655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414655" h="76200">
                <a:moveTo>
                  <a:pt x="414540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414540" y="50800"/>
                </a:lnTo>
                <a:lnTo>
                  <a:pt x="41454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04907" y="1584452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70" dirty="0">
                <a:latin typeface="DejaVu Sans"/>
                <a:cs typeface="DejaVu Sans"/>
              </a:rPr>
              <a:t>𝐽(𝜃</a:t>
            </a:r>
            <a:r>
              <a:rPr sz="1950" spc="-254" baseline="-17094" dirty="0">
                <a:latin typeface="DejaVu Sans"/>
                <a:cs typeface="DejaVu Sans"/>
              </a:rPr>
              <a:t>%</a:t>
            </a:r>
            <a:r>
              <a:rPr sz="1800" spc="-170" dirty="0">
                <a:latin typeface="DejaVu Sans"/>
                <a:cs typeface="DejaVu Sans"/>
              </a:rPr>
              <a:t>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1422" y="4702555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70" dirty="0">
                <a:latin typeface="DejaVu Sans"/>
                <a:cs typeface="DejaVu Sans"/>
              </a:rPr>
              <a:t>𝐽(𝜃</a:t>
            </a:r>
            <a:r>
              <a:rPr sz="1950" spc="-254" baseline="-17094" dirty="0">
                <a:latin typeface="DejaVu Sans"/>
                <a:cs typeface="DejaVu Sans"/>
              </a:rPr>
              <a:t>%</a:t>
            </a:r>
            <a:r>
              <a:rPr sz="1800" spc="-170" dirty="0">
                <a:latin typeface="DejaVu Sans"/>
                <a:cs typeface="DejaVu Sans"/>
              </a:rPr>
              <a:t>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5500" y="4405281"/>
            <a:ext cx="2801226" cy="1776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5BF6A9-4D58-4DF4-ABC0-43CBFCCCC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961" y="1939162"/>
            <a:ext cx="2897239" cy="6392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CE21BD-1E2D-4954-B7C6-8A73896B0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197" y="4526490"/>
            <a:ext cx="2977793" cy="7748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1651799"/>
            <a:ext cx="2972435" cy="2170430"/>
          </a:xfrm>
          <a:custGeom>
            <a:avLst/>
            <a:gdLst/>
            <a:ahLst/>
            <a:cxnLst/>
            <a:rect l="l" t="t" r="r" b="b"/>
            <a:pathLst>
              <a:path w="2972434" h="2170429">
                <a:moveTo>
                  <a:pt x="2971838" y="1941779"/>
                </a:moveTo>
                <a:lnTo>
                  <a:pt x="2948965" y="1922729"/>
                </a:lnTo>
                <a:lnTo>
                  <a:pt x="2839974" y="1831898"/>
                </a:lnTo>
                <a:lnTo>
                  <a:pt x="2833319" y="1828304"/>
                </a:lnTo>
                <a:lnTo>
                  <a:pt x="2808808" y="1848256"/>
                </a:lnTo>
                <a:lnTo>
                  <a:pt x="2810840" y="1855266"/>
                </a:lnTo>
                <a:lnTo>
                  <a:pt x="2815590" y="1861159"/>
                </a:lnTo>
                <a:lnTo>
                  <a:pt x="2889466" y="1922729"/>
                </a:lnTo>
                <a:lnTo>
                  <a:pt x="247650" y="1922729"/>
                </a:lnTo>
                <a:lnTo>
                  <a:pt x="247650" y="82384"/>
                </a:lnTo>
                <a:lnTo>
                  <a:pt x="309219" y="156260"/>
                </a:lnTo>
                <a:lnTo>
                  <a:pt x="315112" y="160997"/>
                </a:lnTo>
                <a:lnTo>
                  <a:pt x="322122" y="163042"/>
                </a:lnTo>
                <a:lnTo>
                  <a:pt x="329387" y="162306"/>
                </a:lnTo>
                <a:lnTo>
                  <a:pt x="336042" y="158699"/>
                </a:lnTo>
                <a:lnTo>
                  <a:pt x="340779" y="152806"/>
                </a:lnTo>
                <a:lnTo>
                  <a:pt x="342823" y="145783"/>
                </a:lnTo>
                <a:lnTo>
                  <a:pt x="342074" y="138518"/>
                </a:lnTo>
                <a:lnTo>
                  <a:pt x="338480" y="131864"/>
                </a:lnTo>
                <a:lnTo>
                  <a:pt x="253390" y="29756"/>
                </a:lnTo>
                <a:lnTo>
                  <a:pt x="228600" y="0"/>
                </a:lnTo>
                <a:lnTo>
                  <a:pt x="118719" y="131864"/>
                </a:lnTo>
                <a:lnTo>
                  <a:pt x="115112" y="138518"/>
                </a:lnTo>
                <a:lnTo>
                  <a:pt x="114376" y="145783"/>
                </a:lnTo>
                <a:lnTo>
                  <a:pt x="116408" y="152806"/>
                </a:lnTo>
                <a:lnTo>
                  <a:pt x="121158" y="158699"/>
                </a:lnTo>
                <a:lnTo>
                  <a:pt x="127800" y="162306"/>
                </a:lnTo>
                <a:lnTo>
                  <a:pt x="135064" y="163042"/>
                </a:lnTo>
                <a:lnTo>
                  <a:pt x="142074" y="160997"/>
                </a:lnTo>
                <a:lnTo>
                  <a:pt x="147980" y="156260"/>
                </a:lnTo>
                <a:lnTo>
                  <a:pt x="209550" y="82384"/>
                </a:lnTo>
                <a:lnTo>
                  <a:pt x="209550" y="1922729"/>
                </a:lnTo>
                <a:lnTo>
                  <a:pt x="0" y="1922729"/>
                </a:lnTo>
                <a:lnTo>
                  <a:pt x="0" y="1960829"/>
                </a:lnTo>
                <a:lnTo>
                  <a:pt x="209550" y="1960829"/>
                </a:lnTo>
                <a:lnTo>
                  <a:pt x="209550" y="2170379"/>
                </a:lnTo>
                <a:lnTo>
                  <a:pt x="247650" y="2170379"/>
                </a:lnTo>
                <a:lnTo>
                  <a:pt x="247650" y="1960829"/>
                </a:lnTo>
                <a:lnTo>
                  <a:pt x="2889466" y="1960829"/>
                </a:lnTo>
                <a:lnTo>
                  <a:pt x="2815590" y="2022398"/>
                </a:lnTo>
                <a:lnTo>
                  <a:pt x="2810840" y="2028304"/>
                </a:lnTo>
                <a:lnTo>
                  <a:pt x="2808808" y="2035314"/>
                </a:lnTo>
                <a:lnTo>
                  <a:pt x="2809544" y="2042579"/>
                </a:lnTo>
                <a:lnTo>
                  <a:pt x="2813151" y="2049221"/>
                </a:lnTo>
                <a:lnTo>
                  <a:pt x="2819044" y="2053971"/>
                </a:lnTo>
                <a:lnTo>
                  <a:pt x="2826054" y="2056003"/>
                </a:lnTo>
                <a:lnTo>
                  <a:pt x="2833319" y="2055266"/>
                </a:lnTo>
                <a:lnTo>
                  <a:pt x="2839974" y="2051659"/>
                </a:lnTo>
                <a:lnTo>
                  <a:pt x="2948965" y="1960829"/>
                </a:lnTo>
                <a:lnTo>
                  <a:pt x="2971838" y="1941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15000" y="4053471"/>
            <a:ext cx="2972435" cy="2170430"/>
          </a:xfrm>
          <a:custGeom>
            <a:avLst/>
            <a:gdLst/>
            <a:ahLst/>
            <a:cxnLst/>
            <a:rect l="l" t="t" r="r" b="b"/>
            <a:pathLst>
              <a:path w="2972434" h="2170429">
                <a:moveTo>
                  <a:pt x="2971838" y="1941779"/>
                </a:moveTo>
                <a:lnTo>
                  <a:pt x="2839974" y="1831886"/>
                </a:lnTo>
                <a:lnTo>
                  <a:pt x="2833319" y="1828292"/>
                </a:lnTo>
                <a:lnTo>
                  <a:pt x="2826054" y="1827555"/>
                </a:lnTo>
                <a:lnTo>
                  <a:pt x="2819044" y="1829587"/>
                </a:lnTo>
                <a:lnTo>
                  <a:pt x="2813151" y="1834324"/>
                </a:lnTo>
                <a:lnTo>
                  <a:pt x="2809544" y="1840979"/>
                </a:lnTo>
                <a:lnTo>
                  <a:pt x="2808808" y="1848243"/>
                </a:lnTo>
                <a:lnTo>
                  <a:pt x="2810840" y="1855266"/>
                </a:lnTo>
                <a:lnTo>
                  <a:pt x="2815590" y="1861159"/>
                </a:lnTo>
                <a:lnTo>
                  <a:pt x="2889466" y="1922729"/>
                </a:lnTo>
                <a:lnTo>
                  <a:pt x="247650" y="1922729"/>
                </a:lnTo>
                <a:lnTo>
                  <a:pt x="247650" y="82372"/>
                </a:lnTo>
                <a:lnTo>
                  <a:pt x="309219" y="156248"/>
                </a:lnTo>
                <a:lnTo>
                  <a:pt x="315112" y="160985"/>
                </a:lnTo>
                <a:lnTo>
                  <a:pt x="322122" y="163029"/>
                </a:lnTo>
                <a:lnTo>
                  <a:pt x="329387" y="162293"/>
                </a:lnTo>
                <a:lnTo>
                  <a:pt x="336042" y="158686"/>
                </a:lnTo>
                <a:lnTo>
                  <a:pt x="340779" y="152793"/>
                </a:lnTo>
                <a:lnTo>
                  <a:pt x="342823" y="145783"/>
                </a:lnTo>
                <a:lnTo>
                  <a:pt x="342074" y="138518"/>
                </a:lnTo>
                <a:lnTo>
                  <a:pt x="338480" y="131851"/>
                </a:lnTo>
                <a:lnTo>
                  <a:pt x="253377" y="29743"/>
                </a:lnTo>
                <a:lnTo>
                  <a:pt x="228600" y="0"/>
                </a:lnTo>
                <a:lnTo>
                  <a:pt x="118719" y="131851"/>
                </a:lnTo>
                <a:lnTo>
                  <a:pt x="115112" y="138518"/>
                </a:lnTo>
                <a:lnTo>
                  <a:pt x="114376" y="145783"/>
                </a:lnTo>
                <a:lnTo>
                  <a:pt x="116408" y="152793"/>
                </a:lnTo>
                <a:lnTo>
                  <a:pt x="121158" y="158686"/>
                </a:lnTo>
                <a:lnTo>
                  <a:pt x="127800" y="162293"/>
                </a:lnTo>
                <a:lnTo>
                  <a:pt x="135064" y="163029"/>
                </a:lnTo>
                <a:lnTo>
                  <a:pt x="142074" y="160985"/>
                </a:lnTo>
                <a:lnTo>
                  <a:pt x="147980" y="156248"/>
                </a:lnTo>
                <a:lnTo>
                  <a:pt x="209550" y="82372"/>
                </a:lnTo>
                <a:lnTo>
                  <a:pt x="209550" y="1922729"/>
                </a:lnTo>
                <a:lnTo>
                  <a:pt x="0" y="1922729"/>
                </a:lnTo>
                <a:lnTo>
                  <a:pt x="0" y="1960829"/>
                </a:lnTo>
                <a:lnTo>
                  <a:pt x="209550" y="1960829"/>
                </a:lnTo>
                <a:lnTo>
                  <a:pt x="209550" y="2170379"/>
                </a:lnTo>
                <a:lnTo>
                  <a:pt x="247650" y="2170379"/>
                </a:lnTo>
                <a:lnTo>
                  <a:pt x="247650" y="1960829"/>
                </a:lnTo>
                <a:lnTo>
                  <a:pt x="2889466" y="1960829"/>
                </a:lnTo>
                <a:lnTo>
                  <a:pt x="2815590" y="2022386"/>
                </a:lnTo>
                <a:lnTo>
                  <a:pt x="2810840" y="2028291"/>
                </a:lnTo>
                <a:lnTo>
                  <a:pt x="2808808" y="2035302"/>
                </a:lnTo>
                <a:lnTo>
                  <a:pt x="2809544" y="2042566"/>
                </a:lnTo>
                <a:lnTo>
                  <a:pt x="2813151" y="2049221"/>
                </a:lnTo>
                <a:lnTo>
                  <a:pt x="2819044" y="2053958"/>
                </a:lnTo>
                <a:lnTo>
                  <a:pt x="2826054" y="2056003"/>
                </a:lnTo>
                <a:lnTo>
                  <a:pt x="2833319" y="2055253"/>
                </a:lnTo>
                <a:lnTo>
                  <a:pt x="2839974" y="2051659"/>
                </a:lnTo>
                <a:lnTo>
                  <a:pt x="2948965" y="1960829"/>
                </a:lnTo>
                <a:lnTo>
                  <a:pt x="2971838" y="1941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61072" y="3709240"/>
            <a:ext cx="249134" cy="2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61072" y="6119598"/>
            <a:ext cx="249134" cy="2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" y="2185301"/>
            <a:ext cx="2816352" cy="674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2887980"/>
            <a:ext cx="34417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If </a:t>
            </a:r>
            <a:r>
              <a:rPr sz="2000" dirty="0">
                <a:latin typeface="Carlito"/>
                <a:cs typeface="Carlito"/>
              </a:rPr>
              <a:t>α is </a:t>
            </a:r>
            <a:r>
              <a:rPr sz="2000" spc="-10" dirty="0">
                <a:latin typeface="Carlito"/>
                <a:cs typeface="Carlito"/>
              </a:rPr>
              <a:t>too </a:t>
            </a:r>
            <a:r>
              <a:rPr sz="2000" dirty="0">
                <a:latin typeface="Carlito"/>
                <a:cs typeface="Carlito"/>
              </a:rPr>
              <a:t>small, </a:t>
            </a:r>
            <a:r>
              <a:rPr sz="2000" spc="-10" dirty="0">
                <a:latin typeface="Carlito"/>
                <a:cs typeface="Carlito"/>
              </a:rPr>
              <a:t>gradient </a:t>
            </a:r>
            <a:r>
              <a:rPr sz="2000" spc="-5" dirty="0">
                <a:latin typeface="Carlito"/>
                <a:cs typeface="Carlito"/>
              </a:rPr>
              <a:t>descent  can be </a:t>
            </a:r>
            <a:r>
              <a:rPr sz="2000" spc="-30" dirty="0">
                <a:latin typeface="Carlito"/>
                <a:cs typeface="Carlito"/>
              </a:rPr>
              <a:t>slow.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4643628"/>
            <a:ext cx="37020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If </a:t>
            </a:r>
            <a:r>
              <a:rPr sz="2000" dirty="0">
                <a:latin typeface="Carlito"/>
                <a:cs typeface="Carlito"/>
              </a:rPr>
              <a:t>α is </a:t>
            </a:r>
            <a:r>
              <a:rPr sz="2000" spc="-10" dirty="0">
                <a:latin typeface="Carlito"/>
                <a:cs typeface="Carlito"/>
              </a:rPr>
              <a:t>too large, gradient </a:t>
            </a:r>
            <a:r>
              <a:rPr sz="2000" spc="-5" dirty="0">
                <a:latin typeface="Carlito"/>
                <a:cs typeface="Carlito"/>
              </a:rPr>
              <a:t>descent  can </a:t>
            </a:r>
            <a:r>
              <a:rPr sz="2000" spc="-10" dirty="0">
                <a:latin typeface="Carlito"/>
                <a:cs typeface="Carlito"/>
              </a:rPr>
              <a:t>overshoot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minimum. It </a:t>
            </a:r>
            <a:r>
              <a:rPr sz="2000" spc="-15" dirty="0">
                <a:latin typeface="Carlito"/>
                <a:cs typeface="Carlito"/>
              </a:rPr>
              <a:t>may  </a:t>
            </a:r>
            <a:r>
              <a:rPr sz="2000" spc="-10" dirty="0">
                <a:latin typeface="Carlito"/>
                <a:cs typeface="Carlito"/>
              </a:rPr>
              <a:t>fail to </a:t>
            </a:r>
            <a:r>
              <a:rPr sz="2000" spc="-15" dirty="0">
                <a:latin typeface="Carlito"/>
                <a:cs typeface="Carlito"/>
              </a:rPr>
              <a:t>converge, </a:t>
            </a:r>
            <a:r>
              <a:rPr sz="2000" spc="-5" dirty="0">
                <a:latin typeface="Carlito"/>
                <a:cs typeface="Carlito"/>
              </a:rPr>
              <a:t>or </a:t>
            </a:r>
            <a:r>
              <a:rPr sz="2000" spc="-10" dirty="0">
                <a:latin typeface="Carlito"/>
                <a:cs typeface="Carlito"/>
              </a:rPr>
              <a:t>even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diverge.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445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2698" y="1805336"/>
            <a:ext cx="2645410" cy="1776730"/>
            <a:chOff x="6282698" y="1805336"/>
            <a:chExt cx="2645410" cy="1776730"/>
          </a:xfrm>
        </p:grpSpPr>
        <p:sp>
          <p:nvSpPr>
            <p:cNvPr id="11" name="object 11"/>
            <p:cNvSpPr/>
            <p:nvPr/>
          </p:nvSpPr>
          <p:spPr>
            <a:xfrm>
              <a:off x="6295402" y="1818043"/>
              <a:ext cx="2620010" cy="1751330"/>
            </a:xfrm>
            <a:custGeom>
              <a:avLst/>
              <a:gdLst/>
              <a:ahLst/>
              <a:cxnLst/>
              <a:rect l="l" t="t" r="r" b="b"/>
              <a:pathLst>
                <a:path w="2620009" h="1751329">
                  <a:moveTo>
                    <a:pt x="2619997" y="0"/>
                  </a:moveTo>
                  <a:lnTo>
                    <a:pt x="2605849" y="0"/>
                  </a:lnTo>
                  <a:lnTo>
                    <a:pt x="2605196" y="55558"/>
                  </a:lnTo>
                  <a:lnTo>
                    <a:pt x="2603248" y="110702"/>
                  </a:lnTo>
                  <a:lnTo>
                    <a:pt x="2600025" y="165405"/>
                  </a:lnTo>
                  <a:lnTo>
                    <a:pt x="2595546" y="219640"/>
                  </a:lnTo>
                  <a:lnTo>
                    <a:pt x="2589830" y="273379"/>
                  </a:lnTo>
                  <a:lnTo>
                    <a:pt x="2582895" y="326595"/>
                  </a:lnTo>
                  <a:lnTo>
                    <a:pt x="2574761" y="379261"/>
                  </a:lnTo>
                  <a:lnTo>
                    <a:pt x="2565447" y="431349"/>
                  </a:lnTo>
                  <a:lnTo>
                    <a:pt x="2554972" y="482832"/>
                  </a:lnTo>
                  <a:lnTo>
                    <a:pt x="2543354" y="533682"/>
                  </a:lnTo>
                  <a:lnTo>
                    <a:pt x="2530613" y="583873"/>
                  </a:lnTo>
                  <a:lnTo>
                    <a:pt x="2516768" y="633377"/>
                  </a:lnTo>
                  <a:lnTo>
                    <a:pt x="2501838" y="682167"/>
                  </a:lnTo>
                  <a:lnTo>
                    <a:pt x="2485841" y="730214"/>
                  </a:lnTo>
                  <a:lnTo>
                    <a:pt x="2468797" y="777493"/>
                  </a:lnTo>
                  <a:lnTo>
                    <a:pt x="2450725" y="823976"/>
                  </a:lnTo>
                  <a:lnTo>
                    <a:pt x="2431643" y="869635"/>
                  </a:lnTo>
                  <a:lnTo>
                    <a:pt x="2411571" y="914443"/>
                  </a:lnTo>
                  <a:lnTo>
                    <a:pt x="2390528" y="958372"/>
                  </a:lnTo>
                  <a:lnTo>
                    <a:pt x="2368532" y="1001396"/>
                  </a:lnTo>
                  <a:lnTo>
                    <a:pt x="2345603" y="1043488"/>
                  </a:lnTo>
                  <a:lnTo>
                    <a:pt x="2321760" y="1084618"/>
                  </a:lnTo>
                  <a:lnTo>
                    <a:pt x="2297021" y="1124762"/>
                  </a:lnTo>
                  <a:lnTo>
                    <a:pt x="2271406" y="1163890"/>
                  </a:lnTo>
                  <a:lnTo>
                    <a:pt x="2244933" y="1201976"/>
                  </a:lnTo>
                  <a:lnTo>
                    <a:pt x="2217622" y="1238992"/>
                  </a:lnTo>
                  <a:lnTo>
                    <a:pt x="2189492" y="1274912"/>
                  </a:lnTo>
                  <a:lnTo>
                    <a:pt x="2160561" y="1309707"/>
                  </a:lnTo>
                  <a:lnTo>
                    <a:pt x="2130849" y="1343351"/>
                  </a:lnTo>
                  <a:lnTo>
                    <a:pt x="2100375" y="1375816"/>
                  </a:lnTo>
                  <a:lnTo>
                    <a:pt x="2069157" y="1407075"/>
                  </a:lnTo>
                  <a:lnTo>
                    <a:pt x="2037215" y="1437100"/>
                  </a:lnTo>
                  <a:lnTo>
                    <a:pt x="2004567" y="1465864"/>
                  </a:lnTo>
                  <a:lnTo>
                    <a:pt x="1971233" y="1493340"/>
                  </a:lnTo>
                  <a:lnTo>
                    <a:pt x="1937231" y="1519501"/>
                  </a:lnTo>
                  <a:lnTo>
                    <a:pt x="1902581" y="1544318"/>
                  </a:lnTo>
                  <a:lnTo>
                    <a:pt x="1867301" y="1567766"/>
                  </a:lnTo>
                  <a:lnTo>
                    <a:pt x="1831411" y="1589816"/>
                  </a:lnTo>
                  <a:lnTo>
                    <a:pt x="1794930" y="1610441"/>
                  </a:lnTo>
                  <a:lnTo>
                    <a:pt x="1757876" y="1629614"/>
                  </a:lnTo>
                  <a:lnTo>
                    <a:pt x="1720268" y="1647308"/>
                  </a:lnTo>
                  <a:lnTo>
                    <a:pt x="1682126" y="1663495"/>
                  </a:lnTo>
                  <a:lnTo>
                    <a:pt x="1643469" y="1678148"/>
                  </a:lnTo>
                  <a:lnTo>
                    <a:pt x="1604315" y="1691239"/>
                  </a:lnTo>
                  <a:lnTo>
                    <a:pt x="1564683" y="1702742"/>
                  </a:lnTo>
                  <a:lnTo>
                    <a:pt x="1524593" y="1712628"/>
                  </a:lnTo>
                  <a:lnTo>
                    <a:pt x="1484064" y="1720871"/>
                  </a:lnTo>
                  <a:lnTo>
                    <a:pt x="1443114" y="1727443"/>
                  </a:lnTo>
                  <a:lnTo>
                    <a:pt x="1401762" y="1732318"/>
                  </a:lnTo>
                  <a:lnTo>
                    <a:pt x="1360632" y="1735434"/>
                  </a:lnTo>
                  <a:lnTo>
                    <a:pt x="1319731" y="1736824"/>
                  </a:lnTo>
                  <a:lnTo>
                    <a:pt x="1279077" y="1736510"/>
                  </a:lnTo>
                  <a:lnTo>
                    <a:pt x="1238692" y="1734518"/>
                  </a:lnTo>
                  <a:lnTo>
                    <a:pt x="1198595" y="1730869"/>
                  </a:lnTo>
                  <a:lnTo>
                    <a:pt x="1158807" y="1725588"/>
                  </a:lnTo>
                  <a:lnTo>
                    <a:pt x="1119349" y="1718698"/>
                  </a:lnTo>
                  <a:lnTo>
                    <a:pt x="1080241" y="1710223"/>
                  </a:lnTo>
                  <a:lnTo>
                    <a:pt x="1041502" y="1700186"/>
                  </a:lnTo>
                  <a:lnTo>
                    <a:pt x="1003154" y="1688611"/>
                  </a:lnTo>
                  <a:lnTo>
                    <a:pt x="965216" y="1675521"/>
                  </a:lnTo>
                  <a:lnTo>
                    <a:pt x="927709" y="1660941"/>
                  </a:lnTo>
                  <a:lnTo>
                    <a:pt x="890654" y="1644892"/>
                  </a:lnTo>
                  <a:lnTo>
                    <a:pt x="854070" y="1627399"/>
                  </a:lnTo>
                  <a:lnTo>
                    <a:pt x="817978" y="1608486"/>
                  </a:lnTo>
                  <a:lnTo>
                    <a:pt x="782399" y="1588176"/>
                  </a:lnTo>
                  <a:lnTo>
                    <a:pt x="747351" y="1566492"/>
                  </a:lnTo>
                  <a:lnTo>
                    <a:pt x="712857" y="1543458"/>
                  </a:lnTo>
                  <a:lnTo>
                    <a:pt x="678936" y="1519098"/>
                  </a:lnTo>
                  <a:lnTo>
                    <a:pt x="645608" y="1493435"/>
                  </a:lnTo>
                  <a:lnTo>
                    <a:pt x="612895" y="1466493"/>
                  </a:lnTo>
                  <a:lnTo>
                    <a:pt x="580815" y="1438295"/>
                  </a:lnTo>
                  <a:lnTo>
                    <a:pt x="549390" y="1408864"/>
                  </a:lnTo>
                  <a:lnTo>
                    <a:pt x="518639" y="1378225"/>
                  </a:lnTo>
                  <a:lnTo>
                    <a:pt x="488584" y="1346401"/>
                  </a:lnTo>
                  <a:lnTo>
                    <a:pt x="459244" y="1313414"/>
                  </a:lnTo>
                  <a:lnTo>
                    <a:pt x="430640" y="1279290"/>
                  </a:lnTo>
                  <a:lnTo>
                    <a:pt x="402792" y="1244051"/>
                  </a:lnTo>
                  <a:lnTo>
                    <a:pt x="375720" y="1207721"/>
                  </a:lnTo>
                  <a:lnTo>
                    <a:pt x="349445" y="1170324"/>
                  </a:lnTo>
                  <a:lnTo>
                    <a:pt x="323987" y="1131882"/>
                  </a:lnTo>
                  <a:lnTo>
                    <a:pt x="299366" y="1092420"/>
                  </a:lnTo>
                  <a:lnTo>
                    <a:pt x="275603" y="1051961"/>
                  </a:lnTo>
                  <a:lnTo>
                    <a:pt x="252718" y="1010529"/>
                  </a:lnTo>
                  <a:lnTo>
                    <a:pt x="230732" y="968146"/>
                  </a:lnTo>
                  <a:lnTo>
                    <a:pt x="209663" y="924838"/>
                  </a:lnTo>
                  <a:lnTo>
                    <a:pt x="189534" y="880626"/>
                  </a:lnTo>
                  <a:lnTo>
                    <a:pt x="170364" y="835536"/>
                  </a:lnTo>
                  <a:lnTo>
                    <a:pt x="152174" y="789589"/>
                  </a:lnTo>
                  <a:lnTo>
                    <a:pt x="134983" y="742810"/>
                  </a:lnTo>
                  <a:lnTo>
                    <a:pt x="118813" y="695223"/>
                  </a:lnTo>
                  <a:lnTo>
                    <a:pt x="103683" y="646850"/>
                  </a:lnTo>
                  <a:lnTo>
                    <a:pt x="89614" y="597716"/>
                  </a:lnTo>
                  <a:lnTo>
                    <a:pt x="76626" y="547844"/>
                  </a:lnTo>
                  <a:lnTo>
                    <a:pt x="64740" y="497257"/>
                  </a:lnTo>
                  <a:lnTo>
                    <a:pt x="53975" y="445980"/>
                  </a:lnTo>
                  <a:lnTo>
                    <a:pt x="44353" y="394034"/>
                  </a:lnTo>
                  <a:lnTo>
                    <a:pt x="35893" y="341445"/>
                  </a:lnTo>
                  <a:lnTo>
                    <a:pt x="28616" y="288236"/>
                  </a:lnTo>
                  <a:lnTo>
                    <a:pt x="22542" y="234429"/>
                  </a:lnTo>
                  <a:lnTo>
                    <a:pt x="17691" y="180049"/>
                  </a:lnTo>
                  <a:lnTo>
                    <a:pt x="14084" y="125120"/>
                  </a:lnTo>
                  <a:lnTo>
                    <a:pt x="0" y="126479"/>
                  </a:lnTo>
                  <a:lnTo>
                    <a:pt x="3602" y="181161"/>
                  </a:lnTo>
                  <a:lnTo>
                    <a:pt x="8436" y="235323"/>
                  </a:lnTo>
                  <a:lnTo>
                    <a:pt x="14482" y="288941"/>
                  </a:lnTo>
                  <a:lnTo>
                    <a:pt x="21722" y="341991"/>
                  </a:lnTo>
                  <a:lnTo>
                    <a:pt x="30134" y="394448"/>
                  </a:lnTo>
                  <a:lnTo>
                    <a:pt x="39700" y="446289"/>
                  </a:lnTo>
                  <a:lnTo>
                    <a:pt x="50401" y="497489"/>
                  </a:lnTo>
                  <a:lnTo>
                    <a:pt x="62218" y="548024"/>
                  </a:lnTo>
                  <a:lnTo>
                    <a:pt x="75129" y="597871"/>
                  </a:lnTo>
                  <a:lnTo>
                    <a:pt x="89118" y="647005"/>
                  </a:lnTo>
                  <a:lnTo>
                    <a:pt x="104163" y="695401"/>
                  </a:lnTo>
                  <a:lnTo>
                    <a:pt x="120245" y="743037"/>
                  </a:lnTo>
                  <a:lnTo>
                    <a:pt x="137346" y="789887"/>
                  </a:lnTo>
                  <a:lnTo>
                    <a:pt x="155445" y="835928"/>
                  </a:lnTo>
                  <a:lnTo>
                    <a:pt x="174523" y="881135"/>
                  </a:lnTo>
                  <a:lnTo>
                    <a:pt x="194561" y="925485"/>
                  </a:lnTo>
                  <a:lnTo>
                    <a:pt x="215540" y="968953"/>
                  </a:lnTo>
                  <a:lnTo>
                    <a:pt x="237439" y="1011516"/>
                  </a:lnTo>
                  <a:lnTo>
                    <a:pt x="260240" y="1053148"/>
                  </a:lnTo>
                  <a:lnTo>
                    <a:pt x="283923" y="1093827"/>
                  </a:lnTo>
                  <a:lnTo>
                    <a:pt x="308469" y="1133527"/>
                  </a:lnTo>
                  <a:lnTo>
                    <a:pt x="333858" y="1172225"/>
                  </a:lnTo>
                  <a:lnTo>
                    <a:pt x="360071" y="1209897"/>
                  </a:lnTo>
                  <a:lnTo>
                    <a:pt x="387089" y="1246518"/>
                  </a:lnTo>
                  <a:lnTo>
                    <a:pt x="414891" y="1282064"/>
                  </a:lnTo>
                  <a:lnTo>
                    <a:pt x="443459" y="1316512"/>
                  </a:lnTo>
                  <a:lnTo>
                    <a:pt x="472773" y="1349838"/>
                  </a:lnTo>
                  <a:lnTo>
                    <a:pt x="502814" y="1382016"/>
                  </a:lnTo>
                  <a:lnTo>
                    <a:pt x="533563" y="1413023"/>
                  </a:lnTo>
                  <a:lnTo>
                    <a:pt x="564999" y="1442835"/>
                  </a:lnTo>
                  <a:lnTo>
                    <a:pt x="597104" y="1471428"/>
                  </a:lnTo>
                  <a:lnTo>
                    <a:pt x="629858" y="1498778"/>
                  </a:lnTo>
                  <a:lnTo>
                    <a:pt x="663241" y="1524860"/>
                  </a:lnTo>
                  <a:lnTo>
                    <a:pt x="697235" y="1549650"/>
                  </a:lnTo>
                  <a:lnTo>
                    <a:pt x="731820" y="1573125"/>
                  </a:lnTo>
                  <a:lnTo>
                    <a:pt x="766976" y="1595261"/>
                  </a:lnTo>
                  <a:lnTo>
                    <a:pt x="802685" y="1616032"/>
                  </a:lnTo>
                  <a:lnTo>
                    <a:pt x="838925" y="1635415"/>
                  </a:lnTo>
                  <a:lnTo>
                    <a:pt x="875679" y="1653386"/>
                  </a:lnTo>
                  <a:lnTo>
                    <a:pt x="912927" y="1669921"/>
                  </a:lnTo>
                  <a:lnTo>
                    <a:pt x="950649" y="1684996"/>
                  </a:lnTo>
                  <a:lnTo>
                    <a:pt x="988826" y="1698586"/>
                  </a:lnTo>
                  <a:lnTo>
                    <a:pt x="1027439" y="1710667"/>
                  </a:lnTo>
                  <a:lnTo>
                    <a:pt x="1066467" y="1721216"/>
                  </a:lnTo>
                  <a:lnTo>
                    <a:pt x="1105893" y="1730208"/>
                  </a:lnTo>
                  <a:lnTo>
                    <a:pt x="1145695" y="1737620"/>
                  </a:lnTo>
                  <a:lnTo>
                    <a:pt x="1185856" y="1743426"/>
                  </a:lnTo>
                  <a:lnTo>
                    <a:pt x="1226355" y="1747603"/>
                  </a:lnTo>
                  <a:lnTo>
                    <a:pt x="1267173" y="1750127"/>
                  </a:lnTo>
                  <a:lnTo>
                    <a:pt x="1308290" y="1750974"/>
                  </a:lnTo>
                  <a:lnTo>
                    <a:pt x="1349146" y="1750141"/>
                  </a:lnTo>
                  <a:lnTo>
                    <a:pt x="1389691" y="1747657"/>
                  </a:lnTo>
                  <a:lnTo>
                    <a:pt x="1429907" y="1743548"/>
                  </a:lnTo>
                  <a:lnTo>
                    <a:pt x="1469775" y="1737836"/>
                  </a:lnTo>
                  <a:lnTo>
                    <a:pt x="1509278" y="1730547"/>
                  </a:lnTo>
                  <a:lnTo>
                    <a:pt x="1548397" y="1721705"/>
                  </a:lnTo>
                  <a:lnTo>
                    <a:pt x="1587115" y="1711333"/>
                  </a:lnTo>
                  <a:lnTo>
                    <a:pt x="1625412" y="1699456"/>
                  </a:lnTo>
                  <a:lnTo>
                    <a:pt x="1663272" y="1686099"/>
                  </a:lnTo>
                  <a:lnTo>
                    <a:pt x="1700675" y="1671285"/>
                  </a:lnTo>
                  <a:lnTo>
                    <a:pt x="1737603" y="1655038"/>
                  </a:lnTo>
                  <a:lnTo>
                    <a:pt x="1774040" y="1637384"/>
                  </a:lnTo>
                  <a:lnTo>
                    <a:pt x="1809965" y="1618346"/>
                  </a:lnTo>
                  <a:lnTo>
                    <a:pt x="1845362" y="1597947"/>
                  </a:lnTo>
                  <a:lnTo>
                    <a:pt x="1880212" y="1576214"/>
                  </a:lnTo>
                  <a:lnTo>
                    <a:pt x="1914496" y="1553169"/>
                  </a:lnTo>
                  <a:lnTo>
                    <a:pt x="1948198" y="1528837"/>
                  </a:lnTo>
                  <a:lnTo>
                    <a:pt x="1981298" y="1503242"/>
                  </a:lnTo>
                  <a:lnTo>
                    <a:pt x="2013779" y="1476409"/>
                  </a:lnTo>
                  <a:lnTo>
                    <a:pt x="2045622" y="1448361"/>
                  </a:lnTo>
                  <a:lnTo>
                    <a:pt x="2076809" y="1419123"/>
                  </a:lnTo>
                  <a:lnTo>
                    <a:pt x="2107322" y="1388720"/>
                  </a:lnTo>
                  <a:lnTo>
                    <a:pt x="2137143" y="1357174"/>
                  </a:lnTo>
                  <a:lnTo>
                    <a:pt x="2166254" y="1324511"/>
                  </a:lnTo>
                  <a:lnTo>
                    <a:pt x="2194637" y="1290754"/>
                  </a:lnTo>
                  <a:lnTo>
                    <a:pt x="2222273" y="1255929"/>
                  </a:lnTo>
                  <a:lnTo>
                    <a:pt x="2249145" y="1220058"/>
                  </a:lnTo>
                  <a:lnTo>
                    <a:pt x="2275234" y="1183167"/>
                  </a:lnTo>
                  <a:lnTo>
                    <a:pt x="2300522" y="1145279"/>
                  </a:lnTo>
                  <a:lnTo>
                    <a:pt x="2324991" y="1106419"/>
                  </a:lnTo>
                  <a:lnTo>
                    <a:pt x="2348622" y="1066612"/>
                  </a:lnTo>
                  <a:lnTo>
                    <a:pt x="2371399" y="1025880"/>
                  </a:lnTo>
                  <a:lnTo>
                    <a:pt x="2393302" y="984249"/>
                  </a:lnTo>
                  <a:lnTo>
                    <a:pt x="2414313" y="941742"/>
                  </a:lnTo>
                  <a:lnTo>
                    <a:pt x="2434415" y="898384"/>
                  </a:lnTo>
                  <a:lnTo>
                    <a:pt x="2453588" y="854199"/>
                  </a:lnTo>
                  <a:lnTo>
                    <a:pt x="2471816" y="809212"/>
                  </a:lnTo>
                  <a:lnTo>
                    <a:pt x="2489080" y="763446"/>
                  </a:lnTo>
                  <a:lnTo>
                    <a:pt x="2505361" y="716925"/>
                  </a:lnTo>
                  <a:lnTo>
                    <a:pt x="2520641" y="669675"/>
                  </a:lnTo>
                  <a:lnTo>
                    <a:pt x="2534904" y="621718"/>
                  </a:lnTo>
                  <a:lnTo>
                    <a:pt x="2548129" y="573081"/>
                  </a:lnTo>
                  <a:lnTo>
                    <a:pt x="2560300" y="523785"/>
                  </a:lnTo>
                  <a:lnTo>
                    <a:pt x="2571397" y="473856"/>
                  </a:lnTo>
                  <a:lnTo>
                    <a:pt x="2581404" y="423319"/>
                  </a:lnTo>
                  <a:lnTo>
                    <a:pt x="2590301" y="372196"/>
                  </a:lnTo>
                  <a:lnTo>
                    <a:pt x="2598070" y="320513"/>
                  </a:lnTo>
                  <a:lnTo>
                    <a:pt x="2604695" y="268294"/>
                  </a:lnTo>
                  <a:lnTo>
                    <a:pt x="2610155" y="215563"/>
                  </a:lnTo>
                  <a:lnTo>
                    <a:pt x="2614434" y="162343"/>
                  </a:lnTo>
                  <a:lnTo>
                    <a:pt x="2617512" y="108660"/>
                  </a:lnTo>
                  <a:lnTo>
                    <a:pt x="2619373" y="54537"/>
                  </a:lnTo>
                  <a:lnTo>
                    <a:pt x="261999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5398" y="1818036"/>
              <a:ext cx="2620010" cy="1751330"/>
            </a:xfrm>
            <a:custGeom>
              <a:avLst/>
              <a:gdLst/>
              <a:ahLst/>
              <a:cxnLst/>
              <a:rect l="l" t="t" r="r" b="b"/>
              <a:pathLst>
                <a:path w="2620009" h="1751329">
                  <a:moveTo>
                    <a:pt x="2620001" y="0"/>
                  </a:moveTo>
                  <a:lnTo>
                    <a:pt x="2619377" y="54538"/>
                  </a:lnTo>
                  <a:lnTo>
                    <a:pt x="2617516" y="108661"/>
                  </a:lnTo>
                  <a:lnTo>
                    <a:pt x="2614438" y="162345"/>
                  </a:lnTo>
                  <a:lnTo>
                    <a:pt x="2610159" y="215565"/>
                  </a:lnTo>
                  <a:lnTo>
                    <a:pt x="2604699" y="268297"/>
                  </a:lnTo>
                  <a:lnTo>
                    <a:pt x="2598075" y="320517"/>
                  </a:lnTo>
                  <a:lnTo>
                    <a:pt x="2590305" y="372200"/>
                  </a:lnTo>
                  <a:lnTo>
                    <a:pt x="2581408" y="423323"/>
                  </a:lnTo>
                  <a:lnTo>
                    <a:pt x="2571401" y="473861"/>
                  </a:lnTo>
                  <a:lnTo>
                    <a:pt x="2560304" y="523790"/>
                  </a:lnTo>
                  <a:lnTo>
                    <a:pt x="2548133" y="573085"/>
                  </a:lnTo>
                  <a:lnTo>
                    <a:pt x="2534908" y="621724"/>
                  </a:lnTo>
                  <a:lnTo>
                    <a:pt x="2520645" y="669680"/>
                  </a:lnTo>
                  <a:lnTo>
                    <a:pt x="2505365" y="716931"/>
                  </a:lnTo>
                  <a:lnTo>
                    <a:pt x="2489083" y="763452"/>
                  </a:lnTo>
                  <a:lnTo>
                    <a:pt x="2471820" y="809218"/>
                  </a:lnTo>
                  <a:lnTo>
                    <a:pt x="2453592" y="854206"/>
                  </a:lnTo>
                  <a:lnTo>
                    <a:pt x="2434418" y="898391"/>
                  </a:lnTo>
                  <a:lnTo>
                    <a:pt x="2414317" y="941749"/>
                  </a:lnTo>
                  <a:lnTo>
                    <a:pt x="2393305" y="984255"/>
                  </a:lnTo>
                  <a:lnTo>
                    <a:pt x="2371402" y="1025887"/>
                  </a:lnTo>
                  <a:lnTo>
                    <a:pt x="2348626" y="1066619"/>
                  </a:lnTo>
                  <a:lnTo>
                    <a:pt x="2324994" y="1106427"/>
                  </a:lnTo>
                  <a:lnTo>
                    <a:pt x="2300525" y="1145287"/>
                  </a:lnTo>
                  <a:lnTo>
                    <a:pt x="2275237" y="1183174"/>
                  </a:lnTo>
                  <a:lnTo>
                    <a:pt x="2249148" y="1220065"/>
                  </a:lnTo>
                  <a:lnTo>
                    <a:pt x="2222277" y="1255936"/>
                  </a:lnTo>
                  <a:lnTo>
                    <a:pt x="2194640" y="1290762"/>
                  </a:lnTo>
                  <a:lnTo>
                    <a:pt x="2166258" y="1324518"/>
                  </a:lnTo>
                  <a:lnTo>
                    <a:pt x="2137147" y="1357181"/>
                  </a:lnTo>
                  <a:lnTo>
                    <a:pt x="2107325" y="1388727"/>
                  </a:lnTo>
                  <a:lnTo>
                    <a:pt x="2076812" y="1419131"/>
                  </a:lnTo>
                  <a:lnTo>
                    <a:pt x="2045624" y="1448369"/>
                  </a:lnTo>
                  <a:lnTo>
                    <a:pt x="2013781" y="1476416"/>
                  </a:lnTo>
                  <a:lnTo>
                    <a:pt x="1981301" y="1503250"/>
                  </a:lnTo>
                  <a:lnTo>
                    <a:pt x="1948200" y="1528844"/>
                  </a:lnTo>
                  <a:lnTo>
                    <a:pt x="1914499" y="1553176"/>
                  </a:lnTo>
                  <a:lnTo>
                    <a:pt x="1880214" y="1576221"/>
                  </a:lnTo>
                  <a:lnTo>
                    <a:pt x="1845364" y="1597955"/>
                  </a:lnTo>
                  <a:lnTo>
                    <a:pt x="1809967" y="1618353"/>
                  </a:lnTo>
                  <a:lnTo>
                    <a:pt x="1774042" y="1637391"/>
                  </a:lnTo>
                  <a:lnTo>
                    <a:pt x="1737605" y="1655045"/>
                  </a:lnTo>
                  <a:lnTo>
                    <a:pt x="1700676" y="1671292"/>
                  </a:lnTo>
                  <a:lnTo>
                    <a:pt x="1663273" y="1686106"/>
                  </a:lnTo>
                  <a:lnTo>
                    <a:pt x="1625414" y="1699463"/>
                  </a:lnTo>
                  <a:lnTo>
                    <a:pt x="1587116" y="1711340"/>
                  </a:lnTo>
                  <a:lnTo>
                    <a:pt x="1548399" y="1721711"/>
                  </a:lnTo>
                  <a:lnTo>
                    <a:pt x="1509279" y="1730554"/>
                  </a:lnTo>
                  <a:lnTo>
                    <a:pt x="1469776" y="1737843"/>
                  </a:lnTo>
                  <a:lnTo>
                    <a:pt x="1429908" y="1743554"/>
                  </a:lnTo>
                  <a:lnTo>
                    <a:pt x="1389692" y="1747664"/>
                  </a:lnTo>
                  <a:lnTo>
                    <a:pt x="1349147" y="1750147"/>
                  </a:lnTo>
                  <a:lnTo>
                    <a:pt x="1308290" y="1750980"/>
                  </a:lnTo>
                  <a:lnTo>
                    <a:pt x="1267173" y="1750134"/>
                  </a:lnTo>
                  <a:lnTo>
                    <a:pt x="1226355" y="1747610"/>
                  </a:lnTo>
                  <a:lnTo>
                    <a:pt x="1185856" y="1743433"/>
                  </a:lnTo>
                  <a:lnTo>
                    <a:pt x="1145696" y="1737626"/>
                  </a:lnTo>
                  <a:lnTo>
                    <a:pt x="1105893" y="1730215"/>
                  </a:lnTo>
                  <a:lnTo>
                    <a:pt x="1066468" y="1721223"/>
                  </a:lnTo>
                  <a:lnTo>
                    <a:pt x="1027439" y="1710674"/>
                  </a:lnTo>
                  <a:lnTo>
                    <a:pt x="988827" y="1698592"/>
                  </a:lnTo>
                  <a:lnTo>
                    <a:pt x="950650" y="1685002"/>
                  </a:lnTo>
                  <a:lnTo>
                    <a:pt x="912928" y="1669927"/>
                  </a:lnTo>
                  <a:lnTo>
                    <a:pt x="875680" y="1653392"/>
                  </a:lnTo>
                  <a:lnTo>
                    <a:pt x="838927" y="1635421"/>
                  </a:lnTo>
                  <a:lnTo>
                    <a:pt x="802686" y="1616038"/>
                  </a:lnTo>
                  <a:lnTo>
                    <a:pt x="766978" y="1595266"/>
                  </a:lnTo>
                  <a:lnTo>
                    <a:pt x="731822" y="1573131"/>
                  </a:lnTo>
                  <a:lnTo>
                    <a:pt x="697237" y="1549656"/>
                  </a:lnTo>
                  <a:lnTo>
                    <a:pt x="663244" y="1524865"/>
                  </a:lnTo>
                  <a:lnTo>
                    <a:pt x="629860" y="1498783"/>
                  </a:lnTo>
                  <a:lnTo>
                    <a:pt x="597106" y="1471433"/>
                  </a:lnTo>
                  <a:lnTo>
                    <a:pt x="565002" y="1442840"/>
                  </a:lnTo>
                  <a:lnTo>
                    <a:pt x="533566" y="1413028"/>
                  </a:lnTo>
                  <a:lnTo>
                    <a:pt x="502818" y="1382020"/>
                  </a:lnTo>
                  <a:lnTo>
                    <a:pt x="472777" y="1349842"/>
                  </a:lnTo>
                  <a:lnTo>
                    <a:pt x="443463" y="1316517"/>
                  </a:lnTo>
                  <a:lnTo>
                    <a:pt x="414895" y="1282069"/>
                  </a:lnTo>
                  <a:lnTo>
                    <a:pt x="387092" y="1246522"/>
                  </a:lnTo>
                  <a:lnTo>
                    <a:pt x="360075" y="1209900"/>
                  </a:lnTo>
                  <a:lnTo>
                    <a:pt x="333862" y="1172229"/>
                  </a:lnTo>
                  <a:lnTo>
                    <a:pt x="308473" y="1133530"/>
                  </a:lnTo>
                  <a:lnTo>
                    <a:pt x="283928" y="1093830"/>
                  </a:lnTo>
                  <a:lnTo>
                    <a:pt x="260245" y="1053151"/>
                  </a:lnTo>
                  <a:lnTo>
                    <a:pt x="237444" y="1011519"/>
                  </a:lnTo>
                  <a:lnTo>
                    <a:pt x="215544" y="968956"/>
                  </a:lnTo>
                  <a:lnTo>
                    <a:pt x="194566" y="925488"/>
                  </a:lnTo>
                  <a:lnTo>
                    <a:pt x="174528" y="881138"/>
                  </a:lnTo>
                  <a:lnTo>
                    <a:pt x="155449" y="835930"/>
                  </a:lnTo>
                  <a:lnTo>
                    <a:pt x="137350" y="789889"/>
                  </a:lnTo>
                  <a:lnTo>
                    <a:pt x="120249" y="743039"/>
                  </a:lnTo>
                  <a:lnTo>
                    <a:pt x="104167" y="695403"/>
                  </a:lnTo>
                  <a:lnTo>
                    <a:pt x="89122" y="647006"/>
                  </a:lnTo>
                  <a:lnTo>
                    <a:pt x="75133" y="597873"/>
                  </a:lnTo>
                  <a:lnTo>
                    <a:pt x="62221" y="548026"/>
                  </a:lnTo>
                  <a:lnTo>
                    <a:pt x="50405" y="497490"/>
                  </a:lnTo>
                  <a:lnTo>
                    <a:pt x="39703" y="446290"/>
                  </a:lnTo>
                  <a:lnTo>
                    <a:pt x="30137" y="394449"/>
                  </a:lnTo>
                  <a:lnTo>
                    <a:pt x="21724" y="341992"/>
                  </a:lnTo>
                  <a:lnTo>
                    <a:pt x="14484" y="288942"/>
                  </a:lnTo>
                  <a:lnTo>
                    <a:pt x="8437" y="235324"/>
                  </a:lnTo>
                  <a:lnTo>
                    <a:pt x="3603" y="181162"/>
                  </a:lnTo>
                  <a:lnTo>
                    <a:pt x="0" y="126480"/>
                  </a:lnTo>
                  <a:lnTo>
                    <a:pt x="14090" y="125120"/>
                  </a:lnTo>
                  <a:lnTo>
                    <a:pt x="17696" y="180049"/>
                  </a:lnTo>
                  <a:lnTo>
                    <a:pt x="22547" y="234429"/>
                  </a:lnTo>
                  <a:lnTo>
                    <a:pt x="28621" y="288235"/>
                  </a:lnTo>
                  <a:lnTo>
                    <a:pt x="35898" y="341445"/>
                  </a:lnTo>
                  <a:lnTo>
                    <a:pt x="44357" y="394034"/>
                  </a:lnTo>
                  <a:lnTo>
                    <a:pt x="53980" y="445979"/>
                  </a:lnTo>
                  <a:lnTo>
                    <a:pt x="64744" y="497257"/>
                  </a:lnTo>
                  <a:lnTo>
                    <a:pt x="76630" y="547844"/>
                  </a:lnTo>
                  <a:lnTo>
                    <a:pt x="89618" y="597716"/>
                  </a:lnTo>
                  <a:lnTo>
                    <a:pt x="103687" y="646850"/>
                  </a:lnTo>
                  <a:lnTo>
                    <a:pt x="118816" y="695223"/>
                  </a:lnTo>
                  <a:lnTo>
                    <a:pt x="134987" y="742810"/>
                  </a:lnTo>
                  <a:lnTo>
                    <a:pt x="152177" y="789589"/>
                  </a:lnTo>
                  <a:lnTo>
                    <a:pt x="170367" y="835536"/>
                  </a:lnTo>
                  <a:lnTo>
                    <a:pt x="189537" y="880626"/>
                  </a:lnTo>
                  <a:lnTo>
                    <a:pt x="209667" y="924838"/>
                  </a:lnTo>
                  <a:lnTo>
                    <a:pt x="230735" y="968147"/>
                  </a:lnTo>
                  <a:lnTo>
                    <a:pt x="252721" y="1010529"/>
                  </a:lnTo>
                  <a:lnTo>
                    <a:pt x="275607" y="1051962"/>
                  </a:lnTo>
                  <a:lnTo>
                    <a:pt x="299370" y="1092421"/>
                  </a:lnTo>
                  <a:lnTo>
                    <a:pt x="323990" y="1131883"/>
                  </a:lnTo>
                  <a:lnTo>
                    <a:pt x="349448" y="1170324"/>
                  </a:lnTo>
                  <a:lnTo>
                    <a:pt x="375723" y="1207722"/>
                  </a:lnTo>
                  <a:lnTo>
                    <a:pt x="402795" y="1244052"/>
                  </a:lnTo>
                  <a:lnTo>
                    <a:pt x="430643" y="1279291"/>
                  </a:lnTo>
                  <a:lnTo>
                    <a:pt x="459247" y="1313416"/>
                  </a:lnTo>
                  <a:lnTo>
                    <a:pt x="488587" y="1346402"/>
                  </a:lnTo>
                  <a:lnTo>
                    <a:pt x="518642" y="1378227"/>
                  </a:lnTo>
                  <a:lnTo>
                    <a:pt x="549393" y="1408866"/>
                  </a:lnTo>
                  <a:lnTo>
                    <a:pt x="580818" y="1438297"/>
                  </a:lnTo>
                  <a:lnTo>
                    <a:pt x="612898" y="1466495"/>
                  </a:lnTo>
                  <a:lnTo>
                    <a:pt x="645611" y="1493438"/>
                  </a:lnTo>
                  <a:lnTo>
                    <a:pt x="678939" y="1519101"/>
                  </a:lnTo>
                  <a:lnTo>
                    <a:pt x="712860" y="1543462"/>
                  </a:lnTo>
                  <a:lnTo>
                    <a:pt x="747354" y="1566496"/>
                  </a:lnTo>
                  <a:lnTo>
                    <a:pt x="782401" y="1588180"/>
                  </a:lnTo>
                  <a:lnTo>
                    <a:pt x="817981" y="1608490"/>
                  </a:lnTo>
                  <a:lnTo>
                    <a:pt x="854073" y="1627404"/>
                  </a:lnTo>
                  <a:lnTo>
                    <a:pt x="890656" y="1644897"/>
                  </a:lnTo>
                  <a:lnTo>
                    <a:pt x="927712" y="1660946"/>
                  </a:lnTo>
                  <a:lnTo>
                    <a:pt x="965218" y="1675527"/>
                  </a:lnTo>
                  <a:lnTo>
                    <a:pt x="1003155" y="1688617"/>
                  </a:lnTo>
                  <a:lnTo>
                    <a:pt x="1041503" y="1700193"/>
                  </a:lnTo>
                  <a:lnTo>
                    <a:pt x="1080242" y="1710230"/>
                  </a:lnTo>
                  <a:lnTo>
                    <a:pt x="1119350" y="1718706"/>
                  </a:lnTo>
                  <a:lnTo>
                    <a:pt x="1158808" y="1725596"/>
                  </a:lnTo>
                  <a:lnTo>
                    <a:pt x="1198595" y="1730877"/>
                  </a:lnTo>
                  <a:lnTo>
                    <a:pt x="1238692" y="1734526"/>
                  </a:lnTo>
                  <a:lnTo>
                    <a:pt x="1279077" y="1736520"/>
                  </a:lnTo>
                  <a:lnTo>
                    <a:pt x="1319730" y="1736833"/>
                  </a:lnTo>
                  <a:lnTo>
                    <a:pt x="1360631" y="1735444"/>
                  </a:lnTo>
                  <a:lnTo>
                    <a:pt x="1401760" y="1732328"/>
                  </a:lnTo>
                  <a:lnTo>
                    <a:pt x="1443112" y="1727454"/>
                  </a:lnTo>
                  <a:lnTo>
                    <a:pt x="1484063" y="1720881"/>
                  </a:lnTo>
                  <a:lnTo>
                    <a:pt x="1524593" y="1712637"/>
                  </a:lnTo>
                  <a:lnTo>
                    <a:pt x="1564683" y="1702750"/>
                  </a:lnTo>
                  <a:lnTo>
                    <a:pt x="1604315" y="1691247"/>
                  </a:lnTo>
                  <a:lnTo>
                    <a:pt x="1643470" y="1678155"/>
                  </a:lnTo>
                  <a:lnTo>
                    <a:pt x="1682127" y="1663502"/>
                  </a:lnTo>
                  <a:lnTo>
                    <a:pt x="1720270" y="1647315"/>
                  </a:lnTo>
                  <a:lnTo>
                    <a:pt x="1757878" y="1629621"/>
                  </a:lnTo>
                  <a:lnTo>
                    <a:pt x="1794932" y="1610447"/>
                  </a:lnTo>
                  <a:lnTo>
                    <a:pt x="1831414" y="1589822"/>
                  </a:lnTo>
                  <a:lnTo>
                    <a:pt x="1867304" y="1567771"/>
                  </a:lnTo>
                  <a:lnTo>
                    <a:pt x="1902584" y="1544323"/>
                  </a:lnTo>
                  <a:lnTo>
                    <a:pt x="1937234" y="1519505"/>
                  </a:lnTo>
                  <a:lnTo>
                    <a:pt x="1971236" y="1493345"/>
                  </a:lnTo>
                  <a:lnTo>
                    <a:pt x="2004571" y="1465868"/>
                  </a:lnTo>
                  <a:lnTo>
                    <a:pt x="2037219" y="1437104"/>
                  </a:lnTo>
                  <a:lnTo>
                    <a:pt x="2069161" y="1407078"/>
                  </a:lnTo>
                  <a:lnTo>
                    <a:pt x="2100379" y="1375820"/>
                  </a:lnTo>
                  <a:lnTo>
                    <a:pt x="2130854" y="1343354"/>
                  </a:lnTo>
                  <a:lnTo>
                    <a:pt x="2160566" y="1309711"/>
                  </a:lnTo>
                  <a:lnTo>
                    <a:pt x="2189497" y="1274915"/>
                  </a:lnTo>
                  <a:lnTo>
                    <a:pt x="2217627" y="1238995"/>
                  </a:lnTo>
                  <a:lnTo>
                    <a:pt x="2244938" y="1201979"/>
                  </a:lnTo>
                  <a:lnTo>
                    <a:pt x="2271411" y="1163893"/>
                  </a:lnTo>
                  <a:lnTo>
                    <a:pt x="2297026" y="1124764"/>
                  </a:lnTo>
                  <a:lnTo>
                    <a:pt x="2321765" y="1084621"/>
                  </a:lnTo>
                  <a:lnTo>
                    <a:pt x="2345609" y="1043490"/>
                  </a:lnTo>
                  <a:lnTo>
                    <a:pt x="2368538" y="1001399"/>
                  </a:lnTo>
                  <a:lnTo>
                    <a:pt x="2390534" y="958375"/>
                  </a:lnTo>
                  <a:lnTo>
                    <a:pt x="2411577" y="914445"/>
                  </a:lnTo>
                  <a:lnTo>
                    <a:pt x="2431649" y="869637"/>
                  </a:lnTo>
                  <a:lnTo>
                    <a:pt x="2450731" y="823978"/>
                  </a:lnTo>
                  <a:lnTo>
                    <a:pt x="2468804" y="777495"/>
                  </a:lnTo>
                  <a:lnTo>
                    <a:pt x="2485848" y="730216"/>
                  </a:lnTo>
                  <a:lnTo>
                    <a:pt x="2501845" y="682168"/>
                  </a:lnTo>
                  <a:lnTo>
                    <a:pt x="2516775" y="633379"/>
                  </a:lnTo>
                  <a:lnTo>
                    <a:pt x="2530620" y="583875"/>
                  </a:lnTo>
                  <a:lnTo>
                    <a:pt x="2543361" y="533684"/>
                  </a:lnTo>
                  <a:lnTo>
                    <a:pt x="2554979" y="482833"/>
                  </a:lnTo>
                  <a:lnTo>
                    <a:pt x="2565454" y="431350"/>
                  </a:lnTo>
                  <a:lnTo>
                    <a:pt x="2574768" y="379262"/>
                  </a:lnTo>
                  <a:lnTo>
                    <a:pt x="2582902" y="326596"/>
                  </a:lnTo>
                  <a:lnTo>
                    <a:pt x="2589837" y="273380"/>
                  </a:lnTo>
                  <a:lnTo>
                    <a:pt x="2595553" y="219641"/>
                  </a:lnTo>
                  <a:lnTo>
                    <a:pt x="2600032" y="165406"/>
                  </a:lnTo>
                  <a:lnTo>
                    <a:pt x="2603255" y="110702"/>
                  </a:lnTo>
                  <a:lnTo>
                    <a:pt x="2605203" y="55558"/>
                  </a:lnTo>
                  <a:lnTo>
                    <a:pt x="2605856" y="0"/>
                  </a:lnTo>
                  <a:lnTo>
                    <a:pt x="2620001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238568" y="4089846"/>
            <a:ext cx="2649855" cy="1943100"/>
            <a:chOff x="6238568" y="4089846"/>
            <a:chExt cx="2649855" cy="1943100"/>
          </a:xfrm>
        </p:grpSpPr>
        <p:sp>
          <p:nvSpPr>
            <p:cNvPr id="14" name="object 14"/>
            <p:cNvSpPr/>
            <p:nvPr/>
          </p:nvSpPr>
          <p:spPr>
            <a:xfrm>
              <a:off x="6251270" y="4102544"/>
              <a:ext cx="2624455" cy="1917700"/>
            </a:xfrm>
            <a:custGeom>
              <a:avLst/>
              <a:gdLst/>
              <a:ahLst/>
              <a:cxnLst/>
              <a:rect l="l" t="t" r="r" b="b"/>
              <a:pathLst>
                <a:path w="2624454" h="1917700">
                  <a:moveTo>
                    <a:pt x="2624150" y="0"/>
                  </a:moveTo>
                  <a:lnTo>
                    <a:pt x="2609989" y="0"/>
                  </a:lnTo>
                  <a:lnTo>
                    <a:pt x="2609425" y="56551"/>
                  </a:lnTo>
                  <a:lnTo>
                    <a:pt x="2607742" y="112711"/>
                  </a:lnTo>
                  <a:lnTo>
                    <a:pt x="2604955" y="168457"/>
                  </a:lnTo>
                  <a:lnTo>
                    <a:pt x="2601081" y="223764"/>
                  </a:lnTo>
                  <a:lnTo>
                    <a:pt x="2596133" y="278608"/>
                  </a:lnTo>
                  <a:lnTo>
                    <a:pt x="2590128" y="332966"/>
                  </a:lnTo>
                  <a:lnTo>
                    <a:pt x="2583081" y="386813"/>
                  </a:lnTo>
                  <a:lnTo>
                    <a:pt x="2575007" y="440126"/>
                  </a:lnTo>
                  <a:lnTo>
                    <a:pt x="2565921" y="492881"/>
                  </a:lnTo>
                  <a:lnTo>
                    <a:pt x="2555838" y="545054"/>
                  </a:lnTo>
                  <a:lnTo>
                    <a:pt x="2544774" y="596621"/>
                  </a:lnTo>
                  <a:lnTo>
                    <a:pt x="2532744" y="647559"/>
                  </a:lnTo>
                  <a:lnTo>
                    <a:pt x="2519764" y="697842"/>
                  </a:lnTo>
                  <a:lnTo>
                    <a:pt x="2505848" y="747449"/>
                  </a:lnTo>
                  <a:lnTo>
                    <a:pt x="2491012" y="796353"/>
                  </a:lnTo>
                  <a:lnTo>
                    <a:pt x="2475271" y="844533"/>
                  </a:lnTo>
                  <a:lnTo>
                    <a:pt x="2458640" y="891963"/>
                  </a:lnTo>
                  <a:lnTo>
                    <a:pt x="2441135" y="938620"/>
                  </a:lnTo>
                  <a:lnTo>
                    <a:pt x="2422771" y="984480"/>
                  </a:lnTo>
                  <a:lnTo>
                    <a:pt x="2403563" y="1029519"/>
                  </a:lnTo>
                  <a:lnTo>
                    <a:pt x="2383526" y="1073713"/>
                  </a:lnTo>
                  <a:lnTo>
                    <a:pt x="2362676" y="1117039"/>
                  </a:lnTo>
                  <a:lnTo>
                    <a:pt x="2341028" y="1159472"/>
                  </a:lnTo>
                  <a:lnTo>
                    <a:pt x="2318597" y="1200988"/>
                  </a:lnTo>
                  <a:lnTo>
                    <a:pt x="2295399" y="1241565"/>
                  </a:lnTo>
                  <a:lnTo>
                    <a:pt x="2271449" y="1281177"/>
                  </a:lnTo>
                  <a:lnTo>
                    <a:pt x="2246761" y="1319801"/>
                  </a:lnTo>
                  <a:lnTo>
                    <a:pt x="2221352" y="1357413"/>
                  </a:lnTo>
                  <a:lnTo>
                    <a:pt x="2195237" y="1393989"/>
                  </a:lnTo>
                  <a:lnTo>
                    <a:pt x="2168430" y="1429506"/>
                  </a:lnTo>
                  <a:lnTo>
                    <a:pt x="2140947" y="1463939"/>
                  </a:lnTo>
                  <a:lnTo>
                    <a:pt x="2112804" y="1497264"/>
                  </a:lnTo>
                  <a:lnTo>
                    <a:pt x="2084015" y="1529458"/>
                  </a:lnTo>
                  <a:lnTo>
                    <a:pt x="2054596" y="1560497"/>
                  </a:lnTo>
                  <a:lnTo>
                    <a:pt x="2024563" y="1590356"/>
                  </a:lnTo>
                  <a:lnTo>
                    <a:pt x="1993930" y="1619013"/>
                  </a:lnTo>
                  <a:lnTo>
                    <a:pt x="1962712" y="1646442"/>
                  </a:lnTo>
                  <a:lnTo>
                    <a:pt x="1930926" y="1672621"/>
                  </a:lnTo>
                  <a:lnTo>
                    <a:pt x="1898585" y="1697525"/>
                  </a:lnTo>
                  <a:lnTo>
                    <a:pt x="1865706" y="1721130"/>
                  </a:lnTo>
                  <a:lnTo>
                    <a:pt x="1832304" y="1743413"/>
                  </a:lnTo>
                  <a:lnTo>
                    <a:pt x="1798394" y="1764349"/>
                  </a:lnTo>
                  <a:lnTo>
                    <a:pt x="1763992" y="1783915"/>
                  </a:lnTo>
                  <a:lnTo>
                    <a:pt x="1729112" y="1802087"/>
                  </a:lnTo>
                  <a:lnTo>
                    <a:pt x="1693769" y="1818841"/>
                  </a:lnTo>
                  <a:lnTo>
                    <a:pt x="1657980" y="1834153"/>
                  </a:lnTo>
                  <a:lnTo>
                    <a:pt x="1621759" y="1847999"/>
                  </a:lnTo>
                  <a:lnTo>
                    <a:pt x="1585122" y="1860356"/>
                  </a:lnTo>
                  <a:lnTo>
                    <a:pt x="1548084" y="1871199"/>
                  </a:lnTo>
                  <a:lnTo>
                    <a:pt x="1510660" y="1880504"/>
                  </a:lnTo>
                  <a:lnTo>
                    <a:pt x="1472865" y="1888248"/>
                  </a:lnTo>
                  <a:lnTo>
                    <a:pt x="1434715" y="1894407"/>
                  </a:lnTo>
                  <a:lnTo>
                    <a:pt x="1396225" y="1898957"/>
                  </a:lnTo>
                  <a:lnTo>
                    <a:pt x="1357267" y="1901880"/>
                  </a:lnTo>
                  <a:lnTo>
                    <a:pt x="1318519" y="1903114"/>
                  </a:lnTo>
                  <a:lnTo>
                    <a:pt x="1279998" y="1902678"/>
                  </a:lnTo>
                  <a:lnTo>
                    <a:pt x="1241721" y="1900597"/>
                  </a:lnTo>
                  <a:lnTo>
                    <a:pt x="1203706" y="1896890"/>
                  </a:lnTo>
                  <a:lnTo>
                    <a:pt x="1165969" y="1891581"/>
                  </a:lnTo>
                  <a:lnTo>
                    <a:pt x="1091398" y="1876244"/>
                  </a:lnTo>
                  <a:lnTo>
                    <a:pt x="1054599" y="1866259"/>
                  </a:lnTo>
                  <a:lnTo>
                    <a:pt x="1018147" y="1854759"/>
                  </a:lnTo>
                  <a:lnTo>
                    <a:pt x="982059" y="1841767"/>
                  </a:lnTo>
                  <a:lnTo>
                    <a:pt x="946352" y="1827303"/>
                  </a:lnTo>
                  <a:lnTo>
                    <a:pt x="911043" y="1811391"/>
                  </a:lnTo>
                  <a:lnTo>
                    <a:pt x="876149" y="1794051"/>
                  </a:lnTo>
                  <a:lnTo>
                    <a:pt x="841687" y="1775307"/>
                  </a:lnTo>
                  <a:lnTo>
                    <a:pt x="807675" y="1755179"/>
                  </a:lnTo>
                  <a:lnTo>
                    <a:pt x="774130" y="1733690"/>
                  </a:lnTo>
                  <a:lnTo>
                    <a:pt x="741068" y="1710863"/>
                  </a:lnTo>
                  <a:lnTo>
                    <a:pt x="708507" y="1686717"/>
                  </a:lnTo>
                  <a:lnTo>
                    <a:pt x="676464" y="1661277"/>
                  </a:lnTo>
                  <a:lnTo>
                    <a:pt x="644956" y="1634563"/>
                  </a:lnTo>
                  <a:lnTo>
                    <a:pt x="613999" y="1606598"/>
                  </a:lnTo>
                  <a:lnTo>
                    <a:pt x="583613" y="1577403"/>
                  </a:lnTo>
                  <a:lnTo>
                    <a:pt x="553812" y="1547001"/>
                  </a:lnTo>
                  <a:lnTo>
                    <a:pt x="524615" y="1515413"/>
                  </a:lnTo>
                  <a:lnTo>
                    <a:pt x="496038" y="1482661"/>
                  </a:lnTo>
                  <a:lnTo>
                    <a:pt x="468099" y="1448768"/>
                  </a:lnTo>
                  <a:lnTo>
                    <a:pt x="440814" y="1413755"/>
                  </a:lnTo>
                  <a:lnTo>
                    <a:pt x="414202" y="1377645"/>
                  </a:lnTo>
                  <a:lnTo>
                    <a:pt x="388278" y="1340458"/>
                  </a:lnTo>
                  <a:lnTo>
                    <a:pt x="363060" y="1302218"/>
                  </a:lnTo>
                  <a:lnTo>
                    <a:pt x="338566" y="1262945"/>
                  </a:lnTo>
                  <a:lnTo>
                    <a:pt x="314811" y="1222663"/>
                  </a:lnTo>
                  <a:lnTo>
                    <a:pt x="291814" y="1181393"/>
                  </a:lnTo>
                  <a:lnTo>
                    <a:pt x="269592" y="1139156"/>
                  </a:lnTo>
                  <a:lnTo>
                    <a:pt x="248161" y="1095976"/>
                  </a:lnTo>
                  <a:lnTo>
                    <a:pt x="227538" y="1051873"/>
                  </a:lnTo>
                  <a:lnTo>
                    <a:pt x="207742" y="1006870"/>
                  </a:lnTo>
                  <a:lnTo>
                    <a:pt x="188788" y="960989"/>
                  </a:lnTo>
                  <a:lnTo>
                    <a:pt x="170694" y="914251"/>
                  </a:lnTo>
                  <a:lnTo>
                    <a:pt x="153477" y="866679"/>
                  </a:lnTo>
                  <a:lnTo>
                    <a:pt x="137154" y="818294"/>
                  </a:lnTo>
                  <a:lnTo>
                    <a:pt x="121743" y="769119"/>
                  </a:lnTo>
                  <a:lnTo>
                    <a:pt x="107260" y="719176"/>
                  </a:lnTo>
                  <a:lnTo>
                    <a:pt x="93722" y="668486"/>
                  </a:lnTo>
                  <a:lnTo>
                    <a:pt x="81147" y="617071"/>
                  </a:lnTo>
                  <a:lnTo>
                    <a:pt x="69552" y="564953"/>
                  </a:lnTo>
                  <a:lnTo>
                    <a:pt x="58953" y="512155"/>
                  </a:lnTo>
                  <a:lnTo>
                    <a:pt x="49368" y="458698"/>
                  </a:lnTo>
                  <a:lnTo>
                    <a:pt x="40815" y="404604"/>
                  </a:lnTo>
                  <a:lnTo>
                    <a:pt x="33309" y="349895"/>
                  </a:lnTo>
                  <a:lnTo>
                    <a:pt x="26868" y="294593"/>
                  </a:lnTo>
                  <a:lnTo>
                    <a:pt x="21510" y="238720"/>
                  </a:lnTo>
                  <a:lnTo>
                    <a:pt x="17251" y="182298"/>
                  </a:lnTo>
                  <a:lnTo>
                    <a:pt x="14109" y="125349"/>
                  </a:lnTo>
                  <a:lnTo>
                    <a:pt x="0" y="126720"/>
                  </a:lnTo>
                  <a:lnTo>
                    <a:pt x="3148" y="183503"/>
                  </a:lnTo>
                  <a:lnTo>
                    <a:pt x="7407" y="239784"/>
                  </a:lnTo>
                  <a:lnTo>
                    <a:pt x="12759" y="295541"/>
                  </a:lnTo>
                  <a:lnTo>
                    <a:pt x="19189" y="350751"/>
                  </a:lnTo>
                  <a:lnTo>
                    <a:pt x="26679" y="405391"/>
                  </a:lnTo>
                  <a:lnTo>
                    <a:pt x="35214" y="459440"/>
                  </a:lnTo>
                  <a:lnTo>
                    <a:pt x="44776" y="512874"/>
                  </a:lnTo>
                  <a:lnTo>
                    <a:pt x="55350" y="565672"/>
                  </a:lnTo>
                  <a:lnTo>
                    <a:pt x="66919" y="617809"/>
                  </a:lnTo>
                  <a:lnTo>
                    <a:pt x="79465" y="669265"/>
                  </a:lnTo>
                  <a:lnTo>
                    <a:pt x="92974" y="720017"/>
                  </a:lnTo>
                  <a:lnTo>
                    <a:pt x="107428" y="770041"/>
                  </a:lnTo>
                  <a:lnTo>
                    <a:pt x="122811" y="819316"/>
                  </a:lnTo>
                  <a:lnTo>
                    <a:pt x="139107" y="867819"/>
                  </a:lnTo>
                  <a:lnTo>
                    <a:pt x="156298" y="915528"/>
                  </a:lnTo>
                  <a:lnTo>
                    <a:pt x="174369" y="962419"/>
                  </a:lnTo>
                  <a:lnTo>
                    <a:pt x="193303" y="1008471"/>
                  </a:lnTo>
                  <a:lnTo>
                    <a:pt x="213084" y="1053661"/>
                  </a:lnTo>
                  <a:lnTo>
                    <a:pt x="233694" y="1097966"/>
                  </a:lnTo>
                  <a:lnTo>
                    <a:pt x="255118" y="1141364"/>
                  </a:lnTo>
                  <a:lnTo>
                    <a:pt x="277339" y="1183832"/>
                  </a:lnTo>
                  <a:lnTo>
                    <a:pt x="300341" y="1225349"/>
                  </a:lnTo>
                  <a:lnTo>
                    <a:pt x="324106" y="1265890"/>
                  </a:lnTo>
                  <a:lnTo>
                    <a:pt x="348619" y="1305435"/>
                  </a:lnTo>
                  <a:lnTo>
                    <a:pt x="373864" y="1343960"/>
                  </a:lnTo>
                  <a:lnTo>
                    <a:pt x="399823" y="1381442"/>
                  </a:lnTo>
                  <a:lnTo>
                    <a:pt x="426480" y="1417860"/>
                  </a:lnTo>
                  <a:lnTo>
                    <a:pt x="453819" y="1453191"/>
                  </a:lnTo>
                  <a:lnTo>
                    <a:pt x="481823" y="1487412"/>
                  </a:lnTo>
                  <a:lnTo>
                    <a:pt x="510476" y="1520501"/>
                  </a:lnTo>
                  <a:lnTo>
                    <a:pt x="539762" y="1552435"/>
                  </a:lnTo>
                  <a:lnTo>
                    <a:pt x="569662" y="1583191"/>
                  </a:lnTo>
                  <a:lnTo>
                    <a:pt x="600163" y="1612748"/>
                  </a:lnTo>
                  <a:lnTo>
                    <a:pt x="631246" y="1641083"/>
                  </a:lnTo>
                  <a:lnTo>
                    <a:pt x="662895" y="1668172"/>
                  </a:lnTo>
                  <a:lnTo>
                    <a:pt x="695094" y="1693995"/>
                  </a:lnTo>
                  <a:lnTo>
                    <a:pt x="727827" y="1718527"/>
                  </a:lnTo>
                  <a:lnTo>
                    <a:pt x="761077" y="1741747"/>
                  </a:lnTo>
                  <a:lnTo>
                    <a:pt x="794826" y="1763632"/>
                  </a:lnTo>
                  <a:lnTo>
                    <a:pt x="829060" y="1784160"/>
                  </a:lnTo>
                  <a:lnTo>
                    <a:pt x="863762" y="1803308"/>
                  </a:lnTo>
                  <a:lnTo>
                    <a:pt x="898914" y="1821053"/>
                  </a:lnTo>
                  <a:lnTo>
                    <a:pt x="934501" y="1837374"/>
                  </a:lnTo>
                  <a:lnTo>
                    <a:pt x="970505" y="1852247"/>
                  </a:lnTo>
                  <a:lnTo>
                    <a:pt x="1006912" y="1865650"/>
                  </a:lnTo>
                  <a:lnTo>
                    <a:pt x="1043703" y="1877560"/>
                  </a:lnTo>
                  <a:lnTo>
                    <a:pt x="1080863" y="1887956"/>
                  </a:lnTo>
                  <a:lnTo>
                    <a:pt x="1118375" y="1896814"/>
                  </a:lnTo>
                  <a:lnTo>
                    <a:pt x="1156223" y="1904112"/>
                  </a:lnTo>
                  <a:lnTo>
                    <a:pt x="1194389" y="1909827"/>
                  </a:lnTo>
                  <a:lnTo>
                    <a:pt x="1232859" y="1913937"/>
                  </a:lnTo>
                  <a:lnTo>
                    <a:pt x="1271614" y="1916420"/>
                  </a:lnTo>
                  <a:lnTo>
                    <a:pt x="1310640" y="1917252"/>
                  </a:lnTo>
                  <a:lnTo>
                    <a:pt x="1349368" y="1916435"/>
                  </a:lnTo>
                  <a:lnTo>
                    <a:pt x="1387819" y="1913998"/>
                  </a:lnTo>
                  <a:lnTo>
                    <a:pt x="1425976" y="1909963"/>
                  </a:lnTo>
                  <a:lnTo>
                    <a:pt x="1463823" y="1904354"/>
                  </a:lnTo>
                  <a:lnTo>
                    <a:pt x="1501347" y="1897192"/>
                  </a:lnTo>
                  <a:lnTo>
                    <a:pt x="1538531" y="1888500"/>
                  </a:lnTo>
                  <a:lnTo>
                    <a:pt x="1575359" y="1878301"/>
                  </a:lnTo>
                  <a:lnTo>
                    <a:pt x="1611817" y="1866617"/>
                  </a:lnTo>
                  <a:lnTo>
                    <a:pt x="1647889" y="1853470"/>
                  </a:lnTo>
                  <a:lnTo>
                    <a:pt x="1683559" y="1838883"/>
                  </a:lnTo>
                  <a:lnTo>
                    <a:pt x="1718813" y="1822879"/>
                  </a:lnTo>
                  <a:lnTo>
                    <a:pt x="1753634" y="1805480"/>
                  </a:lnTo>
                  <a:lnTo>
                    <a:pt x="1788008" y="1786708"/>
                  </a:lnTo>
                  <a:lnTo>
                    <a:pt x="1821919" y="1766586"/>
                  </a:lnTo>
                  <a:lnTo>
                    <a:pt x="1855352" y="1745136"/>
                  </a:lnTo>
                  <a:lnTo>
                    <a:pt x="1888290" y="1722382"/>
                  </a:lnTo>
                  <a:lnTo>
                    <a:pt x="1920720" y="1698344"/>
                  </a:lnTo>
                  <a:lnTo>
                    <a:pt x="1952625" y="1673047"/>
                  </a:lnTo>
                  <a:lnTo>
                    <a:pt x="1983990" y="1646511"/>
                  </a:lnTo>
                  <a:lnTo>
                    <a:pt x="2014799" y="1618761"/>
                  </a:lnTo>
                  <a:lnTo>
                    <a:pt x="2045038" y="1589817"/>
                  </a:lnTo>
                  <a:lnTo>
                    <a:pt x="2074690" y="1559704"/>
                  </a:lnTo>
                  <a:lnTo>
                    <a:pt x="2103741" y="1528442"/>
                  </a:lnTo>
                  <a:lnTo>
                    <a:pt x="2132175" y="1496055"/>
                  </a:lnTo>
                  <a:lnTo>
                    <a:pt x="2159977" y="1462566"/>
                  </a:lnTo>
                  <a:lnTo>
                    <a:pt x="2187131" y="1427996"/>
                  </a:lnTo>
                  <a:lnTo>
                    <a:pt x="2213621" y="1392368"/>
                  </a:lnTo>
                  <a:lnTo>
                    <a:pt x="2239433" y="1355704"/>
                  </a:lnTo>
                  <a:lnTo>
                    <a:pt x="2264551" y="1318028"/>
                  </a:lnTo>
                  <a:lnTo>
                    <a:pt x="2288960" y="1279361"/>
                  </a:lnTo>
                  <a:lnTo>
                    <a:pt x="2312644" y="1239726"/>
                  </a:lnTo>
                  <a:lnTo>
                    <a:pt x="2335588" y="1199146"/>
                  </a:lnTo>
                  <a:lnTo>
                    <a:pt x="2357776" y="1157642"/>
                  </a:lnTo>
                  <a:lnTo>
                    <a:pt x="2379193" y="1115238"/>
                  </a:lnTo>
                  <a:lnTo>
                    <a:pt x="2399824" y="1071956"/>
                  </a:lnTo>
                  <a:lnTo>
                    <a:pt x="2419653" y="1027819"/>
                  </a:lnTo>
                  <a:lnTo>
                    <a:pt x="2438665" y="982848"/>
                  </a:lnTo>
                  <a:lnTo>
                    <a:pt x="2456844" y="937066"/>
                  </a:lnTo>
                  <a:lnTo>
                    <a:pt x="2474176" y="890497"/>
                  </a:lnTo>
                  <a:lnTo>
                    <a:pt x="2490644" y="843161"/>
                  </a:lnTo>
                  <a:lnTo>
                    <a:pt x="2506233" y="795083"/>
                  </a:lnTo>
                  <a:lnTo>
                    <a:pt x="2520928" y="746283"/>
                  </a:lnTo>
                  <a:lnTo>
                    <a:pt x="2534714" y="696786"/>
                  </a:lnTo>
                  <a:lnTo>
                    <a:pt x="2547574" y="646612"/>
                  </a:lnTo>
                  <a:lnTo>
                    <a:pt x="2559495" y="595785"/>
                  </a:lnTo>
                  <a:lnTo>
                    <a:pt x="2570459" y="544328"/>
                  </a:lnTo>
                  <a:lnTo>
                    <a:pt x="2580452" y="492262"/>
                  </a:lnTo>
                  <a:lnTo>
                    <a:pt x="2589459" y="439610"/>
                  </a:lnTo>
                  <a:lnTo>
                    <a:pt x="2597464" y="386394"/>
                  </a:lnTo>
                  <a:lnTo>
                    <a:pt x="2604452" y="332638"/>
                  </a:lnTo>
                  <a:lnTo>
                    <a:pt x="2610406" y="278363"/>
                  </a:lnTo>
                  <a:lnTo>
                    <a:pt x="2615313" y="223593"/>
                  </a:lnTo>
                  <a:lnTo>
                    <a:pt x="2619156" y="168349"/>
                  </a:lnTo>
                  <a:lnTo>
                    <a:pt x="2621920" y="112653"/>
                  </a:lnTo>
                  <a:lnTo>
                    <a:pt x="2623590" y="56529"/>
                  </a:lnTo>
                  <a:lnTo>
                    <a:pt x="262415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51268" y="4102546"/>
              <a:ext cx="2624455" cy="1917700"/>
            </a:xfrm>
            <a:custGeom>
              <a:avLst/>
              <a:gdLst/>
              <a:ahLst/>
              <a:cxnLst/>
              <a:rect l="l" t="t" r="r" b="b"/>
              <a:pathLst>
                <a:path w="2624454" h="1917700">
                  <a:moveTo>
                    <a:pt x="2624151" y="0"/>
                  </a:moveTo>
                  <a:lnTo>
                    <a:pt x="2623591" y="56529"/>
                  </a:lnTo>
                  <a:lnTo>
                    <a:pt x="2621921" y="112653"/>
                  </a:lnTo>
                  <a:lnTo>
                    <a:pt x="2619157" y="168348"/>
                  </a:lnTo>
                  <a:lnTo>
                    <a:pt x="2615314" y="223592"/>
                  </a:lnTo>
                  <a:lnTo>
                    <a:pt x="2610407" y="278362"/>
                  </a:lnTo>
                  <a:lnTo>
                    <a:pt x="2604453" y="332637"/>
                  </a:lnTo>
                  <a:lnTo>
                    <a:pt x="2597465" y="386393"/>
                  </a:lnTo>
                  <a:lnTo>
                    <a:pt x="2589460" y="439608"/>
                  </a:lnTo>
                  <a:lnTo>
                    <a:pt x="2580453" y="492260"/>
                  </a:lnTo>
                  <a:lnTo>
                    <a:pt x="2570460" y="544326"/>
                  </a:lnTo>
                  <a:lnTo>
                    <a:pt x="2559495" y="595783"/>
                  </a:lnTo>
                  <a:lnTo>
                    <a:pt x="2547575" y="646610"/>
                  </a:lnTo>
                  <a:lnTo>
                    <a:pt x="2534714" y="696783"/>
                  </a:lnTo>
                  <a:lnTo>
                    <a:pt x="2520929" y="746281"/>
                  </a:lnTo>
                  <a:lnTo>
                    <a:pt x="2506233" y="795080"/>
                  </a:lnTo>
                  <a:lnTo>
                    <a:pt x="2490644" y="843158"/>
                  </a:lnTo>
                  <a:lnTo>
                    <a:pt x="2474176" y="890494"/>
                  </a:lnTo>
                  <a:lnTo>
                    <a:pt x="2456844" y="937063"/>
                  </a:lnTo>
                  <a:lnTo>
                    <a:pt x="2438665" y="982845"/>
                  </a:lnTo>
                  <a:lnTo>
                    <a:pt x="2419653" y="1027816"/>
                  </a:lnTo>
                  <a:lnTo>
                    <a:pt x="2399824" y="1071953"/>
                  </a:lnTo>
                  <a:lnTo>
                    <a:pt x="2379193" y="1115235"/>
                  </a:lnTo>
                  <a:lnTo>
                    <a:pt x="2357775" y="1157639"/>
                  </a:lnTo>
                  <a:lnTo>
                    <a:pt x="2335587" y="1199143"/>
                  </a:lnTo>
                  <a:lnTo>
                    <a:pt x="2312643" y="1239723"/>
                  </a:lnTo>
                  <a:lnTo>
                    <a:pt x="2288959" y="1279358"/>
                  </a:lnTo>
                  <a:lnTo>
                    <a:pt x="2264550" y="1318025"/>
                  </a:lnTo>
                  <a:lnTo>
                    <a:pt x="2239432" y="1355701"/>
                  </a:lnTo>
                  <a:lnTo>
                    <a:pt x="2213620" y="1392365"/>
                  </a:lnTo>
                  <a:lnTo>
                    <a:pt x="2187129" y="1427993"/>
                  </a:lnTo>
                  <a:lnTo>
                    <a:pt x="2159975" y="1462563"/>
                  </a:lnTo>
                  <a:lnTo>
                    <a:pt x="2132174" y="1496052"/>
                  </a:lnTo>
                  <a:lnTo>
                    <a:pt x="2103740" y="1528439"/>
                  </a:lnTo>
                  <a:lnTo>
                    <a:pt x="2074689" y="1559701"/>
                  </a:lnTo>
                  <a:lnTo>
                    <a:pt x="2045036" y="1589814"/>
                  </a:lnTo>
                  <a:lnTo>
                    <a:pt x="2014797" y="1618758"/>
                  </a:lnTo>
                  <a:lnTo>
                    <a:pt x="1983988" y="1646509"/>
                  </a:lnTo>
                  <a:lnTo>
                    <a:pt x="1952623" y="1673044"/>
                  </a:lnTo>
                  <a:lnTo>
                    <a:pt x="1920718" y="1698342"/>
                  </a:lnTo>
                  <a:lnTo>
                    <a:pt x="1888288" y="1722379"/>
                  </a:lnTo>
                  <a:lnTo>
                    <a:pt x="1855350" y="1745134"/>
                  </a:lnTo>
                  <a:lnTo>
                    <a:pt x="1821917" y="1766584"/>
                  </a:lnTo>
                  <a:lnTo>
                    <a:pt x="1788006" y="1786706"/>
                  </a:lnTo>
                  <a:lnTo>
                    <a:pt x="1753633" y="1805478"/>
                  </a:lnTo>
                  <a:lnTo>
                    <a:pt x="1718811" y="1822877"/>
                  </a:lnTo>
                  <a:lnTo>
                    <a:pt x="1683558" y="1838881"/>
                  </a:lnTo>
                  <a:lnTo>
                    <a:pt x="1647887" y="1853468"/>
                  </a:lnTo>
                  <a:lnTo>
                    <a:pt x="1611816" y="1866615"/>
                  </a:lnTo>
                  <a:lnTo>
                    <a:pt x="1575358" y="1878299"/>
                  </a:lnTo>
                  <a:lnTo>
                    <a:pt x="1538530" y="1888498"/>
                  </a:lnTo>
                  <a:lnTo>
                    <a:pt x="1501346" y="1897190"/>
                  </a:lnTo>
                  <a:lnTo>
                    <a:pt x="1463823" y="1904352"/>
                  </a:lnTo>
                  <a:lnTo>
                    <a:pt x="1425975" y="1909961"/>
                  </a:lnTo>
                  <a:lnTo>
                    <a:pt x="1387819" y="1913996"/>
                  </a:lnTo>
                  <a:lnTo>
                    <a:pt x="1349369" y="1916433"/>
                  </a:lnTo>
                  <a:lnTo>
                    <a:pt x="1310640" y="1917251"/>
                  </a:lnTo>
                  <a:lnTo>
                    <a:pt x="1271614" y="1916418"/>
                  </a:lnTo>
                  <a:lnTo>
                    <a:pt x="1232858" y="1913935"/>
                  </a:lnTo>
                  <a:lnTo>
                    <a:pt x="1194389" y="1909825"/>
                  </a:lnTo>
                  <a:lnTo>
                    <a:pt x="1156221" y="1904110"/>
                  </a:lnTo>
                  <a:lnTo>
                    <a:pt x="1118373" y="1896812"/>
                  </a:lnTo>
                  <a:lnTo>
                    <a:pt x="1080861" y="1887954"/>
                  </a:lnTo>
                  <a:lnTo>
                    <a:pt x="1043701" y="1877559"/>
                  </a:lnTo>
                  <a:lnTo>
                    <a:pt x="1006909" y="1865648"/>
                  </a:lnTo>
                  <a:lnTo>
                    <a:pt x="970502" y="1852245"/>
                  </a:lnTo>
                  <a:lnTo>
                    <a:pt x="934497" y="1837372"/>
                  </a:lnTo>
                  <a:lnTo>
                    <a:pt x="898910" y="1821052"/>
                  </a:lnTo>
                  <a:lnTo>
                    <a:pt x="863757" y="1803306"/>
                  </a:lnTo>
                  <a:lnTo>
                    <a:pt x="829056" y="1784158"/>
                  </a:lnTo>
                  <a:lnTo>
                    <a:pt x="794821" y="1763631"/>
                  </a:lnTo>
                  <a:lnTo>
                    <a:pt x="761071" y="1741745"/>
                  </a:lnTo>
                  <a:lnTo>
                    <a:pt x="727822" y="1718525"/>
                  </a:lnTo>
                  <a:lnTo>
                    <a:pt x="695089" y="1693993"/>
                  </a:lnTo>
                  <a:lnTo>
                    <a:pt x="662889" y="1668171"/>
                  </a:lnTo>
                  <a:lnTo>
                    <a:pt x="631240" y="1641081"/>
                  </a:lnTo>
                  <a:lnTo>
                    <a:pt x="600156" y="1612746"/>
                  </a:lnTo>
                  <a:lnTo>
                    <a:pt x="569656" y="1583189"/>
                  </a:lnTo>
                  <a:lnTo>
                    <a:pt x="539755" y="1552433"/>
                  </a:lnTo>
                  <a:lnTo>
                    <a:pt x="510470" y="1520499"/>
                  </a:lnTo>
                  <a:lnTo>
                    <a:pt x="481817" y="1487410"/>
                  </a:lnTo>
                  <a:lnTo>
                    <a:pt x="453812" y="1453189"/>
                  </a:lnTo>
                  <a:lnTo>
                    <a:pt x="426473" y="1417858"/>
                  </a:lnTo>
                  <a:lnTo>
                    <a:pt x="399816" y="1381440"/>
                  </a:lnTo>
                  <a:lnTo>
                    <a:pt x="373857" y="1343958"/>
                  </a:lnTo>
                  <a:lnTo>
                    <a:pt x="348613" y="1305433"/>
                  </a:lnTo>
                  <a:lnTo>
                    <a:pt x="324099" y="1265888"/>
                  </a:lnTo>
                  <a:lnTo>
                    <a:pt x="300334" y="1225346"/>
                  </a:lnTo>
                  <a:lnTo>
                    <a:pt x="277332" y="1183830"/>
                  </a:lnTo>
                  <a:lnTo>
                    <a:pt x="255111" y="1141361"/>
                  </a:lnTo>
                  <a:lnTo>
                    <a:pt x="233687" y="1097963"/>
                  </a:lnTo>
                  <a:lnTo>
                    <a:pt x="213077" y="1053657"/>
                  </a:lnTo>
                  <a:lnTo>
                    <a:pt x="193297" y="1008467"/>
                  </a:lnTo>
                  <a:lnTo>
                    <a:pt x="174363" y="962415"/>
                  </a:lnTo>
                  <a:lnTo>
                    <a:pt x="156293" y="915524"/>
                  </a:lnTo>
                  <a:lnTo>
                    <a:pt x="139101" y="867815"/>
                  </a:lnTo>
                  <a:lnTo>
                    <a:pt x="122806" y="819312"/>
                  </a:lnTo>
                  <a:lnTo>
                    <a:pt x="107423" y="770036"/>
                  </a:lnTo>
                  <a:lnTo>
                    <a:pt x="92969" y="720012"/>
                  </a:lnTo>
                  <a:lnTo>
                    <a:pt x="79461" y="669260"/>
                  </a:lnTo>
                  <a:lnTo>
                    <a:pt x="66914" y="617803"/>
                  </a:lnTo>
                  <a:lnTo>
                    <a:pt x="55346" y="565665"/>
                  </a:lnTo>
                  <a:lnTo>
                    <a:pt x="44773" y="512867"/>
                  </a:lnTo>
                  <a:lnTo>
                    <a:pt x="35211" y="459433"/>
                  </a:lnTo>
                  <a:lnTo>
                    <a:pt x="26677" y="405384"/>
                  </a:lnTo>
                  <a:lnTo>
                    <a:pt x="19187" y="350743"/>
                  </a:lnTo>
                  <a:lnTo>
                    <a:pt x="12758" y="295532"/>
                  </a:lnTo>
                  <a:lnTo>
                    <a:pt x="7406" y="239775"/>
                  </a:lnTo>
                  <a:lnTo>
                    <a:pt x="3147" y="183493"/>
                  </a:lnTo>
                  <a:lnTo>
                    <a:pt x="0" y="126710"/>
                  </a:lnTo>
                  <a:lnTo>
                    <a:pt x="14110" y="125350"/>
                  </a:lnTo>
                  <a:lnTo>
                    <a:pt x="17251" y="182299"/>
                  </a:lnTo>
                  <a:lnTo>
                    <a:pt x="21510" y="238720"/>
                  </a:lnTo>
                  <a:lnTo>
                    <a:pt x="26867" y="294593"/>
                  </a:lnTo>
                  <a:lnTo>
                    <a:pt x="33307" y="349895"/>
                  </a:lnTo>
                  <a:lnTo>
                    <a:pt x="40813" y="404604"/>
                  </a:lnTo>
                  <a:lnTo>
                    <a:pt x="49366" y="458698"/>
                  </a:lnTo>
                  <a:lnTo>
                    <a:pt x="58950" y="512155"/>
                  </a:lnTo>
                  <a:lnTo>
                    <a:pt x="69549" y="564953"/>
                  </a:lnTo>
                  <a:lnTo>
                    <a:pt x="81144" y="617070"/>
                  </a:lnTo>
                  <a:lnTo>
                    <a:pt x="93719" y="668485"/>
                  </a:lnTo>
                  <a:lnTo>
                    <a:pt x="107256" y="719175"/>
                  </a:lnTo>
                  <a:lnTo>
                    <a:pt x="121739" y="769119"/>
                  </a:lnTo>
                  <a:lnTo>
                    <a:pt x="137150" y="818294"/>
                  </a:lnTo>
                  <a:lnTo>
                    <a:pt x="153473" y="866678"/>
                  </a:lnTo>
                  <a:lnTo>
                    <a:pt x="170689" y="914250"/>
                  </a:lnTo>
                  <a:lnTo>
                    <a:pt x="188783" y="960988"/>
                  </a:lnTo>
                  <a:lnTo>
                    <a:pt x="207737" y="1006869"/>
                  </a:lnTo>
                  <a:lnTo>
                    <a:pt x="227533" y="1051872"/>
                  </a:lnTo>
                  <a:lnTo>
                    <a:pt x="248156" y="1095975"/>
                  </a:lnTo>
                  <a:lnTo>
                    <a:pt x="269587" y="1139155"/>
                  </a:lnTo>
                  <a:lnTo>
                    <a:pt x="291809" y="1181392"/>
                  </a:lnTo>
                  <a:lnTo>
                    <a:pt x="314806" y="1222662"/>
                  </a:lnTo>
                  <a:lnTo>
                    <a:pt x="338561" y="1262944"/>
                  </a:lnTo>
                  <a:lnTo>
                    <a:pt x="363055" y="1302216"/>
                  </a:lnTo>
                  <a:lnTo>
                    <a:pt x="388273" y="1340457"/>
                  </a:lnTo>
                  <a:lnTo>
                    <a:pt x="414197" y="1377643"/>
                  </a:lnTo>
                  <a:lnTo>
                    <a:pt x="440809" y="1413754"/>
                  </a:lnTo>
                  <a:lnTo>
                    <a:pt x="468094" y="1448767"/>
                  </a:lnTo>
                  <a:lnTo>
                    <a:pt x="496033" y="1482660"/>
                  </a:lnTo>
                  <a:lnTo>
                    <a:pt x="524610" y="1515411"/>
                  </a:lnTo>
                  <a:lnTo>
                    <a:pt x="553807" y="1546999"/>
                  </a:lnTo>
                  <a:lnTo>
                    <a:pt x="583607" y="1577401"/>
                  </a:lnTo>
                  <a:lnTo>
                    <a:pt x="613994" y="1606596"/>
                  </a:lnTo>
                  <a:lnTo>
                    <a:pt x="644951" y="1634561"/>
                  </a:lnTo>
                  <a:lnTo>
                    <a:pt x="676459" y="1661275"/>
                  </a:lnTo>
                  <a:lnTo>
                    <a:pt x="708502" y="1686716"/>
                  </a:lnTo>
                  <a:lnTo>
                    <a:pt x="741063" y="1710861"/>
                  </a:lnTo>
                  <a:lnTo>
                    <a:pt x="774125" y="1733689"/>
                  </a:lnTo>
                  <a:lnTo>
                    <a:pt x="807670" y="1755178"/>
                  </a:lnTo>
                  <a:lnTo>
                    <a:pt x="841683" y="1775305"/>
                  </a:lnTo>
                  <a:lnTo>
                    <a:pt x="876144" y="1794050"/>
                  </a:lnTo>
                  <a:lnTo>
                    <a:pt x="911038" y="1811389"/>
                  </a:lnTo>
                  <a:lnTo>
                    <a:pt x="946347" y="1827301"/>
                  </a:lnTo>
                  <a:lnTo>
                    <a:pt x="982054" y="1841765"/>
                  </a:lnTo>
                  <a:lnTo>
                    <a:pt x="1018143" y="1854757"/>
                  </a:lnTo>
                  <a:lnTo>
                    <a:pt x="1054595" y="1866257"/>
                  </a:lnTo>
                  <a:lnTo>
                    <a:pt x="1091394" y="1876242"/>
                  </a:lnTo>
                  <a:lnTo>
                    <a:pt x="1165964" y="1891580"/>
                  </a:lnTo>
                  <a:lnTo>
                    <a:pt x="1203701" y="1896889"/>
                  </a:lnTo>
                  <a:lnTo>
                    <a:pt x="1241717" y="1900595"/>
                  </a:lnTo>
                  <a:lnTo>
                    <a:pt x="1279993" y="1902677"/>
                  </a:lnTo>
                  <a:lnTo>
                    <a:pt x="1318514" y="1903112"/>
                  </a:lnTo>
                  <a:lnTo>
                    <a:pt x="1357262" y="1901879"/>
                  </a:lnTo>
                  <a:lnTo>
                    <a:pt x="1396220" y="1898955"/>
                  </a:lnTo>
                  <a:lnTo>
                    <a:pt x="1434710" y="1894405"/>
                  </a:lnTo>
                  <a:lnTo>
                    <a:pt x="1472860" y="1888247"/>
                  </a:lnTo>
                  <a:lnTo>
                    <a:pt x="1510655" y="1880503"/>
                  </a:lnTo>
                  <a:lnTo>
                    <a:pt x="1548079" y="1871197"/>
                  </a:lnTo>
                  <a:lnTo>
                    <a:pt x="1585118" y="1860354"/>
                  </a:lnTo>
                  <a:lnTo>
                    <a:pt x="1621755" y="1847998"/>
                  </a:lnTo>
                  <a:lnTo>
                    <a:pt x="1657976" y="1834152"/>
                  </a:lnTo>
                  <a:lnTo>
                    <a:pt x="1693765" y="1818840"/>
                  </a:lnTo>
                  <a:lnTo>
                    <a:pt x="1729107" y="1802086"/>
                  </a:lnTo>
                  <a:lnTo>
                    <a:pt x="1763988" y="1783914"/>
                  </a:lnTo>
                  <a:lnTo>
                    <a:pt x="1798391" y="1764348"/>
                  </a:lnTo>
                  <a:lnTo>
                    <a:pt x="1832301" y="1743412"/>
                  </a:lnTo>
                  <a:lnTo>
                    <a:pt x="1865703" y="1721129"/>
                  </a:lnTo>
                  <a:lnTo>
                    <a:pt x="1898582" y="1697524"/>
                  </a:lnTo>
                  <a:lnTo>
                    <a:pt x="1930922" y="1672620"/>
                  </a:lnTo>
                  <a:lnTo>
                    <a:pt x="1962709" y="1646441"/>
                  </a:lnTo>
                  <a:lnTo>
                    <a:pt x="1993926" y="1619012"/>
                  </a:lnTo>
                  <a:lnTo>
                    <a:pt x="2024560" y="1590356"/>
                  </a:lnTo>
                  <a:lnTo>
                    <a:pt x="2054593" y="1560496"/>
                  </a:lnTo>
                  <a:lnTo>
                    <a:pt x="2084012" y="1529458"/>
                  </a:lnTo>
                  <a:lnTo>
                    <a:pt x="2112801" y="1497264"/>
                  </a:lnTo>
                  <a:lnTo>
                    <a:pt x="2140945" y="1463938"/>
                  </a:lnTo>
                  <a:lnTo>
                    <a:pt x="2168427" y="1429506"/>
                  </a:lnTo>
                  <a:lnTo>
                    <a:pt x="2195234" y="1393989"/>
                  </a:lnTo>
                  <a:lnTo>
                    <a:pt x="2221350" y="1357413"/>
                  </a:lnTo>
                  <a:lnTo>
                    <a:pt x="2246759" y="1319801"/>
                  </a:lnTo>
                  <a:lnTo>
                    <a:pt x="2271447" y="1281177"/>
                  </a:lnTo>
                  <a:lnTo>
                    <a:pt x="2295398" y="1241565"/>
                  </a:lnTo>
                  <a:lnTo>
                    <a:pt x="2318596" y="1200989"/>
                  </a:lnTo>
                  <a:lnTo>
                    <a:pt x="2341027" y="1159472"/>
                  </a:lnTo>
                  <a:lnTo>
                    <a:pt x="2362675" y="1117039"/>
                  </a:lnTo>
                  <a:lnTo>
                    <a:pt x="2383525" y="1073713"/>
                  </a:lnTo>
                  <a:lnTo>
                    <a:pt x="2403562" y="1029519"/>
                  </a:lnTo>
                  <a:lnTo>
                    <a:pt x="2422770" y="984480"/>
                  </a:lnTo>
                  <a:lnTo>
                    <a:pt x="2441134" y="938620"/>
                  </a:lnTo>
                  <a:lnTo>
                    <a:pt x="2458640" y="891963"/>
                  </a:lnTo>
                  <a:lnTo>
                    <a:pt x="2475270" y="844533"/>
                  </a:lnTo>
                  <a:lnTo>
                    <a:pt x="2491012" y="796354"/>
                  </a:lnTo>
                  <a:lnTo>
                    <a:pt x="2505848" y="747449"/>
                  </a:lnTo>
                  <a:lnTo>
                    <a:pt x="2519764" y="697843"/>
                  </a:lnTo>
                  <a:lnTo>
                    <a:pt x="2532745" y="647559"/>
                  </a:lnTo>
                  <a:lnTo>
                    <a:pt x="2544775" y="596622"/>
                  </a:lnTo>
                  <a:lnTo>
                    <a:pt x="2555839" y="545055"/>
                  </a:lnTo>
                  <a:lnTo>
                    <a:pt x="2565921" y="492882"/>
                  </a:lnTo>
                  <a:lnTo>
                    <a:pt x="2575008" y="440127"/>
                  </a:lnTo>
                  <a:lnTo>
                    <a:pt x="2583082" y="386814"/>
                  </a:lnTo>
                  <a:lnTo>
                    <a:pt x="2590129" y="332966"/>
                  </a:lnTo>
                  <a:lnTo>
                    <a:pt x="2596134" y="278608"/>
                  </a:lnTo>
                  <a:lnTo>
                    <a:pt x="2601082" y="223764"/>
                  </a:lnTo>
                  <a:lnTo>
                    <a:pt x="2604956" y="168457"/>
                  </a:lnTo>
                  <a:lnTo>
                    <a:pt x="2607743" y="112711"/>
                  </a:lnTo>
                  <a:lnTo>
                    <a:pt x="2609426" y="56551"/>
                  </a:lnTo>
                  <a:lnTo>
                    <a:pt x="2609990" y="0"/>
                  </a:lnTo>
                  <a:lnTo>
                    <a:pt x="2624151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5660" y="1885467"/>
            <a:ext cx="6719570" cy="3448685"/>
            <a:chOff x="1205660" y="1885467"/>
            <a:chExt cx="6719570" cy="3448685"/>
          </a:xfrm>
        </p:grpSpPr>
        <p:sp>
          <p:nvSpPr>
            <p:cNvPr id="3" name="object 3"/>
            <p:cNvSpPr/>
            <p:nvPr/>
          </p:nvSpPr>
          <p:spPr>
            <a:xfrm>
              <a:off x="1224699" y="1885467"/>
              <a:ext cx="3886835" cy="2475230"/>
            </a:xfrm>
            <a:custGeom>
              <a:avLst/>
              <a:gdLst/>
              <a:ahLst/>
              <a:cxnLst/>
              <a:rect l="l" t="t" r="r" b="b"/>
              <a:pathLst>
                <a:path w="3886835" h="2475229">
                  <a:moveTo>
                    <a:pt x="3886225" y="2246566"/>
                  </a:moveTo>
                  <a:lnTo>
                    <a:pt x="3799344" y="2174151"/>
                  </a:lnTo>
                  <a:lnTo>
                    <a:pt x="3794341" y="2174608"/>
                  </a:lnTo>
                  <a:lnTo>
                    <a:pt x="3788727" y="2181352"/>
                  </a:lnTo>
                  <a:lnTo>
                    <a:pt x="3789184" y="2186355"/>
                  </a:lnTo>
                  <a:lnTo>
                    <a:pt x="3851910" y="2238629"/>
                  </a:lnTo>
                  <a:lnTo>
                    <a:pt x="236550" y="2238629"/>
                  </a:lnTo>
                  <a:lnTo>
                    <a:pt x="236550" y="34328"/>
                  </a:lnTo>
                  <a:lnTo>
                    <a:pt x="288823" y="97053"/>
                  </a:lnTo>
                  <a:lnTo>
                    <a:pt x="293827" y="97510"/>
                  </a:lnTo>
                  <a:lnTo>
                    <a:pt x="300558" y="91897"/>
                  </a:lnTo>
                  <a:lnTo>
                    <a:pt x="301015" y="86893"/>
                  </a:lnTo>
                  <a:lnTo>
                    <a:pt x="238937" y="12395"/>
                  </a:lnTo>
                  <a:lnTo>
                    <a:pt x="228612" y="0"/>
                  </a:lnTo>
                  <a:lnTo>
                    <a:pt x="156210" y="86893"/>
                  </a:lnTo>
                  <a:lnTo>
                    <a:pt x="156667" y="91897"/>
                  </a:lnTo>
                  <a:lnTo>
                    <a:pt x="163398" y="97510"/>
                  </a:lnTo>
                  <a:lnTo>
                    <a:pt x="168402" y="97053"/>
                  </a:lnTo>
                  <a:lnTo>
                    <a:pt x="220675" y="34328"/>
                  </a:lnTo>
                  <a:lnTo>
                    <a:pt x="220675" y="2238629"/>
                  </a:lnTo>
                  <a:lnTo>
                    <a:pt x="0" y="2238616"/>
                  </a:lnTo>
                  <a:lnTo>
                    <a:pt x="0" y="2254491"/>
                  </a:lnTo>
                  <a:lnTo>
                    <a:pt x="220675" y="2254491"/>
                  </a:lnTo>
                  <a:lnTo>
                    <a:pt x="220675" y="2475153"/>
                  </a:lnTo>
                  <a:lnTo>
                    <a:pt x="236550" y="2475153"/>
                  </a:lnTo>
                  <a:lnTo>
                    <a:pt x="236550" y="2254491"/>
                  </a:lnTo>
                  <a:lnTo>
                    <a:pt x="3851897" y="2254491"/>
                  </a:lnTo>
                  <a:lnTo>
                    <a:pt x="3789184" y="2306764"/>
                  </a:lnTo>
                  <a:lnTo>
                    <a:pt x="3788727" y="2311768"/>
                  </a:lnTo>
                  <a:lnTo>
                    <a:pt x="3794341" y="2318512"/>
                  </a:lnTo>
                  <a:lnTo>
                    <a:pt x="3799344" y="2318969"/>
                  </a:lnTo>
                  <a:lnTo>
                    <a:pt x="3876700" y="2254504"/>
                  </a:lnTo>
                  <a:lnTo>
                    <a:pt x="3886225" y="2246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04830" y="4291558"/>
              <a:ext cx="184708" cy="2084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4710" y="2095206"/>
              <a:ext cx="3681729" cy="1778000"/>
            </a:xfrm>
            <a:custGeom>
              <a:avLst/>
              <a:gdLst/>
              <a:ahLst/>
              <a:cxnLst/>
              <a:rect l="l" t="t" r="r" b="b"/>
              <a:pathLst>
                <a:path w="3681729" h="1778000">
                  <a:moveTo>
                    <a:pt x="0" y="744927"/>
                  </a:moveTo>
                  <a:lnTo>
                    <a:pt x="29646" y="700704"/>
                  </a:lnTo>
                  <a:lnTo>
                    <a:pt x="58398" y="655374"/>
                  </a:lnTo>
                  <a:lnTo>
                    <a:pt x="86528" y="610063"/>
                  </a:lnTo>
                  <a:lnTo>
                    <a:pt x="114305" y="565896"/>
                  </a:lnTo>
                  <a:lnTo>
                    <a:pt x="141999" y="523996"/>
                  </a:lnTo>
                  <a:lnTo>
                    <a:pt x="169881" y="485488"/>
                  </a:lnTo>
                  <a:lnTo>
                    <a:pt x="198222" y="451498"/>
                  </a:lnTo>
                  <a:lnTo>
                    <a:pt x="227291" y="423150"/>
                  </a:lnTo>
                  <a:lnTo>
                    <a:pt x="288696" y="387877"/>
                  </a:lnTo>
                  <a:lnTo>
                    <a:pt x="321572" y="383202"/>
                  </a:lnTo>
                  <a:lnTo>
                    <a:pt x="356259" y="388667"/>
                  </a:lnTo>
                  <a:lnTo>
                    <a:pt x="412418" y="413574"/>
                  </a:lnTo>
                  <a:lnTo>
                    <a:pt x="472986" y="455031"/>
                  </a:lnTo>
                  <a:lnTo>
                    <a:pt x="504518" y="481718"/>
                  </a:lnTo>
                  <a:lnTo>
                    <a:pt x="536666" y="512244"/>
                  </a:lnTo>
                  <a:lnTo>
                    <a:pt x="569268" y="546510"/>
                  </a:lnTo>
                  <a:lnTo>
                    <a:pt x="602162" y="584416"/>
                  </a:lnTo>
                  <a:lnTo>
                    <a:pt x="635185" y="625863"/>
                  </a:lnTo>
                  <a:lnTo>
                    <a:pt x="668176" y="670751"/>
                  </a:lnTo>
                  <a:lnTo>
                    <a:pt x="700972" y="718982"/>
                  </a:lnTo>
                  <a:lnTo>
                    <a:pt x="733411" y="770455"/>
                  </a:lnTo>
                  <a:lnTo>
                    <a:pt x="765332" y="825071"/>
                  </a:lnTo>
                  <a:lnTo>
                    <a:pt x="796571" y="882730"/>
                  </a:lnTo>
                  <a:lnTo>
                    <a:pt x="826968" y="943334"/>
                  </a:lnTo>
                  <a:lnTo>
                    <a:pt x="856359" y="1006782"/>
                  </a:lnTo>
                  <a:lnTo>
                    <a:pt x="878596" y="1059067"/>
                  </a:lnTo>
                  <a:lnTo>
                    <a:pt x="899329" y="1111958"/>
                  </a:lnTo>
                  <a:lnTo>
                    <a:pt x="918787" y="1165113"/>
                  </a:lnTo>
                  <a:lnTo>
                    <a:pt x="937204" y="1218190"/>
                  </a:lnTo>
                  <a:lnTo>
                    <a:pt x="954809" y="1270846"/>
                  </a:lnTo>
                  <a:lnTo>
                    <a:pt x="971835" y="1322740"/>
                  </a:lnTo>
                  <a:lnTo>
                    <a:pt x="988514" y="1373529"/>
                  </a:lnTo>
                  <a:lnTo>
                    <a:pt x="1005075" y="1422871"/>
                  </a:lnTo>
                  <a:lnTo>
                    <a:pt x="1021752" y="1470425"/>
                  </a:lnTo>
                  <a:lnTo>
                    <a:pt x="1038775" y="1515848"/>
                  </a:lnTo>
                  <a:lnTo>
                    <a:pt x="1056376" y="1558798"/>
                  </a:lnTo>
                  <a:lnTo>
                    <a:pt x="1074786" y="1598934"/>
                  </a:lnTo>
                  <a:lnTo>
                    <a:pt x="1094236" y="1635912"/>
                  </a:lnTo>
                  <a:lnTo>
                    <a:pt x="1114959" y="1669391"/>
                  </a:lnTo>
                  <a:lnTo>
                    <a:pt x="1161147" y="1724485"/>
                  </a:lnTo>
                  <a:lnTo>
                    <a:pt x="1215200" y="1761477"/>
                  </a:lnTo>
                  <a:lnTo>
                    <a:pt x="1278970" y="1777632"/>
                  </a:lnTo>
                  <a:lnTo>
                    <a:pt x="1324897" y="1771078"/>
                  </a:lnTo>
                  <a:lnTo>
                    <a:pt x="1365756" y="1761313"/>
                  </a:lnTo>
                  <a:lnTo>
                    <a:pt x="1402201" y="1748277"/>
                  </a:lnTo>
                  <a:lnTo>
                    <a:pt x="1464471" y="1712153"/>
                  </a:lnTo>
                  <a:lnTo>
                    <a:pt x="1516951" y="1662227"/>
                  </a:lnTo>
                  <a:lnTo>
                    <a:pt x="1541157" y="1631939"/>
                  </a:lnTo>
                  <a:lnTo>
                    <a:pt x="1564882" y="1598021"/>
                  </a:lnTo>
                  <a:lnTo>
                    <a:pt x="1588779" y="1560414"/>
                  </a:lnTo>
                  <a:lnTo>
                    <a:pt x="1613505" y="1519058"/>
                  </a:lnTo>
                  <a:lnTo>
                    <a:pt x="1639715" y="1473892"/>
                  </a:lnTo>
                  <a:lnTo>
                    <a:pt x="1668064" y="1424857"/>
                  </a:lnTo>
                  <a:lnTo>
                    <a:pt x="1699208" y="1371894"/>
                  </a:lnTo>
                  <a:lnTo>
                    <a:pt x="1733800" y="1314942"/>
                  </a:lnTo>
                  <a:lnTo>
                    <a:pt x="1771777" y="1248020"/>
                  </a:lnTo>
                  <a:lnTo>
                    <a:pt x="1791763" y="1209081"/>
                  </a:lnTo>
                  <a:lnTo>
                    <a:pt x="1812341" y="1166924"/>
                  </a:lnTo>
                  <a:lnTo>
                    <a:pt x="1833456" y="1121875"/>
                  </a:lnTo>
                  <a:lnTo>
                    <a:pt x="1855053" y="1074260"/>
                  </a:lnTo>
                  <a:lnTo>
                    <a:pt x="1877077" y="1024404"/>
                  </a:lnTo>
                  <a:lnTo>
                    <a:pt x="1899474" y="972634"/>
                  </a:lnTo>
                  <a:lnTo>
                    <a:pt x="1922187" y="919275"/>
                  </a:lnTo>
                  <a:lnTo>
                    <a:pt x="1945162" y="864652"/>
                  </a:lnTo>
                  <a:lnTo>
                    <a:pt x="1968345" y="809093"/>
                  </a:lnTo>
                  <a:lnTo>
                    <a:pt x="1991680" y="752922"/>
                  </a:lnTo>
                  <a:lnTo>
                    <a:pt x="2015112" y="696465"/>
                  </a:lnTo>
                  <a:lnTo>
                    <a:pt x="2038586" y="640048"/>
                  </a:lnTo>
                  <a:lnTo>
                    <a:pt x="2062048" y="583997"/>
                  </a:lnTo>
                  <a:lnTo>
                    <a:pt x="2085442" y="528637"/>
                  </a:lnTo>
                  <a:lnTo>
                    <a:pt x="2108714" y="474295"/>
                  </a:lnTo>
                  <a:lnTo>
                    <a:pt x="2131807" y="421296"/>
                  </a:lnTo>
                  <a:lnTo>
                    <a:pt x="2154669" y="369966"/>
                  </a:lnTo>
                  <a:lnTo>
                    <a:pt x="2177242" y="320631"/>
                  </a:lnTo>
                  <a:lnTo>
                    <a:pt x="2199473" y="273616"/>
                  </a:lnTo>
                  <a:lnTo>
                    <a:pt x="2221307" y="229247"/>
                  </a:lnTo>
                  <a:lnTo>
                    <a:pt x="2242688" y="187850"/>
                  </a:lnTo>
                  <a:lnTo>
                    <a:pt x="2263562" y="149752"/>
                  </a:lnTo>
                  <a:lnTo>
                    <a:pt x="2283873" y="115276"/>
                  </a:lnTo>
                  <a:lnTo>
                    <a:pt x="2322589" y="58500"/>
                  </a:lnTo>
                  <a:lnTo>
                    <a:pt x="2358396" y="20127"/>
                  </a:lnTo>
                  <a:lnTo>
                    <a:pt x="2397626" y="342"/>
                  </a:lnTo>
                  <a:lnTo>
                    <a:pt x="2418961" y="0"/>
                  </a:lnTo>
                  <a:lnTo>
                    <a:pt x="2439162" y="7089"/>
                  </a:lnTo>
                  <a:lnTo>
                    <a:pt x="2476512" y="41409"/>
                  </a:lnTo>
                  <a:lnTo>
                    <a:pt x="2510371" y="98986"/>
                  </a:lnTo>
                  <a:lnTo>
                    <a:pt x="2526209" y="135147"/>
                  </a:lnTo>
                  <a:lnTo>
                    <a:pt x="2541434" y="175505"/>
                  </a:lnTo>
                  <a:lnTo>
                    <a:pt x="2556134" y="219520"/>
                  </a:lnTo>
                  <a:lnTo>
                    <a:pt x="2570396" y="266652"/>
                  </a:lnTo>
                  <a:lnTo>
                    <a:pt x="2584307" y="316363"/>
                  </a:lnTo>
                  <a:lnTo>
                    <a:pt x="2597952" y="368113"/>
                  </a:lnTo>
                  <a:lnTo>
                    <a:pt x="2611421" y="421363"/>
                  </a:lnTo>
                  <a:lnTo>
                    <a:pt x="2624798" y="475572"/>
                  </a:lnTo>
                  <a:lnTo>
                    <a:pt x="2638171" y="530203"/>
                  </a:lnTo>
                  <a:lnTo>
                    <a:pt x="2651628" y="584716"/>
                  </a:lnTo>
                  <a:lnTo>
                    <a:pt x="2665254" y="638570"/>
                  </a:lnTo>
                  <a:lnTo>
                    <a:pt x="2679137" y="691228"/>
                  </a:lnTo>
                  <a:lnTo>
                    <a:pt x="2693364" y="742150"/>
                  </a:lnTo>
                  <a:lnTo>
                    <a:pt x="2708021" y="790796"/>
                  </a:lnTo>
                  <a:lnTo>
                    <a:pt x="2727260" y="852602"/>
                  </a:lnTo>
                  <a:lnTo>
                    <a:pt x="2745927" y="913589"/>
                  </a:lnTo>
                  <a:lnTo>
                    <a:pt x="2764118" y="973463"/>
                  </a:lnTo>
                  <a:lnTo>
                    <a:pt x="2781930" y="1031927"/>
                  </a:lnTo>
                  <a:lnTo>
                    <a:pt x="2799457" y="1088689"/>
                  </a:lnTo>
                  <a:lnTo>
                    <a:pt x="2816796" y="1143452"/>
                  </a:lnTo>
                  <a:lnTo>
                    <a:pt x="2834042" y="1195923"/>
                  </a:lnTo>
                  <a:lnTo>
                    <a:pt x="2851291" y="1245807"/>
                  </a:lnTo>
                  <a:lnTo>
                    <a:pt x="2868639" y="1292809"/>
                  </a:lnTo>
                  <a:lnTo>
                    <a:pt x="2886182" y="1336635"/>
                  </a:lnTo>
                  <a:lnTo>
                    <a:pt x="2904016" y="1376989"/>
                  </a:lnTo>
                  <a:lnTo>
                    <a:pt x="2922235" y="1413578"/>
                  </a:lnTo>
                  <a:lnTo>
                    <a:pt x="2960216" y="1474279"/>
                  </a:lnTo>
                  <a:lnTo>
                    <a:pt x="3000891" y="1516382"/>
                  </a:lnTo>
                  <a:lnTo>
                    <a:pt x="3065048" y="1542614"/>
                  </a:lnTo>
                  <a:lnTo>
                    <a:pt x="3098832" y="1541684"/>
                  </a:lnTo>
                  <a:lnTo>
                    <a:pt x="3168844" y="1515743"/>
                  </a:lnTo>
                  <a:lnTo>
                    <a:pt x="3204684" y="1492339"/>
                  </a:lnTo>
                  <a:lnTo>
                    <a:pt x="3240822" y="1463048"/>
                  </a:lnTo>
                  <a:lnTo>
                    <a:pt x="3277063" y="1428673"/>
                  </a:lnTo>
                  <a:lnTo>
                    <a:pt x="3313214" y="1390017"/>
                  </a:lnTo>
                  <a:lnTo>
                    <a:pt x="3349082" y="1347882"/>
                  </a:lnTo>
                  <a:lnTo>
                    <a:pt x="3384471" y="1303072"/>
                  </a:lnTo>
                  <a:lnTo>
                    <a:pt x="3406721" y="1271842"/>
                  </a:lnTo>
                  <a:lnTo>
                    <a:pt x="3428100" y="1237653"/>
                  </a:lnTo>
                  <a:lnTo>
                    <a:pt x="3448664" y="1200691"/>
                  </a:lnTo>
                  <a:lnTo>
                    <a:pt x="3468466" y="1161140"/>
                  </a:lnTo>
                  <a:lnTo>
                    <a:pt x="3487561" y="1119185"/>
                  </a:lnTo>
                  <a:lnTo>
                    <a:pt x="3506003" y="1075012"/>
                  </a:lnTo>
                  <a:lnTo>
                    <a:pt x="3523847" y="1028805"/>
                  </a:lnTo>
                  <a:lnTo>
                    <a:pt x="3541147" y="980749"/>
                  </a:lnTo>
                  <a:lnTo>
                    <a:pt x="3557958" y="931028"/>
                  </a:lnTo>
                  <a:lnTo>
                    <a:pt x="3574333" y="879829"/>
                  </a:lnTo>
                  <a:lnTo>
                    <a:pt x="3590328" y="827335"/>
                  </a:lnTo>
                  <a:lnTo>
                    <a:pt x="3605997" y="773732"/>
                  </a:lnTo>
                  <a:lnTo>
                    <a:pt x="3621394" y="719204"/>
                  </a:lnTo>
                  <a:lnTo>
                    <a:pt x="3636574" y="663937"/>
                  </a:lnTo>
                  <a:lnTo>
                    <a:pt x="3651590" y="608114"/>
                  </a:lnTo>
                  <a:lnTo>
                    <a:pt x="3666498" y="551922"/>
                  </a:lnTo>
                  <a:lnTo>
                    <a:pt x="3681352" y="495545"/>
                  </a:lnTo>
                </a:path>
              </a:pathLst>
            </a:custGeom>
            <a:ln w="38100">
              <a:solidFill>
                <a:srgbClr val="558E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72686" y="3667671"/>
              <a:ext cx="840105" cy="264795"/>
            </a:xfrm>
            <a:custGeom>
              <a:avLst/>
              <a:gdLst/>
              <a:ahLst/>
              <a:cxnLst/>
              <a:rect l="l" t="t" r="r" b="b"/>
              <a:pathLst>
                <a:path w="840104" h="264795">
                  <a:moveTo>
                    <a:pt x="36455" y="29677"/>
                  </a:moveTo>
                  <a:lnTo>
                    <a:pt x="24279" y="32887"/>
                  </a:lnTo>
                  <a:lnTo>
                    <a:pt x="33069" y="41909"/>
                  </a:lnTo>
                  <a:lnTo>
                    <a:pt x="836523" y="264629"/>
                  </a:lnTo>
                  <a:lnTo>
                    <a:pt x="839914" y="252387"/>
                  </a:lnTo>
                  <a:lnTo>
                    <a:pt x="36455" y="29677"/>
                  </a:lnTo>
                  <a:close/>
                </a:path>
                <a:path w="840104" h="264795">
                  <a:moveTo>
                    <a:pt x="99225" y="0"/>
                  </a:moveTo>
                  <a:lnTo>
                    <a:pt x="0" y="26149"/>
                  </a:lnTo>
                  <a:lnTo>
                    <a:pt x="71602" y="99656"/>
                  </a:lnTo>
                  <a:lnTo>
                    <a:pt x="75615" y="99707"/>
                  </a:lnTo>
                  <a:lnTo>
                    <a:pt x="80644" y="94805"/>
                  </a:lnTo>
                  <a:lnTo>
                    <a:pt x="80695" y="90792"/>
                  </a:lnTo>
                  <a:lnTo>
                    <a:pt x="33069" y="41909"/>
                  </a:lnTo>
                  <a:lnTo>
                    <a:pt x="10439" y="35636"/>
                  </a:lnTo>
                  <a:lnTo>
                    <a:pt x="13830" y="23406"/>
                  </a:lnTo>
                  <a:lnTo>
                    <a:pt x="60246" y="23406"/>
                  </a:lnTo>
                  <a:lnTo>
                    <a:pt x="102450" y="12280"/>
                  </a:lnTo>
                  <a:lnTo>
                    <a:pt x="104482" y="8813"/>
                  </a:lnTo>
                  <a:lnTo>
                    <a:pt x="102692" y="2031"/>
                  </a:lnTo>
                  <a:lnTo>
                    <a:pt x="99225" y="0"/>
                  </a:lnTo>
                  <a:close/>
                </a:path>
                <a:path w="840104" h="264795">
                  <a:moveTo>
                    <a:pt x="13830" y="23406"/>
                  </a:moveTo>
                  <a:lnTo>
                    <a:pt x="10439" y="35636"/>
                  </a:lnTo>
                  <a:lnTo>
                    <a:pt x="33069" y="41909"/>
                  </a:lnTo>
                  <a:lnTo>
                    <a:pt x="26982" y="35661"/>
                  </a:lnTo>
                  <a:lnTo>
                    <a:pt x="13754" y="35661"/>
                  </a:lnTo>
                  <a:lnTo>
                    <a:pt x="16687" y="25095"/>
                  </a:lnTo>
                  <a:lnTo>
                    <a:pt x="19923" y="25095"/>
                  </a:lnTo>
                  <a:lnTo>
                    <a:pt x="13830" y="23406"/>
                  </a:lnTo>
                  <a:close/>
                </a:path>
                <a:path w="840104" h="264795">
                  <a:moveTo>
                    <a:pt x="16687" y="25095"/>
                  </a:moveTo>
                  <a:lnTo>
                    <a:pt x="13754" y="35661"/>
                  </a:lnTo>
                  <a:lnTo>
                    <a:pt x="24279" y="32887"/>
                  </a:lnTo>
                  <a:lnTo>
                    <a:pt x="16687" y="25095"/>
                  </a:lnTo>
                  <a:close/>
                </a:path>
                <a:path w="840104" h="264795">
                  <a:moveTo>
                    <a:pt x="24279" y="32887"/>
                  </a:moveTo>
                  <a:lnTo>
                    <a:pt x="13754" y="35661"/>
                  </a:lnTo>
                  <a:lnTo>
                    <a:pt x="26982" y="35661"/>
                  </a:lnTo>
                  <a:lnTo>
                    <a:pt x="24279" y="32887"/>
                  </a:lnTo>
                  <a:close/>
                </a:path>
                <a:path w="840104" h="264795">
                  <a:moveTo>
                    <a:pt x="19923" y="25095"/>
                  </a:moveTo>
                  <a:lnTo>
                    <a:pt x="16687" y="25095"/>
                  </a:lnTo>
                  <a:lnTo>
                    <a:pt x="24279" y="32887"/>
                  </a:lnTo>
                  <a:lnTo>
                    <a:pt x="36455" y="29677"/>
                  </a:lnTo>
                  <a:lnTo>
                    <a:pt x="19923" y="25095"/>
                  </a:lnTo>
                  <a:close/>
                </a:path>
                <a:path w="840104" h="264795">
                  <a:moveTo>
                    <a:pt x="60246" y="23406"/>
                  </a:moveTo>
                  <a:lnTo>
                    <a:pt x="13830" y="23406"/>
                  </a:lnTo>
                  <a:lnTo>
                    <a:pt x="36455" y="29677"/>
                  </a:lnTo>
                  <a:lnTo>
                    <a:pt x="60246" y="23406"/>
                  </a:lnTo>
                  <a:close/>
                </a:path>
              </a:pathLst>
            </a:custGeom>
            <a:solidFill>
              <a:srgbClr val="632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92231" y="4050068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0"/>
                  </a:moveTo>
                  <a:lnTo>
                    <a:pt x="1" y="18574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8359" y="4210443"/>
              <a:ext cx="1525905" cy="467359"/>
            </a:xfrm>
            <a:custGeom>
              <a:avLst/>
              <a:gdLst/>
              <a:ahLst/>
              <a:cxnLst/>
              <a:rect l="l" t="t" r="r" b="b"/>
              <a:pathLst>
                <a:path w="1525904" h="467360">
                  <a:moveTo>
                    <a:pt x="1489340" y="29173"/>
                  </a:moveTo>
                  <a:lnTo>
                    <a:pt x="0" y="454799"/>
                  </a:lnTo>
                  <a:lnTo>
                    <a:pt x="3492" y="467004"/>
                  </a:lnTo>
                  <a:lnTo>
                    <a:pt x="1492837" y="41373"/>
                  </a:lnTo>
                  <a:lnTo>
                    <a:pt x="1501548" y="32287"/>
                  </a:lnTo>
                  <a:lnTo>
                    <a:pt x="1489340" y="29173"/>
                  </a:lnTo>
                  <a:close/>
                </a:path>
                <a:path w="1525904" h="467360">
                  <a:moveTo>
                    <a:pt x="1515421" y="22720"/>
                  </a:moveTo>
                  <a:lnTo>
                    <a:pt x="1511922" y="22720"/>
                  </a:lnTo>
                  <a:lnTo>
                    <a:pt x="1515402" y="34925"/>
                  </a:lnTo>
                  <a:lnTo>
                    <a:pt x="1492837" y="41373"/>
                  </a:lnTo>
                  <a:lnTo>
                    <a:pt x="1445602" y="90639"/>
                  </a:lnTo>
                  <a:lnTo>
                    <a:pt x="1445679" y="94653"/>
                  </a:lnTo>
                  <a:lnTo>
                    <a:pt x="1450746" y="99517"/>
                  </a:lnTo>
                  <a:lnTo>
                    <a:pt x="1454772" y="99428"/>
                  </a:lnTo>
                  <a:lnTo>
                    <a:pt x="1525777" y="25361"/>
                  </a:lnTo>
                  <a:lnTo>
                    <a:pt x="1515421" y="22720"/>
                  </a:lnTo>
                  <a:close/>
                </a:path>
                <a:path w="1525904" h="467360">
                  <a:moveTo>
                    <a:pt x="1501548" y="32287"/>
                  </a:moveTo>
                  <a:lnTo>
                    <a:pt x="1492837" y="41373"/>
                  </a:lnTo>
                  <a:lnTo>
                    <a:pt x="1515224" y="34975"/>
                  </a:lnTo>
                  <a:lnTo>
                    <a:pt x="1512087" y="34975"/>
                  </a:lnTo>
                  <a:lnTo>
                    <a:pt x="1501548" y="32287"/>
                  </a:lnTo>
                  <a:close/>
                </a:path>
                <a:path w="1525904" h="467360">
                  <a:moveTo>
                    <a:pt x="1509077" y="24434"/>
                  </a:moveTo>
                  <a:lnTo>
                    <a:pt x="1501548" y="32287"/>
                  </a:lnTo>
                  <a:lnTo>
                    <a:pt x="1512087" y="34975"/>
                  </a:lnTo>
                  <a:lnTo>
                    <a:pt x="1509077" y="24434"/>
                  </a:lnTo>
                  <a:close/>
                </a:path>
                <a:path w="1525904" h="467360">
                  <a:moveTo>
                    <a:pt x="1512411" y="24434"/>
                  </a:moveTo>
                  <a:lnTo>
                    <a:pt x="1509077" y="24434"/>
                  </a:lnTo>
                  <a:lnTo>
                    <a:pt x="1512087" y="34975"/>
                  </a:lnTo>
                  <a:lnTo>
                    <a:pt x="1515224" y="34975"/>
                  </a:lnTo>
                  <a:lnTo>
                    <a:pt x="1515402" y="34925"/>
                  </a:lnTo>
                  <a:lnTo>
                    <a:pt x="1512411" y="24434"/>
                  </a:lnTo>
                  <a:close/>
                </a:path>
                <a:path w="1525904" h="467360">
                  <a:moveTo>
                    <a:pt x="1511922" y="22720"/>
                  </a:moveTo>
                  <a:lnTo>
                    <a:pt x="1489340" y="29173"/>
                  </a:lnTo>
                  <a:lnTo>
                    <a:pt x="1501548" y="32287"/>
                  </a:lnTo>
                  <a:lnTo>
                    <a:pt x="1509077" y="24434"/>
                  </a:lnTo>
                  <a:lnTo>
                    <a:pt x="1512411" y="24434"/>
                  </a:lnTo>
                  <a:lnTo>
                    <a:pt x="1511922" y="22720"/>
                  </a:lnTo>
                  <a:close/>
                </a:path>
                <a:path w="1525904" h="467360">
                  <a:moveTo>
                    <a:pt x="1426349" y="0"/>
                  </a:moveTo>
                  <a:lnTo>
                    <a:pt x="1422895" y="2057"/>
                  </a:lnTo>
                  <a:lnTo>
                    <a:pt x="1421155" y="8851"/>
                  </a:lnTo>
                  <a:lnTo>
                    <a:pt x="1423212" y="12306"/>
                  </a:lnTo>
                  <a:lnTo>
                    <a:pt x="1489340" y="29173"/>
                  </a:lnTo>
                  <a:lnTo>
                    <a:pt x="1511922" y="22720"/>
                  </a:lnTo>
                  <a:lnTo>
                    <a:pt x="1515421" y="22720"/>
                  </a:lnTo>
                  <a:lnTo>
                    <a:pt x="1426349" y="0"/>
                  </a:lnTo>
                  <a:close/>
                </a:path>
              </a:pathLst>
            </a:custGeom>
            <a:solidFill>
              <a:srgbClr val="632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8200" y="4546329"/>
              <a:ext cx="3276600" cy="7876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0000" y="36576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1219200" y="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273433" y="3926177"/>
            <a:ext cx="199226" cy="224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97454" y="4756172"/>
            <a:ext cx="199226" cy="224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13400" y="3323844"/>
            <a:ext cx="1869439" cy="86106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spc="-65" dirty="0">
                <a:latin typeface="Arial"/>
                <a:cs typeface="Arial"/>
              </a:rPr>
              <a:t>Slope=0</a:t>
            </a:r>
            <a:endParaRPr sz="200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  <a:spcBef>
                <a:spcPts val="890"/>
              </a:spcBef>
            </a:pP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at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local</a:t>
            </a:r>
            <a:r>
              <a:rPr sz="2000" spc="-5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optima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6339" y="4692396"/>
            <a:ext cx="184721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Current value</a:t>
            </a:r>
            <a:r>
              <a:rPr sz="20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of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445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97261" y="3292233"/>
            <a:ext cx="502920" cy="455295"/>
            <a:chOff x="4197261" y="3292233"/>
            <a:chExt cx="502920" cy="455295"/>
          </a:xfrm>
        </p:grpSpPr>
        <p:sp>
          <p:nvSpPr>
            <p:cNvPr id="17" name="object 17"/>
            <p:cNvSpPr/>
            <p:nvPr/>
          </p:nvSpPr>
          <p:spPr>
            <a:xfrm>
              <a:off x="4483112" y="3292233"/>
              <a:ext cx="216623" cy="2357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44949" y="3578072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0332" y="0"/>
                  </a:moveTo>
                  <a:lnTo>
                    <a:pt x="5867" y="0"/>
                  </a:lnTo>
                  <a:lnTo>
                    <a:pt x="0" y="5854"/>
                  </a:lnTo>
                  <a:lnTo>
                    <a:pt x="0" y="20320"/>
                  </a:lnTo>
                  <a:lnTo>
                    <a:pt x="5867" y="26187"/>
                  </a:lnTo>
                  <a:lnTo>
                    <a:pt x="20332" y="26187"/>
                  </a:lnTo>
                  <a:lnTo>
                    <a:pt x="26187" y="20320"/>
                  </a:lnTo>
                  <a:lnTo>
                    <a:pt x="26187" y="58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7261" y="3540175"/>
              <a:ext cx="169113" cy="2070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21B6064-3CD1-4E15-B2B9-4DF58D8F48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220" y="5333999"/>
            <a:ext cx="2982278" cy="5890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949" y="2819403"/>
            <a:ext cx="3084956" cy="74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1606802"/>
            <a:ext cx="640588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sz="2800" spc="-75" dirty="0">
                <a:latin typeface="Arial"/>
                <a:cs typeface="Arial"/>
              </a:rPr>
              <a:t>Gradient </a:t>
            </a:r>
            <a:r>
              <a:rPr sz="2800" spc="-210" dirty="0">
                <a:latin typeface="Arial"/>
                <a:cs typeface="Arial"/>
              </a:rPr>
              <a:t>descent </a:t>
            </a:r>
            <a:r>
              <a:rPr sz="2800" spc="-225" dirty="0">
                <a:latin typeface="Arial"/>
                <a:cs typeface="Arial"/>
              </a:rPr>
              <a:t>can </a:t>
            </a:r>
            <a:r>
              <a:rPr sz="2800" spc="-180" dirty="0">
                <a:latin typeface="Arial"/>
                <a:cs typeface="Arial"/>
              </a:rPr>
              <a:t>converge </a:t>
            </a:r>
            <a:r>
              <a:rPr sz="2800" spc="-90" dirty="0">
                <a:latin typeface="Arial"/>
                <a:cs typeface="Arial"/>
              </a:rPr>
              <a:t>to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-105" dirty="0">
                <a:latin typeface="Arial"/>
                <a:cs typeface="Arial"/>
              </a:rPr>
              <a:t>local  </a:t>
            </a:r>
            <a:r>
              <a:rPr sz="2800" spc="-280" dirty="0">
                <a:latin typeface="Arial"/>
                <a:cs typeface="Arial"/>
              </a:rPr>
              <a:t>minimum, </a:t>
            </a:r>
            <a:r>
              <a:rPr sz="2800" spc="-220" dirty="0">
                <a:latin typeface="Arial"/>
                <a:cs typeface="Arial"/>
              </a:rPr>
              <a:t>even </a:t>
            </a:r>
            <a:r>
              <a:rPr sz="2800" spc="-135" dirty="0">
                <a:latin typeface="Arial"/>
                <a:cs typeface="Arial"/>
              </a:rPr>
              <a:t>with </a:t>
            </a:r>
            <a:r>
              <a:rPr sz="2800" spc="-175" dirty="0">
                <a:latin typeface="Arial"/>
                <a:cs typeface="Arial"/>
              </a:rPr>
              <a:t>the </a:t>
            </a:r>
            <a:r>
              <a:rPr sz="2800" spc="-105" dirty="0">
                <a:latin typeface="Arial"/>
                <a:cs typeface="Arial"/>
              </a:rPr>
              <a:t>learning </a:t>
            </a:r>
            <a:r>
              <a:rPr sz="2800" spc="-55" dirty="0">
                <a:latin typeface="Arial"/>
                <a:cs typeface="Arial"/>
              </a:rPr>
              <a:t>rate </a:t>
            </a:r>
            <a:r>
              <a:rPr sz="2800" dirty="0">
                <a:latin typeface="Carlito"/>
                <a:cs typeface="Carlito"/>
              </a:rPr>
              <a:t>α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45" dirty="0">
                <a:latin typeface="Arial"/>
                <a:cs typeface="Arial"/>
              </a:rPr>
              <a:t>fixed.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40" y="3807459"/>
            <a:ext cx="3757929" cy="2165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800" spc="-325" dirty="0">
                <a:latin typeface="Arial"/>
                <a:cs typeface="Arial"/>
              </a:rPr>
              <a:t>As </a:t>
            </a:r>
            <a:r>
              <a:rPr sz="2800" spc="-190" dirty="0">
                <a:latin typeface="Arial"/>
                <a:cs typeface="Arial"/>
              </a:rPr>
              <a:t>we </a:t>
            </a:r>
            <a:r>
              <a:rPr sz="2800" spc="-100" dirty="0">
                <a:latin typeface="Arial"/>
                <a:cs typeface="Arial"/>
              </a:rPr>
              <a:t>approach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-105" dirty="0">
                <a:latin typeface="Arial"/>
                <a:cs typeface="Arial"/>
              </a:rPr>
              <a:t>local  </a:t>
            </a:r>
            <a:r>
              <a:rPr sz="2800" spc="-280" dirty="0">
                <a:latin typeface="Arial"/>
                <a:cs typeface="Arial"/>
              </a:rPr>
              <a:t>minimum, </a:t>
            </a:r>
            <a:r>
              <a:rPr sz="2800" spc="-75" dirty="0">
                <a:latin typeface="Arial"/>
                <a:cs typeface="Arial"/>
              </a:rPr>
              <a:t>gradient </a:t>
            </a:r>
            <a:r>
              <a:rPr sz="2800" spc="-210" dirty="0">
                <a:latin typeface="Arial"/>
                <a:cs typeface="Arial"/>
              </a:rPr>
              <a:t>descent  </a:t>
            </a:r>
            <a:r>
              <a:rPr sz="2800" spc="-50" dirty="0">
                <a:latin typeface="Arial"/>
                <a:cs typeface="Arial"/>
              </a:rPr>
              <a:t>will </a:t>
            </a:r>
            <a:r>
              <a:rPr sz="2800" spc="-110" dirty="0">
                <a:latin typeface="Arial"/>
                <a:cs typeface="Arial"/>
              </a:rPr>
              <a:t>automatically </a:t>
            </a:r>
            <a:r>
              <a:rPr sz="2800" spc="-105" dirty="0">
                <a:latin typeface="Arial"/>
                <a:cs typeface="Arial"/>
              </a:rPr>
              <a:t>take  </a:t>
            </a:r>
            <a:r>
              <a:rPr sz="2800" spc="-165" dirty="0">
                <a:latin typeface="Arial"/>
                <a:cs typeface="Arial"/>
              </a:rPr>
              <a:t>smaller </a:t>
            </a:r>
            <a:r>
              <a:rPr sz="2800" spc="-220" dirty="0">
                <a:latin typeface="Arial"/>
                <a:cs typeface="Arial"/>
              </a:rPr>
              <a:t>steps. </a:t>
            </a:r>
            <a:r>
              <a:rPr sz="2800" spc="-295" dirty="0">
                <a:latin typeface="Arial"/>
                <a:cs typeface="Arial"/>
              </a:rPr>
              <a:t>So, </a:t>
            </a:r>
            <a:r>
              <a:rPr sz="2800" spc="-250" dirty="0">
                <a:latin typeface="Arial"/>
                <a:cs typeface="Arial"/>
              </a:rPr>
              <a:t>no </a:t>
            </a:r>
            <a:r>
              <a:rPr sz="2800" spc="-170" dirty="0">
                <a:latin typeface="Arial"/>
                <a:cs typeface="Arial"/>
              </a:rPr>
              <a:t>need  </a:t>
            </a:r>
            <a:r>
              <a:rPr sz="2800" spc="-90" dirty="0">
                <a:latin typeface="Arial"/>
                <a:cs typeface="Arial"/>
              </a:rPr>
              <a:t>to </a:t>
            </a:r>
            <a:r>
              <a:rPr sz="2800" spc="-160" dirty="0">
                <a:latin typeface="Arial"/>
                <a:cs typeface="Arial"/>
              </a:rPr>
              <a:t>decrease </a:t>
            </a:r>
            <a:r>
              <a:rPr sz="2800" dirty="0">
                <a:latin typeface="Carlito"/>
                <a:cs typeface="Carlito"/>
              </a:rPr>
              <a:t>α </a:t>
            </a:r>
            <a:r>
              <a:rPr sz="2800" spc="-140" dirty="0">
                <a:latin typeface="Arial"/>
                <a:cs typeface="Arial"/>
              </a:rPr>
              <a:t>over</a:t>
            </a:r>
            <a:r>
              <a:rPr sz="2800" spc="34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time.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19600" y="2875038"/>
            <a:ext cx="4100829" cy="3068955"/>
            <a:chOff x="4419600" y="2875038"/>
            <a:chExt cx="4100829" cy="3068955"/>
          </a:xfrm>
        </p:grpSpPr>
        <p:sp>
          <p:nvSpPr>
            <p:cNvPr id="6" name="object 6"/>
            <p:cNvSpPr/>
            <p:nvPr/>
          </p:nvSpPr>
          <p:spPr>
            <a:xfrm>
              <a:off x="4861509" y="2884665"/>
              <a:ext cx="3658870" cy="2967355"/>
            </a:xfrm>
            <a:custGeom>
              <a:avLst/>
              <a:gdLst/>
              <a:ahLst/>
              <a:cxnLst/>
              <a:rect l="l" t="t" r="r" b="b"/>
              <a:pathLst>
                <a:path w="3658870" h="2967354">
                  <a:moveTo>
                    <a:pt x="3658793" y="2738437"/>
                  </a:moveTo>
                  <a:lnTo>
                    <a:pt x="3526929" y="2628544"/>
                  </a:lnTo>
                  <a:lnTo>
                    <a:pt x="3520275" y="2624950"/>
                  </a:lnTo>
                  <a:lnTo>
                    <a:pt x="3513010" y="2624201"/>
                  </a:lnTo>
                  <a:lnTo>
                    <a:pt x="3506000" y="2626245"/>
                  </a:lnTo>
                  <a:lnTo>
                    <a:pt x="3500107" y="2630982"/>
                  </a:lnTo>
                  <a:lnTo>
                    <a:pt x="3496500" y="2637637"/>
                  </a:lnTo>
                  <a:lnTo>
                    <a:pt x="3495764" y="2644902"/>
                  </a:lnTo>
                  <a:lnTo>
                    <a:pt x="3497796" y="2651912"/>
                  </a:lnTo>
                  <a:lnTo>
                    <a:pt x="3502545" y="2657805"/>
                  </a:lnTo>
                  <a:lnTo>
                    <a:pt x="3576421" y="2719387"/>
                  </a:lnTo>
                  <a:lnTo>
                    <a:pt x="195122" y="2719387"/>
                  </a:lnTo>
                  <a:lnTo>
                    <a:pt x="195122" y="82372"/>
                  </a:lnTo>
                  <a:lnTo>
                    <a:pt x="256692" y="156248"/>
                  </a:lnTo>
                  <a:lnTo>
                    <a:pt x="262585" y="160997"/>
                  </a:lnTo>
                  <a:lnTo>
                    <a:pt x="269595" y="163042"/>
                  </a:lnTo>
                  <a:lnTo>
                    <a:pt x="276860" y="162293"/>
                  </a:lnTo>
                  <a:lnTo>
                    <a:pt x="283514" y="158686"/>
                  </a:lnTo>
                  <a:lnTo>
                    <a:pt x="288251" y="152793"/>
                  </a:lnTo>
                  <a:lnTo>
                    <a:pt x="290296" y="145783"/>
                  </a:lnTo>
                  <a:lnTo>
                    <a:pt x="289547" y="138518"/>
                  </a:lnTo>
                  <a:lnTo>
                    <a:pt x="285953" y="131864"/>
                  </a:lnTo>
                  <a:lnTo>
                    <a:pt x="200863" y="29756"/>
                  </a:lnTo>
                  <a:lnTo>
                    <a:pt x="176072" y="0"/>
                  </a:lnTo>
                  <a:lnTo>
                    <a:pt x="66192" y="131864"/>
                  </a:lnTo>
                  <a:lnTo>
                    <a:pt x="62585" y="138518"/>
                  </a:lnTo>
                  <a:lnTo>
                    <a:pt x="61836" y="145783"/>
                  </a:lnTo>
                  <a:lnTo>
                    <a:pt x="63881" y="152793"/>
                  </a:lnTo>
                  <a:lnTo>
                    <a:pt x="68630" y="158686"/>
                  </a:lnTo>
                  <a:lnTo>
                    <a:pt x="75272" y="162293"/>
                  </a:lnTo>
                  <a:lnTo>
                    <a:pt x="82537" y="163042"/>
                  </a:lnTo>
                  <a:lnTo>
                    <a:pt x="89547" y="160997"/>
                  </a:lnTo>
                  <a:lnTo>
                    <a:pt x="95453" y="156248"/>
                  </a:lnTo>
                  <a:lnTo>
                    <a:pt x="157010" y="82372"/>
                  </a:lnTo>
                  <a:lnTo>
                    <a:pt x="157022" y="29756"/>
                  </a:lnTo>
                  <a:lnTo>
                    <a:pt x="157022" y="82372"/>
                  </a:lnTo>
                  <a:lnTo>
                    <a:pt x="157022" y="2719387"/>
                  </a:lnTo>
                  <a:lnTo>
                    <a:pt x="0" y="2719374"/>
                  </a:lnTo>
                  <a:lnTo>
                    <a:pt x="0" y="2757474"/>
                  </a:lnTo>
                  <a:lnTo>
                    <a:pt x="157022" y="2757474"/>
                  </a:lnTo>
                  <a:lnTo>
                    <a:pt x="157022" y="2967037"/>
                  </a:lnTo>
                  <a:lnTo>
                    <a:pt x="195122" y="2967037"/>
                  </a:lnTo>
                  <a:lnTo>
                    <a:pt x="195122" y="2757474"/>
                  </a:lnTo>
                  <a:lnTo>
                    <a:pt x="3576421" y="2757474"/>
                  </a:lnTo>
                  <a:lnTo>
                    <a:pt x="3599281" y="2738437"/>
                  </a:lnTo>
                  <a:lnTo>
                    <a:pt x="3576421" y="2757487"/>
                  </a:lnTo>
                  <a:lnTo>
                    <a:pt x="3502545" y="2819044"/>
                  </a:lnTo>
                  <a:lnTo>
                    <a:pt x="3497796" y="2824950"/>
                  </a:lnTo>
                  <a:lnTo>
                    <a:pt x="3495764" y="2831960"/>
                  </a:lnTo>
                  <a:lnTo>
                    <a:pt x="3496500" y="2839224"/>
                  </a:lnTo>
                  <a:lnTo>
                    <a:pt x="3500107" y="2845879"/>
                  </a:lnTo>
                  <a:lnTo>
                    <a:pt x="3506000" y="2850616"/>
                  </a:lnTo>
                  <a:lnTo>
                    <a:pt x="3513010" y="2852648"/>
                  </a:lnTo>
                  <a:lnTo>
                    <a:pt x="3520275" y="2851912"/>
                  </a:lnTo>
                  <a:lnTo>
                    <a:pt x="3526929" y="2848318"/>
                  </a:lnTo>
                  <a:lnTo>
                    <a:pt x="3635921" y="2757487"/>
                  </a:lnTo>
                  <a:lnTo>
                    <a:pt x="3658793" y="2738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35356" y="5735118"/>
              <a:ext cx="184708" cy="2084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19600" y="3962400"/>
              <a:ext cx="530351" cy="24505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1965" y="2940983"/>
              <a:ext cx="3307079" cy="2453640"/>
            </a:xfrm>
            <a:custGeom>
              <a:avLst/>
              <a:gdLst/>
              <a:ahLst/>
              <a:cxnLst/>
              <a:rect l="l" t="t" r="r" b="b"/>
              <a:pathLst>
                <a:path w="3307079" h="2453640">
                  <a:moveTo>
                    <a:pt x="1416092" y="2453338"/>
                  </a:moveTo>
                  <a:lnTo>
                    <a:pt x="1399343" y="2453429"/>
                  </a:lnTo>
                  <a:lnTo>
                    <a:pt x="1404158" y="2453506"/>
                  </a:lnTo>
                  <a:lnTo>
                    <a:pt x="1416092" y="2453338"/>
                  </a:lnTo>
                  <a:close/>
                </a:path>
                <a:path w="3307079" h="2453640">
                  <a:moveTo>
                    <a:pt x="1369728" y="2452959"/>
                  </a:moveTo>
                  <a:lnTo>
                    <a:pt x="1392336" y="2453467"/>
                  </a:lnTo>
                  <a:lnTo>
                    <a:pt x="1399343" y="2453429"/>
                  </a:lnTo>
                  <a:lnTo>
                    <a:pt x="1369728" y="2452959"/>
                  </a:lnTo>
                  <a:close/>
                </a:path>
                <a:path w="3307079" h="2453640">
                  <a:moveTo>
                    <a:pt x="1440411" y="2452997"/>
                  </a:moveTo>
                  <a:lnTo>
                    <a:pt x="1416092" y="2453338"/>
                  </a:lnTo>
                  <a:lnTo>
                    <a:pt x="1432926" y="2453247"/>
                  </a:lnTo>
                  <a:lnTo>
                    <a:pt x="1440411" y="2452997"/>
                  </a:lnTo>
                  <a:close/>
                </a:path>
                <a:path w="3307079" h="2453640">
                  <a:moveTo>
                    <a:pt x="1456853" y="2452448"/>
                  </a:moveTo>
                  <a:lnTo>
                    <a:pt x="1440411" y="2452997"/>
                  </a:lnTo>
                  <a:lnTo>
                    <a:pt x="1445535" y="2452925"/>
                  </a:lnTo>
                  <a:lnTo>
                    <a:pt x="1456853" y="2452448"/>
                  </a:lnTo>
                  <a:close/>
                </a:path>
                <a:path w="3307079" h="2453640">
                  <a:moveTo>
                    <a:pt x="1355170" y="2452631"/>
                  </a:moveTo>
                  <a:lnTo>
                    <a:pt x="1358198" y="2452776"/>
                  </a:lnTo>
                  <a:lnTo>
                    <a:pt x="1369728" y="2452959"/>
                  </a:lnTo>
                  <a:lnTo>
                    <a:pt x="1355170" y="2452631"/>
                  </a:lnTo>
                  <a:close/>
                </a:path>
                <a:path w="3307079" h="2453640">
                  <a:moveTo>
                    <a:pt x="1320918" y="2450999"/>
                  </a:moveTo>
                  <a:lnTo>
                    <a:pt x="1351759" y="2452554"/>
                  </a:lnTo>
                  <a:lnTo>
                    <a:pt x="1355170" y="2452631"/>
                  </a:lnTo>
                  <a:lnTo>
                    <a:pt x="1320918" y="2450999"/>
                  </a:lnTo>
                  <a:close/>
                </a:path>
                <a:path w="3307079" h="2453640">
                  <a:moveTo>
                    <a:pt x="1481099" y="2451426"/>
                  </a:moveTo>
                  <a:lnTo>
                    <a:pt x="1456853" y="2452448"/>
                  </a:lnTo>
                  <a:lnTo>
                    <a:pt x="1473514" y="2451891"/>
                  </a:lnTo>
                  <a:lnTo>
                    <a:pt x="1481099" y="2451426"/>
                  </a:lnTo>
                  <a:close/>
                </a:path>
                <a:path w="3307079" h="2453640">
                  <a:moveTo>
                    <a:pt x="1498809" y="2450338"/>
                  </a:moveTo>
                  <a:lnTo>
                    <a:pt x="1481099" y="2451426"/>
                  </a:lnTo>
                  <a:lnTo>
                    <a:pt x="1486697" y="2451190"/>
                  </a:lnTo>
                  <a:lnTo>
                    <a:pt x="1498809" y="2450338"/>
                  </a:lnTo>
                  <a:close/>
                </a:path>
                <a:path w="3307079" h="2453640">
                  <a:moveTo>
                    <a:pt x="1311559" y="2450527"/>
                  </a:moveTo>
                  <a:lnTo>
                    <a:pt x="1312379" y="2450592"/>
                  </a:lnTo>
                  <a:lnTo>
                    <a:pt x="1320918" y="2450999"/>
                  </a:lnTo>
                  <a:lnTo>
                    <a:pt x="1311559" y="2450527"/>
                  </a:lnTo>
                  <a:close/>
                </a:path>
                <a:path w="3307079" h="2453640">
                  <a:moveTo>
                    <a:pt x="1268828" y="2447132"/>
                  </a:moveTo>
                  <a:lnTo>
                    <a:pt x="1270700" y="2447332"/>
                  </a:lnTo>
                  <a:lnTo>
                    <a:pt x="1311559" y="2450527"/>
                  </a:lnTo>
                  <a:lnTo>
                    <a:pt x="1268828" y="2447132"/>
                  </a:lnTo>
                  <a:close/>
                </a:path>
                <a:path w="3307079" h="2453640">
                  <a:moveTo>
                    <a:pt x="1521163" y="2448767"/>
                  </a:moveTo>
                  <a:lnTo>
                    <a:pt x="1498809" y="2450338"/>
                  </a:lnTo>
                  <a:lnTo>
                    <a:pt x="1514084" y="2449401"/>
                  </a:lnTo>
                  <a:lnTo>
                    <a:pt x="1521163" y="2448767"/>
                  </a:lnTo>
                  <a:close/>
                </a:path>
                <a:path w="3307079" h="2453640">
                  <a:moveTo>
                    <a:pt x="1541451" y="2446952"/>
                  </a:moveTo>
                  <a:lnTo>
                    <a:pt x="1521163" y="2448767"/>
                  </a:lnTo>
                  <a:lnTo>
                    <a:pt x="1527635" y="2448312"/>
                  </a:lnTo>
                  <a:lnTo>
                    <a:pt x="1541451" y="2446952"/>
                  </a:lnTo>
                  <a:close/>
                </a:path>
                <a:path w="3307079" h="2453640">
                  <a:moveTo>
                    <a:pt x="1254677" y="2445625"/>
                  </a:moveTo>
                  <a:lnTo>
                    <a:pt x="1266717" y="2446965"/>
                  </a:lnTo>
                  <a:lnTo>
                    <a:pt x="1268828" y="2447132"/>
                  </a:lnTo>
                  <a:lnTo>
                    <a:pt x="1254677" y="2445625"/>
                  </a:lnTo>
                  <a:close/>
                </a:path>
                <a:path w="3307079" h="2453640">
                  <a:moveTo>
                    <a:pt x="1560786" y="2445048"/>
                  </a:moveTo>
                  <a:lnTo>
                    <a:pt x="1541451" y="2446952"/>
                  </a:lnTo>
                  <a:lnTo>
                    <a:pt x="1554622" y="2445773"/>
                  </a:lnTo>
                  <a:lnTo>
                    <a:pt x="1560786" y="2445048"/>
                  </a:lnTo>
                  <a:close/>
                </a:path>
                <a:path w="3307079" h="2453640">
                  <a:moveTo>
                    <a:pt x="1225299" y="2442357"/>
                  </a:moveTo>
                  <a:lnTo>
                    <a:pt x="1230248" y="2443024"/>
                  </a:lnTo>
                  <a:lnTo>
                    <a:pt x="1254677" y="2445625"/>
                  </a:lnTo>
                  <a:lnTo>
                    <a:pt x="1225299" y="2442357"/>
                  </a:lnTo>
                  <a:close/>
                </a:path>
                <a:path w="3307079" h="2453640">
                  <a:moveTo>
                    <a:pt x="1584392" y="2442270"/>
                  </a:moveTo>
                  <a:lnTo>
                    <a:pt x="1560786" y="2445048"/>
                  </a:lnTo>
                  <a:lnTo>
                    <a:pt x="1568338" y="2444305"/>
                  </a:lnTo>
                  <a:lnTo>
                    <a:pt x="1584392" y="2442270"/>
                  </a:lnTo>
                  <a:close/>
                </a:path>
                <a:path w="3307079" h="2453640">
                  <a:moveTo>
                    <a:pt x="1209969" y="2440293"/>
                  </a:moveTo>
                  <a:lnTo>
                    <a:pt x="1221230" y="2441905"/>
                  </a:lnTo>
                  <a:lnTo>
                    <a:pt x="1225299" y="2442357"/>
                  </a:lnTo>
                  <a:lnTo>
                    <a:pt x="1209969" y="2440293"/>
                  </a:lnTo>
                  <a:close/>
                </a:path>
                <a:path w="3307079" h="2453640">
                  <a:moveTo>
                    <a:pt x="1600132" y="2440276"/>
                  </a:moveTo>
                  <a:lnTo>
                    <a:pt x="1584392" y="2442270"/>
                  </a:lnTo>
                  <a:lnTo>
                    <a:pt x="1595113" y="2441009"/>
                  </a:lnTo>
                  <a:lnTo>
                    <a:pt x="1600132" y="2440276"/>
                  </a:lnTo>
                  <a:close/>
                </a:path>
                <a:path w="3307079" h="2453640">
                  <a:moveTo>
                    <a:pt x="1181297" y="2436189"/>
                  </a:moveTo>
                  <a:lnTo>
                    <a:pt x="1189868" y="2437586"/>
                  </a:lnTo>
                  <a:lnTo>
                    <a:pt x="1209969" y="2440293"/>
                  </a:lnTo>
                  <a:lnTo>
                    <a:pt x="1181297" y="2436189"/>
                  </a:lnTo>
                  <a:close/>
                </a:path>
                <a:path w="3307079" h="2453640">
                  <a:moveTo>
                    <a:pt x="1627344" y="2436303"/>
                  </a:moveTo>
                  <a:lnTo>
                    <a:pt x="1600132" y="2440276"/>
                  </a:lnTo>
                  <a:lnTo>
                    <a:pt x="1608800" y="2439178"/>
                  </a:lnTo>
                  <a:lnTo>
                    <a:pt x="1627344" y="2436303"/>
                  </a:lnTo>
                  <a:close/>
                </a:path>
                <a:path w="3307079" h="2453640">
                  <a:moveTo>
                    <a:pt x="1639338" y="2434443"/>
                  </a:moveTo>
                  <a:lnTo>
                    <a:pt x="1627344" y="2436303"/>
                  </a:lnTo>
                  <a:lnTo>
                    <a:pt x="1635543" y="2435106"/>
                  </a:lnTo>
                  <a:lnTo>
                    <a:pt x="1639338" y="2434443"/>
                  </a:lnTo>
                  <a:close/>
                </a:path>
                <a:path w="3307079" h="2453640">
                  <a:moveTo>
                    <a:pt x="1167185" y="2433889"/>
                  </a:moveTo>
                  <a:lnTo>
                    <a:pt x="1175937" y="2435422"/>
                  </a:lnTo>
                  <a:lnTo>
                    <a:pt x="1181297" y="2436189"/>
                  </a:lnTo>
                  <a:lnTo>
                    <a:pt x="1167185" y="2433889"/>
                  </a:lnTo>
                  <a:close/>
                </a:path>
                <a:path w="3307079" h="2453640">
                  <a:moveTo>
                    <a:pt x="1670103" y="2429074"/>
                  </a:moveTo>
                  <a:lnTo>
                    <a:pt x="1639338" y="2434443"/>
                  </a:lnTo>
                  <a:lnTo>
                    <a:pt x="1649010" y="2432944"/>
                  </a:lnTo>
                  <a:lnTo>
                    <a:pt x="1670103" y="2429074"/>
                  </a:lnTo>
                  <a:close/>
                </a:path>
                <a:path w="3307079" h="2453640">
                  <a:moveTo>
                    <a:pt x="1136460" y="2428509"/>
                  </a:moveTo>
                  <a:lnTo>
                    <a:pt x="1149575" y="2431019"/>
                  </a:lnTo>
                  <a:lnTo>
                    <a:pt x="1167185" y="2433889"/>
                  </a:lnTo>
                  <a:lnTo>
                    <a:pt x="1136460" y="2428509"/>
                  </a:lnTo>
                  <a:close/>
                </a:path>
                <a:path w="3307079" h="2453640">
                  <a:moveTo>
                    <a:pt x="1678513" y="2427532"/>
                  </a:moveTo>
                  <a:lnTo>
                    <a:pt x="1670103" y="2429074"/>
                  </a:lnTo>
                  <a:lnTo>
                    <a:pt x="1675896" y="2428063"/>
                  </a:lnTo>
                  <a:lnTo>
                    <a:pt x="1678513" y="2427532"/>
                  </a:lnTo>
                  <a:close/>
                </a:path>
                <a:path w="3307079" h="2453640">
                  <a:moveTo>
                    <a:pt x="1125075" y="2426329"/>
                  </a:moveTo>
                  <a:lnTo>
                    <a:pt x="1130881" y="2427532"/>
                  </a:lnTo>
                  <a:lnTo>
                    <a:pt x="1136460" y="2428509"/>
                  </a:lnTo>
                  <a:lnTo>
                    <a:pt x="1125075" y="2426329"/>
                  </a:lnTo>
                  <a:close/>
                </a:path>
                <a:path w="3307079" h="2453640">
                  <a:moveTo>
                    <a:pt x="1712526" y="2420619"/>
                  </a:moveTo>
                  <a:lnTo>
                    <a:pt x="1678513" y="2427532"/>
                  </a:lnTo>
                  <a:lnTo>
                    <a:pt x="1688960" y="2425615"/>
                  </a:lnTo>
                  <a:lnTo>
                    <a:pt x="1712526" y="2420619"/>
                  </a:lnTo>
                  <a:close/>
                </a:path>
                <a:path w="3307079" h="2453640">
                  <a:moveTo>
                    <a:pt x="1090045" y="2419068"/>
                  </a:moveTo>
                  <a:lnTo>
                    <a:pt x="1109383" y="2423325"/>
                  </a:lnTo>
                  <a:lnTo>
                    <a:pt x="1125075" y="2426329"/>
                  </a:lnTo>
                  <a:lnTo>
                    <a:pt x="1090045" y="2419068"/>
                  </a:lnTo>
                  <a:close/>
                </a:path>
                <a:path w="3307079" h="2453640">
                  <a:moveTo>
                    <a:pt x="1717734" y="2419515"/>
                  </a:moveTo>
                  <a:lnTo>
                    <a:pt x="1712526" y="2420619"/>
                  </a:lnTo>
                  <a:lnTo>
                    <a:pt x="1716157" y="2419881"/>
                  </a:lnTo>
                  <a:lnTo>
                    <a:pt x="1717734" y="2419515"/>
                  </a:lnTo>
                  <a:close/>
                </a:path>
                <a:path w="3307079" h="2453640">
                  <a:moveTo>
                    <a:pt x="1754523" y="2410972"/>
                  </a:moveTo>
                  <a:lnTo>
                    <a:pt x="1717734" y="2419515"/>
                  </a:lnTo>
                  <a:lnTo>
                    <a:pt x="1728641" y="2417202"/>
                  </a:lnTo>
                  <a:lnTo>
                    <a:pt x="1754523" y="2410972"/>
                  </a:lnTo>
                  <a:close/>
                </a:path>
                <a:path w="3307079" h="2453640">
                  <a:moveTo>
                    <a:pt x="1083334" y="2417591"/>
                  </a:moveTo>
                  <a:lnTo>
                    <a:pt x="1086000" y="2418230"/>
                  </a:lnTo>
                  <a:lnTo>
                    <a:pt x="1090045" y="2419068"/>
                  </a:lnTo>
                  <a:lnTo>
                    <a:pt x="1083334" y="2417591"/>
                  </a:lnTo>
                  <a:close/>
                </a:path>
                <a:path w="3307079" h="2453640">
                  <a:moveTo>
                    <a:pt x="60661" y="1721816"/>
                  </a:moveTo>
                  <a:lnTo>
                    <a:pt x="85333" y="1753842"/>
                  </a:lnTo>
                  <a:lnTo>
                    <a:pt x="116668" y="1792729"/>
                  </a:lnTo>
                  <a:lnTo>
                    <a:pt x="148521" y="1830515"/>
                  </a:lnTo>
                  <a:lnTo>
                    <a:pt x="180875" y="1867199"/>
                  </a:lnTo>
                  <a:lnTo>
                    <a:pt x="213715" y="1902780"/>
                  </a:lnTo>
                  <a:lnTo>
                    <a:pt x="247028" y="1937257"/>
                  </a:lnTo>
                  <a:lnTo>
                    <a:pt x="280798" y="1970628"/>
                  </a:lnTo>
                  <a:lnTo>
                    <a:pt x="315010" y="2002894"/>
                  </a:lnTo>
                  <a:lnTo>
                    <a:pt x="349650" y="2034053"/>
                  </a:lnTo>
                  <a:lnTo>
                    <a:pt x="384702" y="2064105"/>
                  </a:lnTo>
                  <a:lnTo>
                    <a:pt x="420152" y="2093047"/>
                  </a:lnTo>
                  <a:lnTo>
                    <a:pt x="455985" y="2120880"/>
                  </a:lnTo>
                  <a:lnTo>
                    <a:pt x="492186" y="2147602"/>
                  </a:lnTo>
                  <a:lnTo>
                    <a:pt x="528741" y="2173213"/>
                  </a:lnTo>
                  <a:lnTo>
                    <a:pt x="565634" y="2197711"/>
                  </a:lnTo>
                  <a:lnTo>
                    <a:pt x="602851" y="2221095"/>
                  </a:lnTo>
                  <a:lnTo>
                    <a:pt x="640377" y="2243365"/>
                  </a:lnTo>
                  <a:lnTo>
                    <a:pt x="678197" y="2264519"/>
                  </a:lnTo>
                  <a:lnTo>
                    <a:pt x="716296" y="2284557"/>
                  </a:lnTo>
                  <a:lnTo>
                    <a:pt x="754659" y="2303478"/>
                  </a:lnTo>
                  <a:lnTo>
                    <a:pt x="793272" y="2321280"/>
                  </a:lnTo>
                  <a:lnTo>
                    <a:pt x="832120" y="2337963"/>
                  </a:lnTo>
                  <a:lnTo>
                    <a:pt x="871188" y="2353526"/>
                  </a:lnTo>
                  <a:lnTo>
                    <a:pt x="910461" y="2367968"/>
                  </a:lnTo>
                  <a:lnTo>
                    <a:pt x="949924" y="2381287"/>
                  </a:lnTo>
                  <a:lnTo>
                    <a:pt x="989562" y="2393484"/>
                  </a:lnTo>
                  <a:lnTo>
                    <a:pt x="1029362" y="2404556"/>
                  </a:lnTo>
                  <a:lnTo>
                    <a:pt x="1069307" y="2414503"/>
                  </a:lnTo>
                  <a:lnTo>
                    <a:pt x="1083334" y="2417591"/>
                  </a:lnTo>
                  <a:lnTo>
                    <a:pt x="1041392" y="2407541"/>
                  </a:lnTo>
                  <a:lnTo>
                    <a:pt x="997047" y="2395471"/>
                  </a:lnTo>
                  <a:lnTo>
                    <a:pt x="952984" y="2382030"/>
                  </a:lnTo>
                  <a:lnTo>
                    <a:pt x="909220" y="2367228"/>
                  </a:lnTo>
                  <a:lnTo>
                    <a:pt x="865773" y="2351076"/>
                  </a:lnTo>
                  <a:lnTo>
                    <a:pt x="822661" y="2333584"/>
                  </a:lnTo>
                  <a:lnTo>
                    <a:pt x="779900" y="2314762"/>
                  </a:lnTo>
                  <a:lnTo>
                    <a:pt x="737509" y="2294620"/>
                  </a:lnTo>
                  <a:lnTo>
                    <a:pt x="695506" y="2273169"/>
                  </a:lnTo>
                  <a:lnTo>
                    <a:pt x="653908" y="2250420"/>
                  </a:lnTo>
                  <a:lnTo>
                    <a:pt x="612733" y="2226382"/>
                  </a:lnTo>
                  <a:lnTo>
                    <a:pt x="571998" y="2201066"/>
                  </a:lnTo>
                  <a:lnTo>
                    <a:pt x="531721" y="2174482"/>
                  </a:lnTo>
                  <a:lnTo>
                    <a:pt x="491920" y="2146640"/>
                  </a:lnTo>
                  <a:lnTo>
                    <a:pt x="452613" y="2117552"/>
                  </a:lnTo>
                  <a:lnTo>
                    <a:pt x="413817" y="2087226"/>
                  </a:lnTo>
                  <a:lnTo>
                    <a:pt x="375550" y="2055674"/>
                  </a:lnTo>
                  <a:lnTo>
                    <a:pt x="337829" y="2022905"/>
                  </a:lnTo>
                  <a:lnTo>
                    <a:pt x="300673" y="1988931"/>
                  </a:lnTo>
                  <a:lnTo>
                    <a:pt x="264098" y="1953761"/>
                  </a:lnTo>
                  <a:lnTo>
                    <a:pt x="228124" y="1917406"/>
                  </a:lnTo>
                  <a:lnTo>
                    <a:pt x="192766" y="1879875"/>
                  </a:lnTo>
                  <a:lnTo>
                    <a:pt x="158043" y="1841180"/>
                  </a:lnTo>
                  <a:lnTo>
                    <a:pt x="123973" y="1801331"/>
                  </a:lnTo>
                  <a:lnTo>
                    <a:pt x="90573" y="1760338"/>
                  </a:lnTo>
                  <a:lnTo>
                    <a:pt x="60661" y="1721816"/>
                  </a:lnTo>
                  <a:close/>
                </a:path>
                <a:path w="3307079" h="2453640">
                  <a:moveTo>
                    <a:pt x="1757047" y="2410365"/>
                  </a:moveTo>
                  <a:lnTo>
                    <a:pt x="1754523" y="2410972"/>
                  </a:lnTo>
                  <a:lnTo>
                    <a:pt x="1756312" y="2410557"/>
                  </a:lnTo>
                  <a:lnTo>
                    <a:pt x="1757047" y="2410365"/>
                  </a:lnTo>
                  <a:close/>
                </a:path>
                <a:path w="3307079" h="2453640">
                  <a:moveTo>
                    <a:pt x="1796038" y="2400171"/>
                  </a:moveTo>
                  <a:lnTo>
                    <a:pt x="1757047" y="2410365"/>
                  </a:lnTo>
                  <a:lnTo>
                    <a:pt x="1768044" y="2407718"/>
                  </a:lnTo>
                  <a:lnTo>
                    <a:pt x="1796038" y="2400171"/>
                  </a:lnTo>
                  <a:close/>
                </a:path>
                <a:path w="3307079" h="2453640">
                  <a:moveTo>
                    <a:pt x="2109381" y="2275689"/>
                  </a:moveTo>
                  <a:lnTo>
                    <a:pt x="2071950" y="2294766"/>
                  </a:lnTo>
                  <a:lnTo>
                    <a:pt x="2033179" y="2313255"/>
                  </a:lnTo>
                  <a:lnTo>
                    <a:pt x="1994182" y="2330594"/>
                  </a:lnTo>
                  <a:lnTo>
                    <a:pt x="1954976" y="2346785"/>
                  </a:lnTo>
                  <a:lnTo>
                    <a:pt x="1915574" y="2361830"/>
                  </a:lnTo>
                  <a:lnTo>
                    <a:pt x="1875992" y="2375728"/>
                  </a:lnTo>
                  <a:lnTo>
                    <a:pt x="1836245" y="2388482"/>
                  </a:lnTo>
                  <a:lnTo>
                    <a:pt x="1796464" y="2400057"/>
                  </a:lnTo>
                  <a:lnTo>
                    <a:pt x="1807159" y="2397174"/>
                  </a:lnTo>
                  <a:lnTo>
                    <a:pt x="1845979" y="2385581"/>
                  </a:lnTo>
                  <a:lnTo>
                    <a:pt x="1884494" y="2372952"/>
                  </a:lnTo>
                  <a:lnTo>
                    <a:pt x="1922695" y="2359298"/>
                  </a:lnTo>
                  <a:lnTo>
                    <a:pt x="1960573" y="2344631"/>
                  </a:lnTo>
                  <a:lnTo>
                    <a:pt x="1998120" y="2328963"/>
                  </a:lnTo>
                  <a:lnTo>
                    <a:pt x="2035326" y="2312305"/>
                  </a:lnTo>
                  <a:lnTo>
                    <a:pt x="2072280" y="2294620"/>
                  </a:lnTo>
                  <a:lnTo>
                    <a:pt x="2108681" y="2276068"/>
                  </a:lnTo>
                  <a:lnTo>
                    <a:pt x="2109381" y="2275689"/>
                  </a:lnTo>
                  <a:close/>
                </a:path>
                <a:path w="3307079" h="2453640">
                  <a:moveTo>
                    <a:pt x="2129071" y="2265033"/>
                  </a:moveTo>
                  <a:lnTo>
                    <a:pt x="2109381" y="2275689"/>
                  </a:lnTo>
                  <a:lnTo>
                    <a:pt x="2110482" y="2275128"/>
                  </a:lnTo>
                  <a:lnTo>
                    <a:pt x="2129071" y="2265033"/>
                  </a:lnTo>
                  <a:close/>
                </a:path>
                <a:path w="3307079" h="2453640">
                  <a:moveTo>
                    <a:pt x="2145787" y="2255954"/>
                  </a:moveTo>
                  <a:lnTo>
                    <a:pt x="2129071" y="2265033"/>
                  </a:lnTo>
                  <a:lnTo>
                    <a:pt x="2144812" y="2256513"/>
                  </a:lnTo>
                  <a:lnTo>
                    <a:pt x="2145787" y="2255954"/>
                  </a:lnTo>
                  <a:close/>
                </a:path>
                <a:path w="3307079" h="2453640">
                  <a:moveTo>
                    <a:pt x="2171372" y="2241286"/>
                  </a:moveTo>
                  <a:lnTo>
                    <a:pt x="2145787" y="2255954"/>
                  </a:lnTo>
                  <a:lnTo>
                    <a:pt x="2148759" y="2254339"/>
                  </a:lnTo>
                  <a:lnTo>
                    <a:pt x="2171372" y="2241286"/>
                  </a:lnTo>
                  <a:close/>
                </a:path>
                <a:path w="3307079" h="2453640">
                  <a:moveTo>
                    <a:pt x="2181842" y="2235242"/>
                  </a:moveTo>
                  <a:lnTo>
                    <a:pt x="2171372" y="2241286"/>
                  </a:lnTo>
                  <a:lnTo>
                    <a:pt x="2180566" y="2236015"/>
                  </a:lnTo>
                  <a:lnTo>
                    <a:pt x="2181842" y="2235242"/>
                  </a:lnTo>
                  <a:close/>
                </a:path>
                <a:path w="3307079" h="2453640">
                  <a:moveTo>
                    <a:pt x="2209064" y="2218750"/>
                  </a:moveTo>
                  <a:lnTo>
                    <a:pt x="2181842" y="2235242"/>
                  </a:lnTo>
                  <a:lnTo>
                    <a:pt x="2186767" y="2232399"/>
                  </a:lnTo>
                  <a:lnTo>
                    <a:pt x="2209064" y="2218750"/>
                  </a:lnTo>
                  <a:close/>
                </a:path>
                <a:path w="3307079" h="2453640">
                  <a:moveTo>
                    <a:pt x="2217556" y="2213551"/>
                  </a:moveTo>
                  <a:lnTo>
                    <a:pt x="2209064" y="2218750"/>
                  </a:lnTo>
                  <a:lnTo>
                    <a:pt x="2215936" y="2214586"/>
                  </a:lnTo>
                  <a:lnTo>
                    <a:pt x="2217556" y="2213551"/>
                  </a:lnTo>
                  <a:close/>
                </a:path>
                <a:path w="3307079" h="2453640">
                  <a:moveTo>
                    <a:pt x="2245291" y="2195830"/>
                  </a:moveTo>
                  <a:lnTo>
                    <a:pt x="2217556" y="2213551"/>
                  </a:lnTo>
                  <a:lnTo>
                    <a:pt x="2224491" y="2209305"/>
                  </a:lnTo>
                  <a:lnTo>
                    <a:pt x="2245291" y="2195830"/>
                  </a:lnTo>
                  <a:close/>
                </a:path>
                <a:path w="3307079" h="2453640">
                  <a:moveTo>
                    <a:pt x="2252938" y="2190875"/>
                  </a:moveTo>
                  <a:lnTo>
                    <a:pt x="2245291" y="2195830"/>
                  </a:lnTo>
                  <a:lnTo>
                    <a:pt x="2250911" y="2192239"/>
                  </a:lnTo>
                  <a:lnTo>
                    <a:pt x="2252938" y="2190875"/>
                  </a:lnTo>
                  <a:close/>
                </a:path>
                <a:path w="3307079" h="2453640">
                  <a:moveTo>
                    <a:pt x="2280700" y="2172202"/>
                  </a:moveTo>
                  <a:lnTo>
                    <a:pt x="2252938" y="2190875"/>
                  </a:lnTo>
                  <a:lnTo>
                    <a:pt x="2261916" y="2185058"/>
                  </a:lnTo>
                  <a:lnTo>
                    <a:pt x="2280700" y="2172202"/>
                  </a:lnTo>
                  <a:close/>
                </a:path>
                <a:path w="3307079" h="2453640">
                  <a:moveTo>
                    <a:pt x="2288000" y="2167205"/>
                  </a:moveTo>
                  <a:lnTo>
                    <a:pt x="2280700" y="2172202"/>
                  </a:lnTo>
                  <a:lnTo>
                    <a:pt x="2285483" y="2168984"/>
                  </a:lnTo>
                  <a:lnTo>
                    <a:pt x="2288000" y="2167205"/>
                  </a:lnTo>
                  <a:close/>
                </a:path>
                <a:path w="3307079" h="2453640">
                  <a:moveTo>
                    <a:pt x="2315516" y="2147752"/>
                  </a:moveTo>
                  <a:lnTo>
                    <a:pt x="2288000" y="2167205"/>
                  </a:lnTo>
                  <a:lnTo>
                    <a:pt x="2299027" y="2159657"/>
                  </a:lnTo>
                  <a:lnTo>
                    <a:pt x="2315516" y="2147752"/>
                  </a:lnTo>
                  <a:close/>
                </a:path>
                <a:path w="3307079" h="2453640">
                  <a:moveTo>
                    <a:pt x="2322753" y="2142527"/>
                  </a:moveTo>
                  <a:lnTo>
                    <a:pt x="2315516" y="2147752"/>
                  </a:lnTo>
                  <a:lnTo>
                    <a:pt x="2319644" y="2144834"/>
                  </a:lnTo>
                  <a:lnTo>
                    <a:pt x="2322753" y="2142527"/>
                  </a:lnTo>
                  <a:close/>
                </a:path>
                <a:path w="3307079" h="2453640">
                  <a:moveTo>
                    <a:pt x="2349846" y="2122424"/>
                  </a:moveTo>
                  <a:lnTo>
                    <a:pt x="2322753" y="2142527"/>
                  </a:lnTo>
                  <a:lnTo>
                    <a:pt x="2335810" y="2133100"/>
                  </a:lnTo>
                  <a:lnTo>
                    <a:pt x="2349846" y="2122424"/>
                  </a:lnTo>
                  <a:close/>
                </a:path>
                <a:path w="3307079" h="2453640">
                  <a:moveTo>
                    <a:pt x="2357209" y="2116825"/>
                  </a:moveTo>
                  <a:lnTo>
                    <a:pt x="2349846" y="2122424"/>
                  </a:lnTo>
                  <a:lnTo>
                    <a:pt x="2353383" y="2119800"/>
                  </a:lnTo>
                  <a:lnTo>
                    <a:pt x="2357209" y="2116825"/>
                  </a:lnTo>
                  <a:close/>
                </a:path>
                <a:path w="3307079" h="2453640">
                  <a:moveTo>
                    <a:pt x="2383750" y="2096183"/>
                  </a:moveTo>
                  <a:lnTo>
                    <a:pt x="2357209" y="2116825"/>
                  </a:lnTo>
                  <a:lnTo>
                    <a:pt x="2372249" y="2105386"/>
                  </a:lnTo>
                  <a:lnTo>
                    <a:pt x="2383750" y="2096183"/>
                  </a:lnTo>
                  <a:close/>
                </a:path>
                <a:path w="3307079" h="2453640">
                  <a:moveTo>
                    <a:pt x="2391383" y="2090075"/>
                  </a:moveTo>
                  <a:lnTo>
                    <a:pt x="2383750" y="2096183"/>
                  </a:lnTo>
                  <a:lnTo>
                    <a:pt x="2386693" y="2093894"/>
                  </a:lnTo>
                  <a:lnTo>
                    <a:pt x="2391383" y="2090075"/>
                  </a:lnTo>
                  <a:close/>
                </a:path>
                <a:path w="3307079" h="2453640">
                  <a:moveTo>
                    <a:pt x="2417267" y="2068998"/>
                  </a:moveTo>
                  <a:lnTo>
                    <a:pt x="2391383" y="2090075"/>
                  </a:lnTo>
                  <a:lnTo>
                    <a:pt x="2408330" y="2076515"/>
                  </a:lnTo>
                  <a:lnTo>
                    <a:pt x="2417267" y="2068998"/>
                  </a:lnTo>
                  <a:close/>
                </a:path>
                <a:path w="3307079" h="2453640">
                  <a:moveTo>
                    <a:pt x="2425300" y="2062243"/>
                  </a:moveTo>
                  <a:lnTo>
                    <a:pt x="2417267" y="2068998"/>
                  </a:lnTo>
                  <a:lnTo>
                    <a:pt x="2419564" y="2067128"/>
                  </a:lnTo>
                  <a:lnTo>
                    <a:pt x="2425300" y="2062243"/>
                  </a:lnTo>
                  <a:close/>
                </a:path>
                <a:path w="3307079" h="2453640">
                  <a:moveTo>
                    <a:pt x="2450425" y="2040844"/>
                  </a:moveTo>
                  <a:lnTo>
                    <a:pt x="2425300" y="2062243"/>
                  </a:lnTo>
                  <a:lnTo>
                    <a:pt x="2444037" y="2046485"/>
                  </a:lnTo>
                  <a:lnTo>
                    <a:pt x="2450425" y="2040844"/>
                  </a:lnTo>
                  <a:close/>
                </a:path>
                <a:path w="3307079" h="2453640">
                  <a:moveTo>
                    <a:pt x="2459017" y="2033258"/>
                  </a:moveTo>
                  <a:lnTo>
                    <a:pt x="2450425" y="2040844"/>
                  </a:lnTo>
                  <a:lnTo>
                    <a:pt x="2451987" y="2039514"/>
                  </a:lnTo>
                  <a:lnTo>
                    <a:pt x="2459017" y="2033258"/>
                  </a:lnTo>
                  <a:close/>
                </a:path>
                <a:path w="3307079" h="2453640">
                  <a:moveTo>
                    <a:pt x="2483246" y="2011693"/>
                  </a:moveTo>
                  <a:lnTo>
                    <a:pt x="2459017" y="2033258"/>
                  </a:lnTo>
                  <a:lnTo>
                    <a:pt x="2479357" y="2015296"/>
                  </a:lnTo>
                  <a:lnTo>
                    <a:pt x="2483246" y="2011693"/>
                  </a:lnTo>
                  <a:close/>
                </a:path>
                <a:path w="3307079" h="2453640">
                  <a:moveTo>
                    <a:pt x="2492890" y="2002758"/>
                  </a:moveTo>
                  <a:lnTo>
                    <a:pt x="2483246" y="2011693"/>
                  </a:lnTo>
                  <a:lnTo>
                    <a:pt x="2483954" y="2011063"/>
                  </a:lnTo>
                  <a:lnTo>
                    <a:pt x="2492890" y="2002758"/>
                  </a:lnTo>
                  <a:close/>
                </a:path>
                <a:path w="3307079" h="2453640">
                  <a:moveTo>
                    <a:pt x="2523214" y="1974263"/>
                  </a:moveTo>
                  <a:lnTo>
                    <a:pt x="2515455" y="1981787"/>
                  </a:lnTo>
                  <a:lnTo>
                    <a:pt x="2492890" y="2002758"/>
                  </a:lnTo>
                  <a:lnTo>
                    <a:pt x="2514274" y="1982947"/>
                  </a:lnTo>
                  <a:lnTo>
                    <a:pt x="2523214" y="1974263"/>
                  </a:lnTo>
                  <a:close/>
                </a:path>
                <a:path w="3307079" h="2453640">
                  <a:moveTo>
                    <a:pt x="2547394" y="1950775"/>
                  </a:moveTo>
                  <a:lnTo>
                    <a:pt x="2523214" y="1974263"/>
                  </a:lnTo>
                  <a:lnTo>
                    <a:pt x="2546482" y="1951698"/>
                  </a:lnTo>
                  <a:lnTo>
                    <a:pt x="2547394" y="1950775"/>
                  </a:lnTo>
                  <a:close/>
                </a:path>
                <a:path w="3307079" h="2453640">
                  <a:moveTo>
                    <a:pt x="2557351" y="1940706"/>
                  </a:moveTo>
                  <a:lnTo>
                    <a:pt x="2547394" y="1950775"/>
                  </a:lnTo>
                  <a:lnTo>
                    <a:pt x="2548773" y="1949436"/>
                  </a:lnTo>
                  <a:lnTo>
                    <a:pt x="2557351" y="1940706"/>
                  </a:lnTo>
                  <a:close/>
                </a:path>
                <a:path w="3307079" h="2453640">
                  <a:moveTo>
                    <a:pt x="2580501" y="1917144"/>
                  </a:moveTo>
                  <a:lnTo>
                    <a:pt x="2557351" y="1940706"/>
                  </a:lnTo>
                  <a:lnTo>
                    <a:pt x="2577025" y="1920808"/>
                  </a:lnTo>
                  <a:lnTo>
                    <a:pt x="2580501" y="1917144"/>
                  </a:lnTo>
                  <a:close/>
                </a:path>
                <a:path w="3307079" h="2453640">
                  <a:moveTo>
                    <a:pt x="2590103" y="1907022"/>
                  </a:moveTo>
                  <a:lnTo>
                    <a:pt x="2580501" y="1917144"/>
                  </a:lnTo>
                  <a:lnTo>
                    <a:pt x="2582840" y="1914763"/>
                  </a:lnTo>
                  <a:lnTo>
                    <a:pt x="2590103" y="1907022"/>
                  </a:lnTo>
                  <a:close/>
                </a:path>
                <a:path w="3307079" h="2453640">
                  <a:moveTo>
                    <a:pt x="2613206" y="1882395"/>
                  </a:moveTo>
                  <a:lnTo>
                    <a:pt x="2590103" y="1907022"/>
                  </a:lnTo>
                  <a:lnTo>
                    <a:pt x="2607076" y="1889128"/>
                  </a:lnTo>
                  <a:lnTo>
                    <a:pt x="2613206" y="1882395"/>
                  </a:lnTo>
                  <a:close/>
                </a:path>
                <a:path w="3307079" h="2453640">
                  <a:moveTo>
                    <a:pt x="2622502" y="1872185"/>
                  </a:moveTo>
                  <a:lnTo>
                    <a:pt x="2613206" y="1882395"/>
                  </a:lnTo>
                  <a:lnTo>
                    <a:pt x="2616460" y="1878927"/>
                  </a:lnTo>
                  <a:lnTo>
                    <a:pt x="2622502" y="1872185"/>
                  </a:lnTo>
                  <a:close/>
                </a:path>
                <a:path w="3307079" h="2453640">
                  <a:moveTo>
                    <a:pt x="2645390" y="1846644"/>
                  </a:moveTo>
                  <a:lnTo>
                    <a:pt x="2622502" y="1872185"/>
                  </a:lnTo>
                  <a:lnTo>
                    <a:pt x="2636626" y="1856671"/>
                  </a:lnTo>
                  <a:lnTo>
                    <a:pt x="2645390" y="1846644"/>
                  </a:lnTo>
                  <a:close/>
                </a:path>
                <a:path w="3307079" h="2453640">
                  <a:moveTo>
                    <a:pt x="2654635" y="1836067"/>
                  </a:moveTo>
                  <a:lnTo>
                    <a:pt x="2645390" y="1846644"/>
                  </a:lnTo>
                  <a:lnTo>
                    <a:pt x="2649618" y="1841927"/>
                  </a:lnTo>
                  <a:lnTo>
                    <a:pt x="2654635" y="1836067"/>
                  </a:lnTo>
                  <a:close/>
                </a:path>
                <a:path w="3307079" h="2453640">
                  <a:moveTo>
                    <a:pt x="2676804" y="1810178"/>
                  </a:moveTo>
                  <a:lnTo>
                    <a:pt x="2654635" y="1836067"/>
                  </a:lnTo>
                  <a:lnTo>
                    <a:pt x="2665666" y="1823447"/>
                  </a:lnTo>
                  <a:lnTo>
                    <a:pt x="2676804" y="1810178"/>
                  </a:lnTo>
                  <a:close/>
                </a:path>
                <a:path w="3307079" h="2453640">
                  <a:moveTo>
                    <a:pt x="2686791" y="1798279"/>
                  </a:moveTo>
                  <a:lnTo>
                    <a:pt x="2676804" y="1810178"/>
                  </a:lnTo>
                  <a:lnTo>
                    <a:pt x="2682298" y="1803761"/>
                  </a:lnTo>
                  <a:lnTo>
                    <a:pt x="2686791" y="1798279"/>
                  </a:lnTo>
                  <a:close/>
                </a:path>
                <a:path w="3307079" h="2453640">
                  <a:moveTo>
                    <a:pt x="2704704" y="1776424"/>
                  </a:moveTo>
                  <a:lnTo>
                    <a:pt x="2686791" y="1798279"/>
                  </a:lnTo>
                  <a:lnTo>
                    <a:pt x="2694187" y="1789469"/>
                  </a:lnTo>
                  <a:lnTo>
                    <a:pt x="2704704" y="1776424"/>
                  </a:lnTo>
                  <a:close/>
                </a:path>
                <a:path w="3307079" h="2453640">
                  <a:moveTo>
                    <a:pt x="2716243" y="1762111"/>
                  </a:moveTo>
                  <a:lnTo>
                    <a:pt x="2704704" y="1776424"/>
                  </a:lnTo>
                  <a:lnTo>
                    <a:pt x="2711810" y="1767753"/>
                  </a:lnTo>
                  <a:lnTo>
                    <a:pt x="2716243" y="1762111"/>
                  </a:lnTo>
                  <a:close/>
                </a:path>
                <a:path w="3307079" h="2453640">
                  <a:moveTo>
                    <a:pt x="2732620" y="1741267"/>
                  </a:moveTo>
                  <a:lnTo>
                    <a:pt x="2716243" y="1762111"/>
                  </a:lnTo>
                  <a:lnTo>
                    <a:pt x="2722180" y="1754748"/>
                  </a:lnTo>
                  <a:lnTo>
                    <a:pt x="2732620" y="1741267"/>
                  </a:lnTo>
                  <a:close/>
                </a:path>
                <a:path w="3307079" h="2453640">
                  <a:moveTo>
                    <a:pt x="2744765" y="1725585"/>
                  </a:moveTo>
                  <a:lnTo>
                    <a:pt x="2732620" y="1741267"/>
                  </a:lnTo>
                  <a:lnTo>
                    <a:pt x="2740676" y="1731013"/>
                  </a:lnTo>
                  <a:lnTo>
                    <a:pt x="2744765" y="1725585"/>
                  </a:lnTo>
                  <a:close/>
                </a:path>
                <a:path w="3307079" h="2453640">
                  <a:moveTo>
                    <a:pt x="2760305" y="1704956"/>
                  </a:moveTo>
                  <a:lnTo>
                    <a:pt x="2744765" y="1725585"/>
                  </a:lnTo>
                  <a:lnTo>
                    <a:pt x="2749635" y="1719297"/>
                  </a:lnTo>
                  <a:lnTo>
                    <a:pt x="2760305" y="1704956"/>
                  </a:lnTo>
                  <a:close/>
                </a:path>
                <a:path w="3307079" h="2453640">
                  <a:moveTo>
                    <a:pt x="57321" y="1717480"/>
                  </a:moveTo>
                  <a:lnTo>
                    <a:pt x="57861" y="1718211"/>
                  </a:lnTo>
                  <a:lnTo>
                    <a:pt x="60661" y="1721816"/>
                  </a:lnTo>
                  <a:lnTo>
                    <a:pt x="57321" y="1717480"/>
                  </a:lnTo>
                  <a:close/>
                </a:path>
                <a:path w="3307079" h="2453640">
                  <a:moveTo>
                    <a:pt x="31790" y="1682980"/>
                  </a:moveTo>
                  <a:lnTo>
                    <a:pt x="54528" y="1713855"/>
                  </a:lnTo>
                  <a:lnTo>
                    <a:pt x="57321" y="1717480"/>
                  </a:lnTo>
                  <a:lnTo>
                    <a:pt x="31790" y="1682980"/>
                  </a:lnTo>
                  <a:close/>
                </a:path>
                <a:path w="3307079" h="2453640">
                  <a:moveTo>
                    <a:pt x="2772409" y="1688687"/>
                  </a:moveTo>
                  <a:lnTo>
                    <a:pt x="2760305" y="1704956"/>
                  </a:lnTo>
                  <a:lnTo>
                    <a:pt x="2768891" y="1693558"/>
                  </a:lnTo>
                  <a:lnTo>
                    <a:pt x="2772409" y="1688687"/>
                  </a:lnTo>
                  <a:close/>
                </a:path>
                <a:path w="3307079" h="2453640">
                  <a:moveTo>
                    <a:pt x="2787969" y="1667142"/>
                  </a:moveTo>
                  <a:lnTo>
                    <a:pt x="2772409" y="1688687"/>
                  </a:lnTo>
                  <a:lnTo>
                    <a:pt x="2776650" y="1682980"/>
                  </a:lnTo>
                  <a:lnTo>
                    <a:pt x="2787969" y="1667142"/>
                  </a:lnTo>
                  <a:close/>
                </a:path>
                <a:path w="3307079" h="2453640">
                  <a:moveTo>
                    <a:pt x="25212" y="1674048"/>
                  </a:moveTo>
                  <a:lnTo>
                    <a:pt x="25855" y="1674960"/>
                  </a:lnTo>
                  <a:lnTo>
                    <a:pt x="31790" y="1682980"/>
                  </a:lnTo>
                  <a:lnTo>
                    <a:pt x="25212" y="1674048"/>
                  </a:lnTo>
                  <a:close/>
                </a:path>
                <a:path w="3307079" h="2453640">
                  <a:moveTo>
                    <a:pt x="0" y="1638293"/>
                  </a:moveTo>
                  <a:lnTo>
                    <a:pt x="24270" y="1672769"/>
                  </a:lnTo>
                  <a:lnTo>
                    <a:pt x="25212" y="1674048"/>
                  </a:lnTo>
                  <a:lnTo>
                    <a:pt x="0" y="1638293"/>
                  </a:lnTo>
                  <a:close/>
                </a:path>
                <a:path w="3307079" h="2453640">
                  <a:moveTo>
                    <a:pt x="2799218" y="1651402"/>
                  </a:moveTo>
                  <a:lnTo>
                    <a:pt x="2787969" y="1667142"/>
                  </a:lnTo>
                  <a:lnTo>
                    <a:pt x="2796448" y="1655401"/>
                  </a:lnTo>
                  <a:lnTo>
                    <a:pt x="2799218" y="1651402"/>
                  </a:lnTo>
                  <a:close/>
                </a:path>
                <a:path w="3307079" h="2453640">
                  <a:moveTo>
                    <a:pt x="2815956" y="1627230"/>
                  </a:moveTo>
                  <a:lnTo>
                    <a:pt x="2799218" y="1651402"/>
                  </a:lnTo>
                  <a:lnTo>
                    <a:pt x="2802901" y="1646248"/>
                  </a:lnTo>
                  <a:lnTo>
                    <a:pt x="2815956" y="1627230"/>
                  </a:lnTo>
                  <a:close/>
                </a:path>
                <a:path w="3307079" h="2453640">
                  <a:moveTo>
                    <a:pt x="2825231" y="1613717"/>
                  </a:moveTo>
                  <a:lnTo>
                    <a:pt x="2815956" y="1627230"/>
                  </a:lnTo>
                  <a:lnTo>
                    <a:pt x="2823344" y="1616560"/>
                  </a:lnTo>
                  <a:lnTo>
                    <a:pt x="2825231" y="1613717"/>
                  </a:lnTo>
                  <a:close/>
                </a:path>
                <a:path w="3307079" h="2453640">
                  <a:moveTo>
                    <a:pt x="2844884" y="1584113"/>
                  </a:moveTo>
                  <a:lnTo>
                    <a:pt x="2825231" y="1613717"/>
                  </a:lnTo>
                  <a:lnTo>
                    <a:pt x="2828693" y="1608675"/>
                  </a:lnTo>
                  <a:lnTo>
                    <a:pt x="2844884" y="1584113"/>
                  </a:lnTo>
                  <a:close/>
                </a:path>
                <a:path w="3307079" h="2453640">
                  <a:moveTo>
                    <a:pt x="2850483" y="1575618"/>
                  </a:moveTo>
                  <a:lnTo>
                    <a:pt x="2844884" y="1584113"/>
                  </a:lnTo>
                  <a:lnTo>
                    <a:pt x="2849573" y="1577049"/>
                  </a:lnTo>
                  <a:lnTo>
                    <a:pt x="2850483" y="1575618"/>
                  </a:lnTo>
                  <a:close/>
                </a:path>
                <a:path w="3307079" h="2453640">
                  <a:moveTo>
                    <a:pt x="3306517" y="0"/>
                  </a:moveTo>
                  <a:lnTo>
                    <a:pt x="3305253" y="52595"/>
                  </a:lnTo>
                  <a:lnTo>
                    <a:pt x="3303143" y="105291"/>
                  </a:lnTo>
                  <a:lnTo>
                    <a:pt x="3300198" y="157817"/>
                  </a:lnTo>
                  <a:lnTo>
                    <a:pt x="3296423" y="210157"/>
                  </a:lnTo>
                  <a:lnTo>
                    <a:pt x="3291823" y="262296"/>
                  </a:lnTo>
                  <a:lnTo>
                    <a:pt x="3286404" y="314217"/>
                  </a:lnTo>
                  <a:lnTo>
                    <a:pt x="3280171" y="365906"/>
                  </a:lnTo>
                  <a:lnTo>
                    <a:pt x="3273129" y="417346"/>
                  </a:lnTo>
                  <a:lnTo>
                    <a:pt x="3265284" y="468523"/>
                  </a:lnTo>
                  <a:lnTo>
                    <a:pt x="3256640" y="519420"/>
                  </a:lnTo>
                  <a:lnTo>
                    <a:pt x="3247203" y="570022"/>
                  </a:lnTo>
                  <a:lnTo>
                    <a:pt x="3236979" y="620313"/>
                  </a:lnTo>
                  <a:lnTo>
                    <a:pt x="3225972" y="670279"/>
                  </a:lnTo>
                  <a:lnTo>
                    <a:pt x="3214188" y="719902"/>
                  </a:lnTo>
                  <a:lnTo>
                    <a:pt x="3201631" y="769168"/>
                  </a:lnTo>
                  <a:lnTo>
                    <a:pt x="3188308" y="818061"/>
                  </a:lnTo>
                  <a:lnTo>
                    <a:pt x="3174223" y="866565"/>
                  </a:lnTo>
                  <a:lnTo>
                    <a:pt x="3159382" y="914665"/>
                  </a:lnTo>
                  <a:lnTo>
                    <a:pt x="3143789" y="962345"/>
                  </a:lnTo>
                  <a:lnTo>
                    <a:pt x="3127451" y="1009589"/>
                  </a:lnTo>
                  <a:lnTo>
                    <a:pt x="3110373" y="1056383"/>
                  </a:lnTo>
                  <a:lnTo>
                    <a:pt x="3092559" y="1102710"/>
                  </a:lnTo>
                  <a:lnTo>
                    <a:pt x="3074015" y="1148555"/>
                  </a:lnTo>
                  <a:lnTo>
                    <a:pt x="3054746" y="1193902"/>
                  </a:lnTo>
                  <a:lnTo>
                    <a:pt x="3034757" y="1238735"/>
                  </a:lnTo>
                  <a:lnTo>
                    <a:pt x="3014054" y="1283040"/>
                  </a:lnTo>
                  <a:lnTo>
                    <a:pt x="2992642" y="1326800"/>
                  </a:lnTo>
                  <a:lnTo>
                    <a:pt x="2970526" y="1369999"/>
                  </a:lnTo>
                  <a:lnTo>
                    <a:pt x="2947712" y="1412623"/>
                  </a:lnTo>
                  <a:lnTo>
                    <a:pt x="2924204" y="1454656"/>
                  </a:lnTo>
                  <a:lnTo>
                    <a:pt x="2900008" y="1496081"/>
                  </a:lnTo>
                  <a:lnTo>
                    <a:pt x="2875129" y="1536884"/>
                  </a:lnTo>
                  <a:lnTo>
                    <a:pt x="2850483" y="1575618"/>
                  </a:lnTo>
                  <a:lnTo>
                    <a:pt x="2853912" y="1570418"/>
                  </a:lnTo>
                  <a:lnTo>
                    <a:pt x="2878549" y="1531488"/>
                  </a:lnTo>
                  <a:lnTo>
                    <a:pt x="2902596" y="1491899"/>
                  </a:lnTo>
                  <a:lnTo>
                    <a:pt x="2926044" y="1451661"/>
                  </a:lnTo>
                  <a:lnTo>
                    <a:pt x="2948883" y="1410786"/>
                  </a:lnTo>
                  <a:lnTo>
                    <a:pt x="2971106" y="1369286"/>
                  </a:lnTo>
                  <a:lnTo>
                    <a:pt x="2992702" y="1327173"/>
                  </a:lnTo>
                  <a:lnTo>
                    <a:pt x="3013663" y="1284459"/>
                  </a:lnTo>
                  <a:lnTo>
                    <a:pt x="3033980" y="1241154"/>
                  </a:lnTo>
                  <a:lnTo>
                    <a:pt x="3053644" y="1197272"/>
                  </a:lnTo>
                  <a:lnTo>
                    <a:pt x="3072646" y="1152824"/>
                  </a:lnTo>
                  <a:lnTo>
                    <a:pt x="3090978" y="1107821"/>
                  </a:lnTo>
                  <a:lnTo>
                    <a:pt x="3108630" y="1062275"/>
                  </a:lnTo>
                  <a:lnTo>
                    <a:pt x="3125593" y="1016199"/>
                  </a:lnTo>
                  <a:lnTo>
                    <a:pt x="3141859" y="969603"/>
                  </a:lnTo>
                  <a:lnTo>
                    <a:pt x="3157418" y="922500"/>
                  </a:lnTo>
                  <a:lnTo>
                    <a:pt x="3172262" y="874901"/>
                  </a:lnTo>
                  <a:lnTo>
                    <a:pt x="3186381" y="826819"/>
                  </a:lnTo>
                  <a:lnTo>
                    <a:pt x="3199768" y="778264"/>
                  </a:lnTo>
                  <a:lnTo>
                    <a:pt x="3212412" y="729249"/>
                  </a:lnTo>
                  <a:lnTo>
                    <a:pt x="3224305" y="679785"/>
                  </a:lnTo>
                  <a:lnTo>
                    <a:pt x="3235438" y="629884"/>
                  </a:lnTo>
                  <a:lnTo>
                    <a:pt x="3245802" y="579558"/>
                  </a:lnTo>
                  <a:lnTo>
                    <a:pt x="3255389" y="528819"/>
                  </a:lnTo>
                  <a:lnTo>
                    <a:pt x="3264188" y="477678"/>
                  </a:lnTo>
                  <a:lnTo>
                    <a:pt x="3272192" y="426147"/>
                  </a:lnTo>
                  <a:lnTo>
                    <a:pt x="3279391" y="374238"/>
                  </a:lnTo>
                  <a:lnTo>
                    <a:pt x="3285777" y="321963"/>
                  </a:lnTo>
                  <a:lnTo>
                    <a:pt x="3291340" y="269333"/>
                  </a:lnTo>
                  <a:lnTo>
                    <a:pt x="3296072" y="216361"/>
                  </a:lnTo>
                  <a:lnTo>
                    <a:pt x="3299964" y="163057"/>
                  </a:lnTo>
                  <a:lnTo>
                    <a:pt x="3303006" y="109434"/>
                  </a:lnTo>
                  <a:lnTo>
                    <a:pt x="3305190" y="55504"/>
                  </a:lnTo>
                  <a:lnTo>
                    <a:pt x="3306507" y="1277"/>
                  </a:lnTo>
                  <a:lnTo>
                    <a:pt x="3306517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16542" y="2887738"/>
              <a:ext cx="3312795" cy="2506980"/>
            </a:xfrm>
            <a:custGeom>
              <a:avLst/>
              <a:gdLst/>
              <a:ahLst/>
              <a:cxnLst/>
              <a:rect l="l" t="t" r="r" b="b"/>
              <a:pathLst>
                <a:path w="3312795" h="2506979">
                  <a:moveTo>
                    <a:pt x="3312371" y="10"/>
                  </a:moveTo>
                  <a:lnTo>
                    <a:pt x="3311930" y="54520"/>
                  </a:lnTo>
                  <a:lnTo>
                    <a:pt x="3310613" y="108746"/>
                  </a:lnTo>
                  <a:lnTo>
                    <a:pt x="3308429" y="162677"/>
                  </a:lnTo>
                  <a:lnTo>
                    <a:pt x="3305387" y="216300"/>
                  </a:lnTo>
                  <a:lnTo>
                    <a:pt x="3301496" y="269604"/>
                  </a:lnTo>
                  <a:lnTo>
                    <a:pt x="3296764" y="322577"/>
                  </a:lnTo>
                  <a:lnTo>
                    <a:pt x="3291200" y="375206"/>
                  </a:lnTo>
                  <a:lnTo>
                    <a:pt x="3284815" y="427482"/>
                  </a:lnTo>
                  <a:lnTo>
                    <a:pt x="3277616" y="479391"/>
                  </a:lnTo>
                  <a:lnTo>
                    <a:pt x="3269612" y="530922"/>
                  </a:lnTo>
                  <a:lnTo>
                    <a:pt x="3260812" y="582063"/>
                  </a:lnTo>
                  <a:lnTo>
                    <a:pt x="3251226" y="632802"/>
                  </a:lnTo>
                  <a:lnTo>
                    <a:pt x="3240862" y="683128"/>
                  </a:lnTo>
                  <a:lnTo>
                    <a:pt x="3229728" y="733029"/>
                  </a:lnTo>
                  <a:lnTo>
                    <a:pt x="3217835" y="782493"/>
                  </a:lnTo>
                  <a:lnTo>
                    <a:pt x="3205191" y="831508"/>
                  </a:lnTo>
                  <a:lnTo>
                    <a:pt x="3191805" y="880063"/>
                  </a:lnTo>
                  <a:lnTo>
                    <a:pt x="3177685" y="928146"/>
                  </a:lnTo>
                  <a:lnTo>
                    <a:pt x="3162841" y="975745"/>
                  </a:lnTo>
                  <a:lnTo>
                    <a:pt x="3147282" y="1022848"/>
                  </a:lnTo>
                  <a:lnTo>
                    <a:pt x="3131016" y="1069444"/>
                  </a:lnTo>
                  <a:lnTo>
                    <a:pt x="3114053" y="1115520"/>
                  </a:lnTo>
                  <a:lnTo>
                    <a:pt x="3096401" y="1161066"/>
                  </a:lnTo>
                  <a:lnTo>
                    <a:pt x="3078070" y="1206069"/>
                  </a:lnTo>
                  <a:lnTo>
                    <a:pt x="3059068" y="1250517"/>
                  </a:lnTo>
                  <a:lnTo>
                    <a:pt x="3039403" y="1294399"/>
                  </a:lnTo>
                  <a:lnTo>
                    <a:pt x="3019086" y="1337704"/>
                  </a:lnTo>
                  <a:lnTo>
                    <a:pt x="2998125" y="1380418"/>
                  </a:lnTo>
                  <a:lnTo>
                    <a:pt x="2976529" y="1422531"/>
                  </a:lnTo>
                  <a:lnTo>
                    <a:pt x="2954307" y="1464031"/>
                  </a:lnTo>
                  <a:lnTo>
                    <a:pt x="2931468" y="1504906"/>
                  </a:lnTo>
                  <a:lnTo>
                    <a:pt x="2908020" y="1545144"/>
                  </a:lnTo>
                  <a:lnTo>
                    <a:pt x="2883973" y="1584733"/>
                  </a:lnTo>
                  <a:lnTo>
                    <a:pt x="2859335" y="1623663"/>
                  </a:lnTo>
                  <a:lnTo>
                    <a:pt x="2834116" y="1661920"/>
                  </a:lnTo>
                  <a:lnTo>
                    <a:pt x="2808325" y="1699493"/>
                  </a:lnTo>
                  <a:lnTo>
                    <a:pt x="2781970" y="1736371"/>
                  </a:lnTo>
                  <a:lnTo>
                    <a:pt x="2755060" y="1772542"/>
                  </a:lnTo>
                  <a:lnTo>
                    <a:pt x="2727604" y="1807993"/>
                  </a:lnTo>
                  <a:lnTo>
                    <a:pt x="2699611" y="1842714"/>
                  </a:lnTo>
                  <a:lnTo>
                    <a:pt x="2671090" y="1876692"/>
                  </a:lnTo>
                  <a:lnTo>
                    <a:pt x="2642051" y="1909916"/>
                  </a:lnTo>
                  <a:lnTo>
                    <a:pt x="2612501" y="1942374"/>
                  </a:lnTo>
                  <a:lnTo>
                    <a:pt x="2582450" y="1974053"/>
                  </a:lnTo>
                  <a:lnTo>
                    <a:pt x="2551906" y="2004944"/>
                  </a:lnTo>
                  <a:lnTo>
                    <a:pt x="2520880" y="2035033"/>
                  </a:lnTo>
                  <a:lnTo>
                    <a:pt x="2489379" y="2064308"/>
                  </a:lnTo>
                  <a:lnTo>
                    <a:pt x="2457412" y="2092759"/>
                  </a:lnTo>
                  <a:lnTo>
                    <a:pt x="2424989" y="2120374"/>
                  </a:lnTo>
                  <a:lnTo>
                    <a:pt x="2392118" y="2147139"/>
                  </a:lnTo>
                  <a:lnTo>
                    <a:pt x="2358809" y="2173045"/>
                  </a:lnTo>
                  <a:lnTo>
                    <a:pt x="2325070" y="2198079"/>
                  </a:lnTo>
                  <a:lnTo>
                    <a:pt x="2290909" y="2222229"/>
                  </a:lnTo>
                  <a:lnTo>
                    <a:pt x="2256337" y="2245484"/>
                  </a:lnTo>
                  <a:lnTo>
                    <a:pt x="2221362" y="2267832"/>
                  </a:lnTo>
                  <a:lnTo>
                    <a:pt x="2185993" y="2289260"/>
                  </a:lnTo>
                  <a:lnTo>
                    <a:pt x="2150238" y="2309758"/>
                  </a:lnTo>
                  <a:lnTo>
                    <a:pt x="2114108" y="2329314"/>
                  </a:lnTo>
                  <a:lnTo>
                    <a:pt x="2077610" y="2347915"/>
                  </a:lnTo>
                  <a:lnTo>
                    <a:pt x="2040753" y="2365550"/>
                  </a:lnTo>
                  <a:lnTo>
                    <a:pt x="2003547" y="2382208"/>
                  </a:lnTo>
                  <a:lnTo>
                    <a:pt x="1966001" y="2397876"/>
                  </a:lnTo>
                  <a:lnTo>
                    <a:pt x="1928123" y="2412543"/>
                  </a:lnTo>
                  <a:lnTo>
                    <a:pt x="1889922" y="2426197"/>
                  </a:lnTo>
                  <a:lnTo>
                    <a:pt x="1851408" y="2438826"/>
                  </a:lnTo>
                  <a:lnTo>
                    <a:pt x="1812588" y="2450419"/>
                  </a:lnTo>
                  <a:lnTo>
                    <a:pt x="1773473" y="2460963"/>
                  </a:lnTo>
                  <a:lnTo>
                    <a:pt x="1734070" y="2470447"/>
                  </a:lnTo>
                  <a:lnTo>
                    <a:pt x="1694390" y="2478860"/>
                  </a:lnTo>
                  <a:lnTo>
                    <a:pt x="1654440" y="2486189"/>
                  </a:lnTo>
                  <a:lnTo>
                    <a:pt x="1614231" y="2492423"/>
                  </a:lnTo>
                  <a:lnTo>
                    <a:pt x="1573769" y="2497550"/>
                  </a:lnTo>
                  <a:lnTo>
                    <a:pt x="1533066" y="2501558"/>
                  </a:lnTo>
                  <a:lnTo>
                    <a:pt x="1492129" y="2504435"/>
                  </a:lnTo>
                  <a:lnTo>
                    <a:pt x="1450967" y="2506170"/>
                  </a:lnTo>
                  <a:lnTo>
                    <a:pt x="1409590" y="2506751"/>
                  </a:lnTo>
                  <a:lnTo>
                    <a:pt x="1363630" y="2506021"/>
                  </a:lnTo>
                  <a:lnTo>
                    <a:pt x="1317810" y="2503837"/>
                  </a:lnTo>
                  <a:lnTo>
                    <a:pt x="1272148" y="2500210"/>
                  </a:lnTo>
                  <a:lnTo>
                    <a:pt x="1226661" y="2495150"/>
                  </a:lnTo>
                  <a:lnTo>
                    <a:pt x="1181367" y="2488667"/>
                  </a:lnTo>
                  <a:lnTo>
                    <a:pt x="1136284" y="2480772"/>
                  </a:lnTo>
                  <a:lnTo>
                    <a:pt x="1091429" y="2471475"/>
                  </a:lnTo>
                  <a:lnTo>
                    <a:pt x="1046821" y="2460787"/>
                  </a:lnTo>
                  <a:lnTo>
                    <a:pt x="1002476" y="2448717"/>
                  </a:lnTo>
                  <a:lnTo>
                    <a:pt x="958413" y="2435276"/>
                  </a:lnTo>
                  <a:lnTo>
                    <a:pt x="914649" y="2420474"/>
                  </a:lnTo>
                  <a:lnTo>
                    <a:pt x="871201" y="2404322"/>
                  </a:lnTo>
                  <a:lnTo>
                    <a:pt x="828088" y="2386829"/>
                  </a:lnTo>
                  <a:lnTo>
                    <a:pt x="785328" y="2368007"/>
                  </a:lnTo>
                  <a:lnTo>
                    <a:pt x="742937" y="2347866"/>
                  </a:lnTo>
                  <a:lnTo>
                    <a:pt x="700933" y="2326415"/>
                  </a:lnTo>
                  <a:lnTo>
                    <a:pt x="659335" y="2303666"/>
                  </a:lnTo>
                  <a:lnTo>
                    <a:pt x="618160" y="2279628"/>
                  </a:lnTo>
                  <a:lnTo>
                    <a:pt x="577425" y="2254311"/>
                  </a:lnTo>
                  <a:lnTo>
                    <a:pt x="537148" y="2227727"/>
                  </a:lnTo>
                  <a:lnTo>
                    <a:pt x="497348" y="2199886"/>
                  </a:lnTo>
                  <a:lnTo>
                    <a:pt x="458040" y="2170797"/>
                  </a:lnTo>
                  <a:lnTo>
                    <a:pt x="419244" y="2140471"/>
                  </a:lnTo>
                  <a:lnTo>
                    <a:pt x="380977" y="2108919"/>
                  </a:lnTo>
                  <a:lnTo>
                    <a:pt x="343257" y="2076150"/>
                  </a:lnTo>
                  <a:lnTo>
                    <a:pt x="306100" y="2042175"/>
                  </a:lnTo>
                  <a:lnTo>
                    <a:pt x="269526" y="2007005"/>
                  </a:lnTo>
                  <a:lnTo>
                    <a:pt x="233551" y="1970649"/>
                  </a:lnTo>
                  <a:lnTo>
                    <a:pt x="198193" y="1933118"/>
                  </a:lnTo>
                  <a:lnTo>
                    <a:pt x="163471" y="1894423"/>
                  </a:lnTo>
                  <a:lnTo>
                    <a:pt x="129400" y="1854573"/>
                  </a:lnTo>
                  <a:lnTo>
                    <a:pt x="96001" y="1813579"/>
                  </a:lnTo>
                  <a:lnTo>
                    <a:pt x="63289" y="1771452"/>
                  </a:lnTo>
                  <a:lnTo>
                    <a:pt x="31282" y="1728201"/>
                  </a:lnTo>
                  <a:lnTo>
                    <a:pt x="0" y="1683836"/>
                  </a:lnTo>
                  <a:lnTo>
                    <a:pt x="29697" y="1726019"/>
                  </a:lnTo>
                  <a:lnTo>
                    <a:pt x="59956" y="1767105"/>
                  </a:lnTo>
                  <a:lnTo>
                    <a:pt x="90761" y="1807092"/>
                  </a:lnTo>
                  <a:lnTo>
                    <a:pt x="122097" y="1845979"/>
                  </a:lnTo>
                  <a:lnTo>
                    <a:pt x="153950" y="1883765"/>
                  </a:lnTo>
                  <a:lnTo>
                    <a:pt x="186304" y="1920448"/>
                  </a:lnTo>
                  <a:lnTo>
                    <a:pt x="219145" y="1956029"/>
                  </a:lnTo>
                  <a:lnTo>
                    <a:pt x="252458" y="1990505"/>
                  </a:lnTo>
                  <a:lnTo>
                    <a:pt x="286228" y="2023877"/>
                  </a:lnTo>
                  <a:lnTo>
                    <a:pt x="320440" y="2056143"/>
                  </a:lnTo>
                  <a:lnTo>
                    <a:pt x="355080" y="2087302"/>
                  </a:lnTo>
                  <a:lnTo>
                    <a:pt x="390132" y="2117353"/>
                  </a:lnTo>
                  <a:lnTo>
                    <a:pt x="425583" y="2146295"/>
                  </a:lnTo>
                  <a:lnTo>
                    <a:pt x="461416" y="2174128"/>
                  </a:lnTo>
                  <a:lnTo>
                    <a:pt x="497617" y="2200850"/>
                  </a:lnTo>
                  <a:lnTo>
                    <a:pt x="534172" y="2226460"/>
                  </a:lnTo>
                  <a:lnTo>
                    <a:pt x="571066" y="2250958"/>
                  </a:lnTo>
                  <a:lnTo>
                    <a:pt x="608283" y="2274342"/>
                  </a:lnTo>
                  <a:lnTo>
                    <a:pt x="645808" y="2296612"/>
                  </a:lnTo>
                  <a:lnTo>
                    <a:pt x="683628" y="2317766"/>
                  </a:lnTo>
                  <a:lnTo>
                    <a:pt x="721728" y="2337804"/>
                  </a:lnTo>
                  <a:lnTo>
                    <a:pt x="760091" y="2356725"/>
                  </a:lnTo>
                  <a:lnTo>
                    <a:pt x="798704" y="2374527"/>
                  </a:lnTo>
                  <a:lnTo>
                    <a:pt x="837552" y="2391210"/>
                  </a:lnTo>
                  <a:lnTo>
                    <a:pt x="876620" y="2406773"/>
                  </a:lnTo>
                  <a:lnTo>
                    <a:pt x="915893" y="2421215"/>
                  </a:lnTo>
                  <a:lnTo>
                    <a:pt x="955356" y="2434534"/>
                  </a:lnTo>
                  <a:lnTo>
                    <a:pt x="994994" y="2446730"/>
                  </a:lnTo>
                  <a:lnTo>
                    <a:pt x="1034793" y="2457803"/>
                  </a:lnTo>
                  <a:lnTo>
                    <a:pt x="1074738" y="2467750"/>
                  </a:lnTo>
                  <a:lnTo>
                    <a:pt x="1114814" y="2476571"/>
                  </a:lnTo>
                  <a:lnTo>
                    <a:pt x="1155006" y="2484266"/>
                  </a:lnTo>
                  <a:lnTo>
                    <a:pt x="1195300" y="2490832"/>
                  </a:lnTo>
                  <a:lnTo>
                    <a:pt x="1235680" y="2496270"/>
                  </a:lnTo>
                  <a:lnTo>
                    <a:pt x="1276131" y="2500578"/>
                  </a:lnTo>
                  <a:lnTo>
                    <a:pt x="1316640" y="2503755"/>
                  </a:lnTo>
                  <a:lnTo>
                    <a:pt x="1357190" y="2505801"/>
                  </a:lnTo>
                  <a:lnTo>
                    <a:pt x="1397768" y="2506714"/>
                  </a:lnTo>
                  <a:lnTo>
                    <a:pt x="1438357" y="2506493"/>
                  </a:lnTo>
                  <a:lnTo>
                    <a:pt x="1478945" y="2505138"/>
                  </a:lnTo>
                  <a:lnTo>
                    <a:pt x="1519515" y="2502647"/>
                  </a:lnTo>
                  <a:lnTo>
                    <a:pt x="1560053" y="2499020"/>
                  </a:lnTo>
                  <a:lnTo>
                    <a:pt x="1600544" y="2494256"/>
                  </a:lnTo>
                  <a:lnTo>
                    <a:pt x="1640974" y="2488353"/>
                  </a:lnTo>
                  <a:lnTo>
                    <a:pt x="1681326" y="2481310"/>
                  </a:lnTo>
                  <a:lnTo>
                    <a:pt x="1721588" y="2473128"/>
                  </a:lnTo>
                  <a:lnTo>
                    <a:pt x="1761743" y="2463804"/>
                  </a:lnTo>
                  <a:lnTo>
                    <a:pt x="1801777" y="2453338"/>
                  </a:lnTo>
                  <a:lnTo>
                    <a:pt x="1841675" y="2441729"/>
                  </a:lnTo>
                  <a:lnTo>
                    <a:pt x="1881422" y="2428976"/>
                  </a:lnTo>
                  <a:lnTo>
                    <a:pt x="1921004" y="2415077"/>
                  </a:lnTo>
                  <a:lnTo>
                    <a:pt x="1960406" y="2400033"/>
                  </a:lnTo>
                  <a:lnTo>
                    <a:pt x="1999612" y="2383842"/>
                  </a:lnTo>
                  <a:lnTo>
                    <a:pt x="2038608" y="2366502"/>
                  </a:lnTo>
                  <a:lnTo>
                    <a:pt x="2077380" y="2348014"/>
                  </a:lnTo>
                  <a:lnTo>
                    <a:pt x="2115911" y="2328376"/>
                  </a:lnTo>
                  <a:lnTo>
                    <a:pt x="2154189" y="2307587"/>
                  </a:lnTo>
                  <a:lnTo>
                    <a:pt x="2192197" y="2285647"/>
                  </a:lnTo>
                  <a:lnTo>
                    <a:pt x="2229920" y="2262554"/>
                  </a:lnTo>
                  <a:lnTo>
                    <a:pt x="2267345" y="2238307"/>
                  </a:lnTo>
                  <a:lnTo>
                    <a:pt x="2304456" y="2212905"/>
                  </a:lnTo>
                  <a:lnTo>
                    <a:pt x="2341238" y="2186348"/>
                  </a:lnTo>
                  <a:lnTo>
                    <a:pt x="2377677" y="2158635"/>
                  </a:lnTo>
                  <a:lnTo>
                    <a:pt x="2413758" y="2129764"/>
                  </a:lnTo>
                  <a:lnTo>
                    <a:pt x="2449466" y="2099734"/>
                  </a:lnTo>
                  <a:lnTo>
                    <a:pt x="2484785" y="2068545"/>
                  </a:lnTo>
                  <a:lnTo>
                    <a:pt x="2519702" y="2036196"/>
                  </a:lnTo>
                  <a:lnTo>
                    <a:pt x="2554201" y="2002686"/>
                  </a:lnTo>
                  <a:lnTo>
                    <a:pt x="2588268" y="1968013"/>
                  </a:lnTo>
                  <a:lnTo>
                    <a:pt x="2621888" y="1932177"/>
                  </a:lnTo>
                  <a:lnTo>
                    <a:pt x="2655045" y="1895177"/>
                  </a:lnTo>
                  <a:lnTo>
                    <a:pt x="2687726" y="1857012"/>
                  </a:lnTo>
                  <a:lnTo>
                    <a:pt x="2717238" y="1821003"/>
                  </a:lnTo>
                  <a:lnTo>
                    <a:pt x="2746104" y="1784263"/>
                  </a:lnTo>
                  <a:lnTo>
                    <a:pt x="2774318" y="1746807"/>
                  </a:lnTo>
                  <a:lnTo>
                    <a:pt x="2801876" y="1708651"/>
                  </a:lnTo>
                  <a:lnTo>
                    <a:pt x="2828772" y="1669809"/>
                  </a:lnTo>
                  <a:lnTo>
                    <a:pt x="2855000" y="1630298"/>
                  </a:lnTo>
                  <a:lnTo>
                    <a:pt x="2880556" y="1590133"/>
                  </a:lnTo>
                  <a:lnTo>
                    <a:pt x="2905435" y="1549330"/>
                  </a:lnTo>
                  <a:lnTo>
                    <a:pt x="2929631" y="1507904"/>
                  </a:lnTo>
                  <a:lnTo>
                    <a:pt x="2953139" y="1465872"/>
                  </a:lnTo>
                  <a:lnTo>
                    <a:pt x="2975953" y="1423247"/>
                  </a:lnTo>
                  <a:lnTo>
                    <a:pt x="2998069" y="1380048"/>
                  </a:lnTo>
                  <a:lnTo>
                    <a:pt x="3019480" y="1336288"/>
                  </a:lnTo>
                  <a:lnTo>
                    <a:pt x="3040183" y="1291983"/>
                  </a:lnTo>
                  <a:lnTo>
                    <a:pt x="3060172" y="1247149"/>
                  </a:lnTo>
                  <a:lnTo>
                    <a:pt x="3079440" y="1201802"/>
                  </a:lnTo>
                  <a:lnTo>
                    <a:pt x="3097984" y="1155957"/>
                  </a:lnTo>
                  <a:lnTo>
                    <a:pt x="3115798" y="1109630"/>
                  </a:lnTo>
                  <a:lnTo>
                    <a:pt x="3132877" y="1062836"/>
                  </a:lnTo>
                  <a:lnTo>
                    <a:pt x="3149215" y="1015591"/>
                  </a:lnTo>
                  <a:lnTo>
                    <a:pt x="3164807" y="967911"/>
                  </a:lnTo>
                  <a:lnTo>
                    <a:pt x="3179648" y="919811"/>
                  </a:lnTo>
                  <a:lnTo>
                    <a:pt x="3193732" y="871307"/>
                  </a:lnTo>
                  <a:lnTo>
                    <a:pt x="3207055" y="822414"/>
                  </a:lnTo>
                  <a:lnTo>
                    <a:pt x="3219612" y="773148"/>
                  </a:lnTo>
                  <a:lnTo>
                    <a:pt x="3231396" y="723525"/>
                  </a:lnTo>
                  <a:lnTo>
                    <a:pt x="3242403" y="673559"/>
                  </a:lnTo>
                  <a:lnTo>
                    <a:pt x="3252627" y="623268"/>
                  </a:lnTo>
                  <a:lnTo>
                    <a:pt x="3262064" y="572666"/>
                  </a:lnTo>
                  <a:lnTo>
                    <a:pt x="3270707" y="521768"/>
                  </a:lnTo>
                  <a:lnTo>
                    <a:pt x="3278553" y="470592"/>
                  </a:lnTo>
                  <a:lnTo>
                    <a:pt x="3285594" y="419151"/>
                  </a:lnTo>
                  <a:lnTo>
                    <a:pt x="3291827" y="367462"/>
                  </a:lnTo>
                  <a:lnTo>
                    <a:pt x="3297246" y="315541"/>
                  </a:lnTo>
                  <a:lnTo>
                    <a:pt x="3301846" y="263402"/>
                  </a:lnTo>
                  <a:lnTo>
                    <a:pt x="3305621" y="211062"/>
                  </a:lnTo>
                  <a:lnTo>
                    <a:pt x="3308566" y="158536"/>
                  </a:lnTo>
                  <a:lnTo>
                    <a:pt x="3310676" y="105840"/>
                  </a:lnTo>
                  <a:lnTo>
                    <a:pt x="3311946" y="52989"/>
                  </a:lnTo>
                  <a:lnTo>
                    <a:pt x="3312371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445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</a:t>
            </a:r>
            <a:r>
              <a:rPr sz="3200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00000"/>
                </a:solidFill>
                <a:latin typeface="Arial"/>
                <a:cs typeface="Arial"/>
              </a:rPr>
              <a:t>algorithm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1855" y="2974848"/>
            <a:ext cx="4395470" cy="106680"/>
            <a:chOff x="4181855" y="2974848"/>
            <a:chExt cx="4395470" cy="106680"/>
          </a:xfrm>
        </p:grpSpPr>
        <p:sp>
          <p:nvSpPr>
            <p:cNvPr id="3" name="object 3"/>
            <p:cNvSpPr/>
            <p:nvPr/>
          </p:nvSpPr>
          <p:spPr>
            <a:xfrm>
              <a:off x="4181855" y="2974848"/>
              <a:ext cx="4395215" cy="1066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4224858" y="3007779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2" y="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45635" y="3042411"/>
            <a:ext cx="42621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solidFill>
                  <a:srgbClr val="404040"/>
                </a:solidFill>
                <a:latin typeface="Arial"/>
                <a:cs typeface="Arial"/>
              </a:rPr>
              <a:t>Gradient </a:t>
            </a:r>
            <a:r>
              <a:rPr sz="3600" spc="-300" dirty="0">
                <a:solidFill>
                  <a:srgbClr val="404040"/>
                </a:solidFill>
                <a:latin typeface="Arial"/>
                <a:cs typeface="Arial"/>
              </a:rPr>
              <a:t>descent </a:t>
            </a:r>
            <a:r>
              <a:rPr sz="3600" dirty="0">
                <a:solidFill>
                  <a:srgbClr val="404040"/>
                </a:solidFill>
                <a:latin typeface="Arial"/>
                <a:cs typeface="Arial"/>
              </a:rPr>
              <a:t>for  </a:t>
            </a:r>
            <a:r>
              <a:rPr sz="3600" spc="-130" dirty="0">
                <a:solidFill>
                  <a:srgbClr val="404040"/>
                </a:solidFill>
                <a:latin typeface="Arial"/>
                <a:cs typeface="Arial"/>
              </a:rPr>
              <a:t>linear</a:t>
            </a:r>
            <a:r>
              <a:rPr sz="36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600" spc="-250" dirty="0">
                <a:solidFill>
                  <a:srgbClr val="404040"/>
                </a:solidFill>
                <a:latin typeface="Arial"/>
                <a:cs typeface="Arial"/>
              </a:rPr>
              <a:t>regression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3618" y="1899458"/>
            <a:ext cx="2851265" cy="335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916939" y="5303011"/>
            <a:ext cx="22396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Machine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5034" y="1516380"/>
            <a:ext cx="7313930" cy="124008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7404" marR="5080">
              <a:lnSpc>
                <a:spcPct val="100499"/>
              </a:lnSpc>
              <a:spcBef>
                <a:spcPts val="70"/>
              </a:spcBef>
            </a:pPr>
            <a:r>
              <a:rPr sz="4000" dirty="0"/>
              <a:t>Linear </a:t>
            </a:r>
            <a:r>
              <a:rPr sz="4000" spc="-15" dirty="0"/>
              <a:t>regression  </a:t>
            </a:r>
            <a:r>
              <a:rPr sz="4000" dirty="0"/>
              <a:t>with one</a:t>
            </a:r>
            <a:r>
              <a:rPr sz="4000" spc="-95" dirty="0"/>
              <a:t> </a:t>
            </a:r>
            <a:r>
              <a:rPr sz="4000" spc="-10" dirty="0"/>
              <a:t>variable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362200"/>
            <a:ext cx="3513582" cy="1915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7373" y="2436876"/>
            <a:ext cx="2201418" cy="306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544828"/>
            <a:ext cx="7325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55465" algn="l"/>
              </a:tabLst>
            </a:pPr>
            <a:r>
              <a:rPr sz="2400" spc="-65" dirty="0">
                <a:latin typeface="Arial"/>
                <a:cs typeface="Arial"/>
              </a:rPr>
              <a:t>Gradient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descent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algorithm	</a:t>
            </a:r>
            <a:r>
              <a:rPr sz="3600" spc="-217" baseline="1157" dirty="0">
                <a:latin typeface="Arial"/>
                <a:cs typeface="Arial"/>
              </a:rPr>
              <a:t>Linear </a:t>
            </a:r>
            <a:r>
              <a:rPr sz="3600" spc="-322" baseline="1157" dirty="0">
                <a:latin typeface="Arial"/>
                <a:cs typeface="Arial"/>
              </a:rPr>
              <a:t>Regression</a:t>
            </a:r>
            <a:r>
              <a:rPr sz="3600" spc="127" baseline="1157" dirty="0">
                <a:latin typeface="Arial"/>
                <a:cs typeface="Arial"/>
              </a:rPr>
              <a:t> </a:t>
            </a:r>
            <a:r>
              <a:rPr sz="3600" spc="-135" baseline="1157" dirty="0">
                <a:latin typeface="Arial"/>
                <a:cs typeface="Arial"/>
              </a:rPr>
              <a:t>Model</a:t>
            </a:r>
            <a:endParaRPr sz="3600" baseline="115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68773" y="3200398"/>
            <a:ext cx="4252391" cy="597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5800" y="1424050"/>
            <a:ext cx="0" cy="3962400"/>
          </a:xfrm>
          <a:custGeom>
            <a:avLst/>
            <a:gdLst/>
            <a:ahLst/>
            <a:cxnLst/>
            <a:rect l="l" t="t" r="r" b="b"/>
            <a:pathLst>
              <a:path h="3962400">
                <a:moveTo>
                  <a:pt x="0" y="0"/>
                </a:moveTo>
                <a:lnTo>
                  <a:pt x="1" y="39624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latin typeface="Arial"/>
                <a:cs typeface="Arial"/>
              </a:rPr>
              <a:t>Gradient </a:t>
            </a:r>
            <a:r>
              <a:rPr sz="3200" spc="-245" dirty="0">
                <a:latin typeface="Arial"/>
                <a:cs typeface="Arial"/>
              </a:rPr>
              <a:t>descent </a:t>
            </a:r>
            <a:r>
              <a:rPr sz="3200" spc="-25" dirty="0">
                <a:latin typeface="Arial"/>
                <a:cs typeface="Arial"/>
              </a:rPr>
              <a:t>for </a:t>
            </a:r>
            <a:r>
              <a:rPr sz="3200" spc="-105" dirty="0">
                <a:latin typeface="Arial"/>
                <a:cs typeface="Arial"/>
              </a:rPr>
              <a:t>linear</a:t>
            </a:r>
            <a:r>
              <a:rPr sz="3200" spc="-335" dirty="0">
                <a:latin typeface="Arial"/>
                <a:cs typeface="Arial"/>
              </a:rPr>
              <a:t> </a:t>
            </a:r>
            <a:r>
              <a:rPr sz="3200" spc="-204" dirty="0"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664714"/>
            <a:ext cx="40646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arlito"/>
                <a:cs typeface="Carlito"/>
              </a:rPr>
              <a:t>Gradient </a:t>
            </a:r>
            <a:r>
              <a:rPr sz="2400" b="1" spc="-10" dirty="0">
                <a:latin typeface="Carlito"/>
                <a:cs typeface="Carlito"/>
              </a:rPr>
              <a:t>descent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algorithm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2564892"/>
            <a:ext cx="5454396" cy="2116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6676237" y="2913379"/>
            <a:ext cx="1891664" cy="93910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3709" marR="535305" algn="ctr">
              <a:lnSpc>
                <a:spcPct val="100800"/>
              </a:lnSpc>
              <a:spcBef>
                <a:spcPts val="75"/>
              </a:spcBef>
            </a:pPr>
            <a:r>
              <a:rPr sz="2000" dirty="0">
                <a:latin typeface="Carlito"/>
                <a:cs typeface="Carlito"/>
              </a:rPr>
              <a:t>upd</a:t>
            </a:r>
            <a:r>
              <a:rPr sz="2000" spc="-25" dirty="0">
                <a:latin typeface="Carlito"/>
                <a:cs typeface="Carlito"/>
              </a:rPr>
              <a:t>a</a:t>
            </a:r>
            <a:r>
              <a:rPr sz="2000" spc="-35" dirty="0">
                <a:latin typeface="Carlito"/>
                <a:cs typeface="Carlito"/>
              </a:rPr>
              <a:t>t</a:t>
            </a:r>
            <a:r>
              <a:rPr sz="2000" dirty="0">
                <a:latin typeface="Carlito"/>
                <a:cs typeface="Carlito"/>
              </a:rPr>
              <a:t>e  and</a:t>
            </a:r>
            <a:endParaRPr sz="20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000" spc="-5" dirty="0">
                <a:latin typeface="Carlito"/>
                <a:cs typeface="Carlito"/>
              </a:rPr>
              <a:t>s</a:t>
            </a:r>
            <a:r>
              <a:rPr sz="2000" dirty="0">
                <a:latin typeface="Carlito"/>
                <a:cs typeface="Carlito"/>
              </a:rPr>
              <a:t>i</a:t>
            </a:r>
            <a:r>
              <a:rPr sz="2000" spc="-10" dirty="0">
                <a:latin typeface="Carlito"/>
                <a:cs typeface="Carlito"/>
              </a:rPr>
              <a:t>m</a:t>
            </a:r>
            <a:r>
              <a:rPr sz="2000" dirty="0">
                <a:latin typeface="Carlito"/>
                <a:cs typeface="Carlito"/>
              </a:rPr>
              <a:t>ul</a:t>
            </a:r>
            <a:r>
              <a:rPr sz="2000" spc="-35" dirty="0">
                <a:latin typeface="Carlito"/>
                <a:cs typeface="Carlito"/>
              </a:rPr>
              <a:t>t</a:t>
            </a:r>
            <a:r>
              <a:rPr sz="2000" dirty="0">
                <a:latin typeface="Carlito"/>
                <a:cs typeface="Carlito"/>
              </a:rPr>
              <a:t>ane</a:t>
            </a:r>
            <a:r>
              <a:rPr sz="2000" spc="-5" dirty="0">
                <a:latin typeface="Carlito"/>
                <a:cs typeface="Carlito"/>
              </a:rPr>
              <a:t>o</a:t>
            </a:r>
            <a:r>
              <a:rPr sz="2000" dirty="0">
                <a:latin typeface="Carlito"/>
                <a:cs typeface="Carlito"/>
              </a:rPr>
              <a:t>u</a:t>
            </a:r>
            <a:r>
              <a:rPr sz="2000" spc="-5" dirty="0">
                <a:latin typeface="Carlito"/>
                <a:cs typeface="Carlito"/>
              </a:rPr>
              <a:t>s</a:t>
            </a:r>
            <a:r>
              <a:rPr sz="2000" dirty="0">
                <a:latin typeface="Carlito"/>
                <a:cs typeface="Carlito"/>
              </a:rPr>
              <a:t>ly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0869" y="3327943"/>
            <a:ext cx="284815" cy="311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" name="object 6"/>
          <p:cNvSpPr/>
          <p:nvPr/>
        </p:nvSpPr>
        <p:spPr>
          <a:xfrm>
            <a:off x="7977187" y="3329296"/>
            <a:ext cx="273965" cy="3092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/>
          <p:nvPr/>
        </p:nvSpPr>
        <p:spPr>
          <a:xfrm>
            <a:off x="6172200" y="2971800"/>
            <a:ext cx="152400" cy="1219200"/>
          </a:xfrm>
          <a:custGeom>
            <a:avLst/>
            <a:gdLst/>
            <a:ahLst/>
            <a:cxnLst/>
            <a:rect l="l" t="t" r="r" b="b"/>
            <a:pathLst>
              <a:path w="152400" h="1219200">
                <a:moveTo>
                  <a:pt x="0" y="0"/>
                </a:moveTo>
                <a:lnTo>
                  <a:pt x="29660" y="998"/>
                </a:lnTo>
                <a:lnTo>
                  <a:pt x="53881" y="3719"/>
                </a:lnTo>
                <a:lnTo>
                  <a:pt x="70211" y="7756"/>
                </a:lnTo>
                <a:lnTo>
                  <a:pt x="76200" y="12700"/>
                </a:lnTo>
                <a:lnTo>
                  <a:pt x="76200" y="596900"/>
                </a:lnTo>
                <a:lnTo>
                  <a:pt x="82188" y="601843"/>
                </a:lnTo>
                <a:lnTo>
                  <a:pt x="98518" y="605880"/>
                </a:lnTo>
                <a:lnTo>
                  <a:pt x="122739" y="608602"/>
                </a:lnTo>
                <a:lnTo>
                  <a:pt x="152400" y="609600"/>
                </a:lnTo>
                <a:lnTo>
                  <a:pt x="122739" y="610598"/>
                </a:lnTo>
                <a:lnTo>
                  <a:pt x="98518" y="613320"/>
                </a:lnTo>
                <a:lnTo>
                  <a:pt x="82188" y="617356"/>
                </a:lnTo>
                <a:lnTo>
                  <a:pt x="76200" y="622300"/>
                </a:lnTo>
                <a:lnTo>
                  <a:pt x="76200" y="1206500"/>
                </a:lnTo>
                <a:lnTo>
                  <a:pt x="70211" y="1211442"/>
                </a:lnTo>
                <a:lnTo>
                  <a:pt x="53881" y="1215479"/>
                </a:lnTo>
                <a:lnTo>
                  <a:pt x="29660" y="1218202"/>
                </a:lnTo>
                <a:lnTo>
                  <a:pt x="0" y="1219200"/>
                </a:lnTo>
              </a:path>
            </a:pathLst>
          </a:custGeom>
          <a:ln w="9525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28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28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28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28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28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28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28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28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62058" y="2134211"/>
            <a:ext cx="6323330" cy="3422015"/>
            <a:chOff x="1562058" y="2134211"/>
            <a:chExt cx="6323330" cy="3422015"/>
          </a:xfrm>
        </p:grpSpPr>
        <p:sp>
          <p:nvSpPr>
            <p:cNvPr id="4" name="object 4"/>
            <p:cNvSpPr/>
            <p:nvPr/>
          </p:nvSpPr>
          <p:spPr>
            <a:xfrm>
              <a:off x="1562058" y="2134211"/>
              <a:ext cx="6322847" cy="34218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3957637" y="3327793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95737" y="3545674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7"/>
            <p:cNvSpPr/>
            <p:nvPr/>
          </p:nvSpPr>
          <p:spPr>
            <a:xfrm>
              <a:off x="3976687" y="3767137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8"/>
            <p:cNvSpPr/>
            <p:nvPr/>
          </p:nvSpPr>
          <p:spPr>
            <a:xfrm>
              <a:off x="3748087" y="3995737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24287" y="4224337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29087" y="4281487"/>
              <a:ext cx="390525" cy="3524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5287" y="4681537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63975" y="4086225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0" y="0"/>
                  </a:moveTo>
                  <a:lnTo>
                    <a:pt x="7620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63974" y="38576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946525" y="4314825"/>
              <a:ext cx="304800" cy="57150"/>
            </a:xfrm>
            <a:custGeom>
              <a:avLst/>
              <a:gdLst/>
              <a:ahLst/>
              <a:cxnLst/>
              <a:rect l="l" t="t" r="r" b="b"/>
              <a:pathLst>
                <a:path w="304800" h="57150">
                  <a:moveTo>
                    <a:pt x="0" y="0"/>
                  </a:moveTo>
                  <a:lnTo>
                    <a:pt x="304800" y="571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0212" y="43719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152400" y="1714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316412" y="4543425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762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700" y="3418281"/>
              <a:ext cx="43180" cy="228600"/>
            </a:xfrm>
            <a:custGeom>
              <a:avLst/>
              <a:gdLst/>
              <a:ahLst/>
              <a:cxnLst/>
              <a:rect l="l" t="t" r="r" b="b"/>
              <a:pathLst>
                <a:path w="43179" h="228600">
                  <a:moveTo>
                    <a:pt x="0" y="0"/>
                  </a:moveTo>
                  <a:lnTo>
                    <a:pt x="42863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095749" y="3643312"/>
              <a:ext cx="24130" cy="210820"/>
            </a:xfrm>
            <a:custGeom>
              <a:avLst/>
              <a:gdLst/>
              <a:ahLst/>
              <a:cxnLst/>
              <a:rect l="l" t="t" r="r" b="b"/>
              <a:pathLst>
                <a:path w="24129" h="210820">
                  <a:moveTo>
                    <a:pt x="11906" y="-14287"/>
                  </a:moveTo>
                  <a:lnTo>
                    <a:pt x="11906" y="225028"/>
                  </a:lnTo>
                </a:path>
              </a:pathLst>
            </a:custGeom>
            <a:ln w="52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1076" y="3708907"/>
            <a:ext cx="736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rlito"/>
                <a:cs typeface="Carlito"/>
              </a:rPr>
              <a:t>J(</a:t>
            </a:r>
            <a:r>
              <a:rPr sz="1600" spc="-5" dirty="0">
                <a:latin typeface="Symbol"/>
                <a:cs typeface="Symbol"/>
              </a:rPr>
              <a:t></a:t>
            </a:r>
            <a:r>
              <a:rPr sz="1600" spc="-7" baseline="-13888" dirty="0">
                <a:latin typeface="Symbol"/>
                <a:cs typeface="Symbol"/>
              </a:rPr>
              <a:t></a:t>
            </a:r>
            <a:r>
              <a:rPr sz="1600" spc="-5" dirty="0">
                <a:latin typeface="Symbol"/>
                <a:cs typeface="Symbol"/>
              </a:rPr>
              <a:t></a:t>
            </a:r>
            <a:r>
              <a:rPr sz="1600" spc="-7" baseline="-13888" dirty="0">
                <a:latin typeface="Symbol"/>
                <a:cs typeface="Symbol"/>
              </a:rPr>
              <a:t></a:t>
            </a:r>
            <a:r>
              <a:rPr sz="1600" spc="-5" dirty="0">
                <a:latin typeface="Carlito"/>
                <a:cs typeface="Carlito"/>
              </a:rPr>
              <a:t>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22465" y="5060992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</a:t>
            </a:r>
            <a:endParaRPr sz="1600" baseline="-1388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1327" y="5344456"/>
            <a:ext cx="22097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Symbol"/>
                <a:cs typeface="Symbol"/>
              </a:rPr>
              <a:t></a:t>
            </a:r>
            <a:r>
              <a:rPr sz="1600" baseline="-13888" dirty="0">
                <a:latin typeface="Symbol"/>
                <a:cs typeface="Symbol"/>
              </a:rPr>
              <a:t></a:t>
            </a:r>
            <a:endParaRPr sz="1600" baseline="-13888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62058" y="2140165"/>
            <a:ext cx="6323330" cy="3422015"/>
            <a:chOff x="1562058" y="2140165"/>
            <a:chExt cx="6323330" cy="3422015"/>
          </a:xfrm>
        </p:grpSpPr>
        <p:sp>
          <p:nvSpPr>
            <p:cNvPr id="4" name="object 4"/>
            <p:cNvSpPr/>
            <p:nvPr/>
          </p:nvSpPr>
          <p:spPr>
            <a:xfrm>
              <a:off x="1562058" y="2140165"/>
              <a:ext cx="6322847" cy="34218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52900" y="3240874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10075" y="3473056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5825" y="3565918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43487" y="3773093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24487" y="3944543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05487" y="4058843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6487" y="4173143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48262" y="3863581"/>
              <a:ext cx="381000" cy="171450"/>
            </a:xfrm>
            <a:custGeom>
              <a:avLst/>
              <a:gdLst/>
              <a:ahLst/>
              <a:cxnLst/>
              <a:rect l="l" t="t" r="r" b="b"/>
              <a:pathLst>
                <a:path w="381000" h="171450">
                  <a:moveTo>
                    <a:pt x="0" y="0"/>
                  </a:moveTo>
                  <a:lnTo>
                    <a:pt x="381000" y="1714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40374" y="4035031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381000" y="1143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1374" y="4149331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381000" y="1143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1962" y="3334943"/>
              <a:ext cx="247650" cy="225425"/>
            </a:xfrm>
            <a:custGeom>
              <a:avLst/>
              <a:gdLst/>
              <a:ahLst/>
              <a:cxnLst/>
              <a:rect l="l" t="t" r="r" b="b"/>
              <a:pathLst>
                <a:path w="247650" h="225425">
                  <a:moveTo>
                    <a:pt x="0" y="0"/>
                  </a:moveTo>
                  <a:lnTo>
                    <a:pt x="247650" y="22502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19612" y="3563543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0" y="0"/>
                  </a:moveTo>
                  <a:lnTo>
                    <a:pt x="290512" y="10001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7637" y="3333749"/>
              <a:ext cx="238125" cy="180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14887" y="3667124"/>
              <a:ext cx="333375" cy="196850"/>
            </a:xfrm>
            <a:custGeom>
              <a:avLst/>
              <a:gdLst/>
              <a:ahLst/>
              <a:cxnLst/>
              <a:rect l="l" t="t" r="r" b="b"/>
              <a:pathLst>
                <a:path w="333375" h="196850">
                  <a:moveTo>
                    <a:pt x="0" y="0"/>
                  </a:moveTo>
                  <a:lnTo>
                    <a:pt x="333375" y="19645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22465" y="5060992"/>
            <a:ext cx="220979" cy="3257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baseline="-13888" dirty="0">
                <a:latin typeface="Symbol"/>
                <a:cs typeface="Symbol"/>
              </a:rPr>
              <a:t></a:t>
            </a:r>
            <a:endParaRPr sz="1800" baseline="-13888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1327" y="5344456"/>
            <a:ext cx="220979" cy="328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" dirty="0">
                <a:latin typeface="Symbol"/>
                <a:cs typeface="Symbol"/>
              </a:rPr>
              <a:t></a:t>
            </a:r>
            <a:r>
              <a:rPr sz="1800" baseline="-13888" dirty="0">
                <a:latin typeface="Symbol"/>
                <a:cs typeface="Symbol"/>
              </a:rPr>
              <a:t></a:t>
            </a:r>
            <a:endParaRPr sz="1800" baseline="-13888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5131" y="2126559"/>
            <a:ext cx="5445182" cy="4177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806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7" y="2780635"/>
            <a:ext cx="3869416" cy="306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9050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946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946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3622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9050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946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946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3622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6282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7" y="26282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7526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1422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1422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098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7526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1422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1422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098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044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7044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8288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184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184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860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8288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184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184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860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7422" y="4529340"/>
            <a:ext cx="131486" cy="2034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6282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6282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7526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1422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1422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098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7526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1422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1422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098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806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7806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9050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946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946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3622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9050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946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946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3622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044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7044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8288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184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184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860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8288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184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184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860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806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7806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9050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946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946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3622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9050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946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946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3622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70444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70444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828800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18435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1843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86000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828800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18435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18435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86000"/>
            <a:ext cx="515721" cy="2194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625" y="2691037"/>
            <a:ext cx="3990106" cy="306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76" y="2691037"/>
            <a:ext cx="3869416" cy="3064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3048" y="1815388"/>
            <a:ext cx="678942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06244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(for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fixed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0190" y="2206244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, </a:t>
            </a:r>
            <a:r>
              <a:rPr sz="1800" spc="-5" dirty="0">
                <a:latin typeface="Carlito"/>
                <a:cs typeface="Carlito"/>
              </a:rPr>
              <a:t>this is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5" dirty="0">
                <a:latin typeface="Carlito"/>
                <a:cs typeface="Carlito"/>
              </a:rPr>
              <a:t>function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x)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9567" y="2272588"/>
            <a:ext cx="519390" cy="222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0786" y="1815388"/>
            <a:ext cx="1076705" cy="306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7050" y="2206244"/>
            <a:ext cx="259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(function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5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parameters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39" y="2206244"/>
            <a:ext cx="95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80552" y="2272588"/>
            <a:ext cx="515721" cy="2194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2140" y="769621"/>
            <a:ext cx="61791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000000"/>
                </a:solidFill>
                <a:latin typeface="Arial"/>
                <a:cs typeface="Arial"/>
              </a:rPr>
              <a:t>Gradient </a:t>
            </a:r>
            <a:r>
              <a:rPr sz="3200" spc="-245" dirty="0">
                <a:solidFill>
                  <a:srgbClr val="000000"/>
                </a:solidFill>
                <a:latin typeface="Arial"/>
                <a:cs typeface="Arial"/>
              </a:rPr>
              <a:t>descent 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sz="3200" spc="-105" dirty="0">
                <a:solidFill>
                  <a:srgbClr val="000000"/>
                </a:solidFill>
                <a:latin typeface="Arial"/>
                <a:cs typeface="Arial"/>
              </a:rPr>
              <a:t>linear</a:t>
            </a:r>
            <a:r>
              <a:rPr sz="3200" spc="-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0000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752600"/>
            <a:ext cx="5181599" cy="452431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Warehouse Automation: </a:t>
            </a:r>
            <a:r>
              <a:rPr sz="1800" dirty="0"/>
              <a:t>Robots transport goods along marked paths in a warehouse.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Challenge: </a:t>
            </a:r>
            <a:r>
              <a:rPr sz="1800" dirty="0"/>
              <a:t>Robots need to adjust steering to stay on track if they deviate from the line.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Position Offset: </a:t>
            </a:r>
            <a:r>
              <a:rPr sz="1800" dirty="0"/>
              <a:t>Measures how far the robot is from the center of the line (input variable).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Linear Regression Solution: </a:t>
            </a:r>
            <a:r>
              <a:rPr sz="1800" dirty="0"/>
              <a:t>Models the relationship between Position Offset and required Steering Angle.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Gradient</a:t>
            </a:r>
            <a:r>
              <a:rPr sz="1800" dirty="0"/>
              <a:t> </a:t>
            </a:r>
            <a:r>
              <a:rPr sz="1800" b="1" dirty="0"/>
              <a:t>Descent</a:t>
            </a:r>
            <a:r>
              <a:rPr sz="1800" dirty="0"/>
              <a:t> </a:t>
            </a:r>
            <a:r>
              <a:rPr sz="1800" b="1" dirty="0"/>
              <a:t>Optimization:</a:t>
            </a:r>
          </a:p>
          <a:p>
            <a:pPr lvl="1">
              <a:defRPr sz="2000"/>
            </a:pPr>
            <a:r>
              <a:rPr dirty="0"/>
              <a:t>  - Begins with initial steering predictions.</a:t>
            </a:r>
          </a:p>
          <a:p>
            <a:pPr lvl="1">
              <a:defRPr sz="2000"/>
            </a:pPr>
            <a:r>
              <a:rPr dirty="0"/>
              <a:t>  - Iteratively adjusts parameters to minimize error in steering.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sz="1800" b="1" dirty="0"/>
              <a:t>Outcome: </a:t>
            </a:r>
            <a:r>
              <a:rPr sz="1800" dirty="0"/>
              <a:t>Robots learn the precise steering angle for each offset, enabling accurate, consistent line-following.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381001"/>
            <a:ext cx="7313930" cy="861774"/>
          </a:xfrm>
        </p:spPr>
        <p:txBody>
          <a:bodyPr/>
          <a:lstStyle/>
          <a:p>
            <a:r>
              <a:rPr lang="en-US" sz="2800" b="1" dirty="0"/>
              <a:t>Enhancing Accuracy of Line-Following Robots with Linear Regression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6551">
            <a:off x="6263418" y="2286320"/>
            <a:ext cx="1852863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3204">
            <a:off x="6668174" y="3862963"/>
            <a:ext cx="1743407" cy="17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20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1"/>
            <a:ext cx="7313930" cy="861774"/>
          </a:xfrm>
        </p:spPr>
        <p:txBody>
          <a:bodyPr/>
          <a:lstStyle/>
          <a:p>
            <a:r>
              <a:rPr lang="en-US" sz="2800" b="1" dirty="0"/>
              <a:t>Enhancing Accuracy of Line-Following Robots with Linear Regression</a:t>
            </a:r>
            <a:endParaRPr lang="en-US" sz="2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0307034"/>
              </p:ext>
            </p:extLst>
          </p:nvPr>
        </p:nvGraphicFramePr>
        <p:xfrm>
          <a:off x="228600" y="2514600"/>
          <a:ext cx="6248400" cy="3369275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Position Offset (x)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Steering Angle (y)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-1.5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-0.3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-5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-1.2</a:t>
                      </a:r>
                    </a:p>
                  </a:txBody>
                  <a:tcPr marL="7104" marR="7104" marT="71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-25</a:t>
                      </a:r>
                    </a:p>
                  </a:txBody>
                  <a:tcPr marL="7104" marR="7104" marT="71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6551">
            <a:off x="7057486" y="2603354"/>
            <a:ext cx="1464422" cy="12647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3204">
            <a:off x="7310726" y="4168961"/>
            <a:ext cx="1377913" cy="135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32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6" y="318516"/>
            <a:ext cx="68268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>
                <a:solidFill>
                  <a:srgbClr val="1F2022"/>
                </a:solidFill>
                <a:latin typeface="Arial"/>
                <a:cs typeface="Arial"/>
              </a:rPr>
              <a:t>For </a:t>
            </a:r>
            <a:r>
              <a:rPr spc="-220" dirty="0">
                <a:solidFill>
                  <a:srgbClr val="1F2022"/>
                </a:solidFill>
                <a:latin typeface="Arial"/>
                <a:cs typeface="Arial"/>
              </a:rPr>
              <a:t>any </a:t>
            </a:r>
            <a:r>
              <a:rPr spc="-165" dirty="0">
                <a:solidFill>
                  <a:srgbClr val="1F2022"/>
                </a:solidFill>
                <a:latin typeface="Arial"/>
                <a:cs typeface="Arial"/>
              </a:rPr>
              <a:t>query </a:t>
            </a:r>
            <a:r>
              <a:rPr spc="-315" dirty="0">
                <a:solidFill>
                  <a:srgbClr val="1F2022"/>
                </a:solidFill>
                <a:latin typeface="Arial"/>
                <a:cs typeface="Arial"/>
              </a:rPr>
              <a:t>Feel </a:t>
            </a:r>
            <a:r>
              <a:rPr spc="-330" dirty="0">
                <a:solidFill>
                  <a:srgbClr val="1F2022"/>
                </a:solidFill>
                <a:latin typeface="Arial"/>
                <a:cs typeface="Arial"/>
              </a:rPr>
              <a:t>Free </a:t>
            </a:r>
            <a:r>
              <a:rPr spc="-145" dirty="0">
                <a:solidFill>
                  <a:srgbClr val="1F2022"/>
                </a:solidFill>
                <a:latin typeface="Arial"/>
                <a:cs typeface="Arial"/>
              </a:rPr>
              <a:t>to</a:t>
            </a:r>
            <a:r>
              <a:rPr spc="175" dirty="0">
                <a:solidFill>
                  <a:srgbClr val="1F2022"/>
                </a:solidFill>
                <a:latin typeface="Arial"/>
                <a:cs typeface="Arial"/>
              </a:rPr>
              <a:t> </a:t>
            </a:r>
            <a:r>
              <a:rPr spc="-350" dirty="0">
                <a:solidFill>
                  <a:srgbClr val="1F2022"/>
                </a:solidFill>
                <a:latin typeface="Arial"/>
                <a:cs typeface="Arial"/>
              </a:rPr>
              <a:t>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313" y="1252220"/>
            <a:ext cx="186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1768932"/>
            <a:ext cx="5181600" cy="44621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1427</Words>
  <Application>Microsoft Office PowerPoint</Application>
  <PresentationFormat>On-screen Show (4:3)</PresentationFormat>
  <Paragraphs>331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Carlito</vt:lpstr>
      <vt:lpstr>DejaVu Sans</vt:lpstr>
      <vt:lpstr>Symbol</vt:lpstr>
      <vt:lpstr>Wingdings</vt:lpstr>
      <vt:lpstr>Office Theme</vt:lpstr>
      <vt:lpstr>PowerPoint Presentation</vt:lpstr>
      <vt:lpstr>Course Information</vt:lpstr>
      <vt:lpstr>Regression-I</vt:lpstr>
      <vt:lpstr>PowerPoint Presentation</vt:lpstr>
      <vt:lpstr>PowerPoint Presentation</vt:lpstr>
      <vt:lpstr>PowerPoint Presentation</vt:lpstr>
      <vt:lpstr>PowerPoint Presentation</vt:lpstr>
      <vt:lpstr>Regression</vt:lpstr>
      <vt:lpstr>Simple 1-D regression</vt:lpstr>
      <vt:lpstr>Linear regression  with one variable</vt:lpstr>
      <vt:lpstr>Model Representation</vt:lpstr>
      <vt:lpstr>Model Representation</vt:lpstr>
      <vt:lpstr>Model Representation</vt:lpstr>
      <vt:lpstr>Linear regression  with one variable</vt:lpstr>
      <vt:lpstr>Cost Function</vt:lpstr>
      <vt:lpstr>Cost Function</vt:lpstr>
      <vt:lpstr>Cost Function</vt:lpstr>
      <vt:lpstr>Cost Function</vt:lpstr>
      <vt:lpstr>Linear regression  with one variable</vt:lpstr>
      <vt:lpstr>Linear Regression</vt:lpstr>
      <vt:lpstr>Cost Function</vt:lpstr>
      <vt:lpstr>Cost Function</vt:lpstr>
      <vt:lpstr>Cost Function</vt:lpstr>
      <vt:lpstr>Cost Function</vt:lpstr>
      <vt:lpstr>Cost Function</vt:lpstr>
      <vt:lpstr>Cost Function</vt:lpstr>
      <vt:lpstr>Linear regression  with one variable</vt:lpstr>
      <vt:lpstr>Gradient descent algorithm</vt:lpstr>
      <vt:lpstr>Gradient descent</vt:lpstr>
      <vt:lpstr>Gradient descent algorithm</vt:lpstr>
      <vt:lpstr>Gradient descent algorithm</vt:lpstr>
      <vt:lpstr>Gradient descent algorithm</vt:lpstr>
      <vt:lpstr>Linear regression  with one variable</vt:lpstr>
      <vt:lpstr>Gradient descent algorithm</vt:lpstr>
      <vt:lpstr>Gradient descent algorithm</vt:lpstr>
      <vt:lpstr>Gradient descent algorithm</vt:lpstr>
      <vt:lpstr>Gradient descent algorithm</vt:lpstr>
      <vt:lpstr>Gradient descent algorithm</vt:lpstr>
      <vt:lpstr>Linear regression  with one variable</vt:lpstr>
      <vt:lpstr>PowerPoint Presentation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Gradient descent for linear regression</vt:lpstr>
      <vt:lpstr>Enhancing Accuracy of Line-Following Robots with Linear Regression</vt:lpstr>
      <vt:lpstr>Enhancing Accuracy of Line-Following Robots with Linear Regression</vt:lpstr>
      <vt:lpstr>For any query Feel Free to 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Machine Learning</dc:title>
  <dc:creator>Raja Habib</dc:creator>
  <cp:lastModifiedBy>Qurat-ul-Ain</cp:lastModifiedBy>
  <cp:revision>21</cp:revision>
  <dcterms:created xsi:type="dcterms:W3CDTF">2022-03-06T13:30:37Z</dcterms:created>
  <dcterms:modified xsi:type="dcterms:W3CDTF">2025-09-26T09:55:36Z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2022-03-06T00:00:00Z</vt:filetime>
  </property>
</Properties>
</file>