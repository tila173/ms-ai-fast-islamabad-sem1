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60" r:id="rId2"/>
    <p:sldMasterId id="2147483688" r:id="rId3"/>
  </p:sldMasterIdLst>
  <p:notesMasterIdLst>
    <p:notesMasterId r:id="rId40"/>
  </p:notesMasterIdLst>
  <p:handoutMasterIdLst>
    <p:handoutMasterId r:id="rId41"/>
  </p:handoutMasterIdLst>
  <p:sldIdLst>
    <p:sldId id="275" r:id="rId4"/>
    <p:sldId id="428" r:id="rId5"/>
    <p:sldId id="446" r:id="rId6"/>
    <p:sldId id="382" r:id="rId7"/>
    <p:sldId id="383" r:id="rId8"/>
    <p:sldId id="384" r:id="rId9"/>
    <p:sldId id="385" r:id="rId10"/>
    <p:sldId id="386" r:id="rId11"/>
    <p:sldId id="387" r:id="rId12"/>
    <p:sldId id="388" r:id="rId13"/>
    <p:sldId id="389" r:id="rId14"/>
    <p:sldId id="390" r:id="rId15"/>
    <p:sldId id="391" r:id="rId16"/>
    <p:sldId id="392" r:id="rId17"/>
    <p:sldId id="393" r:id="rId18"/>
    <p:sldId id="394" r:id="rId19"/>
    <p:sldId id="395" r:id="rId20"/>
    <p:sldId id="396" r:id="rId21"/>
    <p:sldId id="397" r:id="rId22"/>
    <p:sldId id="398" r:id="rId23"/>
    <p:sldId id="409" r:id="rId24"/>
    <p:sldId id="399" r:id="rId25"/>
    <p:sldId id="476" r:id="rId26"/>
    <p:sldId id="411" r:id="rId27"/>
    <p:sldId id="477" r:id="rId28"/>
    <p:sldId id="478" r:id="rId29"/>
    <p:sldId id="479" r:id="rId30"/>
    <p:sldId id="403" r:id="rId31"/>
    <p:sldId id="480" r:id="rId32"/>
    <p:sldId id="481" r:id="rId33"/>
    <p:sldId id="405" r:id="rId34"/>
    <p:sldId id="413" r:id="rId35"/>
    <p:sldId id="414" r:id="rId36"/>
    <p:sldId id="415" r:id="rId37"/>
    <p:sldId id="482" r:id="rId38"/>
    <p:sldId id="40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70719" autoAdjust="0"/>
  </p:normalViewPr>
  <p:slideViewPr>
    <p:cSldViewPr>
      <p:cViewPr varScale="1">
        <p:scale>
          <a:sx n="45" d="100"/>
          <a:sy n="45" d="100"/>
        </p:scale>
        <p:origin x="1075"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6D97F04-B7F0-46D7-ADDD-D83F3A551FDC}" type="datetimeFigureOut">
              <a:rPr lang="en-US" smtClean="0"/>
              <a:pPr/>
              <a:t>10/18/2025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C8A15A-E4B5-414C-837E-C6BB1B7F0900}" type="slidenum">
              <a:rPr lang="en-US" smtClean="0"/>
              <a:pPr/>
              <a:t>‹#›</a:t>
            </a:fld>
            <a:endParaRPr lang="en-US" dirty="0"/>
          </a:p>
        </p:txBody>
      </p:sp>
    </p:spTree>
    <p:extLst>
      <p:ext uri="{BB962C8B-B14F-4D97-AF65-F5344CB8AC3E}">
        <p14:creationId xmlns:p14="http://schemas.microsoft.com/office/powerpoint/2010/main" val="25368806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655BC4-54A9-44EE-A205-5278EB21D91F}" type="datetimeFigureOut">
              <a:rPr lang="en-US" smtClean="0"/>
              <a:pPr/>
              <a:t>10/18/2025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D87BF1-B511-42D4-934F-D4C71937D3ED}" type="slidenum">
              <a:rPr lang="en-US" smtClean="0"/>
              <a:pPr/>
              <a:t>‹#›</a:t>
            </a:fld>
            <a:endParaRPr lang="en-US" dirty="0"/>
          </a:p>
        </p:txBody>
      </p:sp>
    </p:spTree>
    <p:extLst>
      <p:ext uri="{BB962C8B-B14F-4D97-AF65-F5344CB8AC3E}">
        <p14:creationId xmlns:p14="http://schemas.microsoft.com/office/powerpoint/2010/main" val="257285378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734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4F1379C-75BE-4CA2-A219-B2BC12822B82}" type="slidenum">
              <a:rPr lang="en-US" smtClean="0"/>
              <a:pPr fontAlgn="base">
                <a:spcBef>
                  <a:spcPct val="0"/>
                </a:spcBef>
                <a:spcAft>
                  <a:spcPct val="0"/>
                </a:spcAft>
                <a:defRPr/>
              </a:pPr>
              <a:t>6</a:t>
            </a:fld>
            <a:endParaRPr lang="en-US"/>
          </a:p>
        </p:txBody>
      </p:sp>
    </p:spTree>
    <p:extLst>
      <p:ext uri="{BB962C8B-B14F-4D97-AF65-F5344CB8AC3E}">
        <p14:creationId xmlns:p14="http://schemas.microsoft.com/office/powerpoint/2010/main" val="2546872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83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C20E932-B38E-4F15-A45F-09617D823FAF}" type="slidenum">
              <a:rPr lang="en-US" smtClean="0"/>
              <a:pPr fontAlgn="base">
                <a:spcBef>
                  <a:spcPct val="0"/>
                </a:spcBef>
                <a:spcAft>
                  <a:spcPct val="0"/>
                </a:spcAft>
                <a:defRPr/>
              </a:pPr>
              <a:t>7</a:t>
            </a:fld>
            <a:endParaRPr lang="en-US"/>
          </a:p>
        </p:txBody>
      </p:sp>
    </p:spTree>
    <p:extLst>
      <p:ext uri="{BB962C8B-B14F-4D97-AF65-F5344CB8AC3E}">
        <p14:creationId xmlns:p14="http://schemas.microsoft.com/office/powerpoint/2010/main" val="3821734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Single Link (Minimum Distance)</a:t>
            </a:r>
          </a:p>
          <a:p>
            <a:r>
              <a:rPr lang="en-GB" b="1" dirty="0"/>
              <a:t>Definition:</a:t>
            </a:r>
            <a:r>
              <a:rPr lang="en-GB" dirty="0"/>
              <a:t> Distance between two clusters = </a:t>
            </a:r>
            <a:r>
              <a:rPr lang="en-GB" i="1" dirty="0"/>
              <a:t>minimum</a:t>
            </a:r>
            <a:r>
              <a:rPr lang="en-GB" dirty="0"/>
              <a:t> distance between any pair of points (one from each cluster).</a:t>
            </a:r>
          </a:p>
          <a:p>
            <a:r>
              <a:rPr lang="en-GB" b="1" dirty="0"/>
              <a:t>Effect:</a:t>
            </a:r>
            <a:r>
              <a:rPr lang="en-GB" dirty="0"/>
              <a:t> Tends to form </a:t>
            </a:r>
            <a:r>
              <a:rPr lang="en-GB" i="1" dirty="0"/>
              <a:t>long, chain-like</a:t>
            </a:r>
            <a:r>
              <a:rPr lang="en-GB" dirty="0"/>
              <a:t> clusters since even one close pair of points can cause merging.</a:t>
            </a:r>
          </a:p>
          <a:p>
            <a:r>
              <a:rPr lang="en-GB" b="1" dirty="0"/>
              <a:t>In the image:</a:t>
            </a:r>
            <a:endParaRPr lang="en-GB" dirty="0"/>
          </a:p>
          <a:p>
            <a:pPr lvl="1"/>
            <a:r>
              <a:rPr lang="en-GB" dirty="0"/>
              <a:t>Clusters {5,2}, {3,6}, and {4} merge progressively.</a:t>
            </a:r>
          </a:p>
          <a:p>
            <a:pPr lvl="1"/>
            <a:r>
              <a:rPr lang="en-GB" dirty="0"/>
              <a:t>Points 1 and 5 are merged last, showing it connects distant clusters through minimal links.</a:t>
            </a:r>
          </a:p>
          <a:p>
            <a:endParaRPr lang="en-US" dirty="0"/>
          </a:p>
        </p:txBody>
      </p:sp>
    </p:spTree>
    <p:extLst>
      <p:ext uri="{BB962C8B-B14F-4D97-AF65-F5344CB8AC3E}">
        <p14:creationId xmlns:p14="http://schemas.microsoft.com/office/powerpoint/2010/main" val="818322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Complete Link (Maximum Distance)</a:t>
            </a:r>
          </a:p>
          <a:p>
            <a:r>
              <a:rPr lang="en-GB" b="1" dirty="0"/>
              <a:t>Definition:</a:t>
            </a:r>
            <a:r>
              <a:rPr lang="en-GB" dirty="0"/>
              <a:t> Distance between two clusters = </a:t>
            </a:r>
            <a:r>
              <a:rPr lang="en-GB" i="1" dirty="0"/>
              <a:t>maximum</a:t>
            </a:r>
            <a:r>
              <a:rPr lang="en-GB" dirty="0"/>
              <a:t> distance between any pair of points (one from each cluster).</a:t>
            </a:r>
          </a:p>
          <a:p>
            <a:r>
              <a:rPr lang="en-GB" b="1" dirty="0"/>
              <a:t>Effect:</a:t>
            </a:r>
            <a:r>
              <a:rPr lang="en-GB" dirty="0"/>
              <a:t> Produces </a:t>
            </a:r>
            <a:r>
              <a:rPr lang="en-GB" i="1" dirty="0"/>
              <a:t>compact and spherical</a:t>
            </a:r>
            <a:r>
              <a:rPr lang="en-GB" dirty="0"/>
              <a:t> clusters since all points in a cluster must be close.</a:t>
            </a:r>
          </a:p>
          <a:p>
            <a:r>
              <a:rPr lang="en-GB" b="1" dirty="0"/>
              <a:t>In the image:</a:t>
            </a:r>
            <a:endParaRPr lang="en-GB" dirty="0"/>
          </a:p>
          <a:p>
            <a:pPr lvl="1"/>
            <a:r>
              <a:rPr lang="en-GB" dirty="0"/>
              <a:t>Clusters merge only when all inter-point distances are small.</a:t>
            </a:r>
          </a:p>
          <a:p>
            <a:pPr lvl="1"/>
            <a:r>
              <a:rPr lang="en-GB" dirty="0"/>
              <a:t>Merging occurs at higher thresholds (4, 5), producing tighter grouping before combining.</a:t>
            </a:r>
          </a:p>
          <a:p>
            <a:endParaRPr lang="en-US" dirty="0"/>
          </a:p>
        </p:txBody>
      </p:sp>
    </p:spTree>
    <p:extLst>
      <p:ext uri="{BB962C8B-B14F-4D97-AF65-F5344CB8AC3E}">
        <p14:creationId xmlns:p14="http://schemas.microsoft.com/office/powerpoint/2010/main" val="3118736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Average Link (Mean Distance)</a:t>
            </a:r>
          </a:p>
          <a:p>
            <a:r>
              <a:rPr lang="en-GB" b="1" dirty="0"/>
              <a:t>Definition:</a:t>
            </a:r>
            <a:r>
              <a:rPr lang="en-GB" dirty="0"/>
              <a:t> Distance between two clusters = </a:t>
            </a:r>
            <a:r>
              <a:rPr lang="en-GB" i="1" dirty="0"/>
              <a:t>average</a:t>
            </a:r>
            <a:r>
              <a:rPr lang="en-GB" dirty="0"/>
              <a:t> of all pairwise distances between points in both clusters.</a:t>
            </a:r>
          </a:p>
          <a:p>
            <a:r>
              <a:rPr lang="en-GB" b="1" dirty="0"/>
              <a:t>Effect:</a:t>
            </a:r>
            <a:r>
              <a:rPr lang="en-GB" dirty="0"/>
              <a:t> A </a:t>
            </a:r>
            <a:r>
              <a:rPr lang="en-GB" i="1" dirty="0"/>
              <a:t>balance</a:t>
            </a:r>
            <a:r>
              <a:rPr lang="en-GB" dirty="0"/>
              <a:t> between single and complete link; less sensitive to outliers.</a:t>
            </a:r>
          </a:p>
          <a:p>
            <a:r>
              <a:rPr lang="en-GB" b="1" dirty="0"/>
              <a:t>In the image:</a:t>
            </a:r>
            <a:endParaRPr lang="en-GB" dirty="0"/>
          </a:p>
          <a:p>
            <a:pPr lvl="1"/>
            <a:r>
              <a:rPr lang="en-GB" dirty="0"/>
              <a:t>Cluster merging occurs moderately — neither too early (like single link) nor too late (like complete link).</a:t>
            </a:r>
          </a:p>
          <a:p>
            <a:pPr lvl="1"/>
            <a:r>
              <a:rPr lang="en-GB" dirty="0"/>
              <a:t>Shows smoother transitions among cluster levels.</a:t>
            </a:r>
          </a:p>
          <a:p>
            <a:endParaRPr lang="en-US" dirty="0"/>
          </a:p>
        </p:txBody>
      </p:sp>
    </p:spTree>
    <p:extLst>
      <p:ext uri="{BB962C8B-B14F-4D97-AF65-F5344CB8AC3E}">
        <p14:creationId xmlns:p14="http://schemas.microsoft.com/office/powerpoint/2010/main" val="3977465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DBSCAN is a density-based clustering algorithm that works on the assumption that </a:t>
            </a:r>
            <a:r>
              <a:rPr lang="en-US" b="1" dirty="0"/>
              <a:t>clusters are dense regions in space separated by regions of lower density</a:t>
            </a:r>
            <a:r>
              <a:rPr lang="en-US" dirty="0"/>
              <a:t>. It groups 'densely grouped' data points into a single cluster.</a:t>
            </a:r>
            <a:endParaRPr lang="x-none"/>
          </a:p>
          <a:p>
            <a:endParaRPr lang="en-GB" dirty="0"/>
          </a:p>
        </p:txBody>
      </p:sp>
    </p:spTree>
    <p:extLst>
      <p:ext uri="{BB962C8B-B14F-4D97-AF65-F5344CB8AC3E}">
        <p14:creationId xmlns:p14="http://schemas.microsoft.com/office/powerpoint/2010/main" val="2457667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clustering is the partitioning algorithm. K-means recreates each data in the dataset to only one of the new clusters formed. A data or data point is assigned to the adjacent cluster using a measure of distance or similarity.</a:t>
            </a:r>
          </a:p>
          <a:p>
            <a:r>
              <a:rPr lang="en-US" dirty="0"/>
              <a:t>In k-means, an object is generated to the nearest center. It can define cannot-link constraints, and it modifies the center assignment process in k-means to the closest applicable center assignment.</a:t>
            </a:r>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22</a:t>
            </a:fld>
            <a:endParaRPr lang="en-US"/>
          </a:p>
        </p:txBody>
      </p:sp>
    </p:spTree>
    <p:extLst>
      <p:ext uri="{BB962C8B-B14F-4D97-AF65-F5344CB8AC3E}">
        <p14:creationId xmlns:p14="http://schemas.microsoft.com/office/powerpoint/2010/main" val="754244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Epsilon</a:t>
            </a:r>
            <a:r>
              <a:rPr lang="en-GB" baseline="0" dirty="0"/>
              <a:t> is </a:t>
            </a:r>
            <a:r>
              <a:rPr lang="en-GB" baseline="0"/>
              <a:t>simply radius.</a:t>
            </a:r>
            <a:endParaRPr lang="en-GB"/>
          </a:p>
        </p:txBody>
      </p:sp>
    </p:spTree>
    <p:extLst>
      <p:ext uri="{BB962C8B-B14F-4D97-AF65-F5344CB8AC3E}">
        <p14:creationId xmlns:p14="http://schemas.microsoft.com/office/powerpoint/2010/main" val="3674793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25</a:t>
            </a:fld>
            <a:endParaRPr lang="en-US"/>
          </a:p>
        </p:txBody>
      </p:sp>
    </p:spTree>
    <p:extLst>
      <p:ext uri="{BB962C8B-B14F-4D97-AF65-F5344CB8AC3E}">
        <p14:creationId xmlns:p14="http://schemas.microsoft.com/office/powerpoint/2010/main" val="3170295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26</a:t>
            </a:fld>
            <a:endParaRPr lang="en-US"/>
          </a:p>
        </p:txBody>
      </p:sp>
    </p:spTree>
    <p:extLst>
      <p:ext uri="{BB962C8B-B14F-4D97-AF65-F5344CB8AC3E}">
        <p14:creationId xmlns:p14="http://schemas.microsoft.com/office/powerpoint/2010/main" val="3442351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27</a:t>
            </a:fld>
            <a:endParaRPr lang="en-US"/>
          </a:p>
        </p:txBody>
      </p:sp>
    </p:spTree>
    <p:extLst>
      <p:ext uri="{BB962C8B-B14F-4D97-AF65-F5344CB8AC3E}">
        <p14:creationId xmlns:p14="http://schemas.microsoft.com/office/powerpoint/2010/main" val="2622736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28</a:t>
            </a:fld>
            <a:endParaRPr lang="en-US"/>
          </a:p>
        </p:txBody>
      </p:sp>
    </p:spTree>
    <p:extLst>
      <p:ext uri="{BB962C8B-B14F-4D97-AF65-F5344CB8AC3E}">
        <p14:creationId xmlns:p14="http://schemas.microsoft.com/office/powerpoint/2010/main" val="425668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30</a:t>
            </a:fld>
            <a:endParaRPr lang="en-US"/>
          </a:p>
        </p:txBody>
      </p:sp>
    </p:spTree>
    <p:extLst>
      <p:ext uri="{BB962C8B-B14F-4D97-AF65-F5344CB8AC3E}">
        <p14:creationId xmlns:p14="http://schemas.microsoft.com/office/powerpoint/2010/main" val="970952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pPr>
              <a:defRPr/>
            </a:pPr>
            <a:fld id="{4FCB2925-9DF1-4725-AE08-906F3C7A03A7}" type="slidenum">
              <a:rPr lang="en-US" smtClean="0"/>
              <a:pPr>
                <a:defRPr/>
              </a:pPr>
              <a:t>31</a:t>
            </a:fld>
            <a:endParaRPr lang="en-US"/>
          </a:p>
        </p:txBody>
      </p:sp>
    </p:spTree>
    <p:extLst>
      <p:ext uri="{BB962C8B-B14F-4D97-AF65-F5344CB8AC3E}">
        <p14:creationId xmlns:p14="http://schemas.microsoft.com/office/powerpoint/2010/main" val="2486735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CS229: Machine Learning</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CS229: Machine Learning</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686890-B78D-4F12-914E-2C09982F9975}"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CS229: Machine Learning</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CS229: Machine Learning</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2E1E52-8D30-4AFD-A16C-1D30B72FDE15}" type="slidenum">
              <a:rPr lang="en-US" smtClean="0"/>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r>
              <a:rPr lang="en-US"/>
              <a:t>CS229: Machine Learning</a:t>
            </a:r>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r>
              <a:rPr lang="en-US"/>
              <a:t>CS229: Machine Learning</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CS229: Machine Learning</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CS229: Machine Learning</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42AC90BD-678B-495C-AC87-66050D917D79}"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CS229: Machine Learning</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CS229: Machine Learning</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AC90BD-678B-495C-AC87-66050D917D79}" type="slidenum">
              <a:rPr lang="en-US" smtClean="0"/>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931360-7E41-4248-8AEF-AC858AB643B6}"/>
              </a:ext>
            </a:extLst>
          </p:cNvPr>
          <p:cNvSpPr/>
          <p:nvPr userDrawn="1"/>
        </p:nvSpPr>
        <p:spPr>
          <a:xfrm>
            <a:off x="0" y="0"/>
            <a:ext cx="9144000" cy="6858000"/>
          </a:xfrm>
          <a:prstGeom prst="rect">
            <a:avLst/>
          </a:prstGeom>
          <a:gradFill flip="none" rotWithShape="1">
            <a:gsLst>
              <a:gs pos="29000">
                <a:schemeClr val="accent1">
                  <a:lumMod val="5000"/>
                  <a:lumOff val="95000"/>
                  <a:alpha val="0"/>
                </a:schemeClr>
              </a:gs>
              <a:gs pos="66000">
                <a:schemeClr val="accent1">
                  <a:alpha val="58000"/>
                </a:schemeClr>
              </a:gs>
              <a:gs pos="80000">
                <a:schemeClr val="accent1">
                  <a:alpha val="61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765180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CS229: Machine Learning</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686890-B78D-4F12-914E-2C09982F997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CS229: Machine Learning</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2E1E52-8D30-4AFD-A16C-1D30B72FDE1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CS229: Machine Learning</a:t>
            </a:r>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2AC90BD-678B-495C-AC87-66050D917D79}"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672" r:id="rId12"/>
    <p:sldLayoutId id="2147483673" r:id="rId13"/>
    <p:sldLayoutId id="2147483674" r:id="rId14"/>
    <p:sldLayoutId id="2147483675" r:id="rId15"/>
    <p:sldLayoutId id="2147483700" r:id="rId16"/>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4.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9E7AF35-8116-4962-B1EC-6B1FF6F1DC08}"/>
              </a:ext>
            </a:extLst>
          </p:cNvPr>
          <p:cNvGrpSpPr/>
          <p:nvPr/>
        </p:nvGrpSpPr>
        <p:grpSpPr>
          <a:xfrm>
            <a:off x="941197" y="996984"/>
            <a:ext cx="7051431" cy="2601248"/>
            <a:chOff x="1093177" y="989695"/>
            <a:chExt cx="10005646" cy="3691046"/>
          </a:xfrm>
          <a:solidFill>
            <a:schemeClr val="accent1">
              <a:lumMod val="50000"/>
            </a:schemeClr>
          </a:solidFill>
        </p:grpSpPr>
        <p:sp>
          <p:nvSpPr>
            <p:cNvPr id="34" name="Freeform: Shape 33">
              <a:extLst>
                <a:ext uri="{FF2B5EF4-FFF2-40B4-BE49-F238E27FC236}">
                  <a16:creationId xmlns:a16="http://schemas.microsoft.com/office/drawing/2014/main" id="{74302FF1-D9B6-4C53-A2F6-0E3993A2689C}"/>
                </a:ext>
              </a:extLst>
            </p:cNvPr>
            <p:cNvSpPr/>
            <p:nvPr/>
          </p:nvSpPr>
          <p:spPr>
            <a:xfrm flipH="1" flipV="1">
              <a:off x="6623408" y="1349111"/>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sp>
          <p:nvSpPr>
            <p:cNvPr id="35" name="Freeform: Shape 34">
              <a:extLst>
                <a:ext uri="{FF2B5EF4-FFF2-40B4-BE49-F238E27FC236}">
                  <a16:creationId xmlns:a16="http://schemas.microsoft.com/office/drawing/2014/main" id="{C7903A63-4FFE-45B1-82B1-6934A2CAAEAC}"/>
                </a:ext>
              </a:extLst>
            </p:cNvPr>
            <p:cNvSpPr/>
            <p:nvPr/>
          </p:nvSpPr>
          <p:spPr>
            <a:xfrm>
              <a:off x="1667706" y="1575962"/>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dirty="0"/>
            </a:p>
          </p:txBody>
        </p:sp>
        <p:sp>
          <p:nvSpPr>
            <p:cNvPr id="36" name="Freeform: Shape 35">
              <a:extLst>
                <a:ext uri="{FF2B5EF4-FFF2-40B4-BE49-F238E27FC236}">
                  <a16:creationId xmlns:a16="http://schemas.microsoft.com/office/drawing/2014/main" id="{0A1C6270-AAE8-43D7-B33E-A9AC33F2D067}"/>
                </a:ext>
              </a:extLst>
            </p:cNvPr>
            <p:cNvSpPr/>
            <p:nvPr/>
          </p:nvSpPr>
          <p:spPr>
            <a:xfrm flipH="1" flipV="1">
              <a:off x="6724533" y="2670316"/>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grpSp>
          <p:nvGrpSpPr>
            <p:cNvPr id="37" name="Group 36">
              <a:extLst>
                <a:ext uri="{FF2B5EF4-FFF2-40B4-BE49-F238E27FC236}">
                  <a16:creationId xmlns:a16="http://schemas.microsoft.com/office/drawing/2014/main" id="{3473D73F-D2DE-4109-91E2-410C80B504F3}"/>
                </a:ext>
              </a:extLst>
            </p:cNvPr>
            <p:cNvGrpSpPr/>
            <p:nvPr/>
          </p:nvGrpSpPr>
          <p:grpSpPr>
            <a:xfrm>
              <a:off x="4692156" y="989695"/>
              <a:ext cx="2795565" cy="3631621"/>
              <a:chOff x="1257518" y="2316205"/>
              <a:chExt cx="1389446" cy="1804981"/>
            </a:xfrm>
            <a:grpFill/>
          </p:grpSpPr>
          <p:sp>
            <p:nvSpPr>
              <p:cNvPr id="40" name="Graphic 2">
                <a:extLst>
                  <a:ext uri="{FF2B5EF4-FFF2-40B4-BE49-F238E27FC236}">
                    <a16:creationId xmlns:a16="http://schemas.microsoft.com/office/drawing/2014/main" id="{53347B15-B39D-4B3A-92A7-16F069593A4D}"/>
                  </a:ext>
                </a:extLst>
              </p:cNvPr>
              <p:cNvSpPr/>
              <p:nvPr/>
            </p:nvSpPr>
            <p:spPr>
              <a:xfrm>
                <a:off x="1257518" y="2316205"/>
                <a:ext cx="1389446" cy="1804981"/>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 name="connsiteX0" fmla="*/ 173835 w 788240"/>
                  <a:gd name="connsiteY0" fmla="*/ 1023975 h 1023975"/>
                  <a:gd name="connsiteX1" fmla="*/ 639815 w 788240"/>
                  <a:gd name="connsiteY1" fmla="*/ 954560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8932"/>
                  <a:gd name="connsiteX1" fmla="*/ 654690 w 788240"/>
                  <a:gd name="connsiteY1" fmla="*/ 1028932 h 1028932"/>
                  <a:gd name="connsiteX2" fmla="*/ 603620 w 788240"/>
                  <a:gd name="connsiteY2" fmla="*/ 878360 h 1028932"/>
                  <a:gd name="connsiteX3" fmla="*/ 679820 w 788240"/>
                  <a:gd name="connsiteY3" fmla="*/ 618328 h 1028932"/>
                  <a:gd name="connsiteX4" fmla="*/ 778880 w 788240"/>
                  <a:gd name="connsiteY4" fmla="*/ 276380 h 1028932"/>
                  <a:gd name="connsiteX5" fmla="*/ 352160 w 788240"/>
                  <a:gd name="connsiteY5" fmla="*/ 7775 h 1028932"/>
                  <a:gd name="connsiteX6" fmla="*/ 116893 w 788240"/>
                  <a:gd name="connsiteY6" fmla="*/ 203990 h 1028932"/>
                  <a:gd name="connsiteX7" fmla="*/ 109273 w 788240"/>
                  <a:gd name="connsiteY7" fmla="*/ 263045 h 1028932"/>
                  <a:gd name="connsiteX8" fmla="*/ 52123 w 788240"/>
                  <a:gd name="connsiteY8" fmla="*/ 360200 h 1028932"/>
                  <a:gd name="connsiteX9" fmla="*/ 6403 w 788240"/>
                  <a:gd name="connsiteY9" fmla="*/ 420208 h 1028932"/>
                  <a:gd name="connsiteX10" fmla="*/ 16880 w 788240"/>
                  <a:gd name="connsiteY10" fmla="*/ 508790 h 1028932"/>
                  <a:gd name="connsiteX11" fmla="*/ 55933 w 788240"/>
                  <a:gd name="connsiteY11" fmla="*/ 544985 h 1028932"/>
                  <a:gd name="connsiteX12" fmla="*/ 11165 w 788240"/>
                  <a:gd name="connsiteY12" fmla="*/ 563083 h 1028932"/>
                  <a:gd name="connsiteX13" fmla="*/ 23548 w 788240"/>
                  <a:gd name="connsiteY13" fmla="*/ 602135 h 1028932"/>
                  <a:gd name="connsiteX14" fmla="*/ 22595 w 788240"/>
                  <a:gd name="connsiteY14" fmla="*/ 665953 h 1028932"/>
                  <a:gd name="connsiteX15" fmla="*/ 78793 w 788240"/>
                  <a:gd name="connsiteY15" fmla="*/ 737390 h 1028932"/>
                  <a:gd name="connsiteX16" fmla="*/ 217858 w 788240"/>
                  <a:gd name="connsiteY16" fmla="*/ 757393 h 1028932"/>
                  <a:gd name="connsiteX17" fmla="*/ 173835 w 788240"/>
                  <a:gd name="connsiteY17" fmla="*/ 1023975 h 1028932"/>
                  <a:gd name="connsiteX0" fmla="*/ 173835 w 788240"/>
                  <a:gd name="connsiteY0" fmla="*/ 1023975 h 1023975"/>
                  <a:gd name="connsiteX1" fmla="*/ 674523 w 788240"/>
                  <a:gd name="connsiteY1" fmla="*/ 1023974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4058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9016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21495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240" h="1023975">
                    <a:moveTo>
                      <a:pt x="173835" y="1023975"/>
                    </a:moveTo>
                    <a:lnTo>
                      <a:pt x="679481" y="1021495"/>
                    </a:lnTo>
                    <a:cubicBezTo>
                      <a:pt x="666146" y="995778"/>
                      <a:pt x="612193" y="896458"/>
                      <a:pt x="603620" y="878360"/>
                    </a:cubicBezTo>
                    <a:cubicBezTo>
                      <a:pt x="579808" y="822163"/>
                      <a:pt x="596953" y="699290"/>
                      <a:pt x="679820" y="618328"/>
                    </a:cubicBezTo>
                    <a:cubicBezTo>
                      <a:pt x="758878" y="541175"/>
                      <a:pt x="810313" y="391633"/>
                      <a:pt x="778880" y="276380"/>
                    </a:cubicBezTo>
                    <a:cubicBezTo>
                      <a:pt x="727445" y="85880"/>
                      <a:pt x="555995" y="-32230"/>
                      <a:pt x="352160" y="7775"/>
                    </a:cubicBezTo>
                    <a:cubicBezTo>
                      <a:pt x="352160" y="7775"/>
                      <a:pt x="175948" y="29683"/>
                      <a:pt x="116893" y="203990"/>
                    </a:cubicBezTo>
                    <a:cubicBezTo>
                      <a:pt x="116893" y="203990"/>
                      <a:pt x="107368" y="229708"/>
                      <a:pt x="109273" y="263045"/>
                    </a:cubicBezTo>
                    <a:cubicBezTo>
                      <a:pt x="114035" y="316385"/>
                      <a:pt x="75935" y="347818"/>
                      <a:pt x="52123" y="360200"/>
                    </a:cubicBezTo>
                    <a:cubicBezTo>
                      <a:pt x="27358" y="373535"/>
                      <a:pt x="-16457" y="395443"/>
                      <a:pt x="6403" y="420208"/>
                    </a:cubicBezTo>
                    <a:cubicBezTo>
                      <a:pt x="34025" y="450688"/>
                      <a:pt x="32120" y="489740"/>
                      <a:pt x="16880" y="508790"/>
                    </a:cubicBezTo>
                    <a:cubicBezTo>
                      <a:pt x="-2170" y="531650"/>
                      <a:pt x="53075" y="532603"/>
                      <a:pt x="55933" y="544985"/>
                    </a:cubicBezTo>
                    <a:cubicBezTo>
                      <a:pt x="58790" y="558320"/>
                      <a:pt x="14975" y="547843"/>
                      <a:pt x="11165" y="563083"/>
                    </a:cubicBezTo>
                    <a:cubicBezTo>
                      <a:pt x="7355" y="579275"/>
                      <a:pt x="19738" y="583085"/>
                      <a:pt x="23548" y="602135"/>
                    </a:cubicBezTo>
                    <a:cubicBezTo>
                      <a:pt x="27358" y="621185"/>
                      <a:pt x="24500" y="656428"/>
                      <a:pt x="22595" y="665953"/>
                    </a:cubicBezTo>
                    <a:cubicBezTo>
                      <a:pt x="20690" y="675478"/>
                      <a:pt x="26405" y="732628"/>
                      <a:pt x="78793" y="737390"/>
                    </a:cubicBezTo>
                    <a:cubicBezTo>
                      <a:pt x="131180" y="742153"/>
                      <a:pt x="196903" y="731675"/>
                      <a:pt x="217858" y="757393"/>
                    </a:cubicBezTo>
                    <a:cubicBezTo>
                      <a:pt x="236908" y="783110"/>
                      <a:pt x="197647" y="952538"/>
                      <a:pt x="173835" y="1023975"/>
                    </a:cubicBezTo>
                    <a:close/>
                  </a:path>
                </a:pathLst>
              </a:custGeom>
              <a:grpFill/>
              <a:ln w="9525" cap="flat">
                <a:noFill/>
                <a:prstDash val="solid"/>
                <a:miter/>
              </a:ln>
            </p:spPr>
            <p:txBody>
              <a:bodyPr rtlCol="0" anchor="ctr"/>
              <a:lstStyle/>
              <a:p>
                <a:endParaRPr lang="en-US" sz="1350" dirty="0"/>
              </a:p>
            </p:txBody>
          </p:sp>
          <p:grpSp>
            <p:nvGrpSpPr>
              <p:cNvPr id="41" name="Group 40">
                <a:extLst>
                  <a:ext uri="{FF2B5EF4-FFF2-40B4-BE49-F238E27FC236}">
                    <a16:creationId xmlns:a16="http://schemas.microsoft.com/office/drawing/2014/main" id="{079248F5-92F6-4CD2-BAF4-37327B4E7647}"/>
                  </a:ext>
                </a:extLst>
              </p:cNvPr>
              <p:cNvGrpSpPr/>
              <p:nvPr/>
            </p:nvGrpSpPr>
            <p:grpSpPr>
              <a:xfrm>
                <a:off x="1684786" y="2516290"/>
                <a:ext cx="702035" cy="687994"/>
                <a:chOff x="1684786" y="2516290"/>
                <a:chExt cx="702035" cy="687994"/>
              </a:xfrm>
              <a:grpFill/>
            </p:grpSpPr>
            <p:sp>
              <p:nvSpPr>
                <p:cNvPr id="42" name="Graphic 4">
                  <a:extLst>
                    <a:ext uri="{FF2B5EF4-FFF2-40B4-BE49-F238E27FC236}">
                      <a16:creationId xmlns:a16="http://schemas.microsoft.com/office/drawing/2014/main" id="{18927834-337B-4774-B8C4-66F5BF0CE3E4}"/>
                    </a:ext>
                  </a:extLst>
                </p:cNvPr>
                <p:cNvSpPr/>
                <p:nvPr/>
              </p:nvSpPr>
              <p:spPr>
                <a:xfrm>
                  <a:off x="1684786" y="2516290"/>
                  <a:ext cx="702035" cy="68799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solidFill>
                  <a:schemeClr val="bg1"/>
                </a:solidFill>
                <a:ln w="9525" cap="flat">
                  <a:noFill/>
                  <a:prstDash val="solid"/>
                  <a:miter/>
                </a:ln>
              </p:spPr>
              <p:txBody>
                <a:bodyPr rtlCol="0" anchor="ctr"/>
                <a:lstStyle/>
                <a:p>
                  <a:endParaRPr lang="en-US" sz="1350"/>
                </a:p>
              </p:txBody>
            </p:sp>
            <p:sp>
              <p:nvSpPr>
                <p:cNvPr id="43" name="Freeform: Shape 42">
                  <a:extLst>
                    <a:ext uri="{FF2B5EF4-FFF2-40B4-BE49-F238E27FC236}">
                      <a16:creationId xmlns:a16="http://schemas.microsoft.com/office/drawing/2014/main" id="{93BEA3D9-9AE5-46B2-A231-8B49AC2E558A}"/>
                    </a:ext>
                  </a:extLst>
                </p:cNvPr>
                <p:cNvSpPr/>
                <p:nvPr/>
              </p:nvSpPr>
              <p:spPr>
                <a:xfrm>
                  <a:off x="1855157" y="2765044"/>
                  <a:ext cx="330249" cy="218182"/>
                </a:xfrm>
                <a:custGeom>
                  <a:avLst/>
                  <a:gdLst/>
                  <a:ahLst/>
                  <a:cxnLst/>
                  <a:rect l="l" t="t" r="r" b="b"/>
                  <a:pathLst>
                    <a:path w="330249" h="218182">
                      <a:moveTo>
                        <a:pt x="117946" y="56554"/>
                      </a:moveTo>
                      <a:lnTo>
                        <a:pt x="94115" y="134987"/>
                      </a:lnTo>
                      <a:lnTo>
                        <a:pt x="142028" y="134987"/>
                      </a:lnTo>
                      <a:close/>
                      <a:moveTo>
                        <a:pt x="262681" y="0"/>
                      </a:moveTo>
                      <a:lnTo>
                        <a:pt x="330249" y="0"/>
                      </a:lnTo>
                      <a:lnTo>
                        <a:pt x="330249" y="218182"/>
                      </a:lnTo>
                      <a:lnTo>
                        <a:pt x="262681" y="218182"/>
                      </a:lnTo>
                      <a:close/>
                      <a:moveTo>
                        <a:pt x="82004" y="0"/>
                      </a:moveTo>
                      <a:lnTo>
                        <a:pt x="155544" y="0"/>
                      </a:lnTo>
                      <a:lnTo>
                        <a:pt x="237529" y="218182"/>
                      </a:lnTo>
                      <a:lnTo>
                        <a:pt x="166929" y="218182"/>
                      </a:lnTo>
                      <a:lnTo>
                        <a:pt x="156013" y="182165"/>
                      </a:lnTo>
                      <a:lnTo>
                        <a:pt x="79472" y="182165"/>
                      </a:lnTo>
                      <a:lnTo>
                        <a:pt x="68837" y="218182"/>
                      </a:lnTo>
                      <a:lnTo>
                        <a:pt x="0" y="21818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38" name="Freeform: Shape 37">
              <a:extLst>
                <a:ext uri="{FF2B5EF4-FFF2-40B4-BE49-F238E27FC236}">
                  <a16:creationId xmlns:a16="http://schemas.microsoft.com/office/drawing/2014/main" id="{616EB048-7D81-463A-970A-20BB88838548}"/>
                </a:ext>
              </a:extLst>
            </p:cNvPr>
            <p:cNvSpPr/>
            <p:nvPr/>
          </p:nvSpPr>
          <p:spPr>
            <a:xfrm>
              <a:off x="1912556" y="2967547"/>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sp>
          <p:nvSpPr>
            <p:cNvPr id="39" name="Rectangle 38">
              <a:extLst>
                <a:ext uri="{FF2B5EF4-FFF2-40B4-BE49-F238E27FC236}">
                  <a16:creationId xmlns:a16="http://schemas.microsoft.com/office/drawing/2014/main" id="{EA19F564-C784-4AD8-912A-2FD004D79F20}"/>
                </a:ext>
              </a:extLst>
            </p:cNvPr>
            <p:cNvSpPr/>
            <p:nvPr/>
          </p:nvSpPr>
          <p:spPr>
            <a:xfrm>
              <a:off x="1093177" y="4613033"/>
              <a:ext cx="10005646" cy="6770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44" name="TextBox 43">
            <a:extLst>
              <a:ext uri="{FF2B5EF4-FFF2-40B4-BE49-F238E27FC236}">
                <a16:creationId xmlns:a16="http://schemas.microsoft.com/office/drawing/2014/main" id="{D02F4B8E-9B3E-4F0F-A7A3-4E4CCE2F61D7}"/>
              </a:ext>
            </a:extLst>
          </p:cNvPr>
          <p:cNvSpPr txBox="1"/>
          <p:nvPr/>
        </p:nvSpPr>
        <p:spPr>
          <a:xfrm>
            <a:off x="1030086" y="3704061"/>
            <a:ext cx="6865108" cy="507831"/>
          </a:xfrm>
          <a:prstGeom prst="rect">
            <a:avLst/>
          </a:prstGeom>
          <a:solidFill>
            <a:schemeClr val="accent1">
              <a:lumMod val="50000"/>
            </a:schemeClr>
          </a:solidFill>
        </p:spPr>
        <p:txBody>
          <a:bodyPr wrap="square" lIns="27000" tIns="0" rIns="27000" bIns="0" rtlCol="0">
            <a:spAutoFit/>
          </a:bodyPr>
          <a:lstStyle/>
          <a:p>
            <a:r>
              <a:rPr lang="en-US" altLang="ko-KR" sz="3300" dirty="0">
                <a:solidFill>
                  <a:schemeClr val="bg1"/>
                </a:solidFill>
                <a:cs typeface="Arial" pitchFamily="34" charset="0"/>
              </a:rPr>
              <a:t>Advanced Artificial Intelligence</a:t>
            </a:r>
            <a:endParaRPr lang="ko-KR" altLang="en-US" sz="3300" dirty="0">
              <a:solidFill>
                <a:schemeClr val="bg1"/>
              </a:solidFill>
              <a:cs typeface="Arial" pitchFamily="34" charset="0"/>
            </a:endParaRPr>
          </a:p>
        </p:txBody>
      </p:sp>
      <p:sp>
        <p:nvSpPr>
          <p:cNvPr id="2" name="TextBox 1">
            <a:extLst>
              <a:ext uri="{FF2B5EF4-FFF2-40B4-BE49-F238E27FC236}">
                <a16:creationId xmlns:a16="http://schemas.microsoft.com/office/drawing/2014/main" id="{EDB9F391-7E1F-4012-B14B-0323F1643F27}"/>
              </a:ext>
            </a:extLst>
          </p:cNvPr>
          <p:cNvSpPr txBox="1"/>
          <p:nvPr/>
        </p:nvSpPr>
        <p:spPr>
          <a:xfrm>
            <a:off x="6233113" y="4846588"/>
            <a:ext cx="2910887" cy="1154162"/>
          </a:xfrm>
          <a:prstGeom prst="rect">
            <a:avLst/>
          </a:prstGeom>
          <a:solidFill>
            <a:schemeClr val="accent1">
              <a:lumMod val="50000"/>
            </a:schemeClr>
          </a:solidFill>
        </p:spPr>
        <p:txBody>
          <a:bodyPr wrap="square" lIns="27000" tIns="0" rIns="27000" bIns="0" rtlCol="0">
            <a:spAutoFit/>
          </a:bodyPr>
          <a:lstStyle/>
          <a:p>
            <a:r>
              <a:rPr lang="en-US" altLang="ko-KR" sz="1500" b="1" dirty="0">
                <a:solidFill>
                  <a:schemeClr val="bg1"/>
                </a:solidFill>
                <a:cs typeface="Arial" pitchFamily="34" charset="0"/>
              </a:rPr>
              <a:t>Dr. Qurat Ul Ain</a:t>
            </a:r>
          </a:p>
          <a:p>
            <a:r>
              <a:rPr lang="en-US" altLang="ko-KR" sz="1500" dirty="0">
                <a:solidFill>
                  <a:schemeClr val="bg1"/>
                </a:solidFill>
                <a:cs typeface="Arial" pitchFamily="34" charset="0"/>
              </a:rPr>
              <a:t>Assistant Professor</a:t>
            </a:r>
            <a:br>
              <a:rPr lang="en-US" altLang="ko-KR" sz="1500" dirty="0">
                <a:solidFill>
                  <a:schemeClr val="bg1"/>
                </a:solidFill>
                <a:cs typeface="Arial" pitchFamily="34" charset="0"/>
              </a:rPr>
            </a:br>
            <a:r>
              <a:rPr lang="en-US" altLang="ko-KR" sz="1500" dirty="0">
                <a:solidFill>
                  <a:schemeClr val="bg1"/>
                </a:solidFill>
                <a:cs typeface="Arial" pitchFamily="34" charset="0"/>
              </a:rPr>
              <a:t>Dept. of AI &amp; DS</a:t>
            </a:r>
          </a:p>
          <a:p>
            <a:r>
              <a:rPr lang="en-US" altLang="ko-KR" sz="1500" dirty="0">
                <a:solidFill>
                  <a:schemeClr val="bg1"/>
                </a:solidFill>
                <a:cs typeface="Arial" pitchFamily="34" charset="0"/>
              </a:rPr>
              <a:t>FAST NUCES, Islamabad</a:t>
            </a:r>
          </a:p>
          <a:p>
            <a:r>
              <a:rPr lang="en-US" sz="1500" dirty="0">
                <a:solidFill>
                  <a:schemeClr val="bg1"/>
                </a:solidFill>
              </a:rPr>
              <a:t>Email: quratul.ain@isb.nu.edu.pk</a:t>
            </a:r>
          </a:p>
        </p:txBody>
      </p:sp>
      <p:sp>
        <p:nvSpPr>
          <p:cNvPr id="3" name="TextBox 2">
            <a:extLst>
              <a:ext uri="{FF2B5EF4-FFF2-40B4-BE49-F238E27FC236}">
                <a16:creationId xmlns:a16="http://schemas.microsoft.com/office/drawing/2014/main" id="{F5587D2B-81E8-6A6D-CC3C-D10A47D9498F}"/>
              </a:ext>
            </a:extLst>
          </p:cNvPr>
          <p:cNvSpPr txBox="1"/>
          <p:nvPr/>
        </p:nvSpPr>
        <p:spPr>
          <a:xfrm>
            <a:off x="3528583" y="4342761"/>
            <a:ext cx="1546698" cy="276999"/>
          </a:xfrm>
          <a:prstGeom prst="rect">
            <a:avLst/>
          </a:prstGeom>
          <a:solidFill>
            <a:schemeClr val="accent1">
              <a:lumMod val="50000"/>
            </a:schemeClr>
          </a:solidFill>
        </p:spPr>
        <p:txBody>
          <a:bodyPr wrap="square" lIns="27000" tIns="0" rIns="27000" bIns="0" rtlCol="0">
            <a:spAutoFit/>
          </a:bodyPr>
          <a:lstStyle/>
          <a:p>
            <a:r>
              <a:rPr lang="en-US" altLang="ko-KR" dirty="0">
                <a:solidFill>
                  <a:schemeClr val="bg1"/>
                </a:solidFill>
                <a:cs typeface="Arial" pitchFamily="34" charset="0"/>
              </a:rPr>
              <a:t>   </a:t>
            </a:r>
            <a:r>
              <a:rPr lang="en-US" altLang="ko-KR">
                <a:solidFill>
                  <a:schemeClr val="bg1"/>
                </a:solidFill>
                <a:cs typeface="Arial" pitchFamily="34" charset="0"/>
              </a:rPr>
              <a:t>Week #9</a:t>
            </a:r>
            <a:endParaRPr lang="ko-KR" altLang="en-US" dirty="0">
              <a:solidFill>
                <a:schemeClr val="bg1"/>
              </a:solidFill>
              <a:cs typeface="Arial" pitchFamily="34" charset="0"/>
            </a:endParaRPr>
          </a:p>
        </p:txBody>
      </p:sp>
    </p:spTree>
    <p:extLst>
      <p:ext uri="{BB962C8B-B14F-4D97-AF65-F5344CB8AC3E}">
        <p14:creationId xmlns:p14="http://schemas.microsoft.com/office/powerpoint/2010/main" val="364955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024" y="126768"/>
            <a:ext cx="8040575" cy="711432"/>
          </a:xfrm>
          <a:prstGeom prst="rect">
            <a:avLst/>
          </a:prstGeom>
        </p:spPr>
        <p:txBody>
          <a:bodyPr vert="horz" wrap="square" lIns="0" tIns="33992" rIns="0" bIns="0" rtlCol="0">
            <a:spAutoFit/>
          </a:bodyPr>
          <a:lstStyle/>
          <a:p>
            <a:pPr marL="25179">
              <a:spcBef>
                <a:spcPts val="268"/>
              </a:spcBef>
            </a:pPr>
            <a:r>
              <a:rPr lang="en-GB" sz="4400" spc="-109" dirty="0">
                <a:solidFill>
                  <a:schemeClr val="accent2">
                    <a:lumMod val="75000"/>
                  </a:schemeClr>
                </a:solidFill>
                <a:latin typeface="+mn-lt"/>
              </a:rPr>
              <a:t>Unsupervised</a:t>
            </a:r>
            <a:r>
              <a:rPr lang="en-GB" sz="4400" dirty="0">
                <a:solidFill>
                  <a:schemeClr val="accent2">
                    <a:lumMod val="75000"/>
                  </a:schemeClr>
                </a:solidFill>
                <a:latin typeface="+mn-lt"/>
              </a:rPr>
              <a:t> </a:t>
            </a:r>
            <a:r>
              <a:rPr lang="en-GB" sz="4400" spc="-99" dirty="0">
                <a:solidFill>
                  <a:schemeClr val="accent2">
                    <a:lumMod val="75000"/>
                  </a:schemeClr>
                </a:solidFill>
                <a:latin typeface="+mn-lt"/>
              </a:rPr>
              <a:t>Learning</a:t>
            </a:r>
            <a:endParaRPr lang="en-GB" sz="4400" dirty="0">
              <a:solidFill>
                <a:schemeClr val="accent2">
                  <a:lumMod val="75000"/>
                </a:schemeClr>
              </a:solidFill>
              <a:latin typeface="+mn-lt"/>
            </a:endParaRPr>
          </a:p>
        </p:txBody>
      </p:sp>
      <p:pic>
        <p:nvPicPr>
          <p:cNvPr id="3" name="object 3"/>
          <p:cNvPicPr/>
          <p:nvPr/>
        </p:nvPicPr>
        <p:blipFill>
          <a:blip r:embed="rId2" cstate="print"/>
          <a:stretch>
            <a:fillRect/>
          </a:stretch>
        </p:blipFill>
        <p:spPr>
          <a:xfrm>
            <a:off x="557533" y="1129947"/>
            <a:ext cx="129451" cy="129332"/>
          </a:xfrm>
          <a:prstGeom prst="rect">
            <a:avLst/>
          </a:prstGeom>
        </p:spPr>
      </p:pic>
      <p:sp>
        <p:nvSpPr>
          <p:cNvPr id="4" name="object 4"/>
          <p:cNvSpPr txBox="1"/>
          <p:nvPr/>
        </p:nvSpPr>
        <p:spPr>
          <a:xfrm>
            <a:off x="748824" y="988417"/>
            <a:ext cx="8191815" cy="5461540"/>
          </a:xfrm>
          <a:prstGeom prst="rect">
            <a:avLst/>
          </a:prstGeom>
        </p:spPr>
        <p:txBody>
          <a:bodyPr vert="horz" wrap="square" lIns="0" tIns="23920" rIns="0" bIns="0" rtlCol="0">
            <a:spAutoFit/>
          </a:bodyPr>
          <a:lstStyle/>
          <a:p>
            <a:pPr marL="75537" marR="60430">
              <a:spcBef>
                <a:spcPts val="188"/>
              </a:spcBef>
            </a:pPr>
            <a:r>
              <a:rPr sz="2000" spc="-79" dirty="0">
                <a:solidFill>
                  <a:srgbClr val="0000FF"/>
                </a:solidFill>
                <a:cs typeface="Tahoma"/>
              </a:rPr>
              <a:t>Supervised</a:t>
            </a:r>
            <a:r>
              <a:rPr sz="2000" spc="10" dirty="0">
                <a:solidFill>
                  <a:srgbClr val="0000FF"/>
                </a:solidFill>
                <a:cs typeface="Tahoma"/>
              </a:rPr>
              <a:t> </a:t>
            </a:r>
            <a:r>
              <a:rPr sz="2000" spc="-79" dirty="0">
                <a:solidFill>
                  <a:srgbClr val="0000FF"/>
                </a:solidFill>
                <a:cs typeface="Tahoma"/>
              </a:rPr>
              <a:t>learning</a:t>
            </a:r>
            <a:r>
              <a:rPr sz="2000" spc="10" dirty="0">
                <a:solidFill>
                  <a:srgbClr val="0000FF"/>
                </a:solidFill>
                <a:cs typeface="Tahoma"/>
              </a:rPr>
              <a:t> </a:t>
            </a:r>
            <a:r>
              <a:rPr sz="2000" spc="-69" dirty="0">
                <a:cs typeface="Tahoma"/>
              </a:rPr>
              <a:t>algorithms</a:t>
            </a:r>
            <a:r>
              <a:rPr sz="2000" spc="20" dirty="0">
                <a:cs typeface="Tahoma"/>
              </a:rPr>
              <a:t> </a:t>
            </a:r>
            <a:r>
              <a:rPr sz="2000" spc="-109" dirty="0">
                <a:cs typeface="Tahoma"/>
              </a:rPr>
              <a:t>have</a:t>
            </a:r>
            <a:r>
              <a:rPr sz="2000" spc="10" dirty="0">
                <a:cs typeface="Tahoma"/>
              </a:rPr>
              <a:t> </a:t>
            </a:r>
            <a:r>
              <a:rPr sz="2000" spc="-99" dirty="0">
                <a:cs typeface="Tahoma"/>
              </a:rPr>
              <a:t>a</a:t>
            </a:r>
            <a:r>
              <a:rPr sz="2000" spc="20" dirty="0">
                <a:cs typeface="Tahoma"/>
              </a:rPr>
              <a:t> </a:t>
            </a:r>
            <a:r>
              <a:rPr sz="2000" spc="-79" dirty="0">
                <a:cs typeface="Tahoma"/>
              </a:rPr>
              <a:t>clear</a:t>
            </a:r>
            <a:r>
              <a:rPr sz="2000" spc="10" dirty="0">
                <a:cs typeface="Tahoma"/>
              </a:rPr>
              <a:t> </a:t>
            </a:r>
            <a:r>
              <a:rPr sz="2000" spc="-89" dirty="0">
                <a:cs typeface="Tahoma"/>
              </a:rPr>
              <a:t>goal:</a:t>
            </a:r>
            <a:r>
              <a:rPr sz="2000" spc="258" dirty="0">
                <a:cs typeface="Tahoma"/>
              </a:rPr>
              <a:t> </a:t>
            </a:r>
            <a:r>
              <a:rPr sz="2000" spc="-89" dirty="0">
                <a:cs typeface="Tahoma"/>
              </a:rPr>
              <a:t>produce</a:t>
            </a:r>
            <a:r>
              <a:rPr sz="2000" spc="10" dirty="0">
                <a:cs typeface="Tahoma"/>
              </a:rPr>
              <a:t> </a:t>
            </a:r>
            <a:r>
              <a:rPr sz="2000" spc="-99" dirty="0">
                <a:cs typeface="Tahoma"/>
              </a:rPr>
              <a:t>desired</a:t>
            </a:r>
            <a:r>
              <a:rPr sz="2000" spc="20" dirty="0">
                <a:cs typeface="Tahoma"/>
              </a:rPr>
              <a:t> </a:t>
            </a:r>
            <a:r>
              <a:rPr sz="2000" spc="-59" dirty="0">
                <a:cs typeface="Tahoma"/>
              </a:rPr>
              <a:t>outputs</a:t>
            </a:r>
            <a:r>
              <a:rPr sz="2000" spc="10" dirty="0">
                <a:cs typeface="Tahoma"/>
              </a:rPr>
              <a:t> </a:t>
            </a:r>
            <a:r>
              <a:rPr sz="2000" spc="-79" dirty="0">
                <a:cs typeface="Tahoma"/>
              </a:rPr>
              <a:t>for </a:t>
            </a:r>
            <a:r>
              <a:rPr sz="2000" spc="-585" dirty="0">
                <a:cs typeface="Tahoma"/>
              </a:rPr>
              <a:t> </a:t>
            </a:r>
            <a:r>
              <a:rPr sz="2000" spc="-89" dirty="0">
                <a:cs typeface="Tahoma"/>
              </a:rPr>
              <a:t>given</a:t>
            </a:r>
            <a:r>
              <a:rPr sz="2000" spc="20" dirty="0">
                <a:cs typeface="Tahoma"/>
              </a:rPr>
              <a:t> </a:t>
            </a:r>
            <a:r>
              <a:rPr sz="2000" spc="-59" dirty="0">
                <a:cs typeface="Tahoma"/>
              </a:rPr>
              <a:t>inputs.</a:t>
            </a:r>
            <a:endParaRPr sz="2000" dirty="0">
              <a:cs typeface="Tahoma"/>
            </a:endParaRPr>
          </a:p>
          <a:p>
            <a:pPr marL="638256" indent="-285750">
              <a:spcBef>
                <a:spcPts val="773"/>
              </a:spcBef>
              <a:buFont typeface="Arial" pitchFamily="34" charset="0"/>
              <a:buChar char="•"/>
            </a:pPr>
            <a:r>
              <a:rPr sz="2000" spc="1084" baseline="13888" dirty="0">
                <a:solidFill>
                  <a:srgbClr val="3333B2"/>
                </a:solidFill>
                <a:cs typeface="Lucida Sans Unicode"/>
              </a:rPr>
              <a:t> </a:t>
            </a:r>
            <a:r>
              <a:rPr sz="2000" spc="-59" dirty="0">
                <a:cs typeface="Tahoma"/>
              </a:rPr>
              <a:t>You</a:t>
            </a:r>
            <a:r>
              <a:rPr sz="2000" spc="40" dirty="0">
                <a:cs typeface="Tahoma"/>
              </a:rPr>
              <a:t> </a:t>
            </a:r>
            <a:r>
              <a:rPr sz="2000" spc="-129" dirty="0">
                <a:cs typeface="Tahoma"/>
              </a:rPr>
              <a:t>are</a:t>
            </a:r>
            <a:r>
              <a:rPr sz="2000" spc="50" dirty="0">
                <a:cs typeface="Tahoma"/>
              </a:rPr>
              <a:t> </a:t>
            </a:r>
            <a:r>
              <a:rPr sz="2000" spc="-89" dirty="0">
                <a:cs typeface="Tahoma"/>
              </a:rPr>
              <a:t>given</a:t>
            </a:r>
            <a:r>
              <a:rPr sz="2000" spc="59" dirty="0">
                <a:cs typeface="Tahoma"/>
              </a:rPr>
              <a:t> </a:t>
            </a:r>
            <a:r>
              <a:rPr sz="2000" spc="89" dirty="0">
                <a:cs typeface="Lucida Sans Unicode"/>
              </a:rPr>
              <a:t>{</a:t>
            </a:r>
            <a:r>
              <a:rPr sz="2000" spc="89" dirty="0">
                <a:cs typeface="Tahoma"/>
              </a:rPr>
              <a:t>(</a:t>
            </a:r>
            <a:r>
              <a:rPr sz="2000" i="1" spc="89" dirty="0">
                <a:cs typeface="Arial"/>
              </a:rPr>
              <a:t>x</a:t>
            </a:r>
            <a:r>
              <a:rPr sz="2000" i="1" spc="-377" dirty="0">
                <a:cs typeface="Arial"/>
              </a:rPr>
              <a:t> </a:t>
            </a:r>
            <a:r>
              <a:rPr sz="2000" spc="59" baseline="27777" dirty="0">
                <a:cs typeface="Tahoma"/>
              </a:rPr>
              <a:t>(</a:t>
            </a:r>
            <a:r>
              <a:rPr sz="2000" i="1" spc="59" baseline="27777" dirty="0">
                <a:cs typeface="Arial"/>
              </a:rPr>
              <a:t>i</a:t>
            </a:r>
            <a:r>
              <a:rPr sz="2000" i="1" spc="-387" baseline="27777" dirty="0">
                <a:cs typeface="Arial"/>
              </a:rPr>
              <a:t> </a:t>
            </a:r>
            <a:r>
              <a:rPr sz="2000" spc="87" baseline="27777" dirty="0">
                <a:cs typeface="Tahoma"/>
              </a:rPr>
              <a:t>)</a:t>
            </a:r>
            <a:r>
              <a:rPr sz="2000" i="1" spc="59" dirty="0">
                <a:cs typeface="Arial"/>
              </a:rPr>
              <a:t>,</a:t>
            </a:r>
            <a:r>
              <a:rPr sz="2000" i="1" spc="-218" dirty="0">
                <a:cs typeface="Arial"/>
              </a:rPr>
              <a:t> </a:t>
            </a:r>
            <a:r>
              <a:rPr sz="2000" i="1" spc="119" dirty="0">
                <a:cs typeface="Arial"/>
              </a:rPr>
              <a:t>t</a:t>
            </a:r>
            <a:r>
              <a:rPr sz="2000" spc="176" baseline="27777" dirty="0">
                <a:cs typeface="Tahoma"/>
              </a:rPr>
              <a:t>(</a:t>
            </a:r>
            <a:r>
              <a:rPr sz="2000" i="1" spc="176" baseline="27777" dirty="0">
                <a:cs typeface="Arial"/>
              </a:rPr>
              <a:t>i</a:t>
            </a:r>
            <a:r>
              <a:rPr sz="2000" i="1" spc="-387" baseline="27777" dirty="0">
                <a:cs typeface="Arial"/>
              </a:rPr>
              <a:t> </a:t>
            </a:r>
            <a:r>
              <a:rPr sz="2000" spc="238" baseline="27777" dirty="0">
                <a:cs typeface="Tahoma"/>
              </a:rPr>
              <a:t>)</a:t>
            </a:r>
            <a:r>
              <a:rPr sz="2000" spc="159" dirty="0">
                <a:cs typeface="Tahoma"/>
              </a:rPr>
              <a:t>)</a:t>
            </a:r>
            <a:r>
              <a:rPr sz="2000" spc="159" dirty="0">
                <a:cs typeface="Lucida Sans Unicode"/>
              </a:rPr>
              <a:t>}</a:t>
            </a:r>
            <a:r>
              <a:rPr sz="2000" spc="40" dirty="0">
                <a:cs typeface="Lucida Sans Unicode"/>
              </a:rPr>
              <a:t> </a:t>
            </a:r>
            <a:r>
              <a:rPr sz="2000" spc="-69" dirty="0">
                <a:cs typeface="Tahoma"/>
              </a:rPr>
              <a:t>during</a:t>
            </a:r>
            <a:r>
              <a:rPr sz="2000" spc="59" dirty="0">
                <a:cs typeface="Tahoma"/>
              </a:rPr>
              <a:t> </a:t>
            </a:r>
            <a:r>
              <a:rPr sz="2000" spc="-50" dirty="0">
                <a:cs typeface="Tahoma"/>
              </a:rPr>
              <a:t>training</a:t>
            </a:r>
            <a:r>
              <a:rPr sz="2000" spc="40" dirty="0">
                <a:cs typeface="Tahoma"/>
              </a:rPr>
              <a:t> </a:t>
            </a:r>
            <a:r>
              <a:rPr sz="2000" spc="-50" dirty="0">
                <a:cs typeface="Tahoma"/>
              </a:rPr>
              <a:t>(inputs</a:t>
            </a:r>
            <a:r>
              <a:rPr sz="2000" spc="50" dirty="0">
                <a:cs typeface="Tahoma"/>
              </a:rPr>
              <a:t> </a:t>
            </a:r>
            <a:r>
              <a:rPr sz="2000" spc="-89" dirty="0">
                <a:cs typeface="Tahoma"/>
              </a:rPr>
              <a:t>and</a:t>
            </a:r>
            <a:r>
              <a:rPr sz="2000" spc="50" dirty="0">
                <a:cs typeface="Tahoma"/>
              </a:rPr>
              <a:t> </a:t>
            </a:r>
            <a:r>
              <a:rPr sz="2000" spc="-69" dirty="0">
                <a:cs typeface="Tahoma"/>
              </a:rPr>
              <a:t>targets)</a:t>
            </a:r>
            <a:endParaRPr sz="2000" dirty="0">
              <a:cs typeface="Tahoma"/>
            </a:endParaRPr>
          </a:p>
          <a:p>
            <a:pPr marL="75537" marR="686128">
              <a:spcBef>
                <a:spcPts val="1051"/>
              </a:spcBef>
            </a:pPr>
            <a:r>
              <a:rPr sz="2000" spc="-59" dirty="0">
                <a:cs typeface="Tahoma"/>
              </a:rPr>
              <a:t>Goal</a:t>
            </a:r>
            <a:r>
              <a:rPr sz="2000" spc="40" dirty="0">
                <a:cs typeface="Tahoma"/>
              </a:rPr>
              <a:t> </a:t>
            </a:r>
            <a:r>
              <a:rPr sz="2000" spc="-59" dirty="0">
                <a:cs typeface="Tahoma"/>
              </a:rPr>
              <a:t>of</a:t>
            </a:r>
            <a:r>
              <a:rPr sz="2000" spc="50" dirty="0">
                <a:cs typeface="Tahoma"/>
              </a:rPr>
              <a:t> </a:t>
            </a:r>
            <a:r>
              <a:rPr sz="2000" spc="-89" dirty="0">
                <a:solidFill>
                  <a:srgbClr val="0000FF"/>
                </a:solidFill>
                <a:cs typeface="Tahoma"/>
              </a:rPr>
              <a:t>unsupervised</a:t>
            </a:r>
            <a:r>
              <a:rPr sz="2000" spc="50" dirty="0">
                <a:solidFill>
                  <a:srgbClr val="0000FF"/>
                </a:solidFill>
                <a:cs typeface="Tahoma"/>
              </a:rPr>
              <a:t> </a:t>
            </a:r>
            <a:r>
              <a:rPr sz="2000" spc="-79" dirty="0">
                <a:solidFill>
                  <a:srgbClr val="0000FF"/>
                </a:solidFill>
                <a:cs typeface="Tahoma"/>
              </a:rPr>
              <a:t>learning</a:t>
            </a:r>
            <a:r>
              <a:rPr sz="2000" spc="50" dirty="0">
                <a:solidFill>
                  <a:srgbClr val="0000FF"/>
                </a:solidFill>
                <a:cs typeface="Tahoma"/>
              </a:rPr>
              <a:t> </a:t>
            </a:r>
            <a:r>
              <a:rPr sz="2000" spc="-69" dirty="0">
                <a:cs typeface="Tahoma"/>
              </a:rPr>
              <a:t>algorithms</a:t>
            </a:r>
            <a:r>
              <a:rPr sz="2000" spc="50" dirty="0">
                <a:cs typeface="Tahoma"/>
              </a:rPr>
              <a:t> </a:t>
            </a:r>
            <a:r>
              <a:rPr sz="2000" spc="-59" dirty="0">
                <a:cs typeface="Tahoma"/>
              </a:rPr>
              <a:t>(no</a:t>
            </a:r>
            <a:r>
              <a:rPr sz="2000" spc="50" dirty="0">
                <a:cs typeface="Tahoma"/>
              </a:rPr>
              <a:t> </a:t>
            </a:r>
            <a:r>
              <a:rPr sz="2000" spc="-40" dirty="0">
                <a:cs typeface="Tahoma"/>
              </a:rPr>
              <a:t>explicit</a:t>
            </a:r>
            <a:r>
              <a:rPr sz="2000" spc="40" dirty="0">
                <a:cs typeface="Tahoma"/>
              </a:rPr>
              <a:t> </a:t>
            </a:r>
            <a:r>
              <a:rPr sz="2000" spc="-89" dirty="0">
                <a:cs typeface="Tahoma"/>
              </a:rPr>
              <a:t>feedback</a:t>
            </a:r>
            <a:r>
              <a:rPr sz="2000" spc="50" dirty="0">
                <a:cs typeface="Tahoma"/>
              </a:rPr>
              <a:t> </a:t>
            </a:r>
            <a:r>
              <a:rPr sz="2000" spc="-89" dirty="0">
                <a:cs typeface="Tahoma"/>
              </a:rPr>
              <a:t>whether </a:t>
            </a:r>
            <a:r>
              <a:rPr sz="2000" spc="-585" dirty="0">
                <a:cs typeface="Tahoma"/>
              </a:rPr>
              <a:t> </a:t>
            </a:r>
            <a:r>
              <a:rPr sz="2000" spc="-59" dirty="0">
                <a:cs typeface="Tahoma"/>
              </a:rPr>
              <a:t>outputs</a:t>
            </a:r>
            <a:r>
              <a:rPr sz="2000" spc="30" dirty="0">
                <a:cs typeface="Tahoma"/>
              </a:rPr>
              <a:t> </a:t>
            </a:r>
            <a:r>
              <a:rPr sz="2000" spc="-59" dirty="0">
                <a:cs typeface="Tahoma"/>
              </a:rPr>
              <a:t>of</a:t>
            </a:r>
            <a:r>
              <a:rPr sz="2000" spc="40" dirty="0">
                <a:cs typeface="Tahoma"/>
              </a:rPr>
              <a:t> </a:t>
            </a:r>
            <a:r>
              <a:rPr sz="2000" spc="-99" dirty="0">
                <a:cs typeface="Tahoma"/>
              </a:rPr>
              <a:t>system</a:t>
            </a:r>
            <a:r>
              <a:rPr sz="2000" spc="30" dirty="0">
                <a:cs typeface="Tahoma"/>
              </a:rPr>
              <a:t> </a:t>
            </a:r>
            <a:r>
              <a:rPr sz="2000" spc="-129" dirty="0">
                <a:cs typeface="Tahoma"/>
              </a:rPr>
              <a:t>are</a:t>
            </a:r>
            <a:r>
              <a:rPr sz="2000" spc="40" dirty="0">
                <a:cs typeface="Tahoma"/>
              </a:rPr>
              <a:t> </a:t>
            </a:r>
            <a:r>
              <a:rPr sz="2000" spc="-59" dirty="0">
                <a:cs typeface="Tahoma"/>
              </a:rPr>
              <a:t>correct)</a:t>
            </a:r>
            <a:r>
              <a:rPr sz="2000" spc="40" dirty="0">
                <a:cs typeface="Tahoma"/>
              </a:rPr>
              <a:t> </a:t>
            </a:r>
            <a:r>
              <a:rPr sz="2000" spc="-109" dirty="0">
                <a:cs typeface="Tahoma"/>
              </a:rPr>
              <a:t>less</a:t>
            </a:r>
            <a:r>
              <a:rPr sz="2000" spc="40" dirty="0">
                <a:cs typeface="Tahoma"/>
              </a:rPr>
              <a:t> </a:t>
            </a:r>
            <a:r>
              <a:rPr sz="2000" spc="-79" dirty="0">
                <a:cs typeface="Tahoma"/>
              </a:rPr>
              <a:t>clear.</a:t>
            </a:r>
            <a:endParaRPr sz="2000" dirty="0">
              <a:cs typeface="Tahoma"/>
            </a:endParaRPr>
          </a:p>
          <a:p>
            <a:pPr marL="638256" indent="-285750">
              <a:spcBef>
                <a:spcPts val="773"/>
              </a:spcBef>
              <a:buFont typeface="Arial" pitchFamily="34" charset="0"/>
              <a:buChar char="•"/>
            </a:pPr>
            <a:r>
              <a:rPr sz="2000" spc="1071" baseline="13888" dirty="0">
                <a:solidFill>
                  <a:srgbClr val="3333B2"/>
                </a:solidFill>
                <a:cs typeface="Lucida Sans Unicode"/>
              </a:rPr>
              <a:t> </a:t>
            </a:r>
            <a:r>
              <a:rPr sz="2000" spc="-59" dirty="0">
                <a:cs typeface="Tahoma"/>
              </a:rPr>
              <a:t>You</a:t>
            </a:r>
            <a:r>
              <a:rPr sz="2000" spc="40" dirty="0">
                <a:cs typeface="Tahoma"/>
              </a:rPr>
              <a:t> </a:t>
            </a:r>
            <a:r>
              <a:rPr sz="2000" spc="-129" dirty="0">
                <a:cs typeface="Tahoma"/>
              </a:rPr>
              <a:t>are</a:t>
            </a:r>
            <a:r>
              <a:rPr sz="2000" spc="50" dirty="0">
                <a:cs typeface="Tahoma"/>
              </a:rPr>
              <a:t> </a:t>
            </a:r>
            <a:r>
              <a:rPr sz="2000" spc="-89" dirty="0">
                <a:cs typeface="Tahoma"/>
              </a:rPr>
              <a:t>given</a:t>
            </a:r>
            <a:r>
              <a:rPr sz="2000" spc="50" dirty="0">
                <a:cs typeface="Tahoma"/>
              </a:rPr>
              <a:t> </a:t>
            </a:r>
            <a:r>
              <a:rPr sz="2000" spc="-69" dirty="0">
                <a:cs typeface="Tahoma"/>
              </a:rPr>
              <a:t>the</a:t>
            </a:r>
            <a:r>
              <a:rPr sz="2000" spc="40" dirty="0">
                <a:cs typeface="Tahoma"/>
              </a:rPr>
              <a:t> </a:t>
            </a:r>
            <a:r>
              <a:rPr sz="2000" spc="-59" dirty="0">
                <a:cs typeface="Tahoma"/>
              </a:rPr>
              <a:t>inputs</a:t>
            </a:r>
            <a:r>
              <a:rPr sz="2000" spc="50" dirty="0">
                <a:cs typeface="Tahoma"/>
              </a:rPr>
              <a:t> </a:t>
            </a:r>
            <a:r>
              <a:rPr sz="2000" spc="129" dirty="0">
                <a:cs typeface="Lucida Sans Unicode"/>
              </a:rPr>
              <a:t>{</a:t>
            </a:r>
            <a:r>
              <a:rPr sz="2000" i="1" spc="129" dirty="0">
                <a:cs typeface="Arial"/>
              </a:rPr>
              <a:t>x</a:t>
            </a:r>
            <a:r>
              <a:rPr sz="2000" i="1" spc="-377" dirty="0">
                <a:cs typeface="Arial"/>
              </a:rPr>
              <a:t> </a:t>
            </a:r>
            <a:r>
              <a:rPr sz="2000" spc="59" baseline="27777" dirty="0">
                <a:cs typeface="Tahoma"/>
              </a:rPr>
              <a:t>(</a:t>
            </a:r>
            <a:r>
              <a:rPr sz="2000" i="1" spc="59" baseline="27777" dirty="0">
                <a:cs typeface="Arial"/>
              </a:rPr>
              <a:t>i</a:t>
            </a:r>
            <a:r>
              <a:rPr sz="2000" i="1" spc="-387" baseline="27777" dirty="0">
                <a:cs typeface="Arial"/>
              </a:rPr>
              <a:t> </a:t>
            </a:r>
            <a:r>
              <a:rPr sz="2000" spc="341" baseline="27777" dirty="0">
                <a:cs typeface="Tahoma"/>
              </a:rPr>
              <a:t>)</a:t>
            </a:r>
            <a:r>
              <a:rPr sz="2000" spc="226" dirty="0">
                <a:cs typeface="Lucida Sans Unicode"/>
              </a:rPr>
              <a:t>}</a:t>
            </a:r>
            <a:r>
              <a:rPr sz="2000" spc="40" dirty="0">
                <a:cs typeface="Lucida Sans Unicode"/>
              </a:rPr>
              <a:t> </a:t>
            </a:r>
            <a:r>
              <a:rPr sz="2000" spc="-69" dirty="0">
                <a:cs typeface="Tahoma"/>
              </a:rPr>
              <a:t>during</a:t>
            </a:r>
            <a:r>
              <a:rPr sz="2000" spc="50" dirty="0">
                <a:cs typeface="Tahoma"/>
              </a:rPr>
              <a:t> </a:t>
            </a:r>
            <a:r>
              <a:rPr sz="2000" spc="-50" dirty="0">
                <a:cs typeface="Tahoma"/>
              </a:rPr>
              <a:t>training,</a:t>
            </a:r>
            <a:r>
              <a:rPr sz="2000" spc="40" dirty="0">
                <a:cs typeface="Tahoma"/>
              </a:rPr>
              <a:t> </a:t>
            </a:r>
            <a:r>
              <a:rPr sz="2000" spc="-69" dirty="0">
                <a:cs typeface="Tahoma"/>
              </a:rPr>
              <a:t>labels</a:t>
            </a:r>
            <a:r>
              <a:rPr sz="2000" spc="40" dirty="0">
                <a:cs typeface="Tahoma"/>
              </a:rPr>
              <a:t> </a:t>
            </a:r>
            <a:r>
              <a:rPr sz="2000" spc="-129" dirty="0">
                <a:cs typeface="Tahoma"/>
              </a:rPr>
              <a:t>are</a:t>
            </a:r>
            <a:r>
              <a:rPr sz="2000" spc="50" dirty="0">
                <a:cs typeface="Tahoma"/>
              </a:rPr>
              <a:t> </a:t>
            </a:r>
            <a:r>
              <a:rPr sz="2000" spc="-89" dirty="0">
                <a:cs typeface="Tahoma"/>
              </a:rPr>
              <a:t>unknown.</a:t>
            </a:r>
            <a:endParaRPr sz="2000" dirty="0">
              <a:cs typeface="Tahoma"/>
            </a:endParaRPr>
          </a:p>
          <a:p>
            <a:pPr marL="75537">
              <a:spcBef>
                <a:spcPts val="1051"/>
              </a:spcBef>
            </a:pPr>
            <a:r>
              <a:rPr sz="2000" spc="-79" dirty="0">
                <a:cs typeface="Tahoma"/>
              </a:rPr>
              <a:t>Tasks</a:t>
            </a:r>
            <a:r>
              <a:rPr sz="2000" spc="-10" dirty="0">
                <a:cs typeface="Tahoma"/>
              </a:rPr>
              <a:t> </a:t>
            </a:r>
            <a:r>
              <a:rPr sz="2000" spc="-20" dirty="0">
                <a:cs typeface="Tahoma"/>
              </a:rPr>
              <a:t>to</a:t>
            </a:r>
            <a:r>
              <a:rPr sz="2000" spc="-10" dirty="0">
                <a:cs typeface="Tahoma"/>
              </a:rPr>
              <a:t> </a:t>
            </a:r>
            <a:r>
              <a:rPr sz="2000" spc="-89" dirty="0">
                <a:cs typeface="Tahoma"/>
              </a:rPr>
              <a:t>consider:</a:t>
            </a:r>
            <a:endParaRPr sz="2000" dirty="0">
              <a:cs typeface="Tahoma"/>
            </a:endParaRPr>
          </a:p>
          <a:p>
            <a:pPr marL="638256" indent="-285750">
              <a:lnSpc>
                <a:spcPts val="2379"/>
              </a:lnSpc>
              <a:spcBef>
                <a:spcPts val="783"/>
              </a:spcBef>
              <a:buFont typeface="Arial" pitchFamily="34" charset="0"/>
              <a:buChar char="•"/>
            </a:pPr>
            <a:r>
              <a:rPr sz="2000" spc="1041" baseline="13888" dirty="0">
                <a:solidFill>
                  <a:srgbClr val="3333B2"/>
                </a:solidFill>
                <a:cs typeface="Lucida Sans Unicode"/>
              </a:rPr>
              <a:t> </a:t>
            </a:r>
            <a:r>
              <a:rPr sz="2000" spc="-89" dirty="0">
                <a:cs typeface="Tahoma"/>
              </a:rPr>
              <a:t>Reduce</a:t>
            </a:r>
            <a:r>
              <a:rPr sz="2000" spc="30" dirty="0">
                <a:cs typeface="Tahoma"/>
              </a:rPr>
              <a:t> </a:t>
            </a:r>
            <a:r>
              <a:rPr sz="2000" spc="-69" dirty="0">
                <a:cs typeface="Tahoma"/>
              </a:rPr>
              <a:t>dimensionality</a:t>
            </a:r>
            <a:endParaRPr sz="2000" dirty="0">
              <a:cs typeface="Tahoma"/>
            </a:endParaRPr>
          </a:p>
          <a:p>
            <a:pPr marL="638256" indent="-285750">
              <a:lnSpc>
                <a:spcPts val="2369"/>
              </a:lnSpc>
              <a:buFont typeface="Arial" pitchFamily="34" charset="0"/>
              <a:buChar char="•"/>
            </a:pPr>
            <a:r>
              <a:rPr sz="2000" spc="952" baseline="13888" dirty="0">
                <a:solidFill>
                  <a:srgbClr val="3333B2"/>
                </a:solidFill>
                <a:cs typeface="Lucida Sans Unicode"/>
              </a:rPr>
              <a:t> </a:t>
            </a:r>
            <a:r>
              <a:rPr sz="2000" spc="-20" dirty="0">
                <a:cs typeface="Tahoma"/>
              </a:rPr>
              <a:t>Find </a:t>
            </a:r>
            <a:r>
              <a:rPr sz="2000" spc="-69" dirty="0">
                <a:cs typeface="Tahoma"/>
              </a:rPr>
              <a:t>clusters</a:t>
            </a:r>
            <a:endParaRPr sz="2000" dirty="0">
              <a:cs typeface="Tahoma"/>
            </a:endParaRPr>
          </a:p>
          <a:p>
            <a:pPr marL="638256" indent="-285750">
              <a:lnSpc>
                <a:spcPts val="2369"/>
              </a:lnSpc>
              <a:buFont typeface="Arial" pitchFamily="34" charset="0"/>
              <a:buChar char="•"/>
            </a:pPr>
            <a:r>
              <a:rPr sz="2000" spc="979" baseline="13888" dirty="0">
                <a:solidFill>
                  <a:srgbClr val="3333B2"/>
                </a:solidFill>
                <a:cs typeface="Lucida Sans Unicode"/>
              </a:rPr>
              <a:t> </a:t>
            </a:r>
            <a:r>
              <a:rPr sz="2000" spc="-20" dirty="0">
                <a:cs typeface="Tahoma"/>
              </a:rPr>
              <a:t>Model</a:t>
            </a:r>
            <a:r>
              <a:rPr sz="2000" spc="10" dirty="0">
                <a:cs typeface="Tahoma"/>
              </a:rPr>
              <a:t> </a:t>
            </a:r>
            <a:r>
              <a:rPr sz="2000" spc="-59" dirty="0">
                <a:cs typeface="Tahoma"/>
              </a:rPr>
              <a:t>data</a:t>
            </a:r>
            <a:r>
              <a:rPr sz="2000" spc="10" dirty="0">
                <a:cs typeface="Tahoma"/>
              </a:rPr>
              <a:t> </a:t>
            </a:r>
            <a:r>
              <a:rPr sz="2000" spc="-79" dirty="0">
                <a:cs typeface="Tahoma"/>
              </a:rPr>
              <a:t>density</a:t>
            </a:r>
            <a:endParaRPr sz="2000" dirty="0">
              <a:cs typeface="Tahoma"/>
            </a:endParaRPr>
          </a:p>
          <a:p>
            <a:pPr marL="638256" indent="-285750">
              <a:lnSpc>
                <a:spcPts val="2379"/>
              </a:lnSpc>
              <a:buFont typeface="Arial" pitchFamily="34" charset="0"/>
              <a:buChar char="•"/>
            </a:pPr>
            <a:r>
              <a:rPr sz="2000" spc="936" baseline="13888" dirty="0">
                <a:solidFill>
                  <a:srgbClr val="3333B2"/>
                </a:solidFill>
                <a:cs typeface="Lucida Sans Unicode"/>
              </a:rPr>
              <a:t> </a:t>
            </a:r>
            <a:r>
              <a:rPr sz="2000" spc="-20" dirty="0">
                <a:cs typeface="Tahoma"/>
              </a:rPr>
              <a:t>Find </a:t>
            </a:r>
            <a:r>
              <a:rPr sz="2000" spc="-79" dirty="0">
                <a:cs typeface="Tahoma"/>
              </a:rPr>
              <a:t>hidden</a:t>
            </a:r>
            <a:r>
              <a:rPr sz="2000" dirty="0">
                <a:cs typeface="Tahoma"/>
              </a:rPr>
              <a:t> </a:t>
            </a:r>
            <a:r>
              <a:rPr sz="2000" spc="-109" dirty="0">
                <a:cs typeface="Tahoma"/>
              </a:rPr>
              <a:t>causes</a:t>
            </a:r>
            <a:endParaRPr sz="2000" dirty="0">
              <a:cs typeface="Tahoma"/>
            </a:endParaRPr>
          </a:p>
          <a:p>
            <a:pPr marL="75537">
              <a:spcBef>
                <a:spcPts val="1041"/>
              </a:spcBef>
            </a:pPr>
            <a:r>
              <a:rPr sz="2000" spc="-20" dirty="0">
                <a:cs typeface="Tahoma"/>
              </a:rPr>
              <a:t>Key</a:t>
            </a:r>
            <a:r>
              <a:rPr sz="2000" spc="-30" dirty="0">
                <a:cs typeface="Tahoma"/>
              </a:rPr>
              <a:t> </a:t>
            </a:r>
            <a:r>
              <a:rPr sz="2000" spc="-20" dirty="0">
                <a:cs typeface="Tahoma"/>
              </a:rPr>
              <a:t>utility</a:t>
            </a:r>
            <a:endParaRPr sz="2000" dirty="0">
              <a:cs typeface="Tahoma"/>
            </a:endParaRPr>
          </a:p>
          <a:p>
            <a:pPr marL="638256" indent="-285750">
              <a:lnSpc>
                <a:spcPts val="2379"/>
              </a:lnSpc>
              <a:spcBef>
                <a:spcPts val="783"/>
              </a:spcBef>
              <a:buFont typeface="Arial" pitchFamily="34" charset="0"/>
              <a:buChar char="•"/>
            </a:pPr>
            <a:r>
              <a:rPr sz="2000" spc="936" baseline="13888" dirty="0">
                <a:solidFill>
                  <a:srgbClr val="3333B2"/>
                </a:solidFill>
                <a:cs typeface="Lucida Sans Unicode"/>
              </a:rPr>
              <a:t> </a:t>
            </a:r>
            <a:r>
              <a:rPr sz="2000" spc="-99" dirty="0">
                <a:cs typeface="Tahoma"/>
              </a:rPr>
              <a:t>Compress</a:t>
            </a:r>
            <a:r>
              <a:rPr sz="2000" dirty="0">
                <a:cs typeface="Tahoma"/>
              </a:rPr>
              <a:t> </a:t>
            </a:r>
            <a:r>
              <a:rPr sz="2000" spc="-59" dirty="0">
                <a:cs typeface="Tahoma"/>
              </a:rPr>
              <a:t>data</a:t>
            </a:r>
            <a:endParaRPr sz="2000" dirty="0">
              <a:cs typeface="Tahoma"/>
            </a:endParaRPr>
          </a:p>
          <a:p>
            <a:pPr marL="638256" indent="-285750">
              <a:lnSpc>
                <a:spcPts val="2369"/>
              </a:lnSpc>
              <a:buFont typeface="Arial" pitchFamily="34" charset="0"/>
              <a:buChar char="•"/>
            </a:pPr>
            <a:r>
              <a:rPr sz="2000" spc="952" baseline="13888" dirty="0">
                <a:solidFill>
                  <a:srgbClr val="3333B2"/>
                </a:solidFill>
                <a:cs typeface="Lucida Sans Unicode"/>
              </a:rPr>
              <a:t> </a:t>
            </a:r>
            <a:r>
              <a:rPr sz="2000" spc="-40" dirty="0">
                <a:cs typeface="Tahoma"/>
              </a:rPr>
              <a:t>Detect</a:t>
            </a:r>
            <a:r>
              <a:rPr sz="2000" dirty="0">
                <a:cs typeface="Tahoma"/>
              </a:rPr>
              <a:t> </a:t>
            </a:r>
            <a:r>
              <a:rPr sz="2000" spc="-59" dirty="0">
                <a:cs typeface="Tahoma"/>
              </a:rPr>
              <a:t>outliers</a:t>
            </a:r>
            <a:endParaRPr sz="2000" dirty="0">
              <a:cs typeface="Tahoma"/>
            </a:endParaRPr>
          </a:p>
          <a:p>
            <a:pPr marL="638256" indent="-285750">
              <a:lnSpc>
                <a:spcPts val="2379"/>
              </a:lnSpc>
              <a:buFont typeface="Arial" pitchFamily="34" charset="0"/>
              <a:buChar char="•"/>
            </a:pPr>
            <a:r>
              <a:rPr sz="2000" spc="1009" baseline="13888" dirty="0">
                <a:solidFill>
                  <a:srgbClr val="3333B2"/>
                </a:solidFill>
                <a:cs typeface="Lucida Sans Unicode"/>
              </a:rPr>
              <a:t> </a:t>
            </a:r>
            <a:r>
              <a:rPr sz="2000" spc="-30" dirty="0">
                <a:cs typeface="Tahoma"/>
              </a:rPr>
              <a:t>Facilitate</a:t>
            </a:r>
            <a:r>
              <a:rPr sz="2000" spc="30" dirty="0">
                <a:cs typeface="Tahoma"/>
              </a:rPr>
              <a:t> </a:t>
            </a:r>
            <a:r>
              <a:rPr sz="2000" spc="-69" dirty="0">
                <a:cs typeface="Tahoma"/>
              </a:rPr>
              <a:t>other</a:t>
            </a:r>
            <a:r>
              <a:rPr sz="2000" spc="10" dirty="0">
                <a:cs typeface="Tahoma"/>
              </a:rPr>
              <a:t> </a:t>
            </a:r>
            <a:r>
              <a:rPr sz="2000" spc="-79" dirty="0">
                <a:cs typeface="Tahoma"/>
              </a:rPr>
              <a:t>learning</a:t>
            </a:r>
            <a:endParaRPr sz="2000" dirty="0">
              <a:cs typeface="Tahoma"/>
            </a:endParaRPr>
          </a:p>
        </p:txBody>
      </p:sp>
      <p:pic>
        <p:nvPicPr>
          <p:cNvPr id="5" name="object 5"/>
          <p:cNvPicPr/>
          <p:nvPr/>
        </p:nvPicPr>
        <p:blipFill>
          <a:blip r:embed="rId3" cstate="print"/>
          <a:stretch>
            <a:fillRect/>
          </a:stretch>
        </p:blipFill>
        <p:spPr>
          <a:xfrm>
            <a:off x="557533" y="2267268"/>
            <a:ext cx="129451" cy="129332"/>
          </a:xfrm>
          <a:prstGeom prst="rect">
            <a:avLst/>
          </a:prstGeom>
        </p:spPr>
      </p:pic>
      <p:pic>
        <p:nvPicPr>
          <p:cNvPr id="6" name="object 6"/>
          <p:cNvPicPr/>
          <p:nvPr/>
        </p:nvPicPr>
        <p:blipFill>
          <a:blip r:embed="rId2" cstate="print"/>
          <a:stretch>
            <a:fillRect/>
          </a:stretch>
        </p:blipFill>
        <p:spPr>
          <a:xfrm>
            <a:off x="557533" y="3404564"/>
            <a:ext cx="129451" cy="129332"/>
          </a:xfrm>
          <a:prstGeom prst="rect">
            <a:avLst/>
          </a:prstGeom>
        </p:spPr>
      </p:pic>
      <p:pic>
        <p:nvPicPr>
          <p:cNvPr id="7" name="object 7"/>
          <p:cNvPicPr/>
          <p:nvPr/>
        </p:nvPicPr>
        <p:blipFill>
          <a:blip r:embed="rId2" cstate="print"/>
          <a:stretch>
            <a:fillRect/>
          </a:stretch>
        </p:blipFill>
        <p:spPr>
          <a:xfrm>
            <a:off x="557533" y="5143601"/>
            <a:ext cx="129451" cy="129332"/>
          </a:xfrm>
          <a:prstGeom prst="rect">
            <a:avLst/>
          </a:prstGeom>
        </p:spPr>
      </p:pic>
      <p:sp>
        <p:nvSpPr>
          <p:cNvPr id="14" name="object 14"/>
          <p:cNvSpPr txBox="1"/>
          <p:nvPr/>
        </p:nvSpPr>
        <p:spPr>
          <a:xfrm>
            <a:off x="8554024" y="6642068"/>
            <a:ext cx="477352" cy="166712"/>
          </a:xfrm>
          <a:prstGeom prst="rect">
            <a:avLst/>
          </a:prstGeom>
        </p:spPr>
        <p:txBody>
          <a:bodyPr vert="horz" wrap="square" lIns="0" tIns="0" rIns="0" bIns="0" rtlCol="0">
            <a:spAutoFit/>
          </a:bodyPr>
          <a:lstStyle/>
          <a:p>
            <a:pPr marL="25179">
              <a:lnSpc>
                <a:spcPts val="1338"/>
              </a:lnSpc>
            </a:pPr>
            <a:r>
              <a:rPr sz="1200" spc="-30" dirty="0">
                <a:solidFill>
                  <a:srgbClr val="FFFFFF"/>
                </a:solidFill>
                <a:latin typeface="Tahoma"/>
                <a:cs typeface="Tahoma"/>
              </a:rPr>
              <a:t>4 </a:t>
            </a:r>
            <a:r>
              <a:rPr sz="1200" spc="169" dirty="0">
                <a:solidFill>
                  <a:srgbClr val="FFFFFF"/>
                </a:solidFill>
                <a:latin typeface="Tahoma"/>
                <a:cs typeface="Tahoma"/>
              </a:rPr>
              <a:t>/</a:t>
            </a:r>
            <a:r>
              <a:rPr sz="1200" spc="-30" dirty="0">
                <a:solidFill>
                  <a:srgbClr val="FFFFFF"/>
                </a:solidFill>
                <a:latin typeface="Tahoma"/>
                <a:cs typeface="Tahoma"/>
              </a:rPr>
              <a:t> 20</a:t>
            </a:r>
            <a:endParaRPr sz="1200" dirty="0">
              <a:latin typeface="Tahoma"/>
              <a:cs typeface="Tahoma"/>
            </a:endParaRPr>
          </a:p>
        </p:txBody>
      </p:sp>
    </p:spTree>
    <p:extLst>
      <p:ext uri="{BB962C8B-B14F-4D97-AF65-F5344CB8AC3E}">
        <p14:creationId xmlns:p14="http://schemas.microsoft.com/office/powerpoint/2010/main" val="587512062"/>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229600" cy="1143000"/>
          </a:xfrm>
        </p:spPr>
        <p:txBody>
          <a:bodyPr>
            <a:normAutofit/>
          </a:bodyPr>
          <a:lstStyle/>
          <a:p>
            <a:r>
              <a:rPr lang="en-GB" dirty="0">
                <a:latin typeface="+mn-lt"/>
              </a:rPr>
              <a:t>Unsupervised</a:t>
            </a:r>
            <a:r>
              <a:rPr lang="en-GB" spc="-75" dirty="0">
                <a:latin typeface="+mn-lt"/>
              </a:rPr>
              <a:t> </a:t>
            </a:r>
            <a:r>
              <a:rPr lang="en-GB" dirty="0">
                <a:latin typeface="+mn-lt"/>
              </a:rPr>
              <a:t>Learning</a:t>
            </a:r>
          </a:p>
        </p:txBody>
      </p:sp>
      <p:grpSp>
        <p:nvGrpSpPr>
          <p:cNvPr id="24" name="object 3"/>
          <p:cNvGrpSpPr/>
          <p:nvPr/>
        </p:nvGrpSpPr>
        <p:grpSpPr>
          <a:xfrm>
            <a:off x="327056" y="3511169"/>
            <a:ext cx="8623300" cy="1551940"/>
            <a:chOff x="1569085" y="2057526"/>
            <a:chExt cx="8623300" cy="1551940"/>
          </a:xfrm>
        </p:grpSpPr>
        <p:sp>
          <p:nvSpPr>
            <p:cNvPr id="25" name="object 4"/>
            <p:cNvSpPr/>
            <p:nvPr/>
          </p:nvSpPr>
          <p:spPr>
            <a:xfrm>
              <a:off x="1575435" y="2063876"/>
              <a:ext cx="8610600" cy="1539240"/>
            </a:xfrm>
            <a:custGeom>
              <a:avLst/>
              <a:gdLst/>
              <a:ahLst/>
              <a:cxnLst/>
              <a:rect l="l" t="t" r="r" b="b"/>
              <a:pathLst>
                <a:path w="8610600" h="1539239">
                  <a:moveTo>
                    <a:pt x="8354060" y="0"/>
                  </a:moveTo>
                  <a:lnTo>
                    <a:pt x="256540" y="0"/>
                  </a:lnTo>
                  <a:lnTo>
                    <a:pt x="210413" y="4131"/>
                  </a:lnTo>
                  <a:lnTo>
                    <a:pt x="167005" y="16044"/>
                  </a:lnTo>
                  <a:lnTo>
                    <a:pt x="127037" y="35014"/>
                  </a:lnTo>
                  <a:lnTo>
                    <a:pt x="91234" y="60318"/>
                  </a:lnTo>
                  <a:lnTo>
                    <a:pt x="60318" y="91234"/>
                  </a:lnTo>
                  <a:lnTo>
                    <a:pt x="35014" y="127037"/>
                  </a:lnTo>
                  <a:lnTo>
                    <a:pt x="16044" y="167005"/>
                  </a:lnTo>
                  <a:lnTo>
                    <a:pt x="4131" y="210413"/>
                  </a:lnTo>
                  <a:lnTo>
                    <a:pt x="0" y="256539"/>
                  </a:lnTo>
                  <a:lnTo>
                    <a:pt x="0" y="1282700"/>
                  </a:lnTo>
                  <a:lnTo>
                    <a:pt x="4131" y="1328826"/>
                  </a:lnTo>
                  <a:lnTo>
                    <a:pt x="16044" y="1372234"/>
                  </a:lnTo>
                  <a:lnTo>
                    <a:pt x="35014" y="1412202"/>
                  </a:lnTo>
                  <a:lnTo>
                    <a:pt x="60318" y="1448005"/>
                  </a:lnTo>
                  <a:lnTo>
                    <a:pt x="91234" y="1478921"/>
                  </a:lnTo>
                  <a:lnTo>
                    <a:pt x="127037" y="1504225"/>
                  </a:lnTo>
                  <a:lnTo>
                    <a:pt x="167005" y="1523195"/>
                  </a:lnTo>
                  <a:lnTo>
                    <a:pt x="210413" y="1535108"/>
                  </a:lnTo>
                  <a:lnTo>
                    <a:pt x="256540" y="1539239"/>
                  </a:lnTo>
                  <a:lnTo>
                    <a:pt x="8354060" y="1539239"/>
                  </a:lnTo>
                  <a:lnTo>
                    <a:pt x="8400186" y="1535108"/>
                  </a:lnTo>
                  <a:lnTo>
                    <a:pt x="8443594" y="1523195"/>
                  </a:lnTo>
                  <a:lnTo>
                    <a:pt x="8483562" y="1504225"/>
                  </a:lnTo>
                  <a:lnTo>
                    <a:pt x="8519365" y="1478921"/>
                  </a:lnTo>
                  <a:lnTo>
                    <a:pt x="8550281" y="1448005"/>
                  </a:lnTo>
                  <a:lnTo>
                    <a:pt x="8575585" y="1412202"/>
                  </a:lnTo>
                  <a:lnTo>
                    <a:pt x="8594555" y="1372234"/>
                  </a:lnTo>
                  <a:lnTo>
                    <a:pt x="8606468" y="1328826"/>
                  </a:lnTo>
                  <a:lnTo>
                    <a:pt x="8610600" y="1282700"/>
                  </a:lnTo>
                  <a:lnTo>
                    <a:pt x="8610600" y="256539"/>
                  </a:lnTo>
                  <a:lnTo>
                    <a:pt x="8606468" y="210413"/>
                  </a:lnTo>
                  <a:lnTo>
                    <a:pt x="8594555" y="167005"/>
                  </a:lnTo>
                  <a:lnTo>
                    <a:pt x="8575585" y="127037"/>
                  </a:lnTo>
                  <a:lnTo>
                    <a:pt x="8550281" y="91234"/>
                  </a:lnTo>
                  <a:lnTo>
                    <a:pt x="8519365" y="60318"/>
                  </a:lnTo>
                  <a:lnTo>
                    <a:pt x="8483562" y="35014"/>
                  </a:lnTo>
                  <a:lnTo>
                    <a:pt x="8443594" y="16044"/>
                  </a:lnTo>
                  <a:lnTo>
                    <a:pt x="8400186" y="4131"/>
                  </a:lnTo>
                  <a:lnTo>
                    <a:pt x="8354060" y="0"/>
                  </a:lnTo>
                  <a:close/>
                </a:path>
              </a:pathLst>
            </a:custGeom>
            <a:solidFill>
              <a:srgbClr val="D9D9D9"/>
            </a:solidFill>
          </p:spPr>
          <p:txBody>
            <a:bodyPr wrap="square" lIns="0" tIns="0" rIns="0" bIns="0" rtlCol="0"/>
            <a:lstStyle/>
            <a:p>
              <a:endParaRPr/>
            </a:p>
          </p:txBody>
        </p:sp>
        <p:sp>
          <p:nvSpPr>
            <p:cNvPr id="26" name="object 5"/>
            <p:cNvSpPr/>
            <p:nvPr/>
          </p:nvSpPr>
          <p:spPr>
            <a:xfrm>
              <a:off x="1575435" y="2063876"/>
              <a:ext cx="8610600" cy="1539240"/>
            </a:xfrm>
            <a:custGeom>
              <a:avLst/>
              <a:gdLst/>
              <a:ahLst/>
              <a:cxnLst/>
              <a:rect l="l" t="t" r="r" b="b"/>
              <a:pathLst>
                <a:path w="8610600" h="1539239">
                  <a:moveTo>
                    <a:pt x="0" y="256539"/>
                  </a:moveTo>
                  <a:lnTo>
                    <a:pt x="4131" y="210413"/>
                  </a:lnTo>
                  <a:lnTo>
                    <a:pt x="16044" y="167005"/>
                  </a:lnTo>
                  <a:lnTo>
                    <a:pt x="35014" y="127037"/>
                  </a:lnTo>
                  <a:lnTo>
                    <a:pt x="60318" y="91234"/>
                  </a:lnTo>
                  <a:lnTo>
                    <a:pt x="91234" y="60318"/>
                  </a:lnTo>
                  <a:lnTo>
                    <a:pt x="127037" y="35014"/>
                  </a:lnTo>
                  <a:lnTo>
                    <a:pt x="167005" y="16044"/>
                  </a:lnTo>
                  <a:lnTo>
                    <a:pt x="210413" y="4131"/>
                  </a:lnTo>
                  <a:lnTo>
                    <a:pt x="256540" y="0"/>
                  </a:lnTo>
                  <a:lnTo>
                    <a:pt x="8354060" y="0"/>
                  </a:lnTo>
                  <a:lnTo>
                    <a:pt x="8400186" y="4131"/>
                  </a:lnTo>
                  <a:lnTo>
                    <a:pt x="8443594" y="16044"/>
                  </a:lnTo>
                  <a:lnTo>
                    <a:pt x="8483562" y="35014"/>
                  </a:lnTo>
                  <a:lnTo>
                    <a:pt x="8519365" y="60318"/>
                  </a:lnTo>
                  <a:lnTo>
                    <a:pt x="8550281" y="91234"/>
                  </a:lnTo>
                  <a:lnTo>
                    <a:pt x="8575585" y="127037"/>
                  </a:lnTo>
                  <a:lnTo>
                    <a:pt x="8594555" y="167005"/>
                  </a:lnTo>
                  <a:lnTo>
                    <a:pt x="8606468" y="210413"/>
                  </a:lnTo>
                  <a:lnTo>
                    <a:pt x="8610600" y="256539"/>
                  </a:lnTo>
                  <a:lnTo>
                    <a:pt x="8610600" y="1282700"/>
                  </a:lnTo>
                  <a:lnTo>
                    <a:pt x="8606468" y="1328826"/>
                  </a:lnTo>
                  <a:lnTo>
                    <a:pt x="8594555" y="1372234"/>
                  </a:lnTo>
                  <a:lnTo>
                    <a:pt x="8575585" y="1412202"/>
                  </a:lnTo>
                  <a:lnTo>
                    <a:pt x="8550281" y="1448005"/>
                  </a:lnTo>
                  <a:lnTo>
                    <a:pt x="8519365" y="1478921"/>
                  </a:lnTo>
                  <a:lnTo>
                    <a:pt x="8483562" y="1504225"/>
                  </a:lnTo>
                  <a:lnTo>
                    <a:pt x="8443594" y="1523195"/>
                  </a:lnTo>
                  <a:lnTo>
                    <a:pt x="8400186" y="1535108"/>
                  </a:lnTo>
                  <a:lnTo>
                    <a:pt x="8354060" y="1539239"/>
                  </a:lnTo>
                  <a:lnTo>
                    <a:pt x="256540" y="1539239"/>
                  </a:lnTo>
                  <a:lnTo>
                    <a:pt x="210413" y="1535108"/>
                  </a:lnTo>
                  <a:lnTo>
                    <a:pt x="167005" y="1523195"/>
                  </a:lnTo>
                  <a:lnTo>
                    <a:pt x="127037" y="1504225"/>
                  </a:lnTo>
                  <a:lnTo>
                    <a:pt x="91234" y="1478921"/>
                  </a:lnTo>
                  <a:lnTo>
                    <a:pt x="60318" y="1448005"/>
                  </a:lnTo>
                  <a:lnTo>
                    <a:pt x="35014" y="1412202"/>
                  </a:lnTo>
                  <a:lnTo>
                    <a:pt x="16044" y="1372234"/>
                  </a:lnTo>
                  <a:lnTo>
                    <a:pt x="4131" y="1328826"/>
                  </a:lnTo>
                  <a:lnTo>
                    <a:pt x="0" y="1282700"/>
                  </a:lnTo>
                  <a:lnTo>
                    <a:pt x="0" y="256539"/>
                  </a:lnTo>
                  <a:close/>
                </a:path>
              </a:pathLst>
            </a:custGeom>
            <a:ln w="12700">
              <a:solidFill>
                <a:srgbClr val="FAE4D5"/>
              </a:solidFill>
            </a:ln>
          </p:spPr>
          <p:txBody>
            <a:bodyPr wrap="square" lIns="0" tIns="0" rIns="0" bIns="0" rtlCol="0"/>
            <a:lstStyle/>
            <a:p>
              <a:endParaRPr/>
            </a:p>
          </p:txBody>
        </p:sp>
        <p:sp>
          <p:nvSpPr>
            <p:cNvPr id="27" name="object 6"/>
            <p:cNvSpPr/>
            <p:nvPr/>
          </p:nvSpPr>
          <p:spPr>
            <a:xfrm>
              <a:off x="2219325" y="2525648"/>
              <a:ext cx="1371600" cy="838200"/>
            </a:xfrm>
            <a:custGeom>
              <a:avLst/>
              <a:gdLst/>
              <a:ahLst/>
              <a:cxnLst/>
              <a:rect l="l" t="t" r="r" b="b"/>
              <a:pathLst>
                <a:path w="1371600" h="838200">
                  <a:moveTo>
                    <a:pt x="1231900" y="0"/>
                  </a:moveTo>
                  <a:lnTo>
                    <a:pt x="139700" y="0"/>
                  </a:lnTo>
                  <a:lnTo>
                    <a:pt x="95520" y="7116"/>
                  </a:lnTo>
                  <a:lnTo>
                    <a:pt x="57168" y="26936"/>
                  </a:lnTo>
                  <a:lnTo>
                    <a:pt x="26936" y="57168"/>
                  </a:lnTo>
                  <a:lnTo>
                    <a:pt x="7116" y="95520"/>
                  </a:lnTo>
                  <a:lnTo>
                    <a:pt x="0" y="139700"/>
                  </a:lnTo>
                  <a:lnTo>
                    <a:pt x="0" y="698500"/>
                  </a:lnTo>
                  <a:lnTo>
                    <a:pt x="7116" y="742679"/>
                  </a:lnTo>
                  <a:lnTo>
                    <a:pt x="26936" y="781031"/>
                  </a:lnTo>
                  <a:lnTo>
                    <a:pt x="57168" y="811263"/>
                  </a:lnTo>
                  <a:lnTo>
                    <a:pt x="95520" y="831083"/>
                  </a:lnTo>
                  <a:lnTo>
                    <a:pt x="139700" y="838200"/>
                  </a:lnTo>
                  <a:lnTo>
                    <a:pt x="1231900" y="838200"/>
                  </a:lnTo>
                  <a:lnTo>
                    <a:pt x="1276079" y="831083"/>
                  </a:lnTo>
                  <a:lnTo>
                    <a:pt x="1314431" y="811263"/>
                  </a:lnTo>
                  <a:lnTo>
                    <a:pt x="1344663" y="781031"/>
                  </a:lnTo>
                  <a:lnTo>
                    <a:pt x="1364483" y="742679"/>
                  </a:lnTo>
                  <a:lnTo>
                    <a:pt x="1371600" y="698500"/>
                  </a:lnTo>
                  <a:lnTo>
                    <a:pt x="1371600" y="139700"/>
                  </a:lnTo>
                  <a:lnTo>
                    <a:pt x="1364483" y="95520"/>
                  </a:lnTo>
                  <a:lnTo>
                    <a:pt x="1344663" y="57168"/>
                  </a:lnTo>
                  <a:lnTo>
                    <a:pt x="1314431" y="26936"/>
                  </a:lnTo>
                  <a:lnTo>
                    <a:pt x="1276079" y="7116"/>
                  </a:lnTo>
                  <a:lnTo>
                    <a:pt x="1231900" y="0"/>
                  </a:lnTo>
                  <a:close/>
                </a:path>
              </a:pathLst>
            </a:custGeom>
            <a:solidFill>
              <a:srgbClr val="FFFFFF"/>
            </a:solidFill>
          </p:spPr>
          <p:txBody>
            <a:bodyPr wrap="square" lIns="0" tIns="0" rIns="0" bIns="0" rtlCol="0"/>
            <a:lstStyle/>
            <a:p>
              <a:endParaRPr/>
            </a:p>
          </p:txBody>
        </p:sp>
        <p:sp>
          <p:nvSpPr>
            <p:cNvPr id="28" name="object 7"/>
            <p:cNvSpPr/>
            <p:nvPr/>
          </p:nvSpPr>
          <p:spPr>
            <a:xfrm>
              <a:off x="2219325" y="2525648"/>
              <a:ext cx="1371600" cy="838200"/>
            </a:xfrm>
            <a:custGeom>
              <a:avLst/>
              <a:gdLst/>
              <a:ahLst/>
              <a:cxnLst/>
              <a:rect l="l" t="t" r="r" b="b"/>
              <a:pathLst>
                <a:path w="1371600" h="838200">
                  <a:moveTo>
                    <a:pt x="0" y="139700"/>
                  </a:moveTo>
                  <a:lnTo>
                    <a:pt x="7116" y="95520"/>
                  </a:lnTo>
                  <a:lnTo>
                    <a:pt x="26936" y="57168"/>
                  </a:lnTo>
                  <a:lnTo>
                    <a:pt x="57168" y="26936"/>
                  </a:lnTo>
                  <a:lnTo>
                    <a:pt x="95520" y="7116"/>
                  </a:lnTo>
                  <a:lnTo>
                    <a:pt x="139700" y="0"/>
                  </a:lnTo>
                  <a:lnTo>
                    <a:pt x="1231900" y="0"/>
                  </a:lnTo>
                  <a:lnTo>
                    <a:pt x="1276079" y="7116"/>
                  </a:lnTo>
                  <a:lnTo>
                    <a:pt x="1314431" y="26936"/>
                  </a:lnTo>
                  <a:lnTo>
                    <a:pt x="1344663" y="57168"/>
                  </a:lnTo>
                  <a:lnTo>
                    <a:pt x="1364483" y="95520"/>
                  </a:lnTo>
                  <a:lnTo>
                    <a:pt x="1371600" y="139700"/>
                  </a:lnTo>
                  <a:lnTo>
                    <a:pt x="1371600" y="698500"/>
                  </a:lnTo>
                  <a:lnTo>
                    <a:pt x="1364483" y="742679"/>
                  </a:lnTo>
                  <a:lnTo>
                    <a:pt x="1344663" y="781031"/>
                  </a:lnTo>
                  <a:lnTo>
                    <a:pt x="1314431" y="811263"/>
                  </a:lnTo>
                  <a:lnTo>
                    <a:pt x="1276079" y="831083"/>
                  </a:lnTo>
                  <a:lnTo>
                    <a:pt x="1231900" y="838200"/>
                  </a:lnTo>
                  <a:lnTo>
                    <a:pt x="139700" y="838200"/>
                  </a:lnTo>
                  <a:lnTo>
                    <a:pt x="95520" y="831083"/>
                  </a:lnTo>
                  <a:lnTo>
                    <a:pt x="57168" y="811263"/>
                  </a:lnTo>
                  <a:lnTo>
                    <a:pt x="26936" y="781031"/>
                  </a:lnTo>
                  <a:lnTo>
                    <a:pt x="7116" y="742679"/>
                  </a:lnTo>
                  <a:lnTo>
                    <a:pt x="0" y="698500"/>
                  </a:lnTo>
                  <a:lnTo>
                    <a:pt x="0" y="139700"/>
                  </a:lnTo>
                  <a:close/>
                </a:path>
              </a:pathLst>
            </a:custGeom>
            <a:ln w="12700">
              <a:solidFill>
                <a:srgbClr val="6FAC46"/>
              </a:solidFill>
            </a:ln>
          </p:spPr>
          <p:txBody>
            <a:bodyPr wrap="square" lIns="0" tIns="0" rIns="0" bIns="0" rtlCol="0"/>
            <a:lstStyle/>
            <a:p>
              <a:endParaRPr/>
            </a:p>
          </p:txBody>
        </p:sp>
      </p:grpSp>
      <p:sp>
        <p:nvSpPr>
          <p:cNvPr id="29" name="object 8"/>
          <p:cNvSpPr txBox="1"/>
          <p:nvPr/>
        </p:nvSpPr>
        <p:spPr>
          <a:xfrm>
            <a:off x="977296" y="3959607"/>
            <a:ext cx="1160907" cy="848360"/>
          </a:xfrm>
          <a:prstGeom prst="rect">
            <a:avLst/>
          </a:prstGeom>
        </p:spPr>
        <p:txBody>
          <a:bodyPr vert="horz" wrap="square" lIns="0" tIns="12700" rIns="0" bIns="0" rtlCol="0">
            <a:spAutoFit/>
          </a:bodyPr>
          <a:lstStyle/>
          <a:p>
            <a:pPr marL="12700" marR="5080" indent="-1270" algn="ctr">
              <a:lnSpc>
                <a:spcPct val="100000"/>
              </a:lnSpc>
              <a:spcBef>
                <a:spcPts val="100"/>
              </a:spcBef>
            </a:pPr>
            <a:r>
              <a:rPr sz="1800" dirty="0">
                <a:cs typeface="Calibri"/>
              </a:rPr>
              <a:t>All </a:t>
            </a:r>
            <a:r>
              <a:rPr sz="1800" spc="5" dirty="0">
                <a:cs typeface="Calibri"/>
              </a:rPr>
              <a:t> </a:t>
            </a:r>
            <a:r>
              <a:rPr sz="1800" spc="-5" dirty="0">
                <a:cs typeface="Calibri"/>
              </a:rPr>
              <a:t>u</a:t>
            </a:r>
            <a:r>
              <a:rPr sz="1800" dirty="0">
                <a:cs typeface="Calibri"/>
              </a:rPr>
              <a:t>nlabeled  </a:t>
            </a:r>
            <a:r>
              <a:rPr sz="1800" spc="-15" dirty="0">
                <a:cs typeface="Calibri"/>
              </a:rPr>
              <a:t>data</a:t>
            </a:r>
            <a:endParaRPr sz="1800" dirty="0">
              <a:cs typeface="Calibri"/>
            </a:endParaRPr>
          </a:p>
        </p:txBody>
      </p:sp>
      <p:sp>
        <p:nvSpPr>
          <p:cNvPr id="30" name="object 9"/>
          <p:cNvSpPr txBox="1"/>
          <p:nvPr/>
        </p:nvSpPr>
        <p:spPr>
          <a:xfrm>
            <a:off x="349806" y="1682401"/>
            <a:ext cx="8217312" cy="1363194"/>
          </a:xfrm>
          <a:prstGeom prst="rect">
            <a:avLst/>
          </a:prstGeom>
        </p:spPr>
        <p:txBody>
          <a:bodyPr vert="horz" wrap="square" lIns="0" tIns="146050" rIns="0" bIns="0" rtlCol="0">
            <a:spAutoFit/>
          </a:bodyPr>
          <a:lstStyle/>
          <a:p>
            <a:pPr marL="36830" marR="5080">
              <a:lnSpc>
                <a:spcPct val="100000"/>
              </a:lnSpc>
              <a:spcBef>
                <a:spcPts val="790"/>
              </a:spcBef>
            </a:pPr>
            <a:r>
              <a:rPr sz="1800">
                <a:cs typeface="Segoe Print"/>
              </a:rPr>
              <a:t>The </a:t>
            </a:r>
            <a:r>
              <a:rPr sz="1800" spc="-5" dirty="0">
                <a:cs typeface="Segoe Print"/>
              </a:rPr>
              <a:t>learning algorithm</a:t>
            </a:r>
            <a:r>
              <a:rPr sz="1800" dirty="0">
                <a:cs typeface="Segoe Print"/>
              </a:rPr>
              <a:t> </a:t>
            </a:r>
            <a:r>
              <a:rPr sz="1800" spc="-5" dirty="0">
                <a:cs typeface="Segoe Print"/>
              </a:rPr>
              <a:t>would</a:t>
            </a:r>
            <a:r>
              <a:rPr sz="1800" dirty="0">
                <a:cs typeface="Segoe Print"/>
              </a:rPr>
              <a:t> </a:t>
            </a:r>
            <a:r>
              <a:rPr sz="1800" spc="-5" dirty="0">
                <a:cs typeface="Segoe Print"/>
              </a:rPr>
              <a:t>receive</a:t>
            </a:r>
            <a:r>
              <a:rPr sz="1800" spc="5" dirty="0">
                <a:cs typeface="Segoe Print"/>
              </a:rPr>
              <a:t> </a:t>
            </a:r>
            <a:r>
              <a:rPr sz="1800" dirty="0">
                <a:cs typeface="Segoe Print"/>
              </a:rPr>
              <a:t>unlabeled</a:t>
            </a:r>
            <a:r>
              <a:rPr sz="1800" spc="5" dirty="0">
                <a:cs typeface="Segoe Print"/>
              </a:rPr>
              <a:t> </a:t>
            </a:r>
            <a:r>
              <a:rPr sz="1800" spc="-5" dirty="0">
                <a:cs typeface="Segoe Print"/>
              </a:rPr>
              <a:t>raw data</a:t>
            </a:r>
            <a:r>
              <a:rPr sz="1800" spc="25" dirty="0">
                <a:cs typeface="Segoe Print"/>
              </a:rPr>
              <a:t> </a:t>
            </a:r>
            <a:r>
              <a:rPr sz="1800" dirty="0">
                <a:cs typeface="Segoe Print"/>
              </a:rPr>
              <a:t>to </a:t>
            </a:r>
            <a:r>
              <a:rPr sz="1800" spc="-5" dirty="0">
                <a:cs typeface="Segoe Print"/>
              </a:rPr>
              <a:t>train</a:t>
            </a:r>
            <a:r>
              <a:rPr sz="1800" spc="5" dirty="0">
                <a:cs typeface="Segoe Print"/>
              </a:rPr>
              <a:t> </a:t>
            </a:r>
            <a:r>
              <a:rPr sz="1800" dirty="0">
                <a:cs typeface="Segoe Print"/>
              </a:rPr>
              <a:t>a</a:t>
            </a:r>
            <a:r>
              <a:rPr sz="1800" spc="5" dirty="0">
                <a:cs typeface="Segoe Print"/>
              </a:rPr>
              <a:t> </a:t>
            </a:r>
            <a:r>
              <a:rPr sz="1800" dirty="0">
                <a:cs typeface="Segoe Print"/>
              </a:rPr>
              <a:t>model </a:t>
            </a:r>
            <a:r>
              <a:rPr sz="1800" spc="-705" dirty="0">
                <a:cs typeface="Segoe Print"/>
              </a:rPr>
              <a:t> </a:t>
            </a:r>
            <a:r>
              <a:rPr sz="1800" dirty="0">
                <a:cs typeface="Segoe Print"/>
              </a:rPr>
              <a:t>and</a:t>
            </a:r>
            <a:r>
              <a:rPr sz="1800" spc="-5" dirty="0">
                <a:cs typeface="Segoe Print"/>
              </a:rPr>
              <a:t> </a:t>
            </a:r>
            <a:r>
              <a:rPr sz="1800" dirty="0">
                <a:cs typeface="Segoe Print"/>
              </a:rPr>
              <a:t>to</a:t>
            </a:r>
            <a:r>
              <a:rPr sz="1800" spc="-5" dirty="0">
                <a:cs typeface="Segoe Print"/>
              </a:rPr>
              <a:t> </a:t>
            </a:r>
            <a:r>
              <a:rPr sz="1800" dirty="0">
                <a:cs typeface="Segoe Print"/>
              </a:rPr>
              <a:t>find</a:t>
            </a:r>
            <a:r>
              <a:rPr sz="1800" spc="-5" dirty="0">
                <a:cs typeface="Segoe Print"/>
              </a:rPr>
              <a:t> </a:t>
            </a:r>
            <a:r>
              <a:rPr sz="1800" dirty="0">
                <a:cs typeface="Segoe Print"/>
              </a:rPr>
              <a:t>patterns</a:t>
            </a:r>
            <a:r>
              <a:rPr sz="1800" spc="-10" dirty="0">
                <a:cs typeface="Segoe Print"/>
              </a:rPr>
              <a:t> </a:t>
            </a:r>
            <a:r>
              <a:rPr sz="1800" dirty="0">
                <a:cs typeface="Segoe Print"/>
              </a:rPr>
              <a:t>in</a:t>
            </a:r>
            <a:r>
              <a:rPr sz="1800" spc="-5" dirty="0">
                <a:cs typeface="Segoe Print"/>
              </a:rPr>
              <a:t> </a:t>
            </a:r>
            <a:r>
              <a:rPr sz="1800" dirty="0">
                <a:cs typeface="Segoe Print"/>
              </a:rPr>
              <a:t>the</a:t>
            </a:r>
            <a:r>
              <a:rPr sz="1800" spc="15" dirty="0">
                <a:cs typeface="Segoe Print"/>
              </a:rPr>
              <a:t> </a:t>
            </a:r>
            <a:r>
              <a:rPr sz="1800" spc="-5" dirty="0">
                <a:cs typeface="Segoe Print"/>
              </a:rPr>
              <a:t>data</a:t>
            </a:r>
            <a:endParaRPr sz="1800" dirty="0">
              <a:cs typeface="Segoe Print"/>
            </a:endParaRPr>
          </a:p>
          <a:p>
            <a:pPr>
              <a:lnSpc>
                <a:spcPct val="100000"/>
              </a:lnSpc>
            </a:pPr>
            <a:endParaRPr sz="2500" dirty="0">
              <a:cs typeface="Segoe Print"/>
            </a:endParaRPr>
          </a:p>
          <a:p>
            <a:pPr marL="2050414">
              <a:lnSpc>
                <a:spcPct val="100000"/>
              </a:lnSpc>
            </a:pPr>
            <a:r>
              <a:rPr sz="1800" spc="-20" dirty="0">
                <a:cs typeface="Calibri"/>
              </a:rPr>
              <a:t>Training</a:t>
            </a:r>
            <a:r>
              <a:rPr sz="1800" spc="-30" dirty="0">
                <a:cs typeface="Calibri"/>
              </a:rPr>
              <a:t> </a:t>
            </a:r>
            <a:r>
              <a:rPr sz="1800" spc="-15" dirty="0">
                <a:cs typeface="Calibri"/>
              </a:rPr>
              <a:t>Data</a:t>
            </a:r>
            <a:endParaRPr sz="1800" dirty="0">
              <a:cs typeface="Calibri"/>
            </a:endParaRPr>
          </a:p>
        </p:txBody>
      </p:sp>
      <p:grpSp>
        <p:nvGrpSpPr>
          <p:cNvPr id="31" name="object 10"/>
          <p:cNvGrpSpPr/>
          <p:nvPr/>
        </p:nvGrpSpPr>
        <p:grpSpPr>
          <a:xfrm>
            <a:off x="2567971" y="4070985"/>
            <a:ext cx="3136900" cy="686435"/>
            <a:chOff x="3810000" y="2617342"/>
            <a:chExt cx="3136900" cy="686435"/>
          </a:xfrm>
        </p:grpSpPr>
        <p:sp>
          <p:nvSpPr>
            <p:cNvPr id="32" name="object 11"/>
            <p:cNvSpPr/>
            <p:nvPr/>
          </p:nvSpPr>
          <p:spPr>
            <a:xfrm>
              <a:off x="3819525" y="2848736"/>
              <a:ext cx="914400" cy="224154"/>
            </a:xfrm>
            <a:custGeom>
              <a:avLst/>
              <a:gdLst/>
              <a:ahLst/>
              <a:cxnLst/>
              <a:rect l="l" t="t" r="r" b="b"/>
              <a:pathLst>
                <a:path w="914400" h="224155">
                  <a:moveTo>
                    <a:pt x="802386" y="0"/>
                  </a:moveTo>
                  <a:lnTo>
                    <a:pt x="802386" y="56007"/>
                  </a:lnTo>
                  <a:lnTo>
                    <a:pt x="0" y="56007"/>
                  </a:lnTo>
                  <a:lnTo>
                    <a:pt x="0" y="168021"/>
                  </a:lnTo>
                  <a:lnTo>
                    <a:pt x="802386" y="168021"/>
                  </a:lnTo>
                  <a:lnTo>
                    <a:pt x="802386" y="224027"/>
                  </a:lnTo>
                  <a:lnTo>
                    <a:pt x="914400" y="112013"/>
                  </a:lnTo>
                  <a:lnTo>
                    <a:pt x="802386" y="0"/>
                  </a:lnTo>
                  <a:close/>
                </a:path>
              </a:pathLst>
            </a:custGeom>
            <a:solidFill>
              <a:srgbClr val="6FAC46"/>
            </a:solidFill>
          </p:spPr>
          <p:txBody>
            <a:bodyPr wrap="square" lIns="0" tIns="0" rIns="0" bIns="0" rtlCol="0"/>
            <a:lstStyle/>
            <a:p>
              <a:endParaRPr/>
            </a:p>
          </p:txBody>
        </p:sp>
        <p:sp>
          <p:nvSpPr>
            <p:cNvPr id="33" name="object 12"/>
            <p:cNvSpPr/>
            <p:nvPr/>
          </p:nvSpPr>
          <p:spPr>
            <a:xfrm>
              <a:off x="3819525" y="2848736"/>
              <a:ext cx="914400" cy="224154"/>
            </a:xfrm>
            <a:custGeom>
              <a:avLst/>
              <a:gdLst/>
              <a:ahLst/>
              <a:cxnLst/>
              <a:rect l="l" t="t" r="r" b="b"/>
              <a:pathLst>
                <a:path w="914400" h="224155">
                  <a:moveTo>
                    <a:pt x="0" y="56007"/>
                  </a:moveTo>
                  <a:lnTo>
                    <a:pt x="802386" y="56007"/>
                  </a:lnTo>
                  <a:lnTo>
                    <a:pt x="802386" y="0"/>
                  </a:lnTo>
                  <a:lnTo>
                    <a:pt x="914400" y="112013"/>
                  </a:lnTo>
                  <a:lnTo>
                    <a:pt x="802386" y="224027"/>
                  </a:lnTo>
                  <a:lnTo>
                    <a:pt x="802386" y="168021"/>
                  </a:lnTo>
                  <a:lnTo>
                    <a:pt x="0" y="168021"/>
                  </a:lnTo>
                  <a:lnTo>
                    <a:pt x="0" y="56007"/>
                  </a:lnTo>
                  <a:close/>
                </a:path>
              </a:pathLst>
            </a:custGeom>
            <a:ln w="19050">
              <a:solidFill>
                <a:srgbClr val="FFFFFF"/>
              </a:solidFill>
            </a:ln>
          </p:spPr>
          <p:txBody>
            <a:bodyPr wrap="square" lIns="0" tIns="0" rIns="0" bIns="0" rtlCol="0"/>
            <a:lstStyle/>
            <a:p>
              <a:endParaRPr/>
            </a:p>
          </p:txBody>
        </p:sp>
        <p:pic>
          <p:nvPicPr>
            <p:cNvPr id="34" name="object 13"/>
            <p:cNvPicPr/>
            <p:nvPr/>
          </p:nvPicPr>
          <p:blipFill>
            <a:blip r:embed="rId2" cstate="print"/>
            <a:stretch>
              <a:fillRect/>
            </a:stretch>
          </p:blipFill>
          <p:spPr>
            <a:xfrm>
              <a:off x="4962144" y="2620517"/>
              <a:ext cx="1981200" cy="679704"/>
            </a:xfrm>
            <a:prstGeom prst="rect">
              <a:avLst/>
            </a:prstGeom>
          </p:spPr>
        </p:pic>
        <p:sp>
          <p:nvSpPr>
            <p:cNvPr id="35" name="object 14"/>
            <p:cNvSpPr/>
            <p:nvPr/>
          </p:nvSpPr>
          <p:spPr>
            <a:xfrm>
              <a:off x="4962144" y="2620517"/>
              <a:ext cx="1981200" cy="680085"/>
            </a:xfrm>
            <a:custGeom>
              <a:avLst/>
              <a:gdLst/>
              <a:ahLst/>
              <a:cxnLst/>
              <a:rect l="l" t="t" r="r" b="b"/>
              <a:pathLst>
                <a:path w="1981200" h="680085">
                  <a:moveTo>
                    <a:pt x="0" y="339852"/>
                  </a:moveTo>
                  <a:lnTo>
                    <a:pt x="9042" y="293733"/>
                  </a:lnTo>
                  <a:lnTo>
                    <a:pt x="35383" y="249502"/>
                  </a:lnTo>
                  <a:lnTo>
                    <a:pt x="77843" y="207561"/>
                  </a:lnTo>
                  <a:lnTo>
                    <a:pt x="135240" y="168317"/>
                  </a:lnTo>
                  <a:lnTo>
                    <a:pt x="169172" y="149832"/>
                  </a:lnTo>
                  <a:lnTo>
                    <a:pt x="206397" y="132173"/>
                  </a:lnTo>
                  <a:lnTo>
                    <a:pt x="246765" y="115391"/>
                  </a:lnTo>
                  <a:lnTo>
                    <a:pt x="290131" y="99536"/>
                  </a:lnTo>
                  <a:lnTo>
                    <a:pt x="336346" y="84658"/>
                  </a:lnTo>
                  <a:lnTo>
                    <a:pt x="385264" y="70809"/>
                  </a:lnTo>
                  <a:lnTo>
                    <a:pt x="436736" y="58038"/>
                  </a:lnTo>
                  <a:lnTo>
                    <a:pt x="490615" y="46397"/>
                  </a:lnTo>
                  <a:lnTo>
                    <a:pt x="546753" y="35936"/>
                  </a:lnTo>
                  <a:lnTo>
                    <a:pt x="605004" y="26705"/>
                  </a:lnTo>
                  <a:lnTo>
                    <a:pt x="665219" y="18756"/>
                  </a:lnTo>
                  <a:lnTo>
                    <a:pt x="727251" y="12139"/>
                  </a:lnTo>
                  <a:lnTo>
                    <a:pt x="790953" y="6904"/>
                  </a:lnTo>
                  <a:lnTo>
                    <a:pt x="856176" y="3102"/>
                  </a:lnTo>
                  <a:lnTo>
                    <a:pt x="922774" y="783"/>
                  </a:lnTo>
                  <a:lnTo>
                    <a:pt x="990600" y="0"/>
                  </a:lnTo>
                  <a:lnTo>
                    <a:pt x="1058425" y="783"/>
                  </a:lnTo>
                  <a:lnTo>
                    <a:pt x="1125023" y="3102"/>
                  </a:lnTo>
                  <a:lnTo>
                    <a:pt x="1190246" y="6904"/>
                  </a:lnTo>
                  <a:lnTo>
                    <a:pt x="1253948" y="12139"/>
                  </a:lnTo>
                  <a:lnTo>
                    <a:pt x="1315980" y="18756"/>
                  </a:lnTo>
                  <a:lnTo>
                    <a:pt x="1376195" y="26705"/>
                  </a:lnTo>
                  <a:lnTo>
                    <a:pt x="1434446" y="35936"/>
                  </a:lnTo>
                  <a:lnTo>
                    <a:pt x="1490584" y="46397"/>
                  </a:lnTo>
                  <a:lnTo>
                    <a:pt x="1544463" y="58038"/>
                  </a:lnTo>
                  <a:lnTo>
                    <a:pt x="1595935" y="70809"/>
                  </a:lnTo>
                  <a:lnTo>
                    <a:pt x="1644853" y="84658"/>
                  </a:lnTo>
                  <a:lnTo>
                    <a:pt x="1691068" y="99536"/>
                  </a:lnTo>
                  <a:lnTo>
                    <a:pt x="1734434" y="115391"/>
                  </a:lnTo>
                  <a:lnTo>
                    <a:pt x="1774802" y="132173"/>
                  </a:lnTo>
                  <a:lnTo>
                    <a:pt x="1812027" y="149832"/>
                  </a:lnTo>
                  <a:lnTo>
                    <a:pt x="1845959" y="168317"/>
                  </a:lnTo>
                  <a:lnTo>
                    <a:pt x="1903356" y="207561"/>
                  </a:lnTo>
                  <a:lnTo>
                    <a:pt x="1945816" y="249502"/>
                  </a:lnTo>
                  <a:lnTo>
                    <a:pt x="1972157" y="293733"/>
                  </a:lnTo>
                  <a:lnTo>
                    <a:pt x="1981200" y="339852"/>
                  </a:lnTo>
                  <a:lnTo>
                    <a:pt x="1978914" y="363121"/>
                  </a:lnTo>
                  <a:lnTo>
                    <a:pt x="1961075" y="408347"/>
                  </a:lnTo>
                  <a:lnTo>
                    <a:pt x="1926527" y="451483"/>
                  </a:lnTo>
                  <a:lnTo>
                    <a:pt x="1876451" y="492126"/>
                  </a:lnTo>
                  <a:lnTo>
                    <a:pt x="1812027" y="529871"/>
                  </a:lnTo>
                  <a:lnTo>
                    <a:pt x="1774802" y="547530"/>
                  </a:lnTo>
                  <a:lnTo>
                    <a:pt x="1734434" y="564312"/>
                  </a:lnTo>
                  <a:lnTo>
                    <a:pt x="1691068" y="580167"/>
                  </a:lnTo>
                  <a:lnTo>
                    <a:pt x="1644853" y="595045"/>
                  </a:lnTo>
                  <a:lnTo>
                    <a:pt x="1595935" y="608894"/>
                  </a:lnTo>
                  <a:lnTo>
                    <a:pt x="1544463" y="621665"/>
                  </a:lnTo>
                  <a:lnTo>
                    <a:pt x="1490584" y="633306"/>
                  </a:lnTo>
                  <a:lnTo>
                    <a:pt x="1434446" y="643767"/>
                  </a:lnTo>
                  <a:lnTo>
                    <a:pt x="1376195" y="652998"/>
                  </a:lnTo>
                  <a:lnTo>
                    <a:pt x="1315980" y="660947"/>
                  </a:lnTo>
                  <a:lnTo>
                    <a:pt x="1253948" y="667564"/>
                  </a:lnTo>
                  <a:lnTo>
                    <a:pt x="1190246" y="672799"/>
                  </a:lnTo>
                  <a:lnTo>
                    <a:pt x="1125023" y="676601"/>
                  </a:lnTo>
                  <a:lnTo>
                    <a:pt x="1058425" y="678920"/>
                  </a:lnTo>
                  <a:lnTo>
                    <a:pt x="990600" y="679704"/>
                  </a:lnTo>
                  <a:lnTo>
                    <a:pt x="922774" y="678920"/>
                  </a:lnTo>
                  <a:lnTo>
                    <a:pt x="856176" y="676601"/>
                  </a:lnTo>
                  <a:lnTo>
                    <a:pt x="790953" y="672799"/>
                  </a:lnTo>
                  <a:lnTo>
                    <a:pt x="727251" y="667564"/>
                  </a:lnTo>
                  <a:lnTo>
                    <a:pt x="665219" y="660947"/>
                  </a:lnTo>
                  <a:lnTo>
                    <a:pt x="605004" y="652998"/>
                  </a:lnTo>
                  <a:lnTo>
                    <a:pt x="546753" y="643767"/>
                  </a:lnTo>
                  <a:lnTo>
                    <a:pt x="490615" y="633306"/>
                  </a:lnTo>
                  <a:lnTo>
                    <a:pt x="436736" y="621665"/>
                  </a:lnTo>
                  <a:lnTo>
                    <a:pt x="385264" y="608894"/>
                  </a:lnTo>
                  <a:lnTo>
                    <a:pt x="336346" y="595045"/>
                  </a:lnTo>
                  <a:lnTo>
                    <a:pt x="290131" y="580167"/>
                  </a:lnTo>
                  <a:lnTo>
                    <a:pt x="246765" y="564312"/>
                  </a:lnTo>
                  <a:lnTo>
                    <a:pt x="206397" y="547530"/>
                  </a:lnTo>
                  <a:lnTo>
                    <a:pt x="169172" y="529871"/>
                  </a:lnTo>
                  <a:lnTo>
                    <a:pt x="135240" y="511386"/>
                  </a:lnTo>
                  <a:lnTo>
                    <a:pt x="77843" y="472142"/>
                  </a:lnTo>
                  <a:lnTo>
                    <a:pt x="35383" y="430201"/>
                  </a:lnTo>
                  <a:lnTo>
                    <a:pt x="9042" y="385970"/>
                  </a:lnTo>
                  <a:lnTo>
                    <a:pt x="0" y="339852"/>
                  </a:lnTo>
                  <a:close/>
                </a:path>
              </a:pathLst>
            </a:custGeom>
            <a:ln w="6350">
              <a:solidFill>
                <a:srgbClr val="FFFFFF"/>
              </a:solidFill>
            </a:ln>
          </p:spPr>
          <p:txBody>
            <a:bodyPr wrap="square" lIns="0" tIns="0" rIns="0" bIns="0" rtlCol="0"/>
            <a:lstStyle/>
            <a:p>
              <a:endParaRPr/>
            </a:p>
          </p:txBody>
        </p:sp>
      </p:grpSp>
      <p:sp>
        <p:nvSpPr>
          <p:cNvPr id="36" name="object 15"/>
          <p:cNvSpPr txBox="1"/>
          <p:nvPr/>
        </p:nvSpPr>
        <p:spPr>
          <a:xfrm>
            <a:off x="4179331" y="4249928"/>
            <a:ext cx="1062767" cy="289823"/>
          </a:xfrm>
          <a:prstGeom prst="rect">
            <a:avLst/>
          </a:prstGeom>
        </p:spPr>
        <p:txBody>
          <a:bodyPr vert="horz" wrap="square" lIns="0" tIns="12700" rIns="0" bIns="0" rtlCol="0">
            <a:spAutoFit/>
          </a:bodyPr>
          <a:lstStyle/>
          <a:p>
            <a:pPr marL="12700">
              <a:lnSpc>
                <a:spcPct val="100000"/>
              </a:lnSpc>
              <a:spcBef>
                <a:spcPts val="100"/>
              </a:spcBef>
            </a:pPr>
            <a:r>
              <a:rPr sz="1800" dirty="0">
                <a:cs typeface="Calibri"/>
              </a:rPr>
              <a:t>Model</a:t>
            </a:r>
          </a:p>
        </p:txBody>
      </p:sp>
      <p:sp>
        <p:nvSpPr>
          <p:cNvPr id="37" name="object 16"/>
          <p:cNvSpPr txBox="1"/>
          <p:nvPr/>
        </p:nvSpPr>
        <p:spPr>
          <a:xfrm>
            <a:off x="6999763" y="3989071"/>
            <a:ext cx="1530985" cy="1120820"/>
          </a:xfrm>
          <a:prstGeom prst="rect">
            <a:avLst/>
          </a:prstGeom>
        </p:spPr>
        <p:txBody>
          <a:bodyPr vert="horz" wrap="square" lIns="0" tIns="12700" rIns="0" bIns="0" rtlCol="0">
            <a:spAutoFit/>
          </a:bodyPr>
          <a:lstStyle/>
          <a:p>
            <a:pPr marL="12700" marR="5080">
              <a:lnSpc>
                <a:spcPct val="100000"/>
              </a:lnSpc>
              <a:spcBef>
                <a:spcPts val="100"/>
              </a:spcBef>
            </a:pPr>
            <a:r>
              <a:rPr sz="1800" spc="-10" dirty="0">
                <a:cs typeface="Calibri"/>
              </a:rPr>
              <a:t>Structured data, </a:t>
            </a:r>
            <a:r>
              <a:rPr sz="1800" spc="-400" dirty="0">
                <a:cs typeface="Calibri"/>
              </a:rPr>
              <a:t> </a:t>
            </a:r>
            <a:r>
              <a:rPr sz="1800" spc="-5" dirty="0">
                <a:cs typeface="Calibri"/>
              </a:rPr>
              <a:t>Labeled</a:t>
            </a:r>
            <a:r>
              <a:rPr sz="1800" spc="5" dirty="0">
                <a:cs typeface="Calibri"/>
              </a:rPr>
              <a:t> </a:t>
            </a:r>
            <a:r>
              <a:rPr sz="1800" spc="-10" dirty="0">
                <a:cs typeface="Calibri"/>
              </a:rPr>
              <a:t>data, </a:t>
            </a:r>
            <a:r>
              <a:rPr sz="1800" spc="-5" dirty="0">
                <a:cs typeface="Calibri"/>
              </a:rPr>
              <a:t> </a:t>
            </a:r>
            <a:r>
              <a:rPr sz="1800" spc="-10" dirty="0">
                <a:cs typeface="Calibri"/>
              </a:rPr>
              <a:t>Clustering</a:t>
            </a:r>
            <a:endParaRPr sz="1800">
              <a:cs typeface="Calibri"/>
            </a:endParaRPr>
          </a:p>
        </p:txBody>
      </p:sp>
      <p:grpSp>
        <p:nvGrpSpPr>
          <p:cNvPr id="38" name="object 17"/>
          <p:cNvGrpSpPr/>
          <p:nvPr/>
        </p:nvGrpSpPr>
        <p:grpSpPr>
          <a:xfrm>
            <a:off x="5844571" y="4292854"/>
            <a:ext cx="933450" cy="243204"/>
            <a:chOff x="7086600" y="2839211"/>
            <a:chExt cx="933450" cy="243204"/>
          </a:xfrm>
        </p:grpSpPr>
        <p:sp>
          <p:nvSpPr>
            <p:cNvPr id="39" name="object 18"/>
            <p:cNvSpPr/>
            <p:nvPr/>
          </p:nvSpPr>
          <p:spPr>
            <a:xfrm>
              <a:off x="7096125" y="2848736"/>
              <a:ext cx="914400" cy="224154"/>
            </a:xfrm>
            <a:custGeom>
              <a:avLst/>
              <a:gdLst/>
              <a:ahLst/>
              <a:cxnLst/>
              <a:rect l="l" t="t" r="r" b="b"/>
              <a:pathLst>
                <a:path w="914400" h="224155">
                  <a:moveTo>
                    <a:pt x="802385" y="0"/>
                  </a:moveTo>
                  <a:lnTo>
                    <a:pt x="802385" y="56007"/>
                  </a:lnTo>
                  <a:lnTo>
                    <a:pt x="0" y="56007"/>
                  </a:lnTo>
                  <a:lnTo>
                    <a:pt x="0" y="168021"/>
                  </a:lnTo>
                  <a:lnTo>
                    <a:pt x="802385" y="168021"/>
                  </a:lnTo>
                  <a:lnTo>
                    <a:pt x="802385" y="224027"/>
                  </a:lnTo>
                  <a:lnTo>
                    <a:pt x="914400" y="112013"/>
                  </a:lnTo>
                  <a:lnTo>
                    <a:pt x="802385" y="0"/>
                  </a:lnTo>
                  <a:close/>
                </a:path>
              </a:pathLst>
            </a:custGeom>
            <a:solidFill>
              <a:srgbClr val="6FAC46"/>
            </a:solidFill>
          </p:spPr>
          <p:txBody>
            <a:bodyPr wrap="square" lIns="0" tIns="0" rIns="0" bIns="0" rtlCol="0"/>
            <a:lstStyle/>
            <a:p>
              <a:endParaRPr/>
            </a:p>
          </p:txBody>
        </p:sp>
        <p:sp>
          <p:nvSpPr>
            <p:cNvPr id="40" name="object 19"/>
            <p:cNvSpPr/>
            <p:nvPr/>
          </p:nvSpPr>
          <p:spPr>
            <a:xfrm>
              <a:off x="7096125" y="2848736"/>
              <a:ext cx="914400" cy="224154"/>
            </a:xfrm>
            <a:custGeom>
              <a:avLst/>
              <a:gdLst/>
              <a:ahLst/>
              <a:cxnLst/>
              <a:rect l="l" t="t" r="r" b="b"/>
              <a:pathLst>
                <a:path w="914400" h="224155">
                  <a:moveTo>
                    <a:pt x="0" y="56007"/>
                  </a:moveTo>
                  <a:lnTo>
                    <a:pt x="802385" y="56007"/>
                  </a:lnTo>
                  <a:lnTo>
                    <a:pt x="802385" y="0"/>
                  </a:lnTo>
                  <a:lnTo>
                    <a:pt x="914400" y="112013"/>
                  </a:lnTo>
                  <a:lnTo>
                    <a:pt x="802385" y="224027"/>
                  </a:lnTo>
                  <a:lnTo>
                    <a:pt x="802385" y="168021"/>
                  </a:lnTo>
                  <a:lnTo>
                    <a:pt x="0" y="168021"/>
                  </a:lnTo>
                  <a:lnTo>
                    <a:pt x="0" y="56007"/>
                  </a:lnTo>
                  <a:close/>
                </a:path>
              </a:pathLst>
            </a:custGeom>
            <a:ln w="19050">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148646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7391400" cy="808038"/>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23558" name="Text Box 49"/>
          <p:cNvSpPr txBox="1">
            <a:spLocks noChangeArrowheads="1"/>
          </p:cNvSpPr>
          <p:nvPr/>
        </p:nvSpPr>
        <p:spPr bwMode="auto">
          <a:xfrm>
            <a:off x="6034088" y="3735388"/>
            <a:ext cx="1509712" cy="400050"/>
          </a:xfrm>
          <a:prstGeom prst="rect">
            <a:avLst/>
          </a:prstGeom>
          <a:noFill/>
          <a:ln w="9525">
            <a:noFill/>
            <a:miter lim="800000"/>
            <a:headEnd/>
            <a:tailEnd/>
          </a:ln>
        </p:spPr>
        <p:txBody>
          <a:bodyPr wrap="none">
            <a:spAutoFit/>
          </a:bodyPr>
          <a:lstStyle/>
          <a:p>
            <a:r>
              <a:rPr lang="en-GB" sz="2000">
                <a:latin typeface="Tahoma" pitchFamily="34" charset="0"/>
              </a:rPr>
              <a:t>Data matrix</a:t>
            </a:r>
            <a:endParaRPr lang="en-US"/>
          </a:p>
        </p:txBody>
      </p:sp>
      <p:sp>
        <p:nvSpPr>
          <p:cNvPr id="23559" name="Text Box 51"/>
          <p:cNvSpPr txBox="1">
            <a:spLocks noChangeArrowheads="1"/>
          </p:cNvSpPr>
          <p:nvPr/>
        </p:nvSpPr>
        <p:spPr bwMode="auto">
          <a:xfrm>
            <a:off x="1023938" y="5410200"/>
            <a:ext cx="2252662" cy="396875"/>
          </a:xfrm>
          <a:prstGeom prst="rect">
            <a:avLst/>
          </a:prstGeom>
          <a:noFill/>
          <a:ln w="9525">
            <a:noFill/>
            <a:miter lim="800000"/>
            <a:headEnd/>
            <a:tailEnd/>
          </a:ln>
        </p:spPr>
        <p:txBody>
          <a:bodyPr wrap="none">
            <a:spAutoFit/>
          </a:bodyPr>
          <a:lstStyle/>
          <a:p>
            <a:r>
              <a:rPr lang="en-GB" sz="2000">
                <a:latin typeface="Tahoma" pitchFamily="34" charset="0"/>
              </a:rPr>
              <a:t>Euclidean distance</a:t>
            </a:r>
            <a:endParaRPr lang="en-US"/>
          </a:p>
        </p:txBody>
      </p:sp>
      <p:pic>
        <p:nvPicPr>
          <p:cNvPr id="23560" name="Picture 22"/>
          <p:cNvPicPr>
            <a:picLocks noChangeAspect="1" noChangeArrowheads="1"/>
          </p:cNvPicPr>
          <p:nvPr/>
        </p:nvPicPr>
        <p:blipFill>
          <a:blip r:embed="rId2"/>
          <a:srcRect/>
          <a:stretch>
            <a:fillRect/>
          </a:stretch>
        </p:blipFill>
        <p:spPr bwMode="auto">
          <a:xfrm>
            <a:off x="685800" y="1876425"/>
            <a:ext cx="3495675" cy="2876550"/>
          </a:xfrm>
          <a:prstGeom prst="rect">
            <a:avLst/>
          </a:prstGeom>
          <a:noFill/>
          <a:ln w="9525">
            <a:noFill/>
            <a:miter lim="800000"/>
            <a:headEnd/>
            <a:tailEnd/>
          </a:ln>
        </p:spPr>
      </p:pic>
      <p:graphicFrame>
        <p:nvGraphicFramePr>
          <p:cNvPr id="13" name="Table 12"/>
          <p:cNvGraphicFramePr>
            <a:graphicFrameLocks noGrp="1"/>
          </p:cNvGraphicFramePr>
          <p:nvPr/>
        </p:nvGraphicFramePr>
        <p:xfrm>
          <a:off x="5410200" y="1600200"/>
          <a:ext cx="1981200" cy="2133600"/>
        </p:xfrm>
        <a:graphic>
          <a:graphicData uri="http://schemas.openxmlformats.org/drawingml/2006/table">
            <a:tbl>
              <a:tblPr firstRow="1" bandRow="1">
                <a:tableStyleId>{5940675A-B579-460E-94D1-54222C63F5DA}</a:tableStyleId>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261257">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X2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61257">
                <a:tc>
                  <a:txBody>
                    <a:bodyPr/>
                    <a:lstStyle/>
                    <a:p>
                      <a:r>
                        <a:rPr lang="en-US" sz="140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1"/>
                  </a:ext>
                </a:extLst>
              </a:tr>
              <a:tr h="261257">
                <a:tc>
                  <a:txBody>
                    <a:bodyPr/>
                    <a:lstStyle/>
                    <a:p>
                      <a:r>
                        <a:rPr lang="en-US" sz="140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2"/>
                  </a:ext>
                </a:extLst>
              </a:tr>
              <a:tr h="261257">
                <a:tc>
                  <a:txBody>
                    <a:bodyPr/>
                    <a:lstStyle/>
                    <a:p>
                      <a:r>
                        <a:rPr lang="en-US" sz="1400" dirty="0"/>
                        <a:t>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3"/>
                  </a:ext>
                </a:extLst>
              </a:tr>
              <a:tr h="261257">
                <a:tc>
                  <a:txBody>
                    <a:bodyPr/>
                    <a:lstStyle/>
                    <a:p>
                      <a:r>
                        <a:rPr lang="en-US" sz="140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4"/>
                  </a:ext>
                </a:extLst>
              </a:tr>
              <a:tr h="261257">
                <a:tc>
                  <a:txBody>
                    <a:bodyPr/>
                    <a:lstStyle/>
                    <a:p>
                      <a:r>
                        <a:rPr lang="en-US" sz="1400" dirty="0"/>
                        <a: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5"/>
                  </a:ext>
                </a:extLst>
              </a:tr>
              <a:tr h="261257">
                <a:tc>
                  <a:txBody>
                    <a:bodyPr/>
                    <a:lstStyle/>
                    <a:p>
                      <a:r>
                        <a:rPr lang="en-US" sz="1400" dirty="0"/>
                        <a:t>F</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3.5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6"/>
                  </a:ext>
                </a:extLst>
              </a:tr>
            </a:tbl>
          </a:graphicData>
        </a:graphic>
      </p:graphicFrame>
      <p:sp>
        <p:nvSpPr>
          <p:cNvPr id="14" name="Double Brace 13"/>
          <p:cNvSpPr/>
          <p:nvPr/>
        </p:nvSpPr>
        <p:spPr>
          <a:xfrm>
            <a:off x="5791200" y="1828800"/>
            <a:ext cx="1905000" cy="1905000"/>
          </a:xfrm>
          <a:prstGeom prst="brace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5" name="TextBox 14"/>
          <p:cNvSpPr txBox="1"/>
          <p:nvPr/>
        </p:nvSpPr>
        <p:spPr>
          <a:xfrm>
            <a:off x="228600" y="4953000"/>
            <a:ext cx="4038600" cy="400050"/>
          </a:xfrm>
          <a:prstGeom prst="rect">
            <a:avLst/>
          </a:prstGeom>
          <a:solidFill>
            <a:schemeClr val="bg2">
              <a:lumMod val="75000"/>
            </a:schemeClr>
          </a:solidFill>
        </p:spPr>
        <p:txBody>
          <a:bodyPr>
            <a:spAutoFit/>
          </a:bodyPr>
          <a:lstStyle/>
          <a:p>
            <a:pPr fontAlgn="auto">
              <a:spcBef>
                <a:spcPts val="0"/>
              </a:spcBef>
              <a:spcAft>
                <a:spcPts val="0"/>
              </a:spcAft>
              <a:defRPr/>
            </a:pPr>
            <a:r>
              <a:rPr lang="en-US" sz="2000" dirty="0">
                <a:latin typeface="+mn-lt"/>
                <a:cs typeface="+mn-cs"/>
              </a:rPr>
              <a:t>d</a:t>
            </a:r>
            <a:r>
              <a:rPr lang="en-US" sz="2000" baseline="-25000" dirty="0">
                <a:latin typeface="+mn-lt"/>
                <a:cs typeface="+mn-cs"/>
              </a:rPr>
              <a:t>AB</a:t>
            </a:r>
            <a:r>
              <a:rPr lang="en-US" sz="2000" dirty="0">
                <a:latin typeface="+mn-lt"/>
                <a:cs typeface="+mn-cs"/>
              </a:rPr>
              <a:t> = ((1-1.5)</a:t>
            </a:r>
            <a:r>
              <a:rPr lang="en-US" sz="2000" baseline="30000" dirty="0">
                <a:latin typeface="+mn-lt"/>
                <a:cs typeface="+mn-cs"/>
              </a:rPr>
              <a:t>2</a:t>
            </a:r>
            <a:r>
              <a:rPr lang="en-US" sz="2000" dirty="0">
                <a:latin typeface="+mn-lt"/>
                <a:cs typeface="+mn-cs"/>
              </a:rPr>
              <a:t>+(1-1.5)</a:t>
            </a:r>
            <a:r>
              <a:rPr lang="en-US" sz="2000" baseline="30000" dirty="0">
                <a:latin typeface="+mn-lt"/>
                <a:cs typeface="+mn-cs"/>
              </a:rPr>
              <a:t>2</a:t>
            </a:r>
            <a:r>
              <a:rPr lang="en-US" sz="2000" baseline="40000" dirty="0">
                <a:latin typeface="+mn-lt"/>
                <a:cs typeface="+mn-cs"/>
              </a:rPr>
              <a:t>)1/2</a:t>
            </a:r>
            <a:r>
              <a:rPr lang="en-US" sz="2000" dirty="0">
                <a:latin typeface="+mn-lt"/>
                <a:cs typeface="+mn-cs"/>
              </a:rPr>
              <a:t> = 0.707</a:t>
            </a:r>
          </a:p>
        </p:txBody>
      </p:sp>
      <p:graphicFrame>
        <p:nvGraphicFramePr>
          <p:cNvPr id="16" name="Table 15"/>
          <p:cNvGraphicFramePr>
            <a:graphicFrameLocks noGrp="1"/>
          </p:cNvGraphicFramePr>
          <p:nvPr/>
        </p:nvGraphicFramePr>
        <p:xfrm>
          <a:off x="4572000" y="4267200"/>
          <a:ext cx="4114796" cy="21336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gridCol w="587828">
                  <a:extLst>
                    <a:ext uri="{9D8B030D-6E8A-4147-A177-3AD203B41FA5}">
                      <a16:colId xmlns:a16="http://schemas.microsoft.com/office/drawing/2014/main" val="20006"/>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3.61</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3.20</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dirty="0"/>
                        <a:t>2.92</a:t>
                      </a:r>
                    </a:p>
                  </a:txBody>
                  <a:tcPr>
                    <a:solidFill>
                      <a:srgbClr val="FF7C80"/>
                    </a:solidFill>
                  </a:tcPr>
                </a:tc>
                <a:tc>
                  <a:txBody>
                    <a:bodyPr/>
                    <a:lstStyle/>
                    <a:p>
                      <a:pPr algn="ctr"/>
                      <a:r>
                        <a:rPr lang="en-US" sz="1400" dirty="0"/>
                        <a:t>3.54</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2.24</a:t>
                      </a:r>
                    </a:p>
                  </a:txBody>
                  <a:tcPr>
                    <a:solidFill>
                      <a:srgbClr val="FF7C80"/>
                    </a:solidFill>
                  </a:tcPr>
                </a:tc>
                <a:tc>
                  <a:txBody>
                    <a:bodyPr/>
                    <a:lstStyle/>
                    <a:p>
                      <a:pPr algn="ctr"/>
                      <a:r>
                        <a:rPr lang="en-US" sz="1400" dirty="0"/>
                        <a:t>1.41</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2.92</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2.24</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1.00</a:t>
                      </a:r>
                    </a:p>
                  </a:txBody>
                  <a:tcPr>
                    <a:solidFill>
                      <a:srgbClr val="FF7C80"/>
                    </a:solidFill>
                  </a:tcPr>
                </a:tc>
                <a:tc>
                  <a:txBody>
                    <a:bodyPr/>
                    <a:lstStyle/>
                    <a:p>
                      <a:pPr algn="ctr"/>
                      <a:r>
                        <a:rPr lang="en-US" sz="1400" dirty="0"/>
                        <a:t>0.50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dirty="0"/>
                        <a:t>1.00</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1.12</a:t>
                      </a:r>
                    </a:p>
                  </a:txBody>
                  <a:tcPr>
                    <a:solidFill>
                      <a:srgbClr val="FF7C80"/>
                    </a:solidFill>
                  </a:tcPr>
                </a:tc>
                <a:extLst>
                  <a:ext uri="{0D108BD9-81ED-4DB2-BD59-A6C34878D82A}">
                    <a16:rowId xmlns:a16="http://schemas.microsoft.com/office/drawing/2014/main" val="10005"/>
                  </a:ext>
                </a:extLst>
              </a:tr>
              <a:tr h="206829">
                <a:tc>
                  <a:txBody>
                    <a:bodyPr/>
                    <a:lstStyle/>
                    <a:p>
                      <a:r>
                        <a:rPr lang="en-US" sz="1400" dirty="0"/>
                        <a:t>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2.50</a:t>
                      </a:r>
                    </a:p>
                  </a:txBody>
                  <a:tcPr>
                    <a:solidFill>
                      <a:srgbClr val="CCFF99"/>
                    </a:solidFill>
                  </a:tcPr>
                </a:tc>
                <a:tc>
                  <a:txBody>
                    <a:bodyPr/>
                    <a:lstStyle/>
                    <a:p>
                      <a:pPr algn="ctr"/>
                      <a:r>
                        <a:rPr lang="en-US" sz="1400" dirty="0"/>
                        <a:t>0.50</a:t>
                      </a:r>
                    </a:p>
                  </a:txBody>
                  <a:tcPr>
                    <a:solidFill>
                      <a:srgbClr val="CCFF99"/>
                    </a:solidFill>
                  </a:tcPr>
                </a:tc>
                <a:tc>
                  <a:txBody>
                    <a:bodyPr/>
                    <a:lstStyle/>
                    <a:p>
                      <a:pPr algn="ctr"/>
                      <a:r>
                        <a:rPr lang="en-US" sz="1400" dirty="0"/>
                        <a:t>1.12</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54996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8229600" cy="1143000"/>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24582" name="Text Box 49"/>
          <p:cNvSpPr txBox="1">
            <a:spLocks noChangeArrowheads="1"/>
          </p:cNvSpPr>
          <p:nvPr/>
        </p:nvSpPr>
        <p:spPr bwMode="auto">
          <a:xfrm>
            <a:off x="6034088" y="3735388"/>
            <a:ext cx="1509712" cy="400050"/>
          </a:xfrm>
          <a:prstGeom prst="rect">
            <a:avLst/>
          </a:prstGeom>
          <a:noFill/>
          <a:ln w="9525">
            <a:noFill/>
            <a:miter lim="800000"/>
            <a:headEnd/>
            <a:tailEnd/>
          </a:ln>
        </p:spPr>
        <p:txBody>
          <a:bodyPr wrap="none">
            <a:spAutoFit/>
          </a:bodyPr>
          <a:lstStyle/>
          <a:p>
            <a:r>
              <a:rPr lang="en-GB" sz="2000">
                <a:latin typeface="Tahoma" pitchFamily="34" charset="0"/>
              </a:rPr>
              <a:t>Data matrix</a:t>
            </a:r>
            <a:endParaRPr lang="en-US"/>
          </a:p>
        </p:txBody>
      </p:sp>
      <p:sp>
        <p:nvSpPr>
          <p:cNvPr id="24583" name="Text Box 51"/>
          <p:cNvSpPr txBox="1">
            <a:spLocks noChangeArrowheads="1"/>
          </p:cNvSpPr>
          <p:nvPr/>
        </p:nvSpPr>
        <p:spPr bwMode="auto">
          <a:xfrm>
            <a:off x="1143000" y="5562600"/>
            <a:ext cx="2227263" cy="307975"/>
          </a:xfrm>
          <a:prstGeom prst="rect">
            <a:avLst/>
          </a:prstGeom>
          <a:solidFill>
            <a:srgbClr val="FFFF99"/>
          </a:solidFill>
          <a:ln w="9525">
            <a:noFill/>
            <a:miter lim="800000"/>
            <a:headEnd/>
            <a:tailEnd/>
          </a:ln>
        </p:spPr>
        <p:txBody>
          <a:bodyPr wrap="none">
            <a:spAutoFit/>
          </a:bodyPr>
          <a:lstStyle/>
          <a:p>
            <a:r>
              <a:rPr lang="en-GB" sz="1400">
                <a:latin typeface="Century Schoolbook" pitchFamily="18" charset="0"/>
              </a:rPr>
              <a:t>Find two closest clusters</a:t>
            </a:r>
            <a:endParaRPr lang="en-US" sz="1400">
              <a:latin typeface="Century Schoolbook" pitchFamily="18" charset="0"/>
            </a:endParaRPr>
          </a:p>
        </p:txBody>
      </p:sp>
      <p:pic>
        <p:nvPicPr>
          <p:cNvPr id="24584" name="Picture 22"/>
          <p:cNvPicPr>
            <a:picLocks noChangeAspect="1" noChangeArrowheads="1"/>
          </p:cNvPicPr>
          <p:nvPr/>
        </p:nvPicPr>
        <p:blipFill>
          <a:blip r:embed="rId2"/>
          <a:srcRect/>
          <a:stretch>
            <a:fillRect/>
          </a:stretch>
        </p:blipFill>
        <p:spPr bwMode="auto">
          <a:xfrm>
            <a:off x="685800" y="1876425"/>
            <a:ext cx="3495675" cy="2876550"/>
          </a:xfrm>
          <a:prstGeom prst="rect">
            <a:avLst/>
          </a:prstGeom>
          <a:noFill/>
          <a:ln w="9525">
            <a:noFill/>
            <a:miter lim="800000"/>
            <a:headEnd/>
            <a:tailEnd/>
          </a:ln>
        </p:spPr>
      </p:pic>
      <p:graphicFrame>
        <p:nvGraphicFramePr>
          <p:cNvPr id="13" name="Table 12"/>
          <p:cNvGraphicFramePr>
            <a:graphicFrameLocks noGrp="1"/>
          </p:cNvGraphicFramePr>
          <p:nvPr/>
        </p:nvGraphicFramePr>
        <p:xfrm>
          <a:off x="5410200" y="1600200"/>
          <a:ext cx="1981200" cy="2133600"/>
        </p:xfrm>
        <a:graphic>
          <a:graphicData uri="http://schemas.openxmlformats.org/drawingml/2006/table">
            <a:tbl>
              <a:tblPr firstRow="1" bandRow="1">
                <a:tableStyleId>{5940675A-B579-460E-94D1-54222C63F5DA}</a:tableStyleId>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261257">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X2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61257">
                <a:tc>
                  <a:txBody>
                    <a:bodyPr/>
                    <a:lstStyle/>
                    <a:p>
                      <a:r>
                        <a:rPr lang="en-US" sz="140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1"/>
                  </a:ext>
                </a:extLst>
              </a:tr>
              <a:tr h="261257">
                <a:tc>
                  <a:txBody>
                    <a:bodyPr/>
                    <a:lstStyle/>
                    <a:p>
                      <a:r>
                        <a:rPr lang="en-US" sz="140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2"/>
                  </a:ext>
                </a:extLst>
              </a:tr>
              <a:tr h="261257">
                <a:tc>
                  <a:txBody>
                    <a:bodyPr/>
                    <a:lstStyle/>
                    <a:p>
                      <a:r>
                        <a:rPr lang="en-US" sz="1400" dirty="0"/>
                        <a:t>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3"/>
                  </a:ext>
                </a:extLst>
              </a:tr>
              <a:tr h="261257">
                <a:tc>
                  <a:txBody>
                    <a:bodyPr/>
                    <a:lstStyle/>
                    <a:p>
                      <a:r>
                        <a:rPr lang="en-US" sz="140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4"/>
                  </a:ext>
                </a:extLst>
              </a:tr>
              <a:tr h="261257">
                <a:tc>
                  <a:txBody>
                    <a:bodyPr/>
                    <a:lstStyle/>
                    <a:p>
                      <a:r>
                        <a:rPr lang="en-US" sz="1400" dirty="0"/>
                        <a: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5"/>
                  </a:ext>
                </a:extLst>
              </a:tr>
              <a:tr h="261257">
                <a:tc>
                  <a:txBody>
                    <a:bodyPr/>
                    <a:lstStyle/>
                    <a:p>
                      <a:r>
                        <a:rPr lang="en-US" sz="1400" dirty="0"/>
                        <a:t>F</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3.5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6"/>
                  </a:ext>
                </a:extLst>
              </a:tr>
            </a:tbl>
          </a:graphicData>
        </a:graphic>
      </p:graphicFrame>
      <p:sp>
        <p:nvSpPr>
          <p:cNvPr id="14" name="Double Brace 13"/>
          <p:cNvSpPr/>
          <p:nvPr/>
        </p:nvSpPr>
        <p:spPr>
          <a:xfrm>
            <a:off x="5791200" y="1828800"/>
            <a:ext cx="1905000" cy="1905000"/>
          </a:xfrm>
          <a:prstGeom prst="brace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aphicFrame>
        <p:nvGraphicFramePr>
          <p:cNvPr id="16" name="Table 15"/>
          <p:cNvGraphicFramePr>
            <a:graphicFrameLocks noGrp="1"/>
          </p:cNvGraphicFramePr>
          <p:nvPr/>
        </p:nvGraphicFramePr>
        <p:xfrm>
          <a:off x="4572000" y="4267200"/>
          <a:ext cx="4114796" cy="21336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gridCol w="587828">
                  <a:extLst>
                    <a:ext uri="{9D8B030D-6E8A-4147-A177-3AD203B41FA5}">
                      <a16:colId xmlns:a16="http://schemas.microsoft.com/office/drawing/2014/main" val="20006"/>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3.61</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3.20</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dirty="0"/>
                        <a:t>2.92</a:t>
                      </a:r>
                    </a:p>
                  </a:txBody>
                  <a:tcPr>
                    <a:solidFill>
                      <a:srgbClr val="FF7C80"/>
                    </a:solidFill>
                  </a:tcPr>
                </a:tc>
                <a:tc>
                  <a:txBody>
                    <a:bodyPr/>
                    <a:lstStyle/>
                    <a:p>
                      <a:pPr algn="ctr"/>
                      <a:r>
                        <a:rPr lang="en-US" sz="1400" dirty="0"/>
                        <a:t>3.54</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2.24</a:t>
                      </a:r>
                    </a:p>
                  </a:txBody>
                  <a:tcPr>
                    <a:solidFill>
                      <a:srgbClr val="FF7C80"/>
                    </a:solidFill>
                  </a:tcPr>
                </a:tc>
                <a:tc>
                  <a:txBody>
                    <a:bodyPr/>
                    <a:lstStyle/>
                    <a:p>
                      <a:pPr algn="ctr"/>
                      <a:r>
                        <a:rPr lang="en-US" sz="1400" dirty="0"/>
                        <a:t>1.41</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2.92</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2.24</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1.00</a:t>
                      </a:r>
                    </a:p>
                  </a:txBody>
                  <a:tcPr>
                    <a:solidFill>
                      <a:srgbClr val="FF7C80"/>
                    </a:solidFill>
                  </a:tcPr>
                </a:tc>
                <a:tc>
                  <a:txBody>
                    <a:bodyPr/>
                    <a:lstStyle/>
                    <a:p>
                      <a:pPr algn="ctr"/>
                      <a:r>
                        <a:rPr lang="en-US" sz="1400" dirty="0"/>
                        <a:t>0.50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dirty="0"/>
                        <a:t>1.00</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1.12</a:t>
                      </a:r>
                    </a:p>
                  </a:txBody>
                  <a:tcPr>
                    <a:solidFill>
                      <a:srgbClr val="FF7C80"/>
                    </a:solidFill>
                  </a:tcPr>
                </a:tc>
                <a:extLst>
                  <a:ext uri="{0D108BD9-81ED-4DB2-BD59-A6C34878D82A}">
                    <a16:rowId xmlns:a16="http://schemas.microsoft.com/office/drawing/2014/main" val="10005"/>
                  </a:ext>
                </a:extLst>
              </a:tr>
              <a:tr h="206829">
                <a:tc>
                  <a:txBody>
                    <a:bodyPr/>
                    <a:lstStyle/>
                    <a:p>
                      <a:r>
                        <a:rPr lang="en-US" sz="1400" dirty="0"/>
                        <a:t>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2.50</a:t>
                      </a:r>
                    </a:p>
                  </a:txBody>
                  <a:tcPr>
                    <a:solidFill>
                      <a:srgbClr val="CCFF99"/>
                    </a:solidFill>
                  </a:tcPr>
                </a:tc>
                <a:tc>
                  <a:txBody>
                    <a:bodyPr/>
                    <a:lstStyle/>
                    <a:p>
                      <a:pPr algn="ctr"/>
                      <a:r>
                        <a:rPr lang="en-US" sz="1400" dirty="0"/>
                        <a:t>0.50</a:t>
                      </a:r>
                    </a:p>
                  </a:txBody>
                  <a:tcPr>
                    <a:solidFill>
                      <a:srgbClr val="CCFF99"/>
                    </a:solidFill>
                  </a:tcPr>
                </a:tc>
                <a:tc>
                  <a:txBody>
                    <a:bodyPr/>
                    <a:lstStyle/>
                    <a:p>
                      <a:pPr algn="ctr"/>
                      <a:r>
                        <a:rPr lang="en-US" sz="1400" dirty="0"/>
                        <a:t>1.12</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6"/>
                  </a:ext>
                </a:extLst>
              </a:tr>
            </a:tbl>
          </a:graphicData>
        </a:graphic>
      </p:graphicFrame>
      <p:sp>
        <p:nvSpPr>
          <p:cNvPr id="17" name="Oval 16"/>
          <p:cNvSpPr/>
          <p:nvPr/>
        </p:nvSpPr>
        <p:spPr>
          <a:xfrm>
            <a:off x="6886575" y="6081713"/>
            <a:ext cx="609600" cy="3810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Oval 17"/>
          <p:cNvSpPr/>
          <p:nvPr/>
        </p:nvSpPr>
        <p:spPr>
          <a:xfrm>
            <a:off x="6919913" y="4238625"/>
            <a:ext cx="609600" cy="3810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Oval 18"/>
          <p:cNvSpPr/>
          <p:nvPr/>
        </p:nvSpPr>
        <p:spPr>
          <a:xfrm>
            <a:off x="4419600" y="6062663"/>
            <a:ext cx="609600" cy="3810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23" name="Straight Arrow Connector 22"/>
          <p:cNvCxnSpPr/>
          <p:nvPr/>
        </p:nvCxnSpPr>
        <p:spPr>
          <a:xfrm>
            <a:off x="3429000" y="5715000"/>
            <a:ext cx="10668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10800000">
            <a:off x="3200400" y="3429000"/>
            <a:ext cx="1447800" cy="838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133600" y="2667000"/>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684" name="TextBox 26"/>
          <p:cNvSpPr txBox="1">
            <a:spLocks noChangeArrowheads="1"/>
          </p:cNvSpPr>
          <p:nvPr/>
        </p:nvSpPr>
        <p:spPr bwMode="auto">
          <a:xfrm>
            <a:off x="3733800" y="3209925"/>
            <a:ext cx="1676400" cy="523875"/>
          </a:xfrm>
          <a:prstGeom prst="rect">
            <a:avLst/>
          </a:prstGeom>
          <a:solidFill>
            <a:srgbClr val="FFFF99"/>
          </a:solidFill>
          <a:ln w="9525">
            <a:noFill/>
            <a:miter lim="800000"/>
            <a:headEnd/>
            <a:tailEnd/>
          </a:ln>
        </p:spPr>
        <p:txBody>
          <a:bodyPr>
            <a:spAutoFit/>
          </a:bodyPr>
          <a:lstStyle/>
          <a:p>
            <a:r>
              <a:rPr lang="en-US" sz="1400">
                <a:latin typeface="Century Schoolbook" pitchFamily="18" charset="0"/>
              </a:rPr>
              <a:t>Merge them into single cluster`</a:t>
            </a:r>
          </a:p>
        </p:txBody>
      </p:sp>
      <p:sp>
        <p:nvSpPr>
          <p:cNvPr id="24685" name="TextBox 19"/>
          <p:cNvSpPr txBox="1">
            <a:spLocks noChangeArrowheads="1"/>
          </p:cNvSpPr>
          <p:nvPr/>
        </p:nvSpPr>
        <p:spPr bwMode="auto">
          <a:xfrm>
            <a:off x="2510631" y="1691481"/>
            <a:ext cx="2903537" cy="369888"/>
          </a:xfrm>
          <a:prstGeom prst="rect">
            <a:avLst/>
          </a:prstGeom>
          <a:solidFill>
            <a:srgbClr val="FFFF99"/>
          </a:solidFill>
          <a:ln w="9525">
            <a:noFill/>
            <a:miter lim="800000"/>
            <a:headEnd/>
            <a:tailEnd/>
          </a:ln>
        </p:spPr>
        <p:txBody>
          <a:bodyPr wrap="none">
            <a:spAutoFit/>
          </a:bodyPr>
          <a:lstStyle/>
          <a:p>
            <a:r>
              <a:rPr lang="en-US"/>
              <a:t>Merge two closest clusters</a:t>
            </a:r>
          </a:p>
        </p:txBody>
      </p:sp>
    </p:spTree>
    <p:extLst>
      <p:ext uri="{BB962C8B-B14F-4D97-AF65-F5344CB8AC3E}">
        <p14:creationId xmlns:p14="http://schemas.microsoft.com/office/powerpoint/2010/main" val="2185370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pic>
        <p:nvPicPr>
          <p:cNvPr id="25606" name="Picture 22"/>
          <p:cNvPicPr>
            <a:picLocks noChangeAspect="1" noChangeArrowheads="1"/>
          </p:cNvPicPr>
          <p:nvPr/>
        </p:nvPicPr>
        <p:blipFill>
          <a:blip r:embed="rId3"/>
          <a:srcRect/>
          <a:stretch>
            <a:fillRect/>
          </a:stretch>
        </p:blipFill>
        <p:spPr bwMode="auto">
          <a:xfrm>
            <a:off x="685800" y="1876425"/>
            <a:ext cx="3495675" cy="2876550"/>
          </a:xfrm>
          <a:prstGeom prst="rect">
            <a:avLst/>
          </a:prstGeom>
          <a:noFill/>
          <a:ln w="9525">
            <a:noFill/>
            <a:miter lim="800000"/>
            <a:headEnd/>
            <a:tailEnd/>
          </a:ln>
        </p:spPr>
      </p:pic>
      <p:graphicFrame>
        <p:nvGraphicFramePr>
          <p:cNvPr id="16" name="Table 15"/>
          <p:cNvGraphicFramePr>
            <a:graphicFrameLocks noGrp="1"/>
          </p:cNvGraphicFramePr>
          <p:nvPr/>
        </p:nvGraphicFramePr>
        <p:xfrm>
          <a:off x="4191000" y="1600200"/>
          <a:ext cx="4114796" cy="21336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gridCol w="587828">
                  <a:extLst>
                    <a:ext uri="{9D8B030D-6E8A-4147-A177-3AD203B41FA5}">
                      <a16:colId xmlns:a16="http://schemas.microsoft.com/office/drawing/2014/main" val="20006"/>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3.61</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3.20</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dirty="0"/>
                        <a:t>2.92</a:t>
                      </a:r>
                    </a:p>
                  </a:txBody>
                  <a:tcPr>
                    <a:solidFill>
                      <a:srgbClr val="FF7C80"/>
                    </a:solidFill>
                  </a:tcPr>
                </a:tc>
                <a:tc>
                  <a:txBody>
                    <a:bodyPr/>
                    <a:lstStyle/>
                    <a:p>
                      <a:pPr algn="ctr"/>
                      <a:r>
                        <a:rPr lang="en-US" sz="1400" dirty="0"/>
                        <a:t>3.54</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2.24</a:t>
                      </a:r>
                    </a:p>
                  </a:txBody>
                  <a:tcPr>
                    <a:solidFill>
                      <a:srgbClr val="FF7C80"/>
                    </a:solidFill>
                  </a:tcPr>
                </a:tc>
                <a:tc>
                  <a:txBody>
                    <a:bodyPr/>
                    <a:lstStyle/>
                    <a:p>
                      <a:pPr algn="ctr"/>
                      <a:r>
                        <a:rPr lang="en-US" sz="1400" dirty="0"/>
                        <a:t>1.41</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2.92</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2.24</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1.00</a:t>
                      </a:r>
                    </a:p>
                  </a:txBody>
                  <a:tcPr>
                    <a:solidFill>
                      <a:srgbClr val="FF7C80"/>
                    </a:solidFill>
                  </a:tcPr>
                </a:tc>
                <a:tc>
                  <a:txBody>
                    <a:bodyPr/>
                    <a:lstStyle/>
                    <a:p>
                      <a:pPr algn="ctr"/>
                      <a:r>
                        <a:rPr lang="en-US" sz="1400" dirty="0"/>
                        <a:t>0.50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dirty="0"/>
                        <a:t>1.00</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1.12</a:t>
                      </a:r>
                    </a:p>
                  </a:txBody>
                  <a:tcPr>
                    <a:solidFill>
                      <a:srgbClr val="FF7C80"/>
                    </a:solidFill>
                  </a:tcPr>
                </a:tc>
                <a:extLst>
                  <a:ext uri="{0D108BD9-81ED-4DB2-BD59-A6C34878D82A}">
                    <a16:rowId xmlns:a16="http://schemas.microsoft.com/office/drawing/2014/main" val="10005"/>
                  </a:ext>
                </a:extLst>
              </a:tr>
              <a:tr h="206829">
                <a:tc>
                  <a:txBody>
                    <a:bodyPr/>
                    <a:lstStyle/>
                    <a:p>
                      <a:r>
                        <a:rPr lang="en-US" sz="1400" dirty="0"/>
                        <a:t>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2.50</a:t>
                      </a:r>
                    </a:p>
                  </a:txBody>
                  <a:tcPr>
                    <a:solidFill>
                      <a:srgbClr val="CCFF99"/>
                    </a:solidFill>
                  </a:tcPr>
                </a:tc>
                <a:tc>
                  <a:txBody>
                    <a:bodyPr/>
                    <a:lstStyle/>
                    <a:p>
                      <a:pPr algn="ctr"/>
                      <a:r>
                        <a:rPr lang="en-US" sz="1400" dirty="0"/>
                        <a:t>0.50</a:t>
                      </a:r>
                    </a:p>
                  </a:txBody>
                  <a:tcPr>
                    <a:solidFill>
                      <a:srgbClr val="CCFF99"/>
                    </a:solidFill>
                  </a:tcPr>
                </a:tc>
                <a:tc>
                  <a:txBody>
                    <a:bodyPr/>
                    <a:lstStyle/>
                    <a:p>
                      <a:pPr algn="ctr"/>
                      <a:r>
                        <a:rPr lang="en-US" sz="1400" dirty="0"/>
                        <a:t>1.12</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6"/>
                  </a:ext>
                </a:extLst>
              </a:tr>
            </a:tbl>
          </a:graphicData>
        </a:graphic>
      </p:graphicFrame>
      <p:sp>
        <p:nvSpPr>
          <p:cNvPr id="17" name="Oval 16"/>
          <p:cNvSpPr/>
          <p:nvPr/>
        </p:nvSpPr>
        <p:spPr>
          <a:xfrm>
            <a:off x="6553200" y="3400425"/>
            <a:ext cx="609600" cy="3810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6" name="Oval 25"/>
          <p:cNvSpPr/>
          <p:nvPr/>
        </p:nvSpPr>
        <p:spPr>
          <a:xfrm>
            <a:off x="2133600" y="2667000"/>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20" name="Table 19"/>
          <p:cNvGraphicFramePr>
            <a:graphicFrameLocks noGrp="1"/>
          </p:cNvGraphicFramePr>
          <p:nvPr/>
        </p:nvGraphicFramePr>
        <p:xfrm>
          <a:off x="4724400" y="4267200"/>
          <a:ext cx="3526968" cy="18288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1" dirty="0"/>
                        <a:t>?</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b="1" dirty="0"/>
                        <a:t>?</a:t>
                      </a:r>
                    </a:p>
                  </a:txBody>
                  <a:tcPr>
                    <a:solidFill>
                      <a:srgbClr val="FF7C80"/>
                    </a:solidFill>
                  </a:tcPr>
                </a:tc>
                <a:tc>
                  <a:txBody>
                    <a:bodyPr/>
                    <a:lstStyle/>
                    <a:p>
                      <a:pPr algn="ctr"/>
                      <a:r>
                        <a:rPr lang="en-US" sz="1400" dirty="0"/>
                        <a:t>3.54</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b="1" dirty="0"/>
                        <a:t>?</a:t>
                      </a:r>
                    </a:p>
                  </a:txBody>
                  <a:tcPr>
                    <a:solidFill>
                      <a:srgbClr val="FF7C80"/>
                    </a:solidFill>
                  </a:tcPr>
                </a:tc>
                <a:tc>
                  <a:txBody>
                    <a:bodyPr/>
                    <a:lstStyle/>
                    <a:p>
                      <a:pPr algn="ctr"/>
                      <a:r>
                        <a:rPr lang="en-US" sz="1400" dirty="0"/>
                        <a:t>1.41</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1" dirty="0"/>
                        <a:t>?</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1" dirty="0"/>
                        <a:t>?</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b="1" dirty="0"/>
                        <a:t>?</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b="1" dirty="0"/>
                        <a:t>?</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5"/>
                  </a:ext>
                </a:extLst>
              </a:tr>
            </a:tbl>
          </a:graphicData>
        </a:graphic>
      </p:graphicFrame>
      <p:cxnSp>
        <p:nvCxnSpPr>
          <p:cNvPr id="22" name="Straight Arrow Connector 21"/>
          <p:cNvCxnSpPr/>
          <p:nvPr/>
        </p:nvCxnSpPr>
        <p:spPr>
          <a:xfrm rot="10800000" flipV="1">
            <a:off x="3352800" y="2743200"/>
            <a:ext cx="685800" cy="304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581400" y="4953000"/>
            <a:ext cx="762000" cy="4572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5735" name="TextBox 12"/>
          <p:cNvSpPr txBox="1">
            <a:spLocks noChangeArrowheads="1"/>
          </p:cNvSpPr>
          <p:nvPr/>
        </p:nvSpPr>
        <p:spPr bwMode="auto">
          <a:xfrm>
            <a:off x="1112035" y="5638800"/>
            <a:ext cx="2582862" cy="369888"/>
          </a:xfrm>
          <a:prstGeom prst="rect">
            <a:avLst/>
          </a:prstGeom>
          <a:solidFill>
            <a:srgbClr val="FFFF99"/>
          </a:solidFill>
          <a:ln w="9525">
            <a:noFill/>
            <a:miter lim="800000"/>
            <a:headEnd/>
            <a:tailEnd/>
          </a:ln>
        </p:spPr>
        <p:txBody>
          <a:bodyPr wrap="none">
            <a:spAutoFit/>
          </a:bodyPr>
          <a:lstStyle/>
          <a:p>
            <a:r>
              <a:rPr lang="en-US"/>
              <a:t>Update Distance Matrix</a:t>
            </a:r>
          </a:p>
        </p:txBody>
      </p:sp>
    </p:spTree>
    <p:extLst>
      <p:ext uri="{BB962C8B-B14F-4D97-AF65-F5344CB8AC3E}">
        <p14:creationId xmlns:p14="http://schemas.microsoft.com/office/powerpoint/2010/main" val="1251103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graphicFrame>
        <p:nvGraphicFramePr>
          <p:cNvPr id="16" name="Table 15"/>
          <p:cNvGraphicFramePr>
            <a:graphicFrameLocks noGrp="1"/>
          </p:cNvGraphicFramePr>
          <p:nvPr/>
        </p:nvGraphicFramePr>
        <p:xfrm>
          <a:off x="304800" y="1752600"/>
          <a:ext cx="4114796" cy="21336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gridCol w="587828">
                  <a:extLst>
                    <a:ext uri="{9D8B030D-6E8A-4147-A177-3AD203B41FA5}">
                      <a16:colId xmlns:a16="http://schemas.microsoft.com/office/drawing/2014/main" val="20006"/>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3.61</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3.20</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dirty="0"/>
                        <a:t>2.92</a:t>
                      </a:r>
                    </a:p>
                  </a:txBody>
                  <a:tcPr>
                    <a:solidFill>
                      <a:srgbClr val="FF7C80"/>
                    </a:solidFill>
                  </a:tcPr>
                </a:tc>
                <a:tc>
                  <a:txBody>
                    <a:bodyPr/>
                    <a:lstStyle/>
                    <a:p>
                      <a:pPr algn="ctr"/>
                      <a:r>
                        <a:rPr lang="en-US" sz="1400" dirty="0"/>
                        <a:t>3.54</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2.24</a:t>
                      </a:r>
                    </a:p>
                  </a:txBody>
                  <a:tcPr>
                    <a:solidFill>
                      <a:srgbClr val="FF7C80"/>
                    </a:solidFill>
                  </a:tcPr>
                </a:tc>
                <a:tc>
                  <a:txBody>
                    <a:bodyPr/>
                    <a:lstStyle/>
                    <a:p>
                      <a:pPr algn="ctr"/>
                      <a:r>
                        <a:rPr lang="en-US" sz="1400" dirty="0"/>
                        <a:t>1.41</a:t>
                      </a:r>
                    </a:p>
                  </a:txBody>
                  <a:tcPr>
                    <a:solidFill>
                      <a:srgbClr val="FF7C80"/>
                    </a:solidFill>
                  </a:tcPr>
                </a:tc>
                <a:tc>
                  <a:txBody>
                    <a:bodyPr/>
                    <a:lstStyle/>
                    <a:p>
                      <a:pPr algn="ctr"/>
                      <a:r>
                        <a:rPr lang="en-US" sz="1400" dirty="0"/>
                        <a:t>2.50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2.92</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2.24</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1.00</a:t>
                      </a:r>
                    </a:p>
                  </a:txBody>
                  <a:tcPr>
                    <a:solidFill>
                      <a:srgbClr val="FF7C80"/>
                    </a:solidFill>
                  </a:tcPr>
                </a:tc>
                <a:tc>
                  <a:txBody>
                    <a:bodyPr/>
                    <a:lstStyle/>
                    <a:p>
                      <a:pPr algn="ctr"/>
                      <a:r>
                        <a:rPr lang="en-US" sz="1400" dirty="0"/>
                        <a:t>0.50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dirty="0"/>
                        <a:t>1.00</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dirty="0"/>
                        <a:t>1.12</a:t>
                      </a:r>
                    </a:p>
                  </a:txBody>
                  <a:tcPr>
                    <a:solidFill>
                      <a:srgbClr val="FF7C80"/>
                    </a:solidFill>
                  </a:tcPr>
                </a:tc>
                <a:extLst>
                  <a:ext uri="{0D108BD9-81ED-4DB2-BD59-A6C34878D82A}">
                    <a16:rowId xmlns:a16="http://schemas.microsoft.com/office/drawing/2014/main" val="10005"/>
                  </a:ext>
                </a:extLst>
              </a:tr>
              <a:tr h="206829">
                <a:tc>
                  <a:txBody>
                    <a:bodyPr/>
                    <a:lstStyle/>
                    <a:p>
                      <a:r>
                        <a:rPr lang="en-US" sz="1400" dirty="0"/>
                        <a:t>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2.50</a:t>
                      </a:r>
                    </a:p>
                  </a:txBody>
                  <a:tcPr>
                    <a:solidFill>
                      <a:srgbClr val="CCFF99"/>
                    </a:solidFill>
                  </a:tcPr>
                </a:tc>
                <a:tc>
                  <a:txBody>
                    <a:bodyPr/>
                    <a:lstStyle/>
                    <a:p>
                      <a:pPr algn="ctr"/>
                      <a:r>
                        <a:rPr lang="en-US" sz="1400" dirty="0"/>
                        <a:t>0.50</a:t>
                      </a:r>
                    </a:p>
                  </a:txBody>
                  <a:tcPr>
                    <a:solidFill>
                      <a:srgbClr val="CCFF99"/>
                    </a:solidFill>
                  </a:tcPr>
                </a:tc>
                <a:tc>
                  <a:txBody>
                    <a:bodyPr/>
                    <a:lstStyle/>
                    <a:p>
                      <a:pPr algn="ctr"/>
                      <a:r>
                        <a:rPr lang="en-US" sz="1400" dirty="0"/>
                        <a:t>1.12</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6"/>
                  </a:ext>
                </a:extLst>
              </a:tr>
            </a:tbl>
          </a:graphicData>
        </a:graphic>
      </p:graphicFrame>
      <p:graphicFrame>
        <p:nvGraphicFramePr>
          <p:cNvPr id="20" name="Table 19"/>
          <p:cNvGraphicFramePr>
            <a:graphicFrameLocks noGrp="1"/>
          </p:cNvGraphicFramePr>
          <p:nvPr/>
        </p:nvGraphicFramePr>
        <p:xfrm>
          <a:off x="434975" y="4343400"/>
          <a:ext cx="3526968" cy="18288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1" dirty="0"/>
                        <a:t>?</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b="1" dirty="0"/>
                        <a:t>?</a:t>
                      </a:r>
                    </a:p>
                  </a:txBody>
                  <a:tcPr>
                    <a:solidFill>
                      <a:srgbClr val="FF7C80"/>
                    </a:solidFill>
                  </a:tcPr>
                </a:tc>
                <a:tc>
                  <a:txBody>
                    <a:bodyPr/>
                    <a:lstStyle/>
                    <a:p>
                      <a:pPr algn="ctr"/>
                      <a:r>
                        <a:rPr lang="en-US" sz="1400" dirty="0"/>
                        <a:t>3.54</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b="1" dirty="0"/>
                        <a:t>?</a:t>
                      </a:r>
                    </a:p>
                  </a:txBody>
                  <a:tcPr>
                    <a:solidFill>
                      <a:srgbClr val="FF7C80"/>
                    </a:solidFill>
                  </a:tcPr>
                </a:tc>
                <a:tc>
                  <a:txBody>
                    <a:bodyPr/>
                    <a:lstStyle/>
                    <a:p>
                      <a:pPr algn="ctr"/>
                      <a:r>
                        <a:rPr lang="en-US" sz="1400" dirty="0"/>
                        <a:t>1.41</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1" dirty="0"/>
                        <a:t>?</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1" dirty="0"/>
                        <a:t>?</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b="1" dirty="0"/>
                        <a:t>?</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b="1" dirty="0"/>
                        <a:t>?</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5"/>
                  </a:ext>
                </a:extLst>
              </a:tr>
            </a:tbl>
          </a:graphicData>
        </a:graphic>
      </p:graphicFrame>
      <p:graphicFrame>
        <p:nvGraphicFramePr>
          <p:cNvPr id="13" name="Table 12"/>
          <p:cNvGraphicFramePr>
            <a:graphicFrameLocks noGrp="1"/>
          </p:cNvGraphicFramePr>
          <p:nvPr/>
        </p:nvGraphicFramePr>
        <p:xfrm>
          <a:off x="4572000" y="4343400"/>
          <a:ext cx="3526968" cy="18288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1" dirty="0"/>
                        <a:t>3.20</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4.24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b="1" dirty="0"/>
                        <a:t>2.50</a:t>
                      </a:r>
                    </a:p>
                  </a:txBody>
                  <a:tcPr>
                    <a:solidFill>
                      <a:srgbClr val="FF7C80"/>
                    </a:solidFill>
                  </a:tcPr>
                </a:tc>
                <a:tc>
                  <a:txBody>
                    <a:bodyPr/>
                    <a:lstStyle/>
                    <a:p>
                      <a:pPr algn="ctr"/>
                      <a:r>
                        <a:rPr lang="en-US" sz="1400" dirty="0"/>
                        <a:t>3.54</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b="1" dirty="0"/>
                        <a:t>2.24</a:t>
                      </a:r>
                    </a:p>
                  </a:txBody>
                  <a:tcPr>
                    <a:solidFill>
                      <a:srgbClr val="FF7C80"/>
                    </a:solidFill>
                  </a:tcPr>
                </a:tc>
                <a:tc>
                  <a:txBody>
                    <a:bodyPr/>
                    <a:lstStyle/>
                    <a:p>
                      <a:pPr algn="ctr"/>
                      <a:r>
                        <a:rPr lang="en-US" sz="1400" dirty="0"/>
                        <a:t>1.41</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1"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1"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1" dirty="0"/>
                        <a:t>2.24</a:t>
                      </a:r>
                    </a:p>
                  </a:txBody>
                  <a:tcPr>
                    <a:solidFill>
                      <a:srgbClr val="CCFF99"/>
                    </a:solidFill>
                  </a:tcPr>
                </a:tc>
                <a:tc>
                  <a:txBody>
                    <a:bodyPr/>
                    <a:lstStyle/>
                    <a:p>
                      <a:pPr algn="ctr"/>
                      <a:r>
                        <a:rPr lang="en-US" sz="1400" dirty="0"/>
                        <a:t>0.00</a:t>
                      </a:r>
                    </a:p>
                  </a:txBody>
                  <a:tcPr>
                    <a:solidFill>
                      <a:srgbClr val="FFFF99"/>
                    </a:solidFill>
                  </a:tcPr>
                </a:tc>
                <a:tc>
                  <a:txBody>
                    <a:bodyPr/>
                    <a:lstStyle/>
                    <a:p>
                      <a:pPr algn="ctr"/>
                      <a:r>
                        <a:rPr lang="en-US" sz="1400" b="1" dirty="0"/>
                        <a:t>1.00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b="1" dirty="0"/>
                        <a:t>1.00</a:t>
                      </a:r>
                    </a:p>
                  </a:txBody>
                  <a:tcPr>
                    <a:solidFill>
                      <a:srgbClr val="CCFF99"/>
                    </a:solidFill>
                  </a:tcPr>
                </a:tc>
                <a:tc>
                  <a:txBody>
                    <a:bodyPr/>
                    <a:lstStyle/>
                    <a:p>
                      <a:pPr algn="ctr"/>
                      <a:r>
                        <a:rPr lang="en-US" sz="1400" dirty="0"/>
                        <a:t>0.00</a:t>
                      </a:r>
                    </a:p>
                  </a:txBody>
                  <a:tcPr>
                    <a:solidFill>
                      <a:srgbClr val="FFFF99"/>
                    </a:solidFill>
                  </a:tcPr>
                </a:tc>
                <a:extLst>
                  <a:ext uri="{0D108BD9-81ED-4DB2-BD59-A6C34878D82A}">
                    <a16:rowId xmlns:a16="http://schemas.microsoft.com/office/drawing/2014/main" val="10005"/>
                  </a:ext>
                </a:extLst>
              </a:tr>
            </a:tbl>
          </a:graphicData>
        </a:graphic>
      </p:graphicFrame>
      <p:sp>
        <p:nvSpPr>
          <p:cNvPr id="26806" name="TextBox 13"/>
          <p:cNvSpPr txBox="1">
            <a:spLocks noChangeArrowheads="1"/>
          </p:cNvSpPr>
          <p:nvPr/>
        </p:nvSpPr>
        <p:spPr bwMode="auto">
          <a:xfrm>
            <a:off x="4794250" y="2133600"/>
            <a:ext cx="3879850" cy="338138"/>
          </a:xfrm>
          <a:prstGeom prst="rect">
            <a:avLst/>
          </a:prstGeom>
          <a:solidFill>
            <a:srgbClr val="FFFF99"/>
          </a:solidFill>
          <a:ln w="9525">
            <a:noFill/>
            <a:miter lim="800000"/>
            <a:headEnd/>
            <a:tailEnd/>
          </a:ln>
        </p:spPr>
        <p:txBody>
          <a:bodyPr wrap="none">
            <a:spAutoFit/>
          </a:bodyPr>
          <a:lstStyle/>
          <a:p>
            <a:r>
              <a:rPr lang="en-US" sz="1400"/>
              <a:t>D</a:t>
            </a:r>
            <a:r>
              <a:rPr lang="en-US" sz="1400" baseline="-25000"/>
              <a:t>(D,F)→A </a:t>
            </a:r>
            <a:r>
              <a:rPr lang="en-US" sz="1400"/>
              <a:t>= </a:t>
            </a:r>
            <a:r>
              <a:rPr lang="en-US" sz="1600"/>
              <a:t>min(d</a:t>
            </a:r>
            <a:r>
              <a:rPr lang="en-US" sz="1600" baseline="-25000"/>
              <a:t>DA</a:t>
            </a:r>
            <a:r>
              <a:rPr lang="en-US" sz="1600"/>
              <a:t>,d</a:t>
            </a:r>
            <a:r>
              <a:rPr lang="en-US" sz="1600" baseline="-25000"/>
              <a:t>FA</a:t>
            </a:r>
            <a:r>
              <a:rPr lang="en-US" sz="1400"/>
              <a:t>)=min(3.61,3.20) = 3.20</a:t>
            </a:r>
          </a:p>
        </p:txBody>
      </p:sp>
      <p:sp>
        <p:nvSpPr>
          <p:cNvPr id="26807" name="TextBox 14"/>
          <p:cNvSpPr txBox="1">
            <a:spLocks noChangeArrowheads="1"/>
          </p:cNvSpPr>
          <p:nvPr/>
        </p:nvSpPr>
        <p:spPr bwMode="auto">
          <a:xfrm>
            <a:off x="4800600" y="2590800"/>
            <a:ext cx="3894138" cy="338138"/>
          </a:xfrm>
          <a:prstGeom prst="rect">
            <a:avLst/>
          </a:prstGeom>
          <a:solidFill>
            <a:srgbClr val="FFFF99"/>
          </a:solidFill>
          <a:ln w="9525">
            <a:noFill/>
            <a:miter lim="800000"/>
            <a:headEnd/>
            <a:tailEnd/>
          </a:ln>
        </p:spPr>
        <p:txBody>
          <a:bodyPr wrap="none">
            <a:spAutoFit/>
          </a:bodyPr>
          <a:lstStyle/>
          <a:p>
            <a:r>
              <a:rPr lang="en-US" sz="1400"/>
              <a:t>D</a:t>
            </a:r>
            <a:r>
              <a:rPr lang="en-US" sz="1400" baseline="-25000"/>
              <a:t>(D,F)→B </a:t>
            </a:r>
            <a:r>
              <a:rPr lang="en-US" sz="1400"/>
              <a:t>= </a:t>
            </a:r>
            <a:r>
              <a:rPr lang="en-US" sz="1600"/>
              <a:t>min(d</a:t>
            </a:r>
            <a:r>
              <a:rPr lang="en-US" sz="1600" baseline="-25000"/>
              <a:t>DB</a:t>
            </a:r>
            <a:r>
              <a:rPr lang="en-US" sz="1600"/>
              <a:t>,d</a:t>
            </a:r>
            <a:r>
              <a:rPr lang="en-US" sz="1600" baseline="-25000"/>
              <a:t>FB</a:t>
            </a:r>
            <a:r>
              <a:rPr lang="en-US" sz="1400"/>
              <a:t>)=min(2.92,2.50) = 2.50</a:t>
            </a:r>
          </a:p>
        </p:txBody>
      </p:sp>
      <p:sp>
        <p:nvSpPr>
          <p:cNvPr id="26808" name="TextBox 16"/>
          <p:cNvSpPr txBox="1">
            <a:spLocks noChangeArrowheads="1"/>
          </p:cNvSpPr>
          <p:nvPr/>
        </p:nvSpPr>
        <p:spPr bwMode="auto">
          <a:xfrm>
            <a:off x="4794250" y="3048000"/>
            <a:ext cx="3916363" cy="338138"/>
          </a:xfrm>
          <a:prstGeom prst="rect">
            <a:avLst/>
          </a:prstGeom>
          <a:solidFill>
            <a:srgbClr val="FFFF99"/>
          </a:solidFill>
          <a:ln w="9525">
            <a:noFill/>
            <a:miter lim="800000"/>
            <a:headEnd/>
            <a:tailEnd/>
          </a:ln>
        </p:spPr>
        <p:txBody>
          <a:bodyPr wrap="none">
            <a:spAutoFit/>
          </a:bodyPr>
          <a:lstStyle/>
          <a:p>
            <a:r>
              <a:rPr lang="en-US" sz="1400"/>
              <a:t>D</a:t>
            </a:r>
            <a:r>
              <a:rPr lang="en-US" sz="1400" baseline="-25000"/>
              <a:t>(D,F)→C </a:t>
            </a:r>
            <a:r>
              <a:rPr lang="en-US" sz="1400"/>
              <a:t>= </a:t>
            </a:r>
            <a:r>
              <a:rPr lang="en-US" sz="1600"/>
              <a:t>min(d</a:t>
            </a:r>
            <a:r>
              <a:rPr lang="en-US" sz="1600" baseline="-25000"/>
              <a:t>DC</a:t>
            </a:r>
            <a:r>
              <a:rPr lang="en-US" sz="1600"/>
              <a:t>,d</a:t>
            </a:r>
            <a:r>
              <a:rPr lang="en-US" sz="1600" baseline="-25000"/>
              <a:t>FC</a:t>
            </a:r>
            <a:r>
              <a:rPr lang="en-US" sz="1400"/>
              <a:t>)=min(2.24,2.50) = 2.24</a:t>
            </a:r>
          </a:p>
        </p:txBody>
      </p:sp>
      <p:sp>
        <p:nvSpPr>
          <p:cNvPr id="26809" name="TextBox 17"/>
          <p:cNvSpPr txBox="1">
            <a:spLocks noChangeArrowheads="1"/>
          </p:cNvSpPr>
          <p:nvPr/>
        </p:nvSpPr>
        <p:spPr bwMode="auto">
          <a:xfrm>
            <a:off x="4800600" y="3505200"/>
            <a:ext cx="3894138" cy="338138"/>
          </a:xfrm>
          <a:prstGeom prst="rect">
            <a:avLst/>
          </a:prstGeom>
          <a:solidFill>
            <a:srgbClr val="FFFF99"/>
          </a:solidFill>
          <a:ln w="9525">
            <a:noFill/>
            <a:miter lim="800000"/>
            <a:headEnd/>
            <a:tailEnd/>
          </a:ln>
        </p:spPr>
        <p:txBody>
          <a:bodyPr wrap="none">
            <a:spAutoFit/>
          </a:bodyPr>
          <a:lstStyle/>
          <a:p>
            <a:r>
              <a:rPr lang="en-US" sz="1400"/>
              <a:t>D</a:t>
            </a:r>
            <a:r>
              <a:rPr lang="en-US" sz="1400" baseline="-25000"/>
              <a:t>(D,F)→E </a:t>
            </a:r>
            <a:r>
              <a:rPr lang="en-US" sz="1400"/>
              <a:t>= </a:t>
            </a:r>
            <a:r>
              <a:rPr lang="en-US" sz="1600"/>
              <a:t>min(d</a:t>
            </a:r>
            <a:r>
              <a:rPr lang="en-US" sz="1600" baseline="-25000"/>
              <a:t>DE</a:t>
            </a:r>
            <a:r>
              <a:rPr lang="en-US" sz="1600"/>
              <a:t>,d</a:t>
            </a:r>
            <a:r>
              <a:rPr lang="en-US" sz="1600" baseline="-25000"/>
              <a:t>FE</a:t>
            </a:r>
            <a:r>
              <a:rPr lang="en-US" sz="1400"/>
              <a:t>)=min(1.00,1.12) = 1.00</a:t>
            </a:r>
          </a:p>
        </p:txBody>
      </p:sp>
      <p:sp>
        <p:nvSpPr>
          <p:cNvPr id="26810" name="TextBox 18"/>
          <p:cNvSpPr txBox="1">
            <a:spLocks noChangeArrowheads="1"/>
          </p:cNvSpPr>
          <p:nvPr/>
        </p:nvSpPr>
        <p:spPr bwMode="auto">
          <a:xfrm>
            <a:off x="5094288" y="1600200"/>
            <a:ext cx="3287712" cy="369888"/>
          </a:xfrm>
          <a:prstGeom prst="rect">
            <a:avLst/>
          </a:prstGeom>
          <a:noFill/>
          <a:ln w="9525">
            <a:noFill/>
            <a:miter lim="800000"/>
            <a:headEnd/>
            <a:tailEnd/>
          </a:ln>
        </p:spPr>
        <p:txBody>
          <a:bodyPr wrap="none">
            <a:spAutoFit/>
          </a:bodyPr>
          <a:lstStyle/>
          <a:p>
            <a:r>
              <a:rPr lang="en-US"/>
              <a:t>Min Distance – Single Linkage</a:t>
            </a:r>
          </a:p>
        </p:txBody>
      </p:sp>
      <p:cxnSp>
        <p:nvCxnSpPr>
          <p:cNvPr id="22" name="Straight Arrow Connector 21"/>
          <p:cNvCxnSpPr/>
          <p:nvPr/>
        </p:nvCxnSpPr>
        <p:spPr>
          <a:xfrm rot="10800000" flipV="1">
            <a:off x="3581400" y="3962400"/>
            <a:ext cx="1066800" cy="304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038600" y="5410200"/>
            <a:ext cx="5334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6813" name="TextBox 24"/>
          <p:cNvSpPr txBox="1">
            <a:spLocks noChangeArrowheads="1"/>
          </p:cNvSpPr>
          <p:nvPr/>
        </p:nvSpPr>
        <p:spPr bwMode="auto">
          <a:xfrm>
            <a:off x="3013869" y="6400800"/>
            <a:ext cx="2582862" cy="369888"/>
          </a:xfrm>
          <a:prstGeom prst="rect">
            <a:avLst/>
          </a:prstGeom>
          <a:solidFill>
            <a:srgbClr val="FFFF99"/>
          </a:solidFill>
          <a:ln w="9525">
            <a:noFill/>
            <a:miter lim="800000"/>
            <a:headEnd/>
            <a:tailEnd/>
          </a:ln>
        </p:spPr>
        <p:txBody>
          <a:bodyPr wrap="none">
            <a:spAutoFit/>
          </a:bodyPr>
          <a:lstStyle/>
          <a:p>
            <a:r>
              <a:rPr lang="en-US"/>
              <a:t>Update Distance Matrix</a:t>
            </a:r>
          </a:p>
        </p:txBody>
      </p:sp>
    </p:spTree>
    <p:extLst>
      <p:ext uri="{BB962C8B-B14F-4D97-AF65-F5344CB8AC3E}">
        <p14:creationId xmlns:p14="http://schemas.microsoft.com/office/powerpoint/2010/main" val="1710207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601"/>
            <a:ext cx="8229600" cy="1143000"/>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27654" name="TextBox 6"/>
          <p:cNvSpPr txBox="1">
            <a:spLocks noChangeArrowheads="1"/>
          </p:cNvSpPr>
          <p:nvPr/>
        </p:nvSpPr>
        <p:spPr bwMode="auto">
          <a:xfrm>
            <a:off x="3268663" y="6019800"/>
            <a:ext cx="2903537" cy="369888"/>
          </a:xfrm>
          <a:prstGeom prst="rect">
            <a:avLst/>
          </a:prstGeom>
          <a:solidFill>
            <a:srgbClr val="FFFF99"/>
          </a:solidFill>
          <a:ln w="9525">
            <a:noFill/>
            <a:miter lim="800000"/>
            <a:headEnd/>
            <a:tailEnd/>
          </a:ln>
        </p:spPr>
        <p:txBody>
          <a:bodyPr wrap="none">
            <a:spAutoFit/>
          </a:bodyPr>
          <a:lstStyle/>
          <a:p>
            <a:r>
              <a:rPr lang="en-US" dirty="0"/>
              <a:t>Merge two closest clusters</a:t>
            </a:r>
          </a:p>
        </p:txBody>
      </p:sp>
      <p:pic>
        <p:nvPicPr>
          <p:cNvPr id="27655" name="Picture 22"/>
          <p:cNvPicPr>
            <a:picLocks noChangeAspect="1" noChangeArrowheads="1"/>
          </p:cNvPicPr>
          <p:nvPr/>
        </p:nvPicPr>
        <p:blipFill>
          <a:blip r:embed="rId2"/>
          <a:srcRect/>
          <a:stretch>
            <a:fillRect/>
          </a:stretch>
        </p:blipFill>
        <p:spPr bwMode="auto">
          <a:xfrm>
            <a:off x="457200" y="1466850"/>
            <a:ext cx="3495675" cy="2876550"/>
          </a:xfrm>
          <a:prstGeom prst="rect">
            <a:avLst/>
          </a:prstGeom>
          <a:noFill/>
          <a:ln w="9525">
            <a:noFill/>
            <a:miter lim="800000"/>
            <a:headEnd/>
            <a:tailEnd/>
          </a:ln>
        </p:spPr>
      </p:pic>
      <p:sp>
        <p:nvSpPr>
          <p:cNvPr id="9" name="Oval 8"/>
          <p:cNvSpPr/>
          <p:nvPr/>
        </p:nvSpPr>
        <p:spPr>
          <a:xfrm>
            <a:off x="1905000" y="2257425"/>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10" name="Table 9"/>
          <p:cNvGraphicFramePr>
            <a:graphicFrameLocks noGrp="1"/>
          </p:cNvGraphicFramePr>
          <p:nvPr/>
        </p:nvGraphicFramePr>
        <p:xfrm>
          <a:off x="4495800" y="1752600"/>
          <a:ext cx="3526968" cy="18288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3.20</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4.24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b="0" dirty="0"/>
                        <a:t>2.50</a:t>
                      </a:r>
                    </a:p>
                  </a:txBody>
                  <a:tcPr>
                    <a:solidFill>
                      <a:srgbClr val="FF7C80"/>
                    </a:solidFill>
                  </a:tcPr>
                </a:tc>
                <a:tc>
                  <a:txBody>
                    <a:bodyPr/>
                    <a:lstStyle/>
                    <a:p>
                      <a:pPr algn="ctr"/>
                      <a:r>
                        <a:rPr lang="en-US" sz="1400" b="0" dirty="0"/>
                        <a:t>3.54</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b="0" dirty="0"/>
                        <a:t>2.24</a:t>
                      </a:r>
                    </a:p>
                  </a:txBody>
                  <a:tcPr>
                    <a:solidFill>
                      <a:srgbClr val="FF7C80"/>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2.24</a:t>
                      </a:r>
                    </a:p>
                  </a:txBody>
                  <a:tcPr>
                    <a:solidFill>
                      <a:srgbClr val="CCFF99"/>
                    </a:solidFill>
                  </a:tcPr>
                </a:tc>
                <a:tc>
                  <a:txBody>
                    <a:bodyPr/>
                    <a:lstStyle/>
                    <a:p>
                      <a:pPr algn="ctr"/>
                      <a:r>
                        <a:rPr lang="en-US" sz="1400" b="0" dirty="0"/>
                        <a:t>0.00</a:t>
                      </a:r>
                    </a:p>
                  </a:txBody>
                  <a:tcPr>
                    <a:solidFill>
                      <a:srgbClr val="FFFF99"/>
                    </a:solidFill>
                  </a:tcPr>
                </a:tc>
                <a:tc>
                  <a:txBody>
                    <a:bodyPr/>
                    <a:lstStyle/>
                    <a:p>
                      <a:pPr algn="ctr"/>
                      <a:r>
                        <a:rPr lang="en-US" sz="1400" b="0" dirty="0"/>
                        <a:t>1.00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b="0" dirty="0"/>
                        <a:t>1.00</a:t>
                      </a:r>
                    </a:p>
                  </a:txBody>
                  <a:tcPr>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5"/>
                  </a:ext>
                </a:extLst>
              </a:tr>
            </a:tbl>
          </a:graphicData>
        </a:graphic>
      </p:graphicFrame>
      <p:sp>
        <p:nvSpPr>
          <p:cNvPr id="11" name="Oval 10"/>
          <p:cNvSpPr/>
          <p:nvPr/>
        </p:nvSpPr>
        <p:spPr>
          <a:xfrm>
            <a:off x="5057775" y="2300288"/>
            <a:ext cx="609600" cy="3810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Oval 11"/>
          <p:cNvSpPr/>
          <p:nvPr/>
        </p:nvSpPr>
        <p:spPr>
          <a:xfrm>
            <a:off x="1143000" y="3200400"/>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13" name="Table 12"/>
          <p:cNvGraphicFramePr>
            <a:graphicFrameLocks noGrp="1"/>
          </p:cNvGraphicFramePr>
          <p:nvPr/>
        </p:nvGraphicFramePr>
        <p:xfrm>
          <a:off x="4572000" y="4038600"/>
          <a:ext cx="2939140" cy="15240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b="0" dirty="0"/>
                        <a:t>2.24</a:t>
                      </a:r>
                    </a:p>
                  </a:txBody>
                  <a:tcPr>
                    <a:solidFill>
                      <a:srgbClr val="FF7C80"/>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2.24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0.00</a:t>
                      </a:r>
                    </a:p>
                  </a:txBody>
                  <a:tcPr>
                    <a:solidFill>
                      <a:srgbClr val="FFFF99"/>
                    </a:solidFill>
                  </a:tcPr>
                </a:tc>
                <a:tc>
                  <a:txBody>
                    <a:bodyPr/>
                    <a:lstStyle/>
                    <a:p>
                      <a:pPr algn="ctr"/>
                      <a:r>
                        <a:rPr lang="en-US" sz="1400" b="0" dirty="0"/>
                        <a:t>1.00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1.41</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1.00</a:t>
                      </a:r>
                    </a:p>
                  </a:txBody>
                  <a:tcPr>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4"/>
                  </a:ext>
                </a:extLst>
              </a:tr>
            </a:tbl>
          </a:graphicData>
        </a:graphic>
      </p:graphicFrame>
      <p:cxnSp>
        <p:nvCxnSpPr>
          <p:cNvPr id="15" name="Straight Arrow Connector 14"/>
          <p:cNvCxnSpPr/>
          <p:nvPr/>
        </p:nvCxnSpPr>
        <p:spPr>
          <a:xfrm rot="10800000" flipV="1">
            <a:off x="3276600" y="2590800"/>
            <a:ext cx="1143000" cy="3810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124200" y="4495800"/>
            <a:ext cx="1219200" cy="6096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40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noAutofit/>
          </a:bodyPr>
          <a:lstStyle/>
          <a:p>
            <a:pPr eaLnBrk="1" fontAlgn="auto" hangingPunct="1">
              <a:spcAft>
                <a:spcPts val="0"/>
              </a:spcAft>
              <a:defRPr/>
            </a:pPr>
            <a:r>
              <a:rPr lang="fr-FR" sz="4400" dirty="0">
                <a:latin typeface="+mn-lt"/>
              </a:rPr>
              <a:t>Agglomerative Clustering- Example</a:t>
            </a:r>
            <a:endParaRPr lang="en-US" sz="4400" dirty="0">
              <a:latin typeface="+mn-lt"/>
            </a:endParaRPr>
          </a:p>
        </p:txBody>
      </p:sp>
      <p:sp>
        <p:nvSpPr>
          <p:cNvPr id="28678" name="TextBox 6"/>
          <p:cNvSpPr txBox="1">
            <a:spLocks noChangeArrowheads="1"/>
          </p:cNvSpPr>
          <p:nvPr/>
        </p:nvSpPr>
        <p:spPr bwMode="auto">
          <a:xfrm>
            <a:off x="2945607" y="6172200"/>
            <a:ext cx="2582862" cy="369888"/>
          </a:xfrm>
          <a:prstGeom prst="rect">
            <a:avLst/>
          </a:prstGeom>
          <a:solidFill>
            <a:srgbClr val="FFFF99"/>
          </a:solidFill>
          <a:ln w="9525">
            <a:noFill/>
            <a:miter lim="800000"/>
            <a:headEnd/>
            <a:tailEnd/>
          </a:ln>
        </p:spPr>
        <p:txBody>
          <a:bodyPr wrap="none">
            <a:spAutoFit/>
          </a:bodyPr>
          <a:lstStyle/>
          <a:p>
            <a:r>
              <a:rPr lang="en-US" dirty="0"/>
              <a:t>Update Distance Matrix</a:t>
            </a:r>
          </a:p>
        </p:txBody>
      </p:sp>
      <p:graphicFrame>
        <p:nvGraphicFramePr>
          <p:cNvPr id="8" name="Table 7"/>
          <p:cNvGraphicFramePr>
            <a:graphicFrameLocks noGrp="1"/>
          </p:cNvGraphicFramePr>
          <p:nvPr/>
        </p:nvGraphicFramePr>
        <p:xfrm>
          <a:off x="457200" y="1600200"/>
          <a:ext cx="3526968" cy="18288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gridCol w="587828">
                  <a:extLst>
                    <a:ext uri="{9D8B030D-6E8A-4147-A177-3AD203B41FA5}">
                      <a16:colId xmlns:a16="http://schemas.microsoft.com/office/drawing/2014/main" val="20005"/>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dirty="0"/>
                        <a:t>5.66</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3.20</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4.24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B</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0.71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dirty="0"/>
                        <a:t>4.95</a:t>
                      </a:r>
                    </a:p>
                  </a:txBody>
                  <a:tcPr>
                    <a:solidFill>
                      <a:srgbClr val="FF7C80"/>
                    </a:solidFill>
                  </a:tcPr>
                </a:tc>
                <a:tc>
                  <a:txBody>
                    <a:bodyPr/>
                    <a:lstStyle/>
                    <a:p>
                      <a:pPr algn="ctr"/>
                      <a:r>
                        <a:rPr lang="en-US" sz="1400" b="0" dirty="0"/>
                        <a:t>2.50</a:t>
                      </a:r>
                    </a:p>
                  </a:txBody>
                  <a:tcPr>
                    <a:solidFill>
                      <a:srgbClr val="FF7C80"/>
                    </a:solidFill>
                  </a:tcPr>
                </a:tc>
                <a:tc>
                  <a:txBody>
                    <a:bodyPr/>
                    <a:lstStyle/>
                    <a:p>
                      <a:pPr algn="ctr"/>
                      <a:r>
                        <a:rPr lang="en-US" sz="1400" b="0" dirty="0"/>
                        <a:t>3.54</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4.95</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0.00</a:t>
                      </a:r>
                    </a:p>
                  </a:txBody>
                  <a:tcPr>
                    <a:solidFill>
                      <a:srgbClr val="FFFF99"/>
                    </a:solidFill>
                  </a:tcPr>
                </a:tc>
                <a:tc>
                  <a:txBody>
                    <a:bodyPr/>
                    <a:lstStyle/>
                    <a:p>
                      <a:pPr algn="ctr"/>
                      <a:r>
                        <a:rPr lang="en-US" sz="1400" b="0" dirty="0"/>
                        <a:t>2.24</a:t>
                      </a:r>
                    </a:p>
                  </a:txBody>
                  <a:tcPr>
                    <a:solidFill>
                      <a:srgbClr val="FF7C80"/>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3.20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2.24</a:t>
                      </a:r>
                    </a:p>
                  </a:txBody>
                  <a:tcPr>
                    <a:solidFill>
                      <a:srgbClr val="CCFF99"/>
                    </a:solidFill>
                  </a:tcPr>
                </a:tc>
                <a:tc>
                  <a:txBody>
                    <a:bodyPr/>
                    <a:lstStyle/>
                    <a:p>
                      <a:pPr algn="ctr"/>
                      <a:r>
                        <a:rPr lang="en-US" sz="1400" b="0" dirty="0"/>
                        <a:t>0.00</a:t>
                      </a:r>
                    </a:p>
                  </a:txBody>
                  <a:tcPr>
                    <a:solidFill>
                      <a:srgbClr val="FFFF99"/>
                    </a:solidFill>
                  </a:tcPr>
                </a:tc>
                <a:tc>
                  <a:txBody>
                    <a:bodyPr/>
                    <a:lstStyle/>
                    <a:p>
                      <a:pPr algn="ctr"/>
                      <a:r>
                        <a:rPr lang="en-US" sz="1400" b="0" dirty="0"/>
                        <a:t>1.00</a:t>
                      </a:r>
                    </a:p>
                  </a:txBody>
                  <a:tcPr>
                    <a:solidFill>
                      <a:srgbClr val="FF7C80"/>
                    </a:solidFill>
                  </a:tcPr>
                </a:tc>
                <a:extLst>
                  <a:ext uri="{0D108BD9-81ED-4DB2-BD59-A6C34878D82A}">
                    <a16:rowId xmlns:a16="http://schemas.microsoft.com/office/drawing/2014/main" val="10004"/>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3.54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dirty="0"/>
                        <a:t>1.41</a:t>
                      </a:r>
                    </a:p>
                  </a:txBody>
                  <a:tcPr>
                    <a:solidFill>
                      <a:srgbClr val="CCFF99"/>
                    </a:solidFill>
                  </a:tcPr>
                </a:tc>
                <a:tc>
                  <a:txBody>
                    <a:bodyPr/>
                    <a:lstStyle/>
                    <a:p>
                      <a:pPr algn="ctr"/>
                      <a:r>
                        <a:rPr lang="en-US" sz="1400" b="0" dirty="0"/>
                        <a:t>1.00</a:t>
                      </a:r>
                    </a:p>
                  </a:txBody>
                  <a:tcPr>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nvGraphicFramePr>
        <p:xfrm>
          <a:off x="914400" y="4343400"/>
          <a:ext cx="2939140" cy="15240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b="0" dirty="0"/>
                        <a:t>2.24</a:t>
                      </a:r>
                    </a:p>
                  </a:txBody>
                  <a:tcPr>
                    <a:solidFill>
                      <a:srgbClr val="FF7C80"/>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2.24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0.00</a:t>
                      </a:r>
                    </a:p>
                  </a:txBody>
                  <a:tcPr>
                    <a:solidFill>
                      <a:srgbClr val="FFFF99"/>
                    </a:solidFill>
                  </a:tcPr>
                </a:tc>
                <a:tc>
                  <a:txBody>
                    <a:bodyPr/>
                    <a:lstStyle/>
                    <a:p>
                      <a:pPr algn="ctr"/>
                      <a:r>
                        <a:rPr lang="en-US" sz="1400" b="0" dirty="0"/>
                        <a:t>1.00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1.41</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1.00</a:t>
                      </a:r>
                    </a:p>
                  </a:txBody>
                  <a:tcPr>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4648200" y="4419600"/>
          <a:ext cx="2939140" cy="15240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b="1" dirty="0"/>
                        <a:t>4.95</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1" dirty="0"/>
                        <a:t>2.50</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1" dirty="0"/>
                        <a:t>3.54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1" dirty="0"/>
                        <a:t>4.95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b="0" dirty="0"/>
                        <a:t>2.24</a:t>
                      </a:r>
                    </a:p>
                  </a:txBody>
                  <a:tcPr>
                    <a:solidFill>
                      <a:srgbClr val="FF7C80"/>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1" dirty="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2.24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0.00</a:t>
                      </a:r>
                    </a:p>
                  </a:txBody>
                  <a:tcPr>
                    <a:solidFill>
                      <a:srgbClr val="FFFF99"/>
                    </a:solidFill>
                  </a:tcPr>
                </a:tc>
                <a:tc>
                  <a:txBody>
                    <a:bodyPr/>
                    <a:lstStyle/>
                    <a:p>
                      <a:pPr algn="ctr"/>
                      <a:r>
                        <a:rPr lang="en-US" sz="1400" b="0" dirty="0"/>
                        <a:t>1.00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1" dirty="0"/>
                        <a:t>3.54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dirty="0"/>
                        <a:t>1.41</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1.00</a:t>
                      </a:r>
                    </a:p>
                  </a:txBody>
                  <a:tcPr>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4"/>
                  </a:ext>
                </a:extLst>
              </a:tr>
            </a:tbl>
          </a:graphicData>
        </a:graphic>
      </p:graphicFrame>
      <p:sp>
        <p:nvSpPr>
          <p:cNvPr id="28813" name="TextBox 15"/>
          <p:cNvSpPr txBox="1">
            <a:spLocks noChangeArrowheads="1"/>
          </p:cNvSpPr>
          <p:nvPr/>
        </p:nvSpPr>
        <p:spPr bwMode="auto">
          <a:xfrm>
            <a:off x="4237038" y="1905000"/>
            <a:ext cx="3916362" cy="338138"/>
          </a:xfrm>
          <a:prstGeom prst="rect">
            <a:avLst/>
          </a:prstGeom>
          <a:solidFill>
            <a:srgbClr val="FFFF99"/>
          </a:solidFill>
          <a:ln w="9525">
            <a:noFill/>
            <a:miter lim="800000"/>
            <a:headEnd/>
            <a:tailEnd/>
          </a:ln>
        </p:spPr>
        <p:txBody>
          <a:bodyPr wrap="none">
            <a:spAutoFit/>
          </a:bodyPr>
          <a:lstStyle/>
          <a:p>
            <a:r>
              <a:rPr lang="en-US" sz="1400"/>
              <a:t>D</a:t>
            </a:r>
            <a:r>
              <a:rPr lang="en-US" sz="1400" baseline="-25000"/>
              <a:t>(A,B)→C </a:t>
            </a:r>
            <a:r>
              <a:rPr lang="en-US" sz="1400"/>
              <a:t>= </a:t>
            </a:r>
            <a:r>
              <a:rPr lang="en-US" sz="1600"/>
              <a:t>min(d</a:t>
            </a:r>
            <a:r>
              <a:rPr lang="en-US" sz="1600" baseline="-25000"/>
              <a:t>CA</a:t>
            </a:r>
            <a:r>
              <a:rPr lang="en-US" sz="1600"/>
              <a:t>,d</a:t>
            </a:r>
            <a:r>
              <a:rPr lang="en-US" sz="1600" baseline="-25000"/>
              <a:t>CB</a:t>
            </a:r>
            <a:r>
              <a:rPr lang="en-US" sz="1400"/>
              <a:t>)=min(5.66,4.95) = 4.95</a:t>
            </a:r>
          </a:p>
        </p:txBody>
      </p:sp>
      <p:sp>
        <p:nvSpPr>
          <p:cNvPr id="28814" name="TextBox 16"/>
          <p:cNvSpPr txBox="1">
            <a:spLocks noChangeArrowheads="1"/>
          </p:cNvSpPr>
          <p:nvPr/>
        </p:nvSpPr>
        <p:spPr bwMode="auto">
          <a:xfrm>
            <a:off x="4191000" y="2438400"/>
            <a:ext cx="3962400" cy="554038"/>
          </a:xfrm>
          <a:prstGeom prst="rect">
            <a:avLst/>
          </a:prstGeom>
          <a:solidFill>
            <a:srgbClr val="FFFF99"/>
          </a:solidFill>
          <a:ln w="9525">
            <a:noFill/>
            <a:miter lim="800000"/>
            <a:headEnd/>
            <a:tailEnd/>
          </a:ln>
        </p:spPr>
        <p:txBody>
          <a:bodyPr>
            <a:spAutoFit/>
          </a:bodyPr>
          <a:lstStyle/>
          <a:p>
            <a:r>
              <a:rPr lang="en-US" sz="1400"/>
              <a:t>D</a:t>
            </a:r>
            <a:r>
              <a:rPr lang="en-US" sz="1400" baseline="-25000"/>
              <a:t>(A,B)→(D,F)    </a:t>
            </a:r>
            <a:r>
              <a:rPr lang="en-US" sz="1400"/>
              <a:t>= </a:t>
            </a:r>
            <a:r>
              <a:rPr lang="en-US" sz="1600"/>
              <a:t>min(d</a:t>
            </a:r>
            <a:r>
              <a:rPr lang="en-US" sz="1600" baseline="-25000"/>
              <a:t>DA</a:t>
            </a:r>
            <a:r>
              <a:rPr lang="en-US" sz="1600"/>
              <a:t>,d</a:t>
            </a:r>
            <a:r>
              <a:rPr lang="en-US" sz="1600" baseline="-25000"/>
              <a:t>DB</a:t>
            </a:r>
            <a:r>
              <a:rPr lang="en-US" sz="1400"/>
              <a:t>, d</a:t>
            </a:r>
            <a:r>
              <a:rPr lang="en-US" sz="1400" baseline="-25000"/>
              <a:t>FA</a:t>
            </a:r>
            <a:r>
              <a:rPr lang="en-US" sz="1400"/>
              <a:t>,d</a:t>
            </a:r>
            <a:r>
              <a:rPr lang="en-US" sz="1400" baseline="-25000"/>
              <a:t>FB</a:t>
            </a:r>
            <a:r>
              <a:rPr lang="en-US" sz="1400"/>
              <a:t>)</a:t>
            </a:r>
          </a:p>
          <a:p>
            <a:r>
              <a:rPr lang="en-US" sz="1400"/>
              <a:t>	=min(3.61, 2.92, 3.20, 2.50) = 2.50</a:t>
            </a:r>
          </a:p>
        </p:txBody>
      </p:sp>
      <p:sp>
        <p:nvSpPr>
          <p:cNvPr id="28815" name="TextBox 17"/>
          <p:cNvSpPr txBox="1">
            <a:spLocks noChangeArrowheads="1"/>
          </p:cNvSpPr>
          <p:nvPr/>
        </p:nvSpPr>
        <p:spPr bwMode="auto">
          <a:xfrm>
            <a:off x="4191000" y="3243263"/>
            <a:ext cx="3894138" cy="338137"/>
          </a:xfrm>
          <a:prstGeom prst="rect">
            <a:avLst/>
          </a:prstGeom>
          <a:solidFill>
            <a:srgbClr val="FFFF99"/>
          </a:solidFill>
          <a:ln w="9525">
            <a:noFill/>
            <a:miter lim="800000"/>
            <a:headEnd/>
            <a:tailEnd/>
          </a:ln>
        </p:spPr>
        <p:txBody>
          <a:bodyPr wrap="none">
            <a:spAutoFit/>
          </a:bodyPr>
          <a:lstStyle/>
          <a:p>
            <a:r>
              <a:rPr lang="en-US" sz="1400"/>
              <a:t>D</a:t>
            </a:r>
            <a:r>
              <a:rPr lang="en-US" sz="1400" baseline="-25000"/>
              <a:t>(A,B)→E </a:t>
            </a:r>
            <a:r>
              <a:rPr lang="en-US" sz="1400"/>
              <a:t>= </a:t>
            </a:r>
            <a:r>
              <a:rPr lang="en-US" sz="1600"/>
              <a:t>min(d</a:t>
            </a:r>
            <a:r>
              <a:rPr lang="en-US" sz="1600" baseline="-25000"/>
              <a:t>AE</a:t>
            </a:r>
            <a:r>
              <a:rPr lang="en-US" sz="1600"/>
              <a:t>,d</a:t>
            </a:r>
            <a:r>
              <a:rPr lang="en-US" sz="1600" baseline="-25000"/>
              <a:t>BE</a:t>
            </a:r>
            <a:r>
              <a:rPr lang="en-US" sz="1400"/>
              <a:t>)=min(4.24,3.54) = 3.54</a:t>
            </a:r>
          </a:p>
        </p:txBody>
      </p:sp>
      <p:cxnSp>
        <p:nvCxnSpPr>
          <p:cNvPr id="19" name="Straight Arrow Connector 18"/>
          <p:cNvCxnSpPr/>
          <p:nvPr/>
        </p:nvCxnSpPr>
        <p:spPr>
          <a:xfrm rot="10800000" flipV="1">
            <a:off x="3200400" y="3810000"/>
            <a:ext cx="1143000" cy="3810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038600" y="5334000"/>
            <a:ext cx="6096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9634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29702" name="TextBox 6"/>
          <p:cNvSpPr txBox="1">
            <a:spLocks noChangeArrowheads="1"/>
          </p:cNvSpPr>
          <p:nvPr/>
        </p:nvSpPr>
        <p:spPr bwMode="auto">
          <a:xfrm>
            <a:off x="1368425" y="6096000"/>
            <a:ext cx="5365750" cy="369888"/>
          </a:xfrm>
          <a:prstGeom prst="rect">
            <a:avLst/>
          </a:prstGeom>
          <a:solidFill>
            <a:srgbClr val="FFFF99"/>
          </a:solidFill>
          <a:ln w="9525">
            <a:noFill/>
            <a:miter lim="800000"/>
            <a:headEnd/>
            <a:tailEnd/>
          </a:ln>
        </p:spPr>
        <p:txBody>
          <a:bodyPr wrap="none">
            <a:spAutoFit/>
          </a:bodyPr>
          <a:lstStyle/>
          <a:p>
            <a:r>
              <a:rPr lang="en-US" dirty="0"/>
              <a:t>Merge two closest clusters/Update Distance Matrix</a:t>
            </a:r>
          </a:p>
        </p:txBody>
      </p:sp>
      <p:graphicFrame>
        <p:nvGraphicFramePr>
          <p:cNvPr id="8" name="Table 7"/>
          <p:cNvGraphicFramePr>
            <a:graphicFrameLocks noGrp="1"/>
          </p:cNvGraphicFramePr>
          <p:nvPr/>
        </p:nvGraphicFramePr>
        <p:xfrm>
          <a:off x="4953000" y="1676400"/>
          <a:ext cx="2939140" cy="1524000"/>
        </p:xfrm>
        <a:graphic>
          <a:graphicData uri="http://schemas.openxmlformats.org/drawingml/2006/table">
            <a:tbl>
              <a:tblPr firstRow="1" bandRow="1">
                <a:tableStyleId>{5940675A-B579-460E-94D1-54222C63F5DA}</a:tableStyleId>
              </a:tblPr>
              <a:tblGrid>
                <a:gridCol w="587828">
                  <a:extLst>
                    <a:ext uri="{9D8B030D-6E8A-4147-A177-3AD203B41FA5}">
                      <a16:colId xmlns:a16="http://schemas.microsoft.com/office/drawing/2014/main" val="20000"/>
                    </a:ext>
                  </a:extLst>
                </a:gridCol>
                <a:gridCol w="587828">
                  <a:extLst>
                    <a:ext uri="{9D8B030D-6E8A-4147-A177-3AD203B41FA5}">
                      <a16:colId xmlns:a16="http://schemas.microsoft.com/office/drawing/2014/main" val="20001"/>
                    </a:ext>
                  </a:extLst>
                </a:gridCol>
                <a:gridCol w="587828">
                  <a:extLst>
                    <a:ext uri="{9D8B030D-6E8A-4147-A177-3AD203B41FA5}">
                      <a16:colId xmlns:a16="http://schemas.microsoft.com/office/drawing/2014/main" val="20002"/>
                    </a:ext>
                  </a:extLst>
                </a:gridCol>
                <a:gridCol w="587828">
                  <a:extLst>
                    <a:ext uri="{9D8B030D-6E8A-4147-A177-3AD203B41FA5}">
                      <a16:colId xmlns:a16="http://schemas.microsoft.com/office/drawing/2014/main" val="20003"/>
                    </a:ext>
                  </a:extLst>
                </a:gridCol>
                <a:gridCol w="587828">
                  <a:extLst>
                    <a:ext uri="{9D8B030D-6E8A-4147-A177-3AD203B41FA5}">
                      <a16:colId xmlns:a16="http://schemas.microsoft.com/office/drawing/2014/main" val="20004"/>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b="0" dirty="0"/>
                        <a:t>4.95</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2.50</a:t>
                      </a:r>
                    </a:p>
                  </a:txBody>
                  <a:tcPr>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3.54</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4.95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b="0" dirty="0"/>
                        <a:t>2.24</a:t>
                      </a:r>
                    </a:p>
                  </a:txBody>
                  <a:tcPr>
                    <a:solidFill>
                      <a:srgbClr val="FF7C80"/>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D,F</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2.24</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0.00</a:t>
                      </a:r>
                    </a:p>
                  </a:txBody>
                  <a:tcPr>
                    <a:solidFill>
                      <a:srgbClr val="FFFF99"/>
                    </a:solidFill>
                  </a:tcPr>
                </a:tc>
                <a:tc>
                  <a:txBody>
                    <a:bodyPr/>
                    <a:lstStyle/>
                    <a:p>
                      <a:pPr algn="ctr"/>
                      <a:r>
                        <a:rPr lang="en-US" sz="1400" b="0" dirty="0"/>
                        <a:t>1.00</a:t>
                      </a:r>
                    </a:p>
                  </a:txBody>
                  <a:tcPr>
                    <a:solidFill>
                      <a:srgbClr val="FF7C80"/>
                    </a:solidFill>
                  </a:tcPr>
                </a:tc>
                <a:extLst>
                  <a:ext uri="{0D108BD9-81ED-4DB2-BD59-A6C34878D82A}">
                    <a16:rowId xmlns:a16="http://schemas.microsoft.com/office/drawing/2014/main" val="10003"/>
                  </a:ext>
                </a:extLst>
              </a:tr>
              <a:tr h="206829">
                <a:tc>
                  <a:txBody>
                    <a:bodyPr/>
                    <a:lstStyle/>
                    <a:p>
                      <a:r>
                        <a:rPr lang="en-US" sz="1400" dirty="0"/>
                        <a:t>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3.54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1.41</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1.00</a:t>
                      </a:r>
                    </a:p>
                  </a:txBody>
                  <a:tcPr>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4"/>
                  </a:ext>
                </a:extLst>
              </a:tr>
            </a:tbl>
          </a:graphicData>
        </a:graphic>
      </p:graphicFrame>
      <p:sp>
        <p:nvSpPr>
          <p:cNvPr id="9" name="Oval 8"/>
          <p:cNvSpPr/>
          <p:nvPr/>
        </p:nvSpPr>
        <p:spPr>
          <a:xfrm>
            <a:off x="6734175" y="2833688"/>
            <a:ext cx="609600" cy="381000"/>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29744" name="Picture 22"/>
          <p:cNvPicPr>
            <a:picLocks noChangeAspect="1" noChangeArrowheads="1"/>
          </p:cNvPicPr>
          <p:nvPr/>
        </p:nvPicPr>
        <p:blipFill>
          <a:blip r:embed="rId2"/>
          <a:srcRect/>
          <a:stretch>
            <a:fillRect/>
          </a:stretch>
        </p:blipFill>
        <p:spPr bwMode="auto">
          <a:xfrm>
            <a:off x="695325" y="1695450"/>
            <a:ext cx="3495675" cy="2876550"/>
          </a:xfrm>
          <a:prstGeom prst="rect">
            <a:avLst/>
          </a:prstGeom>
          <a:noFill/>
          <a:ln w="9525">
            <a:noFill/>
            <a:miter lim="800000"/>
            <a:headEnd/>
            <a:tailEnd/>
          </a:ln>
        </p:spPr>
      </p:pic>
      <p:sp>
        <p:nvSpPr>
          <p:cNvPr id="11" name="Oval 10"/>
          <p:cNvSpPr/>
          <p:nvPr/>
        </p:nvSpPr>
        <p:spPr>
          <a:xfrm>
            <a:off x="2143125" y="2486025"/>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Oval 11"/>
          <p:cNvSpPr/>
          <p:nvPr/>
        </p:nvSpPr>
        <p:spPr>
          <a:xfrm>
            <a:off x="1381125" y="3429000"/>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Oval 12"/>
          <p:cNvSpPr/>
          <p:nvPr/>
        </p:nvSpPr>
        <p:spPr>
          <a:xfrm>
            <a:off x="1905000" y="2438400"/>
            <a:ext cx="1590675" cy="838200"/>
          </a:xfrm>
          <a:prstGeom prst="ellipse">
            <a:avLst/>
          </a:prstGeom>
          <a:solidFill>
            <a:schemeClr val="accent2">
              <a:lumMod val="75000"/>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14" name="Table 13"/>
          <p:cNvGraphicFramePr>
            <a:graphicFrameLocks noGrp="1"/>
          </p:cNvGraphicFramePr>
          <p:nvPr/>
        </p:nvGraphicFramePr>
        <p:xfrm>
          <a:off x="4430713" y="4495800"/>
          <a:ext cx="3570512" cy="1219200"/>
        </p:xfrm>
        <a:graphic>
          <a:graphicData uri="http://schemas.openxmlformats.org/drawingml/2006/table">
            <a:tbl>
              <a:tblPr firstRow="1" bandRow="1">
                <a:tableStyleId>{5940675A-B579-460E-94D1-54222C63F5DA}</a:tableStyleId>
              </a:tblPr>
              <a:tblGrid>
                <a:gridCol w="892628">
                  <a:extLst>
                    <a:ext uri="{9D8B030D-6E8A-4147-A177-3AD203B41FA5}">
                      <a16:colId xmlns:a16="http://schemas.microsoft.com/office/drawing/2014/main" val="20000"/>
                    </a:ext>
                  </a:extLst>
                </a:gridCol>
                <a:gridCol w="892628">
                  <a:extLst>
                    <a:ext uri="{9D8B030D-6E8A-4147-A177-3AD203B41FA5}">
                      <a16:colId xmlns:a16="http://schemas.microsoft.com/office/drawing/2014/main" val="20001"/>
                    </a:ext>
                  </a:extLst>
                </a:gridCol>
                <a:gridCol w="892628">
                  <a:extLst>
                    <a:ext uri="{9D8B030D-6E8A-4147-A177-3AD203B41FA5}">
                      <a16:colId xmlns:a16="http://schemas.microsoft.com/office/drawing/2014/main" val="20002"/>
                    </a:ext>
                  </a:extLst>
                </a:gridCol>
                <a:gridCol w="892628">
                  <a:extLst>
                    <a:ext uri="{9D8B030D-6E8A-4147-A177-3AD203B41FA5}">
                      <a16:colId xmlns:a16="http://schemas.microsoft.com/office/drawing/2014/main" val="20003"/>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b="0" dirty="0"/>
                        <a:t>4.95</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2.50</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4.95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(D,F),E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1.41</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3"/>
                  </a:ext>
                </a:extLst>
              </a:tr>
            </a:tbl>
          </a:graphicData>
        </a:graphic>
      </p:graphicFrame>
      <p:cxnSp>
        <p:nvCxnSpPr>
          <p:cNvPr id="15" name="Straight Arrow Connector 14"/>
          <p:cNvCxnSpPr/>
          <p:nvPr/>
        </p:nvCxnSpPr>
        <p:spPr>
          <a:xfrm rot="10800000" flipV="1">
            <a:off x="3733800" y="2514600"/>
            <a:ext cx="1143000" cy="3810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886200" y="3733800"/>
            <a:ext cx="1219200" cy="6096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081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30726" name="TextBox 6"/>
          <p:cNvSpPr txBox="1">
            <a:spLocks noChangeArrowheads="1"/>
          </p:cNvSpPr>
          <p:nvPr/>
        </p:nvSpPr>
        <p:spPr bwMode="auto">
          <a:xfrm>
            <a:off x="1990725" y="5943600"/>
            <a:ext cx="5365750" cy="369888"/>
          </a:xfrm>
          <a:prstGeom prst="rect">
            <a:avLst/>
          </a:prstGeom>
          <a:solidFill>
            <a:srgbClr val="FFFF99"/>
          </a:solidFill>
          <a:ln w="9525">
            <a:noFill/>
            <a:miter lim="800000"/>
            <a:headEnd/>
            <a:tailEnd/>
          </a:ln>
        </p:spPr>
        <p:txBody>
          <a:bodyPr wrap="none">
            <a:spAutoFit/>
          </a:bodyPr>
          <a:lstStyle/>
          <a:p>
            <a:r>
              <a:rPr lang="en-US" dirty="0"/>
              <a:t>Merge two closest clusters/Update Distance Matrix</a:t>
            </a:r>
          </a:p>
        </p:txBody>
      </p:sp>
      <p:graphicFrame>
        <p:nvGraphicFramePr>
          <p:cNvPr id="8" name="Table 7"/>
          <p:cNvGraphicFramePr>
            <a:graphicFrameLocks noGrp="1"/>
          </p:cNvGraphicFramePr>
          <p:nvPr/>
        </p:nvGraphicFramePr>
        <p:xfrm>
          <a:off x="4495800" y="1752600"/>
          <a:ext cx="3570512" cy="1219200"/>
        </p:xfrm>
        <a:graphic>
          <a:graphicData uri="http://schemas.openxmlformats.org/drawingml/2006/table">
            <a:tbl>
              <a:tblPr firstRow="1" bandRow="1">
                <a:tableStyleId>{5940675A-B579-460E-94D1-54222C63F5DA}</a:tableStyleId>
              </a:tblPr>
              <a:tblGrid>
                <a:gridCol w="892628">
                  <a:extLst>
                    <a:ext uri="{9D8B030D-6E8A-4147-A177-3AD203B41FA5}">
                      <a16:colId xmlns:a16="http://schemas.microsoft.com/office/drawing/2014/main" val="20000"/>
                    </a:ext>
                  </a:extLst>
                </a:gridCol>
                <a:gridCol w="892628">
                  <a:extLst>
                    <a:ext uri="{9D8B030D-6E8A-4147-A177-3AD203B41FA5}">
                      <a16:colId xmlns:a16="http://schemas.microsoft.com/office/drawing/2014/main" val="20001"/>
                    </a:ext>
                  </a:extLst>
                </a:gridCol>
                <a:gridCol w="892628">
                  <a:extLst>
                    <a:ext uri="{9D8B030D-6E8A-4147-A177-3AD203B41FA5}">
                      <a16:colId xmlns:a16="http://schemas.microsoft.com/office/drawing/2014/main" val="20002"/>
                    </a:ext>
                  </a:extLst>
                </a:gridCol>
                <a:gridCol w="892628">
                  <a:extLst>
                    <a:ext uri="{9D8B030D-6E8A-4147-A177-3AD203B41FA5}">
                      <a16:colId xmlns:a16="http://schemas.microsoft.com/office/drawing/2014/main" val="20003"/>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b="0" dirty="0"/>
                        <a:t>4.95</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tc>
                  <a:txBody>
                    <a:bodyPr/>
                    <a:lstStyle/>
                    <a:p>
                      <a:pPr algn="ctr"/>
                      <a:r>
                        <a:rPr lang="en-US" sz="1400" b="0" dirty="0"/>
                        <a:t>2.50</a:t>
                      </a:r>
                    </a:p>
                  </a:txBody>
                  <a:tcPr>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4.95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solidFill>
                      <a:srgbClr val="FFFF99"/>
                    </a:solidFill>
                  </a:tcPr>
                </a:tc>
                <a:tc>
                  <a:txBody>
                    <a:bodyPr/>
                    <a:lstStyle/>
                    <a:p>
                      <a:pPr algn="ctr"/>
                      <a:r>
                        <a:rPr lang="en-US" sz="1400" b="0" dirty="0"/>
                        <a:t>1.41</a:t>
                      </a:r>
                    </a:p>
                  </a:txBody>
                  <a:tcPr>
                    <a:solidFill>
                      <a:srgbClr val="FF7C80"/>
                    </a:solidFill>
                  </a:tcPr>
                </a:tc>
                <a:extLst>
                  <a:ext uri="{0D108BD9-81ED-4DB2-BD59-A6C34878D82A}">
                    <a16:rowId xmlns:a16="http://schemas.microsoft.com/office/drawing/2014/main" val="10002"/>
                  </a:ext>
                </a:extLst>
              </a:tr>
              <a:tr h="206829">
                <a:tc>
                  <a:txBody>
                    <a:bodyPr/>
                    <a:lstStyle/>
                    <a:p>
                      <a:r>
                        <a:rPr lang="en-US" sz="1400" dirty="0"/>
                        <a:t>(D,F),E</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1.41</a:t>
                      </a:r>
                    </a:p>
                  </a:txBody>
                  <a:tcPr>
                    <a:lnL w="12700" cap="flat" cmpd="sng" algn="ctr">
                      <a:solidFill>
                        <a:schemeClr val="tx1"/>
                      </a:solidFill>
                      <a:prstDash val="solid"/>
                      <a:round/>
                      <a:headEnd type="none" w="med" len="med"/>
                      <a:tailEnd type="none" w="med" len="med"/>
                    </a:lnL>
                    <a:solidFill>
                      <a:srgbClr val="CCFF99"/>
                    </a:solidFill>
                  </a:tcPr>
                </a:tc>
                <a:tc>
                  <a:txBody>
                    <a:bodyPr/>
                    <a:lstStyle/>
                    <a:p>
                      <a:pPr algn="ctr"/>
                      <a:r>
                        <a:rPr lang="en-US" sz="1400" b="0" dirty="0"/>
                        <a:t>0.00</a:t>
                      </a:r>
                    </a:p>
                  </a:txBody>
                  <a:tcPr>
                    <a:solidFill>
                      <a:srgbClr val="FFFF99"/>
                    </a:solidFill>
                  </a:tcPr>
                </a:tc>
                <a:extLst>
                  <a:ext uri="{0D108BD9-81ED-4DB2-BD59-A6C34878D82A}">
                    <a16:rowId xmlns:a16="http://schemas.microsoft.com/office/drawing/2014/main" val="10003"/>
                  </a:ext>
                </a:extLst>
              </a:tr>
            </a:tbl>
          </a:graphicData>
        </a:graphic>
      </p:graphicFrame>
      <p:pic>
        <p:nvPicPr>
          <p:cNvPr id="30755" name="Picture 22"/>
          <p:cNvPicPr>
            <a:picLocks noChangeAspect="1" noChangeArrowheads="1"/>
          </p:cNvPicPr>
          <p:nvPr/>
        </p:nvPicPr>
        <p:blipFill>
          <a:blip r:embed="rId2"/>
          <a:srcRect/>
          <a:stretch>
            <a:fillRect/>
          </a:stretch>
        </p:blipFill>
        <p:spPr bwMode="auto">
          <a:xfrm>
            <a:off x="695325" y="1695450"/>
            <a:ext cx="3495675" cy="2876550"/>
          </a:xfrm>
          <a:prstGeom prst="rect">
            <a:avLst/>
          </a:prstGeom>
          <a:noFill/>
          <a:ln w="9525">
            <a:noFill/>
            <a:miter lim="800000"/>
            <a:headEnd/>
            <a:tailEnd/>
          </a:ln>
        </p:spPr>
      </p:pic>
      <p:sp>
        <p:nvSpPr>
          <p:cNvPr id="10" name="Oval 9"/>
          <p:cNvSpPr/>
          <p:nvPr/>
        </p:nvSpPr>
        <p:spPr>
          <a:xfrm>
            <a:off x="2143125" y="2486025"/>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Oval 10"/>
          <p:cNvSpPr/>
          <p:nvPr/>
        </p:nvSpPr>
        <p:spPr>
          <a:xfrm>
            <a:off x="1381125" y="3429000"/>
            <a:ext cx="609600" cy="6858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Oval 11"/>
          <p:cNvSpPr/>
          <p:nvPr/>
        </p:nvSpPr>
        <p:spPr>
          <a:xfrm>
            <a:off x="1905000" y="2438400"/>
            <a:ext cx="1590675" cy="838200"/>
          </a:xfrm>
          <a:prstGeom prst="ellipse">
            <a:avLst/>
          </a:prstGeom>
          <a:solidFill>
            <a:schemeClr val="accent2">
              <a:lumMod val="75000"/>
              <a:alpha val="46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Arrow Connector 12"/>
          <p:cNvCxnSpPr/>
          <p:nvPr/>
        </p:nvCxnSpPr>
        <p:spPr>
          <a:xfrm rot="10800000" flipV="1">
            <a:off x="3810000" y="2667000"/>
            <a:ext cx="762000" cy="2286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886200" y="3733800"/>
            <a:ext cx="1219200" cy="6096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1371600" y="1828800"/>
            <a:ext cx="2362200" cy="1676400"/>
          </a:xfrm>
          <a:prstGeom prst="ellipse">
            <a:avLst/>
          </a:prstGeom>
          <a:solidFill>
            <a:schemeClr val="bg2">
              <a:lumMod val="50000"/>
              <a:alpha val="46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17" name="Table 16"/>
          <p:cNvGraphicFramePr>
            <a:graphicFrameLocks noGrp="1"/>
          </p:cNvGraphicFramePr>
          <p:nvPr/>
        </p:nvGraphicFramePr>
        <p:xfrm>
          <a:off x="4724400" y="4419600"/>
          <a:ext cx="3505200" cy="914400"/>
        </p:xfrm>
        <a:graphic>
          <a:graphicData uri="http://schemas.openxmlformats.org/drawingml/2006/table">
            <a:tbl>
              <a:tblPr firstRow="1" bandRow="1">
                <a:tableStyleId>{5940675A-B579-460E-94D1-54222C63F5DA}</a:tableStyleId>
              </a:tblPr>
              <a:tblGrid>
                <a:gridCol w="1168400">
                  <a:extLst>
                    <a:ext uri="{9D8B030D-6E8A-4147-A177-3AD203B41FA5}">
                      <a16:colId xmlns:a16="http://schemas.microsoft.com/office/drawing/2014/main" val="20000"/>
                    </a:ext>
                  </a:extLst>
                </a:gridCol>
                <a:gridCol w="11684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tblGrid>
              <a:tr h="206829">
                <a:tc>
                  <a:txBody>
                    <a:bodyPr/>
                    <a:lstStyle/>
                    <a:p>
                      <a:r>
                        <a:rPr lang="en-US" sz="1400" dirty="0"/>
                        <a:t>Dist</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(A,B)</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((D,F),E),C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6829">
                <a:tc>
                  <a:txBody>
                    <a:bodyPr/>
                    <a:lstStyle/>
                    <a:p>
                      <a:r>
                        <a:rPr lang="en-US" sz="1400" dirty="0"/>
                        <a:t>(A,B)</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7C80"/>
                    </a:solidFill>
                  </a:tcPr>
                </a:tc>
                <a:extLst>
                  <a:ext uri="{0D108BD9-81ED-4DB2-BD59-A6C34878D82A}">
                    <a16:rowId xmlns:a16="http://schemas.microsoft.com/office/drawing/2014/main" val="10001"/>
                  </a:ext>
                </a:extLst>
              </a:tr>
              <a:tr h="206829">
                <a:tc>
                  <a:txBody>
                    <a:bodyPr/>
                    <a:lstStyle/>
                    <a:p>
                      <a:r>
                        <a:rPr lang="en-US" sz="1400" dirty="0"/>
                        <a:t>((D,F),E),C</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400" b="0" dirty="0"/>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99"/>
                    </a:solidFill>
                  </a:tcPr>
                </a:tc>
                <a:tc>
                  <a:txBody>
                    <a:bodyPr/>
                    <a:lstStyle/>
                    <a:p>
                      <a:pPr algn="ctr"/>
                      <a:r>
                        <a:rPr lang="en-US" sz="1400" b="0" dirty="0"/>
                        <a:t>0.00</a:t>
                      </a:r>
                    </a:p>
                  </a:txBody>
                  <a:tcPr>
                    <a:lnL w="12700" cap="flat" cmpd="sng" algn="ctr">
                      <a:solidFill>
                        <a:schemeClr val="tx1"/>
                      </a:solidFill>
                      <a:prstDash val="solid"/>
                      <a:round/>
                      <a:headEnd type="none" w="med" len="med"/>
                      <a:tailEnd type="none" w="med" len="med"/>
                    </a:lnL>
                    <a:solidFill>
                      <a:srgbClr val="FFFF99"/>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1294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9888"/>
            <a:ext cx="8229600" cy="1143000"/>
          </a:xfrm>
        </p:spPr>
        <p:txBody>
          <a:bodyPr>
            <a:noAutofit/>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31750" name="TextBox 6"/>
          <p:cNvSpPr txBox="1">
            <a:spLocks noChangeArrowheads="1"/>
          </p:cNvSpPr>
          <p:nvPr/>
        </p:nvSpPr>
        <p:spPr bwMode="auto">
          <a:xfrm>
            <a:off x="3657600" y="5715000"/>
            <a:ext cx="1494448" cy="400110"/>
          </a:xfrm>
          <a:prstGeom prst="rect">
            <a:avLst/>
          </a:prstGeom>
          <a:solidFill>
            <a:srgbClr val="FFFF99"/>
          </a:solidFill>
          <a:ln w="9525">
            <a:noFill/>
            <a:miter lim="800000"/>
            <a:headEnd/>
            <a:tailEnd/>
          </a:ln>
        </p:spPr>
        <p:txBody>
          <a:bodyPr wrap="none">
            <a:spAutoFit/>
          </a:bodyPr>
          <a:lstStyle/>
          <a:p>
            <a:r>
              <a:rPr lang="en-US" sz="2000"/>
              <a:t>Final Result</a:t>
            </a:r>
          </a:p>
        </p:txBody>
      </p:sp>
      <p:sp>
        <p:nvSpPr>
          <p:cNvPr id="31751" name="Text Box 49"/>
          <p:cNvSpPr txBox="1">
            <a:spLocks noChangeArrowheads="1"/>
          </p:cNvSpPr>
          <p:nvPr/>
        </p:nvSpPr>
        <p:spPr bwMode="auto">
          <a:xfrm>
            <a:off x="1309688" y="4268788"/>
            <a:ext cx="1509712" cy="400050"/>
          </a:xfrm>
          <a:prstGeom prst="rect">
            <a:avLst/>
          </a:prstGeom>
          <a:noFill/>
          <a:ln w="9525">
            <a:noFill/>
            <a:miter lim="800000"/>
            <a:headEnd/>
            <a:tailEnd/>
          </a:ln>
        </p:spPr>
        <p:txBody>
          <a:bodyPr wrap="none">
            <a:spAutoFit/>
          </a:bodyPr>
          <a:lstStyle/>
          <a:p>
            <a:r>
              <a:rPr lang="en-GB" sz="2000"/>
              <a:t>Data matrix</a:t>
            </a:r>
            <a:endParaRPr lang="en-US" sz="2000"/>
          </a:p>
        </p:txBody>
      </p:sp>
      <p:graphicFrame>
        <p:nvGraphicFramePr>
          <p:cNvPr id="9" name="Table 8"/>
          <p:cNvGraphicFramePr>
            <a:graphicFrameLocks noGrp="1"/>
          </p:cNvGraphicFramePr>
          <p:nvPr/>
        </p:nvGraphicFramePr>
        <p:xfrm>
          <a:off x="685800" y="2133600"/>
          <a:ext cx="1981200" cy="2133600"/>
        </p:xfrm>
        <a:graphic>
          <a:graphicData uri="http://schemas.openxmlformats.org/drawingml/2006/table">
            <a:tbl>
              <a:tblPr firstRow="1" bandRow="1">
                <a:tableStyleId>{5940675A-B579-460E-94D1-54222C63F5DA}</a:tableStyleId>
              </a:tblPr>
              <a:tblGrid>
                <a:gridCol w="6604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tblGrid>
              <a:tr h="261257">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X2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61257">
                <a:tc>
                  <a:txBody>
                    <a:bodyPr/>
                    <a:lstStyle/>
                    <a:p>
                      <a:r>
                        <a:rPr lang="en-US" sz="140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1"/>
                  </a:ext>
                </a:extLst>
              </a:tr>
              <a:tr h="261257">
                <a:tc>
                  <a:txBody>
                    <a:bodyPr/>
                    <a:lstStyle/>
                    <a:p>
                      <a:r>
                        <a:rPr lang="en-US" sz="140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2"/>
                  </a:ext>
                </a:extLst>
              </a:tr>
              <a:tr h="261257">
                <a:tc>
                  <a:txBody>
                    <a:bodyPr/>
                    <a:lstStyle/>
                    <a:p>
                      <a:r>
                        <a:rPr lang="en-US" sz="1400" dirty="0"/>
                        <a:t>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3"/>
                  </a:ext>
                </a:extLst>
              </a:tr>
              <a:tr h="261257">
                <a:tc>
                  <a:txBody>
                    <a:bodyPr/>
                    <a:lstStyle/>
                    <a:p>
                      <a:r>
                        <a:rPr lang="en-US" sz="140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4"/>
                  </a:ext>
                </a:extLst>
              </a:tr>
              <a:tr h="261257">
                <a:tc>
                  <a:txBody>
                    <a:bodyPr/>
                    <a:lstStyle/>
                    <a:p>
                      <a:r>
                        <a:rPr lang="en-US" sz="1400" dirty="0"/>
                        <a: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5"/>
                  </a:ext>
                </a:extLst>
              </a:tr>
              <a:tr h="261257">
                <a:tc>
                  <a:txBody>
                    <a:bodyPr/>
                    <a:lstStyle/>
                    <a:p>
                      <a:r>
                        <a:rPr lang="en-US" sz="1400" dirty="0"/>
                        <a:t>F</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1400" dirty="0"/>
                        <a:t>3.5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6"/>
                  </a:ext>
                </a:extLst>
              </a:tr>
            </a:tbl>
          </a:graphicData>
        </a:graphic>
      </p:graphicFrame>
      <p:sp>
        <p:nvSpPr>
          <p:cNvPr id="10" name="Double Brace 9"/>
          <p:cNvSpPr/>
          <p:nvPr/>
        </p:nvSpPr>
        <p:spPr>
          <a:xfrm>
            <a:off x="1066800" y="2362200"/>
            <a:ext cx="1905000" cy="1905000"/>
          </a:xfrm>
          <a:prstGeom prst="bracePair">
            <a:avLst/>
          </a:prstGeom>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2000"/>
          </a:p>
        </p:txBody>
      </p:sp>
      <p:pic>
        <p:nvPicPr>
          <p:cNvPr id="31775" name="Picture 7"/>
          <p:cNvPicPr>
            <a:picLocks noChangeAspect="1" noChangeArrowheads="1"/>
          </p:cNvPicPr>
          <p:nvPr/>
        </p:nvPicPr>
        <p:blipFill>
          <a:blip r:embed="rId2"/>
          <a:srcRect/>
          <a:stretch>
            <a:fillRect/>
          </a:stretch>
        </p:blipFill>
        <p:spPr bwMode="auto">
          <a:xfrm>
            <a:off x="3810000" y="1828800"/>
            <a:ext cx="3886200" cy="3181350"/>
          </a:xfrm>
          <a:prstGeom prst="rect">
            <a:avLst/>
          </a:prstGeom>
          <a:noFill/>
          <a:ln w="9525">
            <a:noFill/>
            <a:miter lim="800000"/>
            <a:headEnd/>
            <a:tailEnd/>
          </a:ln>
        </p:spPr>
      </p:pic>
    </p:spTree>
    <p:extLst>
      <p:ext uri="{BB962C8B-B14F-4D97-AF65-F5344CB8AC3E}">
        <p14:creationId xmlns:p14="http://schemas.microsoft.com/office/powerpoint/2010/main" val="772022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824" y="177725"/>
            <a:ext cx="8229600" cy="1143000"/>
          </a:xfrm>
        </p:spPr>
        <p:txBody>
          <a:bodyPr>
            <a:normAutofit fontScale="90000"/>
          </a:bodyPr>
          <a:lstStyle/>
          <a:p>
            <a:pPr eaLnBrk="1" fontAlgn="auto" hangingPunct="1">
              <a:spcAft>
                <a:spcPts val="0"/>
              </a:spcAft>
              <a:defRPr/>
            </a:pPr>
            <a:r>
              <a:rPr lang="fr-FR" sz="4400" dirty="0">
                <a:latin typeface="+mn-lt"/>
              </a:rPr>
              <a:t>Agglomerative Clustering - Example</a:t>
            </a:r>
            <a:endParaRPr lang="en-US" sz="4400" dirty="0">
              <a:latin typeface="+mn-lt"/>
            </a:endParaRPr>
          </a:p>
        </p:txBody>
      </p:sp>
      <p:sp>
        <p:nvSpPr>
          <p:cNvPr id="32774" name="TextBox 6"/>
          <p:cNvSpPr txBox="1">
            <a:spLocks noChangeArrowheads="1"/>
          </p:cNvSpPr>
          <p:nvPr/>
        </p:nvSpPr>
        <p:spPr bwMode="auto">
          <a:xfrm>
            <a:off x="1889125" y="6363177"/>
            <a:ext cx="3095625" cy="369888"/>
          </a:xfrm>
          <a:prstGeom prst="rect">
            <a:avLst/>
          </a:prstGeom>
          <a:solidFill>
            <a:srgbClr val="FFFF99"/>
          </a:solidFill>
          <a:ln w="9525">
            <a:noFill/>
            <a:miter lim="800000"/>
            <a:headEnd/>
            <a:tailEnd/>
          </a:ln>
        </p:spPr>
        <p:txBody>
          <a:bodyPr wrap="none">
            <a:spAutoFit/>
          </a:bodyPr>
          <a:lstStyle/>
          <a:p>
            <a:r>
              <a:rPr lang="en-US"/>
              <a:t>Dendrogram Representation</a:t>
            </a:r>
          </a:p>
        </p:txBody>
      </p:sp>
      <p:pic>
        <p:nvPicPr>
          <p:cNvPr id="32775" name="Picture 12"/>
          <p:cNvPicPr>
            <a:picLocks noChangeAspect="1" noChangeArrowheads="1"/>
          </p:cNvPicPr>
          <p:nvPr/>
        </p:nvPicPr>
        <p:blipFill>
          <a:blip r:embed="rId2"/>
          <a:srcRect/>
          <a:stretch>
            <a:fillRect/>
          </a:stretch>
        </p:blipFill>
        <p:spPr bwMode="auto">
          <a:xfrm>
            <a:off x="381000" y="1676400"/>
            <a:ext cx="4495800" cy="4684713"/>
          </a:xfrm>
          <a:prstGeom prst="rect">
            <a:avLst/>
          </a:prstGeom>
          <a:noFill/>
          <a:ln w="9525">
            <a:noFill/>
            <a:miter lim="800000"/>
            <a:headEnd/>
            <a:tailEnd/>
          </a:ln>
        </p:spPr>
      </p:pic>
      <p:sp>
        <p:nvSpPr>
          <p:cNvPr id="32776" name="TextBox 7"/>
          <p:cNvSpPr txBox="1">
            <a:spLocks noChangeArrowheads="1"/>
          </p:cNvSpPr>
          <p:nvPr/>
        </p:nvSpPr>
        <p:spPr bwMode="auto">
          <a:xfrm>
            <a:off x="1447800" y="5103813"/>
            <a:ext cx="312738" cy="401637"/>
          </a:xfrm>
          <a:prstGeom prst="rect">
            <a:avLst/>
          </a:prstGeom>
          <a:noFill/>
          <a:ln w="9525">
            <a:noFill/>
            <a:miter lim="800000"/>
            <a:headEnd/>
            <a:tailEnd/>
          </a:ln>
        </p:spPr>
        <p:txBody>
          <a:bodyPr wrap="none">
            <a:spAutoFit/>
          </a:bodyPr>
          <a:lstStyle/>
          <a:p>
            <a:r>
              <a:rPr lang="en-GB" sz="2000" b="1"/>
              <a:t>2</a:t>
            </a:r>
            <a:endParaRPr lang="en-US" sz="2000" b="1"/>
          </a:p>
        </p:txBody>
      </p:sp>
      <p:sp>
        <p:nvSpPr>
          <p:cNvPr id="32777" name="TextBox 8"/>
          <p:cNvSpPr txBox="1">
            <a:spLocks noChangeArrowheads="1"/>
          </p:cNvSpPr>
          <p:nvPr/>
        </p:nvSpPr>
        <p:spPr bwMode="auto">
          <a:xfrm>
            <a:off x="3810000" y="4799013"/>
            <a:ext cx="312738" cy="401637"/>
          </a:xfrm>
          <a:prstGeom prst="rect">
            <a:avLst/>
          </a:prstGeom>
          <a:noFill/>
          <a:ln w="9525">
            <a:noFill/>
            <a:miter lim="800000"/>
            <a:headEnd/>
            <a:tailEnd/>
          </a:ln>
        </p:spPr>
        <p:txBody>
          <a:bodyPr wrap="none">
            <a:spAutoFit/>
          </a:bodyPr>
          <a:lstStyle/>
          <a:p>
            <a:r>
              <a:rPr lang="en-GB" sz="2000" b="1"/>
              <a:t>3</a:t>
            </a:r>
            <a:endParaRPr lang="en-US" sz="2000" b="1"/>
          </a:p>
        </p:txBody>
      </p:sp>
      <p:sp>
        <p:nvSpPr>
          <p:cNvPr id="32778" name="TextBox 9"/>
          <p:cNvSpPr txBox="1">
            <a:spLocks noChangeArrowheads="1"/>
          </p:cNvSpPr>
          <p:nvPr/>
        </p:nvSpPr>
        <p:spPr bwMode="auto">
          <a:xfrm>
            <a:off x="1828800" y="4418013"/>
            <a:ext cx="312738" cy="401637"/>
          </a:xfrm>
          <a:prstGeom prst="rect">
            <a:avLst/>
          </a:prstGeom>
          <a:noFill/>
          <a:ln w="9525">
            <a:noFill/>
            <a:miter lim="800000"/>
            <a:headEnd/>
            <a:tailEnd/>
          </a:ln>
        </p:spPr>
        <p:txBody>
          <a:bodyPr wrap="none">
            <a:spAutoFit/>
          </a:bodyPr>
          <a:lstStyle/>
          <a:p>
            <a:r>
              <a:rPr lang="en-GB" sz="2000" b="1"/>
              <a:t>4</a:t>
            </a:r>
            <a:endParaRPr lang="en-US" sz="2000" b="1"/>
          </a:p>
        </p:txBody>
      </p:sp>
      <p:sp>
        <p:nvSpPr>
          <p:cNvPr id="32779" name="TextBox 10"/>
          <p:cNvSpPr txBox="1">
            <a:spLocks noChangeArrowheads="1"/>
          </p:cNvSpPr>
          <p:nvPr/>
        </p:nvSpPr>
        <p:spPr bwMode="auto">
          <a:xfrm>
            <a:off x="2438400" y="3884613"/>
            <a:ext cx="312738" cy="401637"/>
          </a:xfrm>
          <a:prstGeom prst="rect">
            <a:avLst/>
          </a:prstGeom>
          <a:noFill/>
          <a:ln w="9525">
            <a:noFill/>
            <a:miter lim="800000"/>
            <a:headEnd/>
            <a:tailEnd/>
          </a:ln>
        </p:spPr>
        <p:txBody>
          <a:bodyPr wrap="none">
            <a:spAutoFit/>
          </a:bodyPr>
          <a:lstStyle/>
          <a:p>
            <a:r>
              <a:rPr lang="en-GB" sz="2000" b="1"/>
              <a:t>5</a:t>
            </a:r>
            <a:endParaRPr lang="en-US" sz="2000" b="1"/>
          </a:p>
        </p:txBody>
      </p:sp>
      <p:sp>
        <p:nvSpPr>
          <p:cNvPr id="32780" name="TextBox 11"/>
          <p:cNvSpPr txBox="1">
            <a:spLocks noChangeArrowheads="1"/>
          </p:cNvSpPr>
          <p:nvPr/>
        </p:nvSpPr>
        <p:spPr bwMode="auto">
          <a:xfrm>
            <a:off x="3124200" y="2360613"/>
            <a:ext cx="312738" cy="401637"/>
          </a:xfrm>
          <a:prstGeom prst="rect">
            <a:avLst/>
          </a:prstGeom>
          <a:noFill/>
          <a:ln w="9525">
            <a:noFill/>
            <a:miter lim="800000"/>
            <a:headEnd/>
            <a:tailEnd/>
          </a:ln>
        </p:spPr>
        <p:txBody>
          <a:bodyPr wrap="none">
            <a:spAutoFit/>
          </a:bodyPr>
          <a:lstStyle/>
          <a:p>
            <a:r>
              <a:rPr lang="en-GB" sz="2000" b="1"/>
              <a:t>6</a:t>
            </a:r>
            <a:endParaRPr lang="en-US" sz="2000" b="1"/>
          </a:p>
        </p:txBody>
      </p:sp>
      <p:sp>
        <p:nvSpPr>
          <p:cNvPr id="15" name="Text Box 13"/>
          <p:cNvSpPr txBox="1">
            <a:spLocks noChangeArrowheads="1"/>
          </p:cNvSpPr>
          <p:nvPr/>
        </p:nvSpPr>
        <p:spPr bwMode="auto">
          <a:xfrm>
            <a:off x="5029200" y="1760538"/>
            <a:ext cx="3733800" cy="4487862"/>
          </a:xfrm>
          <a:prstGeom prst="rect">
            <a:avLst/>
          </a:prstGeom>
          <a:solidFill>
            <a:srgbClr val="FFFF99"/>
          </a:solidFill>
          <a:ln w="9525">
            <a:noFill/>
            <a:miter lim="800000"/>
            <a:headEnd/>
            <a:tailEnd/>
          </a:ln>
        </p:spPr>
        <p:txBody>
          <a:bodyPr>
            <a:spAutoFit/>
          </a:bodyPr>
          <a:lstStyle/>
          <a:p>
            <a:pPr marL="342900" indent="-342900" defTabSz="1042988">
              <a:lnSpc>
                <a:spcPct val="90000"/>
              </a:lnSpc>
              <a:buFontTx/>
              <a:buAutoNum type="arabicPeriod"/>
              <a:defRPr/>
            </a:pPr>
            <a:r>
              <a:rPr lang="en-GB" sz="1600" dirty="0">
                <a:solidFill>
                  <a:srgbClr val="000000"/>
                </a:solidFill>
                <a:latin typeface="+mn-lt"/>
              </a:rPr>
              <a:t>In the beginning we have 6 clusters: A, B, C, D, E and F </a:t>
            </a:r>
          </a:p>
          <a:p>
            <a:pPr marL="342900" indent="-342900" defTabSz="1042988">
              <a:lnSpc>
                <a:spcPct val="90000"/>
              </a:lnSpc>
              <a:buFontTx/>
              <a:buAutoNum type="arabicPeriod" startAt="2"/>
              <a:defRPr/>
            </a:pPr>
            <a:r>
              <a:rPr lang="en-GB" sz="1600" dirty="0">
                <a:solidFill>
                  <a:srgbClr val="000000"/>
                </a:solidFill>
                <a:latin typeface="+mn-lt"/>
              </a:rPr>
              <a:t>We merge cluster D and F into cluster (D, F) at distance 0.50 </a:t>
            </a:r>
          </a:p>
          <a:p>
            <a:pPr marL="342900" indent="-342900" defTabSz="1042988">
              <a:buFontTx/>
              <a:buAutoNum type="arabicPeriod" startAt="3"/>
              <a:defRPr/>
            </a:pPr>
            <a:r>
              <a:rPr lang="en-GB" sz="1600" dirty="0">
                <a:solidFill>
                  <a:srgbClr val="000000"/>
                </a:solidFill>
                <a:latin typeface="+mn-lt"/>
              </a:rPr>
              <a:t>We merge cluster A and cluster B into (A, B) at distance 0.71 </a:t>
            </a:r>
          </a:p>
          <a:p>
            <a:pPr marL="342900" indent="-342900" defTabSz="1042988">
              <a:buFontTx/>
              <a:buAutoNum type="arabicPeriod" startAt="4"/>
              <a:defRPr/>
            </a:pPr>
            <a:r>
              <a:rPr lang="en-GB" sz="1600" dirty="0">
                <a:solidFill>
                  <a:srgbClr val="000000"/>
                </a:solidFill>
                <a:latin typeface="+mn-lt"/>
              </a:rPr>
              <a:t>We merge cluster E and (D, F) into ((D, F), E) at distance 1.00 </a:t>
            </a:r>
          </a:p>
          <a:p>
            <a:pPr marL="342900" indent="-342900" defTabSz="1042988">
              <a:buFontTx/>
              <a:buAutoNum type="arabicPeriod" startAt="5"/>
              <a:defRPr/>
            </a:pPr>
            <a:r>
              <a:rPr lang="en-GB" sz="1600" dirty="0">
                <a:solidFill>
                  <a:srgbClr val="000000"/>
                </a:solidFill>
                <a:latin typeface="+mn-lt"/>
              </a:rPr>
              <a:t>We merge cluster ((D, F), E) and C into (((D, F), E), C) at distance 1.41 </a:t>
            </a:r>
          </a:p>
          <a:p>
            <a:pPr marL="342900" indent="-342900" defTabSz="1042988">
              <a:buFontTx/>
              <a:buAutoNum type="arabicPeriod" startAt="6"/>
              <a:defRPr/>
            </a:pPr>
            <a:r>
              <a:rPr lang="en-GB" sz="1600" dirty="0">
                <a:solidFill>
                  <a:srgbClr val="000000"/>
                </a:solidFill>
                <a:latin typeface="+mn-lt"/>
              </a:rPr>
              <a:t>We merge cluster (((D, F), E), C) and (A, B) into ((((D, F), E), C), (A, B)) at distance 2.50 </a:t>
            </a:r>
          </a:p>
          <a:p>
            <a:pPr marL="342900" indent="-342900" defTabSz="1042988">
              <a:buFontTx/>
              <a:buAutoNum type="arabicPeriod" startAt="7"/>
              <a:defRPr/>
            </a:pPr>
            <a:r>
              <a:rPr lang="en-GB" sz="1600" dirty="0">
                <a:solidFill>
                  <a:srgbClr val="000000"/>
                </a:solidFill>
                <a:latin typeface="+mn-lt"/>
              </a:rPr>
              <a:t>The last cluster contain all the objects,    thus conclude the computation </a:t>
            </a:r>
          </a:p>
          <a:p>
            <a:pPr marL="342900" indent="-342900" defTabSz="1042988">
              <a:defRPr/>
            </a:pPr>
            <a:endParaRPr lang="en-GB" sz="2000" dirty="0">
              <a:latin typeface="Tahoma" pitchFamily="34" charset="0"/>
            </a:endParaRPr>
          </a:p>
        </p:txBody>
      </p:sp>
    </p:spTree>
    <p:extLst>
      <p:ext uri="{BB962C8B-B14F-4D97-AF65-F5344CB8AC3E}">
        <p14:creationId xmlns:p14="http://schemas.microsoft.com/office/powerpoint/2010/main" val="606011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369520"/>
            <a:ext cx="8229600" cy="1143000"/>
          </a:xfrm>
        </p:spPr>
        <p:txBody>
          <a:bodyPr>
            <a:normAutofit/>
          </a:bodyPr>
          <a:lstStyle/>
          <a:p>
            <a:pPr eaLnBrk="1" fontAlgn="auto" hangingPunct="1">
              <a:spcAft>
                <a:spcPts val="0"/>
              </a:spcAft>
              <a:defRPr/>
            </a:pPr>
            <a:r>
              <a:rPr lang="fr-FR" sz="4400" dirty="0">
                <a:latin typeface="+mn-lt"/>
              </a:rPr>
              <a:t>Single Link Clustering</a:t>
            </a:r>
            <a:endParaRPr lang="en-US" sz="4400" dirty="0">
              <a:latin typeface="+mn-lt"/>
            </a:endParaRPr>
          </a:p>
        </p:txBody>
      </p:sp>
      <p:sp>
        <p:nvSpPr>
          <p:cNvPr id="34822" name="Text Box 2"/>
          <p:cNvSpPr txBox="1">
            <a:spLocks noChangeArrowheads="1"/>
          </p:cNvSpPr>
          <p:nvPr/>
        </p:nvSpPr>
        <p:spPr bwMode="auto">
          <a:xfrm>
            <a:off x="1295400" y="5181600"/>
            <a:ext cx="3352800" cy="366713"/>
          </a:xfrm>
          <a:prstGeom prst="rect">
            <a:avLst/>
          </a:prstGeom>
          <a:noFill/>
          <a:ln w="12700">
            <a:noFill/>
            <a:miter lim="800000"/>
            <a:headEnd/>
            <a:tailEnd/>
          </a:ln>
        </p:spPr>
        <p:txBody>
          <a:bodyPr>
            <a:spAutoFit/>
          </a:bodyPr>
          <a:lstStyle/>
          <a:p>
            <a:r>
              <a:rPr lang="en-US" b="1"/>
              <a:t>Nested Clusters</a:t>
            </a:r>
            <a:endParaRPr lang="en-US"/>
          </a:p>
        </p:txBody>
      </p:sp>
      <p:sp>
        <p:nvSpPr>
          <p:cNvPr id="34823" name="Text Box 3"/>
          <p:cNvSpPr txBox="1">
            <a:spLocks noChangeArrowheads="1"/>
          </p:cNvSpPr>
          <p:nvPr/>
        </p:nvSpPr>
        <p:spPr bwMode="auto">
          <a:xfrm>
            <a:off x="5410200" y="4876800"/>
            <a:ext cx="2286000" cy="366713"/>
          </a:xfrm>
          <a:prstGeom prst="rect">
            <a:avLst/>
          </a:prstGeom>
          <a:noFill/>
          <a:ln w="12700">
            <a:noFill/>
            <a:miter lim="800000"/>
            <a:headEnd/>
            <a:tailEnd/>
          </a:ln>
        </p:spPr>
        <p:txBody>
          <a:bodyPr>
            <a:spAutoFit/>
          </a:bodyPr>
          <a:lstStyle/>
          <a:p>
            <a:r>
              <a:rPr lang="en-US" b="1"/>
              <a:t>Dendrogram</a:t>
            </a:r>
            <a:endParaRPr lang="en-US"/>
          </a:p>
        </p:txBody>
      </p:sp>
      <p:grpSp>
        <p:nvGrpSpPr>
          <p:cNvPr id="3" name="Group 4"/>
          <p:cNvGrpSpPr>
            <a:grpSpLocks/>
          </p:cNvGrpSpPr>
          <p:nvPr/>
        </p:nvGrpSpPr>
        <p:grpSpPr bwMode="auto">
          <a:xfrm>
            <a:off x="747713" y="1773238"/>
            <a:ext cx="3070225" cy="2747963"/>
            <a:chOff x="471" y="1117"/>
            <a:chExt cx="1934" cy="1731"/>
          </a:xfrm>
        </p:grpSpPr>
        <p:sp>
          <p:nvSpPr>
            <p:cNvPr id="34841" name="Freeform 5"/>
            <p:cNvSpPr>
              <a:spLocks/>
            </p:cNvSpPr>
            <p:nvPr/>
          </p:nvSpPr>
          <p:spPr bwMode="auto">
            <a:xfrm>
              <a:off x="1072" y="1810"/>
              <a:ext cx="89" cy="87"/>
            </a:xfrm>
            <a:custGeom>
              <a:avLst/>
              <a:gdLst>
                <a:gd name="T0" fmla="*/ 0 w 89"/>
                <a:gd name="T1" fmla="*/ 43 h 87"/>
                <a:gd name="T2" fmla="*/ 4 w 89"/>
                <a:gd name="T3" fmla="*/ 26 h 87"/>
                <a:gd name="T4" fmla="*/ 13 w 89"/>
                <a:gd name="T5" fmla="*/ 11 h 87"/>
                <a:gd name="T6" fmla="*/ 28 w 89"/>
                <a:gd name="T7" fmla="*/ 2 h 87"/>
                <a:gd name="T8" fmla="*/ 43 w 89"/>
                <a:gd name="T9" fmla="*/ 0 h 87"/>
                <a:gd name="T10" fmla="*/ 61 w 89"/>
                <a:gd name="T11" fmla="*/ 2 h 87"/>
                <a:gd name="T12" fmla="*/ 76 w 89"/>
                <a:gd name="T13" fmla="*/ 11 h 87"/>
                <a:gd name="T14" fmla="*/ 84 w 89"/>
                <a:gd name="T15" fmla="*/ 26 h 87"/>
                <a:gd name="T16" fmla="*/ 89 w 89"/>
                <a:gd name="T17" fmla="*/ 43 h 87"/>
                <a:gd name="T18" fmla="*/ 84 w 89"/>
                <a:gd name="T19" fmla="*/ 61 h 87"/>
                <a:gd name="T20" fmla="*/ 76 w 89"/>
                <a:gd name="T21" fmla="*/ 74 h 87"/>
                <a:gd name="T22" fmla="*/ 61 w 89"/>
                <a:gd name="T23" fmla="*/ 84 h 87"/>
                <a:gd name="T24" fmla="*/ 43 w 89"/>
                <a:gd name="T25" fmla="*/ 87 h 87"/>
                <a:gd name="T26" fmla="*/ 28 w 89"/>
                <a:gd name="T27" fmla="*/ 84 h 87"/>
                <a:gd name="T28" fmla="*/ 13 w 89"/>
                <a:gd name="T29" fmla="*/ 74 h 87"/>
                <a:gd name="T30" fmla="*/ 4 w 89"/>
                <a:gd name="T31" fmla="*/ 61 h 87"/>
                <a:gd name="T32" fmla="*/ 0 w 89"/>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7"/>
                <a:gd name="T53" fmla="*/ 89 w 89"/>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7">
                  <a:moveTo>
                    <a:pt x="0" y="43"/>
                  </a:moveTo>
                  <a:lnTo>
                    <a:pt x="4" y="26"/>
                  </a:lnTo>
                  <a:lnTo>
                    <a:pt x="13" y="11"/>
                  </a:lnTo>
                  <a:lnTo>
                    <a:pt x="28" y="2"/>
                  </a:lnTo>
                  <a:lnTo>
                    <a:pt x="43" y="0"/>
                  </a:lnTo>
                  <a:lnTo>
                    <a:pt x="61" y="2"/>
                  </a:lnTo>
                  <a:lnTo>
                    <a:pt x="76" y="11"/>
                  </a:lnTo>
                  <a:lnTo>
                    <a:pt x="84" y="26"/>
                  </a:lnTo>
                  <a:lnTo>
                    <a:pt x="89" y="43"/>
                  </a:lnTo>
                  <a:lnTo>
                    <a:pt x="84" y="61"/>
                  </a:lnTo>
                  <a:lnTo>
                    <a:pt x="76" y="74"/>
                  </a:lnTo>
                  <a:lnTo>
                    <a:pt x="61" y="84"/>
                  </a:lnTo>
                  <a:lnTo>
                    <a:pt x="43" y="87"/>
                  </a:lnTo>
                  <a:lnTo>
                    <a:pt x="28" y="84"/>
                  </a:lnTo>
                  <a:lnTo>
                    <a:pt x="13" y="74"/>
                  </a:lnTo>
                  <a:lnTo>
                    <a:pt x="4" y="61"/>
                  </a:lnTo>
                  <a:lnTo>
                    <a:pt x="0" y="43"/>
                  </a:lnTo>
                  <a:close/>
                </a:path>
              </a:pathLst>
            </a:custGeom>
            <a:solidFill>
              <a:srgbClr val="1A1A1A"/>
            </a:solidFill>
            <a:ln w="3175">
              <a:solidFill>
                <a:srgbClr val="000000"/>
              </a:solidFill>
              <a:round/>
              <a:headEnd/>
              <a:tailEnd/>
            </a:ln>
          </p:spPr>
          <p:txBody>
            <a:bodyPr/>
            <a:lstStyle/>
            <a:p>
              <a:endParaRPr lang="en-US"/>
            </a:p>
          </p:txBody>
        </p:sp>
        <p:sp>
          <p:nvSpPr>
            <p:cNvPr id="34842" name="Freeform 6"/>
            <p:cNvSpPr>
              <a:spLocks/>
            </p:cNvSpPr>
            <p:nvPr/>
          </p:nvSpPr>
          <p:spPr bwMode="auto">
            <a:xfrm>
              <a:off x="1894" y="1169"/>
              <a:ext cx="89" cy="86"/>
            </a:xfrm>
            <a:custGeom>
              <a:avLst/>
              <a:gdLst>
                <a:gd name="T0" fmla="*/ 0 w 89"/>
                <a:gd name="T1" fmla="*/ 43 h 86"/>
                <a:gd name="T2" fmla="*/ 4 w 89"/>
                <a:gd name="T3" fmla="*/ 26 h 86"/>
                <a:gd name="T4" fmla="*/ 13 w 89"/>
                <a:gd name="T5" fmla="*/ 13 h 86"/>
                <a:gd name="T6" fmla="*/ 28 w 89"/>
                <a:gd name="T7" fmla="*/ 2 h 86"/>
                <a:gd name="T8" fmla="*/ 45 w 89"/>
                <a:gd name="T9" fmla="*/ 0 h 86"/>
                <a:gd name="T10" fmla="*/ 61 w 89"/>
                <a:gd name="T11" fmla="*/ 2 h 86"/>
                <a:gd name="T12" fmla="*/ 76 w 89"/>
                <a:gd name="T13" fmla="*/ 13 h 86"/>
                <a:gd name="T14" fmla="*/ 84 w 89"/>
                <a:gd name="T15" fmla="*/ 26 h 86"/>
                <a:gd name="T16" fmla="*/ 89 w 89"/>
                <a:gd name="T17" fmla="*/ 43 h 86"/>
                <a:gd name="T18" fmla="*/ 84 w 89"/>
                <a:gd name="T19" fmla="*/ 60 h 86"/>
                <a:gd name="T20" fmla="*/ 76 w 89"/>
                <a:gd name="T21" fmla="*/ 73 h 86"/>
                <a:gd name="T22" fmla="*/ 61 w 89"/>
                <a:gd name="T23" fmla="*/ 84 h 86"/>
                <a:gd name="T24" fmla="*/ 45 w 89"/>
                <a:gd name="T25" fmla="*/ 86 h 86"/>
                <a:gd name="T26" fmla="*/ 28 w 89"/>
                <a:gd name="T27" fmla="*/ 84 h 86"/>
                <a:gd name="T28" fmla="*/ 13 w 89"/>
                <a:gd name="T29" fmla="*/ 73 h 86"/>
                <a:gd name="T30" fmla="*/ 4 w 89"/>
                <a:gd name="T31" fmla="*/ 60 h 86"/>
                <a:gd name="T32" fmla="*/ 0 w 89"/>
                <a:gd name="T33" fmla="*/ 43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6"/>
                <a:gd name="T53" fmla="*/ 89 w 89"/>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6">
                  <a:moveTo>
                    <a:pt x="0" y="43"/>
                  </a:moveTo>
                  <a:lnTo>
                    <a:pt x="4" y="26"/>
                  </a:lnTo>
                  <a:lnTo>
                    <a:pt x="13" y="13"/>
                  </a:lnTo>
                  <a:lnTo>
                    <a:pt x="28" y="2"/>
                  </a:lnTo>
                  <a:lnTo>
                    <a:pt x="45" y="0"/>
                  </a:lnTo>
                  <a:lnTo>
                    <a:pt x="61" y="2"/>
                  </a:lnTo>
                  <a:lnTo>
                    <a:pt x="76" y="13"/>
                  </a:lnTo>
                  <a:lnTo>
                    <a:pt x="84" y="26"/>
                  </a:lnTo>
                  <a:lnTo>
                    <a:pt x="89" y="43"/>
                  </a:lnTo>
                  <a:lnTo>
                    <a:pt x="84" y="60"/>
                  </a:lnTo>
                  <a:lnTo>
                    <a:pt x="76" y="73"/>
                  </a:lnTo>
                  <a:lnTo>
                    <a:pt x="61" y="84"/>
                  </a:lnTo>
                  <a:lnTo>
                    <a:pt x="45" y="86"/>
                  </a:lnTo>
                  <a:lnTo>
                    <a:pt x="28" y="84"/>
                  </a:lnTo>
                  <a:lnTo>
                    <a:pt x="13" y="73"/>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4843" name="Freeform 7"/>
            <p:cNvSpPr>
              <a:spLocks/>
            </p:cNvSpPr>
            <p:nvPr/>
          </p:nvSpPr>
          <p:spPr bwMode="auto">
            <a:xfrm>
              <a:off x="1295" y="2683"/>
              <a:ext cx="89" cy="88"/>
            </a:xfrm>
            <a:custGeom>
              <a:avLst/>
              <a:gdLst>
                <a:gd name="T0" fmla="*/ 0 w 89"/>
                <a:gd name="T1" fmla="*/ 45 h 88"/>
                <a:gd name="T2" fmla="*/ 4 w 89"/>
                <a:gd name="T3" fmla="*/ 28 h 88"/>
                <a:gd name="T4" fmla="*/ 13 w 89"/>
                <a:gd name="T5" fmla="*/ 12 h 88"/>
                <a:gd name="T6" fmla="*/ 28 w 89"/>
                <a:gd name="T7" fmla="*/ 4 h 88"/>
                <a:gd name="T8" fmla="*/ 45 w 89"/>
                <a:gd name="T9" fmla="*/ 0 h 88"/>
                <a:gd name="T10" fmla="*/ 60 w 89"/>
                <a:gd name="T11" fmla="*/ 4 h 88"/>
                <a:gd name="T12" fmla="*/ 76 w 89"/>
                <a:gd name="T13" fmla="*/ 12 h 88"/>
                <a:gd name="T14" fmla="*/ 86 w 89"/>
                <a:gd name="T15" fmla="*/ 28 h 88"/>
                <a:gd name="T16" fmla="*/ 89 w 89"/>
                <a:gd name="T17" fmla="*/ 45 h 88"/>
                <a:gd name="T18" fmla="*/ 86 w 89"/>
                <a:gd name="T19" fmla="*/ 62 h 88"/>
                <a:gd name="T20" fmla="*/ 76 w 89"/>
                <a:gd name="T21" fmla="*/ 75 h 88"/>
                <a:gd name="T22" fmla="*/ 60 w 89"/>
                <a:gd name="T23" fmla="*/ 86 h 88"/>
                <a:gd name="T24" fmla="*/ 45 w 89"/>
                <a:gd name="T25" fmla="*/ 88 h 88"/>
                <a:gd name="T26" fmla="*/ 28 w 89"/>
                <a:gd name="T27" fmla="*/ 86 h 88"/>
                <a:gd name="T28" fmla="*/ 13 w 89"/>
                <a:gd name="T29" fmla="*/ 75 h 88"/>
                <a:gd name="T30" fmla="*/ 4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4" y="28"/>
                  </a:lnTo>
                  <a:lnTo>
                    <a:pt x="13" y="12"/>
                  </a:lnTo>
                  <a:lnTo>
                    <a:pt x="28" y="4"/>
                  </a:lnTo>
                  <a:lnTo>
                    <a:pt x="45" y="0"/>
                  </a:lnTo>
                  <a:lnTo>
                    <a:pt x="60" y="4"/>
                  </a:lnTo>
                  <a:lnTo>
                    <a:pt x="76" y="12"/>
                  </a:lnTo>
                  <a:lnTo>
                    <a:pt x="86" y="28"/>
                  </a:lnTo>
                  <a:lnTo>
                    <a:pt x="89" y="45"/>
                  </a:lnTo>
                  <a:lnTo>
                    <a:pt x="86" y="62"/>
                  </a:lnTo>
                  <a:lnTo>
                    <a:pt x="76" y="75"/>
                  </a:lnTo>
                  <a:lnTo>
                    <a:pt x="60" y="86"/>
                  </a:lnTo>
                  <a:lnTo>
                    <a:pt x="45" y="88"/>
                  </a:lnTo>
                  <a:lnTo>
                    <a:pt x="28" y="86"/>
                  </a:lnTo>
                  <a:lnTo>
                    <a:pt x="13" y="75"/>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4844" name="Freeform 8"/>
            <p:cNvSpPr>
              <a:spLocks/>
            </p:cNvSpPr>
            <p:nvPr/>
          </p:nvSpPr>
          <p:spPr bwMode="auto">
            <a:xfrm>
              <a:off x="471" y="1683"/>
              <a:ext cx="88" cy="88"/>
            </a:xfrm>
            <a:custGeom>
              <a:avLst/>
              <a:gdLst>
                <a:gd name="T0" fmla="*/ 0 w 88"/>
                <a:gd name="T1" fmla="*/ 45 h 88"/>
                <a:gd name="T2" fmla="*/ 4 w 88"/>
                <a:gd name="T3" fmla="*/ 28 h 88"/>
                <a:gd name="T4" fmla="*/ 13 w 88"/>
                <a:gd name="T5" fmla="*/ 13 h 88"/>
                <a:gd name="T6" fmla="*/ 28 w 88"/>
                <a:gd name="T7" fmla="*/ 4 h 88"/>
                <a:gd name="T8" fmla="*/ 45 w 88"/>
                <a:gd name="T9" fmla="*/ 0 h 88"/>
                <a:gd name="T10" fmla="*/ 60 w 88"/>
                <a:gd name="T11" fmla="*/ 4 h 88"/>
                <a:gd name="T12" fmla="*/ 75 w 88"/>
                <a:gd name="T13" fmla="*/ 13 h 88"/>
                <a:gd name="T14" fmla="*/ 84 w 88"/>
                <a:gd name="T15" fmla="*/ 28 h 88"/>
                <a:gd name="T16" fmla="*/ 88 w 88"/>
                <a:gd name="T17" fmla="*/ 45 h 88"/>
                <a:gd name="T18" fmla="*/ 84 w 88"/>
                <a:gd name="T19" fmla="*/ 60 h 88"/>
                <a:gd name="T20" fmla="*/ 75 w 88"/>
                <a:gd name="T21" fmla="*/ 75 h 88"/>
                <a:gd name="T22" fmla="*/ 60 w 88"/>
                <a:gd name="T23" fmla="*/ 86 h 88"/>
                <a:gd name="T24" fmla="*/ 45 w 88"/>
                <a:gd name="T25" fmla="*/ 88 h 88"/>
                <a:gd name="T26" fmla="*/ 28 w 88"/>
                <a:gd name="T27" fmla="*/ 86 h 88"/>
                <a:gd name="T28" fmla="*/ 13 w 88"/>
                <a:gd name="T29" fmla="*/ 75 h 88"/>
                <a:gd name="T30" fmla="*/ 4 w 88"/>
                <a:gd name="T31" fmla="*/ 60 h 88"/>
                <a:gd name="T32" fmla="*/ 0 w 88"/>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8"/>
                <a:gd name="T53" fmla="*/ 88 w 88"/>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8">
                  <a:moveTo>
                    <a:pt x="0" y="45"/>
                  </a:moveTo>
                  <a:lnTo>
                    <a:pt x="4" y="28"/>
                  </a:lnTo>
                  <a:lnTo>
                    <a:pt x="13" y="13"/>
                  </a:lnTo>
                  <a:lnTo>
                    <a:pt x="28" y="4"/>
                  </a:lnTo>
                  <a:lnTo>
                    <a:pt x="45" y="0"/>
                  </a:lnTo>
                  <a:lnTo>
                    <a:pt x="60" y="4"/>
                  </a:lnTo>
                  <a:lnTo>
                    <a:pt x="75" y="13"/>
                  </a:lnTo>
                  <a:lnTo>
                    <a:pt x="84" y="28"/>
                  </a:lnTo>
                  <a:lnTo>
                    <a:pt x="88" y="45"/>
                  </a:lnTo>
                  <a:lnTo>
                    <a:pt x="84" y="60"/>
                  </a:lnTo>
                  <a:lnTo>
                    <a:pt x="75" y="75"/>
                  </a:lnTo>
                  <a:lnTo>
                    <a:pt x="60" y="86"/>
                  </a:lnTo>
                  <a:lnTo>
                    <a:pt x="45" y="88"/>
                  </a:lnTo>
                  <a:lnTo>
                    <a:pt x="28" y="86"/>
                  </a:lnTo>
                  <a:lnTo>
                    <a:pt x="13" y="75"/>
                  </a:lnTo>
                  <a:lnTo>
                    <a:pt x="4" y="60"/>
                  </a:lnTo>
                  <a:lnTo>
                    <a:pt x="0" y="45"/>
                  </a:lnTo>
                  <a:close/>
                </a:path>
              </a:pathLst>
            </a:custGeom>
            <a:solidFill>
              <a:srgbClr val="1A1A1A"/>
            </a:solidFill>
            <a:ln w="3175">
              <a:solidFill>
                <a:srgbClr val="000000"/>
              </a:solidFill>
              <a:round/>
              <a:headEnd/>
              <a:tailEnd/>
            </a:ln>
          </p:spPr>
          <p:txBody>
            <a:bodyPr/>
            <a:lstStyle/>
            <a:p>
              <a:endParaRPr lang="en-US"/>
            </a:p>
          </p:txBody>
        </p:sp>
        <p:sp>
          <p:nvSpPr>
            <p:cNvPr id="34845" name="Freeform 9"/>
            <p:cNvSpPr>
              <a:spLocks/>
            </p:cNvSpPr>
            <p:nvPr/>
          </p:nvSpPr>
          <p:spPr bwMode="auto">
            <a:xfrm>
              <a:off x="1652" y="2117"/>
              <a:ext cx="88" cy="88"/>
            </a:xfrm>
            <a:custGeom>
              <a:avLst/>
              <a:gdLst>
                <a:gd name="T0" fmla="*/ 0 w 88"/>
                <a:gd name="T1" fmla="*/ 45 h 88"/>
                <a:gd name="T2" fmla="*/ 2 w 88"/>
                <a:gd name="T3" fmla="*/ 28 h 88"/>
                <a:gd name="T4" fmla="*/ 13 w 88"/>
                <a:gd name="T5" fmla="*/ 13 h 88"/>
                <a:gd name="T6" fmla="*/ 26 w 88"/>
                <a:gd name="T7" fmla="*/ 4 h 88"/>
                <a:gd name="T8" fmla="*/ 43 w 88"/>
                <a:gd name="T9" fmla="*/ 0 h 88"/>
                <a:gd name="T10" fmla="*/ 60 w 88"/>
                <a:gd name="T11" fmla="*/ 4 h 88"/>
                <a:gd name="T12" fmla="*/ 75 w 88"/>
                <a:gd name="T13" fmla="*/ 13 h 88"/>
                <a:gd name="T14" fmla="*/ 84 w 88"/>
                <a:gd name="T15" fmla="*/ 28 h 88"/>
                <a:gd name="T16" fmla="*/ 88 w 88"/>
                <a:gd name="T17" fmla="*/ 45 h 88"/>
                <a:gd name="T18" fmla="*/ 84 w 88"/>
                <a:gd name="T19" fmla="*/ 62 h 88"/>
                <a:gd name="T20" fmla="*/ 75 w 88"/>
                <a:gd name="T21" fmla="*/ 75 h 88"/>
                <a:gd name="T22" fmla="*/ 60 w 88"/>
                <a:gd name="T23" fmla="*/ 86 h 88"/>
                <a:gd name="T24" fmla="*/ 43 w 88"/>
                <a:gd name="T25" fmla="*/ 88 h 88"/>
                <a:gd name="T26" fmla="*/ 26 w 88"/>
                <a:gd name="T27" fmla="*/ 86 h 88"/>
                <a:gd name="T28" fmla="*/ 13 w 88"/>
                <a:gd name="T29" fmla="*/ 75 h 88"/>
                <a:gd name="T30" fmla="*/ 2 w 88"/>
                <a:gd name="T31" fmla="*/ 62 h 88"/>
                <a:gd name="T32" fmla="*/ 0 w 88"/>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8"/>
                <a:gd name="T53" fmla="*/ 88 w 88"/>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8">
                  <a:moveTo>
                    <a:pt x="0" y="45"/>
                  </a:moveTo>
                  <a:lnTo>
                    <a:pt x="2" y="28"/>
                  </a:lnTo>
                  <a:lnTo>
                    <a:pt x="13" y="13"/>
                  </a:lnTo>
                  <a:lnTo>
                    <a:pt x="26" y="4"/>
                  </a:lnTo>
                  <a:lnTo>
                    <a:pt x="43" y="0"/>
                  </a:lnTo>
                  <a:lnTo>
                    <a:pt x="60" y="4"/>
                  </a:lnTo>
                  <a:lnTo>
                    <a:pt x="75" y="13"/>
                  </a:lnTo>
                  <a:lnTo>
                    <a:pt x="84" y="28"/>
                  </a:lnTo>
                  <a:lnTo>
                    <a:pt x="88" y="45"/>
                  </a:lnTo>
                  <a:lnTo>
                    <a:pt x="84" y="62"/>
                  </a:lnTo>
                  <a:lnTo>
                    <a:pt x="75" y="75"/>
                  </a:lnTo>
                  <a:lnTo>
                    <a:pt x="60" y="86"/>
                  </a:lnTo>
                  <a:lnTo>
                    <a:pt x="43" y="88"/>
                  </a:lnTo>
                  <a:lnTo>
                    <a:pt x="26" y="86"/>
                  </a:lnTo>
                  <a:lnTo>
                    <a:pt x="13" y="75"/>
                  </a:lnTo>
                  <a:lnTo>
                    <a:pt x="2"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4846" name="Freeform 10"/>
            <p:cNvSpPr>
              <a:spLocks/>
            </p:cNvSpPr>
            <p:nvPr/>
          </p:nvSpPr>
          <p:spPr bwMode="auto">
            <a:xfrm>
              <a:off x="2134" y="2177"/>
              <a:ext cx="89" cy="89"/>
            </a:xfrm>
            <a:custGeom>
              <a:avLst/>
              <a:gdLst>
                <a:gd name="T0" fmla="*/ 0 w 89"/>
                <a:gd name="T1" fmla="*/ 43 h 89"/>
                <a:gd name="T2" fmla="*/ 4 w 89"/>
                <a:gd name="T3" fmla="*/ 26 h 89"/>
                <a:gd name="T4" fmla="*/ 13 w 89"/>
                <a:gd name="T5" fmla="*/ 13 h 89"/>
                <a:gd name="T6" fmla="*/ 28 w 89"/>
                <a:gd name="T7" fmla="*/ 2 h 89"/>
                <a:gd name="T8" fmla="*/ 46 w 89"/>
                <a:gd name="T9" fmla="*/ 0 h 89"/>
                <a:gd name="T10" fmla="*/ 63 w 89"/>
                <a:gd name="T11" fmla="*/ 2 h 89"/>
                <a:gd name="T12" fmla="*/ 76 w 89"/>
                <a:gd name="T13" fmla="*/ 13 h 89"/>
                <a:gd name="T14" fmla="*/ 87 w 89"/>
                <a:gd name="T15" fmla="*/ 26 h 89"/>
                <a:gd name="T16" fmla="*/ 89 w 89"/>
                <a:gd name="T17" fmla="*/ 43 h 89"/>
                <a:gd name="T18" fmla="*/ 87 w 89"/>
                <a:gd name="T19" fmla="*/ 61 h 89"/>
                <a:gd name="T20" fmla="*/ 76 w 89"/>
                <a:gd name="T21" fmla="*/ 76 h 89"/>
                <a:gd name="T22" fmla="*/ 63 w 89"/>
                <a:gd name="T23" fmla="*/ 84 h 89"/>
                <a:gd name="T24" fmla="*/ 46 w 89"/>
                <a:gd name="T25" fmla="*/ 89 h 89"/>
                <a:gd name="T26" fmla="*/ 28 w 89"/>
                <a:gd name="T27" fmla="*/ 84 h 89"/>
                <a:gd name="T28" fmla="*/ 13 w 89"/>
                <a:gd name="T29" fmla="*/ 76 h 89"/>
                <a:gd name="T30" fmla="*/ 4 w 89"/>
                <a:gd name="T31" fmla="*/ 61 h 89"/>
                <a:gd name="T32" fmla="*/ 0 w 89"/>
                <a:gd name="T33" fmla="*/ 43 h 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9"/>
                <a:gd name="T53" fmla="*/ 89 w 89"/>
                <a:gd name="T54" fmla="*/ 89 h 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9">
                  <a:moveTo>
                    <a:pt x="0" y="43"/>
                  </a:moveTo>
                  <a:lnTo>
                    <a:pt x="4" y="26"/>
                  </a:lnTo>
                  <a:lnTo>
                    <a:pt x="13" y="13"/>
                  </a:lnTo>
                  <a:lnTo>
                    <a:pt x="28" y="2"/>
                  </a:lnTo>
                  <a:lnTo>
                    <a:pt x="46" y="0"/>
                  </a:lnTo>
                  <a:lnTo>
                    <a:pt x="63" y="2"/>
                  </a:lnTo>
                  <a:lnTo>
                    <a:pt x="76" y="13"/>
                  </a:lnTo>
                  <a:lnTo>
                    <a:pt x="87" y="26"/>
                  </a:lnTo>
                  <a:lnTo>
                    <a:pt x="89" y="43"/>
                  </a:lnTo>
                  <a:lnTo>
                    <a:pt x="87" y="61"/>
                  </a:lnTo>
                  <a:lnTo>
                    <a:pt x="76" y="76"/>
                  </a:lnTo>
                  <a:lnTo>
                    <a:pt x="63" y="84"/>
                  </a:lnTo>
                  <a:lnTo>
                    <a:pt x="46" y="89"/>
                  </a:lnTo>
                  <a:lnTo>
                    <a:pt x="28" y="84"/>
                  </a:lnTo>
                  <a:lnTo>
                    <a:pt x="13" y="76"/>
                  </a:lnTo>
                  <a:lnTo>
                    <a:pt x="4" y="61"/>
                  </a:lnTo>
                  <a:lnTo>
                    <a:pt x="0" y="43"/>
                  </a:lnTo>
                  <a:close/>
                </a:path>
              </a:pathLst>
            </a:custGeom>
            <a:solidFill>
              <a:srgbClr val="1A1A1A"/>
            </a:solidFill>
            <a:ln w="3175">
              <a:solidFill>
                <a:srgbClr val="000000"/>
              </a:solidFill>
              <a:round/>
              <a:headEnd/>
              <a:tailEnd/>
            </a:ln>
          </p:spPr>
          <p:txBody>
            <a:bodyPr/>
            <a:lstStyle/>
            <a:p>
              <a:endParaRPr lang="en-US"/>
            </a:p>
          </p:txBody>
        </p:sp>
        <p:sp>
          <p:nvSpPr>
            <p:cNvPr id="34847" name="Rectangle 11"/>
            <p:cNvSpPr>
              <a:spLocks noChangeArrowheads="1"/>
            </p:cNvSpPr>
            <p:nvPr/>
          </p:nvSpPr>
          <p:spPr bwMode="auto">
            <a:xfrm>
              <a:off x="2032" y="1117"/>
              <a:ext cx="65" cy="213"/>
            </a:xfrm>
            <a:prstGeom prst="rect">
              <a:avLst/>
            </a:prstGeom>
            <a:noFill/>
            <a:ln w="9525">
              <a:noFill/>
              <a:miter lim="800000"/>
              <a:headEnd/>
              <a:tailEnd/>
            </a:ln>
          </p:spPr>
          <p:txBody>
            <a:bodyPr wrap="none" lIns="0" tIns="0" rIns="0" bIns="0">
              <a:spAutoFit/>
            </a:bodyPr>
            <a:lstStyle/>
            <a:p>
              <a:r>
                <a:rPr lang="en-US" sz="2200" b="1">
                  <a:solidFill>
                    <a:srgbClr val="000000"/>
                  </a:solidFill>
                </a:rPr>
                <a:t>1</a:t>
              </a:r>
              <a:endParaRPr lang="en-US"/>
            </a:p>
          </p:txBody>
        </p:sp>
        <p:sp>
          <p:nvSpPr>
            <p:cNvPr id="34848" name="Rectangle 12"/>
            <p:cNvSpPr>
              <a:spLocks noChangeArrowheads="1"/>
            </p:cNvSpPr>
            <p:nvPr/>
          </p:nvSpPr>
          <p:spPr bwMode="auto">
            <a:xfrm>
              <a:off x="1256" y="1764"/>
              <a:ext cx="86" cy="213"/>
            </a:xfrm>
            <a:prstGeom prst="rect">
              <a:avLst/>
            </a:prstGeom>
            <a:noFill/>
            <a:ln w="9525">
              <a:noFill/>
              <a:miter lim="800000"/>
              <a:headEnd/>
              <a:tailEnd/>
            </a:ln>
          </p:spPr>
          <p:txBody>
            <a:bodyPr wrap="none" lIns="0" tIns="0" rIns="0" bIns="0">
              <a:spAutoFit/>
            </a:bodyPr>
            <a:lstStyle/>
            <a:p>
              <a:r>
                <a:rPr lang="en-US" sz="2200" b="1">
                  <a:solidFill>
                    <a:srgbClr val="000000"/>
                  </a:solidFill>
                </a:rPr>
                <a:t>2</a:t>
              </a:r>
              <a:endParaRPr lang="en-US"/>
            </a:p>
          </p:txBody>
        </p:sp>
        <p:sp>
          <p:nvSpPr>
            <p:cNvPr id="34849" name="Rectangle 13"/>
            <p:cNvSpPr>
              <a:spLocks noChangeArrowheads="1"/>
            </p:cNvSpPr>
            <p:nvPr/>
          </p:nvSpPr>
          <p:spPr bwMode="auto">
            <a:xfrm>
              <a:off x="1810" y="2069"/>
              <a:ext cx="81" cy="213"/>
            </a:xfrm>
            <a:prstGeom prst="rect">
              <a:avLst/>
            </a:prstGeom>
            <a:noFill/>
            <a:ln w="9525">
              <a:noFill/>
              <a:miter lim="800000"/>
              <a:headEnd/>
              <a:tailEnd/>
            </a:ln>
          </p:spPr>
          <p:txBody>
            <a:bodyPr wrap="none" lIns="0" tIns="0" rIns="0" bIns="0">
              <a:spAutoFit/>
            </a:bodyPr>
            <a:lstStyle/>
            <a:p>
              <a:r>
                <a:rPr lang="en-US" sz="2200" b="1">
                  <a:solidFill>
                    <a:srgbClr val="000000"/>
                  </a:solidFill>
                </a:rPr>
                <a:t>3</a:t>
              </a:r>
              <a:endParaRPr lang="en-US"/>
            </a:p>
          </p:txBody>
        </p:sp>
        <p:sp>
          <p:nvSpPr>
            <p:cNvPr id="34850" name="Rectangle 14"/>
            <p:cNvSpPr>
              <a:spLocks noChangeArrowheads="1"/>
            </p:cNvSpPr>
            <p:nvPr/>
          </p:nvSpPr>
          <p:spPr bwMode="auto">
            <a:xfrm>
              <a:off x="1422" y="2635"/>
              <a:ext cx="93" cy="213"/>
            </a:xfrm>
            <a:prstGeom prst="rect">
              <a:avLst/>
            </a:prstGeom>
            <a:noFill/>
            <a:ln w="9525">
              <a:noFill/>
              <a:miter lim="800000"/>
              <a:headEnd/>
              <a:tailEnd/>
            </a:ln>
          </p:spPr>
          <p:txBody>
            <a:bodyPr wrap="none" lIns="0" tIns="0" rIns="0" bIns="0">
              <a:spAutoFit/>
            </a:bodyPr>
            <a:lstStyle/>
            <a:p>
              <a:r>
                <a:rPr lang="en-US" sz="2200" b="1">
                  <a:solidFill>
                    <a:srgbClr val="000000"/>
                  </a:solidFill>
                </a:rPr>
                <a:t>4</a:t>
              </a:r>
              <a:endParaRPr lang="en-US"/>
            </a:p>
          </p:txBody>
        </p:sp>
        <p:sp>
          <p:nvSpPr>
            <p:cNvPr id="34851" name="Rectangle 15"/>
            <p:cNvSpPr>
              <a:spLocks noChangeArrowheads="1"/>
            </p:cNvSpPr>
            <p:nvPr/>
          </p:nvSpPr>
          <p:spPr bwMode="auto">
            <a:xfrm>
              <a:off x="648" y="1626"/>
              <a:ext cx="83" cy="213"/>
            </a:xfrm>
            <a:prstGeom prst="rect">
              <a:avLst/>
            </a:prstGeom>
            <a:noFill/>
            <a:ln w="9525">
              <a:noFill/>
              <a:miter lim="800000"/>
              <a:headEnd/>
              <a:tailEnd/>
            </a:ln>
          </p:spPr>
          <p:txBody>
            <a:bodyPr wrap="none" lIns="0" tIns="0" rIns="0" bIns="0">
              <a:spAutoFit/>
            </a:bodyPr>
            <a:lstStyle/>
            <a:p>
              <a:r>
                <a:rPr lang="en-US" sz="2200" b="1">
                  <a:solidFill>
                    <a:srgbClr val="000000"/>
                  </a:solidFill>
                </a:rPr>
                <a:t>5</a:t>
              </a:r>
              <a:endParaRPr lang="en-US"/>
            </a:p>
          </p:txBody>
        </p:sp>
        <p:sp>
          <p:nvSpPr>
            <p:cNvPr id="34852" name="Rectangle 16"/>
            <p:cNvSpPr>
              <a:spLocks noChangeArrowheads="1"/>
            </p:cNvSpPr>
            <p:nvPr/>
          </p:nvSpPr>
          <p:spPr bwMode="auto">
            <a:xfrm>
              <a:off x="2307" y="2125"/>
              <a:ext cx="98" cy="213"/>
            </a:xfrm>
            <a:prstGeom prst="rect">
              <a:avLst/>
            </a:prstGeom>
            <a:noFill/>
            <a:ln w="9525">
              <a:noFill/>
              <a:miter lim="800000"/>
              <a:headEnd/>
              <a:tailEnd/>
            </a:ln>
          </p:spPr>
          <p:txBody>
            <a:bodyPr wrap="none" lIns="0" tIns="0" rIns="0" bIns="0">
              <a:spAutoFit/>
            </a:bodyPr>
            <a:lstStyle/>
            <a:p>
              <a:r>
                <a:rPr lang="en-US" sz="2200" b="1">
                  <a:solidFill>
                    <a:srgbClr val="000000"/>
                  </a:solidFill>
                </a:rPr>
                <a:t>6</a:t>
              </a:r>
              <a:endParaRPr lang="en-US"/>
            </a:p>
          </p:txBody>
        </p:sp>
      </p:grpSp>
      <p:grpSp>
        <p:nvGrpSpPr>
          <p:cNvPr id="4" name="Group 17"/>
          <p:cNvGrpSpPr>
            <a:grpSpLocks/>
          </p:cNvGrpSpPr>
          <p:nvPr/>
        </p:nvGrpSpPr>
        <p:grpSpPr bwMode="auto">
          <a:xfrm>
            <a:off x="2495550" y="2863850"/>
            <a:ext cx="1423988" cy="914400"/>
            <a:chOff x="1572" y="1804"/>
            <a:chExt cx="897" cy="576"/>
          </a:xfrm>
        </p:grpSpPr>
        <p:sp>
          <p:nvSpPr>
            <p:cNvPr id="34839" name="Freeform 18"/>
            <p:cNvSpPr>
              <a:spLocks/>
            </p:cNvSpPr>
            <p:nvPr/>
          </p:nvSpPr>
          <p:spPr bwMode="auto">
            <a:xfrm>
              <a:off x="1572" y="2005"/>
              <a:ext cx="897" cy="375"/>
            </a:xfrm>
            <a:custGeom>
              <a:avLst/>
              <a:gdLst>
                <a:gd name="T0" fmla="*/ 450 w 897"/>
                <a:gd name="T1" fmla="*/ 0 h 375"/>
                <a:gd name="T2" fmla="*/ 510 w 897"/>
                <a:gd name="T3" fmla="*/ 2 h 375"/>
                <a:gd name="T4" fmla="*/ 571 w 897"/>
                <a:gd name="T5" fmla="*/ 6 h 375"/>
                <a:gd name="T6" fmla="*/ 629 w 897"/>
                <a:gd name="T7" fmla="*/ 15 h 375"/>
                <a:gd name="T8" fmla="*/ 683 w 897"/>
                <a:gd name="T9" fmla="*/ 28 h 375"/>
                <a:gd name="T10" fmla="*/ 733 w 897"/>
                <a:gd name="T11" fmla="*/ 43 h 375"/>
                <a:gd name="T12" fmla="*/ 778 w 897"/>
                <a:gd name="T13" fmla="*/ 60 h 375"/>
                <a:gd name="T14" fmla="*/ 817 w 897"/>
                <a:gd name="T15" fmla="*/ 79 h 375"/>
                <a:gd name="T16" fmla="*/ 850 w 897"/>
                <a:gd name="T17" fmla="*/ 101 h 375"/>
                <a:gd name="T18" fmla="*/ 874 w 897"/>
                <a:gd name="T19" fmla="*/ 125 h 375"/>
                <a:gd name="T20" fmla="*/ 891 w 897"/>
                <a:gd name="T21" fmla="*/ 149 h 375"/>
                <a:gd name="T22" fmla="*/ 897 w 897"/>
                <a:gd name="T23" fmla="*/ 174 h 375"/>
                <a:gd name="T24" fmla="*/ 897 w 897"/>
                <a:gd name="T25" fmla="*/ 200 h 375"/>
                <a:gd name="T26" fmla="*/ 891 w 897"/>
                <a:gd name="T27" fmla="*/ 226 h 375"/>
                <a:gd name="T28" fmla="*/ 874 w 897"/>
                <a:gd name="T29" fmla="*/ 250 h 375"/>
                <a:gd name="T30" fmla="*/ 850 w 897"/>
                <a:gd name="T31" fmla="*/ 274 h 375"/>
                <a:gd name="T32" fmla="*/ 817 w 897"/>
                <a:gd name="T33" fmla="*/ 295 h 375"/>
                <a:gd name="T34" fmla="*/ 778 w 897"/>
                <a:gd name="T35" fmla="*/ 315 h 375"/>
                <a:gd name="T36" fmla="*/ 733 w 897"/>
                <a:gd name="T37" fmla="*/ 332 h 375"/>
                <a:gd name="T38" fmla="*/ 683 w 897"/>
                <a:gd name="T39" fmla="*/ 347 h 375"/>
                <a:gd name="T40" fmla="*/ 629 w 897"/>
                <a:gd name="T41" fmla="*/ 360 h 375"/>
                <a:gd name="T42" fmla="*/ 571 w 897"/>
                <a:gd name="T43" fmla="*/ 369 h 375"/>
                <a:gd name="T44" fmla="*/ 510 w 897"/>
                <a:gd name="T45" fmla="*/ 373 h 375"/>
                <a:gd name="T46" fmla="*/ 450 w 897"/>
                <a:gd name="T47" fmla="*/ 375 h 375"/>
                <a:gd name="T48" fmla="*/ 387 w 897"/>
                <a:gd name="T49" fmla="*/ 373 h 375"/>
                <a:gd name="T50" fmla="*/ 329 w 897"/>
                <a:gd name="T51" fmla="*/ 369 h 375"/>
                <a:gd name="T52" fmla="*/ 270 w 897"/>
                <a:gd name="T53" fmla="*/ 360 h 375"/>
                <a:gd name="T54" fmla="*/ 216 w 897"/>
                <a:gd name="T55" fmla="*/ 347 h 375"/>
                <a:gd name="T56" fmla="*/ 164 w 897"/>
                <a:gd name="T57" fmla="*/ 332 h 375"/>
                <a:gd name="T58" fmla="*/ 121 w 897"/>
                <a:gd name="T59" fmla="*/ 315 h 375"/>
                <a:gd name="T60" fmla="*/ 82 w 897"/>
                <a:gd name="T61" fmla="*/ 295 h 375"/>
                <a:gd name="T62" fmla="*/ 49 w 897"/>
                <a:gd name="T63" fmla="*/ 274 h 375"/>
                <a:gd name="T64" fmla="*/ 26 w 897"/>
                <a:gd name="T65" fmla="*/ 250 h 375"/>
                <a:gd name="T66" fmla="*/ 8 w 897"/>
                <a:gd name="T67" fmla="*/ 226 h 375"/>
                <a:gd name="T68" fmla="*/ 0 w 897"/>
                <a:gd name="T69" fmla="*/ 200 h 375"/>
                <a:gd name="T70" fmla="*/ 0 w 897"/>
                <a:gd name="T71" fmla="*/ 174 h 375"/>
                <a:gd name="T72" fmla="*/ 8 w 897"/>
                <a:gd name="T73" fmla="*/ 149 h 375"/>
                <a:gd name="T74" fmla="*/ 26 w 897"/>
                <a:gd name="T75" fmla="*/ 125 h 375"/>
                <a:gd name="T76" fmla="*/ 49 w 897"/>
                <a:gd name="T77" fmla="*/ 101 h 375"/>
                <a:gd name="T78" fmla="*/ 82 w 897"/>
                <a:gd name="T79" fmla="*/ 79 h 375"/>
                <a:gd name="T80" fmla="*/ 121 w 897"/>
                <a:gd name="T81" fmla="*/ 60 h 375"/>
                <a:gd name="T82" fmla="*/ 164 w 897"/>
                <a:gd name="T83" fmla="*/ 43 h 375"/>
                <a:gd name="T84" fmla="*/ 216 w 897"/>
                <a:gd name="T85" fmla="*/ 28 h 375"/>
                <a:gd name="T86" fmla="*/ 270 w 897"/>
                <a:gd name="T87" fmla="*/ 15 h 375"/>
                <a:gd name="T88" fmla="*/ 329 w 897"/>
                <a:gd name="T89" fmla="*/ 6 h 375"/>
                <a:gd name="T90" fmla="*/ 387 w 897"/>
                <a:gd name="T91" fmla="*/ 2 h 375"/>
                <a:gd name="T92" fmla="*/ 450 w 897"/>
                <a:gd name="T93" fmla="*/ 0 h 3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7"/>
                <a:gd name="T142" fmla="*/ 0 h 375"/>
                <a:gd name="T143" fmla="*/ 897 w 897"/>
                <a:gd name="T144" fmla="*/ 375 h 37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7" h="375">
                  <a:moveTo>
                    <a:pt x="450" y="0"/>
                  </a:moveTo>
                  <a:lnTo>
                    <a:pt x="510" y="2"/>
                  </a:lnTo>
                  <a:lnTo>
                    <a:pt x="571" y="6"/>
                  </a:lnTo>
                  <a:lnTo>
                    <a:pt x="629" y="15"/>
                  </a:lnTo>
                  <a:lnTo>
                    <a:pt x="683" y="28"/>
                  </a:lnTo>
                  <a:lnTo>
                    <a:pt x="733" y="43"/>
                  </a:lnTo>
                  <a:lnTo>
                    <a:pt x="778" y="60"/>
                  </a:lnTo>
                  <a:lnTo>
                    <a:pt x="817" y="79"/>
                  </a:lnTo>
                  <a:lnTo>
                    <a:pt x="850" y="101"/>
                  </a:lnTo>
                  <a:lnTo>
                    <a:pt x="874" y="125"/>
                  </a:lnTo>
                  <a:lnTo>
                    <a:pt x="891" y="149"/>
                  </a:lnTo>
                  <a:lnTo>
                    <a:pt x="897" y="174"/>
                  </a:lnTo>
                  <a:lnTo>
                    <a:pt x="897" y="200"/>
                  </a:lnTo>
                  <a:lnTo>
                    <a:pt x="891" y="226"/>
                  </a:lnTo>
                  <a:lnTo>
                    <a:pt x="874" y="250"/>
                  </a:lnTo>
                  <a:lnTo>
                    <a:pt x="850" y="274"/>
                  </a:lnTo>
                  <a:lnTo>
                    <a:pt x="817" y="295"/>
                  </a:lnTo>
                  <a:lnTo>
                    <a:pt x="778" y="315"/>
                  </a:lnTo>
                  <a:lnTo>
                    <a:pt x="733" y="332"/>
                  </a:lnTo>
                  <a:lnTo>
                    <a:pt x="683" y="347"/>
                  </a:lnTo>
                  <a:lnTo>
                    <a:pt x="629" y="360"/>
                  </a:lnTo>
                  <a:lnTo>
                    <a:pt x="571" y="369"/>
                  </a:lnTo>
                  <a:lnTo>
                    <a:pt x="510" y="373"/>
                  </a:lnTo>
                  <a:lnTo>
                    <a:pt x="450" y="375"/>
                  </a:lnTo>
                  <a:lnTo>
                    <a:pt x="387" y="373"/>
                  </a:lnTo>
                  <a:lnTo>
                    <a:pt x="329" y="369"/>
                  </a:lnTo>
                  <a:lnTo>
                    <a:pt x="270" y="360"/>
                  </a:lnTo>
                  <a:lnTo>
                    <a:pt x="216" y="347"/>
                  </a:lnTo>
                  <a:lnTo>
                    <a:pt x="164" y="332"/>
                  </a:lnTo>
                  <a:lnTo>
                    <a:pt x="121" y="315"/>
                  </a:lnTo>
                  <a:lnTo>
                    <a:pt x="82" y="295"/>
                  </a:lnTo>
                  <a:lnTo>
                    <a:pt x="49" y="274"/>
                  </a:lnTo>
                  <a:lnTo>
                    <a:pt x="26" y="250"/>
                  </a:lnTo>
                  <a:lnTo>
                    <a:pt x="8" y="226"/>
                  </a:lnTo>
                  <a:lnTo>
                    <a:pt x="0" y="200"/>
                  </a:lnTo>
                  <a:lnTo>
                    <a:pt x="0" y="174"/>
                  </a:lnTo>
                  <a:lnTo>
                    <a:pt x="8" y="149"/>
                  </a:lnTo>
                  <a:lnTo>
                    <a:pt x="26" y="125"/>
                  </a:lnTo>
                  <a:lnTo>
                    <a:pt x="49" y="101"/>
                  </a:lnTo>
                  <a:lnTo>
                    <a:pt x="82" y="79"/>
                  </a:lnTo>
                  <a:lnTo>
                    <a:pt x="121" y="60"/>
                  </a:lnTo>
                  <a:lnTo>
                    <a:pt x="164" y="43"/>
                  </a:lnTo>
                  <a:lnTo>
                    <a:pt x="216" y="28"/>
                  </a:lnTo>
                  <a:lnTo>
                    <a:pt x="270" y="15"/>
                  </a:lnTo>
                  <a:lnTo>
                    <a:pt x="329" y="6"/>
                  </a:lnTo>
                  <a:lnTo>
                    <a:pt x="387" y="2"/>
                  </a:lnTo>
                  <a:lnTo>
                    <a:pt x="450" y="0"/>
                  </a:lnTo>
                </a:path>
              </a:pathLst>
            </a:custGeom>
            <a:noFill/>
            <a:ln w="3175">
              <a:solidFill>
                <a:srgbClr val="000000"/>
              </a:solidFill>
              <a:round/>
              <a:headEnd/>
              <a:tailEnd/>
            </a:ln>
          </p:spPr>
          <p:txBody>
            <a:bodyPr/>
            <a:lstStyle/>
            <a:p>
              <a:endParaRPr lang="en-US"/>
            </a:p>
          </p:txBody>
        </p:sp>
        <p:sp>
          <p:nvSpPr>
            <p:cNvPr id="34840" name="Rectangle 19"/>
            <p:cNvSpPr>
              <a:spLocks noChangeArrowheads="1"/>
            </p:cNvSpPr>
            <p:nvPr/>
          </p:nvSpPr>
          <p:spPr bwMode="auto">
            <a:xfrm>
              <a:off x="1944" y="1804"/>
              <a:ext cx="65" cy="213"/>
            </a:xfrm>
            <a:prstGeom prst="rect">
              <a:avLst/>
            </a:prstGeom>
            <a:noFill/>
            <a:ln w="9525">
              <a:noFill/>
              <a:miter lim="800000"/>
              <a:headEnd/>
              <a:tailEnd/>
            </a:ln>
          </p:spPr>
          <p:txBody>
            <a:bodyPr wrap="none" lIns="0" tIns="0" rIns="0" bIns="0">
              <a:spAutoFit/>
            </a:bodyPr>
            <a:lstStyle/>
            <a:p>
              <a:r>
                <a:rPr lang="en-US" sz="2200" b="1">
                  <a:solidFill>
                    <a:srgbClr val="FF0000"/>
                  </a:solidFill>
                </a:rPr>
                <a:t>1</a:t>
              </a:r>
              <a:endParaRPr lang="en-US"/>
            </a:p>
          </p:txBody>
        </p:sp>
      </p:grpSp>
      <p:grpSp>
        <p:nvGrpSpPr>
          <p:cNvPr id="5" name="Group 20"/>
          <p:cNvGrpSpPr>
            <a:grpSpLocks/>
          </p:cNvGrpSpPr>
          <p:nvPr/>
        </p:nvGrpSpPr>
        <p:grpSpPr bwMode="auto">
          <a:xfrm>
            <a:off x="527050" y="2489201"/>
            <a:ext cx="1735138" cy="1106488"/>
            <a:chOff x="332" y="1568"/>
            <a:chExt cx="1093" cy="697"/>
          </a:xfrm>
        </p:grpSpPr>
        <p:sp>
          <p:nvSpPr>
            <p:cNvPr id="34837" name="Freeform 21"/>
            <p:cNvSpPr>
              <a:spLocks/>
            </p:cNvSpPr>
            <p:nvPr/>
          </p:nvSpPr>
          <p:spPr bwMode="auto">
            <a:xfrm>
              <a:off x="332" y="1568"/>
              <a:ext cx="1093" cy="497"/>
            </a:xfrm>
            <a:custGeom>
              <a:avLst/>
              <a:gdLst>
                <a:gd name="T0" fmla="*/ 547 w 1093"/>
                <a:gd name="T1" fmla="*/ 0 h 497"/>
                <a:gd name="T2" fmla="*/ 615 w 1093"/>
                <a:gd name="T3" fmla="*/ 3 h 497"/>
                <a:gd name="T4" fmla="*/ 684 w 1093"/>
                <a:gd name="T5" fmla="*/ 7 h 497"/>
                <a:gd name="T6" fmla="*/ 749 w 1093"/>
                <a:gd name="T7" fmla="*/ 18 h 497"/>
                <a:gd name="T8" fmla="*/ 811 w 1093"/>
                <a:gd name="T9" fmla="*/ 31 h 497"/>
                <a:gd name="T10" fmla="*/ 868 w 1093"/>
                <a:gd name="T11" fmla="*/ 48 h 497"/>
                <a:gd name="T12" fmla="*/ 922 w 1093"/>
                <a:gd name="T13" fmla="*/ 67 h 497"/>
                <a:gd name="T14" fmla="*/ 969 w 1093"/>
                <a:gd name="T15" fmla="*/ 91 h 497"/>
                <a:gd name="T16" fmla="*/ 1008 w 1093"/>
                <a:gd name="T17" fmla="*/ 115 h 497"/>
                <a:gd name="T18" fmla="*/ 1043 w 1093"/>
                <a:gd name="T19" fmla="*/ 143 h 497"/>
                <a:gd name="T20" fmla="*/ 1067 w 1093"/>
                <a:gd name="T21" fmla="*/ 171 h 497"/>
                <a:gd name="T22" fmla="*/ 1084 w 1093"/>
                <a:gd name="T23" fmla="*/ 201 h 497"/>
                <a:gd name="T24" fmla="*/ 1093 w 1093"/>
                <a:gd name="T25" fmla="*/ 234 h 497"/>
                <a:gd name="T26" fmla="*/ 1093 w 1093"/>
                <a:gd name="T27" fmla="*/ 264 h 497"/>
                <a:gd name="T28" fmla="*/ 1084 w 1093"/>
                <a:gd name="T29" fmla="*/ 294 h 497"/>
                <a:gd name="T30" fmla="*/ 1067 w 1093"/>
                <a:gd name="T31" fmla="*/ 324 h 497"/>
                <a:gd name="T32" fmla="*/ 1043 w 1093"/>
                <a:gd name="T33" fmla="*/ 354 h 497"/>
                <a:gd name="T34" fmla="*/ 1008 w 1093"/>
                <a:gd name="T35" fmla="*/ 383 h 497"/>
                <a:gd name="T36" fmla="*/ 969 w 1093"/>
                <a:gd name="T37" fmla="*/ 406 h 497"/>
                <a:gd name="T38" fmla="*/ 922 w 1093"/>
                <a:gd name="T39" fmla="*/ 430 h 497"/>
                <a:gd name="T40" fmla="*/ 868 w 1093"/>
                <a:gd name="T41" fmla="*/ 449 h 497"/>
                <a:gd name="T42" fmla="*/ 811 w 1093"/>
                <a:gd name="T43" fmla="*/ 467 h 497"/>
                <a:gd name="T44" fmla="*/ 749 w 1093"/>
                <a:gd name="T45" fmla="*/ 480 h 497"/>
                <a:gd name="T46" fmla="*/ 684 w 1093"/>
                <a:gd name="T47" fmla="*/ 488 h 497"/>
                <a:gd name="T48" fmla="*/ 615 w 1093"/>
                <a:gd name="T49" fmla="*/ 495 h 497"/>
                <a:gd name="T50" fmla="*/ 547 w 1093"/>
                <a:gd name="T51" fmla="*/ 497 h 497"/>
                <a:gd name="T52" fmla="*/ 478 w 1093"/>
                <a:gd name="T53" fmla="*/ 495 h 497"/>
                <a:gd name="T54" fmla="*/ 411 w 1093"/>
                <a:gd name="T55" fmla="*/ 488 h 497"/>
                <a:gd name="T56" fmla="*/ 346 w 1093"/>
                <a:gd name="T57" fmla="*/ 480 h 497"/>
                <a:gd name="T58" fmla="*/ 284 w 1093"/>
                <a:gd name="T59" fmla="*/ 467 h 497"/>
                <a:gd name="T60" fmla="*/ 225 w 1093"/>
                <a:gd name="T61" fmla="*/ 449 h 497"/>
                <a:gd name="T62" fmla="*/ 173 w 1093"/>
                <a:gd name="T63" fmla="*/ 430 h 497"/>
                <a:gd name="T64" fmla="*/ 126 w 1093"/>
                <a:gd name="T65" fmla="*/ 406 h 497"/>
                <a:gd name="T66" fmla="*/ 85 w 1093"/>
                <a:gd name="T67" fmla="*/ 383 h 497"/>
                <a:gd name="T68" fmla="*/ 52 w 1093"/>
                <a:gd name="T69" fmla="*/ 354 h 497"/>
                <a:gd name="T70" fmla="*/ 26 w 1093"/>
                <a:gd name="T71" fmla="*/ 324 h 497"/>
                <a:gd name="T72" fmla="*/ 9 w 1093"/>
                <a:gd name="T73" fmla="*/ 294 h 497"/>
                <a:gd name="T74" fmla="*/ 0 w 1093"/>
                <a:gd name="T75" fmla="*/ 264 h 497"/>
                <a:gd name="T76" fmla="*/ 0 w 1093"/>
                <a:gd name="T77" fmla="*/ 234 h 497"/>
                <a:gd name="T78" fmla="*/ 9 w 1093"/>
                <a:gd name="T79" fmla="*/ 201 h 497"/>
                <a:gd name="T80" fmla="*/ 26 w 1093"/>
                <a:gd name="T81" fmla="*/ 171 h 497"/>
                <a:gd name="T82" fmla="*/ 52 w 1093"/>
                <a:gd name="T83" fmla="*/ 143 h 497"/>
                <a:gd name="T84" fmla="*/ 85 w 1093"/>
                <a:gd name="T85" fmla="*/ 115 h 497"/>
                <a:gd name="T86" fmla="*/ 126 w 1093"/>
                <a:gd name="T87" fmla="*/ 91 h 497"/>
                <a:gd name="T88" fmla="*/ 173 w 1093"/>
                <a:gd name="T89" fmla="*/ 67 h 497"/>
                <a:gd name="T90" fmla="*/ 225 w 1093"/>
                <a:gd name="T91" fmla="*/ 48 h 497"/>
                <a:gd name="T92" fmla="*/ 284 w 1093"/>
                <a:gd name="T93" fmla="*/ 31 h 497"/>
                <a:gd name="T94" fmla="*/ 346 w 1093"/>
                <a:gd name="T95" fmla="*/ 18 h 497"/>
                <a:gd name="T96" fmla="*/ 411 w 1093"/>
                <a:gd name="T97" fmla="*/ 7 h 497"/>
                <a:gd name="T98" fmla="*/ 478 w 1093"/>
                <a:gd name="T99" fmla="*/ 3 h 497"/>
                <a:gd name="T100" fmla="*/ 547 w 1093"/>
                <a:gd name="T101" fmla="*/ 0 h 49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93"/>
                <a:gd name="T154" fmla="*/ 0 h 497"/>
                <a:gd name="T155" fmla="*/ 1093 w 1093"/>
                <a:gd name="T156" fmla="*/ 497 h 49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93" h="497">
                  <a:moveTo>
                    <a:pt x="547" y="0"/>
                  </a:moveTo>
                  <a:lnTo>
                    <a:pt x="615" y="3"/>
                  </a:lnTo>
                  <a:lnTo>
                    <a:pt x="684" y="7"/>
                  </a:lnTo>
                  <a:lnTo>
                    <a:pt x="749" y="18"/>
                  </a:lnTo>
                  <a:lnTo>
                    <a:pt x="811" y="31"/>
                  </a:lnTo>
                  <a:lnTo>
                    <a:pt x="868" y="48"/>
                  </a:lnTo>
                  <a:lnTo>
                    <a:pt x="922" y="67"/>
                  </a:lnTo>
                  <a:lnTo>
                    <a:pt x="969" y="91"/>
                  </a:lnTo>
                  <a:lnTo>
                    <a:pt x="1008" y="115"/>
                  </a:lnTo>
                  <a:lnTo>
                    <a:pt x="1043" y="143"/>
                  </a:lnTo>
                  <a:lnTo>
                    <a:pt x="1067" y="171"/>
                  </a:lnTo>
                  <a:lnTo>
                    <a:pt x="1084" y="201"/>
                  </a:lnTo>
                  <a:lnTo>
                    <a:pt x="1093" y="234"/>
                  </a:lnTo>
                  <a:lnTo>
                    <a:pt x="1093" y="264"/>
                  </a:lnTo>
                  <a:lnTo>
                    <a:pt x="1084" y="294"/>
                  </a:lnTo>
                  <a:lnTo>
                    <a:pt x="1067" y="324"/>
                  </a:lnTo>
                  <a:lnTo>
                    <a:pt x="1043" y="354"/>
                  </a:lnTo>
                  <a:lnTo>
                    <a:pt x="1008" y="383"/>
                  </a:lnTo>
                  <a:lnTo>
                    <a:pt x="969" y="406"/>
                  </a:lnTo>
                  <a:lnTo>
                    <a:pt x="922" y="430"/>
                  </a:lnTo>
                  <a:lnTo>
                    <a:pt x="868" y="449"/>
                  </a:lnTo>
                  <a:lnTo>
                    <a:pt x="811" y="467"/>
                  </a:lnTo>
                  <a:lnTo>
                    <a:pt x="749" y="480"/>
                  </a:lnTo>
                  <a:lnTo>
                    <a:pt x="684" y="488"/>
                  </a:lnTo>
                  <a:lnTo>
                    <a:pt x="615" y="495"/>
                  </a:lnTo>
                  <a:lnTo>
                    <a:pt x="547" y="497"/>
                  </a:lnTo>
                  <a:lnTo>
                    <a:pt x="478" y="495"/>
                  </a:lnTo>
                  <a:lnTo>
                    <a:pt x="411" y="488"/>
                  </a:lnTo>
                  <a:lnTo>
                    <a:pt x="346" y="480"/>
                  </a:lnTo>
                  <a:lnTo>
                    <a:pt x="284" y="467"/>
                  </a:lnTo>
                  <a:lnTo>
                    <a:pt x="225" y="449"/>
                  </a:lnTo>
                  <a:lnTo>
                    <a:pt x="173" y="430"/>
                  </a:lnTo>
                  <a:lnTo>
                    <a:pt x="126" y="406"/>
                  </a:lnTo>
                  <a:lnTo>
                    <a:pt x="85" y="383"/>
                  </a:lnTo>
                  <a:lnTo>
                    <a:pt x="52" y="354"/>
                  </a:lnTo>
                  <a:lnTo>
                    <a:pt x="26" y="324"/>
                  </a:lnTo>
                  <a:lnTo>
                    <a:pt x="9" y="294"/>
                  </a:lnTo>
                  <a:lnTo>
                    <a:pt x="0" y="264"/>
                  </a:lnTo>
                  <a:lnTo>
                    <a:pt x="0" y="234"/>
                  </a:lnTo>
                  <a:lnTo>
                    <a:pt x="9" y="201"/>
                  </a:lnTo>
                  <a:lnTo>
                    <a:pt x="26" y="171"/>
                  </a:lnTo>
                  <a:lnTo>
                    <a:pt x="52" y="143"/>
                  </a:lnTo>
                  <a:lnTo>
                    <a:pt x="85" y="115"/>
                  </a:lnTo>
                  <a:lnTo>
                    <a:pt x="126" y="91"/>
                  </a:lnTo>
                  <a:lnTo>
                    <a:pt x="173" y="67"/>
                  </a:lnTo>
                  <a:lnTo>
                    <a:pt x="225" y="48"/>
                  </a:lnTo>
                  <a:lnTo>
                    <a:pt x="284" y="31"/>
                  </a:lnTo>
                  <a:lnTo>
                    <a:pt x="346" y="18"/>
                  </a:lnTo>
                  <a:lnTo>
                    <a:pt x="411" y="7"/>
                  </a:lnTo>
                  <a:lnTo>
                    <a:pt x="478" y="3"/>
                  </a:lnTo>
                  <a:lnTo>
                    <a:pt x="547" y="0"/>
                  </a:lnTo>
                </a:path>
              </a:pathLst>
            </a:custGeom>
            <a:noFill/>
            <a:ln w="3175">
              <a:solidFill>
                <a:srgbClr val="000000"/>
              </a:solidFill>
              <a:round/>
              <a:headEnd/>
              <a:tailEnd/>
            </a:ln>
          </p:spPr>
          <p:txBody>
            <a:bodyPr/>
            <a:lstStyle/>
            <a:p>
              <a:endParaRPr lang="en-US"/>
            </a:p>
          </p:txBody>
        </p:sp>
        <p:sp>
          <p:nvSpPr>
            <p:cNvPr id="34838" name="Rectangle 22"/>
            <p:cNvSpPr>
              <a:spLocks noChangeArrowheads="1"/>
            </p:cNvSpPr>
            <p:nvPr/>
          </p:nvSpPr>
          <p:spPr bwMode="auto">
            <a:xfrm>
              <a:off x="949" y="2052"/>
              <a:ext cx="86" cy="213"/>
            </a:xfrm>
            <a:prstGeom prst="rect">
              <a:avLst/>
            </a:prstGeom>
            <a:noFill/>
            <a:ln w="9525">
              <a:noFill/>
              <a:miter lim="800000"/>
              <a:headEnd/>
              <a:tailEnd/>
            </a:ln>
          </p:spPr>
          <p:txBody>
            <a:bodyPr wrap="none" lIns="0" tIns="0" rIns="0" bIns="0">
              <a:spAutoFit/>
            </a:bodyPr>
            <a:lstStyle/>
            <a:p>
              <a:r>
                <a:rPr lang="en-US" sz="2200" b="1">
                  <a:solidFill>
                    <a:srgbClr val="FF0000"/>
                  </a:solidFill>
                </a:rPr>
                <a:t>2</a:t>
              </a:r>
              <a:endParaRPr lang="en-US"/>
            </a:p>
          </p:txBody>
        </p:sp>
      </p:grpSp>
      <p:grpSp>
        <p:nvGrpSpPr>
          <p:cNvPr id="6" name="Group 23"/>
          <p:cNvGrpSpPr>
            <a:grpSpLocks/>
          </p:cNvGrpSpPr>
          <p:nvPr/>
        </p:nvGrpSpPr>
        <p:grpSpPr bwMode="auto">
          <a:xfrm>
            <a:off x="444500" y="2071688"/>
            <a:ext cx="3675063" cy="2097087"/>
            <a:chOff x="280" y="1305"/>
            <a:chExt cx="2315" cy="1321"/>
          </a:xfrm>
        </p:grpSpPr>
        <p:sp>
          <p:nvSpPr>
            <p:cNvPr id="34835" name="Freeform 24"/>
            <p:cNvSpPr>
              <a:spLocks/>
            </p:cNvSpPr>
            <p:nvPr/>
          </p:nvSpPr>
          <p:spPr bwMode="auto">
            <a:xfrm>
              <a:off x="280" y="1314"/>
              <a:ext cx="2315" cy="1312"/>
            </a:xfrm>
            <a:custGeom>
              <a:avLst/>
              <a:gdLst>
                <a:gd name="T0" fmla="*/ 1326 w 2315"/>
                <a:gd name="T1" fmla="*/ 23 h 1312"/>
                <a:gd name="T2" fmla="*/ 1519 w 2315"/>
                <a:gd name="T3" fmla="*/ 64 h 1312"/>
                <a:gd name="T4" fmla="*/ 1698 w 2315"/>
                <a:gd name="T5" fmla="*/ 121 h 1312"/>
                <a:gd name="T6" fmla="*/ 1865 w 2315"/>
                <a:gd name="T7" fmla="*/ 194 h 1312"/>
                <a:gd name="T8" fmla="*/ 2008 w 2315"/>
                <a:gd name="T9" fmla="*/ 278 h 1312"/>
                <a:gd name="T10" fmla="*/ 2129 w 2315"/>
                <a:gd name="T11" fmla="*/ 375 h 1312"/>
                <a:gd name="T12" fmla="*/ 2222 w 2315"/>
                <a:gd name="T13" fmla="*/ 479 h 1312"/>
                <a:gd name="T14" fmla="*/ 2282 w 2315"/>
                <a:gd name="T15" fmla="*/ 589 h 1312"/>
                <a:gd name="T16" fmla="*/ 2313 w 2315"/>
                <a:gd name="T17" fmla="*/ 699 h 1312"/>
                <a:gd name="T18" fmla="*/ 2308 w 2315"/>
                <a:gd name="T19" fmla="*/ 809 h 1312"/>
                <a:gd name="T20" fmla="*/ 2272 w 2315"/>
                <a:gd name="T21" fmla="*/ 915 h 1312"/>
                <a:gd name="T22" fmla="*/ 2202 w 2315"/>
                <a:gd name="T23" fmla="*/ 1014 h 1312"/>
                <a:gd name="T24" fmla="*/ 2105 w 2315"/>
                <a:gd name="T25" fmla="*/ 1101 h 1312"/>
                <a:gd name="T26" fmla="*/ 1977 w 2315"/>
                <a:gd name="T27" fmla="*/ 1176 h 1312"/>
                <a:gd name="T28" fmla="*/ 1828 w 2315"/>
                <a:gd name="T29" fmla="*/ 1237 h 1312"/>
                <a:gd name="T30" fmla="*/ 1659 w 2315"/>
                <a:gd name="T31" fmla="*/ 1280 h 1312"/>
                <a:gd name="T32" fmla="*/ 1476 w 2315"/>
                <a:gd name="T33" fmla="*/ 1306 h 1312"/>
                <a:gd name="T34" fmla="*/ 1283 w 2315"/>
                <a:gd name="T35" fmla="*/ 1312 h 1312"/>
                <a:gd name="T36" fmla="*/ 1086 w 2315"/>
                <a:gd name="T37" fmla="*/ 1299 h 1312"/>
                <a:gd name="T38" fmla="*/ 894 w 2315"/>
                <a:gd name="T39" fmla="*/ 1269 h 1312"/>
                <a:gd name="T40" fmla="*/ 705 w 2315"/>
                <a:gd name="T41" fmla="*/ 1220 h 1312"/>
                <a:gd name="T42" fmla="*/ 532 w 2315"/>
                <a:gd name="T43" fmla="*/ 1155 h 1312"/>
                <a:gd name="T44" fmla="*/ 377 w 2315"/>
                <a:gd name="T45" fmla="*/ 1077 h 1312"/>
                <a:gd name="T46" fmla="*/ 245 w 2315"/>
                <a:gd name="T47" fmla="*/ 984 h 1312"/>
                <a:gd name="T48" fmla="*/ 137 w 2315"/>
                <a:gd name="T49" fmla="*/ 885 h 1312"/>
                <a:gd name="T50" fmla="*/ 61 w 2315"/>
                <a:gd name="T51" fmla="*/ 777 h 1312"/>
                <a:gd name="T52" fmla="*/ 13 w 2315"/>
                <a:gd name="T53" fmla="*/ 667 h 1312"/>
                <a:gd name="T54" fmla="*/ 0 w 2315"/>
                <a:gd name="T55" fmla="*/ 555 h 1312"/>
                <a:gd name="T56" fmla="*/ 22 w 2315"/>
                <a:gd name="T57" fmla="*/ 447 h 1312"/>
                <a:gd name="T58" fmla="*/ 74 w 2315"/>
                <a:gd name="T59" fmla="*/ 345 h 1312"/>
                <a:gd name="T60" fmla="*/ 158 w 2315"/>
                <a:gd name="T61" fmla="*/ 252 h 1312"/>
                <a:gd name="T62" fmla="*/ 273 w 2315"/>
                <a:gd name="T63" fmla="*/ 170 h 1312"/>
                <a:gd name="T64" fmla="*/ 411 w 2315"/>
                <a:gd name="T65" fmla="*/ 103 h 1312"/>
                <a:gd name="T66" fmla="*/ 571 w 2315"/>
                <a:gd name="T67" fmla="*/ 49 h 1312"/>
                <a:gd name="T68" fmla="*/ 747 w 2315"/>
                <a:gd name="T69" fmla="*/ 17 h 1312"/>
                <a:gd name="T70" fmla="*/ 937 w 2315"/>
                <a:gd name="T71" fmla="*/ 0 h 1312"/>
                <a:gd name="T72" fmla="*/ 1132 w 2315"/>
                <a:gd name="T73" fmla="*/ 2 h 13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15"/>
                <a:gd name="T112" fmla="*/ 0 h 1312"/>
                <a:gd name="T113" fmla="*/ 2315 w 2315"/>
                <a:gd name="T114" fmla="*/ 1312 h 13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15" h="1312">
                  <a:moveTo>
                    <a:pt x="1229" y="10"/>
                  </a:moveTo>
                  <a:lnTo>
                    <a:pt x="1326" y="23"/>
                  </a:lnTo>
                  <a:lnTo>
                    <a:pt x="1424" y="43"/>
                  </a:lnTo>
                  <a:lnTo>
                    <a:pt x="1519" y="64"/>
                  </a:lnTo>
                  <a:lnTo>
                    <a:pt x="1610" y="90"/>
                  </a:lnTo>
                  <a:lnTo>
                    <a:pt x="1698" y="121"/>
                  </a:lnTo>
                  <a:lnTo>
                    <a:pt x="1783" y="155"/>
                  </a:lnTo>
                  <a:lnTo>
                    <a:pt x="1865" y="194"/>
                  </a:lnTo>
                  <a:lnTo>
                    <a:pt x="1938" y="235"/>
                  </a:lnTo>
                  <a:lnTo>
                    <a:pt x="2008" y="278"/>
                  </a:lnTo>
                  <a:lnTo>
                    <a:pt x="2073" y="326"/>
                  </a:lnTo>
                  <a:lnTo>
                    <a:pt x="2129" y="375"/>
                  </a:lnTo>
                  <a:lnTo>
                    <a:pt x="2179" y="425"/>
                  </a:lnTo>
                  <a:lnTo>
                    <a:pt x="2222" y="479"/>
                  </a:lnTo>
                  <a:lnTo>
                    <a:pt x="2256" y="533"/>
                  </a:lnTo>
                  <a:lnTo>
                    <a:pt x="2282" y="589"/>
                  </a:lnTo>
                  <a:lnTo>
                    <a:pt x="2302" y="643"/>
                  </a:lnTo>
                  <a:lnTo>
                    <a:pt x="2313" y="699"/>
                  </a:lnTo>
                  <a:lnTo>
                    <a:pt x="2315" y="755"/>
                  </a:lnTo>
                  <a:lnTo>
                    <a:pt x="2308" y="809"/>
                  </a:lnTo>
                  <a:lnTo>
                    <a:pt x="2295" y="863"/>
                  </a:lnTo>
                  <a:lnTo>
                    <a:pt x="2272" y="915"/>
                  </a:lnTo>
                  <a:lnTo>
                    <a:pt x="2241" y="965"/>
                  </a:lnTo>
                  <a:lnTo>
                    <a:pt x="2202" y="1014"/>
                  </a:lnTo>
                  <a:lnTo>
                    <a:pt x="2157" y="1060"/>
                  </a:lnTo>
                  <a:lnTo>
                    <a:pt x="2105" y="1101"/>
                  </a:lnTo>
                  <a:lnTo>
                    <a:pt x="2044" y="1140"/>
                  </a:lnTo>
                  <a:lnTo>
                    <a:pt x="1977" y="1176"/>
                  </a:lnTo>
                  <a:lnTo>
                    <a:pt x="1906" y="1209"/>
                  </a:lnTo>
                  <a:lnTo>
                    <a:pt x="1828" y="1237"/>
                  </a:lnTo>
                  <a:lnTo>
                    <a:pt x="1746" y="1261"/>
                  </a:lnTo>
                  <a:lnTo>
                    <a:pt x="1659" y="1280"/>
                  </a:lnTo>
                  <a:lnTo>
                    <a:pt x="1569" y="1295"/>
                  </a:lnTo>
                  <a:lnTo>
                    <a:pt x="1476" y="1306"/>
                  </a:lnTo>
                  <a:lnTo>
                    <a:pt x="1380" y="1310"/>
                  </a:lnTo>
                  <a:lnTo>
                    <a:pt x="1283" y="1312"/>
                  </a:lnTo>
                  <a:lnTo>
                    <a:pt x="1186" y="1308"/>
                  </a:lnTo>
                  <a:lnTo>
                    <a:pt x="1086" y="1299"/>
                  </a:lnTo>
                  <a:lnTo>
                    <a:pt x="989" y="1286"/>
                  </a:lnTo>
                  <a:lnTo>
                    <a:pt x="894" y="1269"/>
                  </a:lnTo>
                  <a:lnTo>
                    <a:pt x="798" y="1245"/>
                  </a:lnTo>
                  <a:lnTo>
                    <a:pt x="705" y="1220"/>
                  </a:lnTo>
                  <a:lnTo>
                    <a:pt x="617" y="1189"/>
                  </a:lnTo>
                  <a:lnTo>
                    <a:pt x="532" y="1155"/>
                  </a:lnTo>
                  <a:lnTo>
                    <a:pt x="452" y="1118"/>
                  </a:lnTo>
                  <a:lnTo>
                    <a:pt x="377" y="1077"/>
                  </a:lnTo>
                  <a:lnTo>
                    <a:pt x="307" y="1032"/>
                  </a:lnTo>
                  <a:lnTo>
                    <a:pt x="245" y="984"/>
                  </a:lnTo>
                  <a:lnTo>
                    <a:pt x="186" y="937"/>
                  </a:lnTo>
                  <a:lnTo>
                    <a:pt x="137" y="885"/>
                  </a:lnTo>
                  <a:lnTo>
                    <a:pt x="95" y="831"/>
                  </a:lnTo>
                  <a:lnTo>
                    <a:pt x="61" y="777"/>
                  </a:lnTo>
                  <a:lnTo>
                    <a:pt x="33" y="723"/>
                  </a:lnTo>
                  <a:lnTo>
                    <a:pt x="13" y="667"/>
                  </a:lnTo>
                  <a:lnTo>
                    <a:pt x="5" y="611"/>
                  </a:lnTo>
                  <a:lnTo>
                    <a:pt x="0" y="555"/>
                  </a:lnTo>
                  <a:lnTo>
                    <a:pt x="7" y="501"/>
                  </a:lnTo>
                  <a:lnTo>
                    <a:pt x="22" y="447"/>
                  </a:lnTo>
                  <a:lnTo>
                    <a:pt x="44" y="395"/>
                  </a:lnTo>
                  <a:lnTo>
                    <a:pt x="74" y="345"/>
                  </a:lnTo>
                  <a:lnTo>
                    <a:pt x="113" y="298"/>
                  </a:lnTo>
                  <a:lnTo>
                    <a:pt x="158" y="252"/>
                  </a:lnTo>
                  <a:lnTo>
                    <a:pt x="212" y="209"/>
                  </a:lnTo>
                  <a:lnTo>
                    <a:pt x="273" y="170"/>
                  </a:lnTo>
                  <a:lnTo>
                    <a:pt x="338" y="133"/>
                  </a:lnTo>
                  <a:lnTo>
                    <a:pt x="411" y="103"/>
                  </a:lnTo>
                  <a:lnTo>
                    <a:pt x="489" y="75"/>
                  </a:lnTo>
                  <a:lnTo>
                    <a:pt x="571" y="49"/>
                  </a:lnTo>
                  <a:lnTo>
                    <a:pt x="658" y="30"/>
                  </a:lnTo>
                  <a:lnTo>
                    <a:pt x="747" y="17"/>
                  </a:lnTo>
                  <a:lnTo>
                    <a:pt x="840" y="6"/>
                  </a:lnTo>
                  <a:lnTo>
                    <a:pt x="937" y="0"/>
                  </a:lnTo>
                  <a:lnTo>
                    <a:pt x="1034" y="0"/>
                  </a:lnTo>
                  <a:lnTo>
                    <a:pt x="1132" y="2"/>
                  </a:lnTo>
                  <a:lnTo>
                    <a:pt x="1229" y="10"/>
                  </a:lnTo>
                </a:path>
              </a:pathLst>
            </a:custGeom>
            <a:noFill/>
            <a:ln w="3175">
              <a:solidFill>
                <a:srgbClr val="000000"/>
              </a:solidFill>
              <a:round/>
              <a:headEnd/>
              <a:tailEnd/>
            </a:ln>
          </p:spPr>
          <p:txBody>
            <a:bodyPr/>
            <a:lstStyle/>
            <a:p>
              <a:endParaRPr lang="en-US"/>
            </a:p>
          </p:txBody>
        </p:sp>
        <p:sp>
          <p:nvSpPr>
            <p:cNvPr id="34836" name="Rectangle 25"/>
            <p:cNvSpPr>
              <a:spLocks noChangeArrowheads="1"/>
            </p:cNvSpPr>
            <p:nvPr/>
          </p:nvSpPr>
          <p:spPr bwMode="auto">
            <a:xfrm>
              <a:off x="1390" y="1305"/>
              <a:ext cx="81" cy="213"/>
            </a:xfrm>
            <a:prstGeom prst="rect">
              <a:avLst/>
            </a:prstGeom>
            <a:noFill/>
            <a:ln w="9525">
              <a:noFill/>
              <a:miter lim="800000"/>
              <a:headEnd/>
              <a:tailEnd/>
            </a:ln>
          </p:spPr>
          <p:txBody>
            <a:bodyPr wrap="none" lIns="0" tIns="0" rIns="0" bIns="0">
              <a:spAutoFit/>
            </a:bodyPr>
            <a:lstStyle/>
            <a:p>
              <a:r>
                <a:rPr lang="en-US" sz="2200" b="1">
                  <a:solidFill>
                    <a:srgbClr val="FF0000"/>
                  </a:solidFill>
                </a:rPr>
                <a:t>3</a:t>
              </a:r>
              <a:endParaRPr lang="en-US"/>
            </a:p>
          </p:txBody>
        </p:sp>
      </p:grpSp>
      <p:grpSp>
        <p:nvGrpSpPr>
          <p:cNvPr id="7" name="Group 26"/>
          <p:cNvGrpSpPr>
            <a:grpSpLocks/>
          </p:cNvGrpSpPr>
          <p:nvPr/>
        </p:nvGrpSpPr>
        <p:grpSpPr bwMode="auto">
          <a:xfrm>
            <a:off x="382588" y="1951038"/>
            <a:ext cx="3795712" cy="2871788"/>
            <a:chOff x="241" y="1229"/>
            <a:chExt cx="2391" cy="1809"/>
          </a:xfrm>
        </p:grpSpPr>
        <p:sp>
          <p:nvSpPr>
            <p:cNvPr id="34833" name="Freeform 27"/>
            <p:cNvSpPr>
              <a:spLocks/>
            </p:cNvSpPr>
            <p:nvPr/>
          </p:nvSpPr>
          <p:spPr bwMode="auto">
            <a:xfrm>
              <a:off x="241" y="1229"/>
              <a:ext cx="2391" cy="1611"/>
            </a:xfrm>
            <a:custGeom>
              <a:avLst/>
              <a:gdLst>
                <a:gd name="T0" fmla="*/ 1385 w 2391"/>
                <a:gd name="T1" fmla="*/ 24 h 1611"/>
                <a:gd name="T2" fmla="*/ 1582 w 2391"/>
                <a:gd name="T3" fmla="*/ 69 h 1611"/>
                <a:gd name="T4" fmla="*/ 1768 w 2391"/>
                <a:gd name="T5" fmla="*/ 136 h 1611"/>
                <a:gd name="T6" fmla="*/ 1936 w 2391"/>
                <a:gd name="T7" fmla="*/ 221 h 1611"/>
                <a:gd name="T8" fmla="*/ 2083 w 2391"/>
                <a:gd name="T9" fmla="*/ 322 h 1611"/>
                <a:gd name="T10" fmla="*/ 2207 w 2391"/>
                <a:gd name="T11" fmla="*/ 439 h 1611"/>
                <a:gd name="T12" fmla="*/ 2300 w 2391"/>
                <a:gd name="T13" fmla="*/ 566 h 1611"/>
                <a:gd name="T14" fmla="*/ 2360 w 2391"/>
                <a:gd name="T15" fmla="*/ 698 h 1611"/>
                <a:gd name="T16" fmla="*/ 2388 w 2391"/>
                <a:gd name="T17" fmla="*/ 836 h 1611"/>
                <a:gd name="T18" fmla="*/ 2382 w 2391"/>
                <a:gd name="T19" fmla="*/ 970 h 1611"/>
                <a:gd name="T20" fmla="*/ 2343 w 2391"/>
                <a:gd name="T21" fmla="*/ 1102 h 1611"/>
                <a:gd name="T22" fmla="*/ 2270 w 2391"/>
                <a:gd name="T23" fmla="*/ 1225 h 1611"/>
                <a:gd name="T24" fmla="*/ 2166 w 2391"/>
                <a:gd name="T25" fmla="*/ 1335 h 1611"/>
                <a:gd name="T26" fmla="*/ 2032 w 2391"/>
                <a:gd name="T27" fmla="*/ 1430 h 1611"/>
                <a:gd name="T28" fmla="*/ 1876 w 2391"/>
                <a:gd name="T29" fmla="*/ 1508 h 1611"/>
                <a:gd name="T30" fmla="*/ 1701 w 2391"/>
                <a:gd name="T31" fmla="*/ 1564 h 1611"/>
                <a:gd name="T32" fmla="*/ 1510 w 2391"/>
                <a:gd name="T33" fmla="*/ 1598 h 1611"/>
                <a:gd name="T34" fmla="*/ 1311 w 2391"/>
                <a:gd name="T35" fmla="*/ 1611 h 1611"/>
                <a:gd name="T36" fmla="*/ 1108 w 2391"/>
                <a:gd name="T37" fmla="*/ 1600 h 1611"/>
                <a:gd name="T38" fmla="*/ 907 w 2391"/>
                <a:gd name="T39" fmla="*/ 1568 h 1611"/>
                <a:gd name="T40" fmla="*/ 716 w 2391"/>
                <a:gd name="T41" fmla="*/ 1512 h 1611"/>
                <a:gd name="T42" fmla="*/ 537 w 2391"/>
                <a:gd name="T43" fmla="*/ 1436 h 1611"/>
                <a:gd name="T44" fmla="*/ 379 w 2391"/>
                <a:gd name="T45" fmla="*/ 1341 h 1611"/>
                <a:gd name="T46" fmla="*/ 243 w 2391"/>
                <a:gd name="T47" fmla="*/ 1233 h 1611"/>
                <a:gd name="T48" fmla="*/ 134 w 2391"/>
                <a:gd name="T49" fmla="*/ 1110 h 1611"/>
                <a:gd name="T50" fmla="*/ 57 w 2391"/>
                <a:gd name="T51" fmla="*/ 981 h 1611"/>
                <a:gd name="T52" fmla="*/ 11 w 2391"/>
                <a:gd name="T53" fmla="*/ 845 h 1611"/>
                <a:gd name="T54" fmla="*/ 0 w 2391"/>
                <a:gd name="T55" fmla="*/ 709 h 1611"/>
                <a:gd name="T56" fmla="*/ 24 w 2391"/>
                <a:gd name="T57" fmla="*/ 575 h 1611"/>
                <a:gd name="T58" fmla="*/ 83 w 2391"/>
                <a:gd name="T59" fmla="*/ 447 h 1611"/>
                <a:gd name="T60" fmla="*/ 171 w 2391"/>
                <a:gd name="T61" fmla="*/ 331 h 1611"/>
                <a:gd name="T62" fmla="*/ 290 w 2391"/>
                <a:gd name="T63" fmla="*/ 227 h 1611"/>
                <a:gd name="T64" fmla="*/ 435 w 2391"/>
                <a:gd name="T65" fmla="*/ 141 h 1611"/>
                <a:gd name="T66" fmla="*/ 602 w 2391"/>
                <a:gd name="T67" fmla="*/ 74 h 1611"/>
                <a:gd name="T68" fmla="*/ 786 w 2391"/>
                <a:gd name="T69" fmla="*/ 28 h 1611"/>
                <a:gd name="T70" fmla="*/ 980 w 2391"/>
                <a:gd name="T71" fmla="*/ 3 h 1611"/>
                <a:gd name="T72" fmla="*/ 1181 w 2391"/>
                <a:gd name="T73" fmla="*/ 3 h 16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91"/>
                <a:gd name="T112" fmla="*/ 0 h 1611"/>
                <a:gd name="T113" fmla="*/ 2391 w 2391"/>
                <a:gd name="T114" fmla="*/ 1611 h 16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91" h="1611">
                  <a:moveTo>
                    <a:pt x="1283" y="11"/>
                  </a:moveTo>
                  <a:lnTo>
                    <a:pt x="1385" y="24"/>
                  </a:lnTo>
                  <a:lnTo>
                    <a:pt x="1484" y="46"/>
                  </a:lnTo>
                  <a:lnTo>
                    <a:pt x="1582" y="69"/>
                  </a:lnTo>
                  <a:lnTo>
                    <a:pt x="1675" y="100"/>
                  </a:lnTo>
                  <a:lnTo>
                    <a:pt x="1768" y="136"/>
                  </a:lnTo>
                  <a:lnTo>
                    <a:pt x="1854" y="175"/>
                  </a:lnTo>
                  <a:lnTo>
                    <a:pt x="1936" y="221"/>
                  </a:lnTo>
                  <a:lnTo>
                    <a:pt x="2012" y="270"/>
                  </a:lnTo>
                  <a:lnTo>
                    <a:pt x="2083" y="322"/>
                  </a:lnTo>
                  <a:lnTo>
                    <a:pt x="2148" y="380"/>
                  </a:lnTo>
                  <a:lnTo>
                    <a:pt x="2207" y="439"/>
                  </a:lnTo>
                  <a:lnTo>
                    <a:pt x="2257" y="501"/>
                  </a:lnTo>
                  <a:lnTo>
                    <a:pt x="2300" y="566"/>
                  </a:lnTo>
                  <a:lnTo>
                    <a:pt x="2334" y="631"/>
                  </a:lnTo>
                  <a:lnTo>
                    <a:pt x="2360" y="698"/>
                  </a:lnTo>
                  <a:lnTo>
                    <a:pt x="2380" y="767"/>
                  </a:lnTo>
                  <a:lnTo>
                    <a:pt x="2388" y="836"/>
                  </a:lnTo>
                  <a:lnTo>
                    <a:pt x="2391" y="903"/>
                  </a:lnTo>
                  <a:lnTo>
                    <a:pt x="2382" y="970"/>
                  </a:lnTo>
                  <a:lnTo>
                    <a:pt x="2367" y="1037"/>
                  </a:lnTo>
                  <a:lnTo>
                    <a:pt x="2343" y="1102"/>
                  </a:lnTo>
                  <a:lnTo>
                    <a:pt x="2311" y="1164"/>
                  </a:lnTo>
                  <a:lnTo>
                    <a:pt x="2270" y="1225"/>
                  </a:lnTo>
                  <a:lnTo>
                    <a:pt x="2220" y="1281"/>
                  </a:lnTo>
                  <a:lnTo>
                    <a:pt x="2166" y="1335"/>
                  </a:lnTo>
                  <a:lnTo>
                    <a:pt x="2101" y="1384"/>
                  </a:lnTo>
                  <a:lnTo>
                    <a:pt x="2032" y="1430"/>
                  </a:lnTo>
                  <a:lnTo>
                    <a:pt x="1958" y="1471"/>
                  </a:lnTo>
                  <a:lnTo>
                    <a:pt x="1876" y="1508"/>
                  </a:lnTo>
                  <a:lnTo>
                    <a:pt x="1789" y="1538"/>
                  </a:lnTo>
                  <a:lnTo>
                    <a:pt x="1701" y="1564"/>
                  </a:lnTo>
                  <a:lnTo>
                    <a:pt x="1608" y="1585"/>
                  </a:lnTo>
                  <a:lnTo>
                    <a:pt x="1510" y="1598"/>
                  </a:lnTo>
                  <a:lnTo>
                    <a:pt x="1411" y="1609"/>
                  </a:lnTo>
                  <a:lnTo>
                    <a:pt x="1311" y="1611"/>
                  </a:lnTo>
                  <a:lnTo>
                    <a:pt x="1210" y="1609"/>
                  </a:lnTo>
                  <a:lnTo>
                    <a:pt x="1108" y="1600"/>
                  </a:lnTo>
                  <a:lnTo>
                    <a:pt x="1006" y="1587"/>
                  </a:lnTo>
                  <a:lnTo>
                    <a:pt x="907" y="1568"/>
                  </a:lnTo>
                  <a:lnTo>
                    <a:pt x="809" y="1542"/>
                  </a:lnTo>
                  <a:lnTo>
                    <a:pt x="716" y="1512"/>
                  </a:lnTo>
                  <a:lnTo>
                    <a:pt x="626" y="1475"/>
                  </a:lnTo>
                  <a:lnTo>
                    <a:pt x="537" y="1436"/>
                  </a:lnTo>
                  <a:lnTo>
                    <a:pt x="455" y="1391"/>
                  </a:lnTo>
                  <a:lnTo>
                    <a:pt x="379" y="1341"/>
                  </a:lnTo>
                  <a:lnTo>
                    <a:pt x="308" y="1289"/>
                  </a:lnTo>
                  <a:lnTo>
                    <a:pt x="243" y="1233"/>
                  </a:lnTo>
                  <a:lnTo>
                    <a:pt x="184" y="1173"/>
                  </a:lnTo>
                  <a:lnTo>
                    <a:pt x="134" y="1110"/>
                  </a:lnTo>
                  <a:lnTo>
                    <a:pt x="91" y="1045"/>
                  </a:lnTo>
                  <a:lnTo>
                    <a:pt x="57" y="981"/>
                  </a:lnTo>
                  <a:lnTo>
                    <a:pt x="31" y="914"/>
                  </a:lnTo>
                  <a:lnTo>
                    <a:pt x="11" y="845"/>
                  </a:lnTo>
                  <a:lnTo>
                    <a:pt x="3" y="776"/>
                  </a:lnTo>
                  <a:lnTo>
                    <a:pt x="0" y="709"/>
                  </a:lnTo>
                  <a:lnTo>
                    <a:pt x="9" y="642"/>
                  </a:lnTo>
                  <a:lnTo>
                    <a:pt x="24" y="575"/>
                  </a:lnTo>
                  <a:lnTo>
                    <a:pt x="48" y="510"/>
                  </a:lnTo>
                  <a:lnTo>
                    <a:pt x="83" y="447"/>
                  </a:lnTo>
                  <a:lnTo>
                    <a:pt x="121" y="387"/>
                  </a:lnTo>
                  <a:lnTo>
                    <a:pt x="171" y="331"/>
                  </a:lnTo>
                  <a:lnTo>
                    <a:pt x="227" y="277"/>
                  </a:lnTo>
                  <a:lnTo>
                    <a:pt x="290" y="227"/>
                  </a:lnTo>
                  <a:lnTo>
                    <a:pt x="359" y="182"/>
                  </a:lnTo>
                  <a:lnTo>
                    <a:pt x="435" y="141"/>
                  </a:lnTo>
                  <a:lnTo>
                    <a:pt x="515" y="104"/>
                  </a:lnTo>
                  <a:lnTo>
                    <a:pt x="602" y="74"/>
                  </a:lnTo>
                  <a:lnTo>
                    <a:pt x="690" y="48"/>
                  </a:lnTo>
                  <a:lnTo>
                    <a:pt x="786" y="28"/>
                  </a:lnTo>
                  <a:lnTo>
                    <a:pt x="881" y="13"/>
                  </a:lnTo>
                  <a:lnTo>
                    <a:pt x="980" y="3"/>
                  </a:lnTo>
                  <a:lnTo>
                    <a:pt x="1082" y="0"/>
                  </a:lnTo>
                  <a:lnTo>
                    <a:pt x="1181" y="3"/>
                  </a:lnTo>
                  <a:lnTo>
                    <a:pt x="1283" y="11"/>
                  </a:lnTo>
                </a:path>
              </a:pathLst>
            </a:custGeom>
            <a:noFill/>
            <a:ln w="3175">
              <a:solidFill>
                <a:srgbClr val="000000"/>
              </a:solidFill>
              <a:round/>
              <a:headEnd/>
              <a:tailEnd/>
            </a:ln>
          </p:spPr>
          <p:txBody>
            <a:bodyPr/>
            <a:lstStyle/>
            <a:p>
              <a:endParaRPr lang="en-US"/>
            </a:p>
          </p:txBody>
        </p:sp>
        <p:sp>
          <p:nvSpPr>
            <p:cNvPr id="34834" name="Rectangle 28"/>
            <p:cNvSpPr>
              <a:spLocks noChangeArrowheads="1"/>
            </p:cNvSpPr>
            <p:nvPr/>
          </p:nvSpPr>
          <p:spPr bwMode="auto">
            <a:xfrm>
              <a:off x="1239" y="2825"/>
              <a:ext cx="93" cy="213"/>
            </a:xfrm>
            <a:prstGeom prst="rect">
              <a:avLst/>
            </a:prstGeom>
            <a:noFill/>
            <a:ln w="9525">
              <a:noFill/>
              <a:miter lim="800000"/>
              <a:headEnd/>
              <a:tailEnd/>
            </a:ln>
          </p:spPr>
          <p:txBody>
            <a:bodyPr wrap="none" lIns="0" tIns="0" rIns="0" bIns="0">
              <a:spAutoFit/>
            </a:bodyPr>
            <a:lstStyle/>
            <a:p>
              <a:r>
                <a:rPr lang="en-US" sz="2200" b="1">
                  <a:solidFill>
                    <a:srgbClr val="FF0000"/>
                  </a:solidFill>
                </a:rPr>
                <a:t>4</a:t>
              </a:r>
              <a:endParaRPr lang="en-US"/>
            </a:p>
          </p:txBody>
        </p:sp>
      </p:grpSp>
      <p:grpSp>
        <p:nvGrpSpPr>
          <p:cNvPr id="8" name="Group 29"/>
          <p:cNvGrpSpPr>
            <a:grpSpLocks/>
          </p:cNvGrpSpPr>
          <p:nvPr/>
        </p:nvGrpSpPr>
        <p:grpSpPr bwMode="auto">
          <a:xfrm>
            <a:off x="307975" y="1547813"/>
            <a:ext cx="4003675" cy="3530600"/>
            <a:chOff x="194" y="975"/>
            <a:chExt cx="2522" cy="2224"/>
          </a:xfrm>
        </p:grpSpPr>
        <p:sp>
          <p:nvSpPr>
            <p:cNvPr id="34831" name="Rectangle 30"/>
            <p:cNvSpPr>
              <a:spLocks noChangeArrowheads="1"/>
            </p:cNvSpPr>
            <p:nvPr/>
          </p:nvSpPr>
          <p:spPr bwMode="auto">
            <a:xfrm>
              <a:off x="2138" y="975"/>
              <a:ext cx="83" cy="213"/>
            </a:xfrm>
            <a:prstGeom prst="rect">
              <a:avLst/>
            </a:prstGeom>
            <a:noFill/>
            <a:ln w="9525">
              <a:noFill/>
              <a:miter lim="800000"/>
              <a:headEnd/>
              <a:tailEnd/>
            </a:ln>
          </p:spPr>
          <p:txBody>
            <a:bodyPr wrap="none" lIns="0" tIns="0" rIns="0" bIns="0">
              <a:spAutoFit/>
            </a:bodyPr>
            <a:lstStyle/>
            <a:p>
              <a:r>
                <a:rPr lang="en-US" sz="2200" b="1">
                  <a:solidFill>
                    <a:srgbClr val="FF0000"/>
                  </a:solidFill>
                </a:rPr>
                <a:t>5</a:t>
              </a:r>
              <a:endParaRPr lang="en-US"/>
            </a:p>
          </p:txBody>
        </p:sp>
        <p:sp>
          <p:nvSpPr>
            <p:cNvPr id="34832" name="Freeform 31"/>
            <p:cNvSpPr>
              <a:spLocks/>
            </p:cNvSpPr>
            <p:nvPr/>
          </p:nvSpPr>
          <p:spPr bwMode="auto">
            <a:xfrm>
              <a:off x="194" y="988"/>
              <a:ext cx="2522" cy="2211"/>
            </a:xfrm>
            <a:custGeom>
              <a:avLst/>
              <a:gdLst>
                <a:gd name="T0" fmla="*/ 1363 w 2522"/>
                <a:gd name="T1" fmla="*/ 4 h 2211"/>
                <a:gd name="T2" fmla="*/ 1568 w 2522"/>
                <a:gd name="T3" fmla="*/ 34 h 2211"/>
                <a:gd name="T4" fmla="*/ 1765 w 2522"/>
                <a:gd name="T5" fmla="*/ 92 h 2211"/>
                <a:gd name="T6" fmla="*/ 1949 w 2522"/>
                <a:gd name="T7" fmla="*/ 179 h 2211"/>
                <a:gd name="T8" fmla="*/ 2113 w 2522"/>
                <a:gd name="T9" fmla="*/ 291 h 2211"/>
                <a:gd name="T10" fmla="*/ 2254 w 2522"/>
                <a:gd name="T11" fmla="*/ 425 h 2211"/>
                <a:gd name="T12" fmla="*/ 2368 w 2522"/>
                <a:gd name="T13" fmla="*/ 578 h 2211"/>
                <a:gd name="T14" fmla="*/ 2453 w 2522"/>
                <a:gd name="T15" fmla="*/ 744 h 2211"/>
                <a:gd name="T16" fmla="*/ 2505 w 2522"/>
                <a:gd name="T17" fmla="*/ 922 h 2211"/>
                <a:gd name="T18" fmla="*/ 2522 w 2522"/>
                <a:gd name="T19" fmla="*/ 1103 h 2211"/>
                <a:gd name="T20" fmla="*/ 2505 w 2522"/>
                <a:gd name="T21" fmla="*/ 1284 h 2211"/>
                <a:gd name="T22" fmla="*/ 2453 w 2522"/>
                <a:gd name="T23" fmla="*/ 1461 h 2211"/>
                <a:gd name="T24" fmla="*/ 2371 w 2522"/>
                <a:gd name="T25" fmla="*/ 1630 h 2211"/>
                <a:gd name="T26" fmla="*/ 2256 w 2522"/>
                <a:gd name="T27" fmla="*/ 1783 h 2211"/>
                <a:gd name="T28" fmla="*/ 2115 w 2522"/>
                <a:gd name="T29" fmla="*/ 1917 h 2211"/>
                <a:gd name="T30" fmla="*/ 1951 w 2522"/>
                <a:gd name="T31" fmla="*/ 2029 h 2211"/>
                <a:gd name="T32" fmla="*/ 1769 w 2522"/>
                <a:gd name="T33" fmla="*/ 2118 h 2211"/>
                <a:gd name="T34" fmla="*/ 1572 w 2522"/>
                <a:gd name="T35" fmla="*/ 2176 h 2211"/>
                <a:gd name="T36" fmla="*/ 1367 w 2522"/>
                <a:gd name="T37" fmla="*/ 2206 h 2211"/>
                <a:gd name="T38" fmla="*/ 1159 w 2522"/>
                <a:gd name="T39" fmla="*/ 2206 h 2211"/>
                <a:gd name="T40" fmla="*/ 954 w 2522"/>
                <a:gd name="T41" fmla="*/ 2178 h 2211"/>
                <a:gd name="T42" fmla="*/ 755 w 2522"/>
                <a:gd name="T43" fmla="*/ 2118 h 2211"/>
                <a:gd name="T44" fmla="*/ 573 w 2522"/>
                <a:gd name="T45" fmla="*/ 2031 h 2211"/>
                <a:gd name="T46" fmla="*/ 409 w 2522"/>
                <a:gd name="T47" fmla="*/ 1919 h 2211"/>
                <a:gd name="T48" fmla="*/ 266 w 2522"/>
                <a:gd name="T49" fmla="*/ 1785 h 2211"/>
                <a:gd name="T50" fmla="*/ 151 w 2522"/>
                <a:gd name="T51" fmla="*/ 1634 h 2211"/>
                <a:gd name="T52" fmla="*/ 69 w 2522"/>
                <a:gd name="T53" fmla="*/ 1466 h 2211"/>
                <a:gd name="T54" fmla="*/ 17 w 2522"/>
                <a:gd name="T55" fmla="*/ 1289 h 2211"/>
                <a:gd name="T56" fmla="*/ 0 w 2522"/>
                <a:gd name="T57" fmla="*/ 1107 h 2211"/>
                <a:gd name="T58" fmla="*/ 17 w 2522"/>
                <a:gd name="T59" fmla="*/ 926 h 2211"/>
                <a:gd name="T60" fmla="*/ 67 w 2522"/>
                <a:gd name="T61" fmla="*/ 749 h 2211"/>
                <a:gd name="T62" fmla="*/ 151 w 2522"/>
                <a:gd name="T63" fmla="*/ 580 h 2211"/>
                <a:gd name="T64" fmla="*/ 264 w 2522"/>
                <a:gd name="T65" fmla="*/ 429 h 2211"/>
                <a:gd name="T66" fmla="*/ 404 w 2522"/>
                <a:gd name="T67" fmla="*/ 293 h 2211"/>
                <a:gd name="T68" fmla="*/ 569 w 2522"/>
                <a:gd name="T69" fmla="*/ 181 h 2211"/>
                <a:gd name="T70" fmla="*/ 753 w 2522"/>
                <a:gd name="T71" fmla="*/ 95 h 2211"/>
                <a:gd name="T72" fmla="*/ 949 w 2522"/>
                <a:gd name="T73" fmla="*/ 34 h 2211"/>
                <a:gd name="T74" fmla="*/ 1155 w 2522"/>
                <a:gd name="T75" fmla="*/ 4 h 221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22"/>
                <a:gd name="T115" fmla="*/ 0 h 2211"/>
                <a:gd name="T116" fmla="*/ 2522 w 2522"/>
                <a:gd name="T117" fmla="*/ 2211 h 221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22" h="2211">
                  <a:moveTo>
                    <a:pt x="1259" y="0"/>
                  </a:moveTo>
                  <a:lnTo>
                    <a:pt x="1363" y="4"/>
                  </a:lnTo>
                  <a:lnTo>
                    <a:pt x="1466" y="15"/>
                  </a:lnTo>
                  <a:lnTo>
                    <a:pt x="1568" y="34"/>
                  </a:lnTo>
                  <a:lnTo>
                    <a:pt x="1668" y="60"/>
                  </a:lnTo>
                  <a:lnTo>
                    <a:pt x="1765" y="92"/>
                  </a:lnTo>
                  <a:lnTo>
                    <a:pt x="1858" y="131"/>
                  </a:lnTo>
                  <a:lnTo>
                    <a:pt x="1949" y="179"/>
                  </a:lnTo>
                  <a:lnTo>
                    <a:pt x="2033" y="233"/>
                  </a:lnTo>
                  <a:lnTo>
                    <a:pt x="2113" y="291"/>
                  </a:lnTo>
                  <a:lnTo>
                    <a:pt x="2187" y="356"/>
                  </a:lnTo>
                  <a:lnTo>
                    <a:pt x="2254" y="425"/>
                  </a:lnTo>
                  <a:lnTo>
                    <a:pt x="2314" y="498"/>
                  </a:lnTo>
                  <a:lnTo>
                    <a:pt x="2368" y="578"/>
                  </a:lnTo>
                  <a:lnTo>
                    <a:pt x="2414" y="660"/>
                  </a:lnTo>
                  <a:lnTo>
                    <a:pt x="2453" y="744"/>
                  </a:lnTo>
                  <a:lnTo>
                    <a:pt x="2483" y="831"/>
                  </a:lnTo>
                  <a:lnTo>
                    <a:pt x="2505" y="922"/>
                  </a:lnTo>
                  <a:lnTo>
                    <a:pt x="2518" y="1012"/>
                  </a:lnTo>
                  <a:lnTo>
                    <a:pt x="2522" y="1103"/>
                  </a:lnTo>
                  <a:lnTo>
                    <a:pt x="2518" y="1194"/>
                  </a:lnTo>
                  <a:lnTo>
                    <a:pt x="2505" y="1284"/>
                  </a:lnTo>
                  <a:lnTo>
                    <a:pt x="2483" y="1375"/>
                  </a:lnTo>
                  <a:lnTo>
                    <a:pt x="2453" y="1461"/>
                  </a:lnTo>
                  <a:lnTo>
                    <a:pt x="2416" y="1548"/>
                  </a:lnTo>
                  <a:lnTo>
                    <a:pt x="2371" y="1630"/>
                  </a:lnTo>
                  <a:lnTo>
                    <a:pt x="2317" y="1707"/>
                  </a:lnTo>
                  <a:lnTo>
                    <a:pt x="2256" y="1783"/>
                  </a:lnTo>
                  <a:lnTo>
                    <a:pt x="2189" y="1852"/>
                  </a:lnTo>
                  <a:lnTo>
                    <a:pt x="2115" y="1917"/>
                  </a:lnTo>
                  <a:lnTo>
                    <a:pt x="2037" y="1975"/>
                  </a:lnTo>
                  <a:lnTo>
                    <a:pt x="1951" y="2029"/>
                  </a:lnTo>
                  <a:lnTo>
                    <a:pt x="1862" y="2077"/>
                  </a:lnTo>
                  <a:lnTo>
                    <a:pt x="1769" y="2118"/>
                  </a:lnTo>
                  <a:lnTo>
                    <a:pt x="1672" y="2150"/>
                  </a:lnTo>
                  <a:lnTo>
                    <a:pt x="1572" y="2176"/>
                  </a:lnTo>
                  <a:lnTo>
                    <a:pt x="1471" y="2195"/>
                  </a:lnTo>
                  <a:lnTo>
                    <a:pt x="1367" y="2206"/>
                  </a:lnTo>
                  <a:lnTo>
                    <a:pt x="1263" y="2211"/>
                  </a:lnTo>
                  <a:lnTo>
                    <a:pt x="1159" y="2206"/>
                  </a:lnTo>
                  <a:lnTo>
                    <a:pt x="1055" y="2195"/>
                  </a:lnTo>
                  <a:lnTo>
                    <a:pt x="954" y="2178"/>
                  </a:lnTo>
                  <a:lnTo>
                    <a:pt x="852" y="2152"/>
                  </a:lnTo>
                  <a:lnTo>
                    <a:pt x="755" y="2118"/>
                  </a:lnTo>
                  <a:lnTo>
                    <a:pt x="662" y="2079"/>
                  </a:lnTo>
                  <a:lnTo>
                    <a:pt x="573" y="2031"/>
                  </a:lnTo>
                  <a:lnTo>
                    <a:pt x="486" y="1980"/>
                  </a:lnTo>
                  <a:lnTo>
                    <a:pt x="409" y="1919"/>
                  </a:lnTo>
                  <a:lnTo>
                    <a:pt x="333" y="1856"/>
                  </a:lnTo>
                  <a:lnTo>
                    <a:pt x="266" y="1785"/>
                  </a:lnTo>
                  <a:lnTo>
                    <a:pt x="205" y="1712"/>
                  </a:lnTo>
                  <a:lnTo>
                    <a:pt x="151" y="1634"/>
                  </a:lnTo>
                  <a:lnTo>
                    <a:pt x="106" y="1552"/>
                  </a:lnTo>
                  <a:lnTo>
                    <a:pt x="69" y="1466"/>
                  </a:lnTo>
                  <a:lnTo>
                    <a:pt x="39" y="1379"/>
                  </a:lnTo>
                  <a:lnTo>
                    <a:pt x="17" y="1289"/>
                  </a:lnTo>
                  <a:lnTo>
                    <a:pt x="4" y="1198"/>
                  </a:lnTo>
                  <a:lnTo>
                    <a:pt x="0" y="1107"/>
                  </a:lnTo>
                  <a:lnTo>
                    <a:pt x="4" y="1017"/>
                  </a:lnTo>
                  <a:lnTo>
                    <a:pt x="17" y="926"/>
                  </a:lnTo>
                  <a:lnTo>
                    <a:pt x="37" y="835"/>
                  </a:lnTo>
                  <a:lnTo>
                    <a:pt x="67" y="749"/>
                  </a:lnTo>
                  <a:lnTo>
                    <a:pt x="106" y="662"/>
                  </a:lnTo>
                  <a:lnTo>
                    <a:pt x="151" y="580"/>
                  </a:lnTo>
                  <a:lnTo>
                    <a:pt x="203" y="503"/>
                  </a:lnTo>
                  <a:lnTo>
                    <a:pt x="264" y="429"/>
                  </a:lnTo>
                  <a:lnTo>
                    <a:pt x="331" y="358"/>
                  </a:lnTo>
                  <a:lnTo>
                    <a:pt x="404" y="293"/>
                  </a:lnTo>
                  <a:lnTo>
                    <a:pt x="484" y="235"/>
                  </a:lnTo>
                  <a:lnTo>
                    <a:pt x="569" y="181"/>
                  </a:lnTo>
                  <a:lnTo>
                    <a:pt x="660" y="133"/>
                  </a:lnTo>
                  <a:lnTo>
                    <a:pt x="753" y="95"/>
                  </a:lnTo>
                  <a:lnTo>
                    <a:pt x="850" y="60"/>
                  </a:lnTo>
                  <a:lnTo>
                    <a:pt x="949" y="34"/>
                  </a:lnTo>
                  <a:lnTo>
                    <a:pt x="1051" y="15"/>
                  </a:lnTo>
                  <a:lnTo>
                    <a:pt x="1155" y="4"/>
                  </a:lnTo>
                  <a:lnTo>
                    <a:pt x="1259" y="0"/>
                  </a:lnTo>
                </a:path>
              </a:pathLst>
            </a:custGeom>
            <a:noFill/>
            <a:ln w="3175">
              <a:solidFill>
                <a:srgbClr val="000000"/>
              </a:solidFill>
              <a:round/>
              <a:headEnd/>
              <a:tailEnd/>
            </a:ln>
          </p:spPr>
          <p:txBody>
            <a:bodyPr/>
            <a:lstStyle/>
            <a:p>
              <a:endParaRPr lang="en-US"/>
            </a:p>
          </p:txBody>
        </p:sp>
      </p:grpSp>
      <p:pic>
        <p:nvPicPr>
          <p:cNvPr id="34830" name="Picture 32"/>
          <p:cNvPicPr>
            <a:picLocks noChangeAspect="1" noChangeArrowheads="1"/>
          </p:cNvPicPr>
          <p:nvPr/>
        </p:nvPicPr>
        <p:blipFill>
          <a:blip r:embed="rId3"/>
          <a:srcRect/>
          <a:stretch>
            <a:fillRect/>
          </a:stretch>
        </p:blipFill>
        <p:spPr bwMode="auto">
          <a:xfrm>
            <a:off x="4419600" y="2514600"/>
            <a:ext cx="3733800" cy="2333625"/>
          </a:xfrm>
          <a:prstGeom prst="rect">
            <a:avLst/>
          </a:prstGeom>
          <a:noFill/>
          <a:ln w="12700">
            <a:noFill/>
            <a:miter lim="800000"/>
            <a:headEnd/>
            <a:tailEnd/>
          </a:ln>
        </p:spPr>
      </p:pic>
    </p:spTree>
    <p:extLst>
      <p:ext uri="{BB962C8B-B14F-4D97-AF65-F5344CB8AC3E}">
        <p14:creationId xmlns:p14="http://schemas.microsoft.com/office/powerpoint/2010/main" val="2179974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188" y="228600"/>
            <a:ext cx="8229600" cy="1143000"/>
          </a:xfrm>
        </p:spPr>
        <p:txBody>
          <a:bodyPr>
            <a:normAutofit/>
          </a:bodyPr>
          <a:lstStyle/>
          <a:p>
            <a:pPr eaLnBrk="1" fontAlgn="auto" hangingPunct="1">
              <a:spcAft>
                <a:spcPts val="0"/>
              </a:spcAft>
              <a:defRPr/>
            </a:pPr>
            <a:r>
              <a:rPr lang="fr-FR" sz="4400" dirty="0">
                <a:latin typeface="+mn-lt"/>
              </a:rPr>
              <a:t>Complete Link Clustering</a:t>
            </a:r>
            <a:endParaRPr lang="en-US" sz="4400" dirty="0">
              <a:latin typeface="+mn-lt"/>
            </a:endParaRPr>
          </a:p>
        </p:txBody>
      </p:sp>
      <p:sp>
        <p:nvSpPr>
          <p:cNvPr id="35846" name="Text Box 2"/>
          <p:cNvSpPr txBox="1">
            <a:spLocks noChangeArrowheads="1"/>
          </p:cNvSpPr>
          <p:nvPr/>
        </p:nvSpPr>
        <p:spPr bwMode="auto">
          <a:xfrm>
            <a:off x="1371600" y="5272088"/>
            <a:ext cx="3352800" cy="366712"/>
          </a:xfrm>
          <a:prstGeom prst="rect">
            <a:avLst/>
          </a:prstGeom>
          <a:noFill/>
          <a:ln w="12700">
            <a:noFill/>
            <a:miter lim="800000"/>
            <a:headEnd/>
            <a:tailEnd/>
          </a:ln>
        </p:spPr>
        <p:txBody>
          <a:bodyPr>
            <a:spAutoFit/>
          </a:bodyPr>
          <a:lstStyle/>
          <a:p>
            <a:r>
              <a:rPr lang="en-US" b="1"/>
              <a:t>Nested Clusters</a:t>
            </a:r>
            <a:endParaRPr lang="en-US"/>
          </a:p>
        </p:txBody>
      </p:sp>
      <p:sp>
        <p:nvSpPr>
          <p:cNvPr id="35847" name="Text Box 3"/>
          <p:cNvSpPr txBox="1">
            <a:spLocks noChangeArrowheads="1"/>
          </p:cNvSpPr>
          <p:nvPr/>
        </p:nvSpPr>
        <p:spPr bwMode="auto">
          <a:xfrm>
            <a:off x="5538788" y="4876800"/>
            <a:ext cx="1797050" cy="366713"/>
          </a:xfrm>
          <a:prstGeom prst="rect">
            <a:avLst/>
          </a:prstGeom>
          <a:noFill/>
          <a:ln w="12700">
            <a:noFill/>
            <a:miter lim="800000"/>
            <a:headEnd/>
            <a:tailEnd/>
          </a:ln>
        </p:spPr>
        <p:txBody>
          <a:bodyPr>
            <a:spAutoFit/>
          </a:bodyPr>
          <a:lstStyle/>
          <a:p>
            <a:r>
              <a:rPr lang="en-US" b="1"/>
              <a:t>Dendrogram</a:t>
            </a:r>
            <a:endParaRPr lang="en-US"/>
          </a:p>
        </p:txBody>
      </p:sp>
      <p:pic>
        <p:nvPicPr>
          <p:cNvPr id="35848" name="Picture 4"/>
          <p:cNvPicPr>
            <a:picLocks noChangeAspect="1" noChangeArrowheads="1"/>
          </p:cNvPicPr>
          <p:nvPr/>
        </p:nvPicPr>
        <p:blipFill>
          <a:blip r:embed="rId3"/>
          <a:srcRect/>
          <a:stretch>
            <a:fillRect/>
          </a:stretch>
        </p:blipFill>
        <p:spPr bwMode="auto">
          <a:xfrm>
            <a:off x="4419600" y="2514600"/>
            <a:ext cx="3778250" cy="2362200"/>
          </a:xfrm>
          <a:prstGeom prst="rect">
            <a:avLst/>
          </a:prstGeom>
          <a:noFill/>
          <a:ln w="12700">
            <a:noFill/>
            <a:miter lim="800000"/>
            <a:headEnd/>
            <a:tailEnd/>
          </a:ln>
        </p:spPr>
      </p:pic>
      <p:grpSp>
        <p:nvGrpSpPr>
          <p:cNvPr id="3" name="Group 5"/>
          <p:cNvGrpSpPr>
            <a:grpSpLocks/>
          </p:cNvGrpSpPr>
          <p:nvPr/>
        </p:nvGrpSpPr>
        <p:grpSpPr bwMode="auto">
          <a:xfrm>
            <a:off x="660400" y="1976438"/>
            <a:ext cx="2998788" cy="2687637"/>
            <a:chOff x="383" y="1437"/>
            <a:chExt cx="1889" cy="1693"/>
          </a:xfrm>
        </p:grpSpPr>
        <p:sp>
          <p:nvSpPr>
            <p:cNvPr id="35865" name="Freeform 6"/>
            <p:cNvSpPr>
              <a:spLocks/>
            </p:cNvSpPr>
            <p:nvPr/>
          </p:nvSpPr>
          <p:spPr bwMode="auto">
            <a:xfrm>
              <a:off x="974" y="2118"/>
              <a:ext cx="87" cy="87"/>
            </a:xfrm>
            <a:custGeom>
              <a:avLst/>
              <a:gdLst>
                <a:gd name="T0" fmla="*/ 0 w 87"/>
                <a:gd name="T1" fmla="*/ 43 h 87"/>
                <a:gd name="T2" fmla="*/ 4 w 87"/>
                <a:gd name="T3" fmla="*/ 26 h 87"/>
                <a:gd name="T4" fmla="*/ 13 w 87"/>
                <a:gd name="T5" fmla="*/ 13 h 87"/>
                <a:gd name="T6" fmla="*/ 28 w 87"/>
                <a:gd name="T7" fmla="*/ 2 h 87"/>
                <a:gd name="T8" fmla="*/ 45 w 87"/>
                <a:gd name="T9" fmla="*/ 0 h 87"/>
                <a:gd name="T10" fmla="*/ 62 w 87"/>
                <a:gd name="T11" fmla="*/ 2 h 87"/>
                <a:gd name="T12" fmla="*/ 75 w 87"/>
                <a:gd name="T13" fmla="*/ 13 h 87"/>
                <a:gd name="T14" fmla="*/ 85 w 87"/>
                <a:gd name="T15" fmla="*/ 26 h 87"/>
                <a:gd name="T16" fmla="*/ 87 w 87"/>
                <a:gd name="T17" fmla="*/ 43 h 87"/>
                <a:gd name="T18" fmla="*/ 85 w 87"/>
                <a:gd name="T19" fmla="*/ 60 h 87"/>
                <a:gd name="T20" fmla="*/ 75 w 87"/>
                <a:gd name="T21" fmla="*/ 75 h 87"/>
                <a:gd name="T22" fmla="*/ 62 w 87"/>
                <a:gd name="T23" fmla="*/ 83 h 87"/>
                <a:gd name="T24" fmla="*/ 45 w 87"/>
                <a:gd name="T25" fmla="*/ 87 h 87"/>
                <a:gd name="T26" fmla="*/ 28 w 87"/>
                <a:gd name="T27" fmla="*/ 83 h 87"/>
                <a:gd name="T28" fmla="*/ 13 w 87"/>
                <a:gd name="T29" fmla="*/ 75 h 87"/>
                <a:gd name="T30" fmla="*/ 4 w 87"/>
                <a:gd name="T31" fmla="*/ 60 h 87"/>
                <a:gd name="T32" fmla="*/ 0 w 87"/>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3"/>
                  </a:moveTo>
                  <a:lnTo>
                    <a:pt x="4" y="26"/>
                  </a:lnTo>
                  <a:lnTo>
                    <a:pt x="13" y="13"/>
                  </a:lnTo>
                  <a:lnTo>
                    <a:pt x="28" y="2"/>
                  </a:lnTo>
                  <a:lnTo>
                    <a:pt x="45" y="0"/>
                  </a:lnTo>
                  <a:lnTo>
                    <a:pt x="62" y="2"/>
                  </a:lnTo>
                  <a:lnTo>
                    <a:pt x="75" y="13"/>
                  </a:lnTo>
                  <a:lnTo>
                    <a:pt x="85" y="26"/>
                  </a:lnTo>
                  <a:lnTo>
                    <a:pt x="87" y="43"/>
                  </a:lnTo>
                  <a:lnTo>
                    <a:pt x="85" y="60"/>
                  </a:lnTo>
                  <a:lnTo>
                    <a:pt x="75" y="75"/>
                  </a:lnTo>
                  <a:lnTo>
                    <a:pt x="62" y="83"/>
                  </a:lnTo>
                  <a:lnTo>
                    <a:pt x="45" y="87"/>
                  </a:lnTo>
                  <a:lnTo>
                    <a:pt x="28" y="83"/>
                  </a:lnTo>
                  <a:lnTo>
                    <a:pt x="13" y="75"/>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5866" name="Freeform 7"/>
            <p:cNvSpPr>
              <a:spLocks/>
            </p:cNvSpPr>
            <p:nvPr/>
          </p:nvSpPr>
          <p:spPr bwMode="auto">
            <a:xfrm>
              <a:off x="1782" y="1488"/>
              <a:ext cx="87" cy="87"/>
            </a:xfrm>
            <a:custGeom>
              <a:avLst/>
              <a:gdLst>
                <a:gd name="T0" fmla="*/ 0 w 87"/>
                <a:gd name="T1" fmla="*/ 43 h 87"/>
                <a:gd name="T2" fmla="*/ 4 w 87"/>
                <a:gd name="T3" fmla="*/ 26 h 87"/>
                <a:gd name="T4" fmla="*/ 13 w 87"/>
                <a:gd name="T5" fmla="*/ 13 h 87"/>
                <a:gd name="T6" fmla="*/ 28 w 87"/>
                <a:gd name="T7" fmla="*/ 3 h 87"/>
                <a:gd name="T8" fmla="*/ 45 w 87"/>
                <a:gd name="T9" fmla="*/ 0 h 87"/>
                <a:gd name="T10" fmla="*/ 60 w 87"/>
                <a:gd name="T11" fmla="*/ 3 h 87"/>
                <a:gd name="T12" fmla="*/ 74 w 87"/>
                <a:gd name="T13" fmla="*/ 13 h 87"/>
                <a:gd name="T14" fmla="*/ 85 w 87"/>
                <a:gd name="T15" fmla="*/ 26 h 87"/>
                <a:gd name="T16" fmla="*/ 87 w 87"/>
                <a:gd name="T17" fmla="*/ 43 h 87"/>
                <a:gd name="T18" fmla="*/ 85 w 87"/>
                <a:gd name="T19" fmla="*/ 60 h 87"/>
                <a:gd name="T20" fmla="*/ 74 w 87"/>
                <a:gd name="T21" fmla="*/ 75 h 87"/>
                <a:gd name="T22" fmla="*/ 60 w 87"/>
                <a:gd name="T23" fmla="*/ 83 h 87"/>
                <a:gd name="T24" fmla="*/ 45 w 87"/>
                <a:gd name="T25" fmla="*/ 87 h 87"/>
                <a:gd name="T26" fmla="*/ 28 w 87"/>
                <a:gd name="T27" fmla="*/ 83 h 87"/>
                <a:gd name="T28" fmla="*/ 13 w 87"/>
                <a:gd name="T29" fmla="*/ 75 h 87"/>
                <a:gd name="T30" fmla="*/ 4 w 87"/>
                <a:gd name="T31" fmla="*/ 60 h 87"/>
                <a:gd name="T32" fmla="*/ 0 w 87"/>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3"/>
                  </a:moveTo>
                  <a:lnTo>
                    <a:pt x="4" y="26"/>
                  </a:lnTo>
                  <a:lnTo>
                    <a:pt x="13" y="13"/>
                  </a:lnTo>
                  <a:lnTo>
                    <a:pt x="28" y="3"/>
                  </a:lnTo>
                  <a:lnTo>
                    <a:pt x="45" y="0"/>
                  </a:lnTo>
                  <a:lnTo>
                    <a:pt x="60" y="3"/>
                  </a:lnTo>
                  <a:lnTo>
                    <a:pt x="74" y="13"/>
                  </a:lnTo>
                  <a:lnTo>
                    <a:pt x="85" y="26"/>
                  </a:lnTo>
                  <a:lnTo>
                    <a:pt x="87" y="43"/>
                  </a:lnTo>
                  <a:lnTo>
                    <a:pt x="85" y="60"/>
                  </a:lnTo>
                  <a:lnTo>
                    <a:pt x="74" y="75"/>
                  </a:lnTo>
                  <a:lnTo>
                    <a:pt x="60" y="83"/>
                  </a:lnTo>
                  <a:lnTo>
                    <a:pt x="45" y="87"/>
                  </a:lnTo>
                  <a:lnTo>
                    <a:pt x="28" y="83"/>
                  </a:lnTo>
                  <a:lnTo>
                    <a:pt x="13" y="75"/>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5867" name="Freeform 8"/>
            <p:cNvSpPr>
              <a:spLocks/>
            </p:cNvSpPr>
            <p:nvPr/>
          </p:nvSpPr>
          <p:spPr bwMode="auto">
            <a:xfrm>
              <a:off x="1193" y="2975"/>
              <a:ext cx="87" cy="87"/>
            </a:xfrm>
            <a:custGeom>
              <a:avLst/>
              <a:gdLst>
                <a:gd name="T0" fmla="*/ 0 w 87"/>
                <a:gd name="T1" fmla="*/ 45 h 87"/>
                <a:gd name="T2" fmla="*/ 4 w 87"/>
                <a:gd name="T3" fmla="*/ 28 h 87"/>
                <a:gd name="T4" fmla="*/ 13 w 87"/>
                <a:gd name="T5" fmla="*/ 13 h 87"/>
                <a:gd name="T6" fmla="*/ 28 w 87"/>
                <a:gd name="T7" fmla="*/ 4 h 87"/>
                <a:gd name="T8" fmla="*/ 45 w 87"/>
                <a:gd name="T9" fmla="*/ 0 h 87"/>
                <a:gd name="T10" fmla="*/ 62 w 87"/>
                <a:gd name="T11" fmla="*/ 4 h 87"/>
                <a:gd name="T12" fmla="*/ 75 w 87"/>
                <a:gd name="T13" fmla="*/ 13 h 87"/>
                <a:gd name="T14" fmla="*/ 85 w 87"/>
                <a:gd name="T15" fmla="*/ 28 h 87"/>
                <a:gd name="T16" fmla="*/ 87 w 87"/>
                <a:gd name="T17" fmla="*/ 45 h 87"/>
                <a:gd name="T18" fmla="*/ 85 w 87"/>
                <a:gd name="T19" fmla="*/ 62 h 87"/>
                <a:gd name="T20" fmla="*/ 75 w 87"/>
                <a:gd name="T21" fmla="*/ 74 h 87"/>
                <a:gd name="T22" fmla="*/ 62 w 87"/>
                <a:gd name="T23" fmla="*/ 85 h 87"/>
                <a:gd name="T24" fmla="*/ 45 w 87"/>
                <a:gd name="T25" fmla="*/ 87 h 87"/>
                <a:gd name="T26" fmla="*/ 28 w 87"/>
                <a:gd name="T27" fmla="*/ 85 h 87"/>
                <a:gd name="T28" fmla="*/ 13 w 87"/>
                <a:gd name="T29" fmla="*/ 74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4"/>
                  </a:lnTo>
                  <a:lnTo>
                    <a:pt x="45" y="0"/>
                  </a:lnTo>
                  <a:lnTo>
                    <a:pt x="62" y="4"/>
                  </a:lnTo>
                  <a:lnTo>
                    <a:pt x="75" y="13"/>
                  </a:lnTo>
                  <a:lnTo>
                    <a:pt x="85" y="28"/>
                  </a:lnTo>
                  <a:lnTo>
                    <a:pt x="87" y="45"/>
                  </a:lnTo>
                  <a:lnTo>
                    <a:pt x="85" y="62"/>
                  </a:lnTo>
                  <a:lnTo>
                    <a:pt x="75" y="74"/>
                  </a:lnTo>
                  <a:lnTo>
                    <a:pt x="62" y="85"/>
                  </a:lnTo>
                  <a:lnTo>
                    <a:pt x="45" y="87"/>
                  </a:lnTo>
                  <a:lnTo>
                    <a:pt x="28" y="85"/>
                  </a:lnTo>
                  <a:lnTo>
                    <a:pt x="13" y="74"/>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5868" name="Freeform 9"/>
            <p:cNvSpPr>
              <a:spLocks/>
            </p:cNvSpPr>
            <p:nvPr/>
          </p:nvSpPr>
          <p:spPr bwMode="auto">
            <a:xfrm>
              <a:off x="383" y="1993"/>
              <a:ext cx="87" cy="87"/>
            </a:xfrm>
            <a:custGeom>
              <a:avLst/>
              <a:gdLst>
                <a:gd name="T0" fmla="*/ 0 w 87"/>
                <a:gd name="T1" fmla="*/ 45 h 87"/>
                <a:gd name="T2" fmla="*/ 4 w 87"/>
                <a:gd name="T3" fmla="*/ 28 h 87"/>
                <a:gd name="T4" fmla="*/ 13 w 87"/>
                <a:gd name="T5" fmla="*/ 13 h 87"/>
                <a:gd name="T6" fmla="*/ 28 w 87"/>
                <a:gd name="T7" fmla="*/ 4 h 87"/>
                <a:gd name="T8" fmla="*/ 45 w 87"/>
                <a:gd name="T9" fmla="*/ 0 h 87"/>
                <a:gd name="T10" fmla="*/ 62 w 87"/>
                <a:gd name="T11" fmla="*/ 4 h 87"/>
                <a:gd name="T12" fmla="*/ 74 w 87"/>
                <a:gd name="T13" fmla="*/ 13 h 87"/>
                <a:gd name="T14" fmla="*/ 85 w 87"/>
                <a:gd name="T15" fmla="*/ 28 h 87"/>
                <a:gd name="T16" fmla="*/ 87 w 87"/>
                <a:gd name="T17" fmla="*/ 45 h 87"/>
                <a:gd name="T18" fmla="*/ 85 w 87"/>
                <a:gd name="T19" fmla="*/ 62 h 87"/>
                <a:gd name="T20" fmla="*/ 74 w 87"/>
                <a:gd name="T21" fmla="*/ 74 h 87"/>
                <a:gd name="T22" fmla="*/ 62 w 87"/>
                <a:gd name="T23" fmla="*/ 85 h 87"/>
                <a:gd name="T24" fmla="*/ 45 w 87"/>
                <a:gd name="T25" fmla="*/ 87 h 87"/>
                <a:gd name="T26" fmla="*/ 28 w 87"/>
                <a:gd name="T27" fmla="*/ 85 h 87"/>
                <a:gd name="T28" fmla="*/ 13 w 87"/>
                <a:gd name="T29" fmla="*/ 74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4"/>
                  </a:lnTo>
                  <a:lnTo>
                    <a:pt x="45" y="0"/>
                  </a:lnTo>
                  <a:lnTo>
                    <a:pt x="62" y="4"/>
                  </a:lnTo>
                  <a:lnTo>
                    <a:pt x="74" y="13"/>
                  </a:lnTo>
                  <a:lnTo>
                    <a:pt x="85" y="28"/>
                  </a:lnTo>
                  <a:lnTo>
                    <a:pt x="87" y="45"/>
                  </a:lnTo>
                  <a:lnTo>
                    <a:pt x="85" y="62"/>
                  </a:lnTo>
                  <a:lnTo>
                    <a:pt x="74" y="74"/>
                  </a:lnTo>
                  <a:lnTo>
                    <a:pt x="62" y="85"/>
                  </a:lnTo>
                  <a:lnTo>
                    <a:pt x="45" y="87"/>
                  </a:lnTo>
                  <a:lnTo>
                    <a:pt x="28" y="85"/>
                  </a:lnTo>
                  <a:lnTo>
                    <a:pt x="13" y="74"/>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5869" name="Freeform 10"/>
            <p:cNvSpPr>
              <a:spLocks/>
            </p:cNvSpPr>
            <p:nvPr/>
          </p:nvSpPr>
          <p:spPr bwMode="auto">
            <a:xfrm>
              <a:off x="1544" y="2419"/>
              <a:ext cx="87" cy="87"/>
            </a:xfrm>
            <a:custGeom>
              <a:avLst/>
              <a:gdLst>
                <a:gd name="T0" fmla="*/ 0 w 87"/>
                <a:gd name="T1" fmla="*/ 45 h 87"/>
                <a:gd name="T2" fmla="*/ 4 w 87"/>
                <a:gd name="T3" fmla="*/ 28 h 87"/>
                <a:gd name="T4" fmla="*/ 13 w 87"/>
                <a:gd name="T5" fmla="*/ 13 h 87"/>
                <a:gd name="T6" fmla="*/ 28 w 87"/>
                <a:gd name="T7" fmla="*/ 5 h 87"/>
                <a:gd name="T8" fmla="*/ 42 w 87"/>
                <a:gd name="T9" fmla="*/ 0 h 87"/>
                <a:gd name="T10" fmla="*/ 59 w 87"/>
                <a:gd name="T11" fmla="*/ 5 h 87"/>
                <a:gd name="T12" fmla="*/ 74 w 87"/>
                <a:gd name="T13" fmla="*/ 13 h 87"/>
                <a:gd name="T14" fmla="*/ 83 w 87"/>
                <a:gd name="T15" fmla="*/ 28 h 87"/>
                <a:gd name="T16" fmla="*/ 87 w 87"/>
                <a:gd name="T17" fmla="*/ 45 h 87"/>
                <a:gd name="T18" fmla="*/ 83 w 87"/>
                <a:gd name="T19" fmla="*/ 62 h 87"/>
                <a:gd name="T20" fmla="*/ 74 w 87"/>
                <a:gd name="T21" fmla="*/ 75 h 87"/>
                <a:gd name="T22" fmla="*/ 59 w 87"/>
                <a:gd name="T23" fmla="*/ 85 h 87"/>
                <a:gd name="T24" fmla="*/ 42 w 87"/>
                <a:gd name="T25" fmla="*/ 87 h 87"/>
                <a:gd name="T26" fmla="*/ 28 w 87"/>
                <a:gd name="T27" fmla="*/ 85 h 87"/>
                <a:gd name="T28" fmla="*/ 13 w 87"/>
                <a:gd name="T29" fmla="*/ 75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5"/>
                  </a:lnTo>
                  <a:lnTo>
                    <a:pt x="42" y="0"/>
                  </a:lnTo>
                  <a:lnTo>
                    <a:pt x="59" y="5"/>
                  </a:lnTo>
                  <a:lnTo>
                    <a:pt x="74" y="13"/>
                  </a:lnTo>
                  <a:lnTo>
                    <a:pt x="83" y="28"/>
                  </a:lnTo>
                  <a:lnTo>
                    <a:pt x="87" y="45"/>
                  </a:lnTo>
                  <a:lnTo>
                    <a:pt x="83" y="62"/>
                  </a:lnTo>
                  <a:lnTo>
                    <a:pt x="74" y="75"/>
                  </a:lnTo>
                  <a:lnTo>
                    <a:pt x="59" y="85"/>
                  </a:lnTo>
                  <a:lnTo>
                    <a:pt x="42" y="87"/>
                  </a:lnTo>
                  <a:lnTo>
                    <a:pt x="28" y="85"/>
                  </a:lnTo>
                  <a:lnTo>
                    <a:pt x="13" y="75"/>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5870" name="Freeform 11"/>
            <p:cNvSpPr>
              <a:spLocks/>
            </p:cNvSpPr>
            <p:nvPr/>
          </p:nvSpPr>
          <p:spPr bwMode="auto">
            <a:xfrm>
              <a:off x="2018" y="2479"/>
              <a:ext cx="87" cy="87"/>
            </a:xfrm>
            <a:custGeom>
              <a:avLst/>
              <a:gdLst>
                <a:gd name="T0" fmla="*/ 0 w 87"/>
                <a:gd name="T1" fmla="*/ 42 h 87"/>
                <a:gd name="T2" fmla="*/ 4 w 87"/>
                <a:gd name="T3" fmla="*/ 25 h 87"/>
                <a:gd name="T4" fmla="*/ 13 w 87"/>
                <a:gd name="T5" fmla="*/ 13 h 87"/>
                <a:gd name="T6" fmla="*/ 28 w 87"/>
                <a:gd name="T7" fmla="*/ 2 h 87"/>
                <a:gd name="T8" fmla="*/ 45 w 87"/>
                <a:gd name="T9" fmla="*/ 0 h 87"/>
                <a:gd name="T10" fmla="*/ 62 w 87"/>
                <a:gd name="T11" fmla="*/ 2 h 87"/>
                <a:gd name="T12" fmla="*/ 74 w 87"/>
                <a:gd name="T13" fmla="*/ 13 h 87"/>
                <a:gd name="T14" fmla="*/ 85 w 87"/>
                <a:gd name="T15" fmla="*/ 25 h 87"/>
                <a:gd name="T16" fmla="*/ 87 w 87"/>
                <a:gd name="T17" fmla="*/ 42 h 87"/>
                <a:gd name="T18" fmla="*/ 85 w 87"/>
                <a:gd name="T19" fmla="*/ 59 h 87"/>
                <a:gd name="T20" fmla="*/ 74 w 87"/>
                <a:gd name="T21" fmla="*/ 74 h 87"/>
                <a:gd name="T22" fmla="*/ 62 w 87"/>
                <a:gd name="T23" fmla="*/ 83 h 87"/>
                <a:gd name="T24" fmla="*/ 45 w 87"/>
                <a:gd name="T25" fmla="*/ 87 h 87"/>
                <a:gd name="T26" fmla="*/ 28 w 87"/>
                <a:gd name="T27" fmla="*/ 83 h 87"/>
                <a:gd name="T28" fmla="*/ 13 w 87"/>
                <a:gd name="T29" fmla="*/ 74 h 87"/>
                <a:gd name="T30" fmla="*/ 4 w 87"/>
                <a:gd name="T31" fmla="*/ 59 h 87"/>
                <a:gd name="T32" fmla="*/ 0 w 87"/>
                <a:gd name="T33" fmla="*/ 42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2"/>
                  </a:moveTo>
                  <a:lnTo>
                    <a:pt x="4" y="25"/>
                  </a:lnTo>
                  <a:lnTo>
                    <a:pt x="13" y="13"/>
                  </a:lnTo>
                  <a:lnTo>
                    <a:pt x="28" y="2"/>
                  </a:lnTo>
                  <a:lnTo>
                    <a:pt x="45" y="0"/>
                  </a:lnTo>
                  <a:lnTo>
                    <a:pt x="62" y="2"/>
                  </a:lnTo>
                  <a:lnTo>
                    <a:pt x="74" y="13"/>
                  </a:lnTo>
                  <a:lnTo>
                    <a:pt x="85" y="25"/>
                  </a:lnTo>
                  <a:lnTo>
                    <a:pt x="87" y="42"/>
                  </a:lnTo>
                  <a:lnTo>
                    <a:pt x="85" y="59"/>
                  </a:lnTo>
                  <a:lnTo>
                    <a:pt x="74" y="74"/>
                  </a:lnTo>
                  <a:lnTo>
                    <a:pt x="62" y="83"/>
                  </a:lnTo>
                  <a:lnTo>
                    <a:pt x="45" y="87"/>
                  </a:lnTo>
                  <a:lnTo>
                    <a:pt x="28" y="83"/>
                  </a:lnTo>
                  <a:lnTo>
                    <a:pt x="13" y="74"/>
                  </a:lnTo>
                  <a:lnTo>
                    <a:pt x="4" y="59"/>
                  </a:lnTo>
                  <a:lnTo>
                    <a:pt x="0" y="42"/>
                  </a:lnTo>
                  <a:close/>
                </a:path>
              </a:pathLst>
            </a:custGeom>
            <a:solidFill>
              <a:srgbClr val="1A1A1A"/>
            </a:solidFill>
            <a:ln w="3175">
              <a:solidFill>
                <a:srgbClr val="000000"/>
              </a:solidFill>
              <a:round/>
              <a:headEnd/>
              <a:tailEnd/>
            </a:ln>
          </p:spPr>
          <p:txBody>
            <a:bodyPr/>
            <a:lstStyle/>
            <a:p>
              <a:endParaRPr lang="en-US"/>
            </a:p>
          </p:txBody>
        </p:sp>
        <p:sp>
          <p:nvSpPr>
            <p:cNvPr id="35871" name="Rectangle 12"/>
            <p:cNvSpPr>
              <a:spLocks noChangeArrowheads="1"/>
            </p:cNvSpPr>
            <p:nvPr/>
          </p:nvSpPr>
          <p:spPr bwMode="auto">
            <a:xfrm>
              <a:off x="1890" y="1437"/>
              <a:ext cx="84"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1</a:t>
              </a:r>
              <a:endParaRPr lang="en-US"/>
            </a:p>
          </p:txBody>
        </p:sp>
        <p:sp>
          <p:nvSpPr>
            <p:cNvPr id="35872" name="Rectangle 13"/>
            <p:cNvSpPr>
              <a:spLocks noChangeArrowheads="1"/>
            </p:cNvSpPr>
            <p:nvPr/>
          </p:nvSpPr>
          <p:spPr bwMode="auto">
            <a:xfrm>
              <a:off x="1089" y="2061"/>
              <a:ext cx="84"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2</a:t>
              </a:r>
              <a:endParaRPr lang="en-US"/>
            </a:p>
          </p:txBody>
        </p:sp>
        <p:sp>
          <p:nvSpPr>
            <p:cNvPr id="35873" name="Rectangle 14"/>
            <p:cNvSpPr>
              <a:spLocks noChangeArrowheads="1"/>
            </p:cNvSpPr>
            <p:nvPr/>
          </p:nvSpPr>
          <p:spPr bwMode="auto">
            <a:xfrm>
              <a:off x="1699" y="2373"/>
              <a:ext cx="84"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3</a:t>
              </a:r>
              <a:endParaRPr lang="en-US"/>
            </a:p>
          </p:txBody>
        </p:sp>
        <p:sp>
          <p:nvSpPr>
            <p:cNvPr id="35874" name="Rectangle 15"/>
            <p:cNvSpPr>
              <a:spLocks noChangeArrowheads="1"/>
            </p:cNvSpPr>
            <p:nvPr/>
          </p:nvSpPr>
          <p:spPr bwMode="auto">
            <a:xfrm>
              <a:off x="1319" y="2928"/>
              <a:ext cx="84"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4</a:t>
              </a:r>
              <a:endParaRPr lang="en-US"/>
            </a:p>
          </p:txBody>
        </p:sp>
        <p:sp>
          <p:nvSpPr>
            <p:cNvPr id="35875" name="Rectangle 16"/>
            <p:cNvSpPr>
              <a:spLocks noChangeArrowheads="1"/>
            </p:cNvSpPr>
            <p:nvPr/>
          </p:nvSpPr>
          <p:spPr bwMode="auto">
            <a:xfrm>
              <a:off x="517" y="1940"/>
              <a:ext cx="84"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5</a:t>
              </a:r>
              <a:endParaRPr lang="en-US"/>
            </a:p>
          </p:txBody>
        </p:sp>
        <p:sp>
          <p:nvSpPr>
            <p:cNvPr id="35876" name="Rectangle 17"/>
            <p:cNvSpPr>
              <a:spLocks noChangeArrowheads="1"/>
            </p:cNvSpPr>
            <p:nvPr/>
          </p:nvSpPr>
          <p:spPr bwMode="auto">
            <a:xfrm>
              <a:off x="2188" y="2428"/>
              <a:ext cx="84" cy="202"/>
            </a:xfrm>
            <a:prstGeom prst="rect">
              <a:avLst/>
            </a:prstGeom>
            <a:noFill/>
            <a:ln w="9525">
              <a:noFill/>
              <a:miter lim="800000"/>
              <a:headEnd/>
              <a:tailEnd/>
            </a:ln>
          </p:spPr>
          <p:txBody>
            <a:bodyPr wrap="none" lIns="0" tIns="0" rIns="0" bIns="0">
              <a:spAutoFit/>
            </a:bodyPr>
            <a:lstStyle/>
            <a:p>
              <a:r>
                <a:rPr lang="en-US" sz="2100" b="1">
                  <a:solidFill>
                    <a:srgbClr val="000000"/>
                  </a:solidFill>
                  <a:latin typeface="Times New Roman" pitchFamily="18" charset="0"/>
                </a:rPr>
                <a:t>6</a:t>
              </a:r>
              <a:endParaRPr lang="en-US"/>
            </a:p>
          </p:txBody>
        </p:sp>
      </p:grpSp>
      <p:grpSp>
        <p:nvGrpSpPr>
          <p:cNvPr id="4" name="Group 18"/>
          <p:cNvGrpSpPr>
            <a:grpSpLocks/>
          </p:cNvGrpSpPr>
          <p:nvPr/>
        </p:nvGrpSpPr>
        <p:grpSpPr bwMode="auto">
          <a:xfrm>
            <a:off x="2378075" y="3360738"/>
            <a:ext cx="1401763" cy="890587"/>
            <a:chOff x="1465" y="2309"/>
            <a:chExt cx="883" cy="561"/>
          </a:xfrm>
        </p:grpSpPr>
        <p:sp>
          <p:nvSpPr>
            <p:cNvPr id="35863" name="Freeform 19"/>
            <p:cNvSpPr>
              <a:spLocks/>
            </p:cNvSpPr>
            <p:nvPr/>
          </p:nvSpPr>
          <p:spPr bwMode="auto">
            <a:xfrm>
              <a:off x="1465" y="2309"/>
              <a:ext cx="883" cy="369"/>
            </a:xfrm>
            <a:custGeom>
              <a:avLst/>
              <a:gdLst>
                <a:gd name="T0" fmla="*/ 442 w 883"/>
                <a:gd name="T1" fmla="*/ 0 h 369"/>
                <a:gd name="T2" fmla="*/ 502 w 883"/>
                <a:gd name="T3" fmla="*/ 2 h 369"/>
                <a:gd name="T4" fmla="*/ 562 w 883"/>
                <a:gd name="T5" fmla="*/ 7 h 369"/>
                <a:gd name="T6" fmla="*/ 619 w 883"/>
                <a:gd name="T7" fmla="*/ 15 h 369"/>
                <a:gd name="T8" fmla="*/ 672 w 883"/>
                <a:gd name="T9" fmla="*/ 28 h 369"/>
                <a:gd name="T10" fmla="*/ 721 w 883"/>
                <a:gd name="T11" fmla="*/ 43 h 369"/>
                <a:gd name="T12" fmla="*/ 766 w 883"/>
                <a:gd name="T13" fmla="*/ 60 h 369"/>
                <a:gd name="T14" fmla="*/ 804 w 883"/>
                <a:gd name="T15" fmla="*/ 79 h 369"/>
                <a:gd name="T16" fmla="*/ 836 w 883"/>
                <a:gd name="T17" fmla="*/ 100 h 369"/>
                <a:gd name="T18" fmla="*/ 859 w 883"/>
                <a:gd name="T19" fmla="*/ 123 h 369"/>
                <a:gd name="T20" fmla="*/ 876 w 883"/>
                <a:gd name="T21" fmla="*/ 147 h 369"/>
                <a:gd name="T22" fmla="*/ 883 w 883"/>
                <a:gd name="T23" fmla="*/ 172 h 369"/>
                <a:gd name="T24" fmla="*/ 883 w 883"/>
                <a:gd name="T25" fmla="*/ 197 h 369"/>
                <a:gd name="T26" fmla="*/ 876 w 883"/>
                <a:gd name="T27" fmla="*/ 223 h 369"/>
                <a:gd name="T28" fmla="*/ 859 w 883"/>
                <a:gd name="T29" fmla="*/ 246 h 369"/>
                <a:gd name="T30" fmla="*/ 836 w 883"/>
                <a:gd name="T31" fmla="*/ 270 h 369"/>
                <a:gd name="T32" fmla="*/ 804 w 883"/>
                <a:gd name="T33" fmla="*/ 291 h 369"/>
                <a:gd name="T34" fmla="*/ 766 w 883"/>
                <a:gd name="T35" fmla="*/ 310 h 369"/>
                <a:gd name="T36" fmla="*/ 721 w 883"/>
                <a:gd name="T37" fmla="*/ 327 h 369"/>
                <a:gd name="T38" fmla="*/ 672 w 883"/>
                <a:gd name="T39" fmla="*/ 342 h 369"/>
                <a:gd name="T40" fmla="*/ 619 w 883"/>
                <a:gd name="T41" fmla="*/ 354 h 369"/>
                <a:gd name="T42" fmla="*/ 562 w 883"/>
                <a:gd name="T43" fmla="*/ 363 h 369"/>
                <a:gd name="T44" fmla="*/ 502 w 883"/>
                <a:gd name="T45" fmla="*/ 367 h 369"/>
                <a:gd name="T46" fmla="*/ 442 w 883"/>
                <a:gd name="T47" fmla="*/ 369 h 369"/>
                <a:gd name="T48" fmla="*/ 381 w 883"/>
                <a:gd name="T49" fmla="*/ 367 h 369"/>
                <a:gd name="T50" fmla="*/ 323 w 883"/>
                <a:gd name="T51" fmla="*/ 363 h 369"/>
                <a:gd name="T52" fmla="*/ 266 w 883"/>
                <a:gd name="T53" fmla="*/ 354 h 369"/>
                <a:gd name="T54" fmla="*/ 213 w 883"/>
                <a:gd name="T55" fmla="*/ 342 h 369"/>
                <a:gd name="T56" fmla="*/ 162 w 883"/>
                <a:gd name="T57" fmla="*/ 327 h 369"/>
                <a:gd name="T58" fmla="*/ 119 w 883"/>
                <a:gd name="T59" fmla="*/ 310 h 369"/>
                <a:gd name="T60" fmla="*/ 81 w 883"/>
                <a:gd name="T61" fmla="*/ 291 h 369"/>
                <a:gd name="T62" fmla="*/ 49 w 883"/>
                <a:gd name="T63" fmla="*/ 270 h 369"/>
                <a:gd name="T64" fmla="*/ 26 w 883"/>
                <a:gd name="T65" fmla="*/ 246 h 369"/>
                <a:gd name="T66" fmla="*/ 9 w 883"/>
                <a:gd name="T67" fmla="*/ 223 h 369"/>
                <a:gd name="T68" fmla="*/ 0 w 883"/>
                <a:gd name="T69" fmla="*/ 197 h 369"/>
                <a:gd name="T70" fmla="*/ 0 w 883"/>
                <a:gd name="T71" fmla="*/ 172 h 369"/>
                <a:gd name="T72" fmla="*/ 9 w 883"/>
                <a:gd name="T73" fmla="*/ 147 h 369"/>
                <a:gd name="T74" fmla="*/ 26 w 883"/>
                <a:gd name="T75" fmla="*/ 123 h 369"/>
                <a:gd name="T76" fmla="*/ 49 w 883"/>
                <a:gd name="T77" fmla="*/ 100 h 369"/>
                <a:gd name="T78" fmla="*/ 81 w 883"/>
                <a:gd name="T79" fmla="*/ 79 h 369"/>
                <a:gd name="T80" fmla="*/ 119 w 883"/>
                <a:gd name="T81" fmla="*/ 60 h 369"/>
                <a:gd name="T82" fmla="*/ 162 w 883"/>
                <a:gd name="T83" fmla="*/ 43 h 369"/>
                <a:gd name="T84" fmla="*/ 213 w 883"/>
                <a:gd name="T85" fmla="*/ 28 h 369"/>
                <a:gd name="T86" fmla="*/ 266 w 883"/>
                <a:gd name="T87" fmla="*/ 15 h 369"/>
                <a:gd name="T88" fmla="*/ 323 w 883"/>
                <a:gd name="T89" fmla="*/ 7 h 369"/>
                <a:gd name="T90" fmla="*/ 381 w 883"/>
                <a:gd name="T91" fmla="*/ 2 h 369"/>
                <a:gd name="T92" fmla="*/ 442 w 883"/>
                <a:gd name="T93" fmla="*/ 0 h 3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83"/>
                <a:gd name="T142" fmla="*/ 0 h 369"/>
                <a:gd name="T143" fmla="*/ 883 w 883"/>
                <a:gd name="T144" fmla="*/ 369 h 36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83" h="369">
                  <a:moveTo>
                    <a:pt x="442" y="0"/>
                  </a:moveTo>
                  <a:lnTo>
                    <a:pt x="502" y="2"/>
                  </a:lnTo>
                  <a:lnTo>
                    <a:pt x="562" y="7"/>
                  </a:lnTo>
                  <a:lnTo>
                    <a:pt x="619" y="15"/>
                  </a:lnTo>
                  <a:lnTo>
                    <a:pt x="672" y="28"/>
                  </a:lnTo>
                  <a:lnTo>
                    <a:pt x="721" y="43"/>
                  </a:lnTo>
                  <a:lnTo>
                    <a:pt x="766" y="60"/>
                  </a:lnTo>
                  <a:lnTo>
                    <a:pt x="804" y="79"/>
                  </a:lnTo>
                  <a:lnTo>
                    <a:pt x="836" y="100"/>
                  </a:lnTo>
                  <a:lnTo>
                    <a:pt x="859" y="123"/>
                  </a:lnTo>
                  <a:lnTo>
                    <a:pt x="876" y="147"/>
                  </a:lnTo>
                  <a:lnTo>
                    <a:pt x="883" y="172"/>
                  </a:lnTo>
                  <a:lnTo>
                    <a:pt x="883" y="197"/>
                  </a:lnTo>
                  <a:lnTo>
                    <a:pt x="876" y="223"/>
                  </a:lnTo>
                  <a:lnTo>
                    <a:pt x="859" y="246"/>
                  </a:lnTo>
                  <a:lnTo>
                    <a:pt x="836" y="270"/>
                  </a:lnTo>
                  <a:lnTo>
                    <a:pt x="804" y="291"/>
                  </a:lnTo>
                  <a:lnTo>
                    <a:pt x="766" y="310"/>
                  </a:lnTo>
                  <a:lnTo>
                    <a:pt x="721" y="327"/>
                  </a:lnTo>
                  <a:lnTo>
                    <a:pt x="672" y="342"/>
                  </a:lnTo>
                  <a:lnTo>
                    <a:pt x="619" y="354"/>
                  </a:lnTo>
                  <a:lnTo>
                    <a:pt x="562" y="363"/>
                  </a:lnTo>
                  <a:lnTo>
                    <a:pt x="502" y="367"/>
                  </a:lnTo>
                  <a:lnTo>
                    <a:pt x="442" y="369"/>
                  </a:lnTo>
                  <a:lnTo>
                    <a:pt x="381" y="367"/>
                  </a:lnTo>
                  <a:lnTo>
                    <a:pt x="323" y="363"/>
                  </a:lnTo>
                  <a:lnTo>
                    <a:pt x="266" y="354"/>
                  </a:lnTo>
                  <a:lnTo>
                    <a:pt x="213" y="342"/>
                  </a:lnTo>
                  <a:lnTo>
                    <a:pt x="162" y="327"/>
                  </a:lnTo>
                  <a:lnTo>
                    <a:pt x="119" y="310"/>
                  </a:lnTo>
                  <a:lnTo>
                    <a:pt x="81" y="291"/>
                  </a:lnTo>
                  <a:lnTo>
                    <a:pt x="49" y="270"/>
                  </a:lnTo>
                  <a:lnTo>
                    <a:pt x="26" y="246"/>
                  </a:lnTo>
                  <a:lnTo>
                    <a:pt x="9" y="223"/>
                  </a:lnTo>
                  <a:lnTo>
                    <a:pt x="0" y="197"/>
                  </a:lnTo>
                  <a:lnTo>
                    <a:pt x="0" y="172"/>
                  </a:lnTo>
                  <a:lnTo>
                    <a:pt x="9" y="147"/>
                  </a:lnTo>
                  <a:lnTo>
                    <a:pt x="26" y="123"/>
                  </a:lnTo>
                  <a:lnTo>
                    <a:pt x="49" y="100"/>
                  </a:lnTo>
                  <a:lnTo>
                    <a:pt x="81" y="79"/>
                  </a:lnTo>
                  <a:lnTo>
                    <a:pt x="119" y="60"/>
                  </a:lnTo>
                  <a:lnTo>
                    <a:pt x="162" y="43"/>
                  </a:lnTo>
                  <a:lnTo>
                    <a:pt x="213" y="28"/>
                  </a:lnTo>
                  <a:lnTo>
                    <a:pt x="266" y="15"/>
                  </a:lnTo>
                  <a:lnTo>
                    <a:pt x="323" y="7"/>
                  </a:lnTo>
                  <a:lnTo>
                    <a:pt x="381" y="2"/>
                  </a:lnTo>
                  <a:lnTo>
                    <a:pt x="442" y="0"/>
                  </a:lnTo>
                </a:path>
              </a:pathLst>
            </a:custGeom>
            <a:noFill/>
            <a:ln w="3175">
              <a:solidFill>
                <a:srgbClr val="000000"/>
              </a:solidFill>
              <a:round/>
              <a:headEnd/>
              <a:tailEnd/>
            </a:ln>
          </p:spPr>
          <p:txBody>
            <a:bodyPr/>
            <a:lstStyle/>
            <a:p>
              <a:endParaRPr lang="en-US"/>
            </a:p>
          </p:txBody>
        </p:sp>
        <p:sp>
          <p:nvSpPr>
            <p:cNvPr id="35864" name="Rectangle 20"/>
            <p:cNvSpPr>
              <a:spLocks noChangeArrowheads="1"/>
            </p:cNvSpPr>
            <p:nvPr/>
          </p:nvSpPr>
          <p:spPr bwMode="auto">
            <a:xfrm>
              <a:off x="1831" y="2668"/>
              <a:ext cx="93" cy="202"/>
            </a:xfrm>
            <a:prstGeom prst="rect">
              <a:avLst/>
            </a:prstGeom>
            <a:noFill/>
            <a:ln w="9525">
              <a:noFill/>
              <a:miter lim="800000"/>
              <a:headEnd/>
              <a:tailEnd/>
            </a:ln>
          </p:spPr>
          <p:txBody>
            <a:bodyPr wrap="none" lIns="0" tIns="0" rIns="0" bIns="0">
              <a:spAutoFit/>
            </a:bodyPr>
            <a:lstStyle/>
            <a:p>
              <a:r>
                <a:rPr lang="en-US" sz="2100" b="1">
                  <a:solidFill>
                    <a:srgbClr val="FF0000"/>
                  </a:solidFill>
                </a:rPr>
                <a:t>1</a:t>
              </a:r>
              <a:endParaRPr lang="en-US"/>
            </a:p>
          </p:txBody>
        </p:sp>
      </p:grpSp>
      <p:grpSp>
        <p:nvGrpSpPr>
          <p:cNvPr id="5" name="Group 21"/>
          <p:cNvGrpSpPr>
            <a:grpSpLocks/>
          </p:cNvGrpSpPr>
          <p:nvPr/>
        </p:nvGrpSpPr>
        <p:grpSpPr bwMode="auto">
          <a:xfrm>
            <a:off x="573088" y="2401888"/>
            <a:ext cx="1579562" cy="889000"/>
            <a:chOff x="328" y="1705"/>
            <a:chExt cx="995" cy="560"/>
          </a:xfrm>
        </p:grpSpPr>
        <p:sp>
          <p:nvSpPr>
            <p:cNvPr id="35861" name="Freeform 22"/>
            <p:cNvSpPr>
              <a:spLocks/>
            </p:cNvSpPr>
            <p:nvPr/>
          </p:nvSpPr>
          <p:spPr bwMode="auto">
            <a:xfrm>
              <a:off x="328" y="1881"/>
              <a:ext cx="995" cy="384"/>
            </a:xfrm>
            <a:custGeom>
              <a:avLst/>
              <a:gdLst>
                <a:gd name="T0" fmla="*/ 514 w 995"/>
                <a:gd name="T1" fmla="*/ 4 h 384"/>
                <a:gd name="T2" fmla="*/ 576 w 995"/>
                <a:gd name="T3" fmla="*/ 10 h 384"/>
                <a:gd name="T4" fmla="*/ 638 w 995"/>
                <a:gd name="T5" fmla="*/ 21 h 384"/>
                <a:gd name="T6" fmla="*/ 695 w 995"/>
                <a:gd name="T7" fmla="*/ 34 h 384"/>
                <a:gd name="T8" fmla="*/ 752 w 995"/>
                <a:gd name="T9" fmla="*/ 49 h 384"/>
                <a:gd name="T10" fmla="*/ 803 w 995"/>
                <a:gd name="T11" fmla="*/ 66 h 384"/>
                <a:gd name="T12" fmla="*/ 850 w 995"/>
                <a:gd name="T13" fmla="*/ 85 h 384"/>
                <a:gd name="T14" fmla="*/ 891 w 995"/>
                <a:gd name="T15" fmla="*/ 106 h 384"/>
                <a:gd name="T16" fmla="*/ 927 w 995"/>
                <a:gd name="T17" fmla="*/ 127 h 384"/>
                <a:gd name="T18" fmla="*/ 954 w 995"/>
                <a:gd name="T19" fmla="*/ 150 h 384"/>
                <a:gd name="T20" fmla="*/ 976 w 995"/>
                <a:gd name="T21" fmla="*/ 176 h 384"/>
                <a:gd name="T22" fmla="*/ 988 w 995"/>
                <a:gd name="T23" fmla="*/ 199 h 384"/>
                <a:gd name="T24" fmla="*/ 995 w 995"/>
                <a:gd name="T25" fmla="*/ 222 h 384"/>
                <a:gd name="T26" fmla="*/ 993 w 995"/>
                <a:gd name="T27" fmla="*/ 248 h 384"/>
                <a:gd name="T28" fmla="*/ 982 w 995"/>
                <a:gd name="T29" fmla="*/ 269 h 384"/>
                <a:gd name="T30" fmla="*/ 965 w 995"/>
                <a:gd name="T31" fmla="*/ 290 h 384"/>
                <a:gd name="T32" fmla="*/ 940 w 995"/>
                <a:gd name="T33" fmla="*/ 312 h 384"/>
                <a:gd name="T34" fmla="*/ 908 w 995"/>
                <a:gd name="T35" fmla="*/ 329 h 384"/>
                <a:gd name="T36" fmla="*/ 869 w 995"/>
                <a:gd name="T37" fmla="*/ 345 h 384"/>
                <a:gd name="T38" fmla="*/ 827 w 995"/>
                <a:gd name="T39" fmla="*/ 358 h 384"/>
                <a:gd name="T40" fmla="*/ 776 w 995"/>
                <a:gd name="T41" fmla="*/ 369 h 384"/>
                <a:gd name="T42" fmla="*/ 723 w 995"/>
                <a:gd name="T43" fmla="*/ 377 h 384"/>
                <a:gd name="T44" fmla="*/ 665 w 995"/>
                <a:gd name="T45" fmla="*/ 382 h 384"/>
                <a:gd name="T46" fmla="*/ 606 w 995"/>
                <a:gd name="T47" fmla="*/ 384 h 384"/>
                <a:gd name="T48" fmla="*/ 544 w 995"/>
                <a:gd name="T49" fmla="*/ 384 h 384"/>
                <a:gd name="T50" fmla="*/ 480 w 995"/>
                <a:gd name="T51" fmla="*/ 379 h 384"/>
                <a:gd name="T52" fmla="*/ 419 w 995"/>
                <a:gd name="T53" fmla="*/ 373 h 384"/>
                <a:gd name="T54" fmla="*/ 357 w 995"/>
                <a:gd name="T55" fmla="*/ 362 h 384"/>
                <a:gd name="T56" fmla="*/ 300 w 995"/>
                <a:gd name="T57" fmla="*/ 350 h 384"/>
                <a:gd name="T58" fmla="*/ 242 w 995"/>
                <a:gd name="T59" fmla="*/ 335 h 384"/>
                <a:gd name="T60" fmla="*/ 191 w 995"/>
                <a:gd name="T61" fmla="*/ 318 h 384"/>
                <a:gd name="T62" fmla="*/ 144 w 995"/>
                <a:gd name="T63" fmla="*/ 299 h 384"/>
                <a:gd name="T64" fmla="*/ 104 w 995"/>
                <a:gd name="T65" fmla="*/ 278 h 384"/>
                <a:gd name="T66" fmla="*/ 68 w 995"/>
                <a:gd name="T67" fmla="*/ 256 h 384"/>
                <a:gd name="T68" fmla="*/ 40 w 995"/>
                <a:gd name="T69" fmla="*/ 233 h 384"/>
                <a:gd name="T70" fmla="*/ 19 w 995"/>
                <a:gd name="T71" fmla="*/ 208 h 384"/>
                <a:gd name="T72" fmla="*/ 6 w 995"/>
                <a:gd name="T73" fmla="*/ 184 h 384"/>
                <a:gd name="T74" fmla="*/ 0 w 995"/>
                <a:gd name="T75" fmla="*/ 161 h 384"/>
                <a:gd name="T76" fmla="*/ 2 w 995"/>
                <a:gd name="T77" fmla="*/ 138 h 384"/>
                <a:gd name="T78" fmla="*/ 13 w 995"/>
                <a:gd name="T79" fmla="*/ 114 h 384"/>
                <a:gd name="T80" fmla="*/ 30 w 995"/>
                <a:gd name="T81" fmla="*/ 93 h 384"/>
                <a:gd name="T82" fmla="*/ 55 w 995"/>
                <a:gd name="T83" fmla="*/ 72 h 384"/>
                <a:gd name="T84" fmla="*/ 87 w 995"/>
                <a:gd name="T85" fmla="*/ 55 h 384"/>
                <a:gd name="T86" fmla="*/ 125 w 995"/>
                <a:gd name="T87" fmla="*/ 38 h 384"/>
                <a:gd name="T88" fmla="*/ 168 w 995"/>
                <a:gd name="T89" fmla="*/ 25 h 384"/>
                <a:gd name="T90" fmla="*/ 219 w 995"/>
                <a:gd name="T91" fmla="*/ 15 h 384"/>
                <a:gd name="T92" fmla="*/ 272 w 995"/>
                <a:gd name="T93" fmla="*/ 6 h 384"/>
                <a:gd name="T94" fmla="*/ 329 w 995"/>
                <a:gd name="T95" fmla="*/ 2 h 384"/>
                <a:gd name="T96" fmla="*/ 389 w 995"/>
                <a:gd name="T97" fmla="*/ 0 h 384"/>
                <a:gd name="T98" fmla="*/ 450 w 995"/>
                <a:gd name="T99" fmla="*/ 0 h 384"/>
                <a:gd name="T100" fmla="*/ 514 w 995"/>
                <a:gd name="T101" fmla="*/ 4 h 38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95"/>
                <a:gd name="T154" fmla="*/ 0 h 384"/>
                <a:gd name="T155" fmla="*/ 995 w 995"/>
                <a:gd name="T156" fmla="*/ 384 h 38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95" h="384">
                  <a:moveTo>
                    <a:pt x="514" y="4"/>
                  </a:moveTo>
                  <a:lnTo>
                    <a:pt x="576" y="10"/>
                  </a:lnTo>
                  <a:lnTo>
                    <a:pt x="638" y="21"/>
                  </a:lnTo>
                  <a:lnTo>
                    <a:pt x="695" y="34"/>
                  </a:lnTo>
                  <a:lnTo>
                    <a:pt x="752" y="49"/>
                  </a:lnTo>
                  <a:lnTo>
                    <a:pt x="803" y="66"/>
                  </a:lnTo>
                  <a:lnTo>
                    <a:pt x="850" y="85"/>
                  </a:lnTo>
                  <a:lnTo>
                    <a:pt x="891" y="106"/>
                  </a:lnTo>
                  <a:lnTo>
                    <a:pt x="927" y="127"/>
                  </a:lnTo>
                  <a:lnTo>
                    <a:pt x="954" y="150"/>
                  </a:lnTo>
                  <a:lnTo>
                    <a:pt x="976" y="176"/>
                  </a:lnTo>
                  <a:lnTo>
                    <a:pt x="988" y="199"/>
                  </a:lnTo>
                  <a:lnTo>
                    <a:pt x="995" y="222"/>
                  </a:lnTo>
                  <a:lnTo>
                    <a:pt x="993" y="248"/>
                  </a:lnTo>
                  <a:lnTo>
                    <a:pt x="982" y="269"/>
                  </a:lnTo>
                  <a:lnTo>
                    <a:pt x="965" y="290"/>
                  </a:lnTo>
                  <a:lnTo>
                    <a:pt x="940" y="312"/>
                  </a:lnTo>
                  <a:lnTo>
                    <a:pt x="908" y="329"/>
                  </a:lnTo>
                  <a:lnTo>
                    <a:pt x="869" y="345"/>
                  </a:lnTo>
                  <a:lnTo>
                    <a:pt x="827" y="358"/>
                  </a:lnTo>
                  <a:lnTo>
                    <a:pt x="776" y="369"/>
                  </a:lnTo>
                  <a:lnTo>
                    <a:pt x="723" y="377"/>
                  </a:lnTo>
                  <a:lnTo>
                    <a:pt x="665" y="382"/>
                  </a:lnTo>
                  <a:lnTo>
                    <a:pt x="606" y="384"/>
                  </a:lnTo>
                  <a:lnTo>
                    <a:pt x="544" y="384"/>
                  </a:lnTo>
                  <a:lnTo>
                    <a:pt x="480" y="379"/>
                  </a:lnTo>
                  <a:lnTo>
                    <a:pt x="419" y="373"/>
                  </a:lnTo>
                  <a:lnTo>
                    <a:pt x="357" y="362"/>
                  </a:lnTo>
                  <a:lnTo>
                    <a:pt x="300" y="350"/>
                  </a:lnTo>
                  <a:lnTo>
                    <a:pt x="242" y="335"/>
                  </a:lnTo>
                  <a:lnTo>
                    <a:pt x="191" y="318"/>
                  </a:lnTo>
                  <a:lnTo>
                    <a:pt x="144" y="299"/>
                  </a:lnTo>
                  <a:lnTo>
                    <a:pt x="104" y="278"/>
                  </a:lnTo>
                  <a:lnTo>
                    <a:pt x="68" y="256"/>
                  </a:lnTo>
                  <a:lnTo>
                    <a:pt x="40" y="233"/>
                  </a:lnTo>
                  <a:lnTo>
                    <a:pt x="19" y="208"/>
                  </a:lnTo>
                  <a:lnTo>
                    <a:pt x="6" y="184"/>
                  </a:lnTo>
                  <a:lnTo>
                    <a:pt x="0" y="161"/>
                  </a:lnTo>
                  <a:lnTo>
                    <a:pt x="2" y="138"/>
                  </a:lnTo>
                  <a:lnTo>
                    <a:pt x="13" y="114"/>
                  </a:lnTo>
                  <a:lnTo>
                    <a:pt x="30" y="93"/>
                  </a:lnTo>
                  <a:lnTo>
                    <a:pt x="55" y="72"/>
                  </a:lnTo>
                  <a:lnTo>
                    <a:pt x="87" y="55"/>
                  </a:lnTo>
                  <a:lnTo>
                    <a:pt x="125" y="38"/>
                  </a:lnTo>
                  <a:lnTo>
                    <a:pt x="168" y="25"/>
                  </a:lnTo>
                  <a:lnTo>
                    <a:pt x="219" y="15"/>
                  </a:lnTo>
                  <a:lnTo>
                    <a:pt x="272" y="6"/>
                  </a:lnTo>
                  <a:lnTo>
                    <a:pt x="329" y="2"/>
                  </a:lnTo>
                  <a:lnTo>
                    <a:pt x="389" y="0"/>
                  </a:lnTo>
                  <a:lnTo>
                    <a:pt x="450" y="0"/>
                  </a:lnTo>
                  <a:lnTo>
                    <a:pt x="514" y="4"/>
                  </a:lnTo>
                </a:path>
              </a:pathLst>
            </a:custGeom>
            <a:noFill/>
            <a:ln w="3175">
              <a:solidFill>
                <a:srgbClr val="000000"/>
              </a:solidFill>
              <a:round/>
              <a:headEnd/>
              <a:tailEnd/>
            </a:ln>
          </p:spPr>
          <p:txBody>
            <a:bodyPr/>
            <a:lstStyle/>
            <a:p>
              <a:endParaRPr lang="en-US"/>
            </a:p>
          </p:txBody>
        </p:sp>
        <p:sp>
          <p:nvSpPr>
            <p:cNvPr id="35862" name="Rectangle 23"/>
            <p:cNvSpPr>
              <a:spLocks noChangeArrowheads="1"/>
            </p:cNvSpPr>
            <p:nvPr/>
          </p:nvSpPr>
          <p:spPr bwMode="auto">
            <a:xfrm>
              <a:off x="853" y="1705"/>
              <a:ext cx="93" cy="202"/>
            </a:xfrm>
            <a:prstGeom prst="rect">
              <a:avLst/>
            </a:prstGeom>
            <a:noFill/>
            <a:ln w="9525">
              <a:noFill/>
              <a:miter lim="800000"/>
              <a:headEnd/>
              <a:tailEnd/>
            </a:ln>
          </p:spPr>
          <p:txBody>
            <a:bodyPr wrap="none" lIns="0" tIns="0" rIns="0" bIns="0">
              <a:spAutoFit/>
            </a:bodyPr>
            <a:lstStyle/>
            <a:p>
              <a:r>
                <a:rPr lang="en-US" sz="2100" b="1">
                  <a:solidFill>
                    <a:srgbClr val="FF0000"/>
                  </a:solidFill>
                </a:rPr>
                <a:t>2</a:t>
              </a:r>
              <a:endParaRPr lang="en-US"/>
            </a:p>
          </p:txBody>
        </p:sp>
      </p:grpSp>
      <p:grpSp>
        <p:nvGrpSpPr>
          <p:cNvPr id="6" name="Group 24"/>
          <p:cNvGrpSpPr>
            <a:grpSpLocks/>
          </p:cNvGrpSpPr>
          <p:nvPr/>
        </p:nvGrpSpPr>
        <p:grpSpPr bwMode="auto">
          <a:xfrm>
            <a:off x="228600" y="1735138"/>
            <a:ext cx="3935413" cy="3487737"/>
            <a:chOff x="111" y="1285"/>
            <a:chExt cx="2479" cy="2197"/>
          </a:xfrm>
        </p:grpSpPr>
        <p:sp>
          <p:nvSpPr>
            <p:cNvPr id="35859" name="Rectangle 25"/>
            <p:cNvSpPr>
              <a:spLocks noChangeArrowheads="1"/>
            </p:cNvSpPr>
            <p:nvPr/>
          </p:nvSpPr>
          <p:spPr bwMode="auto">
            <a:xfrm>
              <a:off x="2484" y="1705"/>
              <a:ext cx="93" cy="202"/>
            </a:xfrm>
            <a:prstGeom prst="rect">
              <a:avLst/>
            </a:prstGeom>
            <a:noFill/>
            <a:ln w="9525">
              <a:noFill/>
              <a:miter lim="800000"/>
              <a:headEnd/>
              <a:tailEnd/>
            </a:ln>
          </p:spPr>
          <p:txBody>
            <a:bodyPr wrap="none" lIns="0" tIns="0" rIns="0" bIns="0">
              <a:spAutoFit/>
            </a:bodyPr>
            <a:lstStyle/>
            <a:p>
              <a:r>
                <a:rPr lang="en-US" sz="2100" b="1">
                  <a:solidFill>
                    <a:srgbClr val="FF0000"/>
                  </a:solidFill>
                </a:rPr>
                <a:t>5</a:t>
              </a:r>
              <a:endParaRPr lang="en-US"/>
            </a:p>
          </p:txBody>
        </p:sp>
        <p:sp>
          <p:nvSpPr>
            <p:cNvPr id="35860" name="Freeform 26"/>
            <p:cNvSpPr>
              <a:spLocks/>
            </p:cNvSpPr>
            <p:nvPr/>
          </p:nvSpPr>
          <p:spPr bwMode="auto">
            <a:xfrm>
              <a:off x="111" y="1285"/>
              <a:ext cx="2479" cy="2197"/>
            </a:xfrm>
            <a:custGeom>
              <a:avLst/>
              <a:gdLst>
                <a:gd name="T0" fmla="*/ 1339 w 2479"/>
                <a:gd name="T1" fmla="*/ 2 h 2197"/>
                <a:gd name="T2" fmla="*/ 1541 w 2479"/>
                <a:gd name="T3" fmla="*/ 32 h 2197"/>
                <a:gd name="T4" fmla="*/ 1735 w 2479"/>
                <a:gd name="T5" fmla="*/ 91 h 2197"/>
                <a:gd name="T6" fmla="*/ 1916 w 2479"/>
                <a:gd name="T7" fmla="*/ 178 h 2197"/>
                <a:gd name="T8" fmla="*/ 2077 w 2479"/>
                <a:gd name="T9" fmla="*/ 288 h 2197"/>
                <a:gd name="T10" fmla="*/ 2215 w 2479"/>
                <a:gd name="T11" fmla="*/ 422 h 2197"/>
                <a:gd name="T12" fmla="*/ 2328 w 2479"/>
                <a:gd name="T13" fmla="*/ 572 h 2197"/>
                <a:gd name="T14" fmla="*/ 2411 w 2479"/>
                <a:gd name="T15" fmla="*/ 740 h 2197"/>
                <a:gd name="T16" fmla="*/ 2462 w 2479"/>
                <a:gd name="T17" fmla="*/ 916 h 2197"/>
                <a:gd name="T18" fmla="*/ 2479 w 2479"/>
                <a:gd name="T19" fmla="*/ 1096 h 2197"/>
                <a:gd name="T20" fmla="*/ 2462 w 2479"/>
                <a:gd name="T21" fmla="*/ 1277 h 2197"/>
                <a:gd name="T22" fmla="*/ 2411 w 2479"/>
                <a:gd name="T23" fmla="*/ 1453 h 2197"/>
                <a:gd name="T24" fmla="*/ 2330 w 2479"/>
                <a:gd name="T25" fmla="*/ 1620 h 2197"/>
                <a:gd name="T26" fmla="*/ 2217 w 2479"/>
                <a:gd name="T27" fmla="*/ 1771 h 2197"/>
                <a:gd name="T28" fmla="*/ 2079 w 2479"/>
                <a:gd name="T29" fmla="*/ 1904 h 2197"/>
                <a:gd name="T30" fmla="*/ 1918 w 2479"/>
                <a:gd name="T31" fmla="*/ 2017 h 2197"/>
                <a:gd name="T32" fmla="*/ 1739 w 2479"/>
                <a:gd name="T33" fmla="*/ 2104 h 2197"/>
                <a:gd name="T34" fmla="*/ 1546 w 2479"/>
                <a:gd name="T35" fmla="*/ 2163 h 2197"/>
                <a:gd name="T36" fmla="*/ 1344 w 2479"/>
                <a:gd name="T37" fmla="*/ 2193 h 2197"/>
                <a:gd name="T38" fmla="*/ 1139 w 2479"/>
                <a:gd name="T39" fmla="*/ 2193 h 2197"/>
                <a:gd name="T40" fmla="*/ 938 w 2479"/>
                <a:gd name="T41" fmla="*/ 2163 h 2197"/>
                <a:gd name="T42" fmla="*/ 744 w 2479"/>
                <a:gd name="T43" fmla="*/ 2106 h 2197"/>
                <a:gd name="T44" fmla="*/ 563 w 2479"/>
                <a:gd name="T45" fmla="*/ 2019 h 2197"/>
                <a:gd name="T46" fmla="*/ 402 w 2479"/>
                <a:gd name="T47" fmla="*/ 1909 h 2197"/>
                <a:gd name="T48" fmla="*/ 264 w 2479"/>
                <a:gd name="T49" fmla="*/ 1775 h 2197"/>
                <a:gd name="T50" fmla="*/ 151 w 2479"/>
                <a:gd name="T51" fmla="*/ 1622 h 2197"/>
                <a:gd name="T52" fmla="*/ 68 w 2479"/>
                <a:gd name="T53" fmla="*/ 1457 h 2197"/>
                <a:gd name="T54" fmla="*/ 17 w 2479"/>
                <a:gd name="T55" fmla="*/ 1281 h 2197"/>
                <a:gd name="T56" fmla="*/ 0 w 2479"/>
                <a:gd name="T57" fmla="*/ 1101 h 2197"/>
                <a:gd name="T58" fmla="*/ 17 w 2479"/>
                <a:gd name="T59" fmla="*/ 920 h 2197"/>
                <a:gd name="T60" fmla="*/ 68 w 2479"/>
                <a:gd name="T61" fmla="*/ 744 h 2197"/>
                <a:gd name="T62" fmla="*/ 149 w 2479"/>
                <a:gd name="T63" fmla="*/ 577 h 2197"/>
                <a:gd name="T64" fmla="*/ 261 w 2479"/>
                <a:gd name="T65" fmla="*/ 424 h 2197"/>
                <a:gd name="T66" fmla="*/ 400 w 2479"/>
                <a:gd name="T67" fmla="*/ 290 h 2197"/>
                <a:gd name="T68" fmla="*/ 559 w 2479"/>
                <a:gd name="T69" fmla="*/ 180 h 2197"/>
                <a:gd name="T70" fmla="*/ 740 w 2479"/>
                <a:gd name="T71" fmla="*/ 93 h 2197"/>
                <a:gd name="T72" fmla="*/ 933 w 2479"/>
                <a:gd name="T73" fmla="*/ 34 h 2197"/>
                <a:gd name="T74" fmla="*/ 1135 w 2479"/>
                <a:gd name="T75" fmla="*/ 4 h 21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79"/>
                <a:gd name="T115" fmla="*/ 0 h 2197"/>
                <a:gd name="T116" fmla="*/ 2479 w 2479"/>
                <a:gd name="T117" fmla="*/ 2197 h 219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79" h="2197">
                  <a:moveTo>
                    <a:pt x="1237" y="0"/>
                  </a:moveTo>
                  <a:lnTo>
                    <a:pt x="1339" y="2"/>
                  </a:lnTo>
                  <a:lnTo>
                    <a:pt x="1441" y="15"/>
                  </a:lnTo>
                  <a:lnTo>
                    <a:pt x="1541" y="32"/>
                  </a:lnTo>
                  <a:lnTo>
                    <a:pt x="1639" y="59"/>
                  </a:lnTo>
                  <a:lnTo>
                    <a:pt x="1735" y="91"/>
                  </a:lnTo>
                  <a:lnTo>
                    <a:pt x="1826" y="131"/>
                  </a:lnTo>
                  <a:lnTo>
                    <a:pt x="1916" y="178"/>
                  </a:lnTo>
                  <a:lnTo>
                    <a:pt x="1998" y="229"/>
                  </a:lnTo>
                  <a:lnTo>
                    <a:pt x="2077" y="288"/>
                  </a:lnTo>
                  <a:lnTo>
                    <a:pt x="2149" y="352"/>
                  </a:lnTo>
                  <a:lnTo>
                    <a:pt x="2215" y="422"/>
                  </a:lnTo>
                  <a:lnTo>
                    <a:pt x="2275" y="496"/>
                  </a:lnTo>
                  <a:lnTo>
                    <a:pt x="2328" y="572"/>
                  </a:lnTo>
                  <a:lnTo>
                    <a:pt x="2373" y="655"/>
                  </a:lnTo>
                  <a:lnTo>
                    <a:pt x="2411" y="740"/>
                  </a:lnTo>
                  <a:lnTo>
                    <a:pt x="2441" y="827"/>
                  </a:lnTo>
                  <a:lnTo>
                    <a:pt x="2462" y="916"/>
                  </a:lnTo>
                  <a:lnTo>
                    <a:pt x="2475" y="1005"/>
                  </a:lnTo>
                  <a:lnTo>
                    <a:pt x="2479" y="1096"/>
                  </a:lnTo>
                  <a:lnTo>
                    <a:pt x="2475" y="1188"/>
                  </a:lnTo>
                  <a:lnTo>
                    <a:pt x="2462" y="1277"/>
                  </a:lnTo>
                  <a:lnTo>
                    <a:pt x="2441" y="1366"/>
                  </a:lnTo>
                  <a:lnTo>
                    <a:pt x="2411" y="1453"/>
                  </a:lnTo>
                  <a:lnTo>
                    <a:pt x="2375" y="1537"/>
                  </a:lnTo>
                  <a:lnTo>
                    <a:pt x="2330" y="1620"/>
                  </a:lnTo>
                  <a:lnTo>
                    <a:pt x="2277" y="1697"/>
                  </a:lnTo>
                  <a:lnTo>
                    <a:pt x="2217" y="1771"/>
                  </a:lnTo>
                  <a:lnTo>
                    <a:pt x="2152" y="1841"/>
                  </a:lnTo>
                  <a:lnTo>
                    <a:pt x="2079" y="1904"/>
                  </a:lnTo>
                  <a:lnTo>
                    <a:pt x="2003" y="1964"/>
                  </a:lnTo>
                  <a:lnTo>
                    <a:pt x="1918" y="2017"/>
                  </a:lnTo>
                  <a:lnTo>
                    <a:pt x="1830" y="2063"/>
                  </a:lnTo>
                  <a:lnTo>
                    <a:pt x="1739" y="2104"/>
                  </a:lnTo>
                  <a:lnTo>
                    <a:pt x="1643" y="2136"/>
                  </a:lnTo>
                  <a:lnTo>
                    <a:pt x="1546" y="2163"/>
                  </a:lnTo>
                  <a:lnTo>
                    <a:pt x="1446" y="2182"/>
                  </a:lnTo>
                  <a:lnTo>
                    <a:pt x="1344" y="2193"/>
                  </a:lnTo>
                  <a:lnTo>
                    <a:pt x="1242" y="2197"/>
                  </a:lnTo>
                  <a:lnTo>
                    <a:pt x="1139" y="2193"/>
                  </a:lnTo>
                  <a:lnTo>
                    <a:pt x="1037" y="2182"/>
                  </a:lnTo>
                  <a:lnTo>
                    <a:pt x="938" y="2163"/>
                  </a:lnTo>
                  <a:lnTo>
                    <a:pt x="840" y="2138"/>
                  </a:lnTo>
                  <a:lnTo>
                    <a:pt x="744" y="2106"/>
                  </a:lnTo>
                  <a:lnTo>
                    <a:pt x="650" y="2066"/>
                  </a:lnTo>
                  <a:lnTo>
                    <a:pt x="563" y="2019"/>
                  </a:lnTo>
                  <a:lnTo>
                    <a:pt x="480" y="1966"/>
                  </a:lnTo>
                  <a:lnTo>
                    <a:pt x="402" y="1909"/>
                  </a:lnTo>
                  <a:lnTo>
                    <a:pt x="329" y="1843"/>
                  </a:lnTo>
                  <a:lnTo>
                    <a:pt x="264" y="1775"/>
                  </a:lnTo>
                  <a:lnTo>
                    <a:pt x="204" y="1701"/>
                  </a:lnTo>
                  <a:lnTo>
                    <a:pt x="151" y="1622"/>
                  </a:lnTo>
                  <a:lnTo>
                    <a:pt x="106" y="1542"/>
                  </a:lnTo>
                  <a:lnTo>
                    <a:pt x="68" y="1457"/>
                  </a:lnTo>
                  <a:lnTo>
                    <a:pt x="38" y="1370"/>
                  </a:lnTo>
                  <a:lnTo>
                    <a:pt x="17" y="1281"/>
                  </a:lnTo>
                  <a:lnTo>
                    <a:pt x="4" y="1192"/>
                  </a:lnTo>
                  <a:lnTo>
                    <a:pt x="0" y="1101"/>
                  </a:lnTo>
                  <a:lnTo>
                    <a:pt x="4" y="1009"/>
                  </a:lnTo>
                  <a:lnTo>
                    <a:pt x="17" y="920"/>
                  </a:lnTo>
                  <a:lnTo>
                    <a:pt x="38" y="831"/>
                  </a:lnTo>
                  <a:lnTo>
                    <a:pt x="68" y="744"/>
                  </a:lnTo>
                  <a:lnTo>
                    <a:pt x="104" y="659"/>
                  </a:lnTo>
                  <a:lnTo>
                    <a:pt x="149" y="577"/>
                  </a:lnTo>
                  <a:lnTo>
                    <a:pt x="202" y="498"/>
                  </a:lnTo>
                  <a:lnTo>
                    <a:pt x="261" y="424"/>
                  </a:lnTo>
                  <a:lnTo>
                    <a:pt x="327" y="356"/>
                  </a:lnTo>
                  <a:lnTo>
                    <a:pt x="400" y="290"/>
                  </a:lnTo>
                  <a:lnTo>
                    <a:pt x="476" y="233"/>
                  </a:lnTo>
                  <a:lnTo>
                    <a:pt x="559" y="180"/>
                  </a:lnTo>
                  <a:lnTo>
                    <a:pt x="648" y="133"/>
                  </a:lnTo>
                  <a:lnTo>
                    <a:pt x="740" y="93"/>
                  </a:lnTo>
                  <a:lnTo>
                    <a:pt x="835" y="59"/>
                  </a:lnTo>
                  <a:lnTo>
                    <a:pt x="933" y="34"/>
                  </a:lnTo>
                  <a:lnTo>
                    <a:pt x="1033" y="15"/>
                  </a:lnTo>
                  <a:lnTo>
                    <a:pt x="1135" y="4"/>
                  </a:lnTo>
                  <a:lnTo>
                    <a:pt x="1237" y="0"/>
                  </a:lnTo>
                </a:path>
              </a:pathLst>
            </a:custGeom>
            <a:noFill/>
            <a:ln w="3175">
              <a:solidFill>
                <a:srgbClr val="000000"/>
              </a:solidFill>
              <a:round/>
              <a:headEnd/>
              <a:tailEnd/>
            </a:ln>
          </p:spPr>
          <p:txBody>
            <a:bodyPr/>
            <a:lstStyle/>
            <a:p>
              <a:endParaRPr lang="en-US"/>
            </a:p>
          </p:txBody>
        </p:sp>
      </p:grpSp>
      <p:grpSp>
        <p:nvGrpSpPr>
          <p:cNvPr id="7" name="Group 27"/>
          <p:cNvGrpSpPr>
            <a:grpSpLocks/>
          </p:cNvGrpSpPr>
          <p:nvPr/>
        </p:nvGrpSpPr>
        <p:grpSpPr bwMode="auto">
          <a:xfrm>
            <a:off x="1751013" y="3135313"/>
            <a:ext cx="2160587" cy="1652587"/>
            <a:chOff x="1070" y="2167"/>
            <a:chExt cx="1361" cy="1041"/>
          </a:xfrm>
        </p:grpSpPr>
        <p:sp>
          <p:nvSpPr>
            <p:cNvPr id="35857" name="Rectangle 28"/>
            <p:cNvSpPr>
              <a:spLocks noChangeArrowheads="1"/>
            </p:cNvSpPr>
            <p:nvPr/>
          </p:nvSpPr>
          <p:spPr bwMode="auto">
            <a:xfrm>
              <a:off x="1070" y="2560"/>
              <a:ext cx="93" cy="202"/>
            </a:xfrm>
            <a:prstGeom prst="rect">
              <a:avLst/>
            </a:prstGeom>
            <a:noFill/>
            <a:ln w="9525">
              <a:noFill/>
              <a:miter lim="800000"/>
              <a:headEnd/>
              <a:tailEnd/>
            </a:ln>
          </p:spPr>
          <p:txBody>
            <a:bodyPr wrap="none" lIns="0" tIns="0" rIns="0" bIns="0">
              <a:spAutoFit/>
            </a:bodyPr>
            <a:lstStyle/>
            <a:p>
              <a:r>
                <a:rPr lang="en-US" sz="2100" b="1">
                  <a:solidFill>
                    <a:srgbClr val="FF0000"/>
                  </a:solidFill>
                </a:rPr>
                <a:t>3</a:t>
              </a:r>
              <a:endParaRPr lang="en-US"/>
            </a:p>
          </p:txBody>
        </p:sp>
        <p:sp>
          <p:nvSpPr>
            <p:cNvPr id="35858" name="Freeform 29"/>
            <p:cNvSpPr>
              <a:spLocks/>
            </p:cNvSpPr>
            <p:nvPr/>
          </p:nvSpPr>
          <p:spPr bwMode="auto">
            <a:xfrm>
              <a:off x="1114" y="2167"/>
              <a:ext cx="1317" cy="1041"/>
            </a:xfrm>
            <a:custGeom>
              <a:avLst/>
              <a:gdLst>
                <a:gd name="T0" fmla="*/ 441 w 1317"/>
                <a:gd name="T1" fmla="*/ 174 h 1041"/>
                <a:gd name="T2" fmla="*/ 506 w 1317"/>
                <a:gd name="T3" fmla="*/ 134 h 1041"/>
                <a:gd name="T4" fmla="*/ 574 w 1317"/>
                <a:gd name="T5" fmla="*/ 100 h 1041"/>
                <a:gd name="T6" fmla="*/ 643 w 1317"/>
                <a:gd name="T7" fmla="*/ 70 h 1041"/>
                <a:gd name="T8" fmla="*/ 711 w 1317"/>
                <a:gd name="T9" fmla="*/ 47 h 1041"/>
                <a:gd name="T10" fmla="*/ 781 w 1317"/>
                <a:gd name="T11" fmla="*/ 26 h 1041"/>
                <a:gd name="T12" fmla="*/ 847 w 1317"/>
                <a:gd name="T13" fmla="*/ 13 h 1041"/>
                <a:gd name="T14" fmla="*/ 910 w 1317"/>
                <a:gd name="T15" fmla="*/ 4 h 1041"/>
                <a:gd name="T16" fmla="*/ 974 w 1317"/>
                <a:gd name="T17" fmla="*/ 0 h 1041"/>
                <a:gd name="T18" fmla="*/ 1032 w 1317"/>
                <a:gd name="T19" fmla="*/ 4 h 1041"/>
                <a:gd name="T20" fmla="*/ 1087 w 1317"/>
                <a:gd name="T21" fmla="*/ 13 h 1041"/>
                <a:gd name="T22" fmla="*/ 1136 w 1317"/>
                <a:gd name="T23" fmla="*/ 26 h 1041"/>
                <a:gd name="T24" fmla="*/ 1180 w 1317"/>
                <a:gd name="T25" fmla="*/ 45 h 1041"/>
                <a:gd name="T26" fmla="*/ 1219 w 1317"/>
                <a:gd name="T27" fmla="*/ 70 h 1041"/>
                <a:gd name="T28" fmla="*/ 1253 w 1317"/>
                <a:gd name="T29" fmla="*/ 100 h 1041"/>
                <a:gd name="T30" fmla="*/ 1278 w 1317"/>
                <a:gd name="T31" fmla="*/ 134 h 1041"/>
                <a:gd name="T32" fmla="*/ 1297 w 1317"/>
                <a:gd name="T33" fmla="*/ 172 h 1041"/>
                <a:gd name="T34" fmla="*/ 1310 w 1317"/>
                <a:gd name="T35" fmla="*/ 214 h 1041"/>
                <a:gd name="T36" fmla="*/ 1317 w 1317"/>
                <a:gd name="T37" fmla="*/ 261 h 1041"/>
                <a:gd name="T38" fmla="*/ 1314 w 1317"/>
                <a:gd name="T39" fmla="*/ 310 h 1041"/>
                <a:gd name="T40" fmla="*/ 1304 w 1317"/>
                <a:gd name="T41" fmla="*/ 359 h 1041"/>
                <a:gd name="T42" fmla="*/ 1289 w 1317"/>
                <a:gd name="T43" fmla="*/ 412 h 1041"/>
                <a:gd name="T44" fmla="*/ 1265 w 1317"/>
                <a:gd name="T45" fmla="*/ 467 h 1041"/>
                <a:gd name="T46" fmla="*/ 1236 w 1317"/>
                <a:gd name="T47" fmla="*/ 520 h 1041"/>
                <a:gd name="T48" fmla="*/ 1200 w 1317"/>
                <a:gd name="T49" fmla="*/ 575 h 1041"/>
                <a:gd name="T50" fmla="*/ 1157 w 1317"/>
                <a:gd name="T51" fmla="*/ 628 h 1041"/>
                <a:gd name="T52" fmla="*/ 1110 w 1317"/>
                <a:gd name="T53" fmla="*/ 681 h 1041"/>
                <a:gd name="T54" fmla="*/ 1057 w 1317"/>
                <a:gd name="T55" fmla="*/ 732 h 1041"/>
                <a:gd name="T56" fmla="*/ 1000 w 1317"/>
                <a:gd name="T57" fmla="*/ 781 h 1041"/>
                <a:gd name="T58" fmla="*/ 940 w 1317"/>
                <a:gd name="T59" fmla="*/ 825 h 1041"/>
                <a:gd name="T60" fmla="*/ 876 w 1317"/>
                <a:gd name="T61" fmla="*/ 868 h 1041"/>
                <a:gd name="T62" fmla="*/ 810 w 1317"/>
                <a:gd name="T63" fmla="*/ 908 h 1041"/>
                <a:gd name="T64" fmla="*/ 742 w 1317"/>
                <a:gd name="T65" fmla="*/ 942 h 1041"/>
                <a:gd name="T66" fmla="*/ 674 w 1317"/>
                <a:gd name="T67" fmla="*/ 971 h 1041"/>
                <a:gd name="T68" fmla="*/ 604 w 1317"/>
                <a:gd name="T69" fmla="*/ 995 h 1041"/>
                <a:gd name="T70" fmla="*/ 536 w 1317"/>
                <a:gd name="T71" fmla="*/ 1016 h 1041"/>
                <a:gd name="T72" fmla="*/ 470 w 1317"/>
                <a:gd name="T73" fmla="*/ 1029 h 1041"/>
                <a:gd name="T74" fmla="*/ 404 w 1317"/>
                <a:gd name="T75" fmla="*/ 1037 h 1041"/>
                <a:gd name="T76" fmla="*/ 343 w 1317"/>
                <a:gd name="T77" fmla="*/ 1041 h 1041"/>
                <a:gd name="T78" fmla="*/ 283 w 1317"/>
                <a:gd name="T79" fmla="*/ 1037 h 1041"/>
                <a:gd name="T80" fmla="*/ 230 w 1317"/>
                <a:gd name="T81" fmla="*/ 1029 h 1041"/>
                <a:gd name="T82" fmla="*/ 179 w 1317"/>
                <a:gd name="T83" fmla="*/ 1016 h 1041"/>
                <a:gd name="T84" fmla="*/ 134 w 1317"/>
                <a:gd name="T85" fmla="*/ 997 h 1041"/>
                <a:gd name="T86" fmla="*/ 96 w 1317"/>
                <a:gd name="T87" fmla="*/ 971 h 1041"/>
                <a:gd name="T88" fmla="*/ 64 w 1317"/>
                <a:gd name="T89" fmla="*/ 942 h 1041"/>
                <a:gd name="T90" fmla="*/ 37 w 1317"/>
                <a:gd name="T91" fmla="*/ 908 h 1041"/>
                <a:gd name="T92" fmla="*/ 17 w 1317"/>
                <a:gd name="T93" fmla="*/ 870 h 1041"/>
                <a:gd name="T94" fmla="*/ 7 w 1317"/>
                <a:gd name="T95" fmla="*/ 827 h 1041"/>
                <a:gd name="T96" fmla="*/ 0 w 1317"/>
                <a:gd name="T97" fmla="*/ 781 h 1041"/>
                <a:gd name="T98" fmla="*/ 3 w 1317"/>
                <a:gd name="T99" fmla="*/ 732 h 1041"/>
                <a:gd name="T100" fmla="*/ 11 w 1317"/>
                <a:gd name="T101" fmla="*/ 681 h 1041"/>
                <a:gd name="T102" fmla="*/ 28 w 1317"/>
                <a:gd name="T103" fmla="*/ 630 h 1041"/>
                <a:gd name="T104" fmla="*/ 51 w 1317"/>
                <a:gd name="T105" fmla="*/ 575 h 1041"/>
                <a:gd name="T106" fmla="*/ 81 w 1317"/>
                <a:gd name="T107" fmla="*/ 522 h 1041"/>
                <a:gd name="T108" fmla="*/ 117 w 1317"/>
                <a:gd name="T109" fmla="*/ 467 h 1041"/>
                <a:gd name="T110" fmla="*/ 160 w 1317"/>
                <a:gd name="T111" fmla="*/ 414 h 1041"/>
                <a:gd name="T112" fmla="*/ 207 w 1317"/>
                <a:gd name="T113" fmla="*/ 361 h 1041"/>
                <a:gd name="T114" fmla="*/ 260 w 1317"/>
                <a:gd name="T115" fmla="*/ 310 h 1041"/>
                <a:gd name="T116" fmla="*/ 315 w 1317"/>
                <a:gd name="T117" fmla="*/ 261 h 1041"/>
                <a:gd name="T118" fmla="*/ 377 w 1317"/>
                <a:gd name="T119" fmla="*/ 216 h 1041"/>
                <a:gd name="T120" fmla="*/ 441 w 1317"/>
                <a:gd name="T121" fmla="*/ 174 h 10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17"/>
                <a:gd name="T184" fmla="*/ 0 h 1041"/>
                <a:gd name="T185" fmla="*/ 1317 w 1317"/>
                <a:gd name="T186" fmla="*/ 1041 h 10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17" h="1041">
                  <a:moveTo>
                    <a:pt x="441" y="174"/>
                  </a:moveTo>
                  <a:lnTo>
                    <a:pt x="506" y="134"/>
                  </a:lnTo>
                  <a:lnTo>
                    <a:pt x="574" y="100"/>
                  </a:lnTo>
                  <a:lnTo>
                    <a:pt x="643" y="70"/>
                  </a:lnTo>
                  <a:lnTo>
                    <a:pt x="711" y="47"/>
                  </a:lnTo>
                  <a:lnTo>
                    <a:pt x="781" y="26"/>
                  </a:lnTo>
                  <a:lnTo>
                    <a:pt x="847" y="13"/>
                  </a:lnTo>
                  <a:lnTo>
                    <a:pt x="910" y="4"/>
                  </a:lnTo>
                  <a:lnTo>
                    <a:pt x="974" y="0"/>
                  </a:lnTo>
                  <a:lnTo>
                    <a:pt x="1032" y="4"/>
                  </a:lnTo>
                  <a:lnTo>
                    <a:pt x="1087" y="13"/>
                  </a:lnTo>
                  <a:lnTo>
                    <a:pt x="1136" y="26"/>
                  </a:lnTo>
                  <a:lnTo>
                    <a:pt x="1180" y="45"/>
                  </a:lnTo>
                  <a:lnTo>
                    <a:pt x="1219" y="70"/>
                  </a:lnTo>
                  <a:lnTo>
                    <a:pt x="1253" y="100"/>
                  </a:lnTo>
                  <a:lnTo>
                    <a:pt x="1278" y="134"/>
                  </a:lnTo>
                  <a:lnTo>
                    <a:pt x="1297" y="172"/>
                  </a:lnTo>
                  <a:lnTo>
                    <a:pt x="1310" y="214"/>
                  </a:lnTo>
                  <a:lnTo>
                    <a:pt x="1317" y="261"/>
                  </a:lnTo>
                  <a:lnTo>
                    <a:pt x="1314" y="310"/>
                  </a:lnTo>
                  <a:lnTo>
                    <a:pt x="1304" y="359"/>
                  </a:lnTo>
                  <a:lnTo>
                    <a:pt x="1289" y="412"/>
                  </a:lnTo>
                  <a:lnTo>
                    <a:pt x="1265" y="467"/>
                  </a:lnTo>
                  <a:lnTo>
                    <a:pt x="1236" y="520"/>
                  </a:lnTo>
                  <a:lnTo>
                    <a:pt x="1200" y="575"/>
                  </a:lnTo>
                  <a:lnTo>
                    <a:pt x="1157" y="628"/>
                  </a:lnTo>
                  <a:lnTo>
                    <a:pt x="1110" y="681"/>
                  </a:lnTo>
                  <a:lnTo>
                    <a:pt x="1057" y="732"/>
                  </a:lnTo>
                  <a:lnTo>
                    <a:pt x="1000" y="781"/>
                  </a:lnTo>
                  <a:lnTo>
                    <a:pt x="940" y="825"/>
                  </a:lnTo>
                  <a:lnTo>
                    <a:pt x="876" y="868"/>
                  </a:lnTo>
                  <a:lnTo>
                    <a:pt x="810" y="908"/>
                  </a:lnTo>
                  <a:lnTo>
                    <a:pt x="742" y="942"/>
                  </a:lnTo>
                  <a:lnTo>
                    <a:pt x="674" y="971"/>
                  </a:lnTo>
                  <a:lnTo>
                    <a:pt x="604" y="995"/>
                  </a:lnTo>
                  <a:lnTo>
                    <a:pt x="536" y="1016"/>
                  </a:lnTo>
                  <a:lnTo>
                    <a:pt x="470" y="1029"/>
                  </a:lnTo>
                  <a:lnTo>
                    <a:pt x="404" y="1037"/>
                  </a:lnTo>
                  <a:lnTo>
                    <a:pt x="343" y="1041"/>
                  </a:lnTo>
                  <a:lnTo>
                    <a:pt x="283" y="1037"/>
                  </a:lnTo>
                  <a:lnTo>
                    <a:pt x="230" y="1029"/>
                  </a:lnTo>
                  <a:lnTo>
                    <a:pt x="179" y="1016"/>
                  </a:lnTo>
                  <a:lnTo>
                    <a:pt x="134" y="997"/>
                  </a:lnTo>
                  <a:lnTo>
                    <a:pt x="96" y="971"/>
                  </a:lnTo>
                  <a:lnTo>
                    <a:pt x="64" y="942"/>
                  </a:lnTo>
                  <a:lnTo>
                    <a:pt x="37" y="908"/>
                  </a:lnTo>
                  <a:lnTo>
                    <a:pt x="17" y="870"/>
                  </a:lnTo>
                  <a:lnTo>
                    <a:pt x="7" y="827"/>
                  </a:lnTo>
                  <a:lnTo>
                    <a:pt x="0" y="781"/>
                  </a:lnTo>
                  <a:lnTo>
                    <a:pt x="3" y="732"/>
                  </a:lnTo>
                  <a:lnTo>
                    <a:pt x="11" y="681"/>
                  </a:lnTo>
                  <a:lnTo>
                    <a:pt x="28" y="630"/>
                  </a:lnTo>
                  <a:lnTo>
                    <a:pt x="51" y="575"/>
                  </a:lnTo>
                  <a:lnTo>
                    <a:pt x="81" y="522"/>
                  </a:lnTo>
                  <a:lnTo>
                    <a:pt x="117" y="467"/>
                  </a:lnTo>
                  <a:lnTo>
                    <a:pt x="160" y="414"/>
                  </a:lnTo>
                  <a:lnTo>
                    <a:pt x="207" y="361"/>
                  </a:lnTo>
                  <a:lnTo>
                    <a:pt x="260" y="310"/>
                  </a:lnTo>
                  <a:lnTo>
                    <a:pt x="315" y="261"/>
                  </a:lnTo>
                  <a:lnTo>
                    <a:pt x="377" y="216"/>
                  </a:lnTo>
                  <a:lnTo>
                    <a:pt x="441" y="174"/>
                  </a:lnTo>
                </a:path>
              </a:pathLst>
            </a:custGeom>
            <a:noFill/>
            <a:ln w="3175">
              <a:solidFill>
                <a:srgbClr val="000000"/>
              </a:solidFill>
              <a:round/>
              <a:headEnd/>
              <a:tailEnd/>
            </a:ln>
          </p:spPr>
          <p:txBody>
            <a:bodyPr/>
            <a:lstStyle/>
            <a:p>
              <a:endParaRPr lang="en-US"/>
            </a:p>
          </p:txBody>
        </p:sp>
      </p:grpSp>
      <p:grpSp>
        <p:nvGrpSpPr>
          <p:cNvPr id="8" name="Group 30"/>
          <p:cNvGrpSpPr>
            <a:grpSpLocks/>
          </p:cNvGrpSpPr>
          <p:nvPr/>
        </p:nvGrpSpPr>
        <p:grpSpPr bwMode="auto">
          <a:xfrm>
            <a:off x="484188" y="1873250"/>
            <a:ext cx="2906712" cy="1520825"/>
            <a:chOff x="272" y="1372"/>
            <a:chExt cx="1831" cy="958"/>
          </a:xfrm>
        </p:grpSpPr>
        <p:sp>
          <p:nvSpPr>
            <p:cNvPr id="35855" name="Rectangle 31"/>
            <p:cNvSpPr>
              <a:spLocks noChangeArrowheads="1"/>
            </p:cNvSpPr>
            <p:nvPr/>
          </p:nvSpPr>
          <p:spPr bwMode="auto">
            <a:xfrm>
              <a:off x="1165" y="1380"/>
              <a:ext cx="93" cy="202"/>
            </a:xfrm>
            <a:prstGeom prst="rect">
              <a:avLst/>
            </a:prstGeom>
            <a:noFill/>
            <a:ln w="9525">
              <a:noFill/>
              <a:miter lim="800000"/>
              <a:headEnd/>
              <a:tailEnd/>
            </a:ln>
          </p:spPr>
          <p:txBody>
            <a:bodyPr wrap="none" lIns="0" tIns="0" rIns="0" bIns="0">
              <a:spAutoFit/>
            </a:bodyPr>
            <a:lstStyle/>
            <a:p>
              <a:r>
                <a:rPr lang="en-US" sz="2100" b="1">
                  <a:solidFill>
                    <a:srgbClr val="FF0000"/>
                  </a:solidFill>
                </a:rPr>
                <a:t>4</a:t>
              </a:r>
              <a:endParaRPr lang="en-US"/>
            </a:p>
          </p:txBody>
        </p:sp>
        <p:sp>
          <p:nvSpPr>
            <p:cNvPr id="35856" name="Freeform 32"/>
            <p:cNvSpPr>
              <a:spLocks/>
            </p:cNvSpPr>
            <p:nvPr/>
          </p:nvSpPr>
          <p:spPr bwMode="auto">
            <a:xfrm>
              <a:off x="272" y="1372"/>
              <a:ext cx="1831" cy="958"/>
            </a:xfrm>
            <a:custGeom>
              <a:avLst/>
              <a:gdLst>
                <a:gd name="T0" fmla="*/ 906 w 1831"/>
                <a:gd name="T1" fmla="*/ 25 h 958"/>
                <a:gd name="T2" fmla="*/ 1081 w 1831"/>
                <a:gd name="T3" fmla="*/ 4 h 958"/>
                <a:gd name="T4" fmla="*/ 1246 w 1831"/>
                <a:gd name="T5" fmla="*/ 0 h 958"/>
                <a:gd name="T6" fmla="*/ 1404 w 1831"/>
                <a:gd name="T7" fmla="*/ 13 h 958"/>
                <a:gd name="T8" fmla="*/ 1542 w 1831"/>
                <a:gd name="T9" fmla="*/ 42 h 958"/>
                <a:gd name="T10" fmla="*/ 1657 w 1831"/>
                <a:gd name="T11" fmla="*/ 87 h 958"/>
                <a:gd name="T12" fmla="*/ 1744 w 1831"/>
                <a:gd name="T13" fmla="*/ 146 h 958"/>
                <a:gd name="T14" fmla="*/ 1803 w 1831"/>
                <a:gd name="T15" fmla="*/ 218 h 958"/>
                <a:gd name="T16" fmla="*/ 1829 w 1831"/>
                <a:gd name="T17" fmla="*/ 299 h 958"/>
                <a:gd name="T18" fmla="*/ 1823 w 1831"/>
                <a:gd name="T19" fmla="*/ 388 h 958"/>
                <a:gd name="T20" fmla="*/ 1784 w 1831"/>
                <a:gd name="T21" fmla="*/ 477 h 958"/>
                <a:gd name="T22" fmla="*/ 1714 w 1831"/>
                <a:gd name="T23" fmla="*/ 568 h 958"/>
                <a:gd name="T24" fmla="*/ 1614 w 1831"/>
                <a:gd name="T25" fmla="*/ 657 h 958"/>
                <a:gd name="T26" fmla="*/ 1489 w 1831"/>
                <a:gd name="T27" fmla="*/ 738 h 958"/>
                <a:gd name="T28" fmla="*/ 1344 w 1831"/>
                <a:gd name="T29" fmla="*/ 810 h 958"/>
                <a:gd name="T30" fmla="*/ 1183 w 1831"/>
                <a:gd name="T31" fmla="*/ 869 h 958"/>
                <a:gd name="T32" fmla="*/ 1010 w 1831"/>
                <a:gd name="T33" fmla="*/ 914 h 958"/>
                <a:gd name="T34" fmla="*/ 838 w 1831"/>
                <a:gd name="T35" fmla="*/ 946 h 958"/>
                <a:gd name="T36" fmla="*/ 666 w 1831"/>
                <a:gd name="T37" fmla="*/ 958 h 958"/>
                <a:gd name="T38" fmla="*/ 504 w 1831"/>
                <a:gd name="T39" fmla="*/ 954 h 958"/>
                <a:gd name="T40" fmla="*/ 356 w 1831"/>
                <a:gd name="T41" fmla="*/ 933 h 958"/>
                <a:gd name="T42" fmla="*/ 228 w 1831"/>
                <a:gd name="T43" fmla="*/ 895 h 958"/>
                <a:gd name="T44" fmla="*/ 126 w 1831"/>
                <a:gd name="T45" fmla="*/ 842 h 958"/>
                <a:gd name="T46" fmla="*/ 51 w 1831"/>
                <a:gd name="T47" fmla="*/ 776 h 958"/>
                <a:gd name="T48" fmla="*/ 9 w 1831"/>
                <a:gd name="T49" fmla="*/ 700 h 958"/>
                <a:gd name="T50" fmla="*/ 0 w 1831"/>
                <a:gd name="T51" fmla="*/ 615 h 958"/>
                <a:gd name="T52" fmla="*/ 22 w 1831"/>
                <a:gd name="T53" fmla="*/ 524 h 958"/>
                <a:gd name="T54" fmla="*/ 77 w 1831"/>
                <a:gd name="T55" fmla="*/ 432 h 958"/>
                <a:gd name="T56" fmla="*/ 164 w 1831"/>
                <a:gd name="T57" fmla="*/ 343 h 958"/>
                <a:gd name="T58" fmla="*/ 277 w 1831"/>
                <a:gd name="T59" fmla="*/ 259 h 958"/>
                <a:gd name="T60" fmla="*/ 413 w 1831"/>
                <a:gd name="T61" fmla="*/ 182 h 958"/>
                <a:gd name="T62" fmla="*/ 566 w 1831"/>
                <a:gd name="T63" fmla="*/ 116 h 958"/>
                <a:gd name="T64" fmla="*/ 732 w 1831"/>
                <a:gd name="T65" fmla="*/ 63 h 9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1"/>
                <a:gd name="T100" fmla="*/ 0 h 958"/>
                <a:gd name="T101" fmla="*/ 1831 w 1831"/>
                <a:gd name="T102" fmla="*/ 958 h 9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1" h="958">
                  <a:moveTo>
                    <a:pt x="819" y="42"/>
                  </a:moveTo>
                  <a:lnTo>
                    <a:pt x="906" y="25"/>
                  </a:lnTo>
                  <a:lnTo>
                    <a:pt x="993" y="13"/>
                  </a:lnTo>
                  <a:lnTo>
                    <a:pt x="1081" y="4"/>
                  </a:lnTo>
                  <a:lnTo>
                    <a:pt x="1166" y="0"/>
                  </a:lnTo>
                  <a:lnTo>
                    <a:pt x="1246" y="0"/>
                  </a:lnTo>
                  <a:lnTo>
                    <a:pt x="1327" y="4"/>
                  </a:lnTo>
                  <a:lnTo>
                    <a:pt x="1404" y="13"/>
                  </a:lnTo>
                  <a:lnTo>
                    <a:pt x="1474" y="25"/>
                  </a:lnTo>
                  <a:lnTo>
                    <a:pt x="1542" y="42"/>
                  </a:lnTo>
                  <a:lnTo>
                    <a:pt x="1601" y="63"/>
                  </a:lnTo>
                  <a:lnTo>
                    <a:pt x="1657" y="87"/>
                  </a:lnTo>
                  <a:lnTo>
                    <a:pt x="1704" y="116"/>
                  </a:lnTo>
                  <a:lnTo>
                    <a:pt x="1744" y="146"/>
                  </a:lnTo>
                  <a:lnTo>
                    <a:pt x="1778" y="182"/>
                  </a:lnTo>
                  <a:lnTo>
                    <a:pt x="1803" y="218"/>
                  </a:lnTo>
                  <a:lnTo>
                    <a:pt x="1820" y="259"/>
                  </a:lnTo>
                  <a:lnTo>
                    <a:pt x="1829" y="299"/>
                  </a:lnTo>
                  <a:lnTo>
                    <a:pt x="1831" y="343"/>
                  </a:lnTo>
                  <a:lnTo>
                    <a:pt x="1823" y="388"/>
                  </a:lnTo>
                  <a:lnTo>
                    <a:pt x="1808" y="432"/>
                  </a:lnTo>
                  <a:lnTo>
                    <a:pt x="1784" y="477"/>
                  </a:lnTo>
                  <a:lnTo>
                    <a:pt x="1752" y="524"/>
                  </a:lnTo>
                  <a:lnTo>
                    <a:pt x="1714" y="568"/>
                  </a:lnTo>
                  <a:lnTo>
                    <a:pt x="1667" y="613"/>
                  </a:lnTo>
                  <a:lnTo>
                    <a:pt x="1614" y="657"/>
                  </a:lnTo>
                  <a:lnTo>
                    <a:pt x="1555" y="698"/>
                  </a:lnTo>
                  <a:lnTo>
                    <a:pt x="1489" y="738"/>
                  </a:lnTo>
                  <a:lnTo>
                    <a:pt x="1419" y="774"/>
                  </a:lnTo>
                  <a:lnTo>
                    <a:pt x="1344" y="810"/>
                  </a:lnTo>
                  <a:lnTo>
                    <a:pt x="1263" y="842"/>
                  </a:lnTo>
                  <a:lnTo>
                    <a:pt x="1183" y="869"/>
                  </a:lnTo>
                  <a:lnTo>
                    <a:pt x="1098" y="895"/>
                  </a:lnTo>
                  <a:lnTo>
                    <a:pt x="1010" y="914"/>
                  </a:lnTo>
                  <a:lnTo>
                    <a:pt x="925" y="931"/>
                  </a:lnTo>
                  <a:lnTo>
                    <a:pt x="838" y="946"/>
                  </a:lnTo>
                  <a:lnTo>
                    <a:pt x="751" y="954"/>
                  </a:lnTo>
                  <a:lnTo>
                    <a:pt x="666" y="958"/>
                  </a:lnTo>
                  <a:lnTo>
                    <a:pt x="583" y="958"/>
                  </a:lnTo>
                  <a:lnTo>
                    <a:pt x="504" y="954"/>
                  </a:lnTo>
                  <a:lnTo>
                    <a:pt x="428" y="946"/>
                  </a:lnTo>
                  <a:lnTo>
                    <a:pt x="356" y="933"/>
                  </a:lnTo>
                  <a:lnTo>
                    <a:pt x="290" y="916"/>
                  </a:lnTo>
                  <a:lnTo>
                    <a:pt x="228" y="895"/>
                  </a:lnTo>
                  <a:lnTo>
                    <a:pt x="175" y="869"/>
                  </a:lnTo>
                  <a:lnTo>
                    <a:pt x="126" y="842"/>
                  </a:lnTo>
                  <a:lnTo>
                    <a:pt x="86" y="810"/>
                  </a:lnTo>
                  <a:lnTo>
                    <a:pt x="51" y="776"/>
                  </a:lnTo>
                  <a:lnTo>
                    <a:pt x="26" y="738"/>
                  </a:lnTo>
                  <a:lnTo>
                    <a:pt x="9" y="700"/>
                  </a:lnTo>
                  <a:lnTo>
                    <a:pt x="0" y="657"/>
                  </a:lnTo>
                  <a:lnTo>
                    <a:pt x="0" y="615"/>
                  </a:lnTo>
                  <a:lnTo>
                    <a:pt x="7" y="570"/>
                  </a:lnTo>
                  <a:lnTo>
                    <a:pt x="22" y="524"/>
                  </a:lnTo>
                  <a:lnTo>
                    <a:pt x="47" y="479"/>
                  </a:lnTo>
                  <a:lnTo>
                    <a:pt x="77" y="432"/>
                  </a:lnTo>
                  <a:lnTo>
                    <a:pt x="117" y="388"/>
                  </a:lnTo>
                  <a:lnTo>
                    <a:pt x="164" y="343"/>
                  </a:lnTo>
                  <a:lnTo>
                    <a:pt x="217" y="301"/>
                  </a:lnTo>
                  <a:lnTo>
                    <a:pt x="277" y="259"/>
                  </a:lnTo>
                  <a:lnTo>
                    <a:pt x="341" y="220"/>
                  </a:lnTo>
                  <a:lnTo>
                    <a:pt x="413" y="182"/>
                  </a:lnTo>
                  <a:lnTo>
                    <a:pt x="487" y="148"/>
                  </a:lnTo>
                  <a:lnTo>
                    <a:pt x="566" y="116"/>
                  </a:lnTo>
                  <a:lnTo>
                    <a:pt x="649" y="89"/>
                  </a:lnTo>
                  <a:lnTo>
                    <a:pt x="732" y="63"/>
                  </a:lnTo>
                  <a:lnTo>
                    <a:pt x="819" y="42"/>
                  </a:lnTo>
                </a:path>
              </a:pathLst>
            </a:custGeom>
            <a:noFill/>
            <a:ln w="3175">
              <a:solidFill>
                <a:srgbClr val="000000"/>
              </a:solidFill>
              <a:round/>
              <a:headEnd/>
              <a:tailEnd/>
            </a:ln>
          </p:spPr>
          <p:txBody>
            <a:bodyPr/>
            <a:lstStyle/>
            <a:p>
              <a:endParaRPr lang="en-US"/>
            </a:p>
          </p:txBody>
        </p:sp>
      </p:grpSp>
    </p:spTree>
    <p:extLst>
      <p:ext uri="{BB962C8B-B14F-4D97-AF65-F5344CB8AC3E}">
        <p14:creationId xmlns:p14="http://schemas.microsoft.com/office/powerpoint/2010/main" val="305953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pPr eaLnBrk="1" fontAlgn="auto" hangingPunct="1">
              <a:spcAft>
                <a:spcPts val="0"/>
              </a:spcAft>
              <a:defRPr/>
            </a:pPr>
            <a:r>
              <a:rPr lang="fr-FR" sz="4400" dirty="0">
                <a:latin typeface="+mn-lt"/>
              </a:rPr>
              <a:t>Average Link clustering</a:t>
            </a:r>
            <a:endParaRPr lang="en-US" sz="4400" dirty="0">
              <a:latin typeface="+mn-lt"/>
            </a:endParaRPr>
          </a:p>
        </p:txBody>
      </p:sp>
      <p:sp>
        <p:nvSpPr>
          <p:cNvPr id="36870" name="Text Box 2"/>
          <p:cNvSpPr txBox="1">
            <a:spLocks noChangeArrowheads="1"/>
          </p:cNvSpPr>
          <p:nvPr/>
        </p:nvSpPr>
        <p:spPr bwMode="auto">
          <a:xfrm>
            <a:off x="1219200" y="5257800"/>
            <a:ext cx="1949450" cy="366713"/>
          </a:xfrm>
          <a:prstGeom prst="rect">
            <a:avLst/>
          </a:prstGeom>
          <a:noFill/>
          <a:ln w="12700">
            <a:noFill/>
            <a:miter lim="800000"/>
            <a:headEnd/>
            <a:tailEnd/>
          </a:ln>
        </p:spPr>
        <p:txBody>
          <a:bodyPr>
            <a:spAutoFit/>
          </a:bodyPr>
          <a:lstStyle/>
          <a:p>
            <a:r>
              <a:rPr lang="en-US" b="1"/>
              <a:t>Nested Clusters</a:t>
            </a:r>
            <a:endParaRPr lang="en-US"/>
          </a:p>
        </p:txBody>
      </p:sp>
      <p:sp>
        <p:nvSpPr>
          <p:cNvPr id="36871" name="Text Box 3"/>
          <p:cNvSpPr txBox="1">
            <a:spLocks noChangeArrowheads="1"/>
          </p:cNvSpPr>
          <p:nvPr/>
        </p:nvSpPr>
        <p:spPr bwMode="auto">
          <a:xfrm>
            <a:off x="5257800" y="4724400"/>
            <a:ext cx="1644650" cy="366713"/>
          </a:xfrm>
          <a:prstGeom prst="rect">
            <a:avLst/>
          </a:prstGeom>
          <a:noFill/>
          <a:ln w="12700">
            <a:noFill/>
            <a:miter lim="800000"/>
            <a:headEnd/>
            <a:tailEnd/>
          </a:ln>
        </p:spPr>
        <p:txBody>
          <a:bodyPr>
            <a:spAutoFit/>
          </a:bodyPr>
          <a:lstStyle/>
          <a:p>
            <a:r>
              <a:rPr lang="en-US" b="1"/>
              <a:t>Dendrogram</a:t>
            </a:r>
            <a:endParaRPr lang="en-US"/>
          </a:p>
        </p:txBody>
      </p:sp>
      <p:pic>
        <p:nvPicPr>
          <p:cNvPr id="36872" name="Picture 4"/>
          <p:cNvPicPr>
            <a:picLocks noChangeAspect="1" noChangeArrowheads="1"/>
          </p:cNvPicPr>
          <p:nvPr/>
        </p:nvPicPr>
        <p:blipFill>
          <a:blip r:embed="rId3"/>
          <a:srcRect/>
          <a:stretch>
            <a:fillRect/>
          </a:stretch>
        </p:blipFill>
        <p:spPr bwMode="auto">
          <a:xfrm>
            <a:off x="4343400" y="2514600"/>
            <a:ext cx="3535363" cy="2209800"/>
          </a:xfrm>
          <a:prstGeom prst="rect">
            <a:avLst/>
          </a:prstGeom>
          <a:noFill/>
          <a:ln w="12700">
            <a:noFill/>
            <a:miter lim="800000"/>
            <a:headEnd/>
            <a:tailEnd/>
          </a:ln>
        </p:spPr>
      </p:pic>
      <p:grpSp>
        <p:nvGrpSpPr>
          <p:cNvPr id="3" name="Group 5"/>
          <p:cNvGrpSpPr>
            <a:grpSpLocks/>
          </p:cNvGrpSpPr>
          <p:nvPr/>
        </p:nvGrpSpPr>
        <p:grpSpPr bwMode="auto">
          <a:xfrm>
            <a:off x="687388" y="1987550"/>
            <a:ext cx="2901950" cy="2544763"/>
            <a:chOff x="509" y="1252"/>
            <a:chExt cx="1828" cy="1603"/>
          </a:xfrm>
        </p:grpSpPr>
        <p:sp>
          <p:nvSpPr>
            <p:cNvPr id="36889" name="Freeform 6"/>
            <p:cNvSpPr>
              <a:spLocks/>
            </p:cNvSpPr>
            <p:nvPr/>
          </p:nvSpPr>
          <p:spPr bwMode="auto">
            <a:xfrm>
              <a:off x="1058" y="1885"/>
              <a:ext cx="79" cy="81"/>
            </a:xfrm>
            <a:custGeom>
              <a:avLst/>
              <a:gdLst>
                <a:gd name="T0" fmla="*/ 0 w 79"/>
                <a:gd name="T1" fmla="*/ 40 h 81"/>
                <a:gd name="T2" fmla="*/ 2 w 79"/>
                <a:gd name="T3" fmla="*/ 24 h 81"/>
                <a:gd name="T4" fmla="*/ 12 w 79"/>
                <a:gd name="T5" fmla="*/ 12 h 81"/>
                <a:gd name="T6" fmla="*/ 24 w 79"/>
                <a:gd name="T7" fmla="*/ 2 h 81"/>
                <a:gd name="T8" fmla="*/ 40 w 79"/>
                <a:gd name="T9" fmla="*/ 0 h 81"/>
                <a:gd name="T10" fmla="*/ 56 w 79"/>
                <a:gd name="T11" fmla="*/ 2 h 81"/>
                <a:gd name="T12" fmla="*/ 68 w 79"/>
                <a:gd name="T13" fmla="*/ 12 h 81"/>
                <a:gd name="T14" fmla="*/ 77 w 79"/>
                <a:gd name="T15" fmla="*/ 24 h 81"/>
                <a:gd name="T16" fmla="*/ 79 w 79"/>
                <a:gd name="T17" fmla="*/ 40 h 81"/>
                <a:gd name="T18" fmla="*/ 77 w 79"/>
                <a:gd name="T19" fmla="*/ 55 h 81"/>
                <a:gd name="T20" fmla="*/ 68 w 79"/>
                <a:gd name="T21" fmla="*/ 69 h 81"/>
                <a:gd name="T22" fmla="*/ 56 w 79"/>
                <a:gd name="T23" fmla="*/ 77 h 81"/>
                <a:gd name="T24" fmla="*/ 40 w 79"/>
                <a:gd name="T25" fmla="*/ 81 h 81"/>
                <a:gd name="T26" fmla="*/ 24 w 79"/>
                <a:gd name="T27" fmla="*/ 77 h 81"/>
                <a:gd name="T28" fmla="*/ 12 w 79"/>
                <a:gd name="T29" fmla="*/ 69 h 81"/>
                <a:gd name="T30" fmla="*/ 2 w 79"/>
                <a:gd name="T31" fmla="*/ 55 h 81"/>
                <a:gd name="T32" fmla="*/ 0 w 79"/>
                <a:gd name="T33" fmla="*/ 4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9"/>
                <a:gd name="T52" fmla="*/ 0 h 81"/>
                <a:gd name="T53" fmla="*/ 79 w 79"/>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9" h="81">
                  <a:moveTo>
                    <a:pt x="0" y="40"/>
                  </a:moveTo>
                  <a:lnTo>
                    <a:pt x="2" y="24"/>
                  </a:lnTo>
                  <a:lnTo>
                    <a:pt x="12" y="12"/>
                  </a:lnTo>
                  <a:lnTo>
                    <a:pt x="24" y="2"/>
                  </a:lnTo>
                  <a:lnTo>
                    <a:pt x="40" y="0"/>
                  </a:lnTo>
                  <a:lnTo>
                    <a:pt x="56" y="2"/>
                  </a:lnTo>
                  <a:lnTo>
                    <a:pt x="68" y="12"/>
                  </a:lnTo>
                  <a:lnTo>
                    <a:pt x="77" y="24"/>
                  </a:lnTo>
                  <a:lnTo>
                    <a:pt x="79" y="40"/>
                  </a:lnTo>
                  <a:lnTo>
                    <a:pt x="77" y="55"/>
                  </a:lnTo>
                  <a:lnTo>
                    <a:pt x="68" y="69"/>
                  </a:lnTo>
                  <a:lnTo>
                    <a:pt x="56" y="77"/>
                  </a:lnTo>
                  <a:lnTo>
                    <a:pt x="40" y="81"/>
                  </a:lnTo>
                  <a:lnTo>
                    <a:pt x="24" y="77"/>
                  </a:lnTo>
                  <a:lnTo>
                    <a:pt x="12" y="69"/>
                  </a:lnTo>
                  <a:lnTo>
                    <a:pt x="2" y="55"/>
                  </a:lnTo>
                  <a:lnTo>
                    <a:pt x="0" y="40"/>
                  </a:lnTo>
                  <a:close/>
                </a:path>
              </a:pathLst>
            </a:custGeom>
            <a:solidFill>
              <a:srgbClr val="1A1A1A"/>
            </a:solidFill>
            <a:ln w="3175">
              <a:solidFill>
                <a:srgbClr val="000000"/>
              </a:solidFill>
              <a:round/>
              <a:headEnd/>
              <a:tailEnd/>
            </a:ln>
          </p:spPr>
          <p:txBody>
            <a:bodyPr/>
            <a:lstStyle/>
            <a:p>
              <a:endParaRPr lang="en-US"/>
            </a:p>
          </p:txBody>
        </p:sp>
        <p:sp>
          <p:nvSpPr>
            <p:cNvPr id="36890" name="Freeform 7"/>
            <p:cNvSpPr>
              <a:spLocks/>
            </p:cNvSpPr>
            <p:nvPr/>
          </p:nvSpPr>
          <p:spPr bwMode="auto">
            <a:xfrm>
              <a:off x="1810" y="1300"/>
              <a:ext cx="81" cy="81"/>
            </a:xfrm>
            <a:custGeom>
              <a:avLst/>
              <a:gdLst>
                <a:gd name="T0" fmla="*/ 0 w 81"/>
                <a:gd name="T1" fmla="*/ 39 h 81"/>
                <a:gd name="T2" fmla="*/ 2 w 81"/>
                <a:gd name="T3" fmla="*/ 23 h 81"/>
                <a:gd name="T4" fmla="*/ 11 w 81"/>
                <a:gd name="T5" fmla="*/ 12 h 81"/>
                <a:gd name="T6" fmla="*/ 23 w 81"/>
                <a:gd name="T7" fmla="*/ 2 h 81"/>
                <a:gd name="T8" fmla="*/ 39 w 81"/>
                <a:gd name="T9" fmla="*/ 0 h 81"/>
                <a:gd name="T10" fmla="*/ 55 w 81"/>
                <a:gd name="T11" fmla="*/ 2 h 81"/>
                <a:gd name="T12" fmla="*/ 69 w 81"/>
                <a:gd name="T13" fmla="*/ 12 h 81"/>
                <a:gd name="T14" fmla="*/ 77 w 81"/>
                <a:gd name="T15" fmla="*/ 23 h 81"/>
                <a:gd name="T16" fmla="*/ 81 w 81"/>
                <a:gd name="T17" fmla="*/ 39 h 81"/>
                <a:gd name="T18" fmla="*/ 77 w 81"/>
                <a:gd name="T19" fmla="*/ 55 h 81"/>
                <a:gd name="T20" fmla="*/ 69 w 81"/>
                <a:gd name="T21" fmla="*/ 69 h 81"/>
                <a:gd name="T22" fmla="*/ 55 w 81"/>
                <a:gd name="T23" fmla="*/ 77 h 81"/>
                <a:gd name="T24" fmla="*/ 39 w 81"/>
                <a:gd name="T25" fmla="*/ 81 h 81"/>
                <a:gd name="T26" fmla="*/ 23 w 81"/>
                <a:gd name="T27" fmla="*/ 77 h 81"/>
                <a:gd name="T28" fmla="*/ 11 w 81"/>
                <a:gd name="T29" fmla="*/ 69 h 81"/>
                <a:gd name="T30" fmla="*/ 2 w 81"/>
                <a:gd name="T31" fmla="*/ 55 h 81"/>
                <a:gd name="T32" fmla="*/ 0 w 81"/>
                <a:gd name="T33" fmla="*/ 39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39"/>
                  </a:moveTo>
                  <a:lnTo>
                    <a:pt x="2" y="23"/>
                  </a:lnTo>
                  <a:lnTo>
                    <a:pt x="11" y="12"/>
                  </a:lnTo>
                  <a:lnTo>
                    <a:pt x="23" y="2"/>
                  </a:lnTo>
                  <a:lnTo>
                    <a:pt x="39" y="0"/>
                  </a:lnTo>
                  <a:lnTo>
                    <a:pt x="55" y="2"/>
                  </a:lnTo>
                  <a:lnTo>
                    <a:pt x="69" y="12"/>
                  </a:lnTo>
                  <a:lnTo>
                    <a:pt x="77" y="23"/>
                  </a:lnTo>
                  <a:lnTo>
                    <a:pt x="81" y="39"/>
                  </a:lnTo>
                  <a:lnTo>
                    <a:pt x="77" y="55"/>
                  </a:lnTo>
                  <a:lnTo>
                    <a:pt x="69" y="69"/>
                  </a:lnTo>
                  <a:lnTo>
                    <a:pt x="55" y="77"/>
                  </a:lnTo>
                  <a:lnTo>
                    <a:pt x="39" y="81"/>
                  </a:lnTo>
                  <a:lnTo>
                    <a:pt x="23" y="77"/>
                  </a:lnTo>
                  <a:lnTo>
                    <a:pt x="11" y="69"/>
                  </a:lnTo>
                  <a:lnTo>
                    <a:pt x="2" y="55"/>
                  </a:lnTo>
                  <a:lnTo>
                    <a:pt x="0" y="39"/>
                  </a:lnTo>
                  <a:close/>
                </a:path>
              </a:pathLst>
            </a:custGeom>
            <a:solidFill>
              <a:srgbClr val="1A1A1A"/>
            </a:solidFill>
            <a:ln w="3175">
              <a:solidFill>
                <a:srgbClr val="000000"/>
              </a:solidFill>
              <a:round/>
              <a:headEnd/>
              <a:tailEnd/>
            </a:ln>
          </p:spPr>
          <p:txBody>
            <a:bodyPr/>
            <a:lstStyle/>
            <a:p>
              <a:endParaRPr lang="en-US"/>
            </a:p>
          </p:txBody>
        </p:sp>
        <p:sp>
          <p:nvSpPr>
            <p:cNvPr id="36891" name="Freeform 8"/>
            <p:cNvSpPr>
              <a:spLocks/>
            </p:cNvSpPr>
            <p:nvPr/>
          </p:nvSpPr>
          <p:spPr bwMode="auto">
            <a:xfrm>
              <a:off x="1262" y="2683"/>
              <a:ext cx="81" cy="81"/>
            </a:xfrm>
            <a:custGeom>
              <a:avLst/>
              <a:gdLst>
                <a:gd name="T0" fmla="*/ 0 w 81"/>
                <a:gd name="T1" fmla="*/ 40 h 81"/>
                <a:gd name="T2" fmla="*/ 2 w 81"/>
                <a:gd name="T3" fmla="*/ 24 h 81"/>
                <a:gd name="T4" fmla="*/ 12 w 81"/>
                <a:gd name="T5" fmla="*/ 12 h 81"/>
                <a:gd name="T6" fmla="*/ 24 w 81"/>
                <a:gd name="T7" fmla="*/ 2 h 81"/>
                <a:gd name="T8" fmla="*/ 40 w 81"/>
                <a:gd name="T9" fmla="*/ 0 h 81"/>
                <a:gd name="T10" fmla="*/ 55 w 81"/>
                <a:gd name="T11" fmla="*/ 2 h 81"/>
                <a:gd name="T12" fmla="*/ 69 w 81"/>
                <a:gd name="T13" fmla="*/ 12 h 81"/>
                <a:gd name="T14" fmla="*/ 77 w 81"/>
                <a:gd name="T15" fmla="*/ 24 h 81"/>
                <a:gd name="T16" fmla="*/ 81 w 81"/>
                <a:gd name="T17" fmla="*/ 40 h 81"/>
                <a:gd name="T18" fmla="*/ 77 w 81"/>
                <a:gd name="T19" fmla="*/ 56 h 81"/>
                <a:gd name="T20" fmla="*/ 69 w 81"/>
                <a:gd name="T21" fmla="*/ 69 h 81"/>
                <a:gd name="T22" fmla="*/ 55 w 81"/>
                <a:gd name="T23" fmla="*/ 77 h 81"/>
                <a:gd name="T24" fmla="*/ 40 w 81"/>
                <a:gd name="T25" fmla="*/ 81 h 81"/>
                <a:gd name="T26" fmla="*/ 24 w 81"/>
                <a:gd name="T27" fmla="*/ 77 h 81"/>
                <a:gd name="T28" fmla="*/ 12 w 81"/>
                <a:gd name="T29" fmla="*/ 69 h 81"/>
                <a:gd name="T30" fmla="*/ 2 w 81"/>
                <a:gd name="T31" fmla="*/ 56 h 81"/>
                <a:gd name="T32" fmla="*/ 0 w 81"/>
                <a:gd name="T33" fmla="*/ 4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40"/>
                  </a:moveTo>
                  <a:lnTo>
                    <a:pt x="2" y="24"/>
                  </a:lnTo>
                  <a:lnTo>
                    <a:pt x="12" y="12"/>
                  </a:lnTo>
                  <a:lnTo>
                    <a:pt x="24" y="2"/>
                  </a:lnTo>
                  <a:lnTo>
                    <a:pt x="40" y="0"/>
                  </a:lnTo>
                  <a:lnTo>
                    <a:pt x="55" y="2"/>
                  </a:lnTo>
                  <a:lnTo>
                    <a:pt x="69" y="12"/>
                  </a:lnTo>
                  <a:lnTo>
                    <a:pt x="77" y="24"/>
                  </a:lnTo>
                  <a:lnTo>
                    <a:pt x="81" y="40"/>
                  </a:lnTo>
                  <a:lnTo>
                    <a:pt x="77" y="56"/>
                  </a:lnTo>
                  <a:lnTo>
                    <a:pt x="69" y="69"/>
                  </a:lnTo>
                  <a:lnTo>
                    <a:pt x="55" y="77"/>
                  </a:lnTo>
                  <a:lnTo>
                    <a:pt x="40" y="81"/>
                  </a:lnTo>
                  <a:lnTo>
                    <a:pt x="24" y="77"/>
                  </a:lnTo>
                  <a:lnTo>
                    <a:pt x="12" y="69"/>
                  </a:lnTo>
                  <a:lnTo>
                    <a:pt x="2" y="56"/>
                  </a:lnTo>
                  <a:lnTo>
                    <a:pt x="0" y="40"/>
                  </a:lnTo>
                  <a:close/>
                </a:path>
              </a:pathLst>
            </a:custGeom>
            <a:solidFill>
              <a:srgbClr val="1A1A1A"/>
            </a:solidFill>
            <a:ln w="3175">
              <a:solidFill>
                <a:srgbClr val="000000"/>
              </a:solidFill>
              <a:round/>
              <a:headEnd/>
              <a:tailEnd/>
            </a:ln>
          </p:spPr>
          <p:txBody>
            <a:bodyPr/>
            <a:lstStyle/>
            <a:p>
              <a:endParaRPr lang="en-US"/>
            </a:p>
          </p:txBody>
        </p:sp>
        <p:sp>
          <p:nvSpPr>
            <p:cNvPr id="36892" name="Freeform 9"/>
            <p:cNvSpPr>
              <a:spLocks/>
            </p:cNvSpPr>
            <p:nvPr/>
          </p:nvSpPr>
          <p:spPr bwMode="auto">
            <a:xfrm>
              <a:off x="509" y="1769"/>
              <a:ext cx="81" cy="81"/>
            </a:xfrm>
            <a:custGeom>
              <a:avLst/>
              <a:gdLst>
                <a:gd name="T0" fmla="*/ 0 w 81"/>
                <a:gd name="T1" fmla="*/ 41 h 81"/>
                <a:gd name="T2" fmla="*/ 2 w 81"/>
                <a:gd name="T3" fmla="*/ 25 h 81"/>
                <a:gd name="T4" fmla="*/ 12 w 81"/>
                <a:gd name="T5" fmla="*/ 12 h 81"/>
                <a:gd name="T6" fmla="*/ 24 w 81"/>
                <a:gd name="T7" fmla="*/ 4 h 81"/>
                <a:gd name="T8" fmla="*/ 39 w 81"/>
                <a:gd name="T9" fmla="*/ 0 h 81"/>
                <a:gd name="T10" fmla="*/ 55 w 81"/>
                <a:gd name="T11" fmla="*/ 4 h 81"/>
                <a:gd name="T12" fmla="*/ 69 w 81"/>
                <a:gd name="T13" fmla="*/ 12 h 81"/>
                <a:gd name="T14" fmla="*/ 77 w 81"/>
                <a:gd name="T15" fmla="*/ 25 h 81"/>
                <a:gd name="T16" fmla="*/ 81 w 81"/>
                <a:gd name="T17" fmla="*/ 41 h 81"/>
                <a:gd name="T18" fmla="*/ 77 w 81"/>
                <a:gd name="T19" fmla="*/ 57 h 81"/>
                <a:gd name="T20" fmla="*/ 69 w 81"/>
                <a:gd name="T21" fmla="*/ 69 h 81"/>
                <a:gd name="T22" fmla="*/ 55 w 81"/>
                <a:gd name="T23" fmla="*/ 79 h 81"/>
                <a:gd name="T24" fmla="*/ 39 w 81"/>
                <a:gd name="T25" fmla="*/ 81 h 81"/>
                <a:gd name="T26" fmla="*/ 24 w 81"/>
                <a:gd name="T27" fmla="*/ 79 h 81"/>
                <a:gd name="T28" fmla="*/ 12 w 81"/>
                <a:gd name="T29" fmla="*/ 69 h 81"/>
                <a:gd name="T30" fmla="*/ 2 w 81"/>
                <a:gd name="T31" fmla="*/ 57 h 81"/>
                <a:gd name="T32" fmla="*/ 0 w 81"/>
                <a:gd name="T33" fmla="*/ 41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41"/>
                  </a:moveTo>
                  <a:lnTo>
                    <a:pt x="2" y="25"/>
                  </a:lnTo>
                  <a:lnTo>
                    <a:pt x="12" y="12"/>
                  </a:lnTo>
                  <a:lnTo>
                    <a:pt x="24" y="4"/>
                  </a:lnTo>
                  <a:lnTo>
                    <a:pt x="39" y="0"/>
                  </a:lnTo>
                  <a:lnTo>
                    <a:pt x="55" y="4"/>
                  </a:lnTo>
                  <a:lnTo>
                    <a:pt x="69" y="12"/>
                  </a:lnTo>
                  <a:lnTo>
                    <a:pt x="77" y="25"/>
                  </a:lnTo>
                  <a:lnTo>
                    <a:pt x="81" y="41"/>
                  </a:lnTo>
                  <a:lnTo>
                    <a:pt x="77" y="57"/>
                  </a:lnTo>
                  <a:lnTo>
                    <a:pt x="69" y="69"/>
                  </a:lnTo>
                  <a:lnTo>
                    <a:pt x="55" y="79"/>
                  </a:lnTo>
                  <a:lnTo>
                    <a:pt x="39" y="81"/>
                  </a:lnTo>
                  <a:lnTo>
                    <a:pt x="24" y="79"/>
                  </a:lnTo>
                  <a:lnTo>
                    <a:pt x="12" y="69"/>
                  </a:lnTo>
                  <a:lnTo>
                    <a:pt x="2" y="57"/>
                  </a:lnTo>
                  <a:lnTo>
                    <a:pt x="0" y="41"/>
                  </a:lnTo>
                  <a:close/>
                </a:path>
              </a:pathLst>
            </a:custGeom>
            <a:solidFill>
              <a:srgbClr val="1A1A1A"/>
            </a:solidFill>
            <a:ln w="3175">
              <a:solidFill>
                <a:srgbClr val="000000"/>
              </a:solidFill>
              <a:round/>
              <a:headEnd/>
              <a:tailEnd/>
            </a:ln>
          </p:spPr>
          <p:txBody>
            <a:bodyPr/>
            <a:lstStyle/>
            <a:p>
              <a:endParaRPr lang="en-US"/>
            </a:p>
          </p:txBody>
        </p:sp>
        <p:sp>
          <p:nvSpPr>
            <p:cNvPr id="36893" name="Freeform 10"/>
            <p:cNvSpPr>
              <a:spLocks/>
            </p:cNvSpPr>
            <p:nvPr/>
          </p:nvSpPr>
          <p:spPr bwMode="auto">
            <a:xfrm>
              <a:off x="1586" y="2167"/>
              <a:ext cx="81" cy="79"/>
            </a:xfrm>
            <a:custGeom>
              <a:avLst/>
              <a:gdLst>
                <a:gd name="T0" fmla="*/ 0 w 81"/>
                <a:gd name="T1" fmla="*/ 39 h 79"/>
                <a:gd name="T2" fmla="*/ 4 w 81"/>
                <a:gd name="T3" fmla="*/ 24 h 79"/>
                <a:gd name="T4" fmla="*/ 12 w 81"/>
                <a:gd name="T5" fmla="*/ 12 h 79"/>
                <a:gd name="T6" fmla="*/ 26 w 81"/>
                <a:gd name="T7" fmla="*/ 2 h 79"/>
                <a:gd name="T8" fmla="*/ 42 w 81"/>
                <a:gd name="T9" fmla="*/ 0 h 79"/>
                <a:gd name="T10" fmla="*/ 58 w 81"/>
                <a:gd name="T11" fmla="*/ 2 h 79"/>
                <a:gd name="T12" fmla="*/ 69 w 81"/>
                <a:gd name="T13" fmla="*/ 12 h 79"/>
                <a:gd name="T14" fmla="*/ 79 w 81"/>
                <a:gd name="T15" fmla="*/ 24 h 79"/>
                <a:gd name="T16" fmla="*/ 81 w 81"/>
                <a:gd name="T17" fmla="*/ 39 h 79"/>
                <a:gd name="T18" fmla="*/ 79 w 81"/>
                <a:gd name="T19" fmla="*/ 55 h 79"/>
                <a:gd name="T20" fmla="*/ 69 w 81"/>
                <a:gd name="T21" fmla="*/ 67 h 79"/>
                <a:gd name="T22" fmla="*/ 58 w 81"/>
                <a:gd name="T23" fmla="*/ 77 h 79"/>
                <a:gd name="T24" fmla="*/ 42 w 81"/>
                <a:gd name="T25" fmla="*/ 79 h 79"/>
                <a:gd name="T26" fmla="*/ 26 w 81"/>
                <a:gd name="T27" fmla="*/ 77 h 79"/>
                <a:gd name="T28" fmla="*/ 12 w 81"/>
                <a:gd name="T29" fmla="*/ 67 h 79"/>
                <a:gd name="T30" fmla="*/ 4 w 81"/>
                <a:gd name="T31" fmla="*/ 55 h 79"/>
                <a:gd name="T32" fmla="*/ 0 w 81"/>
                <a:gd name="T33" fmla="*/ 39 h 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79"/>
                <a:gd name="T53" fmla="*/ 81 w 81"/>
                <a:gd name="T54" fmla="*/ 79 h 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79">
                  <a:moveTo>
                    <a:pt x="0" y="39"/>
                  </a:moveTo>
                  <a:lnTo>
                    <a:pt x="4" y="24"/>
                  </a:lnTo>
                  <a:lnTo>
                    <a:pt x="12" y="12"/>
                  </a:lnTo>
                  <a:lnTo>
                    <a:pt x="26" y="2"/>
                  </a:lnTo>
                  <a:lnTo>
                    <a:pt x="42" y="0"/>
                  </a:lnTo>
                  <a:lnTo>
                    <a:pt x="58" y="2"/>
                  </a:lnTo>
                  <a:lnTo>
                    <a:pt x="69" y="12"/>
                  </a:lnTo>
                  <a:lnTo>
                    <a:pt x="79" y="24"/>
                  </a:lnTo>
                  <a:lnTo>
                    <a:pt x="81" y="39"/>
                  </a:lnTo>
                  <a:lnTo>
                    <a:pt x="79" y="55"/>
                  </a:lnTo>
                  <a:lnTo>
                    <a:pt x="69" y="67"/>
                  </a:lnTo>
                  <a:lnTo>
                    <a:pt x="58" y="77"/>
                  </a:lnTo>
                  <a:lnTo>
                    <a:pt x="42" y="79"/>
                  </a:lnTo>
                  <a:lnTo>
                    <a:pt x="26" y="77"/>
                  </a:lnTo>
                  <a:lnTo>
                    <a:pt x="12" y="67"/>
                  </a:lnTo>
                  <a:lnTo>
                    <a:pt x="4" y="55"/>
                  </a:lnTo>
                  <a:lnTo>
                    <a:pt x="0" y="39"/>
                  </a:lnTo>
                  <a:close/>
                </a:path>
              </a:pathLst>
            </a:custGeom>
            <a:solidFill>
              <a:srgbClr val="1A1A1A"/>
            </a:solidFill>
            <a:ln w="3175">
              <a:solidFill>
                <a:srgbClr val="000000"/>
              </a:solidFill>
              <a:round/>
              <a:headEnd/>
              <a:tailEnd/>
            </a:ln>
          </p:spPr>
          <p:txBody>
            <a:bodyPr/>
            <a:lstStyle/>
            <a:p>
              <a:endParaRPr lang="en-US"/>
            </a:p>
          </p:txBody>
        </p:sp>
        <p:sp>
          <p:nvSpPr>
            <p:cNvPr id="36894" name="Freeform 11"/>
            <p:cNvSpPr>
              <a:spLocks/>
            </p:cNvSpPr>
            <p:nvPr/>
          </p:nvSpPr>
          <p:spPr bwMode="auto">
            <a:xfrm>
              <a:off x="2029" y="2220"/>
              <a:ext cx="81" cy="81"/>
            </a:xfrm>
            <a:custGeom>
              <a:avLst/>
              <a:gdLst>
                <a:gd name="T0" fmla="*/ 0 w 81"/>
                <a:gd name="T1" fmla="*/ 40 h 81"/>
                <a:gd name="T2" fmla="*/ 2 w 81"/>
                <a:gd name="T3" fmla="*/ 26 h 81"/>
                <a:gd name="T4" fmla="*/ 12 w 81"/>
                <a:gd name="T5" fmla="*/ 12 h 81"/>
                <a:gd name="T6" fmla="*/ 24 w 81"/>
                <a:gd name="T7" fmla="*/ 4 h 81"/>
                <a:gd name="T8" fmla="*/ 40 w 81"/>
                <a:gd name="T9" fmla="*/ 0 h 81"/>
                <a:gd name="T10" fmla="*/ 55 w 81"/>
                <a:gd name="T11" fmla="*/ 4 h 81"/>
                <a:gd name="T12" fmla="*/ 69 w 81"/>
                <a:gd name="T13" fmla="*/ 12 h 81"/>
                <a:gd name="T14" fmla="*/ 77 w 81"/>
                <a:gd name="T15" fmla="*/ 26 h 81"/>
                <a:gd name="T16" fmla="*/ 81 w 81"/>
                <a:gd name="T17" fmla="*/ 40 h 81"/>
                <a:gd name="T18" fmla="*/ 77 w 81"/>
                <a:gd name="T19" fmla="*/ 55 h 81"/>
                <a:gd name="T20" fmla="*/ 69 w 81"/>
                <a:gd name="T21" fmla="*/ 69 h 81"/>
                <a:gd name="T22" fmla="*/ 55 w 81"/>
                <a:gd name="T23" fmla="*/ 77 h 81"/>
                <a:gd name="T24" fmla="*/ 40 w 81"/>
                <a:gd name="T25" fmla="*/ 81 h 81"/>
                <a:gd name="T26" fmla="*/ 24 w 81"/>
                <a:gd name="T27" fmla="*/ 77 h 81"/>
                <a:gd name="T28" fmla="*/ 12 w 81"/>
                <a:gd name="T29" fmla="*/ 69 h 81"/>
                <a:gd name="T30" fmla="*/ 2 w 81"/>
                <a:gd name="T31" fmla="*/ 55 h 81"/>
                <a:gd name="T32" fmla="*/ 0 w 81"/>
                <a:gd name="T33" fmla="*/ 40 h 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1"/>
                <a:gd name="T52" fmla="*/ 0 h 81"/>
                <a:gd name="T53" fmla="*/ 81 w 81"/>
                <a:gd name="T54" fmla="*/ 81 h 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1" h="81">
                  <a:moveTo>
                    <a:pt x="0" y="40"/>
                  </a:moveTo>
                  <a:lnTo>
                    <a:pt x="2" y="26"/>
                  </a:lnTo>
                  <a:lnTo>
                    <a:pt x="12" y="12"/>
                  </a:lnTo>
                  <a:lnTo>
                    <a:pt x="24" y="4"/>
                  </a:lnTo>
                  <a:lnTo>
                    <a:pt x="40" y="0"/>
                  </a:lnTo>
                  <a:lnTo>
                    <a:pt x="55" y="4"/>
                  </a:lnTo>
                  <a:lnTo>
                    <a:pt x="69" y="12"/>
                  </a:lnTo>
                  <a:lnTo>
                    <a:pt x="77" y="26"/>
                  </a:lnTo>
                  <a:lnTo>
                    <a:pt x="81" y="40"/>
                  </a:lnTo>
                  <a:lnTo>
                    <a:pt x="77" y="55"/>
                  </a:lnTo>
                  <a:lnTo>
                    <a:pt x="69" y="69"/>
                  </a:lnTo>
                  <a:lnTo>
                    <a:pt x="55" y="77"/>
                  </a:lnTo>
                  <a:lnTo>
                    <a:pt x="40" y="81"/>
                  </a:lnTo>
                  <a:lnTo>
                    <a:pt x="24" y="77"/>
                  </a:lnTo>
                  <a:lnTo>
                    <a:pt x="12" y="69"/>
                  </a:lnTo>
                  <a:lnTo>
                    <a:pt x="2" y="55"/>
                  </a:lnTo>
                  <a:lnTo>
                    <a:pt x="0" y="40"/>
                  </a:lnTo>
                  <a:close/>
                </a:path>
              </a:pathLst>
            </a:custGeom>
            <a:solidFill>
              <a:srgbClr val="1A1A1A"/>
            </a:solidFill>
            <a:ln w="3175">
              <a:solidFill>
                <a:srgbClr val="000000"/>
              </a:solidFill>
              <a:round/>
              <a:headEnd/>
              <a:tailEnd/>
            </a:ln>
          </p:spPr>
          <p:txBody>
            <a:bodyPr/>
            <a:lstStyle/>
            <a:p>
              <a:endParaRPr lang="en-US"/>
            </a:p>
          </p:txBody>
        </p:sp>
        <p:sp>
          <p:nvSpPr>
            <p:cNvPr id="36895" name="Rectangle 12"/>
            <p:cNvSpPr>
              <a:spLocks noChangeArrowheads="1"/>
            </p:cNvSpPr>
            <p:nvPr/>
          </p:nvSpPr>
          <p:spPr bwMode="auto">
            <a:xfrm>
              <a:off x="1908" y="1252"/>
              <a:ext cx="150" cy="217"/>
            </a:xfrm>
            <a:prstGeom prst="rect">
              <a:avLst/>
            </a:prstGeom>
            <a:noFill/>
            <a:ln w="9525">
              <a:noFill/>
              <a:miter lim="800000"/>
              <a:headEnd/>
              <a:tailEnd/>
            </a:ln>
          </p:spPr>
          <p:txBody>
            <a:bodyPr wrap="none" lIns="0" tIns="0" rIns="0" bIns="0">
              <a:spAutoFit/>
            </a:bodyPr>
            <a:lstStyle/>
            <a:p>
              <a:r>
                <a:rPr lang="en-US" sz="2000" b="1">
                  <a:solidFill>
                    <a:srgbClr val="000000"/>
                  </a:solidFill>
                  <a:latin typeface="Times New Roman" pitchFamily="18" charset="0"/>
                </a:rPr>
                <a:t>1</a:t>
              </a:r>
              <a:endParaRPr lang="en-US"/>
            </a:p>
          </p:txBody>
        </p:sp>
        <p:sp>
          <p:nvSpPr>
            <p:cNvPr id="36896" name="Rectangle 13"/>
            <p:cNvSpPr>
              <a:spLocks noChangeArrowheads="1"/>
            </p:cNvSpPr>
            <p:nvPr/>
          </p:nvSpPr>
          <p:spPr bwMode="auto">
            <a:xfrm>
              <a:off x="1163" y="1832"/>
              <a:ext cx="150" cy="217"/>
            </a:xfrm>
            <a:prstGeom prst="rect">
              <a:avLst/>
            </a:prstGeom>
            <a:noFill/>
            <a:ln w="9525">
              <a:noFill/>
              <a:miter lim="800000"/>
              <a:headEnd/>
              <a:tailEnd/>
            </a:ln>
          </p:spPr>
          <p:txBody>
            <a:bodyPr wrap="none" lIns="0" tIns="0" rIns="0" bIns="0">
              <a:spAutoFit/>
            </a:bodyPr>
            <a:lstStyle/>
            <a:p>
              <a:r>
                <a:rPr lang="en-US" sz="2000" b="1">
                  <a:solidFill>
                    <a:srgbClr val="000000"/>
                  </a:solidFill>
                  <a:latin typeface="Times New Roman" pitchFamily="18" charset="0"/>
                </a:rPr>
                <a:t>2</a:t>
              </a:r>
              <a:endParaRPr lang="en-US"/>
            </a:p>
          </p:txBody>
        </p:sp>
        <p:sp>
          <p:nvSpPr>
            <p:cNvPr id="36897" name="Rectangle 14"/>
            <p:cNvSpPr>
              <a:spLocks noChangeArrowheads="1"/>
            </p:cNvSpPr>
            <p:nvPr/>
          </p:nvSpPr>
          <p:spPr bwMode="auto">
            <a:xfrm>
              <a:off x="1732" y="2121"/>
              <a:ext cx="150" cy="217"/>
            </a:xfrm>
            <a:prstGeom prst="rect">
              <a:avLst/>
            </a:prstGeom>
            <a:noFill/>
            <a:ln w="9525">
              <a:noFill/>
              <a:miter lim="800000"/>
              <a:headEnd/>
              <a:tailEnd/>
            </a:ln>
          </p:spPr>
          <p:txBody>
            <a:bodyPr wrap="none" lIns="0" tIns="0" rIns="0" bIns="0">
              <a:spAutoFit/>
            </a:bodyPr>
            <a:lstStyle/>
            <a:p>
              <a:r>
                <a:rPr lang="en-US" sz="2000" b="1">
                  <a:solidFill>
                    <a:srgbClr val="000000"/>
                  </a:solidFill>
                  <a:latin typeface="Times New Roman" pitchFamily="18" charset="0"/>
                </a:rPr>
                <a:t>3</a:t>
              </a:r>
              <a:endParaRPr lang="en-US"/>
            </a:p>
          </p:txBody>
        </p:sp>
        <p:sp>
          <p:nvSpPr>
            <p:cNvPr id="36898" name="Rectangle 15"/>
            <p:cNvSpPr>
              <a:spLocks noChangeArrowheads="1"/>
            </p:cNvSpPr>
            <p:nvPr/>
          </p:nvSpPr>
          <p:spPr bwMode="auto">
            <a:xfrm>
              <a:off x="1379" y="2638"/>
              <a:ext cx="150" cy="217"/>
            </a:xfrm>
            <a:prstGeom prst="rect">
              <a:avLst/>
            </a:prstGeom>
            <a:noFill/>
            <a:ln w="9525">
              <a:noFill/>
              <a:miter lim="800000"/>
              <a:headEnd/>
              <a:tailEnd/>
            </a:ln>
          </p:spPr>
          <p:txBody>
            <a:bodyPr wrap="none" lIns="0" tIns="0" rIns="0" bIns="0">
              <a:spAutoFit/>
            </a:bodyPr>
            <a:lstStyle/>
            <a:p>
              <a:r>
                <a:rPr lang="en-US" sz="2000" b="1">
                  <a:solidFill>
                    <a:srgbClr val="000000"/>
                  </a:solidFill>
                  <a:latin typeface="Times New Roman" pitchFamily="18" charset="0"/>
                </a:rPr>
                <a:t>4</a:t>
              </a:r>
              <a:endParaRPr lang="en-US"/>
            </a:p>
          </p:txBody>
        </p:sp>
        <p:sp>
          <p:nvSpPr>
            <p:cNvPr id="36899" name="Rectangle 16"/>
            <p:cNvSpPr>
              <a:spLocks noChangeArrowheads="1"/>
            </p:cNvSpPr>
            <p:nvPr/>
          </p:nvSpPr>
          <p:spPr bwMode="auto">
            <a:xfrm>
              <a:off x="631" y="1719"/>
              <a:ext cx="150" cy="217"/>
            </a:xfrm>
            <a:prstGeom prst="rect">
              <a:avLst/>
            </a:prstGeom>
            <a:noFill/>
            <a:ln w="9525">
              <a:noFill/>
              <a:miter lim="800000"/>
              <a:headEnd/>
              <a:tailEnd/>
            </a:ln>
          </p:spPr>
          <p:txBody>
            <a:bodyPr wrap="none" lIns="0" tIns="0" rIns="0" bIns="0">
              <a:spAutoFit/>
            </a:bodyPr>
            <a:lstStyle/>
            <a:p>
              <a:r>
                <a:rPr lang="en-US" sz="2000" b="1">
                  <a:solidFill>
                    <a:srgbClr val="000000"/>
                  </a:solidFill>
                  <a:latin typeface="Times New Roman" pitchFamily="18" charset="0"/>
                </a:rPr>
                <a:t>5</a:t>
              </a:r>
              <a:endParaRPr lang="en-US"/>
            </a:p>
          </p:txBody>
        </p:sp>
        <p:sp>
          <p:nvSpPr>
            <p:cNvPr id="36900" name="Rectangle 17"/>
            <p:cNvSpPr>
              <a:spLocks noChangeArrowheads="1"/>
            </p:cNvSpPr>
            <p:nvPr/>
          </p:nvSpPr>
          <p:spPr bwMode="auto">
            <a:xfrm>
              <a:off x="2187" y="2173"/>
              <a:ext cx="150" cy="217"/>
            </a:xfrm>
            <a:prstGeom prst="rect">
              <a:avLst/>
            </a:prstGeom>
            <a:noFill/>
            <a:ln w="9525">
              <a:noFill/>
              <a:miter lim="800000"/>
              <a:headEnd/>
              <a:tailEnd/>
            </a:ln>
          </p:spPr>
          <p:txBody>
            <a:bodyPr wrap="none" lIns="0" tIns="0" rIns="0" bIns="0">
              <a:spAutoFit/>
            </a:bodyPr>
            <a:lstStyle/>
            <a:p>
              <a:r>
                <a:rPr lang="en-US" sz="2000" b="1">
                  <a:solidFill>
                    <a:srgbClr val="000000"/>
                  </a:solidFill>
                  <a:latin typeface="Times New Roman" pitchFamily="18" charset="0"/>
                </a:rPr>
                <a:t>6</a:t>
              </a:r>
              <a:endParaRPr lang="en-US"/>
            </a:p>
          </p:txBody>
        </p:sp>
      </p:grpSp>
      <p:grpSp>
        <p:nvGrpSpPr>
          <p:cNvPr id="4" name="Group 18"/>
          <p:cNvGrpSpPr>
            <a:grpSpLocks/>
          </p:cNvGrpSpPr>
          <p:nvPr/>
        </p:nvGrpSpPr>
        <p:grpSpPr bwMode="auto">
          <a:xfrm>
            <a:off x="2284413" y="3273425"/>
            <a:ext cx="1301750" cy="889000"/>
            <a:chOff x="1515" y="2062"/>
            <a:chExt cx="820" cy="560"/>
          </a:xfrm>
        </p:grpSpPr>
        <p:sp>
          <p:nvSpPr>
            <p:cNvPr id="36887" name="Freeform 19"/>
            <p:cNvSpPr>
              <a:spLocks/>
            </p:cNvSpPr>
            <p:nvPr/>
          </p:nvSpPr>
          <p:spPr bwMode="auto">
            <a:xfrm>
              <a:off x="1515" y="2062"/>
              <a:ext cx="820" cy="343"/>
            </a:xfrm>
            <a:custGeom>
              <a:avLst/>
              <a:gdLst>
                <a:gd name="T0" fmla="*/ 409 w 820"/>
                <a:gd name="T1" fmla="*/ 0 h 343"/>
                <a:gd name="T2" fmla="*/ 467 w 820"/>
                <a:gd name="T3" fmla="*/ 2 h 343"/>
                <a:gd name="T4" fmla="*/ 520 w 820"/>
                <a:gd name="T5" fmla="*/ 8 h 343"/>
                <a:gd name="T6" fmla="*/ 573 w 820"/>
                <a:gd name="T7" fmla="*/ 16 h 343"/>
                <a:gd name="T8" fmla="*/ 623 w 820"/>
                <a:gd name="T9" fmla="*/ 26 h 343"/>
                <a:gd name="T10" fmla="*/ 670 w 820"/>
                <a:gd name="T11" fmla="*/ 40 h 343"/>
                <a:gd name="T12" fmla="*/ 710 w 820"/>
                <a:gd name="T13" fmla="*/ 56 h 343"/>
                <a:gd name="T14" fmla="*/ 745 w 820"/>
                <a:gd name="T15" fmla="*/ 73 h 343"/>
                <a:gd name="T16" fmla="*/ 775 w 820"/>
                <a:gd name="T17" fmla="*/ 93 h 343"/>
                <a:gd name="T18" fmla="*/ 797 w 820"/>
                <a:gd name="T19" fmla="*/ 115 h 343"/>
                <a:gd name="T20" fmla="*/ 812 w 820"/>
                <a:gd name="T21" fmla="*/ 138 h 343"/>
                <a:gd name="T22" fmla="*/ 820 w 820"/>
                <a:gd name="T23" fmla="*/ 160 h 343"/>
                <a:gd name="T24" fmla="*/ 820 w 820"/>
                <a:gd name="T25" fmla="*/ 184 h 343"/>
                <a:gd name="T26" fmla="*/ 812 w 820"/>
                <a:gd name="T27" fmla="*/ 207 h 343"/>
                <a:gd name="T28" fmla="*/ 797 w 820"/>
                <a:gd name="T29" fmla="*/ 229 h 343"/>
                <a:gd name="T30" fmla="*/ 775 w 820"/>
                <a:gd name="T31" fmla="*/ 251 h 343"/>
                <a:gd name="T32" fmla="*/ 745 w 820"/>
                <a:gd name="T33" fmla="*/ 271 h 343"/>
                <a:gd name="T34" fmla="*/ 710 w 820"/>
                <a:gd name="T35" fmla="*/ 290 h 343"/>
                <a:gd name="T36" fmla="*/ 670 w 820"/>
                <a:gd name="T37" fmla="*/ 306 h 343"/>
                <a:gd name="T38" fmla="*/ 623 w 820"/>
                <a:gd name="T39" fmla="*/ 318 h 343"/>
                <a:gd name="T40" fmla="*/ 573 w 820"/>
                <a:gd name="T41" fmla="*/ 330 h 343"/>
                <a:gd name="T42" fmla="*/ 520 w 820"/>
                <a:gd name="T43" fmla="*/ 338 h 343"/>
                <a:gd name="T44" fmla="*/ 467 w 820"/>
                <a:gd name="T45" fmla="*/ 341 h 343"/>
                <a:gd name="T46" fmla="*/ 409 w 820"/>
                <a:gd name="T47" fmla="*/ 343 h 343"/>
                <a:gd name="T48" fmla="*/ 354 w 820"/>
                <a:gd name="T49" fmla="*/ 341 h 343"/>
                <a:gd name="T50" fmla="*/ 299 w 820"/>
                <a:gd name="T51" fmla="*/ 338 h 343"/>
                <a:gd name="T52" fmla="*/ 245 w 820"/>
                <a:gd name="T53" fmla="*/ 330 h 343"/>
                <a:gd name="T54" fmla="*/ 196 w 820"/>
                <a:gd name="T55" fmla="*/ 318 h 343"/>
                <a:gd name="T56" fmla="*/ 150 w 820"/>
                <a:gd name="T57" fmla="*/ 306 h 343"/>
                <a:gd name="T58" fmla="*/ 109 w 820"/>
                <a:gd name="T59" fmla="*/ 290 h 343"/>
                <a:gd name="T60" fmla="*/ 73 w 820"/>
                <a:gd name="T61" fmla="*/ 271 h 343"/>
                <a:gd name="T62" fmla="*/ 44 w 820"/>
                <a:gd name="T63" fmla="*/ 251 h 343"/>
                <a:gd name="T64" fmla="*/ 22 w 820"/>
                <a:gd name="T65" fmla="*/ 229 h 343"/>
                <a:gd name="T66" fmla="*/ 6 w 820"/>
                <a:gd name="T67" fmla="*/ 207 h 343"/>
                <a:gd name="T68" fmla="*/ 0 w 820"/>
                <a:gd name="T69" fmla="*/ 184 h 343"/>
                <a:gd name="T70" fmla="*/ 0 w 820"/>
                <a:gd name="T71" fmla="*/ 160 h 343"/>
                <a:gd name="T72" fmla="*/ 6 w 820"/>
                <a:gd name="T73" fmla="*/ 138 h 343"/>
                <a:gd name="T74" fmla="*/ 22 w 820"/>
                <a:gd name="T75" fmla="*/ 115 h 343"/>
                <a:gd name="T76" fmla="*/ 44 w 820"/>
                <a:gd name="T77" fmla="*/ 93 h 343"/>
                <a:gd name="T78" fmla="*/ 73 w 820"/>
                <a:gd name="T79" fmla="*/ 73 h 343"/>
                <a:gd name="T80" fmla="*/ 109 w 820"/>
                <a:gd name="T81" fmla="*/ 56 h 343"/>
                <a:gd name="T82" fmla="*/ 150 w 820"/>
                <a:gd name="T83" fmla="*/ 40 h 343"/>
                <a:gd name="T84" fmla="*/ 196 w 820"/>
                <a:gd name="T85" fmla="*/ 26 h 343"/>
                <a:gd name="T86" fmla="*/ 245 w 820"/>
                <a:gd name="T87" fmla="*/ 16 h 343"/>
                <a:gd name="T88" fmla="*/ 299 w 820"/>
                <a:gd name="T89" fmla="*/ 8 h 343"/>
                <a:gd name="T90" fmla="*/ 354 w 820"/>
                <a:gd name="T91" fmla="*/ 2 h 343"/>
                <a:gd name="T92" fmla="*/ 409 w 820"/>
                <a:gd name="T93" fmla="*/ 0 h 34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20"/>
                <a:gd name="T142" fmla="*/ 0 h 343"/>
                <a:gd name="T143" fmla="*/ 820 w 820"/>
                <a:gd name="T144" fmla="*/ 343 h 34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20" h="343">
                  <a:moveTo>
                    <a:pt x="409" y="0"/>
                  </a:moveTo>
                  <a:lnTo>
                    <a:pt x="467" y="2"/>
                  </a:lnTo>
                  <a:lnTo>
                    <a:pt x="520" y="8"/>
                  </a:lnTo>
                  <a:lnTo>
                    <a:pt x="573" y="16"/>
                  </a:lnTo>
                  <a:lnTo>
                    <a:pt x="623" y="26"/>
                  </a:lnTo>
                  <a:lnTo>
                    <a:pt x="670" y="40"/>
                  </a:lnTo>
                  <a:lnTo>
                    <a:pt x="710" y="56"/>
                  </a:lnTo>
                  <a:lnTo>
                    <a:pt x="745" y="73"/>
                  </a:lnTo>
                  <a:lnTo>
                    <a:pt x="775" y="93"/>
                  </a:lnTo>
                  <a:lnTo>
                    <a:pt x="797" y="115"/>
                  </a:lnTo>
                  <a:lnTo>
                    <a:pt x="812" y="138"/>
                  </a:lnTo>
                  <a:lnTo>
                    <a:pt x="820" y="160"/>
                  </a:lnTo>
                  <a:lnTo>
                    <a:pt x="820" y="184"/>
                  </a:lnTo>
                  <a:lnTo>
                    <a:pt x="812" y="207"/>
                  </a:lnTo>
                  <a:lnTo>
                    <a:pt x="797" y="229"/>
                  </a:lnTo>
                  <a:lnTo>
                    <a:pt x="775" y="251"/>
                  </a:lnTo>
                  <a:lnTo>
                    <a:pt x="745" y="271"/>
                  </a:lnTo>
                  <a:lnTo>
                    <a:pt x="710" y="290"/>
                  </a:lnTo>
                  <a:lnTo>
                    <a:pt x="670" y="306"/>
                  </a:lnTo>
                  <a:lnTo>
                    <a:pt x="623" y="318"/>
                  </a:lnTo>
                  <a:lnTo>
                    <a:pt x="573" y="330"/>
                  </a:lnTo>
                  <a:lnTo>
                    <a:pt x="520" y="338"/>
                  </a:lnTo>
                  <a:lnTo>
                    <a:pt x="467" y="341"/>
                  </a:lnTo>
                  <a:lnTo>
                    <a:pt x="409" y="343"/>
                  </a:lnTo>
                  <a:lnTo>
                    <a:pt x="354" y="341"/>
                  </a:lnTo>
                  <a:lnTo>
                    <a:pt x="299" y="338"/>
                  </a:lnTo>
                  <a:lnTo>
                    <a:pt x="245" y="330"/>
                  </a:lnTo>
                  <a:lnTo>
                    <a:pt x="196" y="318"/>
                  </a:lnTo>
                  <a:lnTo>
                    <a:pt x="150" y="306"/>
                  </a:lnTo>
                  <a:lnTo>
                    <a:pt x="109" y="290"/>
                  </a:lnTo>
                  <a:lnTo>
                    <a:pt x="73" y="271"/>
                  </a:lnTo>
                  <a:lnTo>
                    <a:pt x="44" y="251"/>
                  </a:lnTo>
                  <a:lnTo>
                    <a:pt x="22" y="229"/>
                  </a:lnTo>
                  <a:lnTo>
                    <a:pt x="6" y="207"/>
                  </a:lnTo>
                  <a:lnTo>
                    <a:pt x="0" y="184"/>
                  </a:lnTo>
                  <a:lnTo>
                    <a:pt x="0" y="160"/>
                  </a:lnTo>
                  <a:lnTo>
                    <a:pt x="6" y="138"/>
                  </a:lnTo>
                  <a:lnTo>
                    <a:pt x="22" y="115"/>
                  </a:lnTo>
                  <a:lnTo>
                    <a:pt x="44" y="93"/>
                  </a:lnTo>
                  <a:lnTo>
                    <a:pt x="73" y="73"/>
                  </a:lnTo>
                  <a:lnTo>
                    <a:pt x="109" y="56"/>
                  </a:lnTo>
                  <a:lnTo>
                    <a:pt x="150" y="40"/>
                  </a:lnTo>
                  <a:lnTo>
                    <a:pt x="196" y="26"/>
                  </a:lnTo>
                  <a:lnTo>
                    <a:pt x="245" y="16"/>
                  </a:lnTo>
                  <a:lnTo>
                    <a:pt x="299" y="8"/>
                  </a:lnTo>
                  <a:lnTo>
                    <a:pt x="354" y="2"/>
                  </a:lnTo>
                  <a:lnTo>
                    <a:pt x="409" y="0"/>
                  </a:lnTo>
                </a:path>
              </a:pathLst>
            </a:custGeom>
            <a:noFill/>
            <a:ln w="3175">
              <a:solidFill>
                <a:srgbClr val="000000"/>
              </a:solidFill>
              <a:round/>
              <a:headEnd/>
              <a:tailEnd/>
            </a:ln>
          </p:spPr>
          <p:txBody>
            <a:bodyPr/>
            <a:lstStyle/>
            <a:p>
              <a:endParaRPr lang="en-US"/>
            </a:p>
          </p:txBody>
        </p:sp>
        <p:sp>
          <p:nvSpPr>
            <p:cNvPr id="36888" name="Rectangle 20"/>
            <p:cNvSpPr>
              <a:spLocks noChangeArrowheads="1"/>
            </p:cNvSpPr>
            <p:nvPr/>
          </p:nvSpPr>
          <p:spPr bwMode="auto">
            <a:xfrm>
              <a:off x="1855" y="2395"/>
              <a:ext cx="166" cy="227"/>
            </a:xfrm>
            <a:prstGeom prst="rect">
              <a:avLst/>
            </a:prstGeom>
            <a:noFill/>
            <a:ln w="9525">
              <a:noFill/>
              <a:miter lim="800000"/>
              <a:headEnd/>
              <a:tailEnd/>
            </a:ln>
          </p:spPr>
          <p:txBody>
            <a:bodyPr wrap="none" lIns="0" tIns="0" rIns="0" bIns="0">
              <a:spAutoFit/>
            </a:bodyPr>
            <a:lstStyle/>
            <a:p>
              <a:r>
                <a:rPr lang="en-US" sz="2000" b="1">
                  <a:solidFill>
                    <a:srgbClr val="FF0000"/>
                  </a:solidFill>
                </a:rPr>
                <a:t>1</a:t>
              </a:r>
              <a:endParaRPr lang="en-US"/>
            </a:p>
          </p:txBody>
        </p:sp>
      </p:grpSp>
      <p:grpSp>
        <p:nvGrpSpPr>
          <p:cNvPr id="5" name="Group 21"/>
          <p:cNvGrpSpPr>
            <a:grpSpLocks/>
          </p:cNvGrpSpPr>
          <p:nvPr/>
        </p:nvGrpSpPr>
        <p:grpSpPr bwMode="auto">
          <a:xfrm>
            <a:off x="596900" y="2382838"/>
            <a:ext cx="1323975" cy="985837"/>
            <a:chOff x="452" y="1501"/>
            <a:chExt cx="834" cy="621"/>
          </a:xfrm>
        </p:grpSpPr>
        <p:sp>
          <p:nvSpPr>
            <p:cNvPr id="36885" name="Freeform 22"/>
            <p:cNvSpPr>
              <a:spLocks/>
            </p:cNvSpPr>
            <p:nvPr/>
          </p:nvSpPr>
          <p:spPr bwMode="auto">
            <a:xfrm>
              <a:off x="452" y="1662"/>
              <a:ext cx="834" cy="460"/>
            </a:xfrm>
            <a:custGeom>
              <a:avLst/>
              <a:gdLst>
                <a:gd name="T0" fmla="*/ 436 w 834"/>
                <a:gd name="T1" fmla="*/ 2 h 460"/>
                <a:gd name="T2" fmla="*/ 494 w 834"/>
                <a:gd name="T3" fmla="*/ 10 h 460"/>
                <a:gd name="T4" fmla="*/ 547 w 834"/>
                <a:gd name="T5" fmla="*/ 20 h 460"/>
                <a:gd name="T6" fmla="*/ 600 w 834"/>
                <a:gd name="T7" fmla="*/ 36 h 460"/>
                <a:gd name="T8" fmla="*/ 650 w 834"/>
                <a:gd name="T9" fmla="*/ 54 h 460"/>
                <a:gd name="T10" fmla="*/ 695 w 834"/>
                <a:gd name="T11" fmla="*/ 77 h 460"/>
                <a:gd name="T12" fmla="*/ 735 w 834"/>
                <a:gd name="T13" fmla="*/ 101 h 460"/>
                <a:gd name="T14" fmla="*/ 768 w 834"/>
                <a:gd name="T15" fmla="*/ 128 h 460"/>
                <a:gd name="T16" fmla="*/ 796 w 834"/>
                <a:gd name="T17" fmla="*/ 158 h 460"/>
                <a:gd name="T18" fmla="*/ 816 w 834"/>
                <a:gd name="T19" fmla="*/ 188 h 460"/>
                <a:gd name="T20" fmla="*/ 830 w 834"/>
                <a:gd name="T21" fmla="*/ 219 h 460"/>
                <a:gd name="T22" fmla="*/ 834 w 834"/>
                <a:gd name="T23" fmla="*/ 251 h 460"/>
                <a:gd name="T24" fmla="*/ 832 w 834"/>
                <a:gd name="T25" fmla="*/ 282 h 460"/>
                <a:gd name="T26" fmla="*/ 820 w 834"/>
                <a:gd name="T27" fmla="*/ 312 h 460"/>
                <a:gd name="T28" fmla="*/ 802 w 834"/>
                <a:gd name="T29" fmla="*/ 339 h 460"/>
                <a:gd name="T30" fmla="*/ 778 w 834"/>
                <a:gd name="T31" fmla="*/ 367 h 460"/>
                <a:gd name="T32" fmla="*/ 745 w 834"/>
                <a:gd name="T33" fmla="*/ 391 h 460"/>
                <a:gd name="T34" fmla="*/ 707 w 834"/>
                <a:gd name="T35" fmla="*/ 412 h 460"/>
                <a:gd name="T36" fmla="*/ 664 w 834"/>
                <a:gd name="T37" fmla="*/ 430 h 460"/>
                <a:gd name="T38" fmla="*/ 616 w 834"/>
                <a:gd name="T39" fmla="*/ 444 h 460"/>
                <a:gd name="T40" fmla="*/ 565 w 834"/>
                <a:gd name="T41" fmla="*/ 454 h 460"/>
                <a:gd name="T42" fmla="*/ 510 w 834"/>
                <a:gd name="T43" fmla="*/ 460 h 460"/>
                <a:gd name="T44" fmla="*/ 454 w 834"/>
                <a:gd name="T45" fmla="*/ 460 h 460"/>
                <a:gd name="T46" fmla="*/ 397 w 834"/>
                <a:gd name="T47" fmla="*/ 458 h 460"/>
                <a:gd name="T48" fmla="*/ 340 w 834"/>
                <a:gd name="T49" fmla="*/ 450 h 460"/>
                <a:gd name="T50" fmla="*/ 284 w 834"/>
                <a:gd name="T51" fmla="*/ 440 h 460"/>
                <a:gd name="T52" fmla="*/ 231 w 834"/>
                <a:gd name="T53" fmla="*/ 424 h 460"/>
                <a:gd name="T54" fmla="*/ 183 w 834"/>
                <a:gd name="T55" fmla="*/ 404 h 460"/>
                <a:gd name="T56" fmla="*/ 138 w 834"/>
                <a:gd name="T57" fmla="*/ 383 h 460"/>
                <a:gd name="T58" fmla="*/ 98 w 834"/>
                <a:gd name="T59" fmla="*/ 359 h 460"/>
                <a:gd name="T60" fmla="*/ 65 w 834"/>
                <a:gd name="T61" fmla="*/ 331 h 460"/>
                <a:gd name="T62" fmla="*/ 37 w 834"/>
                <a:gd name="T63" fmla="*/ 302 h 460"/>
                <a:gd name="T64" fmla="*/ 17 w 834"/>
                <a:gd name="T65" fmla="*/ 272 h 460"/>
                <a:gd name="T66" fmla="*/ 3 w 834"/>
                <a:gd name="T67" fmla="*/ 241 h 460"/>
                <a:gd name="T68" fmla="*/ 0 w 834"/>
                <a:gd name="T69" fmla="*/ 209 h 460"/>
                <a:gd name="T70" fmla="*/ 1 w 834"/>
                <a:gd name="T71" fmla="*/ 178 h 460"/>
                <a:gd name="T72" fmla="*/ 11 w 834"/>
                <a:gd name="T73" fmla="*/ 148 h 460"/>
                <a:gd name="T74" fmla="*/ 29 w 834"/>
                <a:gd name="T75" fmla="*/ 119 h 460"/>
                <a:gd name="T76" fmla="*/ 55 w 834"/>
                <a:gd name="T77" fmla="*/ 93 h 460"/>
                <a:gd name="T78" fmla="*/ 86 w 834"/>
                <a:gd name="T79" fmla="*/ 69 h 460"/>
                <a:gd name="T80" fmla="*/ 124 w 834"/>
                <a:gd name="T81" fmla="*/ 48 h 460"/>
                <a:gd name="T82" fmla="*/ 168 w 834"/>
                <a:gd name="T83" fmla="*/ 30 h 460"/>
                <a:gd name="T84" fmla="*/ 217 w 834"/>
                <a:gd name="T85" fmla="*/ 16 h 460"/>
                <a:gd name="T86" fmla="*/ 268 w 834"/>
                <a:gd name="T87" fmla="*/ 6 h 460"/>
                <a:gd name="T88" fmla="*/ 324 w 834"/>
                <a:gd name="T89" fmla="*/ 0 h 460"/>
                <a:gd name="T90" fmla="*/ 379 w 834"/>
                <a:gd name="T91" fmla="*/ 0 h 460"/>
                <a:gd name="T92" fmla="*/ 436 w 834"/>
                <a:gd name="T93" fmla="*/ 2 h 46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34"/>
                <a:gd name="T142" fmla="*/ 0 h 460"/>
                <a:gd name="T143" fmla="*/ 834 w 834"/>
                <a:gd name="T144" fmla="*/ 460 h 46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34" h="460">
                  <a:moveTo>
                    <a:pt x="436" y="2"/>
                  </a:moveTo>
                  <a:lnTo>
                    <a:pt x="494" y="10"/>
                  </a:lnTo>
                  <a:lnTo>
                    <a:pt x="547" y="20"/>
                  </a:lnTo>
                  <a:lnTo>
                    <a:pt x="600" y="36"/>
                  </a:lnTo>
                  <a:lnTo>
                    <a:pt x="650" y="54"/>
                  </a:lnTo>
                  <a:lnTo>
                    <a:pt x="695" y="77"/>
                  </a:lnTo>
                  <a:lnTo>
                    <a:pt x="735" y="101"/>
                  </a:lnTo>
                  <a:lnTo>
                    <a:pt x="768" y="128"/>
                  </a:lnTo>
                  <a:lnTo>
                    <a:pt x="796" y="158"/>
                  </a:lnTo>
                  <a:lnTo>
                    <a:pt x="816" y="188"/>
                  </a:lnTo>
                  <a:lnTo>
                    <a:pt x="830" y="219"/>
                  </a:lnTo>
                  <a:lnTo>
                    <a:pt x="834" y="251"/>
                  </a:lnTo>
                  <a:lnTo>
                    <a:pt x="832" y="282"/>
                  </a:lnTo>
                  <a:lnTo>
                    <a:pt x="820" y="312"/>
                  </a:lnTo>
                  <a:lnTo>
                    <a:pt x="802" y="339"/>
                  </a:lnTo>
                  <a:lnTo>
                    <a:pt x="778" y="367"/>
                  </a:lnTo>
                  <a:lnTo>
                    <a:pt x="745" y="391"/>
                  </a:lnTo>
                  <a:lnTo>
                    <a:pt x="707" y="412"/>
                  </a:lnTo>
                  <a:lnTo>
                    <a:pt x="664" y="430"/>
                  </a:lnTo>
                  <a:lnTo>
                    <a:pt x="616" y="444"/>
                  </a:lnTo>
                  <a:lnTo>
                    <a:pt x="565" y="454"/>
                  </a:lnTo>
                  <a:lnTo>
                    <a:pt x="510" y="460"/>
                  </a:lnTo>
                  <a:lnTo>
                    <a:pt x="454" y="460"/>
                  </a:lnTo>
                  <a:lnTo>
                    <a:pt x="397" y="458"/>
                  </a:lnTo>
                  <a:lnTo>
                    <a:pt x="340" y="450"/>
                  </a:lnTo>
                  <a:lnTo>
                    <a:pt x="284" y="440"/>
                  </a:lnTo>
                  <a:lnTo>
                    <a:pt x="231" y="424"/>
                  </a:lnTo>
                  <a:lnTo>
                    <a:pt x="183" y="404"/>
                  </a:lnTo>
                  <a:lnTo>
                    <a:pt x="138" y="383"/>
                  </a:lnTo>
                  <a:lnTo>
                    <a:pt x="98" y="359"/>
                  </a:lnTo>
                  <a:lnTo>
                    <a:pt x="65" y="331"/>
                  </a:lnTo>
                  <a:lnTo>
                    <a:pt x="37" y="302"/>
                  </a:lnTo>
                  <a:lnTo>
                    <a:pt x="17" y="272"/>
                  </a:lnTo>
                  <a:lnTo>
                    <a:pt x="3" y="241"/>
                  </a:lnTo>
                  <a:lnTo>
                    <a:pt x="0" y="209"/>
                  </a:lnTo>
                  <a:lnTo>
                    <a:pt x="1" y="178"/>
                  </a:lnTo>
                  <a:lnTo>
                    <a:pt x="11" y="148"/>
                  </a:lnTo>
                  <a:lnTo>
                    <a:pt x="29" y="119"/>
                  </a:lnTo>
                  <a:lnTo>
                    <a:pt x="55" y="93"/>
                  </a:lnTo>
                  <a:lnTo>
                    <a:pt x="86" y="69"/>
                  </a:lnTo>
                  <a:lnTo>
                    <a:pt x="124" y="48"/>
                  </a:lnTo>
                  <a:lnTo>
                    <a:pt x="168" y="30"/>
                  </a:lnTo>
                  <a:lnTo>
                    <a:pt x="217" y="16"/>
                  </a:lnTo>
                  <a:lnTo>
                    <a:pt x="268" y="6"/>
                  </a:lnTo>
                  <a:lnTo>
                    <a:pt x="324" y="0"/>
                  </a:lnTo>
                  <a:lnTo>
                    <a:pt x="379" y="0"/>
                  </a:lnTo>
                  <a:lnTo>
                    <a:pt x="436" y="2"/>
                  </a:lnTo>
                </a:path>
              </a:pathLst>
            </a:custGeom>
            <a:noFill/>
            <a:ln w="3175">
              <a:solidFill>
                <a:srgbClr val="000000"/>
              </a:solidFill>
              <a:round/>
              <a:headEnd/>
              <a:tailEnd/>
            </a:ln>
          </p:spPr>
          <p:txBody>
            <a:bodyPr/>
            <a:lstStyle/>
            <a:p>
              <a:endParaRPr lang="en-US"/>
            </a:p>
          </p:txBody>
        </p:sp>
        <p:sp>
          <p:nvSpPr>
            <p:cNvPr id="36886" name="Rectangle 23"/>
            <p:cNvSpPr>
              <a:spLocks noChangeArrowheads="1"/>
            </p:cNvSpPr>
            <p:nvPr/>
          </p:nvSpPr>
          <p:spPr bwMode="auto">
            <a:xfrm>
              <a:off x="944" y="1501"/>
              <a:ext cx="166" cy="227"/>
            </a:xfrm>
            <a:prstGeom prst="rect">
              <a:avLst/>
            </a:prstGeom>
            <a:noFill/>
            <a:ln w="9525">
              <a:noFill/>
              <a:miter lim="800000"/>
              <a:headEnd/>
              <a:tailEnd/>
            </a:ln>
          </p:spPr>
          <p:txBody>
            <a:bodyPr wrap="none" lIns="0" tIns="0" rIns="0" bIns="0">
              <a:spAutoFit/>
            </a:bodyPr>
            <a:lstStyle/>
            <a:p>
              <a:r>
                <a:rPr lang="en-US" sz="2000" b="1">
                  <a:solidFill>
                    <a:srgbClr val="FF0000"/>
                  </a:solidFill>
                </a:rPr>
                <a:t>2</a:t>
              </a:r>
              <a:endParaRPr lang="en-US"/>
            </a:p>
          </p:txBody>
        </p:sp>
      </p:grpSp>
      <p:grpSp>
        <p:nvGrpSpPr>
          <p:cNvPr id="6" name="Group 24"/>
          <p:cNvGrpSpPr>
            <a:grpSpLocks/>
          </p:cNvGrpSpPr>
          <p:nvPr/>
        </p:nvGrpSpPr>
        <p:grpSpPr bwMode="auto">
          <a:xfrm>
            <a:off x="282575" y="1622425"/>
            <a:ext cx="3659188" cy="3460750"/>
            <a:chOff x="254" y="1022"/>
            <a:chExt cx="2305" cy="2180"/>
          </a:xfrm>
        </p:grpSpPr>
        <p:sp>
          <p:nvSpPr>
            <p:cNvPr id="36883" name="Rectangle 25"/>
            <p:cNvSpPr>
              <a:spLocks noChangeArrowheads="1"/>
            </p:cNvSpPr>
            <p:nvPr/>
          </p:nvSpPr>
          <p:spPr bwMode="auto">
            <a:xfrm>
              <a:off x="564" y="1148"/>
              <a:ext cx="166" cy="227"/>
            </a:xfrm>
            <a:prstGeom prst="rect">
              <a:avLst/>
            </a:prstGeom>
            <a:noFill/>
            <a:ln w="9525">
              <a:noFill/>
              <a:miter lim="800000"/>
              <a:headEnd/>
              <a:tailEnd/>
            </a:ln>
          </p:spPr>
          <p:txBody>
            <a:bodyPr wrap="none" lIns="0" tIns="0" rIns="0" bIns="0">
              <a:spAutoFit/>
            </a:bodyPr>
            <a:lstStyle/>
            <a:p>
              <a:r>
                <a:rPr lang="en-US" sz="2000" b="1">
                  <a:solidFill>
                    <a:srgbClr val="FF0000"/>
                  </a:solidFill>
                </a:rPr>
                <a:t>5</a:t>
              </a:r>
              <a:endParaRPr lang="en-US"/>
            </a:p>
          </p:txBody>
        </p:sp>
        <p:sp>
          <p:nvSpPr>
            <p:cNvPr id="36884" name="Freeform 26"/>
            <p:cNvSpPr>
              <a:spLocks/>
            </p:cNvSpPr>
            <p:nvPr/>
          </p:nvSpPr>
          <p:spPr bwMode="auto">
            <a:xfrm>
              <a:off x="254" y="1022"/>
              <a:ext cx="2305" cy="2180"/>
            </a:xfrm>
            <a:custGeom>
              <a:avLst/>
              <a:gdLst>
                <a:gd name="T0" fmla="*/ 1245 w 2305"/>
                <a:gd name="T1" fmla="*/ 4 h 2180"/>
                <a:gd name="T2" fmla="*/ 1433 w 2305"/>
                <a:gd name="T3" fmla="*/ 33 h 2180"/>
                <a:gd name="T4" fmla="*/ 1615 w 2305"/>
                <a:gd name="T5" fmla="*/ 90 h 2180"/>
                <a:gd name="T6" fmla="*/ 1781 w 2305"/>
                <a:gd name="T7" fmla="*/ 175 h 2180"/>
                <a:gd name="T8" fmla="*/ 1931 w 2305"/>
                <a:gd name="T9" fmla="*/ 286 h 2180"/>
                <a:gd name="T10" fmla="*/ 2062 w 2305"/>
                <a:gd name="T11" fmla="*/ 420 h 2180"/>
                <a:gd name="T12" fmla="*/ 2166 w 2305"/>
                <a:gd name="T13" fmla="*/ 569 h 2180"/>
                <a:gd name="T14" fmla="*/ 2242 w 2305"/>
                <a:gd name="T15" fmla="*/ 735 h 2180"/>
                <a:gd name="T16" fmla="*/ 2289 w 2305"/>
                <a:gd name="T17" fmla="*/ 908 h 2180"/>
                <a:gd name="T18" fmla="*/ 2305 w 2305"/>
                <a:gd name="T19" fmla="*/ 1088 h 2180"/>
                <a:gd name="T20" fmla="*/ 2289 w 2305"/>
                <a:gd name="T21" fmla="*/ 1267 h 2180"/>
                <a:gd name="T22" fmla="*/ 2243 w 2305"/>
                <a:gd name="T23" fmla="*/ 1443 h 2180"/>
                <a:gd name="T24" fmla="*/ 2166 w 2305"/>
                <a:gd name="T25" fmla="*/ 1606 h 2180"/>
                <a:gd name="T26" fmla="*/ 2064 w 2305"/>
                <a:gd name="T27" fmla="*/ 1758 h 2180"/>
                <a:gd name="T28" fmla="*/ 1935 w 2305"/>
                <a:gd name="T29" fmla="*/ 1890 h 2180"/>
                <a:gd name="T30" fmla="*/ 1785 w 2305"/>
                <a:gd name="T31" fmla="*/ 2002 h 2180"/>
                <a:gd name="T32" fmla="*/ 1617 w 2305"/>
                <a:gd name="T33" fmla="*/ 2087 h 2180"/>
                <a:gd name="T34" fmla="*/ 1437 w 2305"/>
                <a:gd name="T35" fmla="*/ 2146 h 2180"/>
                <a:gd name="T36" fmla="*/ 1249 w 2305"/>
                <a:gd name="T37" fmla="*/ 2176 h 2180"/>
                <a:gd name="T38" fmla="*/ 1059 w 2305"/>
                <a:gd name="T39" fmla="*/ 2176 h 2180"/>
                <a:gd name="T40" fmla="*/ 872 w 2305"/>
                <a:gd name="T41" fmla="*/ 2148 h 2180"/>
                <a:gd name="T42" fmla="*/ 692 w 2305"/>
                <a:gd name="T43" fmla="*/ 2089 h 2180"/>
                <a:gd name="T44" fmla="*/ 524 w 2305"/>
                <a:gd name="T45" fmla="*/ 2004 h 2180"/>
                <a:gd name="T46" fmla="*/ 373 w 2305"/>
                <a:gd name="T47" fmla="*/ 1894 h 2180"/>
                <a:gd name="T48" fmla="*/ 245 w 2305"/>
                <a:gd name="T49" fmla="*/ 1762 h 2180"/>
                <a:gd name="T50" fmla="*/ 140 w 2305"/>
                <a:gd name="T51" fmla="*/ 1610 h 2180"/>
                <a:gd name="T52" fmla="*/ 63 w 2305"/>
                <a:gd name="T53" fmla="*/ 1447 h 2180"/>
                <a:gd name="T54" fmla="*/ 16 w 2305"/>
                <a:gd name="T55" fmla="*/ 1271 h 2180"/>
                <a:gd name="T56" fmla="*/ 0 w 2305"/>
                <a:gd name="T57" fmla="*/ 1092 h 2180"/>
                <a:gd name="T58" fmla="*/ 16 w 2305"/>
                <a:gd name="T59" fmla="*/ 912 h 2180"/>
                <a:gd name="T60" fmla="*/ 63 w 2305"/>
                <a:gd name="T61" fmla="*/ 737 h 2180"/>
                <a:gd name="T62" fmla="*/ 138 w 2305"/>
                <a:gd name="T63" fmla="*/ 573 h 2180"/>
                <a:gd name="T64" fmla="*/ 243 w 2305"/>
                <a:gd name="T65" fmla="*/ 422 h 2180"/>
                <a:gd name="T66" fmla="*/ 371 w 2305"/>
                <a:gd name="T67" fmla="*/ 290 h 2180"/>
                <a:gd name="T68" fmla="*/ 522 w 2305"/>
                <a:gd name="T69" fmla="*/ 179 h 2180"/>
                <a:gd name="T70" fmla="*/ 688 w 2305"/>
                <a:gd name="T71" fmla="*/ 92 h 2180"/>
                <a:gd name="T72" fmla="*/ 868 w 2305"/>
                <a:gd name="T73" fmla="*/ 33 h 2180"/>
                <a:gd name="T74" fmla="*/ 1055 w 2305"/>
                <a:gd name="T75" fmla="*/ 4 h 21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305"/>
                <a:gd name="T115" fmla="*/ 0 h 2180"/>
                <a:gd name="T116" fmla="*/ 2305 w 2305"/>
                <a:gd name="T117" fmla="*/ 2180 h 21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305" h="2180">
                  <a:moveTo>
                    <a:pt x="1150" y="0"/>
                  </a:moveTo>
                  <a:lnTo>
                    <a:pt x="1245" y="4"/>
                  </a:lnTo>
                  <a:lnTo>
                    <a:pt x="1340" y="14"/>
                  </a:lnTo>
                  <a:lnTo>
                    <a:pt x="1433" y="33"/>
                  </a:lnTo>
                  <a:lnTo>
                    <a:pt x="1526" y="59"/>
                  </a:lnTo>
                  <a:lnTo>
                    <a:pt x="1615" y="90"/>
                  </a:lnTo>
                  <a:lnTo>
                    <a:pt x="1700" y="130"/>
                  </a:lnTo>
                  <a:lnTo>
                    <a:pt x="1781" y="175"/>
                  </a:lnTo>
                  <a:lnTo>
                    <a:pt x="1860" y="228"/>
                  </a:lnTo>
                  <a:lnTo>
                    <a:pt x="1931" y="286"/>
                  </a:lnTo>
                  <a:lnTo>
                    <a:pt x="2000" y="351"/>
                  </a:lnTo>
                  <a:lnTo>
                    <a:pt x="2062" y="420"/>
                  </a:lnTo>
                  <a:lnTo>
                    <a:pt x="2117" y="493"/>
                  </a:lnTo>
                  <a:lnTo>
                    <a:pt x="2166" y="569"/>
                  </a:lnTo>
                  <a:lnTo>
                    <a:pt x="2208" y="650"/>
                  </a:lnTo>
                  <a:lnTo>
                    <a:pt x="2242" y="735"/>
                  </a:lnTo>
                  <a:lnTo>
                    <a:pt x="2269" y="820"/>
                  </a:lnTo>
                  <a:lnTo>
                    <a:pt x="2289" y="908"/>
                  </a:lnTo>
                  <a:lnTo>
                    <a:pt x="2301" y="997"/>
                  </a:lnTo>
                  <a:lnTo>
                    <a:pt x="2305" y="1088"/>
                  </a:lnTo>
                  <a:lnTo>
                    <a:pt x="2301" y="1178"/>
                  </a:lnTo>
                  <a:lnTo>
                    <a:pt x="2289" y="1267"/>
                  </a:lnTo>
                  <a:lnTo>
                    <a:pt x="2271" y="1356"/>
                  </a:lnTo>
                  <a:lnTo>
                    <a:pt x="2243" y="1443"/>
                  </a:lnTo>
                  <a:lnTo>
                    <a:pt x="2210" y="1525"/>
                  </a:lnTo>
                  <a:lnTo>
                    <a:pt x="2166" y="1606"/>
                  </a:lnTo>
                  <a:lnTo>
                    <a:pt x="2119" y="1685"/>
                  </a:lnTo>
                  <a:lnTo>
                    <a:pt x="2064" y="1758"/>
                  </a:lnTo>
                  <a:lnTo>
                    <a:pt x="2002" y="1827"/>
                  </a:lnTo>
                  <a:lnTo>
                    <a:pt x="1935" y="1890"/>
                  </a:lnTo>
                  <a:lnTo>
                    <a:pt x="1862" y="1949"/>
                  </a:lnTo>
                  <a:lnTo>
                    <a:pt x="1785" y="2002"/>
                  </a:lnTo>
                  <a:lnTo>
                    <a:pt x="1704" y="2048"/>
                  </a:lnTo>
                  <a:lnTo>
                    <a:pt x="1617" y="2087"/>
                  </a:lnTo>
                  <a:lnTo>
                    <a:pt x="1528" y="2121"/>
                  </a:lnTo>
                  <a:lnTo>
                    <a:pt x="1437" y="2146"/>
                  </a:lnTo>
                  <a:lnTo>
                    <a:pt x="1344" y="2164"/>
                  </a:lnTo>
                  <a:lnTo>
                    <a:pt x="1249" y="2176"/>
                  </a:lnTo>
                  <a:lnTo>
                    <a:pt x="1154" y="2180"/>
                  </a:lnTo>
                  <a:lnTo>
                    <a:pt x="1059" y="2176"/>
                  </a:lnTo>
                  <a:lnTo>
                    <a:pt x="965" y="2166"/>
                  </a:lnTo>
                  <a:lnTo>
                    <a:pt x="872" y="2148"/>
                  </a:lnTo>
                  <a:lnTo>
                    <a:pt x="781" y="2123"/>
                  </a:lnTo>
                  <a:lnTo>
                    <a:pt x="692" y="2089"/>
                  </a:lnTo>
                  <a:lnTo>
                    <a:pt x="607" y="2050"/>
                  </a:lnTo>
                  <a:lnTo>
                    <a:pt x="524" y="2004"/>
                  </a:lnTo>
                  <a:lnTo>
                    <a:pt x="447" y="1951"/>
                  </a:lnTo>
                  <a:lnTo>
                    <a:pt x="373" y="1894"/>
                  </a:lnTo>
                  <a:lnTo>
                    <a:pt x="306" y="1829"/>
                  </a:lnTo>
                  <a:lnTo>
                    <a:pt x="245" y="1762"/>
                  </a:lnTo>
                  <a:lnTo>
                    <a:pt x="190" y="1687"/>
                  </a:lnTo>
                  <a:lnTo>
                    <a:pt x="140" y="1610"/>
                  </a:lnTo>
                  <a:lnTo>
                    <a:pt x="99" y="1529"/>
                  </a:lnTo>
                  <a:lnTo>
                    <a:pt x="63" y="1447"/>
                  </a:lnTo>
                  <a:lnTo>
                    <a:pt x="35" y="1360"/>
                  </a:lnTo>
                  <a:lnTo>
                    <a:pt x="16" y="1271"/>
                  </a:lnTo>
                  <a:lnTo>
                    <a:pt x="4" y="1182"/>
                  </a:lnTo>
                  <a:lnTo>
                    <a:pt x="0" y="1092"/>
                  </a:lnTo>
                  <a:lnTo>
                    <a:pt x="4" y="1001"/>
                  </a:lnTo>
                  <a:lnTo>
                    <a:pt x="16" y="912"/>
                  </a:lnTo>
                  <a:lnTo>
                    <a:pt x="35" y="824"/>
                  </a:lnTo>
                  <a:lnTo>
                    <a:pt x="63" y="737"/>
                  </a:lnTo>
                  <a:lnTo>
                    <a:pt x="97" y="654"/>
                  </a:lnTo>
                  <a:lnTo>
                    <a:pt x="138" y="573"/>
                  </a:lnTo>
                  <a:lnTo>
                    <a:pt x="188" y="495"/>
                  </a:lnTo>
                  <a:lnTo>
                    <a:pt x="243" y="422"/>
                  </a:lnTo>
                  <a:lnTo>
                    <a:pt x="304" y="353"/>
                  </a:lnTo>
                  <a:lnTo>
                    <a:pt x="371" y="290"/>
                  </a:lnTo>
                  <a:lnTo>
                    <a:pt x="443" y="230"/>
                  </a:lnTo>
                  <a:lnTo>
                    <a:pt x="522" y="179"/>
                  </a:lnTo>
                  <a:lnTo>
                    <a:pt x="603" y="132"/>
                  </a:lnTo>
                  <a:lnTo>
                    <a:pt x="688" y="92"/>
                  </a:lnTo>
                  <a:lnTo>
                    <a:pt x="777" y="59"/>
                  </a:lnTo>
                  <a:lnTo>
                    <a:pt x="868" y="33"/>
                  </a:lnTo>
                  <a:lnTo>
                    <a:pt x="961" y="16"/>
                  </a:lnTo>
                  <a:lnTo>
                    <a:pt x="1055" y="4"/>
                  </a:lnTo>
                  <a:lnTo>
                    <a:pt x="1150" y="0"/>
                  </a:lnTo>
                </a:path>
              </a:pathLst>
            </a:custGeom>
            <a:noFill/>
            <a:ln w="3175">
              <a:solidFill>
                <a:srgbClr val="000000"/>
              </a:solidFill>
              <a:round/>
              <a:headEnd/>
              <a:tailEnd/>
            </a:ln>
          </p:spPr>
          <p:txBody>
            <a:bodyPr/>
            <a:lstStyle/>
            <a:p>
              <a:endParaRPr lang="en-US"/>
            </a:p>
          </p:txBody>
        </p:sp>
      </p:grpSp>
      <p:grpSp>
        <p:nvGrpSpPr>
          <p:cNvPr id="7" name="Group 27"/>
          <p:cNvGrpSpPr>
            <a:grpSpLocks/>
          </p:cNvGrpSpPr>
          <p:nvPr/>
        </p:nvGrpSpPr>
        <p:grpSpPr bwMode="auto">
          <a:xfrm>
            <a:off x="1811338" y="3101975"/>
            <a:ext cx="1800225" cy="1720850"/>
            <a:chOff x="1217" y="1954"/>
            <a:chExt cx="1134" cy="1084"/>
          </a:xfrm>
        </p:grpSpPr>
        <p:sp>
          <p:nvSpPr>
            <p:cNvPr id="36881" name="Rectangle 28"/>
            <p:cNvSpPr>
              <a:spLocks noChangeArrowheads="1"/>
            </p:cNvSpPr>
            <p:nvPr/>
          </p:nvSpPr>
          <p:spPr bwMode="auto">
            <a:xfrm>
              <a:off x="1665" y="2811"/>
              <a:ext cx="166" cy="227"/>
            </a:xfrm>
            <a:prstGeom prst="rect">
              <a:avLst/>
            </a:prstGeom>
            <a:noFill/>
            <a:ln w="9525">
              <a:noFill/>
              <a:miter lim="800000"/>
              <a:headEnd/>
              <a:tailEnd/>
            </a:ln>
          </p:spPr>
          <p:txBody>
            <a:bodyPr wrap="none" lIns="0" tIns="0" rIns="0" bIns="0">
              <a:spAutoFit/>
            </a:bodyPr>
            <a:lstStyle/>
            <a:p>
              <a:r>
                <a:rPr lang="en-US" sz="2000" b="1">
                  <a:solidFill>
                    <a:srgbClr val="FF0000"/>
                  </a:solidFill>
                </a:rPr>
                <a:t>3</a:t>
              </a:r>
              <a:endParaRPr lang="en-US"/>
            </a:p>
          </p:txBody>
        </p:sp>
        <p:sp>
          <p:nvSpPr>
            <p:cNvPr id="36882" name="Freeform 29"/>
            <p:cNvSpPr>
              <a:spLocks/>
            </p:cNvSpPr>
            <p:nvPr/>
          </p:nvSpPr>
          <p:spPr bwMode="auto">
            <a:xfrm>
              <a:off x="1217" y="1954"/>
              <a:ext cx="1134" cy="909"/>
            </a:xfrm>
            <a:custGeom>
              <a:avLst/>
              <a:gdLst>
                <a:gd name="T0" fmla="*/ 371 w 1134"/>
                <a:gd name="T1" fmla="*/ 142 h 909"/>
                <a:gd name="T2" fmla="*/ 430 w 1134"/>
                <a:gd name="T3" fmla="*/ 108 h 909"/>
                <a:gd name="T4" fmla="*/ 492 w 1134"/>
                <a:gd name="T5" fmla="*/ 79 h 909"/>
                <a:gd name="T6" fmla="*/ 551 w 1134"/>
                <a:gd name="T7" fmla="*/ 53 h 909"/>
                <a:gd name="T8" fmla="*/ 614 w 1134"/>
                <a:gd name="T9" fmla="*/ 32 h 909"/>
                <a:gd name="T10" fmla="*/ 674 w 1134"/>
                <a:gd name="T11" fmla="*/ 16 h 909"/>
                <a:gd name="T12" fmla="*/ 735 w 1134"/>
                <a:gd name="T13" fmla="*/ 6 h 909"/>
                <a:gd name="T14" fmla="*/ 792 w 1134"/>
                <a:gd name="T15" fmla="*/ 0 h 909"/>
                <a:gd name="T16" fmla="*/ 848 w 1134"/>
                <a:gd name="T17" fmla="*/ 0 h 909"/>
                <a:gd name="T18" fmla="*/ 899 w 1134"/>
                <a:gd name="T19" fmla="*/ 4 h 909"/>
                <a:gd name="T20" fmla="*/ 946 w 1134"/>
                <a:gd name="T21" fmla="*/ 14 h 909"/>
                <a:gd name="T22" fmla="*/ 990 w 1134"/>
                <a:gd name="T23" fmla="*/ 30 h 909"/>
                <a:gd name="T24" fmla="*/ 1027 w 1134"/>
                <a:gd name="T25" fmla="*/ 51 h 909"/>
                <a:gd name="T26" fmla="*/ 1061 w 1134"/>
                <a:gd name="T27" fmla="*/ 77 h 909"/>
                <a:gd name="T28" fmla="*/ 1089 w 1134"/>
                <a:gd name="T29" fmla="*/ 107 h 909"/>
                <a:gd name="T30" fmla="*/ 1110 w 1134"/>
                <a:gd name="T31" fmla="*/ 140 h 909"/>
                <a:gd name="T32" fmla="*/ 1124 w 1134"/>
                <a:gd name="T33" fmla="*/ 177 h 909"/>
                <a:gd name="T34" fmla="*/ 1132 w 1134"/>
                <a:gd name="T35" fmla="*/ 217 h 909"/>
                <a:gd name="T36" fmla="*/ 1134 w 1134"/>
                <a:gd name="T37" fmla="*/ 260 h 909"/>
                <a:gd name="T38" fmla="*/ 1128 w 1134"/>
                <a:gd name="T39" fmla="*/ 308 h 909"/>
                <a:gd name="T40" fmla="*/ 1118 w 1134"/>
                <a:gd name="T41" fmla="*/ 355 h 909"/>
                <a:gd name="T42" fmla="*/ 1099 w 1134"/>
                <a:gd name="T43" fmla="*/ 402 h 909"/>
                <a:gd name="T44" fmla="*/ 1075 w 1134"/>
                <a:gd name="T45" fmla="*/ 451 h 909"/>
                <a:gd name="T46" fmla="*/ 1045 w 1134"/>
                <a:gd name="T47" fmla="*/ 501 h 909"/>
                <a:gd name="T48" fmla="*/ 1010 w 1134"/>
                <a:gd name="T49" fmla="*/ 550 h 909"/>
                <a:gd name="T50" fmla="*/ 968 w 1134"/>
                <a:gd name="T51" fmla="*/ 597 h 909"/>
                <a:gd name="T52" fmla="*/ 923 w 1134"/>
                <a:gd name="T53" fmla="*/ 643 h 909"/>
                <a:gd name="T54" fmla="*/ 871 w 1134"/>
                <a:gd name="T55" fmla="*/ 688 h 909"/>
                <a:gd name="T56" fmla="*/ 818 w 1134"/>
                <a:gd name="T57" fmla="*/ 727 h 909"/>
                <a:gd name="T58" fmla="*/ 763 w 1134"/>
                <a:gd name="T59" fmla="*/ 765 h 909"/>
                <a:gd name="T60" fmla="*/ 703 w 1134"/>
                <a:gd name="T61" fmla="*/ 800 h 909"/>
                <a:gd name="T62" fmla="*/ 644 w 1134"/>
                <a:gd name="T63" fmla="*/ 830 h 909"/>
                <a:gd name="T64" fmla="*/ 583 w 1134"/>
                <a:gd name="T65" fmla="*/ 855 h 909"/>
                <a:gd name="T66" fmla="*/ 519 w 1134"/>
                <a:gd name="T67" fmla="*/ 877 h 909"/>
                <a:gd name="T68" fmla="*/ 460 w 1134"/>
                <a:gd name="T69" fmla="*/ 893 h 909"/>
                <a:gd name="T70" fmla="*/ 401 w 1134"/>
                <a:gd name="T71" fmla="*/ 903 h 909"/>
                <a:gd name="T72" fmla="*/ 342 w 1134"/>
                <a:gd name="T73" fmla="*/ 909 h 909"/>
                <a:gd name="T74" fmla="*/ 286 w 1134"/>
                <a:gd name="T75" fmla="*/ 909 h 909"/>
                <a:gd name="T76" fmla="*/ 235 w 1134"/>
                <a:gd name="T77" fmla="*/ 905 h 909"/>
                <a:gd name="T78" fmla="*/ 187 w 1134"/>
                <a:gd name="T79" fmla="*/ 893 h 909"/>
                <a:gd name="T80" fmla="*/ 144 w 1134"/>
                <a:gd name="T81" fmla="*/ 877 h 909"/>
                <a:gd name="T82" fmla="*/ 106 w 1134"/>
                <a:gd name="T83" fmla="*/ 857 h 909"/>
                <a:gd name="T84" fmla="*/ 73 w 1134"/>
                <a:gd name="T85" fmla="*/ 832 h 909"/>
                <a:gd name="T86" fmla="*/ 45 w 1134"/>
                <a:gd name="T87" fmla="*/ 802 h 909"/>
                <a:gd name="T88" fmla="*/ 23 w 1134"/>
                <a:gd name="T89" fmla="*/ 769 h 909"/>
                <a:gd name="T90" fmla="*/ 9 w 1134"/>
                <a:gd name="T91" fmla="*/ 731 h 909"/>
                <a:gd name="T92" fmla="*/ 2 w 1134"/>
                <a:gd name="T93" fmla="*/ 690 h 909"/>
                <a:gd name="T94" fmla="*/ 0 w 1134"/>
                <a:gd name="T95" fmla="*/ 647 h 909"/>
                <a:gd name="T96" fmla="*/ 5 w 1134"/>
                <a:gd name="T97" fmla="*/ 601 h 909"/>
                <a:gd name="T98" fmla="*/ 15 w 1134"/>
                <a:gd name="T99" fmla="*/ 554 h 909"/>
                <a:gd name="T100" fmla="*/ 35 w 1134"/>
                <a:gd name="T101" fmla="*/ 505 h 909"/>
                <a:gd name="T102" fmla="*/ 59 w 1134"/>
                <a:gd name="T103" fmla="*/ 455 h 909"/>
                <a:gd name="T104" fmla="*/ 88 w 1134"/>
                <a:gd name="T105" fmla="*/ 406 h 909"/>
                <a:gd name="T106" fmla="*/ 124 w 1134"/>
                <a:gd name="T107" fmla="*/ 359 h 909"/>
                <a:gd name="T108" fmla="*/ 166 w 1134"/>
                <a:gd name="T109" fmla="*/ 311 h 909"/>
                <a:gd name="T110" fmla="*/ 211 w 1134"/>
                <a:gd name="T111" fmla="*/ 264 h 909"/>
                <a:gd name="T112" fmla="*/ 262 w 1134"/>
                <a:gd name="T113" fmla="*/ 221 h 909"/>
                <a:gd name="T114" fmla="*/ 316 w 1134"/>
                <a:gd name="T115" fmla="*/ 179 h 909"/>
                <a:gd name="T116" fmla="*/ 371 w 1134"/>
                <a:gd name="T117" fmla="*/ 142 h 90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34"/>
                <a:gd name="T178" fmla="*/ 0 h 909"/>
                <a:gd name="T179" fmla="*/ 1134 w 1134"/>
                <a:gd name="T180" fmla="*/ 909 h 90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34" h="909">
                  <a:moveTo>
                    <a:pt x="371" y="142"/>
                  </a:moveTo>
                  <a:lnTo>
                    <a:pt x="430" y="108"/>
                  </a:lnTo>
                  <a:lnTo>
                    <a:pt x="492" y="79"/>
                  </a:lnTo>
                  <a:lnTo>
                    <a:pt x="551" y="53"/>
                  </a:lnTo>
                  <a:lnTo>
                    <a:pt x="614" y="32"/>
                  </a:lnTo>
                  <a:lnTo>
                    <a:pt x="674" y="16"/>
                  </a:lnTo>
                  <a:lnTo>
                    <a:pt x="735" y="6"/>
                  </a:lnTo>
                  <a:lnTo>
                    <a:pt x="792" y="0"/>
                  </a:lnTo>
                  <a:lnTo>
                    <a:pt x="848" y="0"/>
                  </a:lnTo>
                  <a:lnTo>
                    <a:pt x="899" y="4"/>
                  </a:lnTo>
                  <a:lnTo>
                    <a:pt x="946" y="14"/>
                  </a:lnTo>
                  <a:lnTo>
                    <a:pt x="990" y="30"/>
                  </a:lnTo>
                  <a:lnTo>
                    <a:pt x="1027" y="51"/>
                  </a:lnTo>
                  <a:lnTo>
                    <a:pt x="1061" y="77"/>
                  </a:lnTo>
                  <a:lnTo>
                    <a:pt x="1089" y="107"/>
                  </a:lnTo>
                  <a:lnTo>
                    <a:pt x="1110" y="140"/>
                  </a:lnTo>
                  <a:lnTo>
                    <a:pt x="1124" y="177"/>
                  </a:lnTo>
                  <a:lnTo>
                    <a:pt x="1132" y="217"/>
                  </a:lnTo>
                  <a:lnTo>
                    <a:pt x="1134" y="260"/>
                  </a:lnTo>
                  <a:lnTo>
                    <a:pt x="1128" y="308"/>
                  </a:lnTo>
                  <a:lnTo>
                    <a:pt x="1118" y="355"/>
                  </a:lnTo>
                  <a:lnTo>
                    <a:pt x="1099" y="402"/>
                  </a:lnTo>
                  <a:lnTo>
                    <a:pt x="1075" y="451"/>
                  </a:lnTo>
                  <a:lnTo>
                    <a:pt x="1045" y="501"/>
                  </a:lnTo>
                  <a:lnTo>
                    <a:pt x="1010" y="550"/>
                  </a:lnTo>
                  <a:lnTo>
                    <a:pt x="968" y="597"/>
                  </a:lnTo>
                  <a:lnTo>
                    <a:pt x="923" y="643"/>
                  </a:lnTo>
                  <a:lnTo>
                    <a:pt x="871" y="688"/>
                  </a:lnTo>
                  <a:lnTo>
                    <a:pt x="818" y="727"/>
                  </a:lnTo>
                  <a:lnTo>
                    <a:pt x="763" y="765"/>
                  </a:lnTo>
                  <a:lnTo>
                    <a:pt x="703" y="800"/>
                  </a:lnTo>
                  <a:lnTo>
                    <a:pt x="644" y="830"/>
                  </a:lnTo>
                  <a:lnTo>
                    <a:pt x="583" y="855"/>
                  </a:lnTo>
                  <a:lnTo>
                    <a:pt x="519" y="877"/>
                  </a:lnTo>
                  <a:lnTo>
                    <a:pt x="460" y="893"/>
                  </a:lnTo>
                  <a:lnTo>
                    <a:pt x="401" y="903"/>
                  </a:lnTo>
                  <a:lnTo>
                    <a:pt x="342" y="909"/>
                  </a:lnTo>
                  <a:lnTo>
                    <a:pt x="286" y="909"/>
                  </a:lnTo>
                  <a:lnTo>
                    <a:pt x="235" y="905"/>
                  </a:lnTo>
                  <a:lnTo>
                    <a:pt x="187" y="893"/>
                  </a:lnTo>
                  <a:lnTo>
                    <a:pt x="144" y="877"/>
                  </a:lnTo>
                  <a:lnTo>
                    <a:pt x="106" y="857"/>
                  </a:lnTo>
                  <a:lnTo>
                    <a:pt x="73" y="832"/>
                  </a:lnTo>
                  <a:lnTo>
                    <a:pt x="45" y="802"/>
                  </a:lnTo>
                  <a:lnTo>
                    <a:pt x="23" y="769"/>
                  </a:lnTo>
                  <a:lnTo>
                    <a:pt x="9" y="731"/>
                  </a:lnTo>
                  <a:lnTo>
                    <a:pt x="2" y="690"/>
                  </a:lnTo>
                  <a:lnTo>
                    <a:pt x="0" y="647"/>
                  </a:lnTo>
                  <a:lnTo>
                    <a:pt x="5" y="601"/>
                  </a:lnTo>
                  <a:lnTo>
                    <a:pt x="15" y="554"/>
                  </a:lnTo>
                  <a:lnTo>
                    <a:pt x="35" y="505"/>
                  </a:lnTo>
                  <a:lnTo>
                    <a:pt x="59" y="455"/>
                  </a:lnTo>
                  <a:lnTo>
                    <a:pt x="88" y="406"/>
                  </a:lnTo>
                  <a:lnTo>
                    <a:pt x="124" y="359"/>
                  </a:lnTo>
                  <a:lnTo>
                    <a:pt x="166" y="311"/>
                  </a:lnTo>
                  <a:lnTo>
                    <a:pt x="211" y="264"/>
                  </a:lnTo>
                  <a:lnTo>
                    <a:pt x="262" y="221"/>
                  </a:lnTo>
                  <a:lnTo>
                    <a:pt x="316" y="179"/>
                  </a:lnTo>
                  <a:lnTo>
                    <a:pt x="371" y="142"/>
                  </a:lnTo>
                </a:path>
              </a:pathLst>
            </a:custGeom>
            <a:noFill/>
            <a:ln w="3175">
              <a:solidFill>
                <a:srgbClr val="000000"/>
              </a:solidFill>
              <a:round/>
              <a:headEnd/>
              <a:tailEnd/>
            </a:ln>
          </p:spPr>
          <p:txBody>
            <a:bodyPr/>
            <a:lstStyle/>
            <a:p>
              <a:endParaRPr lang="en-US"/>
            </a:p>
          </p:txBody>
        </p:sp>
      </p:grpSp>
      <p:grpSp>
        <p:nvGrpSpPr>
          <p:cNvPr id="8" name="Group 30"/>
          <p:cNvGrpSpPr>
            <a:grpSpLocks/>
          </p:cNvGrpSpPr>
          <p:nvPr/>
        </p:nvGrpSpPr>
        <p:grpSpPr bwMode="auto">
          <a:xfrm>
            <a:off x="1773238" y="1922463"/>
            <a:ext cx="1933575" cy="3097212"/>
            <a:chOff x="1193" y="1211"/>
            <a:chExt cx="1218" cy="1951"/>
          </a:xfrm>
        </p:grpSpPr>
        <p:sp>
          <p:nvSpPr>
            <p:cNvPr id="36879" name="Rectangle 31"/>
            <p:cNvSpPr>
              <a:spLocks noChangeArrowheads="1"/>
            </p:cNvSpPr>
            <p:nvPr/>
          </p:nvSpPr>
          <p:spPr bwMode="auto">
            <a:xfrm>
              <a:off x="1602" y="1211"/>
              <a:ext cx="166" cy="227"/>
            </a:xfrm>
            <a:prstGeom prst="rect">
              <a:avLst/>
            </a:prstGeom>
            <a:noFill/>
            <a:ln w="9525">
              <a:noFill/>
              <a:miter lim="800000"/>
              <a:headEnd/>
              <a:tailEnd/>
            </a:ln>
          </p:spPr>
          <p:txBody>
            <a:bodyPr wrap="none" lIns="0" tIns="0" rIns="0" bIns="0">
              <a:spAutoFit/>
            </a:bodyPr>
            <a:lstStyle/>
            <a:p>
              <a:r>
                <a:rPr lang="en-US" sz="2000" b="1">
                  <a:solidFill>
                    <a:srgbClr val="FF0000"/>
                  </a:solidFill>
                </a:rPr>
                <a:t>4</a:t>
              </a:r>
              <a:endParaRPr lang="en-US"/>
            </a:p>
          </p:txBody>
        </p:sp>
        <p:sp>
          <p:nvSpPr>
            <p:cNvPr id="36880" name="Freeform 32"/>
            <p:cNvSpPr>
              <a:spLocks/>
            </p:cNvSpPr>
            <p:nvPr/>
          </p:nvSpPr>
          <p:spPr bwMode="auto">
            <a:xfrm>
              <a:off x="1193" y="1246"/>
              <a:ext cx="1218" cy="1916"/>
            </a:xfrm>
            <a:custGeom>
              <a:avLst/>
              <a:gdLst>
                <a:gd name="T0" fmla="*/ 87 w 1218"/>
                <a:gd name="T1" fmla="*/ 724 h 1916"/>
                <a:gd name="T2" fmla="*/ 148 w 1218"/>
                <a:gd name="T3" fmla="*/ 566 h 1916"/>
                <a:gd name="T4" fmla="*/ 225 w 1218"/>
                <a:gd name="T5" fmla="*/ 420 h 1916"/>
                <a:gd name="T6" fmla="*/ 312 w 1218"/>
                <a:gd name="T7" fmla="*/ 290 h 1916"/>
                <a:gd name="T8" fmla="*/ 409 w 1218"/>
                <a:gd name="T9" fmla="*/ 182 h 1916"/>
                <a:gd name="T10" fmla="*/ 514 w 1218"/>
                <a:gd name="T11" fmla="*/ 97 h 1916"/>
                <a:gd name="T12" fmla="*/ 619 w 1218"/>
                <a:gd name="T13" fmla="*/ 38 h 1916"/>
                <a:gd name="T14" fmla="*/ 725 w 1218"/>
                <a:gd name="T15" fmla="*/ 6 h 1916"/>
                <a:gd name="T16" fmla="*/ 826 w 1218"/>
                <a:gd name="T17" fmla="*/ 4 h 1916"/>
                <a:gd name="T18" fmla="*/ 923 w 1218"/>
                <a:gd name="T19" fmla="*/ 30 h 1916"/>
                <a:gd name="T20" fmla="*/ 1008 w 1218"/>
                <a:gd name="T21" fmla="*/ 85 h 1916"/>
                <a:gd name="T22" fmla="*/ 1081 w 1218"/>
                <a:gd name="T23" fmla="*/ 168 h 1916"/>
                <a:gd name="T24" fmla="*/ 1142 w 1218"/>
                <a:gd name="T25" fmla="*/ 272 h 1916"/>
                <a:gd name="T26" fmla="*/ 1184 w 1218"/>
                <a:gd name="T27" fmla="*/ 399 h 1916"/>
                <a:gd name="T28" fmla="*/ 1212 w 1218"/>
                <a:gd name="T29" fmla="*/ 543 h 1916"/>
                <a:gd name="T30" fmla="*/ 1218 w 1218"/>
                <a:gd name="T31" fmla="*/ 698 h 1916"/>
                <a:gd name="T32" fmla="*/ 1208 w 1218"/>
                <a:gd name="T33" fmla="*/ 862 h 1916"/>
                <a:gd name="T34" fmla="*/ 1178 w 1218"/>
                <a:gd name="T35" fmla="*/ 1029 h 1916"/>
                <a:gd name="T36" fmla="*/ 1133 w 1218"/>
                <a:gd name="T37" fmla="*/ 1193 h 1916"/>
                <a:gd name="T38" fmla="*/ 1069 w 1218"/>
                <a:gd name="T39" fmla="*/ 1351 h 1916"/>
                <a:gd name="T40" fmla="*/ 992 w 1218"/>
                <a:gd name="T41" fmla="*/ 1496 h 1916"/>
                <a:gd name="T42" fmla="*/ 905 w 1218"/>
                <a:gd name="T43" fmla="*/ 1627 h 1916"/>
                <a:gd name="T44" fmla="*/ 808 w 1218"/>
                <a:gd name="T45" fmla="*/ 1735 h 1916"/>
                <a:gd name="T46" fmla="*/ 706 w 1218"/>
                <a:gd name="T47" fmla="*/ 1820 h 1916"/>
                <a:gd name="T48" fmla="*/ 599 w 1218"/>
                <a:gd name="T49" fmla="*/ 1879 h 1916"/>
                <a:gd name="T50" fmla="*/ 494 w 1218"/>
                <a:gd name="T51" fmla="*/ 1910 h 1916"/>
                <a:gd name="T52" fmla="*/ 391 w 1218"/>
                <a:gd name="T53" fmla="*/ 1912 h 1916"/>
                <a:gd name="T54" fmla="*/ 296 w 1218"/>
                <a:gd name="T55" fmla="*/ 1887 h 1916"/>
                <a:gd name="T56" fmla="*/ 209 w 1218"/>
                <a:gd name="T57" fmla="*/ 1832 h 1916"/>
                <a:gd name="T58" fmla="*/ 136 w 1218"/>
                <a:gd name="T59" fmla="*/ 1751 h 1916"/>
                <a:gd name="T60" fmla="*/ 77 w 1218"/>
                <a:gd name="T61" fmla="*/ 1644 h 1916"/>
                <a:gd name="T62" fmla="*/ 33 w 1218"/>
                <a:gd name="T63" fmla="*/ 1518 h 1916"/>
                <a:gd name="T64" fmla="*/ 8 w 1218"/>
                <a:gd name="T65" fmla="*/ 1374 h 1916"/>
                <a:gd name="T66" fmla="*/ 0 w 1218"/>
                <a:gd name="T67" fmla="*/ 1219 h 1916"/>
                <a:gd name="T68" fmla="*/ 12 w 1218"/>
                <a:gd name="T69" fmla="*/ 1055 h 1916"/>
                <a:gd name="T70" fmla="*/ 39 w 1218"/>
                <a:gd name="T71" fmla="*/ 887 h 19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18"/>
                <a:gd name="T109" fmla="*/ 0 h 1916"/>
                <a:gd name="T110" fmla="*/ 1218 w 1218"/>
                <a:gd name="T111" fmla="*/ 1916 h 19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18" h="1916">
                  <a:moveTo>
                    <a:pt x="61" y="805"/>
                  </a:moveTo>
                  <a:lnTo>
                    <a:pt x="87" y="724"/>
                  </a:lnTo>
                  <a:lnTo>
                    <a:pt x="116" y="643"/>
                  </a:lnTo>
                  <a:lnTo>
                    <a:pt x="148" y="566"/>
                  </a:lnTo>
                  <a:lnTo>
                    <a:pt x="186" y="491"/>
                  </a:lnTo>
                  <a:lnTo>
                    <a:pt x="225" y="420"/>
                  </a:lnTo>
                  <a:lnTo>
                    <a:pt x="267" y="353"/>
                  </a:lnTo>
                  <a:lnTo>
                    <a:pt x="312" y="290"/>
                  </a:lnTo>
                  <a:lnTo>
                    <a:pt x="360" y="233"/>
                  </a:lnTo>
                  <a:lnTo>
                    <a:pt x="409" y="182"/>
                  </a:lnTo>
                  <a:lnTo>
                    <a:pt x="460" y="136"/>
                  </a:lnTo>
                  <a:lnTo>
                    <a:pt x="514" y="97"/>
                  </a:lnTo>
                  <a:lnTo>
                    <a:pt x="565" y="64"/>
                  </a:lnTo>
                  <a:lnTo>
                    <a:pt x="619" y="38"/>
                  </a:lnTo>
                  <a:lnTo>
                    <a:pt x="672" y="18"/>
                  </a:lnTo>
                  <a:lnTo>
                    <a:pt x="725" y="6"/>
                  </a:lnTo>
                  <a:lnTo>
                    <a:pt x="777" y="0"/>
                  </a:lnTo>
                  <a:lnTo>
                    <a:pt x="826" y="4"/>
                  </a:lnTo>
                  <a:lnTo>
                    <a:pt x="876" y="14"/>
                  </a:lnTo>
                  <a:lnTo>
                    <a:pt x="923" y="30"/>
                  </a:lnTo>
                  <a:lnTo>
                    <a:pt x="966" y="54"/>
                  </a:lnTo>
                  <a:lnTo>
                    <a:pt x="1008" y="85"/>
                  </a:lnTo>
                  <a:lnTo>
                    <a:pt x="1048" y="123"/>
                  </a:lnTo>
                  <a:lnTo>
                    <a:pt x="1081" y="168"/>
                  </a:lnTo>
                  <a:lnTo>
                    <a:pt x="1113" y="217"/>
                  </a:lnTo>
                  <a:lnTo>
                    <a:pt x="1142" y="272"/>
                  </a:lnTo>
                  <a:lnTo>
                    <a:pt x="1166" y="334"/>
                  </a:lnTo>
                  <a:lnTo>
                    <a:pt x="1184" y="399"/>
                  </a:lnTo>
                  <a:lnTo>
                    <a:pt x="1200" y="470"/>
                  </a:lnTo>
                  <a:lnTo>
                    <a:pt x="1212" y="543"/>
                  </a:lnTo>
                  <a:lnTo>
                    <a:pt x="1218" y="619"/>
                  </a:lnTo>
                  <a:lnTo>
                    <a:pt x="1218" y="698"/>
                  </a:lnTo>
                  <a:lnTo>
                    <a:pt x="1216" y="779"/>
                  </a:lnTo>
                  <a:lnTo>
                    <a:pt x="1208" y="862"/>
                  </a:lnTo>
                  <a:lnTo>
                    <a:pt x="1196" y="947"/>
                  </a:lnTo>
                  <a:lnTo>
                    <a:pt x="1178" y="1029"/>
                  </a:lnTo>
                  <a:lnTo>
                    <a:pt x="1156" y="1112"/>
                  </a:lnTo>
                  <a:lnTo>
                    <a:pt x="1133" y="1193"/>
                  </a:lnTo>
                  <a:lnTo>
                    <a:pt x="1103" y="1274"/>
                  </a:lnTo>
                  <a:lnTo>
                    <a:pt x="1069" y="1351"/>
                  </a:lnTo>
                  <a:lnTo>
                    <a:pt x="1034" y="1426"/>
                  </a:lnTo>
                  <a:lnTo>
                    <a:pt x="992" y="1496"/>
                  </a:lnTo>
                  <a:lnTo>
                    <a:pt x="951" y="1563"/>
                  </a:lnTo>
                  <a:lnTo>
                    <a:pt x="905" y="1627"/>
                  </a:lnTo>
                  <a:lnTo>
                    <a:pt x="858" y="1684"/>
                  </a:lnTo>
                  <a:lnTo>
                    <a:pt x="808" y="1735"/>
                  </a:lnTo>
                  <a:lnTo>
                    <a:pt x="757" y="1780"/>
                  </a:lnTo>
                  <a:lnTo>
                    <a:pt x="706" y="1820"/>
                  </a:lnTo>
                  <a:lnTo>
                    <a:pt x="652" y="1853"/>
                  </a:lnTo>
                  <a:lnTo>
                    <a:pt x="599" y="1879"/>
                  </a:lnTo>
                  <a:lnTo>
                    <a:pt x="545" y="1899"/>
                  </a:lnTo>
                  <a:lnTo>
                    <a:pt x="494" y="1910"/>
                  </a:lnTo>
                  <a:lnTo>
                    <a:pt x="443" y="1916"/>
                  </a:lnTo>
                  <a:lnTo>
                    <a:pt x="391" y="1912"/>
                  </a:lnTo>
                  <a:lnTo>
                    <a:pt x="342" y="1902"/>
                  </a:lnTo>
                  <a:lnTo>
                    <a:pt x="296" y="1887"/>
                  </a:lnTo>
                  <a:lnTo>
                    <a:pt x="251" y="1863"/>
                  </a:lnTo>
                  <a:lnTo>
                    <a:pt x="209" y="1832"/>
                  </a:lnTo>
                  <a:lnTo>
                    <a:pt x="172" y="1794"/>
                  </a:lnTo>
                  <a:lnTo>
                    <a:pt x="136" y="1751"/>
                  </a:lnTo>
                  <a:lnTo>
                    <a:pt x="105" y="1699"/>
                  </a:lnTo>
                  <a:lnTo>
                    <a:pt x="77" y="1644"/>
                  </a:lnTo>
                  <a:lnTo>
                    <a:pt x="53" y="1583"/>
                  </a:lnTo>
                  <a:lnTo>
                    <a:pt x="33" y="1518"/>
                  </a:lnTo>
                  <a:lnTo>
                    <a:pt x="18" y="1449"/>
                  </a:lnTo>
                  <a:lnTo>
                    <a:pt x="8" y="1374"/>
                  </a:lnTo>
                  <a:lnTo>
                    <a:pt x="2" y="1297"/>
                  </a:lnTo>
                  <a:lnTo>
                    <a:pt x="0" y="1219"/>
                  </a:lnTo>
                  <a:lnTo>
                    <a:pt x="4" y="1138"/>
                  </a:lnTo>
                  <a:lnTo>
                    <a:pt x="12" y="1055"/>
                  </a:lnTo>
                  <a:lnTo>
                    <a:pt x="24" y="972"/>
                  </a:lnTo>
                  <a:lnTo>
                    <a:pt x="39" y="887"/>
                  </a:lnTo>
                  <a:lnTo>
                    <a:pt x="61" y="805"/>
                  </a:lnTo>
                </a:path>
              </a:pathLst>
            </a:custGeom>
            <a:noFill/>
            <a:ln w="3175">
              <a:solidFill>
                <a:srgbClr val="000000"/>
              </a:solidFill>
              <a:round/>
              <a:headEnd/>
              <a:tailEnd/>
            </a:ln>
          </p:spPr>
          <p:txBody>
            <a:bodyPr/>
            <a:lstStyle/>
            <a:p>
              <a:endParaRPr lang="en-US"/>
            </a:p>
          </p:txBody>
        </p:sp>
      </p:grpSp>
    </p:spTree>
    <p:extLst>
      <p:ext uri="{BB962C8B-B14F-4D97-AF65-F5344CB8AC3E}">
        <p14:creationId xmlns:p14="http://schemas.microsoft.com/office/powerpoint/2010/main" val="3302290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721" y="2406"/>
            <a:ext cx="8229600" cy="1143000"/>
          </a:xfrm>
        </p:spPr>
        <p:txBody>
          <a:bodyPr>
            <a:normAutofit/>
          </a:bodyPr>
          <a:lstStyle/>
          <a:p>
            <a:pPr eaLnBrk="1" fontAlgn="auto" hangingPunct="1">
              <a:spcAft>
                <a:spcPts val="0"/>
              </a:spcAft>
              <a:defRPr/>
            </a:pPr>
            <a:r>
              <a:rPr lang="fr-FR" sz="4400" dirty="0">
                <a:latin typeface="+mn-lt"/>
              </a:rPr>
              <a:t>Comparaison</a:t>
            </a:r>
            <a:endParaRPr lang="en-US" sz="4400" dirty="0">
              <a:latin typeface="+mn-lt"/>
            </a:endParaRPr>
          </a:p>
        </p:txBody>
      </p:sp>
      <p:sp>
        <p:nvSpPr>
          <p:cNvPr id="37894" name="Text Box 2"/>
          <p:cNvSpPr txBox="1">
            <a:spLocks noChangeArrowheads="1"/>
          </p:cNvSpPr>
          <p:nvPr/>
        </p:nvSpPr>
        <p:spPr bwMode="auto">
          <a:xfrm>
            <a:off x="3505200" y="6248400"/>
            <a:ext cx="1676400" cy="336550"/>
          </a:xfrm>
          <a:prstGeom prst="rect">
            <a:avLst/>
          </a:prstGeom>
          <a:noFill/>
          <a:ln w="12700">
            <a:noFill/>
            <a:miter lim="800000"/>
            <a:headEnd/>
            <a:tailEnd/>
          </a:ln>
        </p:spPr>
        <p:txBody>
          <a:bodyPr>
            <a:spAutoFit/>
          </a:bodyPr>
          <a:lstStyle/>
          <a:p>
            <a:r>
              <a:rPr lang="en-US" sz="1600" b="1"/>
              <a:t>Average Link</a:t>
            </a:r>
            <a:endParaRPr lang="en-US"/>
          </a:p>
        </p:txBody>
      </p:sp>
      <p:sp>
        <p:nvSpPr>
          <p:cNvPr id="37895" name="Text Box 32"/>
          <p:cNvSpPr txBox="1">
            <a:spLocks noChangeArrowheads="1"/>
          </p:cNvSpPr>
          <p:nvPr/>
        </p:nvSpPr>
        <p:spPr bwMode="auto">
          <a:xfrm>
            <a:off x="1371600" y="3930650"/>
            <a:ext cx="1676400" cy="336550"/>
          </a:xfrm>
          <a:prstGeom prst="rect">
            <a:avLst/>
          </a:prstGeom>
          <a:noFill/>
          <a:ln w="12700">
            <a:noFill/>
            <a:miter lim="800000"/>
            <a:headEnd/>
            <a:tailEnd/>
          </a:ln>
        </p:spPr>
        <p:txBody>
          <a:bodyPr>
            <a:spAutoFit/>
          </a:bodyPr>
          <a:lstStyle/>
          <a:p>
            <a:r>
              <a:rPr lang="en-US" sz="1600" b="1"/>
              <a:t>Single Link</a:t>
            </a:r>
            <a:endParaRPr lang="en-US"/>
          </a:p>
        </p:txBody>
      </p:sp>
      <p:sp>
        <p:nvSpPr>
          <p:cNvPr id="37896" name="Text Box 33"/>
          <p:cNvSpPr txBox="1">
            <a:spLocks noChangeArrowheads="1"/>
          </p:cNvSpPr>
          <p:nvPr/>
        </p:nvSpPr>
        <p:spPr bwMode="auto">
          <a:xfrm>
            <a:off x="5741988" y="3854450"/>
            <a:ext cx="1752600" cy="336550"/>
          </a:xfrm>
          <a:prstGeom prst="rect">
            <a:avLst/>
          </a:prstGeom>
          <a:noFill/>
          <a:ln w="12700">
            <a:noFill/>
            <a:miter lim="800000"/>
            <a:headEnd/>
            <a:tailEnd/>
          </a:ln>
        </p:spPr>
        <p:txBody>
          <a:bodyPr>
            <a:spAutoFit/>
          </a:bodyPr>
          <a:lstStyle/>
          <a:p>
            <a:r>
              <a:rPr lang="en-US" sz="1600" b="1"/>
              <a:t>Complete Link</a:t>
            </a:r>
            <a:endParaRPr lang="en-US"/>
          </a:p>
        </p:txBody>
      </p:sp>
      <p:grpSp>
        <p:nvGrpSpPr>
          <p:cNvPr id="3" name="Group 34"/>
          <p:cNvGrpSpPr>
            <a:grpSpLocks noChangeAspect="1"/>
          </p:cNvGrpSpPr>
          <p:nvPr/>
        </p:nvGrpSpPr>
        <p:grpSpPr bwMode="auto">
          <a:xfrm>
            <a:off x="3257550" y="4121150"/>
            <a:ext cx="1978025" cy="1795463"/>
            <a:chOff x="438" y="1309"/>
            <a:chExt cx="1937" cy="1757"/>
          </a:xfrm>
        </p:grpSpPr>
        <p:sp>
          <p:nvSpPr>
            <p:cNvPr id="37969" name="Freeform 35"/>
            <p:cNvSpPr>
              <a:spLocks noChangeAspect="1"/>
            </p:cNvSpPr>
            <p:nvPr/>
          </p:nvSpPr>
          <p:spPr bwMode="auto">
            <a:xfrm>
              <a:off x="1038" y="2002"/>
              <a:ext cx="88" cy="87"/>
            </a:xfrm>
            <a:custGeom>
              <a:avLst/>
              <a:gdLst>
                <a:gd name="T0" fmla="*/ 0 w 88"/>
                <a:gd name="T1" fmla="*/ 43 h 87"/>
                <a:gd name="T2" fmla="*/ 4 w 88"/>
                <a:gd name="T3" fmla="*/ 26 h 87"/>
                <a:gd name="T4" fmla="*/ 13 w 88"/>
                <a:gd name="T5" fmla="*/ 13 h 87"/>
                <a:gd name="T6" fmla="*/ 28 w 88"/>
                <a:gd name="T7" fmla="*/ 2 h 87"/>
                <a:gd name="T8" fmla="*/ 45 w 88"/>
                <a:gd name="T9" fmla="*/ 0 h 87"/>
                <a:gd name="T10" fmla="*/ 62 w 88"/>
                <a:gd name="T11" fmla="*/ 2 h 87"/>
                <a:gd name="T12" fmla="*/ 75 w 88"/>
                <a:gd name="T13" fmla="*/ 13 h 87"/>
                <a:gd name="T14" fmla="*/ 86 w 88"/>
                <a:gd name="T15" fmla="*/ 26 h 87"/>
                <a:gd name="T16" fmla="*/ 88 w 88"/>
                <a:gd name="T17" fmla="*/ 43 h 87"/>
                <a:gd name="T18" fmla="*/ 86 w 88"/>
                <a:gd name="T19" fmla="*/ 61 h 87"/>
                <a:gd name="T20" fmla="*/ 75 w 88"/>
                <a:gd name="T21" fmla="*/ 74 h 87"/>
                <a:gd name="T22" fmla="*/ 62 w 88"/>
                <a:gd name="T23" fmla="*/ 84 h 87"/>
                <a:gd name="T24" fmla="*/ 45 w 88"/>
                <a:gd name="T25" fmla="*/ 87 h 87"/>
                <a:gd name="T26" fmla="*/ 28 w 88"/>
                <a:gd name="T27" fmla="*/ 84 h 87"/>
                <a:gd name="T28" fmla="*/ 13 w 88"/>
                <a:gd name="T29" fmla="*/ 74 h 87"/>
                <a:gd name="T30" fmla="*/ 4 w 88"/>
                <a:gd name="T31" fmla="*/ 61 h 87"/>
                <a:gd name="T32" fmla="*/ 0 w 88"/>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7"/>
                <a:gd name="T53" fmla="*/ 88 w 88"/>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7">
                  <a:moveTo>
                    <a:pt x="0" y="43"/>
                  </a:moveTo>
                  <a:lnTo>
                    <a:pt x="4" y="26"/>
                  </a:lnTo>
                  <a:lnTo>
                    <a:pt x="13" y="13"/>
                  </a:lnTo>
                  <a:lnTo>
                    <a:pt x="28" y="2"/>
                  </a:lnTo>
                  <a:lnTo>
                    <a:pt x="45" y="0"/>
                  </a:lnTo>
                  <a:lnTo>
                    <a:pt x="62" y="2"/>
                  </a:lnTo>
                  <a:lnTo>
                    <a:pt x="75" y="13"/>
                  </a:lnTo>
                  <a:lnTo>
                    <a:pt x="86" y="26"/>
                  </a:lnTo>
                  <a:lnTo>
                    <a:pt x="88" y="43"/>
                  </a:lnTo>
                  <a:lnTo>
                    <a:pt x="86" y="61"/>
                  </a:lnTo>
                  <a:lnTo>
                    <a:pt x="75" y="74"/>
                  </a:lnTo>
                  <a:lnTo>
                    <a:pt x="62" y="84"/>
                  </a:lnTo>
                  <a:lnTo>
                    <a:pt x="45" y="87"/>
                  </a:lnTo>
                  <a:lnTo>
                    <a:pt x="28" y="84"/>
                  </a:lnTo>
                  <a:lnTo>
                    <a:pt x="13" y="74"/>
                  </a:lnTo>
                  <a:lnTo>
                    <a:pt x="4" y="61"/>
                  </a:lnTo>
                  <a:lnTo>
                    <a:pt x="0" y="43"/>
                  </a:lnTo>
                  <a:close/>
                </a:path>
              </a:pathLst>
            </a:custGeom>
            <a:solidFill>
              <a:srgbClr val="1A1A1A"/>
            </a:solidFill>
            <a:ln w="3175">
              <a:solidFill>
                <a:srgbClr val="000000"/>
              </a:solidFill>
              <a:round/>
              <a:headEnd/>
              <a:tailEnd/>
            </a:ln>
          </p:spPr>
          <p:txBody>
            <a:bodyPr/>
            <a:lstStyle/>
            <a:p>
              <a:endParaRPr lang="en-US"/>
            </a:p>
          </p:txBody>
        </p:sp>
        <p:sp>
          <p:nvSpPr>
            <p:cNvPr id="37970" name="Freeform 36"/>
            <p:cNvSpPr>
              <a:spLocks noChangeAspect="1"/>
            </p:cNvSpPr>
            <p:nvPr/>
          </p:nvSpPr>
          <p:spPr bwMode="auto">
            <a:xfrm>
              <a:off x="1860" y="1361"/>
              <a:ext cx="89" cy="88"/>
            </a:xfrm>
            <a:custGeom>
              <a:avLst/>
              <a:gdLst>
                <a:gd name="T0" fmla="*/ 0 w 89"/>
                <a:gd name="T1" fmla="*/ 43 h 88"/>
                <a:gd name="T2" fmla="*/ 4 w 89"/>
                <a:gd name="T3" fmla="*/ 26 h 88"/>
                <a:gd name="T4" fmla="*/ 13 w 89"/>
                <a:gd name="T5" fmla="*/ 13 h 88"/>
                <a:gd name="T6" fmla="*/ 28 w 89"/>
                <a:gd name="T7" fmla="*/ 2 h 88"/>
                <a:gd name="T8" fmla="*/ 45 w 89"/>
                <a:gd name="T9" fmla="*/ 0 h 88"/>
                <a:gd name="T10" fmla="*/ 63 w 89"/>
                <a:gd name="T11" fmla="*/ 2 h 88"/>
                <a:gd name="T12" fmla="*/ 76 w 89"/>
                <a:gd name="T13" fmla="*/ 13 h 88"/>
                <a:gd name="T14" fmla="*/ 86 w 89"/>
                <a:gd name="T15" fmla="*/ 26 h 88"/>
                <a:gd name="T16" fmla="*/ 89 w 89"/>
                <a:gd name="T17" fmla="*/ 43 h 88"/>
                <a:gd name="T18" fmla="*/ 86 w 89"/>
                <a:gd name="T19" fmla="*/ 60 h 88"/>
                <a:gd name="T20" fmla="*/ 76 w 89"/>
                <a:gd name="T21" fmla="*/ 76 h 88"/>
                <a:gd name="T22" fmla="*/ 63 w 89"/>
                <a:gd name="T23" fmla="*/ 84 h 88"/>
                <a:gd name="T24" fmla="*/ 45 w 89"/>
                <a:gd name="T25" fmla="*/ 88 h 88"/>
                <a:gd name="T26" fmla="*/ 28 w 89"/>
                <a:gd name="T27" fmla="*/ 84 h 88"/>
                <a:gd name="T28" fmla="*/ 13 w 89"/>
                <a:gd name="T29" fmla="*/ 76 h 88"/>
                <a:gd name="T30" fmla="*/ 4 w 89"/>
                <a:gd name="T31" fmla="*/ 60 h 88"/>
                <a:gd name="T32" fmla="*/ 0 w 89"/>
                <a:gd name="T33" fmla="*/ 43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3"/>
                  </a:moveTo>
                  <a:lnTo>
                    <a:pt x="4" y="26"/>
                  </a:lnTo>
                  <a:lnTo>
                    <a:pt x="13" y="13"/>
                  </a:lnTo>
                  <a:lnTo>
                    <a:pt x="28" y="2"/>
                  </a:lnTo>
                  <a:lnTo>
                    <a:pt x="45" y="0"/>
                  </a:lnTo>
                  <a:lnTo>
                    <a:pt x="63" y="2"/>
                  </a:lnTo>
                  <a:lnTo>
                    <a:pt x="76" y="13"/>
                  </a:lnTo>
                  <a:lnTo>
                    <a:pt x="86" y="26"/>
                  </a:lnTo>
                  <a:lnTo>
                    <a:pt x="89" y="43"/>
                  </a:lnTo>
                  <a:lnTo>
                    <a:pt x="86" y="60"/>
                  </a:lnTo>
                  <a:lnTo>
                    <a:pt x="76" y="76"/>
                  </a:lnTo>
                  <a:lnTo>
                    <a:pt x="63" y="84"/>
                  </a:lnTo>
                  <a:lnTo>
                    <a:pt x="45" y="88"/>
                  </a:lnTo>
                  <a:lnTo>
                    <a:pt x="28" y="84"/>
                  </a:lnTo>
                  <a:lnTo>
                    <a:pt x="13" y="76"/>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7971" name="Freeform 37"/>
            <p:cNvSpPr>
              <a:spLocks noChangeAspect="1"/>
            </p:cNvSpPr>
            <p:nvPr/>
          </p:nvSpPr>
          <p:spPr bwMode="auto">
            <a:xfrm>
              <a:off x="1260" y="2875"/>
              <a:ext cx="89" cy="88"/>
            </a:xfrm>
            <a:custGeom>
              <a:avLst/>
              <a:gdLst>
                <a:gd name="T0" fmla="*/ 0 w 89"/>
                <a:gd name="T1" fmla="*/ 45 h 88"/>
                <a:gd name="T2" fmla="*/ 5 w 89"/>
                <a:gd name="T3" fmla="*/ 28 h 88"/>
                <a:gd name="T4" fmla="*/ 13 w 89"/>
                <a:gd name="T5" fmla="*/ 12 h 88"/>
                <a:gd name="T6" fmla="*/ 29 w 89"/>
                <a:gd name="T7" fmla="*/ 4 h 88"/>
                <a:gd name="T8" fmla="*/ 46 w 89"/>
                <a:gd name="T9" fmla="*/ 0 h 88"/>
                <a:gd name="T10" fmla="*/ 63 w 89"/>
                <a:gd name="T11" fmla="*/ 4 h 88"/>
                <a:gd name="T12" fmla="*/ 76 w 89"/>
                <a:gd name="T13" fmla="*/ 12 h 88"/>
                <a:gd name="T14" fmla="*/ 87 w 89"/>
                <a:gd name="T15" fmla="*/ 28 h 88"/>
                <a:gd name="T16" fmla="*/ 89 w 89"/>
                <a:gd name="T17" fmla="*/ 45 h 88"/>
                <a:gd name="T18" fmla="*/ 87 w 89"/>
                <a:gd name="T19" fmla="*/ 62 h 88"/>
                <a:gd name="T20" fmla="*/ 76 w 89"/>
                <a:gd name="T21" fmla="*/ 75 h 88"/>
                <a:gd name="T22" fmla="*/ 63 w 89"/>
                <a:gd name="T23" fmla="*/ 86 h 88"/>
                <a:gd name="T24" fmla="*/ 46 w 89"/>
                <a:gd name="T25" fmla="*/ 88 h 88"/>
                <a:gd name="T26" fmla="*/ 29 w 89"/>
                <a:gd name="T27" fmla="*/ 86 h 88"/>
                <a:gd name="T28" fmla="*/ 13 w 89"/>
                <a:gd name="T29" fmla="*/ 75 h 88"/>
                <a:gd name="T30" fmla="*/ 5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5" y="28"/>
                  </a:lnTo>
                  <a:lnTo>
                    <a:pt x="13" y="12"/>
                  </a:lnTo>
                  <a:lnTo>
                    <a:pt x="29" y="4"/>
                  </a:lnTo>
                  <a:lnTo>
                    <a:pt x="46" y="0"/>
                  </a:lnTo>
                  <a:lnTo>
                    <a:pt x="63" y="4"/>
                  </a:lnTo>
                  <a:lnTo>
                    <a:pt x="76" y="12"/>
                  </a:lnTo>
                  <a:lnTo>
                    <a:pt x="87" y="28"/>
                  </a:lnTo>
                  <a:lnTo>
                    <a:pt x="89" y="45"/>
                  </a:lnTo>
                  <a:lnTo>
                    <a:pt x="87" y="62"/>
                  </a:lnTo>
                  <a:lnTo>
                    <a:pt x="76" y="75"/>
                  </a:lnTo>
                  <a:lnTo>
                    <a:pt x="63" y="86"/>
                  </a:lnTo>
                  <a:lnTo>
                    <a:pt x="46" y="88"/>
                  </a:lnTo>
                  <a:lnTo>
                    <a:pt x="29" y="86"/>
                  </a:lnTo>
                  <a:lnTo>
                    <a:pt x="13" y="75"/>
                  </a:lnTo>
                  <a:lnTo>
                    <a:pt x="5"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72" name="Freeform 38"/>
            <p:cNvSpPr>
              <a:spLocks noChangeAspect="1"/>
            </p:cNvSpPr>
            <p:nvPr/>
          </p:nvSpPr>
          <p:spPr bwMode="auto">
            <a:xfrm>
              <a:off x="438" y="1875"/>
              <a:ext cx="87" cy="88"/>
            </a:xfrm>
            <a:custGeom>
              <a:avLst/>
              <a:gdLst>
                <a:gd name="T0" fmla="*/ 0 w 87"/>
                <a:gd name="T1" fmla="*/ 45 h 88"/>
                <a:gd name="T2" fmla="*/ 2 w 87"/>
                <a:gd name="T3" fmla="*/ 28 h 88"/>
                <a:gd name="T4" fmla="*/ 11 w 87"/>
                <a:gd name="T5" fmla="*/ 13 h 88"/>
                <a:gd name="T6" fmla="*/ 26 w 87"/>
                <a:gd name="T7" fmla="*/ 4 h 88"/>
                <a:gd name="T8" fmla="*/ 44 w 87"/>
                <a:gd name="T9" fmla="*/ 0 h 88"/>
                <a:gd name="T10" fmla="*/ 61 w 87"/>
                <a:gd name="T11" fmla="*/ 4 h 88"/>
                <a:gd name="T12" fmla="*/ 74 w 87"/>
                <a:gd name="T13" fmla="*/ 13 h 88"/>
                <a:gd name="T14" fmla="*/ 85 w 87"/>
                <a:gd name="T15" fmla="*/ 28 h 88"/>
                <a:gd name="T16" fmla="*/ 87 w 87"/>
                <a:gd name="T17" fmla="*/ 45 h 88"/>
                <a:gd name="T18" fmla="*/ 85 w 87"/>
                <a:gd name="T19" fmla="*/ 62 h 88"/>
                <a:gd name="T20" fmla="*/ 74 w 87"/>
                <a:gd name="T21" fmla="*/ 75 h 88"/>
                <a:gd name="T22" fmla="*/ 61 w 87"/>
                <a:gd name="T23" fmla="*/ 86 h 88"/>
                <a:gd name="T24" fmla="*/ 44 w 87"/>
                <a:gd name="T25" fmla="*/ 88 h 88"/>
                <a:gd name="T26" fmla="*/ 26 w 87"/>
                <a:gd name="T27" fmla="*/ 86 h 88"/>
                <a:gd name="T28" fmla="*/ 11 w 87"/>
                <a:gd name="T29" fmla="*/ 75 h 88"/>
                <a:gd name="T30" fmla="*/ 2 w 87"/>
                <a:gd name="T31" fmla="*/ 62 h 88"/>
                <a:gd name="T32" fmla="*/ 0 w 87"/>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8"/>
                <a:gd name="T53" fmla="*/ 87 w 87"/>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8">
                  <a:moveTo>
                    <a:pt x="0" y="45"/>
                  </a:moveTo>
                  <a:lnTo>
                    <a:pt x="2" y="28"/>
                  </a:lnTo>
                  <a:lnTo>
                    <a:pt x="11" y="13"/>
                  </a:lnTo>
                  <a:lnTo>
                    <a:pt x="26" y="4"/>
                  </a:lnTo>
                  <a:lnTo>
                    <a:pt x="44" y="0"/>
                  </a:lnTo>
                  <a:lnTo>
                    <a:pt x="61" y="4"/>
                  </a:lnTo>
                  <a:lnTo>
                    <a:pt x="74" y="13"/>
                  </a:lnTo>
                  <a:lnTo>
                    <a:pt x="85" y="28"/>
                  </a:lnTo>
                  <a:lnTo>
                    <a:pt x="87" y="45"/>
                  </a:lnTo>
                  <a:lnTo>
                    <a:pt x="85" y="62"/>
                  </a:lnTo>
                  <a:lnTo>
                    <a:pt x="74" y="75"/>
                  </a:lnTo>
                  <a:lnTo>
                    <a:pt x="61" y="86"/>
                  </a:lnTo>
                  <a:lnTo>
                    <a:pt x="44" y="88"/>
                  </a:lnTo>
                  <a:lnTo>
                    <a:pt x="26" y="86"/>
                  </a:lnTo>
                  <a:lnTo>
                    <a:pt x="11" y="75"/>
                  </a:lnTo>
                  <a:lnTo>
                    <a:pt x="2"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73" name="Freeform 39"/>
            <p:cNvSpPr>
              <a:spLocks noChangeAspect="1"/>
            </p:cNvSpPr>
            <p:nvPr/>
          </p:nvSpPr>
          <p:spPr bwMode="auto">
            <a:xfrm>
              <a:off x="1617" y="2309"/>
              <a:ext cx="89" cy="88"/>
            </a:xfrm>
            <a:custGeom>
              <a:avLst/>
              <a:gdLst>
                <a:gd name="T0" fmla="*/ 0 w 89"/>
                <a:gd name="T1" fmla="*/ 45 h 88"/>
                <a:gd name="T2" fmla="*/ 5 w 89"/>
                <a:gd name="T3" fmla="*/ 28 h 88"/>
                <a:gd name="T4" fmla="*/ 13 w 89"/>
                <a:gd name="T5" fmla="*/ 13 h 88"/>
                <a:gd name="T6" fmla="*/ 29 w 89"/>
                <a:gd name="T7" fmla="*/ 4 h 88"/>
                <a:gd name="T8" fmla="*/ 46 w 89"/>
                <a:gd name="T9" fmla="*/ 0 h 88"/>
                <a:gd name="T10" fmla="*/ 61 w 89"/>
                <a:gd name="T11" fmla="*/ 4 h 88"/>
                <a:gd name="T12" fmla="*/ 76 w 89"/>
                <a:gd name="T13" fmla="*/ 13 h 88"/>
                <a:gd name="T14" fmla="*/ 85 w 89"/>
                <a:gd name="T15" fmla="*/ 28 h 88"/>
                <a:gd name="T16" fmla="*/ 89 w 89"/>
                <a:gd name="T17" fmla="*/ 45 h 88"/>
                <a:gd name="T18" fmla="*/ 85 w 89"/>
                <a:gd name="T19" fmla="*/ 62 h 88"/>
                <a:gd name="T20" fmla="*/ 76 w 89"/>
                <a:gd name="T21" fmla="*/ 75 h 88"/>
                <a:gd name="T22" fmla="*/ 61 w 89"/>
                <a:gd name="T23" fmla="*/ 86 h 88"/>
                <a:gd name="T24" fmla="*/ 46 w 89"/>
                <a:gd name="T25" fmla="*/ 88 h 88"/>
                <a:gd name="T26" fmla="*/ 29 w 89"/>
                <a:gd name="T27" fmla="*/ 86 h 88"/>
                <a:gd name="T28" fmla="*/ 13 w 89"/>
                <a:gd name="T29" fmla="*/ 75 h 88"/>
                <a:gd name="T30" fmla="*/ 5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5" y="28"/>
                  </a:lnTo>
                  <a:lnTo>
                    <a:pt x="13" y="13"/>
                  </a:lnTo>
                  <a:lnTo>
                    <a:pt x="29" y="4"/>
                  </a:lnTo>
                  <a:lnTo>
                    <a:pt x="46" y="0"/>
                  </a:lnTo>
                  <a:lnTo>
                    <a:pt x="61" y="4"/>
                  </a:lnTo>
                  <a:lnTo>
                    <a:pt x="76" y="13"/>
                  </a:lnTo>
                  <a:lnTo>
                    <a:pt x="85" y="28"/>
                  </a:lnTo>
                  <a:lnTo>
                    <a:pt x="89" y="45"/>
                  </a:lnTo>
                  <a:lnTo>
                    <a:pt x="85" y="62"/>
                  </a:lnTo>
                  <a:lnTo>
                    <a:pt x="76" y="75"/>
                  </a:lnTo>
                  <a:lnTo>
                    <a:pt x="61" y="86"/>
                  </a:lnTo>
                  <a:lnTo>
                    <a:pt x="46" y="88"/>
                  </a:lnTo>
                  <a:lnTo>
                    <a:pt x="29" y="86"/>
                  </a:lnTo>
                  <a:lnTo>
                    <a:pt x="13" y="75"/>
                  </a:lnTo>
                  <a:lnTo>
                    <a:pt x="5"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74" name="Freeform 40"/>
            <p:cNvSpPr>
              <a:spLocks noChangeAspect="1"/>
            </p:cNvSpPr>
            <p:nvPr/>
          </p:nvSpPr>
          <p:spPr bwMode="auto">
            <a:xfrm>
              <a:off x="2100" y="2369"/>
              <a:ext cx="89" cy="89"/>
            </a:xfrm>
            <a:custGeom>
              <a:avLst/>
              <a:gdLst>
                <a:gd name="T0" fmla="*/ 0 w 89"/>
                <a:gd name="T1" fmla="*/ 43 h 89"/>
                <a:gd name="T2" fmla="*/ 4 w 89"/>
                <a:gd name="T3" fmla="*/ 26 h 89"/>
                <a:gd name="T4" fmla="*/ 13 w 89"/>
                <a:gd name="T5" fmla="*/ 13 h 89"/>
                <a:gd name="T6" fmla="*/ 28 w 89"/>
                <a:gd name="T7" fmla="*/ 2 h 89"/>
                <a:gd name="T8" fmla="*/ 45 w 89"/>
                <a:gd name="T9" fmla="*/ 0 h 89"/>
                <a:gd name="T10" fmla="*/ 63 w 89"/>
                <a:gd name="T11" fmla="*/ 2 h 89"/>
                <a:gd name="T12" fmla="*/ 76 w 89"/>
                <a:gd name="T13" fmla="*/ 13 h 89"/>
                <a:gd name="T14" fmla="*/ 87 w 89"/>
                <a:gd name="T15" fmla="*/ 26 h 89"/>
                <a:gd name="T16" fmla="*/ 89 w 89"/>
                <a:gd name="T17" fmla="*/ 43 h 89"/>
                <a:gd name="T18" fmla="*/ 87 w 89"/>
                <a:gd name="T19" fmla="*/ 61 h 89"/>
                <a:gd name="T20" fmla="*/ 76 w 89"/>
                <a:gd name="T21" fmla="*/ 76 h 89"/>
                <a:gd name="T22" fmla="*/ 63 w 89"/>
                <a:gd name="T23" fmla="*/ 84 h 89"/>
                <a:gd name="T24" fmla="*/ 45 w 89"/>
                <a:gd name="T25" fmla="*/ 89 h 89"/>
                <a:gd name="T26" fmla="*/ 28 w 89"/>
                <a:gd name="T27" fmla="*/ 84 h 89"/>
                <a:gd name="T28" fmla="*/ 13 w 89"/>
                <a:gd name="T29" fmla="*/ 76 h 89"/>
                <a:gd name="T30" fmla="*/ 4 w 89"/>
                <a:gd name="T31" fmla="*/ 61 h 89"/>
                <a:gd name="T32" fmla="*/ 0 w 89"/>
                <a:gd name="T33" fmla="*/ 43 h 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9"/>
                <a:gd name="T53" fmla="*/ 89 w 89"/>
                <a:gd name="T54" fmla="*/ 89 h 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9">
                  <a:moveTo>
                    <a:pt x="0" y="43"/>
                  </a:moveTo>
                  <a:lnTo>
                    <a:pt x="4" y="26"/>
                  </a:lnTo>
                  <a:lnTo>
                    <a:pt x="13" y="13"/>
                  </a:lnTo>
                  <a:lnTo>
                    <a:pt x="28" y="2"/>
                  </a:lnTo>
                  <a:lnTo>
                    <a:pt x="45" y="0"/>
                  </a:lnTo>
                  <a:lnTo>
                    <a:pt x="63" y="2"/>
                  </a:lnTo>
                  <a:lnTo>
                    <a:pt x="76" y="13"/>
                  </a:lnTo>
                  <a:lnTo>
                    <a:pt x="87" y="26"/>
                  </a:lnTo>
                  <a:lnTo>
                    <a:pt x="89" y="43"/>
                  </a:lnTo>
                  <a:lnTo>
                    <a:pt x="87" y="61"/>
                  </a:lnTo>
                  <a:lnTo>
                    <a:pt x="76" y="76"/>
                  </a:lnTo>
                  <a:lnTo>
                    <a:pt x="63" y="84"/>
                  </a:lnTo>
                  <a:lnTo>
                    <a:pt x="45" y="89"/>
                  </a:lnTo>
                  <a:lnTo>
                    <a:pt x="28" y="84"/>
                  </a:lnTo>
                  <a:lnTo>
                    <a:pt x="13" y="76"/>
                  </a:lnTo>
                  <a:lnTo>
                    <a:pt x="4" y="61"/>
                  </a:lnTo>
                  <a:lnTo>
                    <a:pt x="0" y="43"/>
                  </a:lnTo>
                  <a:close/>
                </a:path>
              </a:pathLst>
            </a:custGeom>
            <a:solidFill>
              <a:srgbClr val="1A1A1A"/>
            </a:solidFill>
            <a:ln w="3175">
              <a:solidFill>
                <a:srgbClr val="000000"/>
              </a:solidFill>
              <a:round/>
              <a:headEnd/>
              <a:tailEnd/>
            </a:ln>
          </p:spPr>
          <p:txBody>
            <a:bodyPr/>
            <a:lstStyle/>
            <a:p>
              <a:endParaRPr lang="en-US"/>
            </a:p>
          </p:txBody>
        </p:sp>
        <p:sp>
          <p:nvSpPr>
            <p:cNvPr id="37975" name="Rectangle 41"/>
            <p:cNvSpPr>
              <a:spLocks noChangeAspect="1" noChangeArrowheads="1"/>
            </p:cNvSpPr>
            <p:nvPr/>
          </p:nvSpPr>
          <p:spPr bwMode="auto">
            <a:xfrm>
              <a:off x="1971" y="1309"/>
              <a:ext cx="99" cy="239"/>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1</a:t>
              </a:r>
              <a:endParaRPr lang="en-US"/>
            </a:p>
          </p:txBody>
        </p:sp>
        <p:sp>
          <p:nvSpPr>
            <p:cNvPr id="37976" name="Rectangle 42"/>
            <p:cNvSpPr>
              <a:spLocks noChangeAspect="1" noChangeArrowheads="1"/>
            </p:cNvSpPr>
            <p:nvPr/>
          </p:nvSpPr>
          <p:spPr bwMode="auto">
            <a:xfrm>
              <a:off x="1155" y="1945"/>
              <a:ext cx="99" cy="239"/>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2</a:t>
              </a:r>
              <a:endParaRPr lang="en-US"/>
            </a:p>
          </p:txBody>
        </p:sp>
        <p:sp>
          <p:nvSpPr>
            <p:cNvPr id="37977" name="Rectangle 43"/>
            <p:cNvSpPr>
              <a:spLocks noChangeAspect="1" noChangeArrowheads="1"/>
            </p:cNvSpPr>
            <p:nvPr/>
          </p:nvSpPr>
          <p:spPr bwMode="auto">
            <a:xfrm>
              <a:off x="1775" y="2262"/>
              <a:ext cx="99" cy="239"/>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3</a:t>
              </a:r>
              <a:endParaRPr lang="en-US"/>
            </a:p>
          </p:txBody>
        </p:sp>
        <p:sp>
          <p:nvSpPr>
            <p:cNvPr id="37978" name="Rectangle 44"/>
            <p:cNvSpPr>
              <a:spLocks noChangeAspect="1" noChangeArrowheads="1"/>
            </p:cNvSpPr>
            <p:nvPr/>
          </p:nvSpPr>
          <p:spPr bwMode="auto">
            <a:xfrm>
              <a:off x="1388" y="2827"/>
              <a:ext cx="99" cy="239"/>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4</a:t>
              </a:r>
              <a:endParaRPr lang="en-US"/>
            </a:p>
          </p:txBody>
        </p:sp>
        <p:sp>
          <p:nvSpPr>
            <p:cNvPr id="37979" name="Rectangle 45"/>
            <p:cNvSpPr>
              <a:spLocks noChangeAspect="1" noChangeArrowheads="1"/>
            </p:cNvSpPr>
            <p:nvPr/>
          </p:nvSpPr>
          <p:spPr bwMode="auto">
            <a:xfrm>
              <a:off x="572" y="1817"/>
              <a:ext cx="99" cy="239"/>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5</a:t>
              </a:r>
              <a:endParaRPr lang="en-US"/>
            </a:p>
          </p:txBody>
        </p:sp>
        <p:sp>
          <p:nvSpPr>
            <p:cNvPr id="37980" name="Rectangle 46"/>
            <p:cNvSpPr>
              <a:spLocks noChangeAspect="1" noChangeArrowheads="1"/>
            </p:cNvSpPr>
            <p:nvPr/>
          </p:nvSpPr>
          <p:spPr bwMode="auto">
            <a:xfrm>
              <a:off x="2275" y="2316"/>
              <a:ext cx="100" cy="239"/>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6</a:t>
              </a:r>
              <a:endParaRPr lang="en-US"/>
            </a:p>
          </p:txBody>
        </p:sp>
      </p:grpSp>
      <p:grpSp>
        <p:nvGrpSpPr>
          <p:cNvPr id="4" name="Group 47"/>
          <p:cNvGrpSpPr>
            <a:grpSpLocks noChangeAspect="1"/>
          </p:cNvGrpSpPr>
          <p:nvPr/>
        </p:nvGrpSpPr>
        <p:grpSpPr bwMode="auto">
          <a:xfrm>
            <a:off x="4379913" y="5027613"/>
            <a:ext cx="917575" cy="617537"/>
            <a:chOff x="1537" y="2197"/>
            <a:chExt cx="898" cy="604"/>
          </a:xfrm>
        </p:grpSpPr>
        <p:sp>
          <p:nvSpPr>
            <p:cNvPr id="37967" name="Freeform 48"/>
            <p:cNvSpPr>
              <a:spLocks noChangeAspect="1"/>
            </p:cNvSpPr>
            <p:nvPr/>
          </p:nvSpPr>
          <p:spPr bwMode="auto">
            <a:xfrm>
              <a:off x="1537" y="2197"/>
              <a:ext cx="898" cy="375"/>
            </a:xfrm>
            <a:custGeom>
              <a:avLst/>
              <a:gdLst>
                <a:gd name="T0" fmla="*/ 450 w 898"/>
                <a:gd name="T1" fmla="*/ 0 h 375"/>
                <a:gd name="T2" fmla="*/ 511 w 898"/>
                <a:gd name="T3" fmla="*/ 2 h 375"/>
                <a:gd name="T4" fmla="*/ 572 w 898"/>
                <a:gd name="T5" fmla="*/ 6 h 375"/>
                <a:gd name="T6" fmla="*/ 630 w 898"/>
                <a:gd name="T7" fmla="*/ 15 h 375"/>
                <a:gd name="T8" fmla="*/ 684 w 898"/>
                <a:gd name="T9" fmla="*/ 28 h 375"/>
                <a:gd name="T10" fmla="*/ 734 w 898"/>
                <a:gd name="T11" fmla="*/ 43 h 375"/>
                <a:gd name="T12" fmla="*/ 779 w 898"/>
                <a:gd name="T13" fmla="*/ 60 h 375"/>
                <a:gd name="T14" fmla="*/ 818 w 898"/>
                <a:gd name="T15" fmla="*/ 79 h 375"/>
                <a:gd name="T16" fmla="*/ 851 w 898"/>
                <a:gd name="T17" fmla="*/ 101 h 375"/>
                <a:gd name="T18" fmla="*/ 875 w 898"/>
                <a:gd name="T19" fmla="*/ 125 h 375"/>
                <a:gd name="T20" fmla="*/ 892 w 898"/>
                <a:gd name="T21" fmla="*/ 149 h 375"/>
                <a:gd name="T22" fmla="*/ 898 w 898"/>
                <a:gd name="T23" fmla="*/ 174 h 375"/>
                <a:gd name="T24" fmla="*/ 898 w 898"/>
                <a:gd name="T25" fmla="*/ 200 h 375"/>
                <a:gd name="T26" fmla="*/ 892 w 898"/>
                <a:gd name="T27" fmla="*/ 226 h 375"/>
                <a:gd name="T28" fmla="*/ 875 w 898"/>
                <a:gd name="T29" fmla="*/ 250 h 375"/>
                <a:gd name="T30" fmla="*/ 851 w 898"/>
                <a:gd name="T31" fmla="*/ 274 h 375"/>
                <a:gd name="T32" fmla="*/ 818 w 898"/>
                <a:gd name="T33" fmla="*/ 295 h 375"/>
                <a:gd name="T34" fmla="*/ 779 w 898"/>
                <a:gd name="T35" fmla="*/ 315 h 375"/>
                <a:gd name="T36" fmla="*/ 734 w 898"/>
                <a:gd name="T37" fmla="*/ 332 h 375"/>
                <a:gd name="T38" fmla="*/ 684 w 898"/>
                <a:gd name="T39" fmla="*/ 347 h 375"/>
                <a:gd name="T40" fmla="*/ 630 w 898"/>
                <a:gd name="T41" fmla="*/ 360 h 375"/>
                <a:gd name="T42" fmla="*/ 572 w 898"/>
                <a:gd name="T43" fmla="*/ 369 h 375"/>
                <a:gd name="T44" fmla="*/ 511 w 898"/>
                <a:gd name="T45" fmla="*/ 373 h 375"/>
                <a:gd name="T46" fmla="*/ 450 w 898"/>
                <a:gd name="T47" fmla="*/ 375 h 375"/>
                <a:gd name="T48" fmla="*/ 390 w 898"/>
                <a:gd name="T49" fmla="*/ 373 h 375"/>
                <a:gd name="T50" fmla="*/ 329 w 898"/>
                <a:gd name="T51" fmla="*/ 369 h 375"/>
                <a:gd name="T52" fmla="*/ 271 w 898"/>
                <a:gd name="T53" fmla="*/ 360 h 375"/>
                <a:gd name="T54" fmla="*/ 217 w 898"/>
                <a:gd name="T55" fmla="*/ 347 h 375"/>
                <a:gd name="T56" fmla="*/ 167 w 898"/>
                <a:gd name="T57" fmla="*/ 332 h 375"/>
                <a:gd name="T58" fmla="*/ 122 w 898"/>
                <a:gd name="T59" fmla="*/ 315 h 375"/>
                <a:gd name="T60" fmla="*/ 83 w 898"/>
                <a:gd name="T61" fmla="*/ 295 h 375"/>
                <a:gd name="T62" fmla="*/ 50 w 898"/>
                <a:gd name="T63" fmla="*/ 274 h 375"/>
                <a:gd name="T64" fmla="*/ 26 w 898"/>
                <a:gd name="T65" fmla="*/ 250 h 375"/>
                <a:gd name="T66" fmla="*/ 9 w 898"/>
                <a:gd name="T67" fmla="*/ 226 h 375"/>
                <a:gd name="T68" fmla="*/ 0 w 898"/>
                <a:gd name="T69" fmla="*/ 200 h 375"/>
                <a:gd name="T70" fmla="*/ 0 w 898"/>
                <a:gd name="T71" fmla="*/ 174 h 375"/>
                <a:gd name="T72" fmla="*/ 9 w 898"/>
                <a:gd name="T73" fmla="*/ 149 h 375"/>
                <a:gd name="T74" fmla="*/ 26 w 898"/>
                <a:gd name="T75" fmla="*/ 125 h 375"/>
                <a:gd name="T76" fmla="*/ 50 w 898"/>
                <a:gd name="T77" fmla="*/ 101 h 375"/>
                <a:gd name="T78" fmla="*/ 83 w 898"/>
                <a:gd name="T79" fmla="*/ 79 h 375"/>
                <a:gd name="T80" fmla="*/ 122 w 898"/>
                <a:gd name="T81" fmla="*/ 60 h 375"/>
                <a:gd name="T82" fmla="*/ 167 w 898"/>
                <a:gd name="T83" fmla="*/ 43 h 375"/>
                <a:gd name="T84" fmla="*/ 217 w 898"/>
                <a:gd name="T85" fmla="*/ 28 h 375"/>
                <a:gd name="T86" fmla="*/ 271 w 898"/>
                <a:gd name="T87" fmla="*/ 15 h 375"/>
                <a:gd name="T88" fmla="*/ 329 w 898"/>
                <a:gd name="T89" fmla="*/ 6 h 375"/>
                <a:gd name="T90" fmla="*/ 390 w 898"/>
                <a:gd name="T91" fmla="*/ 2 h 375"/>
                <a:gd name="T92" fmla="*/ 450 w 898"/>
                <a:gd name="T93" fmla="*/ 0 h 3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8"/>
                <a:gd name="T142" fmla="*/ 0 h 375"/>
                <a:gd name="T143" fmla="*/ 898 w 898"/>
                <a:gd name="T144" fmla="*/ 375 h 37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8" h="375">
                  <a:moveTo>
                    <a:pt x="450" y="0"/>
                  </a:moveTo>
                  <a:lnTo>
                    <a:pt x="511" y="2"/>
                  </a:lnTo>
                  <a:lnTo>
                    <a:pt x="572" y="6"/>
                  </a:lnTo>
                  <a:lnTo>
                    <a:pt x="630" y="15"/>
                  </a:lnTo>
                  <a:lnTo>
                    <a:pt x="684" y="28"/>
                  </a:lnTo>
                  <a:lnTo>
                    <a:pt x="734" y="43"/>
                  </a:lnTo>
                  <a:lnTo>
                    <a:pt x="779" y="60"/>
                  </a:lnTo>
                  <a:lnTo>
                    <a:pt x="818" y="79"/>
                  </a:lnTo>
                  <a:lnTo>
                    <a:pt x="851" y="101"/>
                  </a:lnTo>
                  <a:lnTo>
                    <a:pt x="875" y="125"/>
                  </a:lnTo>
                  <a:lnTo>
                    <a:pt x="892" y="149"/>
                  </a:lnTo>
                  <a:lnTo>
                    <a:pt x="898" y="174"/>
                  </a:lnTo>
                  <a:lnTo>
                    <a:pt x="898" y="200"/>
                  </a:lnTo>
                  <a:lnTo>
                    <a:pt x="892" y="226"/>
                  </a:lnTo>
                  <a:lnTo>
                    <a:pt x="875" y="250"/>
                  </a:lnTo>
                  <a:lnTo>
                    <a:pt x="851" y="274"/>
                  </a:lnTo>
                  <a:lnTo>
                    <a:pt x="818" y="295"/>
                  </a:lnTo>
                  <a:lnTo>
                    <a:pt x="779" y="315"/>
                  </a:lnTo>
                  <a:lnTo>
                    <a:pt x="734" y="332"/>
                  </a:lnTo>
                  <a:lnTo>
                    <a:pt x="684" y="347"/>
                  </a:lnTo>
                  <a:lnTo>
                    <a:pt x="630" y="360"/>
                  </a:lnTo>
                  <a:lnTo>
                    <a:pt x="572" y="369"/>
                  </a:lnTo>
                  <a:lnTo>
                    <a:pt x="511" y="373"/>
                  </a:lnTo>
                  <a:lnTo>
                    <a:pt x="450" y="375"/>
                  </a:lnTo>
                  <a:lnTo>
                    <a:pt x="390" y="373"/>
                  </a:lnTo>
                  <a:lnTo>
                    <a:pt x="329" y="369"/>
                  </a:lnTo>
                  <a:lnTo>
                    <a:pt x="271" y="360"/>
                  </a:lnTo>
                  <a:lnTo>
                    <a:pt x="217" y="347"/>
                  </a:lnTo>
                  <a:lnTo>
                    <a:pt x="167" y="332"/>
                  </a:lnTo>
                  <a:lnTo>
                    <a:pt x="122" y="315"/>
                  </a:lnTo>
                  <a:lnTo>
                    <a:pt x="83" y="295"/>
                  </a:lnTo>
                  <a:lnTo>
                    <a:pt x="50" y="274"/>
                  </a:lnTo>
                  <a:lnTo>
                    <a:pt x="26" y="250"/>
                  </a:lnTo>
                  <a:lnTo>
                    <a:pt x="9" y="226"/>
                  </a:lnTo>
                  <a:lnTo>
                    <a:pt x="0" y="200"/>
                  </a:lnTo>
                  <a:lnTo>
                    <a:pt x="0" y="174"/>
                  </a:lnTo>
                  <a:lnTo>
                    <a:pt x="9" y="149"/>
                  </a:lnTo>
                  <a:lnTo>
                    <a:pt x="26" y="125"/>
                  </a:lnTo>
                  <a:lnTo>
                    <a:pt x="50" y="101"/>
                  </a:lnTo>
                  <a:lnTo>
                    <a:pt x="83" y="79"/>
                  </a:lnTo>
                  <a:lnTo>
                    <a:pt x="122" y="60"/>
                  </a:lnTo>
                  <a:lnTo>
                    <a:pt x="167" y="43"/>
                  </a:lnTo>
                  <a:lnTo>
                    <a:pt x="217" y="28"/>
                  </a:lnTo>
                  <a:lnTo>
                    <a:pt x="271" y="15"/>
                  </a:lnTo>
                  <a:lnTo>
                    <a:pt x="329" y="6"/>
                  </a:lnTo>
                  <a:lnTo>
                    <a:pt x="390" y="2"/>
                  </a:lnTo>
                  <a:lnTo>
                    <a:pt x="450" y="0"/>
                  </a:lnTo>
                </a:path>
              </a:pathLst>
            </a:custGeom>
            <a:noFill/>
            <a:ln w="3175">
              <a:solidFill>
                <a:srgbClr val="000000"/>
              </a:solidFill>
              <a:round/>
              <a:headEnd/>
              <a:tailEnd/>
            </a:ln>
          </p:spPr>
          <p:txBody>
            <a:bodyPr/>
            <a:lstStyle/>
            <a:p>
              <a:endParaRPr lang="en-US"/>
            </a:p>
          </p:txBody>
        </p:sp>
        <p:sp>
          <p:nvSpPr>
            <p:cNvPr id="37968" name="Rectangle 49"/>
            <p:cNvSpPr>
              <a:spLocks noChangeAspect="1" noChangeArrowheads="1"/>
            </p:cNvSpPr>
            <p:nvPr/>
          </p:nvSpPr>
          <p:spPr bwMode="auto">
            <a:xfrm>
              <a:off x="1910" y="2562"/>
              <a:ext cx="110" cy="239"/>
            </a:xfrm>
            <a:prstGeom prst="rect">
              <a:avLst/>
            </a:prstGeom>
            <a:noFill/>
            <a:ln w="9525">
              <a:noFill/>
              <a:miter lim="800000"/>
              <a:headEnd/>
              <a:tailEnd/>
            </a:ln>
          </p:spPr>
          <p:txBody>
            <a:bodyPr wrap="none" lIns="0" tIns="0" rIns="0" bIns="0">
              <a:spAutoFit/>
            </a:bodyPr>
            <a:lstStyle/>
            <a:p>
              <a:r>
                <a:rPr lang="en-US" sz="1600" b="1">
                  <a:solidFill>
                    <a:srgbClr val="FF0000"/>
                  </a:solidFill>
                </a:rPr>
                <a:t>1</a:t>
              </a:r>
              <a:endParaRPr lang="en-US"/>
            </a:p>
          </p:txBody>
        </p:sp>
      </p:grpSp>
      <p:grpSp>
        <p:nvGrpSpPr>
          <p:cNvPr id="5" name="Group 50"/>
          <p:cNvGrpSpPr>
            <a:grpSpLocks noChangeAspect="1"/>
          </p:cNvGrpSpPr>
          <p:nvPr/>
        </p:nvGrpSpPr>
        <p:grpSpPr bwMode="auto">
          <a:xfrm>
            <a:off x="3197225" y="4398963"/>
            <a:ext cx="1035050" cy="582612"/>
            <a:chOff x="380" y="1581"/>
            <a:chExt cx="1012" cy="570"/>
          </a:xfrm>
        </p:grpSpPr>
        <p:sp>
          <p:nvSpPr>
            <p:cNvPr id="37965" name="Freeform 51"/>
            <p:cNvSpPr>
              <a:spLocks noChangeAspect="1"/>
            </p:cNvSpPr>
            <p:nvPr/>
          </p:nvSpPr>
          <p:spPr bwMode="auto">
            <a:xfrm>
              <a:off x="380" y="1760"/>
              <a:ext cx="1012" cy="391"/>
            </a:xfrm>
            <a:custGeom>
              <a:avLst/>
              <a:gdLst>
                <a:gd name="T0" fmla="*/ 523 w 1012"/>
                <a:gd name="T1" fmla="*/ 5 h 391"/>
                <a:gd name="T2" fmla="*/ 586 w 1012"/>
                <a:gd name="T3" fmla="*/ 11 h 391"/>
                <a:gd name="T4" fmla="*/ 649 w 1012"/>
                <a:gd name="T5" fmla="*/ 22 h 391"/>
                <a:gd name="T6" fmla="*/ 707 w 1012"/>
                <a:gd name="T7" fmla="*/ 35 h 391"/>
                <a:gd name="T8" fmla="*/ 766 w 1012"/>
                <a:gd name="T9" fmla="*/ 50 h 391"/>
                <a:gd name="T10" fmla="*/ 818 w 1012"/>
                <a:gd name="T11" fmla="*/ 67 h 391"/>
                <a:gd name="T12" fmla="*/ 865 w 1012"/>
                <a:gd name="T13" fmla="*/ 87 h 391"/>
                <a:gd name="T14" fmla="*/ 906 w 1012"/>
                <a:gd name="T15" fmla="*/ 108 h 391"/>
                <a:gd name="T16" fmla="*/ 943 w 1012"/>
                <a:gd name="T17" fmla="*/ 130 h 391"/>
                <a:gd name="T18" fmla="*/ 971 w 1012"/>
                <a:gd name="T19" fmla="*/ 154 h 391"/>
                <a:gd name="T20" fmla="*/ 993 w 1012"/>
                <a:gd name="T21" fmla="*/ 180 h 391"/>
                <a:gd name="T22" fmla="*/ 1006 w 1012"/>
                <a:gd name="T23" fmla="*/ 203 h 391"/>
                <a:gd name="T24" fmla="*/ 1012 w 1012"/>
                <a:gd name="T25" fmla="*/ 227 h 391"/>
                <a:gd name="T26" fmla="*/ 1010 w 1012"/>
                <a:gd name="T27" fmla="*/ 251 h 391"/>
                <a:gd name="T28" fmla="*/ 999 w 1012"/>
                <a:gd name="T29" fmla="*/ 275 h 391"/>
                <a:gd name="T30" fmla="*/ 982 w 1012"/>
                <a:gd name="T31" fmla="*/ 296 h 391"/>
                <a:gd name="T32" fmla="*/ 956 w 1012"/>
                <a:gd name="T33" fmla="*/ 318 h 391"/>
                <a:gd name="T34" fmla="*/ 924 w 1012"/>
                <a:gd name="T35" fmla="*/ 335 h 391"/>
                <a:gd name="T36" fmla="*/ 885 w 1012"/>
                <a:gd name="T37" fmla="*/ 352 h 391"/>
                <a:gd name="T38" fmla="*/ 842 w 1012"/>
                <a:gd name="T39" fmla="*/ 365 h 391"/>
                <a:gd name="T40" fmla="*/ 790 w 1012"/>
                <a:gd name="T41" fmla="*/ 376 h 391"/>
                <a:gd name="T42" fmla="*/ 736 w 1012"/>
                <a:gd name="T43" fmla="*/ 385 h 391"/>
                <a:gd name="T44" fmla="*/ 677 w 1012"/>
                <a:gd name="T45" fmla="*/ 389 h 391"/>
                <a:gd name="T46" fmla="*/ 616 w 1012"/>
                <a:gd name="T47" fmla="*/ 391 h 391"/>
                <a:gd name="T48" fmla="*/ 554 w 1012"/>
                <a:gd name="T49" fmla="*/ 391 h 391"/>
                <a:gd name="T50" fmla="*/ 489 w 1012"/>
                <a:gd name="T51" fmla="*/ 387 h 391"/>
                <a:gd name="T52" fmla="*/ 426 w 1012"/>
                <a:gd name="T53" fmla="*/ 380 h 391"/>
                <a:gd name="T54" fmla="*/ 363 w 1012"/>
                <a:gd name="T55" fmla="*/ 370 h 391"/>
                <a:gd name="T56" fmla="*/ 305 w 1012"/>
                <a:gd name="T57" fmla="*/ 357 h 391"/>
                <a:gd name="T58" fmla="*/ 249 w 1012"/>
                <a:gd name="T59" fmla="*/ 342 h 391"/>
                <a:gd name="T60" fmla="*/ 195 w 1012"/>
                <a:gd name="T61" fmla="*/ 324 h 391"/>
                <a:gd name="T62" fmla="*/ 147 w 1012"/>
                <a:gd name="T63" fmla="*/ 305 h 391"/>
                <a:gd name="T64" fmla="*/ 106 w 1012"/>
                <a:gd name="T65" fmla="*/ 283 h 391"/>
                <a:gd name="T66" fmla="*/ 69 w 1012"/>
                <a:gd name="T67" fmla="*/ 262 h 391"/>
                <a:gd name="T68" fmla="*/ 41 w 1012"/>
                <a:gd name="T69" fmla="*/ 238 h 391"/>
                <a:gd name="T70" fmla="*/ 19 w 1012"/>
                <a:gd name="T71" fmla="*/ 212 h 391"/>
                <a:gd name="T72" fmla="*/ 6 w 1012"/>
                <a:gd name="T73" fmla="*/ 188 h 391"/>
                <a:gd name="T74" fmla="*/ 0 w 1012"/>
                <a:gd name="T75" fmla="*/ 164 h 391"/>
                <a:gd name="T76" fmla="*/ 2 w 1012"/>
                <a:gd name="T77" fmla="*/ 139 h 391"/>
                <a:gd name="T78" fmla="*/ 13 w 1012"/>
                <a:gd name="T79" fmla="*/ 117 h 391"/>
                <a:gd name="T80" fmla="*/ 30 w 1012"/>
                <a:gd name="T81" fmla="*/ 95 h 391"/>
                <a:gd name="T82" fmla="*/ 56 w 1012"/>
                <a:gd name="T83" fmla="*/ 74 h 391"/>
                <a:gd name="T84" fmla="*/ 89 w 1012"/>
                <a:gd name="T85" fmla="*/ 57 h 391"/>
                <a:gd name="T86" fmla="*/ 128 w 1012"/>
                <a:gd name="T87" fmla="*/ 39 h 391"/>
                <a:gd name="T88" fmla="*/ 171 w 1012"/>
                <a:gd name="T89" fmla="*/ 26 h 391"/>
                <a:gd name="T90" fmla="*/ 223 w 1012"/>
                <a:gd name="T91" fmla="*/ 16 h 391"/>
                <a:gd name="T92" fmla="*/ 277 w 1012"/>
                <a:gd name="T93" fmla="*/ 7 h 391"/>
                <a:gd name="T94" fmla="*/ 335 w 1012"/>
                <a:gd name="T95" fmla="*/ 3 h 391"/>
                <a:gd name="T96" fmla="*/ 396 w 1012"/>
                <a:gd name="T97" fmla="*/ 0 h 391"/>
                <a:gd name="T98" fmla="*/ 459 w 1012"/>
                <a:gd name="T99" fmla="*/ 0 h 391"/>
                <a:gd name="T100" fmla="*/ 523 w 1012"/>
                <a:gd name="T101" fmla="*/ 5 h 3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12"/>
                <a:gd name="T154" fmla="*/ 0 h 391"/>
                <a:gd name="T155" fmla="*/ 1012 w 1012"/>
                <a:gd name="T156" fmla="*/ 391 h 3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12" h="391">
                  <a:moveTo>
                    <a:pt x="523" y="5"/>
                  </a:moveTo>
                  <a:lnTo>
                    <a:pt x="586" y="11"/>
                  </a:lnTo>
                  <a:lnTo>
                    <a:pt x="649" y="22"/>
                  </a:lnTo>
                  <a:lnTo>
                    <a:pt x="707" y="35"/>
                  </a:lnTo>
                  <a:lnTo>
                    <a:pt x="766" y="50"/>
                  </a:lnTo>
                  <a:lnTo>
                    <a:pt x="818" y="67"/>
                  </a:lnTo>
                  <a:lnTo>
                    <a:pt x="865" y="87"/>
                  </a:lnTo>
                  <a:lnTo>
                    <a:pt x="906" y="108"/>
                  </a:lnTo>
                  <a:lnTo>
                    <a:pt x="943" y="130"/>
                  </a:lnTo>
                  <a:lnTo>
                    <a:pt x="971" y="154"/>
                  </a:lnTo>
                  <a:lnTo>
                    <a:pt x="993" y="180"/>
                  </a:lnTo>
                  <a:lnTo>
                    <a:pt x="1006" y="203"/>
                  </a:lnTo>
                  <a:lnTo>
                    <a:pt x="1012" y="227"/>
                  </a:lnTo>
                  <a:lnTo>
                    <a:pt x="1010" y="251"/>
                  </a:lnTo>
                  <a:lnTo>
                    <a:pt x="999" y="275"/>
                  </a:lnTo>
                  <a:lnTo>
                    <a:pt x="982" y="296"/>
                  </a:lnTo>
                  <a:lnTo>
                    <a:pt x="956" y="318"/>
                  </a:lnTo>
                  <a:lnTo>
                    <a:pt x="924" y="335"/>
                  </a:lnTo>
                  <a:lnTo>
                    <a:pt x="885" y="352"/>
                  </a:lnTo>
                  <a:lnTo>
                    <a:pt x="842" y="365"/>
                  </a:lnTo>
                  <a:lnTo>
                    <a:pt x="790" y="376"/>
                  </a:lnTo>
                  <a:lnTo>
                    <a:pt x="736" y="385"/>
                  </a:lnTo>
                  <a:lnTo>
                    <a:pt x="677" y="389"/>
                  </a:lnTo>
                  <a:lnTo>
                    <a:pt x="616" y="391"/>
                  </a:lnTo>
                  <a:lnTo>
                    <a:pt x="554" y="391"/>
                  </a:lnTo>
                  <a:lnTo>
                    <a:pt x="489" y="387"/>
                  </a:lnTo>
                  <a:lnTo>
                    <a:pt x="426" y="380"/>
                  </a:lnTo>
                  <a:lnTo>
                    <a:pt x="363" y="370"/>
                  </a:lnTo>
                  <a:lnTo>
                    <a:pt x="305" y="357"/>
                  </a:lnTo>
                  <a:lnTo>
                    <a:pt x="249" y="342"/>
                  </a:lnTo>
                  <a:lnTo>
                    <a:pt x="195" y="324"/>
                  </a:lnTo>
                  <a:lnTo>
                    <a:pt x="147" y="305"/>
                  </a:lnTo>
                  <a:lnTo>
                    <a:pt x="106" y="283"/>
                  </a:lnTo>
                  <a:lnTo>
                    <a:pt x="69" y="262"/>
                  </a:lnTo>
                  <a:lnTo>
                    <a:pt x="41" y="238"/>
                  </a:lnTo>
                  <a:lnTo>
                    <a:pt x="19" y="212"/>
                  </a:lnTo>
                  <a:lnTo>
                    <a:pt x="6" y="188"/>
                  </a:lnTo>
                  <a:lnTo>
                    <a:pt x="0" y="164"/>
                  </a:lnTo>
                  <a:lnTo>
                    <a:pt x="2" y="139"/>
                  </a:lnTo>
                  <a:lnTo>
                    <a:pt x="13" y="117"/>
                  </a:lnTo>
                  <a:lnTo>
                    <a:pt x="30" y="95"/>
                  </a:lnTo>
                  <a:lnTo>
                    <a:pt x="56" y="74"/>
                  </a:lnTo>
                  <a:lnTo>
                    <a:pt x="89" y="57"/>
                  </a:lnTo>
                  <a:lnTo>
                    <a:pt x="128" y="39"/>
                  </a:lnTo>
                  <a:lnTo>
                    <a:pt x="171" y="26"/>
                  </a:lnTo>
                  <a:lnTo>
                    <a:pt x="223" y="16"/>
                  </a:lnTo>
                  <a:lnTo>
                    <a:pt x="277" y="7"/>
                  </a:lnTo>
                  <a:lnTo>
                    <a:pt x="335" y="3"/>
                  </a:lnTo>
                  <a:lnTo>
                    <a:pt x="396" y="0"/>
                  </a:lnTo>
                  <a:lnTo>
                    <a:pt x="459" y="0"/>
                  </a:lnTo>
                  <a:lnTo>
                    <a:pt x="523" y="5"/>
                  </a:lnTo>
                </a:path>
              </a:pathLst>
            </a:custGeom>
            <a:noFill/>
            <a:ln w="3175">
              <a:solidFill>
                <a:srgbClr val="000000"/>
              </a:solidFill>
              <a:round/>
              <a:headEnd/>
              <a:tailEnd/>
            </a:ln>
          </p:spPr>
          <p:txBody>
            <a:bodyPr/>
            <a:lstStyle/>
            <a:p>
              <a:endParaRPr lang="en-US"/>
            </a:p>
          </p:txBody>
        </p:sp>
        <p:sp>
          <p:nvSpPr>
            <p:cNvPr id="37966" name="Rectangle 52"/>
            <p:cNvSpPr>
              <a:spLocks noChangeAspect="1" noChangeArrowheads="1"/>
            </p:cNvSpPr>
            <p:nvPr/>
          </p:nvSpPr>
          <p:spPr bwMode="auto">
            <a:xfrm>
              <a:off x="914" y="1581"/>
              <a:ext cx="110" cy="239"/>
            </a:xfrm>
            <a:prstGeom prst="rect">
              <a:avLst/>
            </a:prstGeom>
            <a:noFill/>
            <a:ln w="9525">
              <a:noFill/>
              <a:miter lim="800000"/>
              <a:headEnd/>
              <a:tailEnd/>
            </a:ln>
          </p:spPr>
          <p:txBody>
            <a:bodyPr wrap="none" lIns="0" tIns="0" rIns="0" bIns="0">
              <a:spAutoFit/>
            </a:bodyPr>
            <a:lstStyle/>
            <a:p>
              <a:r>
                <a:rPr lang="en-US" sz="1600" b="1">
                  <a:solidFill>
                    <a:srgbClr val="FF0000"/>
                  </a:solidFill>
                </a:rPr>
                <a:t>2</a:t>
              </a:r>
              <a:endParaRPr lang="en-US"/>
            </a:p>
          </p:txBody>
        </p:sp>
      </p:grpSp>
      <p:grpSp>
        <p:nvGrpSpPr>
          <p:cNvPr id="6" name="Group 53"/>
          <p:cNvGrpSpPr>
            <a:grpSpLocks noChangeAspect="1"/>
          </p:cNvGrpSpPr>
          <p:nvPr/>
        </p:nvGrpSpPr>
        <p:grpSpPr bwMode="auto">
          <a:xfrm>
            <a:off x="2971800" y="3962400"/>
            <a:ext cx="2578100" cy="2286000"/>
            <a:chOff x="159" y="1154"/>
            <a:chExt cx="2523" cy="2237"/>
          </a:xfrm>
        </p:grpSpPr>
        <p:sp>
          <p:nvSpPr>
            <p:cNvPr id="37963" name="Rectangle 54"/>
            <p:cNvSpPr>
              <a:spLocks noChangeAspect="1" noChangeArrowheads="1"/>
            </p:cNvSpPr>
            <p:nvPr/>
          </p:nvSpPr>
          <p:spPr bwMode="auto">
            <a:xfrm>
              <a:off x="2186" y="1166"/>
              <a:ext cx="111" cy="240"/>
            </a:xfrm>
            <a:prstGeom prst="rect">
              <a:avLst/>
            </a:prstGeom>
            <a:noFill/>
            <a:ln w="9525">
              <a:noFill/>
              <a:miter lim="800000"/>
              <a:headEnd/>
              <a:tailEnd/>
            </a:ln>
          </p:spPr>
          <p:txBody>
            <a:bodyPr wrap="none" lIns="0" tIns="0" rIns="0" bIns="0">
              <a:spAutoFit/>
            </a:bodyPr>
            <a:lstStyle/>
            <a:p>
              <a:r>
                <a:rPr lang="en-US" sz="1600" b="1">
                  <a:solidFill>
                    <a:srgbClr val="FF0000"/>
                  </a:solidFill>
                </a:rPr>
                <a:t>5</a:t>
              </a:r>
              <a:endParaRPr lang="en-US"/>
            </a:p>
          </p:txBody>
        </p:sp>
        <p:sp>
          <p:nvSpPr>
            <p:cNvPr id="37964" name="Freeform 55"/>
            <p:cNvSpPr>
              <a:spLocks noChangeAspect="1"/>
            </p:cNvSpPr>
            <p:nvPr/>
          </p:nvSpPr>
          <p:spPr bwMode="auto">
            <a:xfrm>
              <a:off x="159" y="1154"/>
              <a:ext cx="2523" cy="2237"/>
            </a:xfrm>
            <a:custGeom>
              <a:avLst/>
              <a:gdLst>
                <a:gd name="T0" fmla="*/ 1363 w 2523"/>
                <a:gd name="T1" fmla="*/ 2 h 2237"/>
                <a:gd name="T2" fmla="*/ 1569 w 2523"/>
                <a:gd name="T3" fmla="*/ 32 h 2237"/>
                <a:gd name="T4" fmla="*/ 1766 w 2523"/>
                <a:gd name="T5" fmla="*/ 93 h 2237"/>
                <a:gd name="T6" fmla="*/ 1950 w 2523"/>
                <a:gd name="T7" fmla="*/ 179 h 2237"/>
                <a:gd name="T8" fmla="*/ 2114 w 2523"/>
                <a:gd name="T9" fmla="*/ 293 h 2237"/>
                <a:gd name="T10" fmla="*/ 2255 w 2523"/>
                <a:gd name="T11" fmla="*/ 429 h 2237"/>
                <a:gd name="T12" fmla="*/ 2369 w 2523"/>
                <a:gd name="T13" fmla="*/ 583 h 2237"/>
                <a:gd name="T14" fmla="*/ 2454 w 2523"/>
                <a:gd name="T15" fmla="*/ 753 h 2237"/>
                <a:gd name="T16" fmla="*/ 2506 w 2523"/>
                <a:gd name="T17" fmla="*/ 930 h 2237"/>
                <a:gd name="T18" fmla="*/ 2523 w 2523"/>
                <a:gd name="T19" fmla="*/ 1116 h 2237"/>
                <a:gd name="T20" fmla="*/ 2506 w 2523"/>
                <a:gd name="T21" fmla="*/ 1299 h 2237"/>
                <a:gd name="T22" fmla="*/ 2454 w 2523"/>
                <a:gd name="T23" fmla="*/ 1479 h 2237"/>
                <a:gd name="T24" fmla="*/ 2372 w 2523"/>
                <a:gd name="T25" fmla="*/ 1647 h 2237"/>
                <a:gd name="T26" fmla="*/ 2257 w 2523"/>
                <a:gd name="T27" fmla="*/ 1803 h 2237"/>
                <a:gd name="T28" fmla="*/ 2116 w 2523"/>
                <a:gd name="T29" fmla="*/ 1939 h 2237"/>
                <a:gd name="T30" fmla="*/ 1952 w 2523"/>
                <a:gd name="T31" fmla="*/ 2053 h 2237"/>
                <a:gd name="T32" fmla="*/ 1770 w 2523"/>
                <a:gd name="T33" fmla="*/ 2142 h 2237"/>
                <a:gd name="T34" fmla="*/ 1573 w 2523"/>
                <a:gd name="T35" fmla="*/ 2202 h 2237"/>
                <a:gd name="T36" fmla="*/ 1368 w 2523"/>
                <a:gd name="T37" fmla="*/ 2232 h 2237"/>
                <a:gd name="T38" fmla="*/ 1160 w 2523"/>
                <a:gd name="T39" fmla="*/ 2232 h 2237"/>
                <a:gd name="T40" fmla="*/ 954 w 2523"/>
                <a:gd name="T41" fmla="*/ 2202 h 2237"/>
                <a:gd name="T42" fmla="*/ 757 w 2523"/>
                <a:gd name="T43" fmla="*/ 2144 h 2237"/>
                <a:gd name="T44" fmla="*/ 574 w 2523"/>
                <a:gd name="T45" fmla="*/ 2055 h 2237"/>
                <a:gd name="T46" fmla="*/ 409 w 2523"/>
                <a:gd name="T47" fmla="*/ 1943 h 2237"/>
                <a:gd name="T48" fmla="*/ 268 w 2523"/>
                <a:gd name="T49" fmla="*/ 1807 h 2237"/>
                <a:gd name="T50" fmla="*/ 154 w 2523"/>
                <a:gd name="T51" fmla="*/ 1651 h 2237"/>
                <a:gd name="T52" fmla="*/ 69 w 2523"/>
                <a:gd name="T53" fmla="*/ 1483 h 2237"/>
                <a:gd name="T54" fmla="*/ 17 w 2523"/>
                <a:gd name="T55" fmla="*/ 1304 h 2237"/>
                <a:gd name="T56" fmla="*/ 0 w 2523"/>
                <a:gd name="T57" fmla="*/ 1120 h 2237"/>
                <a:gd name="T58" fmla="*/ 17 w 2523"/>
                <a:gd name="T59" fmla="*/ 935 h 2237"/>
                <a:gd name="T60" fmla="*/ 69 w 2523"/>
                <a:gd name="T61" fmla="*/ 755 h 2237"/>
                <a:gd name="T62" fmla="*/ 152 w 2523"/>
                <a:gd name="T63" fmla="*/ 587 h 2237"/>
                <a:gd name="T64" fmla="*/ 266 w 2523"/>
                <a:gd name="T65" fmla="*/ 431 h 2237"/>
                <a:gd name="T66" fmla="*/ 407 w 2523"/>
                <a:gd name="T67" fmla="*/ 295 h 2237"/>
                <a:gd name="T68" fmla="*/ 571 w 2523"/>
                <a:gd name="T69" fmla="*/ 183 h 2237"/>
                <a:gd name="T70" fmla="*/ 753 w 2523"/>
                <a:gd name="T71" fmla="*/ 95 h 2237"/>
                <a:gd name="T72" fmla="*/ 950 w 2523"/>
                <a:gd name="T73" fmla="*/ 34 h 2237"/>
                <a:gd name="T74" fmla="*/ 1156 w 2523"/>
                <a:gd name="T75" fmla="*/ 4 h 223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23"/>
                <a:gd name="T115" fmla="*/ 0 h 2237"/>
                <a:gd name="T116" fmla="*/ 2523 w 2523"/>
                <a:gd name="T117" fmla="*/ 2237 h 223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23" h="2237">
                  <a:moveTo>
                    <a:pt x="1259" y="0"/>
                  </a:moveTo>
                  <a:lnTo>
                    <a:pt x="1363" y="2"/>
                  </a:lnTo>
                  <a:lnTo>
                    <a:pt x="1467" y="15"/>
                  </a:lnTo>
                  <a:lnTo>
                    <a:pt x="1569" y="32"/>
                  </a:lnTo>
                  <a:lnTo>
                    <a:pt x="1668" y="58"/>
                  </a:lnTo>
                  <a:lnTo>
                    <a:pt x="1766" y="93"/>
                  </a:lnTo>
                  <a:lnTo>
                    <a:pt x="1861" y="134"/>
                  </a:lnTo>
                  <a:lnTo>
                    <a:pt x="1950" y="179"/>
                  </a:lnTo>
                  <a:lnTo>
                    <a:pt x="2034" y="233"/>
                  </a:lnTo>
                  <a:lnTo>
                    <a:pt x="2114" y="293"/>
                  </a:lnTo>
                  <a:lnTo>
                    <a:pt x="2188" y="358"/>
                  </a:lnTo>
                  <a:lnTo>
                    <a:pt x="2255" y="429"/>
                  </a:lnTo>
                  <a:lnTo>
                    <a:pt x="2315" y="505"/>
                  </a:lnTo>
                  <a:lnTo>
                    <a:pt x="2369" y="583"/>
                  </a:lnTo>
                  <a:lnTo>
                    <a:pt x="2415" y="667"/>
                  </a:lnTo>
                  <a:lnTo>
                    <a:pt x="2454" y="753"/>
                  </a:lnTo>
                  <a:lnTo>
                    <a:pt x="2484" y="842"/>
                  </a:lnTo>
                  <a:lnTo>
                    <a:pt x="2506" y="930"/>
                  </a:lnTo>
                  <a:lnTo>
                    <a:pt x="2519" y="1023"/>
                  </a:lnTo>
                  <a:lnTo>
                    <a:pt x="2523" y="1116"/>
                  </a:lnTo>
                  <a:lnTo>
                    <a:pt x="2519" y="1209"/>
                  </a:lnTo>
                  <a:lnTo>
                    <a:pt x="2506" y="1299"/>
                  </a:lnTo>
                  <a:lnTo>
                    <a:pt x="2484" y="1390"/>
                  </a:lnTo>
                  <a:lnTo>
                    <a:pt x="2454" y="1479"/>
                  </a:lnTo>
                  <a:lnTo>
                    <a:pt x="2417" y="1565"/>
                  </a:lnTo>
                  <a:lnTo>
                    <a:pt x="2372" y="1647"/>
                  </a:lnTo>
                  <a:lnTo>
                    <a:pt x="2317" y="1727"/>
                  </a:lnTo>
                  <a:lnTo>
                    <a:pt x="2257" y="1803"/>
                  </a:lnTo>
                  <a:lnTo>
                    <a:pt x="2190" y="1874"/>
                  </a:lnTo>
                  <a:lnTo>
                    <a:pt x="2116" y="1939"/>
                  </a:lnTo>
                  <a:lnTo>
                    <a:pt x="2038" y="1999"/>
                  </a:lnTo>
                  <a:lnTo>
                    <a:pt x="1952" y="2053"/>
                  </a:lnTo>
                  <a:lnTo>
                    <a:pt x="1863" y="2101"/>
                  </a:lnTo>
                  <a:lnTo>
                    <a:pt x="1770" y="2142"/>
                  </a:lnTo>
                  <a:lnTo>
                    <a:pt x="1673" y="2174"/>
                  </a:lnTo>
                  <a:lnTo>
                    <a:pt x="1573" y="2202"/>
                  </a:lnTo>
                  <a:lnTo>
                    <a:pt x="1471" y="2221"/>
                  </a:lnTo>
                  <a:lnTo>
                    <a:pt x="1368" y="2232"/>
                  </a:lnTo>
                  <a:lnTo>
                    <a:pt x="1264" y="2237"/>
                  </a:lnTo>
                  <a:lnTo>
                    <a:pt x="1160" y="2232"/>
                  </a:lnTo>
                  <a:lnTo>
                    <a:pt x="1056" y="2221"/>
                  </a:lnTo>
                  <a:lnTo>
                    <a:pt x="954" y="2202"/>
                  </a:lnTo>
                  <a:lnTo>
                    <a:pt x="855" y="2176"/>
                  </a:lnTo>
                  <a:lnTo>
                    <a:pt x="757" y="2144"/>
                  </a:lnTo>
                  <a:lnTo>
                    <a:pt x="662" y="2103"/>
                  </a:lnTo>
                  <a:lnTo>
                    <a:pt x="574" y="2055"/>
                  </a:lnTo>
                  <a:lnTo>
                    <a:pt x="489" y="2001"/>
                  </a:lnTo>
                  <a:lnTo>
                    <a:pt x="409" y="1943"/>
                  </a:lnTo>
                  <a:lnTo>
                    <a:pt x="336" y="1876"/>
                  </a:lnTo>
                  <a:lnTo>
                    <a:pt x="268" y="1807"/>
                  </a:lnTo>
                  <a:lnTo>
                    <a:pt x="208" y="1731"/>
                  </a:lnTo>
                  <a:lnTo>
                    <a:pt x="154" y="1651"/>
                  </a:lnTo>
                  <a:lnTo>
                    <a:pt x="108" y="1569"/>
                  </a:lnTo>
                  <a:lnTo>
                    <a:pt x="69" y="1483"/>
                  </a:lnTo>
                  <a:lnTo>
                    <a:pt x="39" y="1394"/>
                  </a:lnTo>
                  <a:lnTo>
                    <a:pt x="17" y="1304"/>
                  </a:lnTo>
                  <a:lnTo>
                    <a:pt x="4" y="1213"/>
                  </a:lnTo>
                  <a:lnTo>
                    <a:pt x="0" y="1120"/>
                  </a:lnTo>
                  <a:lnTo>
                    <a:pt x="4" y="1027"/>
                  </a:lnTo>
                  <a:lnTo>
                    <a:pt x="17" y="935"/>
                  </a:lnTo>
                  <a:lnTo>
                    <a:pt x="39" y="846"/>
                  </a:lnTo>
                  <a:lnTo>
                    <a:pt x="69" y="755"/>
                  </a:lnTo>
                  <a:lnTo>
                    <a:pt x="106" y="671"/>
                  </a:lnTo>
                  <a:lnTo>
                    <a:pt x="152" y="587"/>
                  </a:lnTo>
                  <a:lnTo>
                    <a:pt x="206" y="507"/>
                  </a:lnTo>
                  <a:lnTo>
                    <a:pt x="266" y="431"/>
                  </a:lnTo>
                  <a:lnTo>
                    <a:pt x="333" y="362"/>
                  </a:lnTo>
                  <a:lnTo>
                    <a:pt x="407" y="295"/>
                  </a:lnTo>
                  <a:lnTo>
                    <a:pt x="485" y="237"/>
                  </a:lnTo>
                  <a:lnTo>
                    <a:pt x="571" y="183"/>
                  </a:lnTo>
                  <a:lnTo>
                    <a:pt x="660" y="136"/>
                  </a:lnTo>
                  <a:lnTo>
                    <a:pt x="753" y="95"/>
                  </a:lnTo>
                  <a:lnTo>
                    <a:pt x="850" y="60"/>
                  </a:lnTo>
                  <a:lnTo>
                    <a:pt x="950" y="34"/>
                  </a:lnTo>
                  <a:lnTo>
                    <a:pt x="1052" y="15"/>
                  </a:lnTo>
                  <a:lnTo>
                    <a:pt x="1156" y="4"/>
                  </a:lnTo>
                  <a:lnTo>
                    <a:pt x="1259" y="0"/>
                  </a:lnTo>
                </a:path>
              </a:pathLst>
            </a:custGeom>
            <a:noFill/>
            <a:ln w="3175">
              <a:solidFill>
                <a:srgbClr val="000000"/>
              </a:solidFill>
              <a:round/>
              <a:headEnd/>
              <a:tailEnd/>
            </a:ln>
          </p:spPr>
          <p:txBody>
            <a:bodyPr/>
            <a:lstStyle/>
            <a:p>
              <a:endParaRPr lang="en-US"/>
            </a:p>
          </p:txBody>
        </p:sp>
      </p:grpSp>
      <p:grpSp>
        <p:nvGrpSpPr>
          <p:cNvPr id="7" name="Group 56"/>
          <p:cNvGrpSpPr>
            <a:grpSpLocks noChangeAspect="1"/>
          </p:cNvGrpSpPr>
          <p:nvPr/>
        </p:nvGrpSpPr>
        <p:grpSpPr bwMode="auto">
          <a:xfrm>
            <a:off x="3968750" y="4913313"/>
            <a:ext cx="1357313" cy="1052512"/>
            <a:chOff x="1135" y="2084"/>
            <a:chExt cx="1328" cy="1030"/>
          </a:xfrm>
        </p:grpSpPr>
        <p:sp>
          <p:nvSpPr>
            <p:cNvPr id="37961" name="Rectangle 57"/>
            <p:cNvSpPr>
              <a:spLocks noChangeAspect="1" noChangeArrowheads="1"/>
            </p:cNvSpPr>
            <p:nvPr/>
          </p:nvSpPr>
          <p:spPr bwMode="auto">
            <a:xfrm>
              <a:off x="1135" y="2451"/>
              <a:ext cx="110" cy="239"/>
            </a:xfrm>
            <a:prstGeom prst="rect">
              <a:avLst/>
            </a:prstGeom>
            <a:noFill/>
            <a:ln w="9525">
              <a:noFill/>
              <a:miter lim="800000"/>
              <a:headEnd/>
              <a:tailEnd/>
            </a:ln>
          </p:spPr>
          <p:txBody>
            <a:bodyPr wrap="none" lIns="0" tIns="0" rIns="0" bIns="0">
              <a:spAutoFit/>
            </a:bodyPr>
            <a:lstStyle/>
            <a:p>
              <a:r>
                <a:rPr lang="en-US" sz="1600" b="1">
                  <a:solidFill>
                    <a:srgbClr val="FF0000"/>
                  </a:solidFill>
                </a:rPr>
                <a:t>3</a:t>
              </a:r>
              <a:endParaRPr lang="en-US"/>
            </a:p>
          </p:txBody>
        </p:sp>
        <p:sp>
          <p:nvSpPr>
            <p:cNvPr id="37962" name="Freeform 58"/>
            <p:cNvSpPr>
              <a:spLocks noChangeAspect="1"/>
            </p:cNvSpPr>
            <p:nvPr/>
          </p:nvSpPr>
          <p:spPr bwMode="auto">
            <a:xfrm>
              <a:off x="1178" y="2084"/>
              <a:ext cx="1285" cy="1030"/>
            </a:xfrm>
            <a:custGeom>
              <a:avLst/>
              <a:gdLst>
                <a:gd name="T0" fmla="*/ 422 w 1285"/>
                <a:gd name="T1" fmla="*/ 162 h 1030"/>
                <a:gd name="T2" fmla="*/ 487 w 1285"/>
                <a:gd name="T3" fmla="*/ 123 h 1030"/>
                <a:gd name="T4" fmla="*/ 556 w 1285"/>
                <a:gd name="T5" fmla="*/ 89 h 1030"/>
                <a:gd name="T6" fmla="*/ 626 w 1285"/>
                <a:gd name="T7" fmla="*/ 61 h 1030"/>
                <a:gd name="T8" fmla="*/ 695 w 1285"/>
                <a:gd name="T9" fmla="*/ 37 h 1030"/>
                <a:gd name="T10" fmla="*/ 764 w 1285"/>
                <a:gd name="T11" fmla="*/ 18 h 1030"/>
                <a:gd name="T12" fmla="*/ 831 w 1285"/>
                <a:gd name="T13" fmla="*/ 7 h 1030"/>
                <a:gd name="T14" fmla="*/ 896 w 1285"/>
                <a:gd name="T15" fmla="*/ 0 h 1030"/>
                <a:gd name="T16" fmla="*/ 959 w 1285"/>
                <a:gd name="T17" fmla="*/ 0 h 1030"/>
                <a:gd name="T18" fmla="*/ 1017 w 1285"/>
                <a:gd name="T19" fmla="*/ 7 h 1030"/>
                <a:gd name="T20" fmla="*/ 1071 w 1285"/>
                <a:gd name="T21" fmla="*/ 18 h 1030"/>
                <a:gd name="T22" fmla="*/ 1121 w 1285"/>
                <a:gd name="T23" fmla="*/ 35 h 1030"/>
                <a:gd name="T24" fmla="*/ 1164 w 1285"/>
                <a:gd name="T25" fmla="*/ 59 h 1030"/>
                <a:gd name="T26" fmla="*/ 1203 w 1285"/>
                <a:gd name="T27" fmla="*/ 87 h 1030"/>
                <a:gd name="T28" fmla="*/ 1234 w 1285"/>
                <a:gd name="T29" fmla="*/ 121 h 1030"/>
                <a:gd name="T30" fmla="*/ 1257 w 1285"/>
                <a:gd name="T31" fmla="*/ 160 h 1030"/>
                <a:gd name="T32" fmla="*/ 1275 w 1285"/>
                <a:gd name="T33" fmla="*/ 201 h 1030"/>
                <a:gd name="T34" fmla="*/ 1283 w 1285"/>
                <a:gd name="T35" fmla="*/ 249 h 1030"/>
                <a:gd name="T36" fmla="*/ 1285 w 1285"/>
                <a:gd name="T37" fmla="*/ 298 h 1030"/>
                <a:gd name="T38" fmla="*/ 1279 w 1285"/>
                <a:gd name="T39" fmla="*/ 350 h 1030"/>
                <a:gd name="T40" fmla="*/ 1266 w 1285"/>
                <a:gd name="T41" fmla="*/ 404 h 1030"/>
                <a:gd name="T42" fmla="*/ 1247 w 1285"/>
                <a:gd name="T43" fmla="*/ 458 h 1030"/>
                <a:gd name="T44" fmla="*/ 1218 w 1285"/>
                <a:gd name="T45" fmla="*/ 514 h 1030"/>
                <a:gd name="T46" fmla="*/ 1184 w 1285"/>
                <a:gd name="T47" fmla="*/ 570 h 1030"/>
                <a:gd name="T48" fmla="*/ 1145 w 1285"/>
                <a:gd name="T49" fmla="*/ 624 h 1030"/>
                <a:gd name="T50" fmla="*/ 1097 w 1285"/>
                <a:gd name="T51" fmla="*/ 678 h 1030"/>
                <a:gd name="T52" fmla="*/ 1045 w 1285"/>
                <a:gd name="T53" fmla="*/ 730 h 1030"/>
                <a:gd name="T54" fmla="*/ 989 w 1285"/>
                <a:gd name="T55" fmla="*/ 780 h 1030"/>
                <a:gd name="T56" fmla="*/ 928 w 1285"/>
                <a:gd name="T57" fmla="*/ 827 h 1030"/>
                <a:gd name="T58" fmla="*/ 866 w 1285"/>
                <a:gd name="T59" fmla="*/ 870 h 1030"/>
                <a:gd name="T60" fmla="*/ 799 w 1285"/>
                <a:gd name="T61" fmla="*/ 907 h 1030"/>
                <a:gd name="T62" fmla="*/ 729 w 1285"/>
                <a:gd name="T63" fmla="*/ 942 h 1030"/>
                <a:gd name="T64" fmla="*/ 660 w 1285"/>
                <a:gd name="T65" fmla="*/ 972 h 1030"/>
                <a:gd name="T66" fmla="*/ 591 w 1285"/>
                <a:gd name="T67" fmla="*/ 996 h 1030"/>
                <a:gd name="T68" fmla="*/ 522 w 1285"/>
                <a:gd name="T69" fmla="*/ 1013 h 1030"/>
                <a:gd name="T70" fmla="*/ 455 w 1285"/>
                <a:gd name="T71" fmla="*/ 1026 h 1030"/>
                <a:gd name="T72" fmla="*/ 390 w 1285"/>
                <a:gd name="T73" fmla="*/ 1030 h 1030"/>
                <a:gd name="T74" fmla="*/ 327 w 1285"/>
                <a:gd name="T75" fmla="*/ 1030 h 1030"/>
                <a:gd name="T76" fmla="*/ 269 w 1285"/>
                <a:gd name="T77" fmla="*/ 1026 h 1030"/>
                <a:gd name="T78" fmla="*/ 214 w 1285"/>
                <a:gd name="T79" fmla="*/ 1013 h 1030"/>
                <a:gd name="T80" fmla="*/ 165 w 1285"/>
                <a:gd name="T81" fmla="*/ 996 h 1030"/>
                <a:gd name="T82" fmla="*/ 121 w 1285"/>
                <a:gd name="T83" fmla="*/ 972 h 1030"/>
                <a:gd name="T84" fmla="*/ 85 w 1285"/>
                <a:gd name="T85" fmla="*/ 944 h 1030"/>
                <a:gd name="T86" fmla="*/ 52 w 1285"/>
                <a:gd name="T87" fmla="*/ 909 h 1030"/>
                <a:gd name="T88" fmla="*/ 28 w 1285"/>
                <a:gd name="T89" fmla="*/ 873 h 1030"/>
                <a:gd name="T90" fmla="*/ 13 w 1285"/>
                <a:gd name="T91" fmla="*/ 829 h 1030"/>
                <a:gd name="T92" fmla="*/ 2 w 1285"/>
                <a:gd name="T93" fmla="*/ 784 h 1030"/>
                <a:gd name="T94" fmla="*/ 0 w 1285"/>
                <a:gd name="T95" fmla="*/ 734 h 1030"/>
                <a:gd name="T96" fmla="*/ 7 w 1285"/>
                <a:gd name="T97" fmla="*/ 683 h 1030"/>
                <a:gd name="T98" fmla="*/ 20 w 1285"/>
                <a:gd name="T99" fmla="*/ 629 h 1030"/>
                <a:gd name="T100" fmla="*/ 39 w 1285"/>
                <a:gd name="T101" fmla="*/ 572 h 1030"/>
                <a:gd name="T102" fmla="*/ 67 w 1285"/>
                <a:gd name="T103" fmla="*/ 516 h 1030"/>
                <a:gd name="T104" fmla="*/ 102 w 1285"/>
                <a:gd name="T105" fmla="*/ 462 h 1030"/>
                <a:gd name="T106" fmla="*/ 143 w 1285"/>
                <a:gd name="T107" fmla="*/ 406 h 1030"/>
                <a:gd name="T108" fmla="*/ 188 w 1285"/>
                <a:gd name="T109" fmla="*/ 352 h 1030"/>
                <a:gd name="T110" fmla="*/ 240 w 1285"/>
                <a:gd name="T111" fmla="*/ 300 h 1030"/>
                <a:gd name="T112" fmla="*/ 297 w 1285"/>
                <a:gd name="T113" fmla="*/ 251 h 1030"/>
                <a:gd name="T114" fmla="*/ 357 w 1285"/>
                <a:gd name="T115" fmla="*/ 205 h 1030"/>
                <a:gd name="T116" fmla="*/ 422 w 1285"/>
                <a:gd name="T117" fmla="*/ 162 h 10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285"/>
                <a:gd name="T178" fmla="*/ 0 h 1030"/>
                <a:gd name="T179" fmla="*/ 1285 w 1285"/>
                <a:gd name="T180" fmla="*/ 1030 h 103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285" h="1030">
                  <a:moveTo>
                    <a:pt x="422" y="162"/>
                  </a:moveTo>
                  <a:lnTo>
                    <a:pt x="487" y="123"/>
                  </a:lnTo>
                  <a:lnTo>
                    <a:pt x="556" y="89"/>
                  </a:lnTo>
                  <a:lnTo>
                    <a:pt x="626" y="61"/>
                  </a:lnTo>
                  <a:lnTo>
                    <a:pt x="695" y="37"/>
                  </a:lnTo>
                  <a:lnTo>
                    <a:pt x="764" y="18"/>
                  </a:lnTo>
                  <a:lnTo>
                    <a:pt x="831" y="7"/>
                  </a:lnTo>
                  <a:lnTo>
                    <a:pt x="896" y="0"/>
                  </a:lnTo>
                  <a:lnTo>
                    <a:pt x="959" y="0"/>
                  </a:lnTo>
                  <a:lnTo>
                    <a:pt x="1017" y="7"/>
                  </a:lnTo>
                  <a:lnTo>
                    <a:pt x="1071" y="18"/>
                  </a:lnTo>
                  <a:lnTo>
                    <a:pt x="1121" y="35"/>
                  </a:lnTo>
                  <a:lnTo>
                    <a:pt x="1164" y="59"/>
                  </a:lnTo>
                  <a:lnTo>
                    <a:pt x="1203" y="87"/>
                  </a:lnTo>
                  <a:lnTo>
                    <a:pt x="1234" y="121"/>
                  </a:lnTo>
                  <a:lnTo>
                    <a:pt x="1257" y="160"/>
                  </a:lnTo>
                  <a:lnTo>
                    <a:pt x="1275" y="201"/>
                  </a:lnTo>
                  <a:lnTo>
                    <a:pt x="1283" y="249"/>
                  </a:lnTo>
                  <a:lnTo>
                    <a:pt x="1285" y="298"/>
                  </a:lnTo>
                  <a:lnTo>
                    <a:pt x="1279" y="350"/>
                  </a:lnTo>
                  <a:lnTo>
                    <a:pt x="1266" y="404"/>
                  </a:lnTo>
                  <a:lnTo>
                    <a:pt x="1247" y="458"/>
                  </a:lnTo>
                  <a:lnTo>
                    <a:pt x="1218" y="514"/>
                  </a:lnTo>
                  <a:lnTo>
                    <a:pt x="1184" y="570"/>
                  </a:lnTo>
                  <a:lnTo>
                    <a:pt x="1145" y="624"/>
                  </a:lnTo>
                  <a:lnTo>
                    <a:pt x="1097" y="678"/>
                  </a:lnTo>
                  <a:lnTo>
                    <a:pt x="1045" y="730"/>
                  </a:lnTo>
                  <a:lnTo>
                    <a:pt x="989" y="780"/>
                  </a:lnTo>
                  <a:lnTo>
                    <a:pt x="928" y="827"/>
                  </a:lnTo>
                  <a:lnTo>
                    <a:pt x="866" y="870"/>
                  </a:lnTo>
                  <a:lnTo>
                    <a:pt x="799" y="907"/>
                  </a:lnTo>
                  <a:lnTo>
                    <a:pt x="729" y="942"/>
                  </a:lnTo>
                  <a:lnTo>
                    <a:pt x="660" y="972"/>
                  </a:lnTo>
                  <a:lnTo>
                    <a:pt x="591" y="996"/>
                  </a:lnTo>
                  <a:lnTo>
                    <a:pt x="522" y="1013"/>
                  </a:lnTo>
                  <a:lnTo>
                    <a:pt x="455" y="1026"/>
                  </a:lnTo>
                  <a:lnTo>
                    <a:pt x="390" y="1030"/>
                  </a:lnTo>
                  <a:lnTo>
                    <a:pt x="327" y="1030"/>
                  </a:lnTo>
                  <a:lnTo>
                    <a:pt x="269" y="1026"/>
                  </a:lnTo>
                  <a:lnTo>
                    <a:pt x="214" y="1013"/>
                  </a:lnTo>
                  <a:lnTo>
                    <a:pt x="165" y="996"/>
                  </a:lnTo>
                  <a:lnTo>
                    <a:pt x="121" y="972"/>
                  </a:lnTo>
                  <a:lnTo>
                    <a:pt x="85" y="944"/>
                  </a:lnTo>
                  <a:lnTo>
                    <a:pt x="52" y="909"/>
                  </a:lnTo>
                  <a:lnTo>
                    <a:pt x="28" y="873"/>
                  </a:lnTo>
                  <a:lnTo>
                    <a:pt x="13" y="829"/>
                  </a:lnTo>
                  <a:lnTo>
                    <a:pt x="2" y="784"/>
                  </a:lnTo>
                  <a:lnTo>
                    <a:pt x="0" y="734"/>
                  </a:lnTo>
                  <a:lnTo>
                    <a:pt x="7" y="683"/>
                  </a:lnTo>
                  <a:lnTo>
                    <a:pt x="20" y="629"/>
                  </a:lnTo>
                  <a:lnTo>
                    <a:pt x="39" y="572"/>
                  </a:lnTo>
                  <a:lnTo>
                    <a:pt x="67" y="516"/>
                  </a:lnTo>
                  <a:lnTo>
                    <a:pt x="102" y="462"/>
                  </a:lnTo>
                  <a:lnTo>
                    <a:pt x="143" y="406"/>
                  </a:lnTo>
                  <a:lnTo>
                    <a:pt x="188" y="352"/>
                  </a:lnTo>
                  <a:lnTo>
                    <a:pt x="240" y="300"/>
                  </a:lnTo>
                  <a:lnTo>
                    <a:pt x="297" y="251"/>
                  </a:lnTo>
                  <a:lnTo>
                    <a:pt x="357" y="205"/>
                  </a:lnTo>
                  <a:lnTo>
                    <a:pt x="422" y="162"/>
                  </a:lnTo>
                </a:path>
              </a:pathLst>
            </a:custGeom>
            <a:noFill/>
            <a:ln w="3175">
              <a:solidFill>
                <a:srgbClr val="000000"/>
              </a:solidFill>
              <a:round/>
              <a:headEnd/>
              <a:tailEnd/>
            </a:ln>
          </p:spPr>
          <p:txBody>
            <a:bodyPr/>
            <a:lstStyle/>
            <a:p>
              <a:endParaRPr lang="en-US"/>
            </a:p>
          </p:txBody>
        </p:sp>
      </p:grpSp>
      <p:grpSp>
        <p:nvGrpSpPr>
          <p:cNvPr id="8" name="Group 59"/>
          <p:cNvGrpSpPr>
            <a:grpSpLocks noChangeAspect="1"/>
          </p:cNvGrpSpPr>
          <p:nvPr/>
        </p:nvGrpSpPr>
        <p:grpSpPr bwMode="auto">
          <a:xfrm>
            <a:off x="3000375" y="4244975"/>
            <a:ext cx="2432050" cy="1789113"/>
            <a:chOff x="187" y="1430"/>
            <a:chExt cx="2380" cy="1751"/>
          </a:xfrm>
        </p:grpSpPr>
        <p:sp>
          <p:nvSpPr>
            <p:cNvPr id="37959" name="Rectangle 60"/>
            <p:cNvSpPr>
              <a:spLocks noChangeAspect="1" noChangeArrowheads="1"/>
            </p:cNvSpPr>
            <p:nvPr/>
          </p:nvSpPr>
          <p:spPr bwMode="auto">
            <a:xfrm>
              <a:off x="417" y="2643"/>
              <a:ext cx="110" cy="240"/>
            </a:xfrm>
            <a:prstGeom prst="rect">
              <a:avLst/>
            </a:prstGeom>
            <a:noFill/>
            <a:ln w="9525">
              <a:noFill/>
              <a:miter lim="800000"/>
              <a:headEnd/>
              <a:tailEnd/>
            </a:ln>
          </p:spPr>
          <p:txBody>
            <a:bodyPr wrap="none" lIns="0" tIns="0" rIns="0" bIns="0">
              <a:spAutoFit/>
            </a:bodyPr>
            <a:lstStyle/>
            <a:p>
              <a:r>
                <a:rPr lang="en-US" sz="1600" b="1">
                  <a:solidFill>
                    <a:srgbClr val="FF0000"/>
                  </a:solidFill>
                </a:rPr>
                <a:t>4</a:t>
              </a:r>
              <a:endParaRPr lang="en-US"/>
            </a:p>
          </p:txBody>
        </p:sp>
        <p:sp>
          <p:nvSpPr>
            <p:cNvPr id="37960" name="Freeform 61"/>
            <p:cNvSpPr>
              <a:spLocks noChangeAspect="1"/>
            </p:cNvSpPr>
            <p:nvPr/>
          </p:nvSpPr>
          <p:spPr bwMode="auto">
            <a:xfrm>
              <a:off x="187" y="1430"/>
              <a:ext cx="2380" cy="1751"/>
            </a:xfrm>
            <a:custGeom>
              <a:avLst/>
              <a:gdLst>
                <a:gd name="T0" fmla="*/ 1275 w 2380"/>
                <a:gd name="T1" fmla="*/ 0 h 1751"/>
                <a:gd name="T2" fmla="*/ 1474 w 2380"/>
                <a:gd name="T3" fmla="*/ 22 h 1751"/>
                <a:gd name="T4" fmla="*/ 1664 w 2380"/>
                <a:gd name="T5" fmla="*/ 67 h 1751"/>
                <a:gd name="T6" fmla="*/ 1842 w 2380"/>
                <a:gd name="T7" fmla="*/ 136 h 1751"/>
                <a:gd name="T8" fmla="*/ 2002 w 2380"/>
                <a:gd name="T9" fmla="*/ 227 h 1751"/>
                <a:gd name="T10" fmla="*/ 2138 w 2380"/>
                <a:gd name="T11" fmla="*/ 335 h 1751"/>
                <a:gd name="T12" fmla="*/ 2246 w 2380"/>
                <a:gd name="T13" fmla="*/ 460 h 1751"/>
                <a:gd name="T14" fmla="*/ 2324 w 2380"/>
                <a:gd name="T15" fmla="*/ 596 h 1751"/>
                <a:gd name="T16" fmla="*/ 2370 w 2380"/>
                <a:gd name="T17" fmla="*/ 741 h 1751"/>
                <a:gd name="T18" fmla="*/ 2380 w 2380"/>
                <a:gd name="T19" fmla="*/ 887 h 1751"/>
                <a:gd name="T20" fmla="*/ 2359 w 2380"/>
                <a:gd name="T21" fmla="*/ 1036 h 1751"/>
                <a:gd name="T22" fmla="*/ 2302 w 2380"/>
                <a:gd name="T23" fmla="*/ 1179 h 1751"/>
                <a:gd name="T24" fmla="*/ 2214 w 2380"/>
                <a:gd name="T25" fmla="*/ 1313 h 1751"/>
                <a:gd name="T26" fmla="*/ 2097 w 2380"/>
                <a:gd name="T27" fmla="*/ 1436 h 1751"/>
                <a:gd name="T28" fmla="*/ 1954 w 2380"/>
                <a:gd name="T29" fmla="*/ 1542 h 1751"/>
                <a:gd name="T30" fmla="*/ 1787 w 2380"/>
                <a:gd name="T31" fmla="*/ 1628 h 1751"/>
                <a:gd name="T32" fmla="*/ 1606 w 2380"/>
                <a:gd name="T33" fmla="*/ 1693 h 1751"/>
                <a:gd name="T34" fmla="*/ 1411 w 2380"/>
                <a:gd name="T35" fmla="*/ 1736 h 1751"/>
                <a:gd name="T36" fmla="*/ 1210 w 2380"/>
                <a:gd name="T37" fmla="*/ 1751 h 1751"/>
                <a:gd name="T38" fmla="*/ 1009 w 2380"/>
                <a:gd name="T39" fmla="*/ 1742 h 1751"/>
                <a:gd name="T40" fmla="*/ 812 w 2380"/>
                <a:gd name="T41" fmla="*/ 1710 h 1751"/>
                <a:gd name="T42" fmla="*/ 626 w 2380"/>
                <a:gd name="T43" fmla="*/ 1652 h 1751"/>
                <a:gd name="T44" fmla="*/ 457 w 2380"/>
                <a:gd name="T45" fmla="*/ 1572 h 1751"/>
                <a:gd name="T46" fmla="*/ 310 w 2380"/>
                <a:gd name="T47" fmla="*/ 1473 h 1751"/>
                <a:gd name="T48" fmla="*/ 186 w 2380"/>
                <a:gd name="T49" fmla="*/ 1356 h 1751"/>
                <a:gd name="T50" fmla="*/ 93 w 2380"/>
                <a:gd name="T51" fmla="*/ 1226 h 1751"/>
                <a:gd name="T52" fmla="*/ 31 w 2380"/>
                <a:gd name="T53" fmla="*/ 1084 h 1751"/>
                <a:gd name="T54" fmla="*/ 2 w 2380"/>
                <a:gd name="T55" fmla="*/ 937 h 1751"/>
                <a:gd name="T56" fmla="*/ 9 w 2380"/>
                <a:gd name="T57" fmla="*/ 788 h 1751"/>
                <a:gd name="T58" fmla="*/ 48 w 2380"/>
                <a:gd name="T59" fmla="*/ 643 h 1751"/>
                <a:gd name="T60" fmla="*/ 119 w 2380"/>
                <a:gd name="T61" fmla="*/ 503 h 1751"/>
                <a:gd name="T62" fmla="*/ 223 w 2380"/>
                <a:gd name="T63" fmla="*/ 374 h 1751"/>
                <a:gd name="T64" fmla="*/ 355 w 2380"/>
                <a:gd name="T65" fmla="*/ 259 h 1751"/>
                <a:gd name="T66" fmla="*/ 509 w 2380"/>
                <a:gd name="T67" fmla="*/ 164 h 1751"/>
                <a:gd name="T68" fmla="*/ 684 w 2380"/>
                <a:gd name="T69" fmla="*/ 86 h 1751"/>
                <a:gd name="T70" fmla="*/ 874 w 2380"/>
                <a:gd name="T71" fmla="*/ 35 h 1751"/>
                <a:gd name="T72" fmla="*/ 1071 w 2380"/>
                <a:gd name="T73" fmla="*/ 4 h 175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80"/>
                <a:gd name="T112" fmla="*/ 0 h 1751"/>
                <a:gd name="T113" fmla="*/ 2380 w 2380"/>
                <a:gd name="T114" fmla="*/ 1751 h 175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80" h="1751">
                  <a:moveTo>
                    <a:pt x="1173" y="0"/>
                  </a:moveTo>
                  <a:lnTo>
                    <a:pt x="1275" y="0"/>
                  </a:lnTo>
                  <a:lnTo>
                    <a:pt x="1374" y="9"/>
                  </a:lnTo>
                  <a:lnTo>
                    <a:pt x="1474" y="22"/>
                  </a:lnTo>
                  <a:lnTo>
                    <a:pt x="1571" y="41"/>
                  </a:lnTo>
                  <a:lnTo>
                    <a:pt x="1664" y="67"/>
                  </a:lnTo>
                  <a:lnTo>
                    <a:pt x="1755" y="99"/>
                  </a:lnTo>
                  <a:lnTo>
                    <a:pt x="1842" y="136"/>
                  </a:lnTo>
                  <a:lnTo>
                    <a:pt x="1924" y="179"/>
                  </a:lnTo>
                  <a:lnTo>
                    <a:pt x="2002" y="227"/>
                  </a:lnTo>
                  <a:lnTo>
                    <a:pt x="2073" y="279"/>
                  </a:lnTo>
                  <a:lnTo>
                    <a:pt x="2138" y="335"/>
                  </a:lnTo>
                  <a:lnTo>
                    <a:pt x="2194" y="395"/>
                  </a:lnTo>
                  <a:lnTo>
                    <a:pt x="2246" y="460"/>
                  </a:lnTo>
                  <a:lnTo>
                    <a:pt x="2289" y="527"/>
                  </a:lnTo>
                  <a:lnTo>
                    <a:pt x="2324" y="596"/>
                  </a:lnTo>
                  <a:lnTo>
                    <a:pt x="2350" y="667"/>
                  </a:lnTo>
                  <a:lnTo>
                    <a:pt x="2370" y="741"/>
                  </a:lnTo>
                  <a:lnTo>
                    <a:pt x="2380" y="814"/>
                  </a:lnTo>
                  <a:lnTo>
                    <a:pt x="2380" y="887"/>
                  </a:lnTo>
                  <a:lnTo>
                    <a:pt x="2374" y="963"/>
                  </a:lnTo>
                  <a:lnTo>
                    <a:pt x="2359" y="1036"/>
                  </a:lnTo>
                  <a:lnTo>
                    <a:pt x="2335" y="1108"/>
                  </a:lnTo>
                  <a:lnTo>
                    <a:pt x="2302" y="1179"/>
                  </a:lnTo>
                  <a:lnTo>
                    <a:pt x="2261" y="1248"/>
                  </a:lnTo>
                  <a:lnTo>
                    <a:pt x="2214" y="1313"/>
                  </a:lnTo>
                  <a:lnTo>
                    <a:pt x="2160" y="1378"/>
                  </a:lnTo>
                  <a:lnTo>
                    <a:pt x="2097" y="1436"/>
                  </a:lnTo>
                  <a:lnTo>
                    <a:pt x="2028" y="1492"/>
                  </a:lnTo>
                  <a:lnTo>
                    <a:pt x="1954" y="1542"/>
                  </a:lnTo>
                  <a:lnTo>
                    <a:pt x="1872" y="1587"/>
                  </a:lnTo>
                  <a:lnTo>
                    <a:pt x="1787" y="1628"/>
                  </a:lnTo>
                  <a:lnTo>
                    <a:pt x="1699" y="1665"/>
                  </a:lnTo>
                  <a:lnTo>
                    <a:pt x="1606" y="1693"/>
                  </a:lnTo>
                  <a:lnTo>
                    <a:pt x="1508" y="1717"/>
                  </a:lnTo>
                  <a:lnTo>
                    <a:pt x="1411" y="1736"/>
                  </a:lnTo>
                  <a:lnTo>
                    <a:pt x="1309" y="1747"/>
                  </a:lnTo>
                  <a:lnTo>
                    <a:pt x="1210" y="1751"/>
                  </a:lnTo>
                  <a:lnTo>
                    <a:pt x="1108" y="1751"/>
                  </a:lnTo>
                  <a:lnTo>
                    <a:pt x="1009" y="1742"/>
                  </a:lnTo>
                  <a:lnTo>
                    <a:pt x="909" y="1730"/>
                  </a:lnTo>
                  <a:lnTo>
                    <a:pt x="812" y="1710"/>
                  </a:lnTo>
                  <a:lnTo>
                    <a:pt x="719" y="1684"/>
                  </a:lnTo>
                  <a:lnTo>
                    <a:pt x="626" y="1652"/>
                  </a:lnTo>
                  <a:lnTo>
                    <a:pt x="539" y="1615"/>
                  </a:lnTo>
                  <a:lnTo>
                    <a:pt x="457" y="1572"/>
                  </a:lnTo>
                  <a:lnTo>
                    <a:pt x="381" y="1524"/>
                  </a:lnTo>
                  <a:lnTo>
                    <a:pt x="310" y="1473"/>
                  </a:lnTo>
                  <a:lnTo>
                    <a:pt x="245" y="1416"/>
                  </a:lnTo>
                  <a:lnTo>
                    <a:pt x="186" y="1356"/>
                  </a:lnTo>
                  <a:lnTo>
                    <a:pt x="137" y="1291"/>
                  </a:lnTo>
                  <a:lnTo>
                    <a:pt x="93" y="1226"/>
                  </a:lnTo>
                  <a:lnTo>
                    <a:pt x="59" y="1155"/>
                  </a:lnTo>
                  <a:lnTo>
                    <a:pt x="31" y="1084"/>
                  </a:lnTo>
                  <a:lnTo>
                    <a:pt x="13" y="1011"/>
                  </a:lnTo>
                  <a:lnTo>
                    <a:pt x="2" y="937"/>
                  </a:lnTo>
                  <a:lnTo>
                    <a:pt x="0" y="864"/>
                  </a:lnTo>
                  <a:lnTo>
                    <a:pt x="9" y="788"/>
                  </a:lnTo>
                  <a:lnTo>
                    <a:pt x="24" y="715"/>
                  </a:lnTo>
                  <a:lnTo>
                    <a:pt x="48" y="643"/>
                  </a:lnTo>
                  <a:lnTo>
                    <a:pt x="80" y="572"/>
                  </a:lnTo>
                  <a:lnTo>
                    <a:pt x="119" y="503"/>
                  </a:lnTo>
                  <a:lnTo>
                    <a:pt x="167" y="438"/>
                  </a:lnTo>
                  <a:lnTo>
                    <a:pt x="223" y="374"/>
                  </a:lnTo>
                  <a:lnTo>
                    <a:pt x="286" y="315"/>
                  </a:lnTo>
                  <a:lnTo>
                    <a:pt x="355" y="259"/>
                  </a:lnTo>
                  <a:lnTo>
                    <a:pt x="429" y="209"/>
                  </a:lnTo>
                  <a:lnTo>
                    <a:pt x="509" y="164"/>
                  </a:lnTo>
                  <a:lnTo>
                    <a:pt x="595" y="123"/>
                  </a:lnTo>
                  <a:lnTo>
                    <a:pt x="684" y="86"/>
                  </a:lnTo>
                  <a:lnTo>
                    <a:pt x="777" y="58"/>
                  </a:lnTo>
                  <a:lnTo>
                    <a:pt x="874" y="35"/>
                  </a:lnTo>
                  <a:lnTo>
                    <a:pt x="972" y="15"/>
                  </a:lnTo>
                  <a:lnTo>
                    <a:pt x="1071" y="4"/>
                  </a:lnTo>
                  <a:lnTo>
                    <a:pt x="1173" y="0"/>
                  </a:lnTo>
                </a:path>
              </a:pathLst>
            </a:custGeom>
            <a:noFill/>
            <a:ln w="3175">
              <a:solidFill>
                <a:srgbClr val="000000"/>
              </a:solidFill>
              <a:round/>
              <a:headEnd/>
              <a:tailEnd/>
            </a:ln>
          </p:spPr>
          <p:txBody>
            <a:bodyPr/>
            <a:lstStyle/>
            <a:p>
              <a:endParaRPr lang="en-US"/>
            </a:p>
          </p:txBody>
        </p:sp>
      </p:grpSp>
      <p:grpSp>
        <p:nvGrpSpPr>
          <p:cNvPr id="9" name="Group 62"/>
          <p:cNvGrpSpPr>
            <a:grpSpLocks noChangeAspect="1"/>
          </p:cNvGrpSpPr>
          <p:nvPr/>
        </p:nvGrpSpPr>
        <p:grpSpPr bwMode="auto">
          <a:xfrm>
            <a:off x="5540375" y="1649413"/>
            <a:ext cx="1979613" cy="1797050"/>
            <a:chOff x="383" y="1437"/>
            <a:chExt cx="1902" cy="1727"/>
          </a:xfrm>
        </p:grpSpPr>
        <p:sp>
          <p:nvSpPr>
            <p:cNvPr id="37947" name="Freeform 63"/>
            <p:cNvSpPr>
              <a:spLocks noChangeAspect="1"/>
            </p:cNvSpPr>
            <p:nvPr/>
          </p:nvSpPr>
          <p:spPr bwMode="auto">
            <a:xfrm>
              <a:off x="974" y="2118"/>
              <a:ext cx="87" cy="87"/>
            </a:xfrm>
            <a:custGeom>
              <a:avLst/>
              <a:gdLst>
                <a:gd name="T0" fmla="*/ 0 w 87"/>
                <a:gd name="T1" fmla="*/ 43 h 87"/>
                <a:gd name="T2" fmla="*/ 4 w 87"/>
                <a:gd name="T3" fmla="*/ 26 h 87"/>
                <a:gd name="T4" fmla="*/ 13 w 87"/>
                <a:gd name="T5" fmla="*/ 13 h 87"/>
                <a:gd name="T6" fmla="*/ 28 w 87"/>
                <a:gd name="T7" fmla="*/ 2 h 87"/>
                <a:gd name="T8" fmla="*/ 45 w 87"/>
                <a:gd name="T9" fmla="*/ 0 h 87"/>
                <a:gd name="T10" fmla="*/ 62 w 87"/>
                <a:gd name="T11" fmla="*/ 2 h 87"/>
                <a:gd name="T12" fmla="*/ 75 w 87"/>
                <a:gd name="T13" fmla="*/ 13 h 87"/>
                <a:gd name="T14" fmla="*/ 85 w 87"/>
                <a:gd name="T15" fmla="*/ 26 h 87"/>
                <a:gd name="T16" fmla="*/ 87 w 87"/>
                <a:gd name="T17" fmla="*/ 43 h 87"/>
                <a:gd name="T18" fmla="*/ 85 w 87"/>
                <a:gd name="T19" fmla="*/ 60 h 87"/>
                <a:gd name="T20" fmla="*/ 75 w 87"/>
                <a:gd name="T21" fmla="*/ 75 h 87"/>
                <a:gd name="T22" fmla="*/ 62 w 87"/>
                <a:gd name="T23" fmla="*/ 83 h 87"/>
                <a:gd name="T24" fmla="*/ 45 w 87"/>
                <a:gd name="T25" fmla="*/ 87 h 87"/>
                <a:gd name="T26" fmla="*/ 28 w 87"/>
                <a:gd name="T27" fmla="*/ 83 h 87"/>
                <a:gd name="T28" fmla="*/ 13 w 87"/>
                <a:gd name="T29" fmla="*/ 75 h 87"/>
                <a:gd name="T30" fmla="*/ 4 w 87"/>
                <a:gd name="T31" fmla="*/ 60 h 87"/>
                <a:gd name="T32" fmla="*/ 0 w 87"/>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3"/>
                  </a:moveTo>
                  <a:lnTo>
                    <a:pt x="4" y="26"/>
                  </a:lnTo>
                  <a:lnTo>
                    <a:pt x="13" y="13"/>
                  </a:lnTo>
                  <a:lnTo>
                    <a:pt x="28" y="2"/>
                  </a:lnTo>
                  <a:lnTo>
                    <a:pt x="45" y="0"/>
                  </a:lnTo>
                  <a:lnTo>
                    <a:pt x="62" y="2"/>
                  </a:lnTo>
                  <a:lnTo>
                    <a:pt x="75" y="13"/>
                  </a:lnTo>
                  <a:lnTo>
                    <a:pt x="85" y="26"/>
                  </a:lnTo>
                  <a:lnTo>
                    <a:pt x="87" y="43"/>
                  </a:lnTo>
                  <a:lnTo>
                    <a:pt x="85" y="60"/>
                  </a:lnTo>
                  <a:lnTo>
                    <a:pt x="75" y="75"/>
                  </a:lnTo>
                  <a:lnTo>
                    <a:pt x="62" y="83"/>
                  </a:lnTo>
                  <a:lnTo>
                    <a:pt x="45" y="87"/>
                  </a:lnTo>
                  <a:lnTo>
                    <a:pt x="28" y="83"/>
                  </a:lnTo>
                  <a:lnTo>
                    <a:pt x="13" y="75"/>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7948" name="Freeform 64"/>
            <p:cNvSpPr>
              <a:spLocks noChangeAspect="1"/>
            </p:cNvSpPr>
            <p:nvPr/>
          </p:nvSpPr>
          <p:spPr bwMode="auto">
            <a:xfrm>
              <a:off x="1782" y="1488"/>
              <a:ext cx="87" cy="87"/>
            </a:xfrm>
            <a:custGeom>
              <a:avLst/>
              <a:gdLst>
                <a:gd name="T0" fmla="*/ 0 w 87"/>
                <a:gd name="T1" fmla="*/ 43 h 87"/>
                <a:gd name="T2" fmla="*/ 4 w 87"/>
                <a:gd name="T3" fmla="*/ 26 h 87"/>
                <a:gd name="T4" fmla="*/ 13 w 87"/>
                <a:gd name="T5" fmla="*/ 13 h 87"/>
                <a:gd name="T6" fmla="*/ 28 w 87"/>
                <a:gd name="T7" fmla="*/ 3 h 87"/>
                <a:gd name="T8" fmla="*/ 45 w 87"/>
                <a:gd name="T9" fmla="*/ 0 h 87"/>
                <a:gd name="T10" fmla="*/ 60 w 87"/>
                <a:gd name="T11" fmla="*/ 3 h 87"/>
                <a:gd name="T12" fmla="*/ 74 w 87"/>
                <a:gd name="T13" fmla="*/ 13 h 87"/>
                <a:gd name="T14" fmla="*/ 85 w 87"/>
                <a:gd name="T15" fmla="*/ 26 h 87"/>
                <a:gd name="T16" fmla="*/ 87 w 87"/>
                <a:gd name="T17" fmla="*/ 43 h 87"/>
                <a:gd name="T18" fmla="*/ 85 w 87"/>
                <a:gd name="T19" fmla="*/ 60 h 87"/>
                <a:gd name="T20" fmla="*/ 74 w 87"/>
                <a:gd name="T21" fmla="*/ 75 h 87"/>
                <a:gd name="T22" fmla="*/ 60 w 87"/>
                <a:gd name="T23" fmla="*/ 83 h 87"/>
                <a:gd name="T24" fmla="*/ 45 w 87"/>
                <a:gd name="T25" fmla="*/ 87 h 87"/>
                <a:gd name="T26" fmla="*/ 28 w 87"/>
                <a:gd name="T27" fmla="*/ 83 h 87"/>
                <a:gd name="T28" fmla="*/ 13 w 87"/>
                <a:gd name="T29" fmla="*/ 75 h 87"/>
                <a:gd name="T30" fmla="*/ 4 w 87"/>
                <a:gd name="T31" fmla="*/ 60 h 87"/>
                <a:gd name="T32" fmla="*/ 0 w 87"/>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3"/>
                  </a:moveTo>
                  <a:lnTo>
                    <a:pt x="4" y="26"/>
                  </a:lnTo>
                  <a:lnTo>
                    <a:pt x="13" y="13"/>
                  </a:lnTo>
                  <a:lnTo>
                    <a:pt x="28" y="3"/>
                  </a:lnTo>
                  <a:lnTo>
                    <a:pt x="45" y="0"/>
                  </a:lnTo>
                  <a:lnTo>
                    <a:pt x="60" y="3"/>
                  </a:lnTo>
                  <a:lnTo>
                    <a:pt x="74" y="13"/>
                  </a:lnTo>
                  <a:lnTo>
                    <a:pt x="85" y="26"/>
                  </a:lnTo>
                  <a:lnTo>
                    <a:pt x="87" y="43"/>
                  </a:lnTo>
                  <a:lnTo>
                    <a:pt x="85" y="60"/>
                  </a:lnTo>
                  <a:lnTo>
                    <a:pt x="74" y="75"/>
                  </a:lnTo>
                  <a:lnTo>
                    <a:pt x="60" y="83"/>
                  </a:lnTo>
                  <a:lnTo>
                    <a:pt x="45" y="87"/>
                  </a:lnTo>
                  <a:lnTo>
                    <a:pt x="28" y="83"/>
                  </a:lnTo>
                  <a:lnTo>
                    <a:pt x="13" y="75"/>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7949" name="Freeform 65"/>
            <p:cNvSpPr>
              <a:spLocks noChangeAspect="1"/>
            </p:cNvSpPr>
            <p:nvPr/>
          </p:nvSpPr>
          <p:spPr bwMode="auto">
            <a:xfrm>
              <a:off x="1193" y="2975"/>
              <a:ext cx="87" cy="87"/>
            </a:xfrm>
            <a:custGeom>
              <a:avLst/>
              <a:gdLst>
                <a:gd name="T0" fmla="*/ 0 w 87"/>
                <a:gd name="T1" fmla="*/ 45 h 87"/>
                <a:gd name="T2" fmla="*/ 4 w 87"/>
                <a:gd name="T3" fmla="*/ 28 h 87"/>
                <a:gd name="T4" fmla="*/ 13 w 87"/>
                <a:gd name="T5" fmla="*/ 13 h 87"/>
                <a:gd name="T6" fmla="*/ 28 w 87"/>
                <a:gd name="T7" fmla="*/ 4 h 87"/>
                <a:gd name="T8" fmla="*/ 45 w 87"/>
                <a:gd name="T9" fmla="*/ 0 h 87"/>
                <a:gd name="T10" fmla="*/ 62 w 87"/>
                <a:gd name="T11" fmla="*/ 4 h 87"/>
                <a:gd name="T12" fmla="*/ 75 w 87"/>
                <a:gd name="T13" fmla="*/ 13 h 87"/>
                <a:gd name="T14" fmla="*/ 85 w 87"/>
                <a:gd name="T15" fmla="*/ 28 h 87"/>
                <a:gd name="T16" fmla="*/ 87 w 87"/>
                <a:gd name="T17" fmla="*/ 45 h 87"/>
                <a:gd name="T18" fmla="*/ 85 w 87"/>
                <a:gd name="T19" fmla="*/ 62 h 87"/>
                <a:gd name="T20" fmla="*/ 75 w 87"/>
                <a:gd name="T21" fmla="*/ 74 h 87"/>
                <a:gd name="T22" fmla="*/ 62 w 87"/>
                <a:gd name="T23" fmla="*/ 85 h 87"/>
                <a:gd name="T24" fmla="*/ 45 w 87"/>
                <a:gd name="T25" fmla="*/ 87 h 87"/>
                <a:gd name="T26" fmla="*/ 28 w 87"/>
                <a:gd name="T27" fmla="*/ 85 h 87"/>
                <a:gd name="T28" fmla="*/ 13 w 87"/>
                <a:gd name="T29" fmla="*/ 74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4"/>
                  </a:lnTo>
                  <a:lnTo>
                    <a:pt x="45" y="0"/>
                  </a:lnTo>
                  <a:lnTo>
                    <a:pt x="62" y="4"/>
                  </a:lnTo>
                  <a:lnTo>
                    <a:pt x="75" y="13"/>
                  </a:lnTo>
                  <a:lnTo>
                    <a:pt x="85" y="28"/>
                  </a:lnTo>
                  <a:lnTo>
                    <a:pt x="87" y="45"/>
                  </a:lnTo>
                  <a:lnTo>
                    <a:pt x="85" y="62"/>
                  </a:lnTo>
                  <a:lnTo>
                    <a:pt x="75" y="74"/>
                  </a:lnTo>
                  <a:lnTo>
                    <a:pt x="62" y="85"/>
                  </a:lnTo>
                  <a:lnTo>
                    <a:pt x="45" y="87"/>
                  </a:lnTo>
                  <a:lnTo>
                    <a:pt x="28" y="85"/>
                  </a:lnTo>
                  <a:lnTo>
                    <a:pt x="13" y="74"/>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50" name="Freeform 66"/>
            <p:cNvSpPr>
              <a:spLocks noChangeAspect="1"/>
            </p:cNvSpPr>
            <p:nvPr/>
          </p:nvSpPr>
          <p:spPr bwMode="auto">
            <a:xfrm>
              <a:off x="383" y="1993"/>
              <a:ext cx="87" cy="87"/>
            </a:xfrm>
            <a:custGeom>
              <a:avLst/>
              <a:gdLst>
                <a:gd name="T0" fmla="*/ 0 w 87"/>
                <a:gd name="T1" fmla="*/ 45 h 87"/>
                <a:gd name="T2" fmla="*/ 4 w 87"/>
                <a:gd name="T3" fmla="*/ 28 h 87"/>
                <a:gd name="T4" fmla="*/ 13 w 87"/>
                <a:gd name="T5" fmla="*/ 13 h 87"/>
                <a:gd name="T6" fmla="*/ 28 w 87"/>
                <a:gd name="T7" fmla="*/ 4 h 87"/>
                <a:gd name="T8" fmla="*/ 45 w 87"/>
                <a:gd name="T9" fmla="*/ 0 h 87"/>
                <a:gd name="T10" fmla="*/ 62 w 87"/>
                <a:gd name="T11" fmla="*/ 4 h 87"/>
                <a:gd name="T12" fmla="*/ 74 w 87"/>
                <a:gd name="T13" fmla="*/ 13 h 87"/>
                <a:gd name="T14" fmla="*/ 85 w 87"/>
                <a:gd name="T15" fmla="*/ 28 h 87"/>
                <a:gd name="T16" fmla="*/ 87 w 87"/>
                <a:gd name="T17" fmla="*/ 45 h 87"/>
                <a:gd name="T18" fmla="*/ 85 w 87"/>
                <a:gd name="T19" fmla="*/ 62 h 87"/>
                <a:gd name="T20" fmla="*/ 74 w 87"/>
                <a:gd name="T21" fmla="*/ 74 h 87"/>
                <a:gd name="T22" fmla="*/ 62 w 87"/>
                <a:gd name="T23" fmla="*/ 85 h 87"/>
                <a:gd name="T24" fmla="*/ 45 w 87"/>
                <a:gd name="T25" fmla="*/ 87 h 87"/>
                <a:gd name="T26" fmla="*/ 28 w 87"/>
                <a:gd name="T27" fmla="*/ 85 h 87"/>
                <a:gd name="T28" fmla="*/ 13 w 87"/>
                <a:gd name="T29" fmla="*/ 74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4"/>
                  </a:lnTo>
                  <a:lnTo>
                    <a:pt x="45" y="0"/>
                  </a:lnTo>
                  <a:lnTo>
                    <a:pt x="62" y="4"/>
                  </a:lnTo>
                  <a:lnTo>
                    <a:pt x="74" y="13"/>
                  </a:lnTo>
                  <a:lnTo>
                    <a:pt x="85" y="28"/>
                  </a:lnTo>
                  <a:lnTo>
                    <a:pt x="87" y="45"/>
                  </a:lnTo>
                  <a:lnTo>
                    <a:pt x="85" y="62"/>
                  </a:lnTo>
                  <a:lnTo>
                    <a:pt x="74" y="74"/>
                  </a:lnTo>
                  <a:lnTo>
                    <a:pt x="62" y="85"/>
                  </a:lnTo>
                  <a:lnTo>
                    <a:pt x="45" y="87"/>
                  </a:lnTo>
                  <a:lnTo>
                    <a:pt x="28" y="85"/>
                  </a:lnTo>
                  <a:lnTo>
                    <a:pt x="13" y="74"/>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51" name="Freeform 67"/>
            <p:cNvSpPr>
              <a:spLocks noChangeAspect="1"/>
            </p:cNvSpPr>
            <p:nvPr/>
          </p:nvSpPr>
          <p:spPr bwMode="auto">
            <a:xfrm>
              <a:off x="1544" y="2419"/>
              <a:ext cx="87" cy="87"/>
            </a:xfrm>
            <a:custGeom>
              <a:avLst/>
              <a:gdLst>
                <a:gd name="T0" fmla="*/ 0 w 87"/>
                <a:gd name="T1" fmla="*/ 45 h 87"/>
                <a:gd name="T2" fmla="*/ 4 w 87"/>
                <a:gd name="T3" fmla="*/ 28 h 87"/>
                <a:gd name="T4" fmla="*/ 13 w 87"/>
                <a:gd name="T5" fmla="*/ 13 h 87"/>
                <a:gd name="T6" fmla="*/ 28 w 87"/>
                <a:gd name="T7" fmla="*/ 5 h 87"/>
                <a:gd name="T8" fmla="*/ 42 w 87"/>
                <a:gd name="T9" fmla="*/ 0 h 87"/>
                <a:gd name="T10" fmla="*/ 59 w 87"/>
                <a:gd name="T11" fmla="*/ 5 h 87"/>
                <a:gd name="T12" fmla="*/ 74 w 87"/>
                <a:gd name="T13" fmla="*/ 13 h 87"/>
                <a:gd name="T14" fmla="*/ 83 w 87"/>
                <a:gd name="T15" fmla="*/ 28 h 87"/>
                <a:gd name="T16" fmla="*/ 87 w 87"/>
                <a:gd name="T17" fmla="*/ 45 h 87"/>
                <a:gd name="T18" fmla="*/ 83 w 87"/>
                <a:gd name="T19" fmla="*/ 62 h 87"/>
                <a:gd name="T20" fmla="*/ 74 w 87"/>
                <a:gd name="T21" fmla="*/ 75 h 87"/>
                <a:gd name="T22" fmla="*/ 59 w 87"/>
                <a:gd name="T23" fmla="*/ 85 h 87"/>
                <a:gd name="T24" fmla="*/ 42 w 87"/>
                <a:gd name="T25" fmla="*/ 87 h 87"/>
                <a:gd name="T26" fmla="*/ 28 w 87"/>
                <a:gd name="T27" fmla="*/ 85 h 87"/>
                <a:gd name="T28" fmla="*/ 13 w 87"/>
                <a:gd name="T29" fmla="*/ 75 h 87"/>
                <a:gd name="T30" fmla="*/ 4 w 87"/>
                <a:gd name="T31" fmla="*/ 62 h 87"/>
                <a:gd name="T32" fmla="*/ 0 w 87"/>
                <a:gd name="T33" fmla="*/ 45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5"/>
                  </a:moveTo>
                  <a:lnTo>
                    <a:pt x="4" y="28"/>
                  </a:lnTo>
                  <a:lnTo>
                    <a:pt x="13" y="13"/>
                  </a:lnTo>
                  <a:lnTo>
                    <a:pt x="28" y="5"/>
                  </a:lnTo>
                  <a:lnTo>
                    <a:pt x="42" y="0"/>
                  </a:lnTo>
                  <a:lnTo>
                    <a:pt x="59" y="5"/>
                  </a:lnTo>
                  <a:lnTo>
                    <a:pt x="74" y="13"/>
                  </a:lnTo>
                  <a:lnTo>
                    <a:pt x="83" y="28"/>
                  </a:lnTo>
                  <a:lnTo>
                    <a:pt x="87" y="45"/>
                  </a:lnTo>
                  <a:lnTo>
                    <a:pt x="83" y="62"/>
                  </a:lnTo>
                  <a:lnTo>
                    <a:pt x="74" y="75"/>
                  </a:lnTo>
                  <a:lnTo>
                    <a:pt x="59" y="85"/>
                  </a:lnTo>
                  <a:lnTo>
                    <a:pt x="42" y="87"/>
                  </a:lnTo>
                  <a:lnTo>
                    <a:pt x="28" y="85"/>
                  </a:lnTo>
                  <a:lnTo>
                    <a:pt x="13" y="75"/>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52" name="Freeform 68"/>
            <p:cNvSpPr>
              <a:spLocks noChangeAspect="1"/>
            </p:cNvSpPr>
            <p:nvPr/>
          </p:nvSpPr>
          <p:spPr bwMode="auto">
            <a:xfrm>
              <a:off x="2018" y="2479"/>
              <a:ext cx="87" cy="87"/>
            </a:xfrm>
            <a:custGeom>
              <a:avLst/>
              <a:gdLst>
                <a:gd name="T0" fmla="*/ 0 w 87"/>
                <a:gd name="T1" fmla="*/ 42 h 87"/>
                <a:gd name="T2" fmla="*/ 4 w 87"/>
                <a:gd name="T3" fmla="*/ 25 h 87"/>
                <a:gd name="T4" fmla="*/ 13 w 87"/>
                <a:gd name="T5" fmla="*/ 13 h 87"/>
                <a:gd name="T6" fmla="*/ 28 w 87"/>
                <a:gd name="T7" fmla="*/ 2 h 87"/>
                <a:gd name="T8" fmla="*/ 45 w 87"/>
                <a:gd name="T9" fmla="*/ 0 h 87"/>
                <a:gd name="T10" fmla="*/ 62 w 87"/>
                <a:gd name="T11" fmla="*/ 2 h 87"/>
                <a:gd name="T12" fmla="*/ 74 w 87"/>
                <a:gd name="T13" fmla="*/ 13 h 87"/>
                <a:gd name="T14" fmla="*/ 85 w 87"/>
                <a:gd name="T15" fmla="*/ 25 h 87"/>
                <a:gd name="T16" fmla="*/ 87 w 87"/>
                <a:gd name="T17" fmla="*/ 42 h 87"/>
                <a:gd name="T18" fmla="*/ 85 w 87"/>
                <a:gd name="T19" fmla="*/ 59 h 87"/>
                <a:gd name="T20" fmla="*/ 74 w 87"/>
                <a:gd name="T21" fmla="*/ 74 h 87"/>
                <a:gd name="T22" fmla="*/ 62 w 87"/>
                <a:gd name="T23" fmla="*/ 83 h 87"/>
                <a:gd name="T24" fmla="*/ 45 w 87"/>
                <a:gd name="T25" fmla="*/ 87 h 87"/>
                <a:gd name="T26" fmla="*/ 28 w 87"/>
                <a:gd name="T27" fmla="*/ 83 h 87"/>
                <a:gd name="T28" fmla="*/ 13 w 87"/>
                <a:gd name="T29" fmla="*/ 74 h 87"/>
                <a:gd name="T30" fmla="*/ 4 w 87"/>
                <a:gd name="T31" fmla="*/ 59 h 87"/>
                <a:gd name="T32" fmla="*/ 0 w 87"/>
                <a:gd name="T33" fmla="*/ 42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7"/>
                <a:gd name="T52" fmla="*/ 0 h 87"/>
                <a:gd name="T53" fmla="*/ 87 w 87"/>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7" h="87">
                  <a:moveTo>
                    <a:pt x="0" y="42"/>
                  </a:moveTo>
                  <a:lnTo>
                    <a:pt x="4" y="25"/>
                  </a:lnTo>
                  <a:lnTo>
                    <a:pt x="13" y="13"/>
                  </a:lnTo>
                  <a:lnTo>
                    <a:pt x="28" y="2"/>
                  </a:lnTo>
                  <a:lnTo>
                    <a:pt x="45" y="0"/>
                  </a:lnTo>
                  <a:lnTo>
                    <a:pt x="62" y="2"/>
                  </a:lnTo>
                  <a:lnTo>
                    <a:pt x="74" y="13"/>
                  </a:lnTo>
                  <a:lnTo>
                    <a:pt x="85" y="25"/>
                  </a:lnTo>
                  <a:lnTo>
                    <a:pt x="87" y="42"/>
                  </a:lnTo>
                  <a:lnTo>
                    <a:pt x="85" y="59"/>
                  </a:lnTo>
                  <a:lnTo>
                    <a:pt x="74" y="74"/>
                  </a:lnTo>
                  <a:lnTo>
                    <a:pt x="62" y="83"/>
                  </a:lnTo>
                  <a:lnTo>
                    <a:pt x="45" y="87"/>
                  </a:lnTo>
                  <a:lnTo>
                    <a:pt x="28" y="83"/>
                  </a:lnTo>
                  <a:lnTo>
                    <a:pt x="13" y="74"/>
                  </a:lnTo>
                  <a:lnTo>
                    <a:pt x="4" y="59"/>
                  </a:lnTo>
                  <a:lnTo>
                    <a:pt x="0" y="42"/>
                  </a:lnTo>
                  <a:close/>
                </a:path>
              </a:pathLst>
            </a:custGeom>
            <a:solidFill>
              <a:srgbClr val="1A1A1A"/>
            </a:solidFill>
            <a:ln w="3175">
              <a:solidFill>
                <a:srgbClr val="000000"/>
              </a:solidFill>
              <a:round/>
              <a:headEnd/>
              <a:tailEnd/>
            </a:ln>
          </p:spPr>
          <p:txBody>
            <a:bodyPr/>
            <a:lstStyle/>
            <a:p>
              <a:endParaRPr lang="en-US"/>
            </a:p>
          </p:txBody>
        </p:sp>
        <p:sp>
          <p:nvSpPr>
            <p:cNvPr id="37953" name="Rectangle 69"/>
            <p:cNvSpPr>
              <a:spLocks noChangeAspect="1" noChangeArrowheads="1"/>
            </p:cNvSpPr>
            <p:nvPr/>
          </p:nvSpPr>
          <p:spPr bwMode="auto">
            <a:xfrm>
              <a:off x="1890" y="1437"/>
              <a:ext cx="97" cy="235"/>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1</a:t>
              </a:r>
              <a:endParaRPr lang="en-US"/>
            </a:p>
          </p:txBody>
        </p:sp>
        <p:sp>
          <p:nvSpPr>
            <p:cNvPr id="37954" name="Rectangle 70"/>
            <p:cNvSpPr>
              <a:spLocks noChangeAspect="1" noChangeArrowheads="1"/>
            </p:cNvSpPr>
            <p:nvPr/>
          </p:nvSpPr>
          <p:spPr bwMode="auto">
            <a:xfrm>
              <a:off x="1089" y="2061"/>
              <a:ext cx="98" cy="235"/>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2</a:t>
              </a:r>
              <a:endParaRPr lang="en-US"/>
            </a:p>
          </p:txBody>
        </p:sp>
        <p:sp>
          <p:nvSpPr>
            <p:cNvPr id="37955" name="Rectangle 71"/>
            <p:cNvSpPr>
              <a:spLocks noChangeAspect="1" noChangeArrowheads="1"/>
            </p:cNvSpPr>
            <p:nvPr/>
          </p:nvSpPr>
          <p:spPr bwMode="auto">
            <a:xfrm>
              <a:off x="1699" y="2374"/>
              <a:ext cx="98" cy="235"/>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3</a:t>
              </a:r>
              <a:endParaRPr lang="en-US"/>
            </a:p>
          </p:txBody>
        </p:sp>
        <p:sp>
          <p:nvSpPr>
            <p:cNvPr id="37956" name="Rectangle 72"/>
            <p:cNvSpPr>
              <a:spLocks noChangeAspect="1" noChangeArrowheads="1"/>
            </p:cNvSpPr>
            <p:nvPr/>
          </p:nvSpPr>
          <p:spPr bwMode="auto">
            <a:xfrm>
              <a:off x="1319" y="2929"/>
              <a:ext cx="98" cy="235"/>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4</a:t>
              </a:r>
              <a:endParaRPr lang="en-US"/>
            </a:p>
          </p:txBody>
        </p:sp>
        <p:sp>
          <p:nvSpPr>
            <p:cNvPr id="37957" name="Rectangle 73"/>
            <p:cNvSpPr>
              <a:spLocks noChangeAspect="1" noChangeArrowheads="1"/>
            </p:cNvSpPr>
            <p:nvPr/>
          </p:nvSpPr>
          <p:spPr bwMode="auto">
            <a:xfrm>
              <a:off x="517" y="1940"/>
              <a:ext cx="98" cy="235"/>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5</a:t>
              </a:r>
              <a:endParaRPr lang="en-US"/>
            </a:p>
          </p:txBody>
        </p:sp>
        <p:sp>
          <p:nvSpPr>
            <p:cNvPr id="37958" name="Rectangle 74"/>
            <p:cNvSpPr>
              <a:spLocks noChangeAspect="1" noChangeArrowheads="1"/>
            </p:cNvSpPr>
            <p:nvPr/>
          </p:nvSpPr>
          <p:spPr bwMode="auto">
            <a:xfrm>
              <a:off x="2187" y="2429"/>
              <a:ext cx="98" cy="235"/>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6</a:t>
              </a:r>
              <a:endParaRPr lang="en-US"/>
            </a:p>
          </p:txBody>
        </p:sp>
      </p:grpSp>
      <p:grpSp>
        <p:nvGrpSpPr>
          <p:cNvPr id="10" name="Group 75"/>
          <p:cNvGrpSpPr>
            <a:grpSpLocks noChangeAspect="1"/>
          </p:cNvGrpSpPr>
          <p:nvPr/>
        </p:nvGrpSpPr>
        <p:grpSpPr bwMode="auto">
          <a:xfrm>
            <a:off x="6667500" y="2557463"/>
            <a:ext cx="919163" cy="617537"/>
            <a:chOff x="1465" y="2309"/>
            <a:chExt cx="883" cy="594"/>
          </a:xfrm>
        </p:grpSpPr>
        <p:sp>
          <p:nvSpPr>
            <p:cNvPr id="37945" name="Freeform 76"/>
            <p:cNvSpPr>
              <a:spLocks noChangeAspect="1"/>
            </p:cNvSpPr>
            <p:nvPr/>
          </p:nvSpPr>
          <p:spPr bwMode="auto">
            <a:xfrm>
              <a:off x="1465" y="2309"/>
              <a:ext cx="883" cy="369"/>
            </a:xfrm>
            <a:custGeom>
              <a:avLst/>
              <a:gdLst>
                <a:gd name="T0" fmla="*/ 442 w 883"/>
                <a:gd name="T1" fmla="*/ 0 h 369"/>
                <a:gd name="T2" fmla="*/ 502 w 883"/>
                <a:gd name="T3" fmla="*/ 2 h 369"/>
                <a:gd name="T4" fmla="*/ 562 w 883"/>
                <a:gd name="T5" fmla="*/ 7 h 369"/>
                <a:gd name="T6" fmla="*/ 619 w 883"/>
                <a:gd name="T7" fmla="*/ 15 h 369"/>
                <a:gd name="T8" fmla="*/ 672 w 883"/>
                <a:gd name="T9" fmla="*/ 28 h 369"/>
                <a:gd name="T10" fmla="*/ 721 w 883"/>
                <a:gd name="T11" fmla="*/ 43 h 369"/>
                <a:gd name="T12" fmla="*/ 766 w 883"/>
                <a:gd name="T13" fmla="*/ 60 h 369"/>
                <a:gd name="T14" fmla="*/ 804 w 883"/>
                <a:gd name="T15" fmla="*/ 79 h 369"/>
                <a:gd name="T16" fmla="*/ 836 w 883"/>
                <a:gd name="T17" fmla="*/ 100 h 369"/>
                <a:gd name="T18" fmla="*/ 859 w 883"/>
                <a:gd name="T19" fmla="*/ 123 h 369"/>
                <a:gd name="T20" fmla="*/ 876 w 883"/>
                <a:gd name="T21" fmla="*/ 147 h 369"/>
                <a:gd name="T22" fmla="*/ 883 w 883"/>
                <a:gd name="T23" fmla="*/ 172 h 369"/>
                <a:gd name="T24" fmla="*/ 883 w 883"/>
                <a:gd name="T25" fmla="*/ 197 h 369"/>
                <a:gd name="T26" fmla="*/ 876 w 883"/>
                <a:gd name="T27" fmla="*/ 223 h 369"/>
                <a:gd name="T28" fmla="*/ 859 w 883"/>
                <a:gd name="T29" fmla="*/ 246 h 369"/>
                <a:gd name="T30" fmla="*/ 836 w 883"/>
                <a:gd name="T31" fmla="*/ 270 h 369"/>
                <a:gd name="T32" fmla="*/ 804 w 883"/>
                <a:gd name="T33" fmla="*/ 291 h 369"/>
                <a:gd name="T34" fmla="*/ 766 w 883"/>
                <a:gd name="T35" fmla="*/ 310 h 369"/>
                <a:gd name="T36" fmla="*/ 721 w 883"/>
                <a:gd name="T37" fmla="*/ 327 h 369"/>
                <a:gd name="T38" fmla="*/ 672 w 883"/>
                <a:gd name="T39" fmla="*/ 342 h 369"/>
                <a:gd name="T40" fmla="*/ 619 w 883"/>
                <a:gd name="T41" fmla="*/ 354 h 369"/>
                <a:gd name="T42" fmla="*/ 562 w 883"/>
                <a:gd name="T43" fmla="*/ 363 h 369"/>
                <a:gd name="T44" fmla="*/ 502 w 883"/>
                <a:gd name="T45" fmla="*/ 367 h 369"/>
                <a:gd name="T46" fmla="*/ 442 w 883"/>
                <a:gd name="T47" fmla="*/ 369 h 369"/>
                <a:gd name="T48" fmla="*/ 381 w 883"/>
                <a:gd name="T49" fmla="*/ 367 h 369"/>
                <a:gd name="T50" fmla="*/ 323 w 883"/>
                <a:gd name="T51" fmla="*/ 363 h 369"/>
                <a:gd name="T52" fmla="*/ 266 w 883"/>
                <a:gd name="T53" fmla="*/ 354 h 369"/>
                <a:gd name="T54" fmla="*/ 213 w 883"/>
                <a:gd name="T55" fmla="*/ 342 h 369"/>
                <a:gd name="T56" fmla="*/ 162 w 883"/>
                <a:gd name="T57" fmla="*/ 327 h 369"/>
                <a:gd name="T58" fmla="*/ 119 w 883"/>
                <a:gd name="T59" fmla="*/ 310 h 369"/>
                <a:gd name="T60" fmla="*/ 81 w 883"/>
                <a:gd name="T61" fmla="*/ 291 h 369"/>
                <a:gd name="T62" fmla="*/ 49 w 883"/>
                <a:gd name="T63" fmla="*/ 270 h 369"/>
                <a:gd name="T64" fmla="*/ 26 w 883"/>
                <a:gd name="T65" fmla="*/ 246 h 369"/>
                <a:gd name="T66" fmla="*/ 9 w 883"/>
                <a:gd name="T67" fmla="*/ 223 h 369"/>
                <a:gd name="T68" fmla="*/ 0 w 883"/>
                <a:gd name="T69" fmla="*/ 197 h 369"/>
                <a:gd name="T70" fmla="*/ 0 w 883"/>
                <a:gd name="T71" fmla="*/ 172 h 369"/>
                <a:gd name="T72" fmla="*/ 9 w 883"/>
                <a:gd name="T73" fmla="*/ 147 h 369"/>
                <a:gd name="T74" fmla="*/ 26 w 883"/>
                <a:gd name="T75" fmla="*/ 123 h 369"/>
                <a:gd name="T76" fmla="*/ 49 w 883"/>
                <a:gd name="T77" fmla="*/ 100 h 369"/>
                <a:gd name="T78" fmla="*/ 81 w 883"/>
                <a:gd name="T79" fmla="*/ 79 h 369"/>
                <a:gd name="T80" fmla="*/ 119 w 883"/>
                <a:gd name="T81" fmla="*/ 60 h 369"/>
                <a:gd name="T82" fmla="*/ 162 w 883"/>
                <a:gd name="T83" fmla="*/ 43 h 369"/>
                <a:gd name="T84" fmla="*/ 213 w 883"/>
                <a:gd name="T85" fmla="*/ 28 h 369"/>
                <a:gd name="T86" fmla="*/ 266 w 883"/>
                <a:gd name="T87" fmla="*/ 15 h 369"/>
                <a:gd name="T88" fmla="*/ 323 w 883"/>
                <a:gd name="T89" fmla="*/ 7 h 369"/>
                <a:gd name="T90" fmla="*/ 381 w 883"/>
                <a:gd name="T91" fmla="*/ 2 h 369"/>
                <a:gd name="T92" fmla="*/ 442 w 883"/>
                <a:gd name="T93" fmla="*/ 0 h 3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83"/>
                <a:gd name="T142" fmla="*/ 0 h 369"/>
                <a:gd name="T143" fmla="*/ 883 w 883"/>
                <a:gd name="T144" fmla="*/ 369 h 36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83" h="369">
                  <a:moveTo>
                    <a:pt x="442" y="0"/>
                  </a:moveTo>
                  <a:lnTo>
                    <a:pt x="502" y="2"/>
                  </a:lnTo>
                  <a:lnTo>
                    <a:pt x="562" y="7"/>
                  </a:lnTo>
                  <a:lnTo>
                    <a:pt x="619" y="15"/>
                  </a:lnTo>
                  <a:lnTo>
                    <a:pt x="672" y="28"/>
                  </a:lnTo>
                  <a:lnTo>
                    <a:pt x="721" y="43"/>
                  </a:lnTo>
                  <a:lnTo>
                    <a:pt x="766" y="60"/>
                  </a:lnTo>
                  <a:lnTo>
                    <a:pt x="804" y="79"/>
                  </a:lnTo>
                  <a:lnTo>
                    <a:pt x="836" y="100"/>
                  </a:lnTo>
                  <a:lnTo>
                    <a:pt x="859" y="123"/>
                  </a:lnTo>
                  <a:lnTo>
                    <a:pt x="876" y="147"/>
                  </a:lnTo>
                  <a:lnTo>
                    <a:pt x="883" y="172"/>
                  </a:lnTo>
                  <a:lnTo>
                    <a:pt x="883" y="197"/>
                  </a:lnTo>
                  <a:lnTo>
                    <a:pt x="876" y="223"/>
                  </a:lnTo>
                  <a:lnTo>
                    <a:pt x="859" y="246"/>
                  </a:lnTo>
                  <a:lnTo>
                    <a:pt x="836" y="270"/>
                  </a:lnTo>
                  <a:lnTo>
                    <a:pt x="804" y="291"/>
                  </a:lnTo>
                  <a:lnTo>
                    <a:pt x="766" y="310"/>
                  </a:lnTo>
                  <a:lnTo>
                    <a:pt x="721" y="327"/>
                  </a:lnTo>
                  <a:lnTo>
                    <a:pt x="672" y="342"/>
                  </a:lnTo>
                  <a:lnTo>
                    <a:pt x="619" y="354"/>
                  </a:lnTo>
                  <a:lnTo>
                    <a:pt x="562" y="363"/>
                  </a:lnTo>
                  <a:lnTo>
                    <a:pt x="502" y="367"/>
                  </a:lnTo>
                  <a:lnTo>
                    <a:pt x="442" y="369"/>
                  </a:lnTo>
                  <a:lnTo>
                    <a:pt x="381" y="367"/>
                  </a:lnTo>
                  <a:lnTo>
                    <a:pt x="323" y="363"/>
                  </a:lnTo>
                  <a:lnTo>
                    <a:pt x="266" y="354"/>
                  </a:lnTo>
                  <a:lnTo>
                    <a:pt x="213" y="342"/>
                  </a:lnTo>
                  <a:lnTo>
                    <a:pt x="162" y="327"/>
                  </a:lnTo>
                  <a:lnTo>
                    <a:pt x="119" y="310"/>
                  </a:lnTo>
                  <a:lnTo>
                    <a:pt x="81" y="291"/>
                  </a:lnTo>
                  <a:lnTo>
                    <a:pt x="49" y="270"/>
                  </a:lnTo>
                  <a:lnTo>
                    <a:pt x="26" y="246"/>
                  </a:lnTo>
                  <a:lnTo>
                    <a:pt x="9" y="223"/>
                  </a:lnTo>
                  <a:lnTo>
                    <a:pt x="0" y="197"/>
                  </a:lnTo>
                  <a:lnTo>
                    <a:pt x="0" y="172"/>
                  </a:lnTo>
                  <a:lnTo>
                    <a:pt x="9" y="147"/>
                  </a:lnTo>
                  <a:lnTo>
                    <a:pt x="26" y="123"/>
                  </a:lnTo>
                  <a:lnTo>
                    <a:pt x="49" y="100"/>
                  </a:lnTo>
                  <a:lnTo>
                    <a:pt x="81" y="79"/>
                  </a:lnTo>
                  <a:lnTo>
                    <a:pt x="119" y="60"/>
                  </a:lnTo>
                  <a:lnTo>
                    <a:pt x="162" y="43"/>
                  </a:lnTo>
                  <a:lnTo>
                    <a:pt x="213" y="28"/>
                  </a:lnTo>
                  <a:lnTo>
                    <a:pt x="266" y="15"/>
                  </a:lnTo>
                  <a:lnTo>
                    <a:pt x="323" y="7"/>
                  </a:lnTo>
                  <a:lnTo>
                    <a:pt x="381" y="2"/>
                  </a:lnTo>
                  <a:lnTo>
                    <a:pt x="442" y="0"/>
                  </a:lnTo>
                </a:path>
              </a:pathLst>
            </a:custGeom>
            <a:noFill/>
            <a:ln w="3175">
              <a:solidFill>
                <a:srgbClr val="000000"/>
              </a:solidFill>
              <a:round/>
              <a:headEnd/>
              <a:tailEnd/>
            </a:ln>
          </p:spPr>
          <p:txBody>
            <a:bodyPr/>
            <a:lstStyle/>
            <a:p>
              <a:endParaRPr lang="en-US"/>
            </a:p>
          </p:txBody>
        </p:sp>
        <p:sp>
          <p:nvSpPr>
            <p:cNvPr id="37946" name="Rectangle 77"/>
            <p:cNvSpPr>
              <a:spLocks noChangeAspect="1" noChangeArrowheads="1"/>
            </p:cNvSpPr>
            <p:nvPr/>
          </p:nvSpPr>
          <p:spPr bwMode="auto">
            <a:xfrm>
              <a:off x="1831" y="2668"/>
              <a:ext cx="108" cy="235"/>
            </a:xfrm>
            <a:prstGeom prst="rect">
              <a:avLst/>
            </a:prstGeom>
            <a:noFill/>
            <a:ln w="9525">
              <a:noFill/>
              <a:miter lim="800000"/>
              <a:headEnd/>
              <a:tailEnd/>
            </a:ln>
          </p:spPr>
          <p:txBody>
            <a:bodyPr wrap="none" lIns="0" tIns="0" rIns="0" bIns="0">
              <a:spAutoFit/>
            </a:bodyPr>
            <a:lstStyle/>
            <a:p>
              <a:r>
                <a:rPr lang="en-US" sz="1600" b="1">
                  <a:solidFill>
                    <a:srgbClr val="FF0000"/>
                  </a:solidFill>
                </a:rPr>
                <a:t>1</a:t>
              </a:r>
              <a:endParaRPr lang="en-US"/>
            </a:p>
          </p:txBody>
        </p:sp>
      </p:grpSp>
      <p:grpSp>
        <p:nvGrpSpPr>
          <p:cNvPr id="11" name="Group 78"/>
          <p:cNvGrpSpPr>
            <a:grpSpLocks noChangeAspect="1"/>
          </p:cNvGrpSpPr>
          <p:nvPr/>
        </p:nvGrpSpPr>
        <p:grpSpPr bwMode="auto">
          <a:xfrm>
            <a:off x="5483225" y="1927225"/>
            <a:ext cx="1036638" cy="584200"/>
            <a:chOff x="328" y="1704"/>
            <a:chExt cx="995" cy="561"/>
          </a:xfrm>
        </p:grpSpPr>
        <p:sp>
          <p:nvSpPr>
            <p:cNvPr id="37943" name="Freeform 79"/>
            <p:cNvSpPr>
              <a:spLocks noChangeAspect="1"/>
            </p:cNvSpPr>
            <p:nvPr/>
          </p:nvSpPr>
          <p:spPr bwMode="auto">
            <a:xfrm>
              <a:off x="328" y="1881"/>
              <a:ext cx="995" cy="384"/>
            </a:xfrm>
            <a:custGeom>
              <a:avLst/>
              <a:gdLst>
                <a:gd name="T0" fmla="*/ 514 w 995"/>
                <a:gd name="T1" fmla="*/ 4 h 384"/>
                <a:gd name="T2" fmla="*/ 576 w 995"/>
                <a:gd name="T3" fmla="*/ 10 h 384"/>
                <a:gd name="T4" fmla="*/ 638 w 995"/>
                <a:gd name="T5" fmla="*/ 21 h 384"/>
                <a:gd name="T6" fmla="*/ 695 w 995"/>
                <a:gd name="T7" fmla="*/ 34 h 384"/>
                <a:gd name="T8" fmla="*/ 752 w 995"/>
                <a:gd name="T9" fmla="*/ 49 h 384"/>
                <a:gd name="T10" fmla="*/ 803 w 995"/>
                <a:gd name="T11" fmla="*/ 66 h 384"/>
                <a:gd name="T12" fmla="*/ 850 w 995"/>
                <a:gd name="T13" fmla="*/ 85 h 384"/>
                <a:gd name="T14" fmla="*/ 891 w 995"/>
                <a:gd name="T15" fmla="*/ 106 h 384"/>
                <a:gd name="T16" fmla="*/ 927 w 995"/>
                <a:gd name="T17" fmla="*/ 127 h 384"/>
                <a:gd name="T18" fmla="*/ 954 w 995"/>
                <a:gd name="T19" fmla="*/ 150 h 384"/>
                <a:gd name="T20" fmla="*/ 976 w 995"/>
                <a:gd name="T21" fmla="*/ 176 h 384"/>
                <a:gd name="T22" fmla="*/ 988 w 995"/>
                <a:gd name="T23" fmla="*/ 199 h 384"/>
                <a:gd name="T24" fmla="*/ 995 w 995"/>
                <a:gd name="T25" fmla="*/ 222 h 384"/>
                <a:gd name="T26" fmla="*/ 993 w 995"/>
                <a:gd name="T27" fmla="*/ 248 h 384"/>
                <a:gd name="T28" fmla="*/ 982 w 995"/>
                <a:gd name="T29" fmla="*/ 269 h 384"/>
                <a:gd name="T30" fmla="*/ 965 w 995"/>
                <a:gd name="T31" fmla="*/ 290 h 384"/>
                <a:gd name="T32" fmla="*/ 940 w 995"/>
                <a:gd name="T33" fmla="*/ 312 h 384"/>
                <a:gd name="T34" fmla="*/ 908 w 995"/>
                <a:gd name="T35" fmla="*/ 329 h 384"/>
                <a:gd name="T36" fmla="*/ 869 w 995"/>
                <a:gd name="T37" fmla="*/ 345 h 384"/>
                <a:gd name="T38" fmla="*/ 827 w 995"/>
                <a:gd name="T39" fmla="*/ 358 h 384"/>
                <a:gd name="T40" fmla="*/ 776 w 995"/>
                <a:gd name="T41" fmla="*/ 369 h 384"/>
                <a:gd name="T42" fmla="*/ 723 w 995"/>
                <a:gd name="T43" fmla="*/ 377 h 384"/>
                <a:gd name="T44" fmla="*/ 665 w 995"/>
                <a:gd name="T45" fmla="*/ 382 h 384"/>
                <a:gd name="T46" fmla="*/ 606 w 995"/>
                <a:gd name="T47" fmla="*/ 384 h 384"/>
                <a:gd name="T48" fmla="*/ 544 w 995"/>
                <a:gd name="T49" fmla="*/ 384 h 384"/>
                <a:gd name="T50" fmla="*/ 480 w 995"/>
                <a:gd name="T51" fmla="*/ 379 h 384"/>
                <a:gd name="T52" fmla="*/ 419 w 995"/>
                <a:gd name="T53" fmla="*/ 373 h 384"/>
                <a:gd name="T54" fmla="*/ 357 w 995"/>
                <a:gd name="T55" fmla="*/ 362 h 384"/>
                <a:gd name="T56" fmla="*/ 300 w 995"/>
                <a:gd name="T57" fmla="*/ 350 h 384"/>
                <a:gd name="T58" fmla="*/ 242 w 995"/>
                <a:gd name="T59" fmla="*/ 335 h 384"/>
                <a:gd name="T60" fmla="*/ 191 w 995"/>
                <a:gd name="T61" fmla="*/ 318 h 384"/>
                <a:gd name="T62" fmla="*/ 144 w 995"/>
                <a:gd name="T63" fmla="*/ 299 h 384"/>
                <a:gd name="T64" fmla="*/ 104 w 995"/>
                <a:gd name="T65" fmla="*/ 278 h 384"/>
                <a:gd name="T66" fmla="*/ 68 w 995"/>
                <a:gd name="T67" fmla="*/ 256 h 384"/>
                <a:gd name="T68" fmla="*/ 40 w 995"/>
                <a:gd name="T69" fmla="*/ 233 h 384"/>
                <a:gd name="T70" fmla="*/ 19 w 995"/>
                <a:gd name="T71" fmla="*/ 208 h 384"/>
                <a:gd name="T72" fmla="*/ 6 w 995"/>
                <a:gd name="T73" fmla="*/ 184 h 384"/>
                <a:gd name="T74" fmla="*/ 0 w 995"/>
                <a:gd name="T75" fmla="*/ 161 h 384"/>
                <a:gd name="T76" fmla="*/ 2 w 995"/>
                <a:gd name="T77" fmla="*/ 138 h 384"/>
                <a:gd name="T78" fmla="*/ 13 w 995"/>
                <a:gd name="T79" fmla="*/ 114 h 384"/>
                <a:gd name="T80" fmla="*/ 30 w 995"/>
                <a:gd name="T81" fmla="*/ 93 h 384"/>
                <a:gd name="T82" fmla="*/ 55 w 995"/>
                <a:gd name="T83" fmla="*/ 72 h 384"/>
                <a:gd name="T84" fmla="*/ 87 w 995"/>
                <a:gd name="T85" fmla="*/ 55 h 384"/>
                <a:gd name="T86" fmla="*/ 125 w 995"/>
                <a:gd name="T87" fmla="*/ 38 h 384"/>
                <a:gd name="T88" fmla="*/ 168 w 995"/>
                <a:gd name="T89" fmla="*/ 25 h 384"/>
                <a:gd name="T90" fmla="*/ 219 w 995"/>
                <a:gd name="T91" fmla="*/ 15 h 384"/>
                <a:gd name="T92" fmla="*/ 272 w 995"/>
                <a:gd name="T93" fmla="*/ 6 h 384"/>
                <a:gd name="T94" fmla="*/ 329 w 995"/>
                <a:gd name="T95" fmla="*/ 2 h 384"/>
                <a:gd name="T96" fmla="*/ 389 w 995"/>
                <a:gd name="T97" fmla="*/ 0 h 384"/>
                <a:gd name="T98" fmla="*/ 450 w 995"/>
                <a:gd name="T99" fmla="*/ 0 h 384"/>
                <a:gd name="T100" fmla="*/ 514 w 995"/>
                <a:gd name="T101" fmla="*/ 4 h 38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95"/>
                <a:gd name="T154" fmla="*/ 0 h 384"/>
                <a:gd name="T155" fmla="*/ 995 w 995"/>
                <a:gd name="T156" fmla="*/ 384 h 38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95" h="384">
                  <a:moveTo>
                    <a:pt x="514" y="4"/>
                  </a:moveTo>
                  <a:lnTo>
                    <a:pt x="576" y="10"/>
                  </a:lnTo>
                  <a:lnTo>
                    <a:pt x="638" y="21"/>
                  </a:lnTo>
                  <a:lnTo>
                    <a:pt x="695" y="34"/>
                  </a:lnTo>
                  <a:lnTo>
                    <a:pt x="752" y="49"/>
                  </a:lnTo>
                  <a:lnTo>
                    <a:pt x="803" y="66"/>
                  </a:lnTo>
                  <a:lnTo>
                    <a:pt x="850" y="85"/>
                  </a:lnTo>
                  <a:lnTo>
                    <a:pt x="891" y="106"/>
                  </a:lnTo>
                  <a:lnTo>
                    <a:pt x="927" y="127"/>
                  </a:lnTo>
                  <a:lnTo>
                    <a:pt x="954" y="150"/>
                  </a:lnTo>
                  <a:lnTo>
                    <a:pt x="976" y="176"/>
                  </a:lnTo>
                  <a:lnTo>
                    <a:pt x="988" y="199"/>
                  </a:lnTo>
                  <a:lnTo>
                    <a:pt x="995" y="222"/>
                  </a:lnTo>
                  <a:lnTo>
                    <a:pt x="993" y="248"/>
                  </a:lnTo>
                  <a:lnTo>
                    <a:pt x="982" y="269"/>
                  </a:lnTo>
                  <a:lnTo>
                    <a:pt x="965" y="290"/>
                  </a:lnTo>
                  <a:lnTo>
                    <a:pt x="940" y="312"/>
                  </a:lnTo>
                  <a:lnTo>
                    <a:pt x="908" y="329"/>
                  </a:lnTo>
                  <a:lnTo>
                    <a:pt x="869" y="345"/>
                  </a:lnTo>
                  <a:lnTo>
                    <a:pt x="827" y="358"/>
                  </a:lnTo>
                  <a:lnTo>
                    <a:pt x="776" y="369"/>
                  </a:lnTo>
                  <a:lnTo>
                    <a:pt x="723" y="377"/>
                  </a:lnTo>
                  <a:lnTo>
                    <a:pt x="665" y="382"/>
                  </a:lnTo>
                  <a:lnTo>
                    <a:pt x="606" y="384"/>
                  </a:lnTo>
                  <a:lnTo>
                    <a:pt x="544" y="384"/>
                  </a:lnTo>
                  <a:lnTo>
                    <a:pt x="480" y="379"/>
                  </a:lnTo>
                  <a:lnTo>
                    <a:pt x="419" y="373"/>
                  </a:lnTo>
                  <a:lnTo>
                    <a:pt x="357" y="362"/>
                  </a:lnTo>
                  <a:lnTo>
                    <a:pt x="300" y="350"/>
                  </a:lnTo>
                  <a:lnTo>
                    <a:pt x="242" y="335"/>
                  </a:lnTo>
                  <a:lnTo>
                    <a:pt x="191" y="318"/>
                  </a:lnTo>
                  <a:lnTo>
                    <a:pt x="144" y="299"/>
                  </a:lnTo>
                  <a:lnTo>
                    <a:pt x="104" y="278"/>
                  </a:lnTo>
                  <a:lnTo>
                    <a:pt x="68" y="256"/>
                  </a:lnTo>
                  <a:lnTo>
                    <a:pt x="40" y="233"/>
                  </a:lnTo>
                  <a:lnTo>
                    <a:pt x="19" y="208"/>
                  </a:lnTo>
                  <a:lnTo>
                    <a:pt x="6" y="184"/>
                  </a:lnTo>
                  <a:lnTo>
                    <a:pt x="0" y="161"/>
                  </a:lnTo>
                  <a:lnTo>
                    <a:pt x="2" y="138"/>
                  </a:lnTo>
                  <a:lnTo>
                    <a:pt x="13" y="114"/>
                  </a:lnTo>
                  <a:lnTo>
                    <a:pt x="30" y="93"/>
                  </a:lnTo>
                  <a:lnTo>
                    <a:pt x="55" y="72"/>
                  </a:lnTo>
                  <a:lnTo>
                    <a:pt x="87" y="55"/>
                  </a:lnTo>
                  <a:lnTo>
                    <a:pt x="125" y="38"/>
                  </a:lnTo>
                  <a:lnTo>
                    <a:pt x="168" y="25"/>
                  </a:lnTo>
                  <a:lnTo>
                    <a:pt x="219" y="15"/>
                  </a:lnTo>
                  <a:lnTo>
                    <a:pt x="272" y="6"/>
                  </a:lnTo>
                  <a:lnTo>
                    <a:pt x="329" y="2"/>
                  </a:lnTo>
                  <a:lnTo>
                    <a:pt x="389" y="0"/>
                  </a:lnTo>
                  <a:lnTo>
                    <a:pt x="450" y="0"/>
                  </a:lnTo>
                  <a:lnTo>
                    <a:pt x="514" y="4"/>
                  </a:lnTo>
                </a:path>
              </a:pathLst>
            </a:custGeom>
            <a:noFill/>
            <a:ln w="3175">
              <a:solidFill>
                <a:srgbClr val="000000"/>
              </a:solidFill>
              <a:round/>
              <a:headEnd/>
              <a:tailEnd/>
            </a:ln>
          </p:spPr>
          <p:txBody>
            <a:bodyPr/>
            <a:lstStyle/>
            <a:p>
              <a:endParaRPr lang="en-US"/>
            </a:p>
          </p:txBody>
        </p:sp>
        <p:sp>
          <p:nvSpPr>
            <p:cNvPr id="37944" name="Rectangle 80"/>
            <p:cNvSpPr>
              <a:spLocks noChangeAspect="1" noChangeArrowheads="1"/>
            </p:cNvSpPr>
            <p:nvPr/>
          </p:nvSpPr>
          <p:spPr bwMode="auto">
            <a:xfrm>
              <a:off x="854" y="1704"/>
              <a:ext cx="108" cy="235"/>
            </a:xfrm>
            <a:prstGeom prst="rect">
              <a:avLst/>
            </a:prstGeom>
            <a:noFill/>
            <a:ln w="9525">
              <a:noFill/>
              <a:miter lim="800000"/>
              <a:headEnd/>
              <a:tailEnd/>
            </a:ln>
          </p:spPr>
          <p:txBody>
            <a:bodyPr wrap="none" lIns="0" tIns="0" rIns="0" bIns="0">
              <a:spAutoFit/>
            </a:bodyPr>
            <a:lstStyle/>
            <a:p>
              <a:r>
                <a:rPr lang="en-US" sz="1600" b="1">
                  <a:solidFill>
                    <a:srgbClr val="FF0000"/>
                  </a:solidFill>
                </a:rPr>
                <a:t>2</a:t>
              </a:r>
              <a:endParaRPr lang="en-US"/>
            </a:p>
          </p:txBody>
        </p:sp>
      </p:grpSp>
      <p:grpSp>
        <p:nvGrpSpPr>
          <p:cNvPr id="12" name="Group 81"/>
          <p:cNvGrpSpPr>
            <a:grpSpLocks noChangeAspect="1"/>
          </p:cNvGrpSpPr>
          <p:nvPr/>
        </p:nvGrpSpPr>
        <p:grpSpPr bwMode="auto">
          <a:xfrm>
            <a:off x="5257800" y="1490663"/>
            <a:ext cx="2582863" cy="2287587"/>
            <a:chOff x="111" y="1285"/>
            <a:chExt cx="2481" cy="2197"/>
          </a:xfrm>
        </p:grpSpPr>
        <p:sp>
          <p:nvSpPr>
            <p:cNvPr id="37941" name="Rectangle 82"/>
            <p:cNvSpPr>
              <a:spLocks noChangeAspect="1" noChangeArrowheads="1"/>
            </p:cNvSpPr>
            <p:nvPr/>
          </p:nvSpPr>
          <p:spPr bwMode="auto">
            <a:xfrm>
              <a:off x="2484" y="1704"/>
              <a:ext cx="108" cy="235"/>
            </a:xfrm>
            <a:prstGeom prst="rect">
              <a:avLst/>
            </a:prstGeom>
            <a:noFill/>
            <a:ln w="9525">
              <a:noFill/>
              <a:miter lim="800000"/>
              <a:headEnd/>
              <a:tailEnd/>
            </a:ln>
          </p:spPr>
          <p:txBody>
            <a:bodyPr wrap="none" lIns="0" tIns="0" rIns="0" bIns="0">
              <a:spAutoFit/>
            </a:bodyPr>
            <a:lstStyle/>
            <a:p>
              <a:r>
                <a:rPr lang="en-US" sz="1600" b="1">
                  <a:solidFill>
                    <a:srgbClr val="FF0000"/>
                  </a:solidFill>
                </a:rPr>
                <a:t>5</a:t>
              </a:r>
              <a:endParaRPr lang="en-US"/>
            </a:p>
          </p:txBody>
        </p:sp>
        <p:sp>
          <p:nvSpPr>
            <p:cNvPr id="37942" name="Freeform 83"/>
            <p:cNvSpPr>
              <a:spLocks noChangeAspect="1"/>
            </p:cNvSpPr>
            <p:nvPr/>
          </p:nvSpPr>
          <p:spPr bwMode="auto">
            <a:xfrm>
              <a:off x="111" y="1285"/>
              <a:ext cx="2479" cy="2197"/>
            </a:xfrm>
            <a:custGeom>
              <a:avLst/>
              <a:gdLst>
                <a:gd name="T0" fmla="*/ 1339 w 2479"/>
                <a:gd name="T1" fmla="*/ 2 h 2197"/>
                <a:gd name="T2" fmla="*/ 1541 w 2479"/>
                <a:gd name="T3" fmla="*/ 32 h 2197"/>
                <a:gd name="T4" fmla="*/ 1735 w 2479"/>
                <a:gd name="T5" fmla="*/ 91 h 2197"/>
                <a:gd name="T6" fmla="*/ 1916 w 2479"/>
                <a:gd name="T7" fmla="*/ 178 h 2197"/>
                <a:gd name="T8" fmla="*/ 2077 w 2479"/>
                <a:gd name="T9" fmla="*/ 288 h 2197"/>
                <a:gd name="T10" fmla="*/ 2215 w 2479"/>
                <a:gd name="T11" fmla="*/ 422 h 2197"/>
                <a:gd name="T12" fmla="*/ 2328 w 2479"/>
                <a:gd name="T13" fmla="*/ 572 h 2197"/>
                <a:gd name="T14" fmla="*/ 2411 w 2479"/>
                <a:gd name="T15" fmla="*/ 740 h 2197"/>
                <a:gd name="T16" fmla="*/ 2462 w 2479"/>
                <a:gd name="T17" fmla="*/ 916 h 2197"/>
                <a:gd name="T18" fmla="*/ 2479 w 2479"/>
                <a:gd name="T19" fmla="*/ 1096 h 2197"/>
                <a:gd name="T20" fmla="*/ 2462 w 2479"/>
                <a:gd name="T21" fmla="*/ 1277 h 2197"/>
                <a:gd name="T22" fmla="*/ 2411 w 2479"/>
                <a:gd name="T23" fmla="*/ 1453 h 2197"/>
                <a:gd name="T24" fmla="*/ 2330 w 2479"/>
                <a:gd name="T25" fmla="*/ 1620 h 2197"/>
                <a:gd name="T26" fmla="*/ 2217 w 2479"/>
                <a:gd name="T27" fmla="*/ 1771 h 2197"/>
                <a:gd name="T28" fmla="*/ 2079 w 2479"/>
                <a:gd name="T29" fmla="*/ 1904 h 2197"/>
                <a:gd name="T30" fmla="*/ 1918 w 2479"/>
                <a:gd name="T31" fmla="*/ 2017 h 2197"/>
                <a:gd name="T32" fmla="*/ 1739 w 2479"/>
                <a:gd name="T33" fmla="*/ 2104 h 2197"/>
                <a:gd name="T34" fmla="*/ 1546 w 2479"/>
                <a:gd name="T35" fmla="*/ 2163 h 2197"/>
                <a:gd name="T36" fmla="*/ 1344 w 2479"/>
                <a:gd name="T37" fmla="*/ 2193 h 2197"/>
                <a:gd name="T38" fmla="*/ 1139 w 2479"/>
                <a:gd name="T39" fmla="*/ 2193 h 2197"/>
                <a:gd name="T40" fmla="*/ 938 w 2479"/>
                <a:gd name="T41" fmla="*/ 2163 h 2197"/>
                <a:gd name="T42" fmla="*/ 744 w 2479"/>
                <a:gd name="T43" fmla="*/ 2106 h 2197"/>
                <a:gd name="T44" fmla="*/ 563 w 2479"/>
                <a:gd name="T45" fmla="*/ 2019 h 2197"/>
                <a:gd name="T46" fmla="*/ 402 w 2479"/>
                <a:gd name="T47" fmla="*/ 1909 h 2197"/>
                <a:gd name="T48" fmla="*/ 264 w 2479"/>
                <a:gd name="T49" fmla="*/ 1775 h 2197"/>
                <a:gd name="T50" fmla="*/ 151 w 2479"/>
                <a:gd name="T51" fmla="*/ 1622 h 2197"/>
                <a:gd name="T52" fmla="*/ 68 w 2479"/>
                <a:gd name="T53" fmla="*/ 1457 h 2197"/>
                <a:gd name="T54" fmla="*/ 17 w 2479"/>
                <a:gd name="T55" fmla="*/ 1281 h 2197"/>
                <a:gd name="T56" fmla="*/ 0 w 2479"/>
                <a:gd name="T57" fmla="*/ 1101 h 2197"/>
                <a:gd name="T58" fmla="*/ 17 w 2479"/>
                <a:gd name="T59" fmla="*/ 920 h 2197"/>
                <a:gd name="T60" fmla="*/ 68 w 2479"/>
                <a:gd name="T61" fmla="*/ 744 h 2197"/>
                <a:gd name="T62" fmla="*/ 149 w 2479"/>
                <a:gd name="T63" fmla="*/ 577 h 2197"/>
                <a:gd name="T64" fmla="*/ 261 w 2479"/>
                <a:gd name="T65" fmla="*/ 424 h 2197"/>
                <a:gd name="T66" fmla="*/ 400 w 2479"/>
                <a:gd name="T67" fmla="*/ 290 h 2197"/>
                <a:gd name="T68" fmla="*/ 559 w 2479"/>
                <a:gd name="T69" fmla="*/ 180 h 2197"/>
                <a:gd name="T70" fmla="*/ 740 w 2479"/>
                <a:gd name="T71" fmla="*/ 93 h 2197"/>
                <a:gd name="T72" fmla="*/ 933 w 2479"/>
                <a:gd name="T73" fmla="*/ 34 h 2197"/>
                <a:gd name="T74" fmla="*/ 1135 w 2479"/>
                <a:gd name="T75" fmla="*/ 4 h 21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79"/>
                <a:gd name="T115" fmla="*/ 0 h 2197"/>
                <a:gd name="T116" fmla="*/ 2479 w 2479"/>
                <a:gd name="T117" fmla="*/ 2197 h 219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79" h="2197">
                  <a:moveTo>
                    <a:pt x="1237" y="0"/>
                  </a:moveTo>
                  <a:lnTo>
                    <a:pt x="1339" y="2"/>
                  </a:lnTo>
                  <a:lnTo>
                    <a:pt x="1441" y="15"/>
                  </a:lnTo>
                  <a:lnTo>
                    <a:pt x="1541" y="32"/>
                  </a:lnTo>
                  <a:lnTo>
                    <a:pt x="1639" y="59"/>
                  </a:lnTo>
                  <a:lnTo>
                    <a:pt x="1735" y="91"/>
                  </a:lnTo>
                  <a:lnTo>
                    <a:pt x="1826" y="131"/>
                  </a:lnTo>
                  <a:lnTo>
                    <a:pt x="1916" y="178"/>
                  </a:lnTo>
                  <a:lnTo>
                    <a:pt x="1998" y="229"/>
                  </a:lnTo>
                  <a:lnTo>
                    <a:pt x="2077" y="288"/>
                  </a:lnTo>
                  <a:lnTo>
                    <a:pt x="2149" y="352"/>
                  </a:lnTo>
                  <a:lnTo>
                    <a:pt x="2215" y="422"/>
                  </a:lnTo>
                  <a:lnTo>
                    <a:pt x="2275" y="496"/>
                  </a:lnTo>
                  <a:lnTo>
                    <a:pt x="2328" y="572"/>
                  </a:lnTo>
                  <a:lnTo>
                    <a:pt x="2373" y="655"/>
                  </a:lnTo>
                  <a:lnTo>
                    <a:pt x="2411" y="740"/>
                  </a:lnTo>
                  <a:lnTo>
                    <a:pt x="2441" y="827"/>
                  </a:lnTo>
                  <a:lnTo>
                    <a:pt x="2462" y="916"/>
                  </a:lnTo>
                  <a:lnTo>
                    <a:pt x="2475" y="1005"/>
                  </a:lnTo>
                  <a:lnTo>
                    <a:pt x="2479" y="1096"/>
                  </a:lnTo>
                  <a:lnTo>
                    <a:pt x="2475" y="1188"/>
                  </a:lnTo>
                  <a:lnTo>
                    <a:pt x="2462" y="1277"/>
                  </a:lnTo>
                  <a:lnTo>
                    <a:pt x="2441" y="1366"/>
                  </a:lnTo>
                  <a:lnTo>
                    <a:pt x="2411" y="1453"/>
                  </a:lnTo>
                  <a:lnTo>
                    <a:pt x="2375" y="1537"/>
                  </a:lnTo>
                  <a:lnTo>
                    <a:pt x="2330" y="1620"/>
                  </a:lnTo>
                  <a:lnTo>
                    <a:pt x="2277" y="1697"/>
                  </a:lnTo>
                  <a:lnTo>
                    <a:pt x="2217" y="1771"/>
                  </a:lnTo>
                  <a:lnTo>
                    <a:pt x="2152" y="1841"/>
                  </a:lnTo>
                  <a:lnTo>
                    <a:pt x="2079" y="1904"/>
                  </a:lnTo>
                  <a:lnTo>
                    <a:pt x="2003" y="1964"/>
                  </a:lnTo>
                  <a:lnTo>
                    <a:pt x="1918" y="2017"/>
                  </a:lnTo>
                  <a:lnTo>
                    <a:pt x="1830" y="2063"/>
                  </a:lnTo>
                  <a:lnTo>
                    <a:pt x="1739" y="2104"/>
                  </a:lnTo>
                  <a:lnTo>
                    <a:pt x="1643" y="2136"/>
                  </a:lnTo>
                  <a:lnTo>
                    <a:pt x="1546" y="2163"/>
                  </a:lnTo>
                  <a:lnTo>
                    <a:pt x="1446" y="2182"/>
                  </a:lnTo>
                  <a:lnTo>
                    <a:pt x="1344" y="2193"/>
                  </a:lnTo>
                  <a:lnTo>
                    <a:pt x="1242" y="2197"/>
                  </a:lnTo>
                  <a:lnTo>
                    <a:pt x="1139" y="2193"/>
                  </a:lnTo>
                  <a:lnTo>
                    <a:pt x="1037" y="2182"/>
                  </a:lnTo>
                  <a:lnTo>
                    <a:pt x="938" y="2163"/>
                  </a:lnTo>
                  <a:lnTo>
                    <a:pt x="840" y="2138"/>
                  </a:lnTo>
                  <a:lnTo>
                    <a:pt x="744" y="2106"/>
                  </a:lnTo>
                  <a:lnTo>
                    <a:pt x="650" y="2066"/>
                  </a:lnTo>
                  <a:lnTo>
                    <a:pt x="563" y="2019"/>
                  </a:lnTo>
                  <a:lnTo>
                    <a:pt x="480" y="1966"/>
                  </a:lnTo>
                  <a:lnTo>
                    <a:pt x="402" y="1909"/>
                  </a:lnTo>
                  <a:lnTo>
                    <a:pt x="329" y="1843"/>
                  </a:lnTo>
                  <a:lnTo>
                    <a:pt x="264" y="1775"/>
                  </a:lnTo>
                  <a:lnTo>
                    <a:pt x="204" y="1701"/>
                  </a:lnTo>
                  <a:lnTo>
                    <a:pt x="151" y="1622"/>
                  </a:lnTo>
                  <a:lnTo>
                    <a:pt x="106" y="1542"/>
                  </a:lnTo>
                  <a:lnTo>
                    <a:pt x="68" y="1457"/>
                  </a:lnTo>
                  <a:lnTo>
                    <a:pt x="38" y="1370"/>
                  </a:lnTo>
                  <a:lnTo>
                    <a:pt x="17" y="1281"/>
                  </a:lnTo>
                  <a:lnTo>
                    <a:pt x="4" y="1192"/>
                  </a:lnTo>
                  <a:lnTo>
                    <a:pt x="0" y="1101"/>
                  </a:lnTo>
                  <a:lnTo>
                    <a:pt x="4" y="1009"/>
                  </a:lnTo>
                  <a:lnTo>
                    <a:pt x="17" y="920"/>
                  </a:lnTo>
                  <a:lnTo>
                    <a:pt x="38" y="831"/>
                  </a:lnTo>
                  <a:lnTo>
                    <a:pt x="68" y="744"/>
                  </a:lnTo>
                  <a:lnTo>
                    <a:pt x="104" y="659"/>
                  </a:lnTo>
                  <a:lnTo>
                    <a:pt x="149" y="577"/>
                  </a:lnTo>
                  <a:lnTo>
                    <a:pt x="202" y="498"/>
                  </a:lnTo>
                  <a:lnTo>
                    <a:pt x="261" y="424"/>
                  </a:lnTo>
                  <a:lnTo>
                    <a:pt x="327" y="356"/>
                  </a:lnTo>
                  <a:lnTo>
                    <a:pt x="400" y="290"/>
                  </a:lnTo>
                  <a:lnTo>
                    <a:pt x="476" y="233"/>
                  </a:lnTo>
                  <a:lnTo>
                    <a:pt x="559" y="180"/>
                  </a:lnTo>
                  <a:lnTo>
                    <a:pt x="648" y="133"/>
                  </a:lnTo>
                  <a:lnTo>
                    <a:pt x="740" y="93"/>
                  </a:lnTo>
                  <a:lnTo>
                    <a:pt x="835" y="59"/>
                  </a:lnTo>
                  <a:lnTo>
                    <a:pt x="933" y="34"/>
                  </a:lnTo>
                  <a:lnTo>
                    <a:pt x="1033" y="15"/>
                  </a:lnTo>
                  <a:lnTo>
                    <a:pt x="1135" y="4"/>
                  </a:lnTo>
                  <a:lnTo>
                    <a:pt x="1237" y="0"/>
                  </a:lnTo>
                </a:path>
              </a:pathLst>
            </a:custGeom>
            <a:noFill/>
            <a:ln w="3175">
              <a:solidFill>
                <a:srgbClr val="000000"/>
              </a:solidFill>
              <a:round/>
              <a:headEnd/>
              <a:tailEnd/>
            </a:ln>
          </p:spPr>
          <p:txBody>
            <a:bodyPr/>
            <a:lstStyle/>
            <a:p>
              <a:endParaRPr lang="en-US"/>
            </a:p>
          </p:txBody>
        </p:sp>
      </p:grpSp>
      <p:grpSp>
        <p:nvGrpSpPr>
          <p:cNvPr id="13" name="Group 84"/>
          <p:cNvGrpSpPr>
            <a:grpSpLocks noChangeAspect="1"/>
          </p:cNvGrpSpPr>
          <p:nvPr/>
        </p:nvGrpSpPr>
        <p:grpSpPr bwMode="auto">
          <a:xfrm>
            <a:off x="6256338" y="2408238"/>
            <a:ext cx="1416050" cy="1084262"/>
            <a:chOff x="1070" y="2167"/>
            <a:chExt cx="1361" cy="1041"/>
          </a:xfrm>
        </p:grpSpPr>
        <p:sp>
          <p:nvSpPr>
            <p:cNvPr id="37939" name="Rectangle 85"/>
            <p:cNvSpPr>
              <a:spLocks noChangeAspect="1" noChangeArrowheads="1"/>
            </p:cNvSpPr>
            <p:nvPr/>
          </p:nvSpPr>
          <p:spPr bwMode="auto">
            <a:xfrm>
              <a:off x="1070" y="2560"/>
              <a:ext cx="108" cy="235"/>
            </a:xfrm>
            <a:prstGeom prst="rect">
              <a:avLst/>
            </a:prstGeom>
            <a:noFill/>
            <a:ln w="9525">
              <a:noFill/>
              <a:miter lim="800000"/>
              <a:headEnd/>
              <a:tailEnd/>
            </a:ln>
          </p:spPr>
          <p:txBody>
            <a:bodyPr wrap="none" lIns="0" tIns="0" rIns="0" bIns="0">
              <a:spAutoFit/>
            </a:bodyPr>
            <a:lstStyle/>
            <a:p>
              <a:r>
                <a:rPr lang="en-US" sz="1600" b="1">
                  <a:solidFill>
                    <a:srgbClr val="FF0000"/>
                  </a:solidFill>
                </a:rPr>
                <a:t>3</a:t>
              </a:r>
              <a:endParaRPr lang="en-US"/>
            </a:p>
          </p:txBody>
        </p:sp>
        <p:sp>
          <p:nvSpPr>
            <p:cNvPr id="37940" name="Freeform 86"/>
            <p:cNvSpPr>
              <a:spLocks noChangeAspect="1"/>
            </p:cNvSpPr>
            <p:nvPr/>
          </p:nvSpPr>
          <p:spPr bwMode="auto">
            <a:xfrm>
              <a:off x="1114" y="2167"/>
              <a:ext cx="1317" cy="1041"/>
            </a:xfrm>
            <a:custGeom>
              <a:avLst/>
              <a:gdLst>
                <a:gd name="T0" fmla="*/ 441 w 1317"/>
                <a:gd name="T1" fmla="*/ 174 h 1041"/>
                <a:gd name="T2" fmla="*/ 506 w 1317"/>
                <a:gd name="T3" fmla="*/ 134 h 1041"/>
                <a:gd name="T4" fmla="*/ 574 w 1317"/>
                <a:gd name="T5" fmla="*/ 100 h 1041"/>
                <a:gd name="T6" fmla="*/ 643 w 1317"/>
                <a:gd name="T7" fmla="*/ 70 h 1041"/>
                <a:gd name="T8" fmla="*/ 711 w 1317"/>
                <a:gd name="T9" fmla="*/ 47 h 1041"/>
                <a:gd name="T10" fmla="*/ 781 w 1317"/>
                <a:gd name="T11" fmla="*/ 26 h 1041"/>
                <a:gd name="T12" fmla="*/ 847 w 1317"/>
                <a:gd name="T13" fmla="*/ 13 h 1041"/>
                <a:gd name="T14" fmla="*/ 910 w 1317"/>
                <a:gd name="T15" fmla="*/ 4 h 1041"/>
                <a:gd name="T16" fmla="*/ 974 w 1317"/>
                <a:gd name="T17" fmla="*/ 0 h 1041"/>
                <a:gd name="T18" fmla="*/ 1032 w 1317"/>
                <a:gd name="T19" fmla="*/ 4 h 1041"/>
                <a:gd name="T20" fmla="*/ 1087 w 1317"/>
                <a:gd name="T21" fmla="*/ 13 h 1041"/>
                <a:gd name="T22" fmla="*/ 1136 w 1317"/>
                <a:gd name="T23" fmla="*/ 26 h 1041"/>
                <a:gd name="T24" fmla="*/ 1180 w 1317"/>
                <a:gd name="T25" fmla="*/ 45 h 1041"/>
                <a:gd name="T26" fmla="*/ 1219 w 1317"/>
                <a:gd name="T27" fmla="*/ 70 h 1041"/>
                <a:gd name="T28" fmla="*/ 1253 w 1317"/>
                <a:gd name="T29" fmla="*/ 100 h 1041"/>
                <a:gd name="T30" fmla="*/ 1278 w 1317"/>
                <a:gd name="T31" fmla="*/ 134 h 1041"/>
                <a:gd name="T32" fmla="*/ 1297 w 1317"/>
                <a:gd name="T33" fmla="*/ 172 h 1041"/>
                <a:gd name="T34" fmla="*/ 1310 w 1317"/>
                <a:gd name="T35" fmla="*/ 214 h 1041"/>
                <a:gd name="T36" fmla="*/ 1317 w 1317"/>
                <a:gd name="T37" fmla="*/ 261 h 1041"/>
                <a:gd name="T38" fmla="*/ 1314 w 1317"/>
                <a:gd name="T39" fmla="*/ 310 h 1041"/>
                <a:gd name="T40" fmla="*/ 1304 w 1317"/>
                <a:gd name="T41" fmla="*/ 359 h 1041"/>
                <a:gd name="T42" fmla="*/ 1289 w 1317"/>
                <a:gd name="T43" fmla="*/ 412 h 1041"/>
                <a:gd name="T44" fmla="*/ 1265 w 1317"/>
                <a:gd name="T45" fmla="*/ 467 h 1041"/>
                <a:gd name="T46" fmla="*/ 1236 w 1317"/>
                <a:gd name="T47" fmla="*/ 520 h 1041"/>
                <a:gd name="T48" fmla="*/ 1200 w 1317"/>
                <a:gd name="T49" fmla="*/ 575 h 1041"/>
                <a:gd name="T50" fmla="*/ 1157 w 1317"/>
                <a:gd name="T51" fmla="*/ 628 h 1041"/>
                <a:gd name="T52" fmla="*/ 1110 w 1317"/>
                <a:gd name="T53" fmla="*/ 681 h 1041"/>
                <a:gd name="T54" fmla="*/ 1057 w 1317"/>
                <a:gd name="T55" fmla="*/ 732 h 1041"/>
                <a:gd name="T56" fmla="*/ 1000 w 1317"/>
                <a:gd name="T57" fmla="*/ 781 h 1041"/>
                <a:gd name="T58" fmla="*/ 940 w 1317"/>
                <a:gd name="T59" fmla="*/ 825 h 1041"/>
                <a:gd name="T60" fmla="*/ 876 w 1317"/>
                <a:gd name="T61" fmla="*/ 868 h 1041"/>
                <a:gd name="T62" fmla="*/ 810 w 1317"/>
                <a:gd name="T63" fmla="*/ 908 h 1041"/>
                <a:gd name="T64" fmla="*/ 742 w 1317"/>
                <a:gd name="T65" fmla="*/ 942 h 1041"/>
                <a:gd name="T66" fmla="*/ 674 w 1317"/>
                <a:gd name="T67" fmla="*/ 971 h 1041"/>
                <a:gd name="T68" fmla="*/ 604 w 1317"/>
                <a:gd name="T69" fmla="*/ 995 h 1041"/>
                <a:gd name="T70" fmla="*/ 536 w 1317"/>
                <a:gd name="T71" fmla="*/ 1016 h 1041"/>
                <a:gd name="T72" fmla="*/ 470 w 1317"/>
                <a:gd name="T73" fmla="*/ 1029 h 1041"/>
                <a:gd name="T74" fmla="*/ 404 w 1317"/>
                <a:gd name="T75" fmla="*/ 1037 h 1041"/>
                <a:gd name="T76" fmla="*/ 343 w 1317"/>
                <a:gd name="T77" fmla="*/ 1041 h 1041"/>
                <a:gd name="T78" fmla="*/ 283 w 1317"/>
                <a:gd name="T79" fmla="*/ 1037 h 1041"/>
                <a:gd name="T80" fmla="*/ 230 w 1317"/>
                <a:gd name="T81" fmla="*/ 1029 h 1041"/>
                <a:gd name="T82" fmla="*/ 179 w 1317"/>
                <a:gd name="T83" fmla="*/ 1016 h 1041"/>
                <a:gd name="T84" fmla="*/ 134 w 1317"/>
                <a:gd name="T85" fmla="*/ 997 h 1041"/>
                <a:gd name="T86" fmla="*/ 96 w 1317"/>
                <a:gd name="T87" fmla="*/ 971 h 1041"/>
                <a:gd name="T88" fmla="*/ 64 w 1317"/>
                <a:gd name="T89" fmla="*/ 942 h 1041"/>
                <a:gd name="T90" fmla="*/ 37 w 1317"/>
                <a:gd name="T91" fmla="*/ 908 h 1041"/>
                <a:gd name="T92" fmla="*/ 17 w 1317"/>
                <a:gd name="T93" fmla="*/ 870 h 1041"/>
                <a:gd name="T94" fmla="*/ 7 w 1317"/>
                <a:gd name="T95" fmla="*/ 827 h 1041"/>
                <a:gd name="T96" fmla="*/ 0 w 1317"/>
                <a:gd name="T97" fmla="*/ 781 h 1041"/>
                <a:gd name="T98" fmla="*/ 3 w 1317"/>
                <a:gd name="T99" fmla="*/ 732 h 1041"/>
                <a:gd name="T100" fmla="*/ 11 w 1317"/>
                <a:gd name="T101" fmla="*/ 681 h 1041"/>
                <a:gd name="T102" fmla="*/ 28 w 1317"/>
                <a:gd name="T103" fmla="*/ 630 h 1041"/>
                <a:gd name="T104" fmla="*/ 51 w 1317"/>
                <a:gd name="T105" fmla="*/ 575 h 1041"/>
                <a:gd name="T106" fmla="*/ 81 w 1317"/>
                <a:gd name="T107" fmla="*/ 522 h 1041"/>
                <a:gd name="T108" fmla="*/ 117 w 1317"/>
                <a:gd name="T109" fmla="*/ 467 h 1041"/>
                <a:gd name="T110" fmla="*/ 160 w 1317"/>
                <a:gd name="T111" fmla="*/ 414 h 1041"/>
                <a:gd name="T112" fmla="*/ 207 w 1317"/>
                <a:gd name="T113" fmla="*/ 361 h 1041"/>
                <a:gd name="T114" fmla="*/ 260 w 1317"/>
                <a:gd name="T115" fmla="*/ 310 h 1041"/>
                <a:gd name="T116" fmla="*/ 315 w 1317"/>
                <a:gd name="T117" fmla="*/ 261 h 1041"/>
                <a:gd name="T118" fmla="*/ 377 w 1317"/>
                <a:gd name="T119" fmla="*/ 216 h 1041"/>
                <a:gd name="T120" fmla="*/ 441 w 1317"/>
                <a:gd name="T121" fmla="*/ 174 h 10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17"/>
                <a:gd name="T184" fmla="*/ 0 h 1041"/>
                <a:gd name="T185" fmla="*/ 1317 w 1317"/>
                <a:gd name="T186" fmla="*/ 1041 h 10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17" h="1041">
                  <a:moveTo>
                    <a:pt x="441" y="174"/>
                  </a:moveTo>
                  <a:lnTo>
                    <a:pt x="506" y="134"/>
                  </a:lnTo>
                  <a:lnTo>
                    <a:pt x="574" y="100"/>
                  </a:lnTo>
                  <a:lnTo>
                    <a:pt x="643" y="70"/>
                  </a:lnTo>
                  <a:lnTo>
                    <a:pt x="711" y="47"/>
                  </a:lnTo>
                  <a:lnTo>
                    <a:pt x="781" y="26"/>
                  </a:lnTo>
                  <a:lnTo>
                    <a:pt x="847" y="13"/>
                  </a:lnTo>
                  <a:lnTo>
                    <a:pt x="910" y="4"/>
                  </a:lnTo>
                  <a:lnTo>
                    <a:pt x="974" y="0"/>
                  </a:lnTo>
                  <a:lnTo>
                    <a:pt x="1032" y="4"/>
                  </a:lnTo>
                  <a:lnTo>
                    <a:pt x="1087" y="13"/>
                  </a:lnTo>
                  <a:lnTo>
                    <a:pt x="1136" y="26"/>
                  </a:lnTo>
                  <a:lnTo>
                    <a:pt x="1180" y="45"/>
                  </a:lnTo>
                  <a:lnTo>
                    <a:pt x="1219" y="70"/>
                  </a:lnTo>
                  <a:lnTo>
                    <a:pt x="1253" y="100"/>
                  </a:lnTo>
                  <a:lnTo>
                    <a:pt x="1278" y="134"/>
                  </a:lnTo>
                  <a:lnTo>
                    <a:pt x="1297" y="172"/>
                  </a:lnTo>
                  <a:lnTo>
                    <a:pt x="1310" y="214"/>
                  </a:lnTo>
                  <a:lnTo>
                    <a:pt x="1317" y="261"/>
                  </a:lnTo>
                  <a:lnTo>
                    <a:pt x="1314" y="310"/>
                  </a:lnTo>
                  <a:lnTo>
                    <a:pt x="1304" y="359"/>
                  </a:lnTo>
                  <a:lnTo>
                    <a:pt x="1289" y="412"/>
                  </a:lnTo>
                  <a:lnTo>
                    <a:pt x="1265" y="467"/>
                  </a:lnTo>
                  <a:lnTo>
                    <a:pt x="1236" y="520"/>
                  </a:lnTo>
                  <a:lnTo>
                    <a:pt x="1200" y="575"/>
                  </a:lnTo>
                  <a:lnTo>
                    <a:pt x="1157" y="628"/>
                  </a:lnTo>
                  <a:lnTo>
                    <a:pt x="1110" y="681"/>
                  </a:lnTo>
                  <a:lnTo>
                    <a:pt x="1057" y="732"/>
                  </a:lnTo>
                  <a:lnTo>
                    <a:pt x="1000" y="781"/>
                  </a:lnTo>
                  <a:lnTo>
                    <a:pt x="940" y="825"/>
                  </a:lnTo>
                  <a:lnTo>
                    <a:pt x="876" y="868"/>
                  </a:lnTo>
                  <a:lnTo>
                    <a:pt x="810" y="908"/>
                  </a:lnTo>
                  <a:lnTo>
                    <a:pt x="742" y="942"/>
                  </a:lnTo>
                  <a:lnTo>
                    <a:pt x="674" y="971"/>
                  </a:lnTo>
                  <a:lnTo>
                    <a:pt x="604" y="995"/>
                  </a:lnTo>
                  <a:lnTo>
                    <a:pt x="536" y="1016"/>
                  </a:lnTo>
                  <a:lnTo>
                    <a:pt x="470" y="1029"/>
                  </a:lnTo>
                  <a:lnTo>
                    <a:pt x="404" y="1037"/>
                  </a:lnTo>
                  <a:lnTo>
                    <a:pt x="343" y="1041"/>
                  </a:lnTo>
                  <a:lnTo>
                    <a:pt x="283" y="1037"/>
                  </a:lnTo>
                  <a:lnTo>
                    <a:pt x="230" y="1029"/>
                  </a:lnTo>
                  <a:lnTo>
                    <a:pt x="179" y="1016"/>
                  </a:lnTo>
                  <a:lnTo>
                    <a:pt x="134" y="997"/>
                  </a:lnTo>
                  <a:lnTo>
                    <a:pt x="96" y="971"/>
                  </a:lnTo>
                  <a:lnTo>
                    <a:pt x="64" y="942"/>
                  </a:lnTo>
                  <a:lnTo>
                    <a:pt x="37" y="908"/>
                  </a:lnTo>
                  <a:lnTo>
                    <a:pt x="17" y="870"/>
                  </a:lnTo>
                  <a:lnTo>
                    <a:pt x="7" y="827"/>
                  </a:lnTo>
                  <a:lnTo>
                    <a:pt x="0" y="781"/>
                  </a:lnTo>
                  <a:lnTo>
                    <a:pt x="3" y="732"/>
                  </a:lnTo>
                  <a:lnTo>
                    <a:pt x="11" y="681"/>
                  </a:lnTo>
                  <a:lnTo>
                    <a:pt x="28" y="630"/>
                  </a:lnTo>
                  <a:lnTo>
                    <a:pt x="51" y="575"/>
                  </a:lnTo>
                  <a:lnTo>
                    <a:pt x="81" y="522"/>
                  </a:lnTo>
                  <a:lnTo>
                    <a:pt x="117" y="467"/>
                  </a:lnTo>
                  <a:lnTo>
                    <a:pt x="160" y="414"/>
                  </a:lnTo>
                  <a:lnTo>
                    <a:pt x="207" y="361"/>
                  </a:lnTo>
                  <a:lnTo>
                    <a:pt x="260" y="310"/>
                  </a:lnTo>
                  <a:lnTo>
                    <a:pt x="315" y="261"/>
                  </a:lnTo>
                  <a:lnTo>
                    <a:pt x="377" y="216"/>
                  </a:lnTo>
                  <a:lnTo>
                    <a:pt x="441" y="174"/>
                  </a:lnTo>
                </a:path>
              </a:pathLst>
            </a:custGeom>
            <a:noFill/>
            <a:ln w="3175">
              <a:solidFill>
                <a:srgbClr val="000000"/>
              </a:solidFill>
              <a:round/>
              <a:headEnd/>
              <a:tailEnd/>
            </a:ln>
          </p:spPr>
          <p:txBody>
            <a:bodyPr/>
            <a:lstStyle/>
            <a:p>
              <a:endParaRPr lang="en-US"/>
            </a:p>
          </p:txBody>
        </p:sp>
      </p:grpSp>
      <p:grpSp>
        <p:nvGrpSpPr>
          <p:cNvPr id="14" name="Group 87"/>
          <p:cNvGrpSpPr>
            <a:grpSpLocks noChangeAspect="1"/>
          </p:cNvGrpSpPr>
          <p:nvPr/>
        </p:nvGrpSpPr>
        <p:grpSpPr bwMode="auto">
          <a:xfrm>
            <a:off x="5426075" y="1581150"/>
            <a:ext cx="1905000" cy="996950"/>
            <a:chOff x="272" y="1372"/>
            <a:chExt cx="1831" cy="958"/>
          </a:xfrm>
        </p:grpSpPr>
        <p:sp>
          <p:nvSpPr>
            <p:cNvPr id="37937" name="Rectangle 88"/>
            <p:cNvSpPr>
              <a:spLocks noChangeAspect="1" noChangeArrowheads="1"/>
            </p:cNvSpPr>
            <p:nvPr/>
          </p:nvSpPr>
          <p:spPr bwMode="auto">
            <a:xfrm>
              <a:off x="1165" y="1380"/>
              <a:ext cx="108" cy="235"/>
            </a:xfrm>
            <a:prstGeom prst="rect">
              <a:avLst/>
            </a:prstGeom>
            <a:noFill/>
            <a:ln w="9525">
              <a:noFill/>
              <a:miter lim="800000"/>
              <a:headEnd/>
              <a:tailEnd/>
            </a:ln>
          </p:spPr>
          <p:txBody>
            <a:bodyPr wrap="none" lIns="0" tIns="0" rIns="0" bIns="0">
              <a:spAutoFit/>
            </a:bodyPr>
            <a:lstStyle/>
            <a:p>
              <a:r>
                <a:rPr lang="en-US" sz="1600" b="1">
                  <a:solidFill>
                    <a:srgbClr val="FF0000"/>
                  </a:solidFill>
                </a:rPr>
                <a:t>4</a:t>
              </a:r>
              <a:endParaRPr lang="en-US"/>
            </a:p>
          </p:txBody>
        </p:sp>
        <p:sp>
          <p:nvSpPr>
            <p:cNvPr id="37938" name="Freeform 89"/>
            <p:cNvSpPr>
              <a:spLocks noChangeAspect="1"/>
            </p:cNvSpPr>
            <p:nvPr/>
          </p:nvSpPr>
          <p:spPr bwMode="auto">
            <a:xfrm>
              <a:off x="272" y="1372"/>
              <a:ext cx="1831" cy="958"/>
            </a:xfrm>
            <a:custGeom>
              <a:avLst/>
              <a:gdLst>
                <a:gd name="T0" fmla="*/ 906 w 1831"/>
                <a:gd name="T1" fmla="*/ 25 h 958"/>
                <a:gd name="T2" fmla="*/ 1081 w 1831"/>
                <a:gd name="T3" fmla="*/ 4 h 958"/>
                <a:gd name="T4" fmla="*/ 1246 w 1831"/>
                <a:gd name="T5" fmla="*/ 0 h 958"/>
                <a:gd name="T6" fmla="*/ 1404 w 1831"/>
                <a:gd name="T7" fmla="*/ 13 h 958"/>
                <a:gd name="T8" fmla="*/ 1542 w 1831"/>
                <a:gd name="T9" fmla="*/ 42 h 958"/>
                <a:gd name="T10" fmla="*/ 1657 w 1831"/>
                <a:gd name="T11" fmla="*/ 87 h 958"/>
                <a:gd name="T12" fmla="*/ 1744 w 1831"/>
                <a:gd name="T13" fmla="*/ 146 h 958"/>
                <a:gd name="T14" fmla="*/ 1803 w 1831"/>
                <a:gd name="T15" fmla="*/ 218 h 958"/>
                <a:gd name="T16" fmla="*/ 1829 w 1831"/>
                <a:gd name="T17" fmla="*/ 299 h 958"/>
                <a:gd name="T18" fmla="*/ 1823 w 1831"/>
                <a:gd name="T19" fmla="*/ 388 h 958"/>
                <a:gd name="T20" fmla="*/ 1784 w 1831"/>
                <a:gd name="T21" fmla="*/ 477 h 958"/>
                <a:gd name="T22" fmla="*/ 1714 w 1831"/>
                <a:gd name="T23" fmla="*/ 568 h 958"/>
                <a:gd name="T24" fmla="*/ 1614 w 1831"/>
                <a:gd name="T25" fmla="*/ 657 h 958"/>
                <a:gd name="T26" fmla="*/ 1489 w 1831"/>
                <a:gd name="T27" fmla="*/ 738 h 958"/>
                <a:gd name="T28" fmla="*/ 1344 w 1831"/>
                <a:gd name="T29" fmla="*/ 810 h 958"/>
                <a:gd name="T30" fmla="*/ 1183 w 1831"/>
                <a:gd name="T31" fmla="*/ 869 h 958"/>
                <a:gd name="T32" fmla="*/ 1010 w 1831"/>
                <a:gd name="T33" fmla="*/ 914 h 958"/>
                <a:gd name="T34" fmla="*/ 838 w 1831"/>
                <a:gd name="T35" fmla="*/ 946 h 958"/>
                <a:gd name="T36" fmla="*/ 666 w 1831"/>
                <a:gd name="T37" fmla="*/ 958 h 958"/>
                <a:gd name="T38" fmla="*/ 504 w 1831"/>
                <a:gd name="T39" fmla="*/ 954 h 958"/>
                <a:gd name="T40" fmla="*/ 356 w 1831"/>
                <a:gd name="T41" fmla="*/ 933 h 958"/>
                <a:gd name="T42" fmla="*/ 228 w 1831"/>
                <a:gd name="T43" fmla="*/ 895 h 958"/>
                <a:gd name="T44" fmla="*/ 126 w 1831"/>
                <a:gd name="T45" fmla="*/ 842 h 958"/>
                <a:gd name="T46" fmla="*/ 51 w 1831"/>
                <a:gd name="T47" fmla="*/ 776 h 958"/>
                <a:gd name="T48" fmla="*/ 9 w 1831"/>
                <a:gd name="T49" fmla="*/ 700 h 958"/>
                <a:gd name="T50" fmla="*/ 0 w 1831"/>
                <a:gd name="T51" fmla="*/ 615 h 958"/>
                <a:gd name="T52" fmla="*/ 22 w 1831"/>
                <a:gd name="T53" fmla="*/ 524 h 958"/>
                <a:gd name="T54" fmla="*/ 77 w 1831"/>
                <a:gd name="T55" fmla="*/ 432 h 958"/>
                <a:gd name="T56" fmla="*/ 164 w 1831"/>
                <a:gd name="T57" fmla="*/ 343 h 958"/>
                <a:gd name="T58" fmla="*/ 277 w 1831"/>
                <a:gd name="T59" fmla="*/ 259 h 958"/>
                <a:gd name="T60" fmla="*/ 413 w 1831"/>
                <a:gd name="T61" fmla="*/ 182 h 958"/>
                <a:gd name="T62" fmla="*/ 566 w 1831"/>
                <a:gd name="T63" fmla="*/ 116 h 958"/>
                <a:gd name="T64" fmla="*/ 732 w 1831"/>
                <a:gd name="T65" fmla="*/ 63 h 9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1"/>
                <a:gd name="T100" fmla="*/ 0 h 958"/>
                <a:gd name="T101" fmla="*/ 1831 w 1831"/>
                <a:gd name="T102" fmla="*/ 958 h 9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1" h="958">
                  <a:moveTo>
                    <a:pt x="819" y="42"/>
                  </a:moveTo>
                  <a:lnTo>
                    <a:pt x="906" y="25"/>
                  </a:lnTo>
                  <a:lnTo>
                    <a:pt x="993" y="13"/>
                  </a:lnTo>
                  <a:lnTo>
                    <a:pt x="1081" y="4"/>
                  </a:lnTo>
                  <a:lnTo>
                    <a:pt x="1166" y="0"/>
                  </a:lnTo>
                  <a:lnTo>
                    <a:pt x="1246" y="0"/>
                  </a:lnTo>
                  <a:lnTo>
                    <a:pt x="1327" y="4"/>
                  </a:lnTo>
                  <a:lnTo>
                    <a:pt x="1404" y="13"/>
                  </a:lnTo>
                  <a:lnTo>
                    <a:pt x="1474" y="25"/>
                  </a:lnTo>
                  <a:lnTo>
                    <a:pt x="1542" y="42"/>
                  </a:lnTo>
                  <a:lnTo>
                    <a:pt x="1601" y="63"/>
                  </a:lnTo>
                  <a:lnTo>
                    <a:pt x="1657" y="87"/>
                  </a:lnTo>
                  <a:lnTo>
                    <a:pt x="1704" y="116"/>
                  </a:lnTo>
                  <a:lnTo>
                    <a:pt x="1744" y="146"/>
                  </a:lnTo>
                  <a:lnTo>
                    <a:pt x="1778" y="182"/>
                  </a:lnTo>
                  <a:lnTo>
                    <a:pt x="1803" y="218"/>
                  </a:lnTo>
                  <a:lnTo>
                    <a:pt x="1820" y="259"/>
                  </a:lnTo>
                  <a:lnTo>
                    <a:pt x="1829" y="299"/>
                  </a:lnTo>
                  <a:lnTo>
                    <a:pt x="1831" y="343"/>
                  </a:lnTo>
                  <a:lnTo>
                    <a:pt x="1823" y="388"/>
                  </a:lnTo>
                  <a:lnTo>
                    <a:pt x="1808" y="432"/>
                  </a:lnTo>
                  <a:lnTo>
                    <a:pt x="1784" y="477"/>
                  </a:lnTo>
                  <a:lnTo>
                    <a:pt x="1752" y="524"/>
                  </a:lnTo>
                  <a:lnTo>
                    <a:pt x="1714" y="568"/>
                  </a:lnTo>
                  <a:lnTo>
                    <a:pt x="1667" y="613"/>
                  </a:lnTo>
                  <a:lnTo>
                    <a:pt x="1614" y="657"/>
                  </a:lnTo>
                  <a:lnTo>
                    <a:pt x="1555" y="698"/>
                  </a:lnTo>
                  <a:lnTo>
                    <a:pt x="1489" y="738"/>
                  </a:lnTo>
                  <a:lnTo>
                    <a:pt x="1419" y="774"/>
                  </a:lnTo>
                  <a:lnTo>
                    <a:pt x="1344" y="810"/>
                  </a:lnTo>
                  <a:lnTo>
                    <a:pt x="1263" y="842"/>
                  </a:lnTo>
                  <a:lnTo>
                    <a:pt x="1183" y="869"/>
                  </a:lnTo>
                  <a:lnTo>
                    <a:pt x="1098" y="895"/>
                  </a:lnTo>
                  <a:lnTo>
                    <a:pt x="1010" y="914"/>
                  </a:lnTo>
                  <a:lnTo>
                    <a:pt x="925" y="931"/>
                  </a:lnTo>
                  <a:lnTo>
                    <a:pt x="838" y="946"/>
                  </a:lnTo>
                  <a:lnTo>
                    <a:pt x="751" y="954"/>
                  </a:lnTo>
                  <a:lnTo>
                    <a:pt x="666" y="958"/>
                  </a:lnTo>
                  <a:lnTo>
                    <a:pt x="583" y="958"/>
                  </a:lnTo>
                  <a:lnTo>
                    <a:pt x="504" y="954"/>
                  </a:lnTo>
                  <a:lnTo>
                    <a:pt x="428" y="946"/>
                  </a:lnTo>
                  <a:lnTo>
                    <a:pt x="356" y="933"/>
                  </a:lnTo>
                  <a:lnTo>
                    <a:pt x="290" y="916"/>
                  </a:lnTo>
                  <a:lnTo>
                    <a:pt x="228" y="895"/>
                  </a:lnTo>
                  <a:lnTo>
                    <a:pt x="175" y="869"/>
                  </a:lnTo>
                  <a:lnTo>
                    <a:pt x="126" y="842"/>
                  </a:lnTo>
                  <a:lnTo>
                    <a:pt x="86" y="810"/>
                  </a:lnTo>
                  <a:lnTo>
                    <a:pt x="51" y="776"/>
                  </a:lnTo>
                  <a:lnTo>
                    <a:pt x="26" y="738"/>
                  </a:lnTo>
                  <a:lnTo>
                    <a:pt x="9" y="700"/>
                  </a:lnTo>
                  <a:lnTo>
                    <a:pt x="0" y="657"/>
                  </a:lnTo>
                  <a:lnTo>
                    <a:pt x="0" y="615"/>
                  </a:lnTo>
                  <a:lnTo>
                    <a:pt x="7" y="570"/>
                  </a:lnTo>
                  <a:lnTo>
                    <a:pt x="22" y="524"/>
                  </a:lnTo>
                  <a:lnTo>
                    <a:pt x="47" y="479"/>
                  </a:lnTo>
                  <a:lnTo>
                    <a:pt x="77" y="432"/>
                  </a:lnTo>
                  <a:lnTo>
                    <a:pt x="117" y="388"/>
                  </a:lnTo>
                  <a:lnTo>
                    <a:pt x="164" y="343"/>
                  </a:lnTo>
                  <a:lnTo>
                    <a:pt x="217" y="301"/>
                  </a:lnTo>
                  <a:lnTo>
                    <a:pt x="277" y="259"/>
                  </a:lnTo>
                  <a:lnTo>
                    <a:pt x="341" y="220"/>
                  </a:lnTo>
                  <a:lnTo>
                    <a:pt x="413" y="182"/>
                  </a:lnTo>
                  <a:lnTo>
                    <a:pt x="487" y="148"/>
                  </a:lnTo>
                  <a:lnTo>
                    <a:pt x="566" y="116"/>
                  </a:lnTo>
                  <a:lnTo>
                    <a:pt x="649" y="89"/>
                  </a:lnTo>
                  <a:lnTo>
                    <a:pt x="732" y="63"/>
                  </a:lnTo>
                  <a:lnTo>
                    <a:pt x="819" y="42"/>
                  </a:lnTo>
                </a:path>
              </a:pathLst>
            </a:custGeom>
            <a:noFill/>
            <a:ln w="3175">
              <a:solidFill>
                <a:srgbClr val="000000"/>
              </a:solidFill>
              <a:round/>
              <a:headEnd/>
              <a:tailEnd/>
            </a:ln>
          </p:spPr>
          <p:txBody>
            <a:bodyPr/>
            <a:lstStyle/>
            <a:p>
              <a:endParaRPr lang="en-US"/>
            </a:p>
          </p:txBody>
        </p:sp>
      </p:grpSp>
      <p:grpSp>
        <p:nvGrpSpPr>
          <p:cNvPr id="15" name="Group 115"/>
          <p:cNvGrpSpPr>
            <a:grpSpLocks noChangeAspect="1"/>
          </p:cNvGrpSpPr>
          <p:nvPr/>
        </p:nvGrpSpPr>
        <p:grpSpPr bwMode="auto">
          <a:xfrm>
            <a:off x="1009650" y="1743075"/>
            <a:ext cx="1990725" cy="1806575"/>
            <a:chOff x="471" y="1117"/>
            <a:chExt cx="1935" cy="1755"/>
          </a:xfrm>
        </p:grpSpPr>
        <p:sp>
          <p:nvSpPr>
            <p:cNvPr id="37925" name="Freeform 116"/>
            <p:cNvSpPr>
              <a:spLocks noChangeAspect="1"/>
            </p:cNvSpPr>
            <p:nvPr/>
          </p:nvSpPr>
          <p:spPr bwMode="auto">
            <a:xfrm>
              <a:off x="1072" y="1810"/>
              <a:ext cx="89" cy="87"/>
            </a:xfrm>
            <a:custGeom>
              <a:avLst/>
              <a:gdLst>
                <a:gd name="T0" fmla="*/ 0 w 89"/>
                <a:gd name="T1" fmla="*/ 43 h 87"/>
                <a:gd name="T2" fmla="*/ 4 w 89"/>
                <a:gd name="T3" fmla="*/ 26 h 87"/>
                <a:gd name="T4" fmla="*/ 13 w 89"/>
                <a:gd name="T5" fmla="*/ 11 h 87"/>
                <a:gd name="T6" fmla="*/ 28 w 89"/>
                <a:gd name="T7" fmla="*/ 2 h 87"/>
                <a:gd name="T8" fmla="*/ 43 w 89"/>
                <a:gd name="T9" fmla="*/ 0 h 87"/>
                <a:gd name="T10" fmla="*/ 61 w 89"/>
                <a:gd name="T11" fmla="*/ 2 h 87"/>
                <a:gd name="T12" fmla="*/ 76 w 89"/>
                <a:gd name="T13" fmla="*/ 11 h 87"/>
                <a:gd name="T14" fmla="*/ 84 w 89"/>
                <a:gd name="T15" fmla="*/ 26 h 87"/>
                <a:gd name="T16" fmla="*/ 89 w 89"/>
                <a:gd name="T17" fmla="*/ 43 h 87"/>
                <a:gd name="T18" fmla="*/ 84 w 89"/>
                <a:gd name="T19" fmla="*/ 61 h 87"/>
                <a:gd name="T20" fmla="*/ 76 w 89"/>
                <a:gd name="T21" fmla="*/ 74 h 87"/>
                <a:gd name="T22" fmla="*/ 61 w 89"/>
                <a:gd name="T23" fmla="*/ 84 h 87"/>
                <a:gd name="T24" fmla="*/ 43 w 89"/>
                <a:gd name="T25" fmla="*/ 87 h 87"/>
                <a:gd name="T26" fmla="*/ 28 w 89"/>
                <a:gd name="T27" fmla="*/ 84 h 87"/>
                <a:gd name="T28" fmla="*/ 13 w 89"/>
                <a:gd name="T29" fmla="*/ 74 h 87"/>
                <a:gd name="T30" fmla="*/ 4 w 89"/>
                <a:gd name="T31" fmla="*/ 61 h 87"/>
                <a:gd name="T32" fmla="*/ 0 w 89"/>
                <a:gd name="T33" fmla="*/ 43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7"/>
                <a:gd name="T53" fmla="*/ 89 w 89"/>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7">
                  <a:moveTo>
                    <a:pt x="0" y="43"/>
                  </a:moveTo>
                  <a:lnTo>
                    <a:pt x="4" y="26"/>
                  </a:lnTo>
                  <a:lnTo>
                    <a:pt x="13" y="11"/>
                  </a:lnTo>
                  <a:lnTo>
                    <a:pt x="28" y="2"/>
                  </a:lnTo>
                  <a:lnTo>
                    <a:pt x="43" y="0"/>
                  </a:lnTo>
                  <a:lnTo>
                    <a:pt x="61" y="2"/>
                  </a:lnTo>
                  <a:lnTo>
                    <a:pt x="76" y="11"/>
                  </a:lnTo>
                  <a:lnTo>
                    <a:pt x="84" y="26"/>
                  </a:lnTo>
                  <a:lnTo>
                    <a:pt x="89" y="43"/>
                  </a:lnTo>
                  <a:lnTo>
                    <a:pt x="84" y="61"/>
                  </a:lnTo>
                  <a:lnTo>
                    <a:pt x="76" y="74"/>
                  </a:lnTo>
                  <a:lnTo>
                    <a:pt x="61" y="84"/>
                  </a:lnTo>
                  <a:lnTo>
                    <a:pt x="43" y="87"/>
                  </a:lnTo>
                  <a:lnTo>
                    <a:pt x="28" y="84"/>
                  </a:lnTo>
                  <a:lnTo>
                    <a:pt x="13" y="74"/>
                  </a:lnTo>
                  <a:lnTo>
                    <a:pt x="4" y="61"/>
                  </a:lnTo>
                  <a:lnTo>
                    <a:pt x="0" y="43"/>
                  </a:lnTo>
                  <a:close/>
                </a:path>
              </a:pathLst>
            </a:custGeom>
            <a:solidFill>
              <a:srgbClr val="1A1A1A"/>
            </a:solidFill>
            <a:ln w="3175">
              <a:solidFill>
                <a:srgbClr val="000000"/>
              </a:solidFill>
              <a:round/>
              <a:headEnd/>
              <a:tailEnd/>
            </a:ln>
          </p:spPr>
          <p:txBody>
            <a:bodyPr/>
            <a:lstStyle/>
            <a:p>
              <a:endParaRPr lang="en-US"/>
            </a:p>
          </p:txBody>
        </p:sp>
        <p:sp>
          <p:nvSpPr>
            <p:cNvPr id="37926" name="Freeform 117"/>
            <p:cNvSpPr>
              <a:spLocks noChangeAspect="1"/>
            </p:cNvSpPr>
            <p:nvPr/>
          </p:nvSpPr>
          <p:spPr bwMode="auto">
            <a:xfrm>
              <a:off x="1894" y="1169"/>
              <a:ext cx="89" cy="86"/>
            </a:xfrm>
            <a:custGeom>
              <a:avLst/>
              <a:gdLst>
                <a:gd name="T0" fmla="*/ 0 w 89"/>
                <a:gd name="T1" fmla="*/ 43 h 86"/>
                <a:gd name="T2" fmla="*/ 4 w 89"/>
                <a:gd name="T3" fmla="*/ 26 h 86"/>
                <a:gd name="T4" fmla="*/ 13 w 89"/>
                <a:gd name="T5" fmla="*/ 13 h 86"/>
                <a:gd name="T6" fmla="*/ 28 w 89"/>
                <a:gd name="T7" fmla="*/ 2 h 86"/>
                <a:gd name="T8" fmla="*/ 45 w 89"/>
                <a:gd name="T9" fmla="*/ 0 h 86"/>
                <a:gd name="T10" fmla="*/ 61 w 89"/>
                <a:gd name="T11" fmla="*/ 2 h 86"/>
                <a:gd name="T12" fmla="*/ 76 w 89"/>
                <a:gd name="T13" fmla="*/ 13 h 86"/>
                <a:gd name="T14" fmla="*/ 84 w 89"/>
                <a:gd name="T15" fmla="*/ 26 h 86"/>
                <a:gd name="T16" fmla="*/ 89 w 89"/>
                <a:gd name="T17" fmla="*/ 43 h 86"/>
                <a:gd name="T18" fmla="*/ 84 w 89"/>
                <a:gd name="T19" fmla="*/ 60 h 86"/>
                <a:gd name="T20" fmla="*/ 76 w 89"/>
                <a:gd name="T21" fmla="*/ 73 h 86"/>
                <a:gd name="T22" fmla="*/ 61 w 89"/>
                <a:gd name="T23" fmla="*/ 84 h 86"/>
                <a:gd name="T24" fmla="*/ 45 w 89"/>
                <a:gd name="T25" fmla="*/ 86 h 86"/>
                <a:gd name="T26" fmla="*/ 28 w 89"/>
                <a:gd name="T27" fmla="*/ 84 h 86"/>
                <a:gd name="T28" fmla="*/ 13 w 89"/>
                <a:gd name="T29" fmla="*/ 73 h 86"/>
                <a:gd name="T30" fmla="*/ 4 w 89"/>
                <a:gd name="T31" fmla="*/ 60 h 86"/>
                <a:gd name="T32" fmla="*/ 0 w 89"/>
                <a:gd name="T33" fmla="*/ 43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6"/>
                <a:gd name="T53" fmla="*/ 89 w 89"/>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6">
                  <a:moveTo>
                    <a:pt x="0" y="43"/>
                  </a:moveTo>
                  <a:lnTo>
                    <a:pt x="4" y="26"/>
                  </a:lnTo>
                  <a:lnTo>
                    <a:pt x="13" y="13"/>
                  </a:lnTo>
                  <a:lnTo>
                    <a:pt x="28" y="2"/>
                  </a:lnTo>
                  <a:lnTo>
                    <a:pt x="45" y="0"/>
                  </a:lnTo>
                  <a:lnTo>
                    <a:pt x="61" y="2"/>
                  </a:lnTo>
                  <a:lnTo>
                    <a:pt x="76" y="13"/>
                  </a:lnTo>
                  <a:lnTo>
                    <a:pt x="84" y="26"/>
                  </a:lnTo>
                  <a:lnTo>
                    <a:pt x="89" y="43"/>
                  </a:lnTo>
                  <a:lnTo>
                    <a:pt x="84" y="60"/>
                  </a:lnTo>
                  <a:lnTo>
                    <a:pt x="76" y="73"/>
                  </a:lnTo>
                  <a:lnTo>
                    <a:pt x="61" y="84"/>
                  </a:lnTo>
                  <a:lnTo>
                    <a:pt x="45" y="86"/>
                  </a:lnTo>
                  <a:lnTo>
                    <a:pt x="28" y="84"/>
                  </a:lnTo>
                  <a:lnTo>
                    <a:pt x="13" y="73"/>
                  </a:lnTo>
                  <a:lnTo>
                    <a:pt x="4" y="60"/>
                  </a:lnTo>
                  <a:lnTo>
                    <a:pt x="0" y="43"/>
                  </a:lnTo>
                  <a:close/>
                </a:path>
              </a:pathLst>
            </a:custGeom>
            <a:solidFill>
              <a:srgbClr val="1A1A1A"/>
            </a:solidFill>
            <a:ln w="3175">
              <a:solidFill>
                <a:srgbClr val="000000"/>
              </a:solidFill>
              <a:round/>
              <a:headEnd/>
              <a:tailEnd/>
            </a:ln>
          </p:spPr>
          <p:txBody>
            <a:bodyPr/>
            <a:lstStyle/>
            <a:p>
              <a:endParaRPr lang="en-US"/>
            </a:p>
          </p:txBody>
        </p:sp>
        <p:sp>
          <p:nvSpPr>
            <p:cNvPr id="37927" name="Freeform 118"/>
            <p:cNvSpPr>
              <a:spLocks noChangeAspect="1"/>
            </p:cNvSpPr>
            <p:nvPr/>
          </p:nvSpPr>
          <p:spPr bwMode="auto">
            <a:xfrm>
              <a:off x="1295" y="2683"/>
              <a:ext cx="89" cy="88"/>
            </a:xfrm>
            <a:custGeom>
              <a:avLst/>
              <a:gdLst>
                <a:gd name="T0" fmla="*/ 0 w 89"/>
                <a:gd name="T1" fmla="*/ 45 h 88"/>
                <a:gd name="T2" fmla="*/ 4 w 89"/>
                <a:gd name="T3" fmla="*/ 28 h 88"/>
                <a:gd name="T4" fmla="*/ 13 w 89"/>
                <a:gd name="T5" fmla="*/ 12 h 88"/>
                <a:gd name="T6" fmla="*/ 28 w 89"/>
                <a:gd name="T7" fmla="*/ 4 h 88"/>
                <a:gd name="T8" fmla="*/ 45 w 89"/>
                <a:gd name="T9" fmla="*/ 0 h 88"/>
                <a:gd name="T10" fmla="*/ 60 w 89"/>
                <a:gd name="T11" fmla="*/ 4 h 88"/>
                <a:gd name="T12" fmla="*/ 76 w 89"/>
                <a:gd name="T13" fmla="*/ 12 h 88"/>
                <a:gd name="T14" fmla="*/ 86 w 89"/>
                <a:gd name="T15" fmla="*/ 28 h 88"/>
                <a:gd name="T16" fmla="*/ 89 w 89"/>
                <a:gd name="T17" fmla="*/ 45 h 88"/>
                <a:gd name="T18" fmla="*/ 86 w 89"/>
                <a:gd name="T19" fmla="*/ 62 h 88"/>
                <a:gd name="T20" fmla="*/ 76 w 89"/>
                <a:gd name="T21" fmla="*/ 75 h 88"/>
                <a:gd name="T22" fmla="*/ 60 w 89"/>
                <a:gd name="T23" fmla="*/ 86 h 88"/>
                <a:gd name="T24" fmla="*/ 45 w 89"/>
                <a:gd name="T25" fmla="*/ 88 h 88"/>
                <a:gd name="T26" fmla="*/ 28 w 89"/>
                <a:gd name="T27" fmla="*/ 86 h 88"/>
                <a:gd name="T28" fmla="*/ 13 w 89"/>
                <a:gd name="T29" fmla="*/ 75 h 88"/>
                <a:gd name="T30" fmla="*/ 4 w 89"/>
                <a:gd name="T31" fmla="*/ 62 h 88"/>
                <a:gd name="T32" fmla="*/ 0 w 89"/>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8"/>
                <a:gd name="T53" fmla="*/ 89 w 89"/>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8">
                  <a:moveTo>
                    <a:pt x="0" y="45"/>
                  </a:moveTo>
                  <a:lnTo>
                    <a:pt x="4" y="28"/>
                  </a:lnTo>
                  <a:lnTo>
                    <a:pt x="13" y="12"/>
                  </a:lnTo>
                  <a:lnTo>
                    <a:pt x="28" y="4"/>
                  </a:lnTo>
                  <a:lnTo>
                    <a:pt x="45" y="0"/>
                  </a:lnTo>
                  <a:lnTo>
                    <a:pt x="60" y="4"/>
                  </a:lnTo>
                  <a:lnTo>
                    <a:pt x="76" y="12"/>
                  </a:lnTo>
                  <a:lnTo>
                    <a:pt x="86" y="28"/>
                  </a:lnTo>
                  <a:lnTo>
                    <a:pt x="89" y="45"/>
                  </a:lnTo>
                  <a:lnTo>
                    <a:pt x="86" y="62"/>
                  </a:lnTo>
                  <a:lnTo>
                    <a:pt x="76" y="75"/>
                  </a:lnTo>
                  <a:lnTo>
                    <a:pt x="60" y="86"/>
                  </a:lnTo>
                  <a:lnTo>
                    <a:pt x="45" y="88"/>
                  </a:lnTo>
                  <a:lnTo>
                    <a:pt x="28" y="86"/>
                  </a:lnTo>
                  <a:lnTo>
                    <a:pt x="13" y="75"/>
                  </a:lnTo>
                  <a:lnTo>
                    <a:pt x="4"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28" name="Freeform 119"/>
            <p:cNvSpPr>
              <a:spLocks noChangeAspect="1"/>
            </p:cNvSpPr>
            <p:nvPr/>
          </p:nvSpPr>
          <p:spPr bwMode="auto">
            <a:xfrm>
              <a:off x="471" y="1683"/>
              <a:ext cx="88" cy="88"/>
            </a:xfrm>
            <a:custGeom>
              <a:avLst/>
              <a:gdLst>
                <a:gd name="T0" fmla="*/ 0 w 88"/>
                <a:gd name="T1" fmla="*/ 45 h 88"/>
                <a:gd name="T2" fmla="*/ 4 w 88"/>
                <a:gd name="T3" fmla="*/ 28 h 88"/>
                <a:gd name="T4" fmla="*/ 13 w 88"/>
                <a:gd name="T5" fmla="*/ 13 h 88"/>
                <a:gd name="T6" fmla="*/ 28 w 88"/>
                <a:gd name="T7" fmla="*/ 4 h 88"/>
                <a:gd name="T8" fmla="*/ 45 w 88"/>
                <a:gd name="T9" fmla="*/ 0 h 88"/>
                <a:gd name="T10" fmla="*/ 60 w 88"/>
                <a:gd name="T11" fmla="*/ 4 h 88"/>
                <a:gd name="T12" fmla="*/ 75 w 88"/>
                <a:gd name="T13" fmla="*/ 13 h 88"/>
                <a:gd name="T14" fmla="*/ 84 w 88"/>
                <a:gd name="T15" fmla="*/ 28 h 88"/>
                <a:gd name="T16" fmla="*/ 88 w 88"/>
                <a:gd name="T17" fmla="*/ 45 h 88"/>
                <a:gd name="T18" fmla="*/ 84 w 88"/>
                <a:gd name="T19" fmla="*/ 60 h 88"/>
                <a:gd name="T20" fmla="*/ 75 w 88"/>
                <a:gd name="T21" fmla="*/ 75 h 88"/>
                <a:gd name="T22" fmla="*/ 60 w 88"/>
                <a:gd name="T23" fmla="*/ 86 h 88"/>
                <a:gd name="T24" fmla="*/ 45 w 88"/>
                <a:gd name="T25" fmla="*/ 88 h 88"/>
                <a:gd name="T26" fmla="*/ 28 w 88"/>
                <a:gd name="T27" fmla="*/ 86 h 88"/>
                <a:gd name="T28" fmla="*/ 13 w 88"/>
                <a:gd name="T29" fmla="*/ 75 h 88"/>
                <a:gd name="T30" fmla="*/ 4 w 88"/>
                <a:gd name="T31" fmla="*/ 60 h 88"/>
                <a:gd name="T32" fmla="*/ 0 w 88"/>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8"/>
                <a:gd name="T53" fmla="*/ 88 w 88"/>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8">
                  <a:moveTo>
                    <a:pt x="0" y="45"/>
                  </a:moveTo>
                  <a:lnTo>
                    <a:pt x="4" y="28"/>
                  </a:lnTo>
                  <a:lnTo>
                    <a:pt x="13" y="13"/>
                  </a:lnTo>
                  <a:lnTo>
                    <a:pt x="28" y="4"/>
                  </a:lnTo>
                  <a:lnTo>
                    <a:pt x="45" y="0"/>
                  </a:lnTo>
                  <a:lnTo>
                    <a:pt x="60" y="4"/>
                  </a:lnTo>
                  <a:lnTo>
                    <a:pt x="75" y="13"/>
                  </a:lnTo>
                  <a:lnTo>
                    <a:pt x="84" y="28"/>
                  </a:lnTo>
                  <a:lnTo>
                    <a:pt x="88" y="45"/>
                  </a:lnTo>
                  <a:lnTo>
                    <a:pt x="84" y="60"/>
                  </a:lnTo>
                  <a:lnTo>
                    <a:pt x="75" y="75"/>
                  </a:lnTo>
                  <a:lnTo>
                    <a:pt x="60" y="86"/>
                  </a:lnTo>
                  <a:lnTo>
                    <a:pt x="45" y="88"/>
                  </a:lnTo>
                  <a:lnTo>
                    <a:pt x="28" y="86"/>
                  </a:lnTo>
                  <a:lnTo>
                    <a:pt x="13" y="75"/>
                  </a:lnTo>
                  <a:lnTo>
                    <a:pt x="4" y="60"/>
                  </a:lnTo>
                  <a:lnTo>
                    <a:pt x="0" y="45"/>
                  </a:lnTo>
                  <a:close/>
                </a:path>
              </a:pathLst>
            </a:custGeom>
            <a:solidFill>
              <a:srgbClr val="1A1A1A"/>
            </a:solidFill>
            <a:ln w="3175">
              <a:solidFill>
                <a:srgbClr val="000000"/>
              </a:solidFill>
              <a:round/>
              <a:headEnd/>
              <a:tailEnd/>
            </a:ln>
          </p:spPr>
          <p:txBody>
            <a:bodyPr/>
            <a:lstStyle/>
            <a:p>
              <a:endParaRPr lang="en-US"/>
            </a:p>
          </p:txBody>
        </p:sp>
        <p:sp>
          <p:nvSpPr>
            <p:cNvPr id="37929" name="Freeform 120"/>
            <p:cNvSpPr>
              <a:spLocks noChangeAspect="1"/>
            </p:cNvSpPr>
            <p:nvPr/>
          </p:nvSpPr>
          <p:spPr bwMode="auto">
            <a:xfrm>
              <a:off x="1652" y="2117"/>
              <a:ext cx="88" cy="88"/>
            </a:xfrm>
            <a:custGeom>
              <a:avLst/>
              <a:gdLst>
                <a:gd name="T0" fmla="*/ 0 w 88"/>
                <a:gd name="T1" fmla="*/ 45 h 88"/>
                <a:gd name="T2" fmla="*/ 2 w 88"/>
                <a:gd name="T3" fmla="*/ 28 h 88"/>
                <a:gd name="T4" fmla="*/ 13 w 88"/>
                <a:gd name="T5" fmla="*/ 13 h 88"/>
                <a:gd name="T6" fmla="*/ 26 w 88"/>
                <a:gd name="T7" fmla="*/ 4 h 88"/>
                <a:gd name="T8" fmla="*/ 43 w 88"/>
                <a:gd name="T9" fmla="*/ 0 h 88"/>
                <a:gd name="T10" fmla="*/ 60 w 88"/>
                <a:gd name="T11" fmla="*/ 4 h 88"/>
                <a:gd name="T12" fmla="*/ 75 w 88"/>
                <a:gd name="T13" fmla="*/ 13 h 88"/>
                <a:gd name="T14" fmla="*/ 84 w 88"/>
                <a:gd name="T15" fmla="*/ 28 h 88"/>
                <a:gd name="T16" fmla="*/ 88 w 88"/>
                <a:gd name="T17" fmla="*/ 45 h 88"/>
                <a:gd name="T18" fmla="*/ 84 w 88"/>
                <a:gd name="T19" fmla="*/ 62 h 88"/>
                <a:gd name="T20" fmla="*/ 75 w 88"/>
                <a:gd name="T21" fmla="*/ 75 h 88"/>
                <a:gd name="T22" fmla="*/ 60 w 88"/>
                <a:gd name="T23" fmla="*/ 86 h 88"/>
                <a:gd name="T24" fmla="*/ 43 w 88"/>
                <a:gd name="T25" fmla="*/ 88 h 88"/>
                <a:gd name="T26" fmla="*/ 26 w 88"/>
                <a:gd name="T27" fmla="*/ 86 h 88"/>
                <a:gd name="T28" fmla="*/ 13 w 88"/>
                <a:gd name="T29" fmla="*/ 75 h 88"/>
                <a:gd name="T30" fmla="*/ 2 w 88"/>
                <a:gd name="T31" fmla="*/ 62 h 88"/>
                <a:gd name="T32" fmla="*/ 0 w 88"/>
                <a:gd name="T33" fmla="*/ 45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
                <a:gd name="T52" fmla="*/ 0 h 88"/>
                <a:gd name="T53" fmla="*/ 88 w 88"/>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 h="88">
                  <a:moveTo>
                    <a:pt x="0" y="45"/>
                  </a:moveTo>
                  <a:lnTo>
                    <a:pt x="2" y="28"/>
                  </a:lnTo>
                  <a:lnTo>
                    <a:pt x="13" y="13"/>
                  </a:lnTo>
                  <a:lnTo>
                    <a:pt x="26" y="4"/>
                  </a:lnTo>
                  <a:lnTo>
                    <a:pt x="43" y="0"/>
                  </a:lnTo>
                  <a:lnTo>
                    <a:pt x="60" y="4"/>
                  </a:lnTo>
                  <a:lnTo>
                    <a:pt x="75" y="13"/>
                  </a:lnTo>
                  <a:lnTo>
                    <a:pt x="84" y="28"/>
                  </a:lnTo>
                  <a:lnTo>
                    <a:pt x="88" y="45"/>
                  </a:lnTo>
                  <a:lnTo>
                    <a:pt x="84" y="62"/>
                  </a:lnTo>
                  <a:lnTo>
                    <a:pt x="75" y="75"/>
                  </a:lnTo>
                  <a:lnTo>
                    <a:pt x="60" y="86"/>
                  </a:lnTo>
                  <a:lnTo>
                    <a:pt x="43" y="88"/>
                  </a:lnTo>
                  <a:lnTo>
                    <a:pt x="26" y="86"/>
                  </a:lnTo>
                  <a:lnTo>
                    <a:pt x="13" y="75"/>
                  </a:lnTo>
                  <a:lnTo>
                    <a:pt x="2" y="62"/>
                  </a:lnTo>
                  <a:lnTo>
                    <a:pt x="0" y="45"/>
                  </a:lnTo>
                  <a:close/>
                </a:path>
              </a:pathLst>
            </a:custGeom>
            <a:solidFill>
              <a:srgbClr val="1A1A1A"/>
            </a:solidFill>
            <a:ln w="3175">
              <a:solidFill>
                <a:srgbClr val="000000"/>
              </a:solidFill>
              <a:round/>
              <a:headEnd/>
              <a:tailEnd/>
            </a:ln>
          </p:spPr>
          <p:txBody>
            <a:bodyPr/>
            <a:lstStyle/>
            <a:p>
              <a:endParaRPr lang="en-US"/>
            </a:p>
          </p:txBody>
        </p:sp>
        <p:sp>
          <p:nvSpPr>
            <p:cNvPr id="37930" name="Freeform 121"/>
            <p:cNvSpPr>
              <a:spLocks noChangeAspect="1"/>
            </p:cNvSpPr>
            <p:nvPr/>
          </p:nvSpPr>
          <p:spPr bwMode="auto">
            <a:xfrm>
              <a:off x="2134" y="2177"/>
              <a:ext cx="89" cy="89"/>
            </a:xfrm>
            <a:custGeom>
              <a:avLst/>
              <a:gdLst>
                <a:gd name="T0" fmla="*/ 0 w 89"/>
                <a:gd name="T1" fmla="*/ 43 h 89"/>
                <a:gd name="T2" fmla="*/ 4 w 89"/>
                <a:gd name="T3" fmla="*/ 26 h 89"/>
                <a:gd name="T4" fmla="*/ 13 w 89"/>
                <a:gd name="T5" fmla="*/ 13 h 89"/>
                <a:gd name="T6" fmla="*/ 28 w 89"/>
                <a:gd name="T7" fmla="*/ 2 h 89"/>
                <a:gd name="T8" fmla="*/ 46 w 89"/>
                <a:gd name="T9" fmla="*/ 0 h 89"/>
                <a:gd name="T10" fmla="*/ 63 w 89"/>
                <a:gd name="T11" fmla="*/ 2 h 89"/>
                <a:gd name="T12" fmla="*/ 76 w 89"/>
                <a:gd name="T13" fmla="*/ 13 h 89"/>
                <a:gd name="T14" fmla="*/ 87 w 89"/>
                <a:gd name="T15" fmla="*/ 26 h 89"/>
                <a:gd name="T16" fmla="*/ 89 w 89"/>
                <a:gd name="T17" fmla="*/ 43 h 89"/>
                <a:gd name="T18" fmla="*/ 87 w 89"/>
                <a:gd name="T19" fmla="*/ 61 h 89"/>
                <a:gd name="T20" fmla="*/ 76 w 89"/>
                <a:gd name="T21" fmla="*/ 76 h 89"/>
                <a:gd name="T22" fmla="*/ 63 w 89"/>
                <a:gd name="T23" fmla="*/ 84 h 89"/>
                <a:gd name="T24" fmla="*/ 46 w 89"/>
                <a:gd name="T25" fmla="*/ 89 h 89"/>
                <a:gd name="T26" fmla="*/ 28 w 89"/>
                <a:gd name="T27" fmla="*/ 84 h 89"/>
                <a:gd name="T28" fmla="*/ 13 w 89"/>
                <a:gd name="T29" fmla="*/ 76 h 89"/>
                <a:gd name="T30" fmla="*/ 4 w 89"/>
                <a:gd name="T31" fmla="*/ 61 h 89"/>
                <a:gd name="T32" fmla="*/ 0 w 89"/>
                <a:gd name="T33" fmla="*/ 43 h 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
                <a:gd name="T52" fmla="*/ 0 h 89"/>
                <a:gd name="T53" fmla="*/ 89 w 89"/>
                <a:gd name="T54" fmla="*/ 89 h 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 h="89">
                  <a:moveTo>
                    <a:pt x="0" y="43"/>
                  </a:moveTo>
                  <a:lnTo>
                    <a:pt x="4" y="26"/>
                  </a:lnTo>
                  <a:lnTo>
                    <a:pt x="13" y="13"/>
                  </a:lnTo>
                  <a:lnTo>
                    <a:pt x="28" y="2"/>
                  </a:lnTo>
                  <a:lnTo>
                    <a:pt x="46" y="0"/>
                  </a:lnTo>
                  <a:lnTo>
                    <a:pt x="63" y="2"/>
                  </a:lnTo>
                  <a:lnTo>
                    <a:pt x="76" y="13"/>
                  </a:lnTo>
                  <a:lnTo>
                    <a:pt x="87" y="26"/>
                  </a:lnTo>
                  <a:lnTo>
                    <a:pt x="89" y="43"/>
                  </a:lnTo>
                  <a:lnTo>
                    <a:pt x="87" y="61"/>
                  </a:lnTo>
                  <a:lnTo>
                    <a:pt x="76" y="76"/>
                  </a:lnTo>
                  <a:lnTo>
                    <a:pt x="63" y="84"/>
                  </a:lnTo>
                  <a:lnTo>
                    <a:pt x="46" y="89"/>
                  </a:lnTo>
                  <a:lnTo>
                    <a:pt x="28" y="84"/>
                  </a:lnTo>
                  <a:lnTo>
                    <a:pt x="13" y="76"/>
                  </a:lnTo>
                  <a:lnTo>
                    <a:pt x="4" y="61"/>
                  </a:lnTo>
                  <a:lnTo>
                    <a:pt x="0" y="43"/>
                  </a:lnTo>
                  <a:close/>
                </a:path>
              </a:pathLst>
            </a:custGeom>
            <a:solidFill>
              <a:srgbClr val="1A1A1A"/>
            </a:solidFill>
            <a:ln w="3175">
              <a:solidFill>
                <a:srgbClr val="000000"/>
              </a:solidFill>
              <a:round/>
              <a:headEnd/>
              <a:tailEnd/>
            </a:ln>
          </p:spPr>
          <p:txBody>
            <a:bodyPr/>
            <a:lstStyle/>
            <a:p>
              <a:endParaRPr lang="en-US"/>
            </a:p>
          </p:txBody>
        </p:sp>
        <p:sp>
          <p:nvSpPr>
            <p:cNvPr id="37931" name="Rectangle 122"/>
            <p:cNvSpPr>
              <a:spLocks noChangeAspect="1" noChangeArrowheads="1"/>
            </p:cNvSpPr>
            <p:nvPr/>
          </p:nvSpPr>
          <p:spPr bwMode="auto">
            <a:xfrm>
              <a:off x="2033" y="1117"/>
              <a:ext cx="98" cy="238"/>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1</a:t>
              </a:r>
              <a:endParaRPr lang="en-US"/>
            </a:p>
          </p:txBody>
        </p:sp>
        <p:sp>
          <p:nvSpPr>
            <p:cNvPr id="37932" name="Rectangle 123"/>
            <p:cNvSpPr>
              <a:spLocks noChangeAspect="1" noChangeArrowheads="1"/>
            </p:cNvSpPr>
            <p:nvPr/>
          </p:nvSpPr>
          <p:spPr bwMode="auto">
            <a:xfrm>
              <a:off x="1256" y="1765"/>
              <a:ext cx="99" cy="237"/>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2</a:t>
              </a:r>
              <a:endParaRPr lang="en-US"/>
            </a:p>
          </p:txBody>
        </p:sp>
        <p:sp>
          <p:nvSpPr>
            <p:cNvPr id="37933" name="Rectangle 124"/>
            <p:cNvSpPr>
              <a:spLocks noChangeAspect="1" noChangeArrowheads="1"/>
            </p:cNvSpPr>
            <p:nvPr/>
          </p:nvSpPr>
          <p:spPr bwMode="auto">
            <a:xfrm>
              <a:off x="1810" y="2069"/>
              <a:ext cx="99" cy="237"/>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3</a:t>
              </a:r>
              <a:endParaRPr lang="en-US"/>
            </a:p>
          </p:txBody>
        </p:sp>
        <p:sp>
          <p:nvSpPr>
            <p:cNvPr id="37934" name="Rectangle 125"/>
            <p:cNvSpPr>
              <a:spLocks noChangeAspect="1" noChangeArrowheads="1"/>
            </p:cNvSpPr>
            <p:nvPr/>
          </p:nvSpPr>
          <p:spPr bwMode="auto">
            <a:xfrm>
              <a:off x="1422" y="2635"/>
              <a:ext cx="98" cy="237"/>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4</a:t>
              </a:r>
              <a:endParaRPr lang="en-US"/>
            </a:p>
          </p:txBody>
        </p:sp>
        <p:sp>
          <p:nvSpPr>
            <p:cNvPr id="37935" name="Rectangle 126"/>
            <p:cNvSpPr>
              <a:spLocks noChangeAspect="1" noChangeArrowheads="1"/>
            </p:cNvSpPr>
            <p:nvPr/>
          </p:nvSpPr>
          <p:spPr bwMode="auto">
            <a:xfrm>
              <a:off x="648" y="1626"/>
              <a:ext cx="99" cy="237"/>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5</a:t>
              </a:r>
              <a:endParaRPr lang="en-US"/>
            </a:p>
          </p:txBody>
        </p:sp>
        <p:sp>
          <p:nvSpPr>
            <p:cNvPr id="37936" name="Rectangle 127"/>
            <p:cNvSpPr>
              <a:spLocks noChangeAspect="1" noChangeArrowheads="1"/>
            </p:cNvSpPr>
            <p:nvPr/>
          </p:nvSpPr>
          <p:spPr bwMode="auto">
            <a:xfrm>
              <a:off x="2307" y="2126"/>
              <a:ext cx="99" cy="237"/>
            </a:xfrm>
            <a:prstGeom prst="rect">
              <a:avLst/>
            </a:prstGeom>
            <a:noFill/>
            <a:ln w="9525">
              <a:noFill/>
              <a:miter lim="800000"/>
              <a:headEnd/>
              <a:tailEnd/>
            </a:ln>
          </p:spPr>
          <p:txBody>
            <a:bodyPr wrap="none" lIns="0" tIns="0" rIns="0" bIns="0">
              <a:spAutoFit/>
            </a:bodyPr>
            <a:lstStyle/>
            <a:p>
              <a:r>
                <a:rPr lang="en-US" sz="1600" b="1">
                  <a:solidFill>
                    <a:srgbClr val="000000"/>
                  </a:solidFill>
                  <a:latin typeface="Times New Roman" pitchFamily="18" charset="0"/>
                </a:rPr>
                <a:t>6</a:t>
              </a:r>
              <a:endParaRPr lang="en-US"/>
            </a:p>
          </p:txBody>
        </p:sp>
      </p:grpSp>
      <p:grpSp>
        <p:nvGrpSpPr>
          <p:cNvPr id="16" name="Group 128"/>
          <p:cNvGrpSpPr>
            <a:grpSpLocks noChangeAspect="1"/>
          </p:cNvGrpSpPr>
          <p:nvPr/>
        </p:nvGrpSpPr>
        <p:grpSpPr bwMode="auto">
          <a:xfrm>
            <a:off x="2141538" y="2451100"/>
            <a:ext cx="923925" cy="592138"/>
            <a:chOff x="1572" y="1805"/>
            <a:chExt cx="897" cy="575"/>
          </a:xfrm>
        </p:grpSpPr>
        <p:sp>
          <p:nvSpPr>
            <p:cNvPr id="37923" name="Freeform 129"/>
            <p:cNvSpPr>
              <a:spLocks noChangeAspect="1"/>
            </p:cNvSpPr>
            <p:nvPr/>
          </p:nvSpPr>
          <p:spPr bwMode="auto">
            <a:xfrm>
              <a:off x="1572" y="2005"/>
              <a:ext cx="897" cy="375"/>
            </a:xfrm>
            <a:custGeom>
              <a:avLst/>
              <a:gdLst>
                <a:gd name="T0" fmla="*/ 450 w 897"/>
                <a:gd name="T1" fmla="*/ 0 h 375"/>
                <a:gd name="T2" fmla="*/ 510 w 897"/>
                <a:gd name="T3" fmla="*/ 2 h 375"/>
                <a:gd name="T4" fmla="*/ 571 w 897"/>
                <a:gd name="T5" fmla="*/ 6 h 375"/>
                <a:gd name="T6" fmla="*/ 629 w 897"/>
                <a:gd name="T7" fmla="*/ 15 h 375"/>
                <a:gd name="T8" fmla="*/ 683 w 897"/>
                <a:gd name="T9" fmla="*/ 28 h 375"/>
                <a:gd name="T10" fmla="*/ 733 w 897"/>
                <a:gd name="T11" fmla="*/ 43 h 375"/>
                <a:gd name="T12" fmla="*/ 778 w 897"/>
                <a:gd name="T13" fmla="*/ 60 h 375"/>
                <a:gd name="T14" fmla="*/ 817 w 897"/>
                <a:gd name="T15" fmla="*/ 79 h 375"/>
                <a:gd name="T16" fmla="*/ 850 w 897"/>
                <a:gd name="T17" fmla="*/ 101 h 375"/>
                <a:gd name="T18" fmla="*/ 874 w 897"/>
                <a:gd name="T19" fmla="*/ 125 h 375"/>
                <a:gd name="T20" fmla="*/ 891 w 897"/>
                <a:gd name="T21" fmla="*/ 149 h 375"/>
                <a:gd name="T22" fmla="*/ 897 w 897"/>
                <a:gd name="T23" fmla="*/ 174 h 375"/>
                <a:gd name="T24" fmla="*/ 897 w 897"/>
                <a:gd name="T25" fmla="*/ 200 h 375"/>
                <a:gd name="T26" fmla="*/ 891 w 897"/>
                <a:gd name="T27" fmla="*/ 226 h 375"/>
                <a:gd name="T28" fmla="*/ 874 w 897"/>
                <a:gd name="T29" fmla="*/ 250 h 375"/>
                <a:gd name="T30" fmla="*/ 850 w 897"/>
                <a:gd name="T31" fmla="*/ 274 h 375"/>
                <a:gd name="T32" fmla="*/ 817 w 897"/>
                <a:gd name="T33" fmla="*/ 295 h 375"/>
                <a:gd name="T34" fmla="*/ 778 w 897"/>
                <a:gd name="T35" fmla="*/ 315 h 375"/>
                <a:gd name="T36" fmla="*/ 733 w 897"/>
                <a:gd name="T37" fmla="*/ 332 h 375"/>
                <a:gd name="T38" fmla="*/ 683 w 897"/>
                <a:gd name="T39" fmla="*/ 347 h 375"/>
                <a:gd name="T40" fmla="*/ 629 w 897"/>
                <a:gd name="T41" fmla="*/ 360 h 375"/>
                <a:gd name="T42" fmla="*/ 571 w 897"/>
                <a:gd name="T43" fmla="*/ 369 h 375"/>
                <a:gd name="T44" fmla="*/ 510 w 897"/>
                <a:gd name="T45" fmla="*/ 373 h 375"/>
                <a:gd name="T46" fmla="*/ 450 w 897"/>
                <a:gd name="T47" fmla="*/ 375 h 375"/>
                <a:gd name="T48" fmla="*/ 387 w 897"/>
                <a:gd name="T49" fmla="*/ 373 h 375"/>
                <a:gd name="T50" fmla="*/ 329 w 897"/>
                <a:gd name="T51" fmla="*/ 369 h 375"/>
                <a:gd name="T52" fmla="*/ 270 w 897"/>
                <a:gd name="T53" fmla="*/ 360 h 375"/>
                <a:gd name="T54" fmla="*/ 216 w 897"/>
                <a:gd name="T55" fmla="*/ 347 h 375"/>
                <a:gd name="T56" fmla="*/ 164 w 897"/>
                <a:gd name="T57" fmla="*/ 332 h 375"/>
                <a:gd name="T58" fmla="*/ 121 w 897"/>
                <a:gd name="T59" fmla="*/ 315 h 375"/>
                <a:gd name="T60" fmla="*/ 82 w 897"/>
                <a:gd name="T61" fmla="*/ 295 h 375"/>
                <a:gd name="T62" fmla="*/ 49 w 897"/>
                <a:gd name="T63" fmla="*/ 274 h 375"/>
                <a:gd name="T64" fmla="*/ 26 w 897"/>
                <a:gd name="T65" fmla="*/ 250 h 375"/>
                <a:gd name="T66" fmla="*/ 8 w 897"/>
                <a:gd name="T67" fmla="*/ 226 h 375"/>
                <a:gd name="T68" fmla="*/ 0 w 897"/>
                <a:gd name="T69" fmla="*/ 200 h 375"/>
                <a:gd name="T70" fmla="*/ 0 w 897"/>
                <a:gd name="T71" fmla="*/ 174 h 375"/>
                <a:gd name="T72" fmla="*/ 8 w 897"/>
                <a:gd name="T73" fmla="*/ 149 h 375"/>
                <a:gd name="T74" fmla="*/ 26 w 897"/>
                <a:gd name="T75" fmla="*/ 125 h 375"/>
                <a:gd name="T76" fmla="*/ 49 w 897"/>
                <a:gd name="T77" fmla="*/ 101 h 375"/>
                <a:gd name="T78" fmla="*/ 82 w 897"/>
                <a:gd name="T79" fmla="*/ 79 h 375"/>
                <a:gd name="T80" fmla="*/ 121 w 897"/>
                <a:gd name="T81" fmla="*/ 60 h 375"/>
                <a:gd name="T82" fmla="*/ 164 w 897"/>
                <a:gd name="T83" fmla="*/ 43 h 375"/>
                <a:gd name="T84" fmla="*/ 216 w 897"/>
                <a:gd name="T85" fmla="*/ 28 h 375"/>
                <a:gd name="T86" fmla="*/ 270 w 897"/>
                <a:gd name="T87" fmla="*/ 15 h 375"/>
                <a:gd name="T88" fmla="*/ 329 w 897"/>
                <a:gd name="T89" fmla="*/ 6 h 375"/>
                <a:gd name="T90" fmla="*/ 387 w 897"/>
                <a:gd name="T91" fmla="*/ 2 h 375"/>
                <a:gd name="T92" fmla="*/ 450 w 897"/>
                <a:gd name="T93" fmla="*/ 0 h 37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97"/>
                <a:gd name="T142" fmla="*/ 0 h 375"/>
                <a:gd name="T143" fmla="*/ 897 w 897"/>
                <a:gd name="T144" fmla="*/ 375 h 37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97" h="375">
                  <a:moveTo>
                    <a:pt x="450" y="0"/>
                  </a:moveTo>
                  <a:lnTo>
                    <a:pt x="510" y="2"/>
                  </a:lnTo>
                  <a:lnTo>
                    <a:pt x="571" y="6"/>
                  </a:lnTo>
                  <a:lnTo>
                    <a:pt x="629" y="15"/>
                  </a:lnTo>
                  <a:lnTo>
                    <a:pt x="683" y="28"/>
                  </a:lnTo>
                  <a:lnTo>
                    <a:pt x="733" y="43"/>
                  </a:lnTo>
                  <a:lnTo>
                    <a:pt x="778" y="60"/>
                  </a:lnTo>
                  <a:lnTo>
                    <a:pt x="817" y="79"/>
                  </a:lnTo>
                  <a:lnTo>
                    <a:pt x="850" y="101"/>
                  </a:lnTo>
                  <a:lnTo>
                    <a:pt x="874" y="125"/>
                  </a:lnTo>
                  <a:lnTo>
                    <a:pt x="891" y="149"/>
                  </a:lnTo>
                  <a:lnTo>
                    <a:pt x="897" y="174"/>
                  </a:lnTo>
                  <a:lnTo>
                    <a:pt x="897" y="200"/>
                  </a:lnTo>
                  <a:lnTo>
                    <a:pt x="891" y="226"/>
                  </a:lnTo>
                  <a:lnTo>
                    <a:pt x="874" y="250"/>
                  </a:lnTo>
                  <a:lnTo>
                    <a:pt x="850" y="274"/>
                  </a:lnTo>
                  <a:lnTo>
                    <a:pt x="817" y="295"/>
                  </a:lnTo>
                  <a:lnTo>
                    <a:pt x="778" y="315"/>
                  </a:lnTo>
                  <a:lnTo>
                    <a:pt x="733" y="332"/>
                  </a:lnTo>
                  <a:lnTo>
                    <a:pt x="683" y="347"/>
                  </a:lnTo>
                  <a:lnTo>
                    <a:pt x="629" y="360"/>
                  </a:lnTo>
                  <a:lnTo>
                    <a:pt x="571" y="369"/>
                  </a:lnTo>
                  <a:lnTo>
                    <a:pt x="510" y="373"/>
                  </a:lnTo>
                  <a:lnTo>
                    <a:pt x="450" y="375"/>
                  </a:lnTo>
                  <a:lnTo>
                    <a:pt x="387" y="373"/>
                  </a:lnTo>
                  <a:lnTo>
                    <a:pt x="329" y="369"/>
                  </a:lnTo>
                  <a:lnTo>
                    <a:pt x="270" y="360"/>
                  </a:lnTo>
                  <a:lnTo>
                    <a:pt x="216" y="347"/>
                  </a:lnTo>
                  <a:lnTo>
                    <a:pt x="164" y="332"/>
                  </a:lnTo>
                  <a:lnTo>
                    <a:pt x="121" y="315"/>
                  </a:lnTo>
                  <a:lnTo>
                    <a:pt x="82" y="295"/>
                  </a:lnTo>
                  <a:lnTo>
                    <a:pt x="49" y="274"/>
                  </a:lnTo>
                  <a:lnTo>
                    <a:pt x="26" y="250"/>
                  </a:lnTo>
                  <a:lnTo>
                    <a:pt x="8" y="226"/>
                  </a:lnTo>
                  <a:lnTo>
                    <a:pt x="0" y="200"/>
                  </a:lnTo>
                  <a:lnTo>
                    <a:pt x="0" y="174"/>
                  </a:lnTo>
                  <a:lnTo>
                    <a:pt x="8" y="149"/>
                  </a:lnTo>
                  <a:lnTo>
                    <a:pt x="26" y="125"/>
                  </a:lnTo>
                  <a:lnTo>
                    <a:pt x="49" y="101"/>
                  </a:lnTo>
                  <a:lnTo>
                    <a:pt x="82" y="79"/>
                  </a:lnTo>
                  <a:lnTo>
                    <a:pt x="121" y="60"/>
                  </a:lnTo>
                  <a:lnTo>
                    <a:pt x="164" y="43"/>
                  </a:lnTo>
                  <a:lnTo>
                    <a:pt x="216" y="28"/>
                  </a:lnTo>
                  <a:lnTo>
                    <a:pt x="270" y="15"/>
                  </a:lnTo>
                  <a:lnTo>
                    <a:pt x="329" y="6"/>
                  </a:lnTo>
                  <a:lnTo>
                    <a:pt x="387" y="2"/>
                  </a:lnTo>
                  <a:lnTo>
                    <a:pt x="450" y="0"/>
                  </a:lnTo>
                </a:path>
              </a:pathLst>
            </a:custGeom>
            <a:noFill/>
            <a:ln w="3175">
              <a:solidFill>
                <a:srgbClr val="000000"/>
              </a:solidFill>
              <a:round/>
              <a:headEnd/>
              <a:tailEnd/>
            </a:ln>
          </p:spPr>
          <p:txBody>
            <a:bodyPr/>
            <a:lstStyle/>
            <a:p>
              <a:endParaRPr lang="en-US"/>
            </a:p>
          </p:txBody>
        </p:sp>
        <p:sp>
          <p:nvSpPr>
            <p:cNvPr id="37924" name="Rectangle 130"/>
            <p:cNvSpPr>
              <a:spLocks noChangeAspect="1" noChangeArrowheads="1"/>
            </p:cNvSpPr>
            <p:nvPr/>
          </p:nvSpPr>
          <p:spPr bwMode="auto">
            <a:xfrm>
              <a:off x="1943" y="1805"/>
              <a:ext cx="110" cy="237"/>
            </a:xfrm>
            <a:prstGeom prst="rect">
              <a:avLst/>
            </a:prstGeom>
            <a:noFill/>
            <a:ln w="9525">
              <a:noFill/>
              <a:miter lim="800000"/>
              <a:headEnd/>
              <a:tailEnd/>
            </a:ln>
          </p:spPr>
          <p:txBody>
            <a:bodyPr wrap="none" lIns="0" tIns="0" rIns="0" bIns="0">
              <a:spAutoFit/>
            </a:bodyPr>
            <a:lstStyle/>
            <a:p>
              <a:r>
                <a:rPr lang="en-US" sz="1600" b="1">
                  <a:solidFill>
                    <a:srgbClr val="FF0000"/>
                  </a:solidFill>
                </a:rPr>
                <a:t>1</a:t>
              </a:r>
              <a:endParaRPr lang="en-US"/>
            </a:p>
          </p:txBody>
        </p:sp>
      </p:grpSp>
      <p:grpSp>
        <p:nvGrpSpPr>
          <p:cNvPr id="17" name="Group 131"/>
          <p:cNvGrpSpPr>
            <a:grpSpLocks noChangeAspect="1"/>
          </p:cNvGrpSpPr>
          <p:nvPr/>
        </p:nvGrpSpPr>
        <p:grpSpPr bwMode="auto">
          <a:xfrm>
            <a:off x="865188" y="2206625"/>
            <a:ext cx="1125537" cy="742950"/>
            <a:chOff x="332" y="1568"/>
            <a:chExt cx="1093" cy="721"/>
          </a:xfrm>
        </p:grpSpPr>
        <p:sp>
          <p:nvSpPr>
            <p:cNvPr id="37921" name="Freeform 132"/>
            <p:cNvSpPr>
              <a:spLocks noChangeAspect="1"/>
            </p:cNvSpPr>
            <p:nvPr/>
          </p:nvSpPr>
          <p:spPr bwMode="auto">
            <a:xfrm>
              <a:off x="332" y="1568"/>
              <a:ext cx="1093" cy="497"/>
            </a:xfrm>
            <a:custGeom>
              <a:avLst/>
              <a:gdLst>
                <a:gd name="T0" fmla="*/ 547 w 1093"/>
                <a:gd name="T1" fmla="*/ 0 h 497"/>
                <a:gd name="T2" fmla="*/ 615 w 1093"/>
                <a:gd name="T3" fmla="*/ 3 h 497"/>
                <a:gd name="T4" fmla="*/ 684 w 1093"/>
                <a:gd name="T5" fmla="*/ 7 h 497"/>
                <a:gd name="T6" fmla="*/ 749 w 1093"/>
                <a:gd name="T7" fmla="*/ 18 h 497"/>
                <a:gd name="T8" fmla="*/ 811 w 1093"/>
                <a:gd name="T9" fmla="*/ 31 h 497"/>
                <a:gd name="T10" fmla="*/ 868 w 1093"/>
                <a:gd name="T11" fmla="*/ 48 h 497"/>
                <a:gd name="T12" fmla="*/ 922 w 1093"/>
                <a:gd name="T13" fmla="*/ 67 h 497"/>
                <a:gd name="T14" fmla="*/ 969 w 1093"/>
                <a:gd name="T15" fmla="*/ 91 h 497"/>
                <a:gd name="T16" fmla="*/ 1008 w 1093"/>
                <a:gd name="T17" fmla="*/ 115 h 497"/>
                <a:gd name="T18" fmla="*/ 1043 w 1093"/>
                <a:gd name="T19" fmla="*/ 143 h 497"/>
                <a:gd name="T20" fmla="*/ 1067 w 1093"/>
                <a:gd name="T21" fmla="*/ 171 h 497"/>
                <a:gd name="T22" fmla="*/ 1084 w 1093"/>
                <a:gd name="T23" fmla="*/ 201 h 497"/>
                <a:gd name="T24" fmla="*/ 1093 w 1093"/>
                <a:gd name="T25" fmla="*/ 234 h 497"/>
                <a:gd name="T26" fmla="*/ 1093 w 1093"/>
                <a:gd name="T27" fmla="*/ 264 h 497"/>
                <a:gd name="T28" fmla="*/ 1084 w 1093"/>
                <a:gd name="T29" fmla="*/ 294 h 497"/>
                <a:gd name="T30" fmla="*/ 1067 w 1093"/>
                <a:gd name="T31" fmla="*/ 324 h 497"/>
                <a:gd name="T32" fmla="*/ 1043 w 1093"/>
                <a:gd name="T33" fmla="*/ 354 h 497"/>
                <a:gd name="T34" fmla="*/ 1008 w 1093"/>
                <a:gd name="T35" fmla="*/ 383 h 497"/>
                <a:gd name="T36" fmla="*/ 969 w 1093"/>
                <a:gd name="T37" fmla="*/ 406 h 497"/>
                <a:gd name="T38" fmla="*/ 922 w 1093"/>
                <a:gd name="T39" fmla="*/ 430 h 497"/>
                <a:gd name="T40" fmla="*/ 868 w 1093"/>
                <a:gd name="T41" fmla="*/ 449 h 497"/>
                <a:gd name="T42" fmla="*/ 811 w 1093"/>
                <a:gd name="T43" fmla="*/ 467 h 497"/>
                <a:gd name="T44" fmla="*/ 749 w 1093"/>
                <a:gd name="T45" fmla="*/ 480 h 497"/>
                <a:gd name="T46" fmla="*/ 684 w 1093"/>
                <a:gd name="T47" fmla="*/ 488 h 497"/>
                <a:gd name="T48" fmla="*/ 615 w 1093"/>
                <a:gd name="T49" fmla="*/ 495 h 497"/>
                <a:gd name="T50" fmla="*/ 547 w 1093"/>
                <a:gd name="T51" fmla="*/ 497 h 497"/>
                <a:gd name="T52" fmla="*/ 478 w 1093"/>
                <a:gd name="T53" fmla="*/ 495 h 497"/>
                <a:gd name="T54" fmla="*/ 411 w 1093"/>
                <a:gd name="T55" fmla="*/ 488 h 497"/>
                <a:gd name="T56" fmla="*/ 346 w 1093"/>
                <a:gd name="T57" fmla="*/ 480 h 497"/>
                <a:gd name="T58" fmla="*/ 284 w 1093"/>
                <a:gd name="T59" fmla="*/ 467 h 497"/>
                <a:gd name="T60" fmla="*/ 225 w 1093"/>
                <a:gd name="T61" fmla="*/ 449 h 497"/>
                <a:gd name="T62" fmla="*/ 173 w 1093"/>
                <a:gd name="T63" fmla="*/ 430 h 497"/>
                <a:gd name="T64" fmla="*/ 126 w 1093"/>
                <a:gd name="T65" fmla="*/ 406 h 497"/>
                <a:gd name="T66" fmla="*/ 85 w 1093"/>
                <a:gd name="T67" fmla="*/ 383 h 497"/>
                <a:gd name="T68" fmla="*/ 52 w 1093"/>
                <a:gd name="T69" fmla="*/ 354 h 497"/>
                <a:gd name="T70" fmla="*/ 26 w 1093"/>
                <a:gd name="T71" fmla="*/ 324 h 497"/>
                <a:gd name="T72" fmla="*/ 9 w 1093"/>
                <a:gd name="T73" fmla="*/ 294 h 497"/>
                <a:gd name="T74" fmla="*/ 0 w 1093"/>
                <a:gd name="T75" fmla="*/ 264 h 497"/>
                <a:gd name="T76" fmla="*/ 0 w 1093"/>
                <a:gd name="T77" fmla="*/ 234 h 497"/>
                <a:gd name="T78" fmla="*/ 9 w 1093"/>
                <a:gd name="T79" fmla="*/ 201 h 497"/>
                <a:gd name="T80" fmla="*/ 26 w 1093"/>
                <a:gd name="T81" fmla="*/ 171 h 497"/>
                <a:gd name="T82" fmla="*/ 52 w 1093"/>
                <a:gd name="T83" fmla="*/ 143 h 497"/>
                <a:gd name="T84" fmla="*/ 85 w 1093"/>
                <a:gd name="T85" fmla="*/ 115 h 497"/>
                <a:gd name="T86" fmla="*/ 126 w 1093"/>
                <a:gd name="T87" fmla="*/ 91 h 497"/>
                <a:gd name="T88" fmla="*/ 173 w 1093"/>
                <a:gd name="T89" fmla="*/ 67 h 497"/>
                <a:gd name="T90" fmla="*/ 225 w 1093"/>
                <a:gd name="T91" fmla="*/ 48 h 497"/>
                <a:gd name="T92" fmla="*/ 284 w 1093"/>
                <a:gd name="T93" fmla="*/ 31 h 497"/>
                <a:gd name="T94" fmla="*/ 346 w 1093"/>
                <a:gd name="T95" fmla="*/ 18 h 497"/>
                <a:gd name="T96" fmla="*/ 411 w 1093"/>
                <a:gd name="T97" fmla="*/ 7 h 497"/>
                <a:gd name="T98" fmla="*/ 478 w 1093"/>
                <a:gd name="T99" fmla="*/ 3 h 497"/>
                <a:gd name="T100" fmla="*/ 547 w 1093"/>
                <a:gd name="T101" fmla="*/ 0 h 49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93"/>
                <a:gd name="T154" fmla="*/ 0 h 497"/>
                <a:gd name="T155" fmla="*/ 1093 w 1093"/>
                <a:gd name="T156" fmla="*/ 497 h 49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93" h="497">
                  <a:moveTo>
                    <a:pt x="547" y="0"/>
                  </a:moveTo>
                  <a:lnTo>
                    <a:pt x="615" y="3"/>
                  </a:lnTo>
                  <a:lnTo>
                    <a:pt x="684" y="7"/>
                  </a:lnTo>
                  <a:lnTo>
                    <a:pt x="749" y="18"/>
                  </a:lnTo>
                  <a:lnTo>
                    <a:pt x="811" y="31"/>
                  </a:lnTo>
                  <a:lnTo>
                    <a:pt x="868" y="48"/>
                  </a:lnTo>
                  <a:lnTo>
                    <a:pt x="922" y="67"/>
                  </a:lnTo>
                  <a:lnTo>
                    <a:pt x="969" y="91"/>
                  </a:lnTo>
                  <a:lnTo>
                    <a:pt x="1008" y="115"/>
                  </a:lnTo>
                  <a:lnTo>
                    <a:pt x="1043" y="143"/>
                  </a:lnTo>
                  <a:lnTo>
                    <a:pt x="1067" y="171"/>
                  </a:lnTo>
                  <a:lnTo>
                    <a:pt x="1084" y="201"/>
                  </a:lnTo>
                  <a:lnTo>
                    <a:pt x="1093" y="234"/>
                  </a:lnTo>
                  <a:lnTo>
                    <a:pt x="1093" y="264"/>
                  </a:lnTo>
                  <a:lnTo>
                    <a:pt x="1084" y="294"/>
                  </a:lnTo>
                  <a:lnTo>
                    <a:pt x="1067" y="324"/>
                  </a:lnTo>
                  <a:lnTo>
                    <a:pt x="1043" y="354"/>
                  </a:lnTo>
                  <a:lnTo>
                    <a:pt x="1008" y="383"/>
                  </a:lnTo>
                  <a:lnTo>
                    <a:pt x="969" y="406"/>
                  </a:lnTo>
                  <a:lnTo>
                    <a:pt x="922" y="430"/>
                  </a:lnTo>
                  <a:lnTo>
                    <a:pt x="868" y="449"/>
                  </a:lnTo>
                  <a:lnTo>
                    <a:pt x="811" y="467"/>
                  </a:lnTo>
                  <a:lnTo>
                    <a:pt x="749" y="480"/>
                  </a:lnTo>
                  <a:lnTo>
                    <a:pt x="684" y="488"/>
                  </a:lnTo>
                  <a:lnTo>
                    <a:pt x="615" y="495"/>
                  </a:lnTo>
                  <a:lnTo>
                    <a:pt x="547" y="497"/>
                  </a:lnTo>
                  <a:lnTo>
                    <a:pt x="478" y="495"/>
                  </a:lnTo>
                  <a:lnTo>
                    <a:pt x="411" y="488"/>
                  </a:lnTo>
                  <a:lnTo>
                    <a:pt x="346" y="480"/>
                  </a:lnTo>
                  <a:lnTo>
                    <a:pt x="284" y="467"/>
                  </a:lnTo>
                  <a:lnTo>
                    <a:pt x="225" y="449"/>
                  </a:lnTo>
                  <a:lnTo>
                    <a:pt x="173" y="430"/>
                  </a:lnTo>
                  <a:lnTo>
                    <a:pt x="126" y="406"/>
                  </a:lnTo>
                  <a:lnTo>
                    <a:pt x="85" y="383"/>
                  </a:lnTo>
                  <a:lnTo>
                    <a:pt x="52" y="354"/>
                  </a:lnTo>
                  <a:lnTo>
                    <a:pt x="26" y="324"/>
                  </a:lnTo>
                  <a:lnTo>
                    <a:pt x="9" y="294"/>
                  </a:lnTo>
                  <a:lnTo>
                    <a:pt x="0" y="264"/>
                  </a:lnTo>
                  <a:lnTo>
                    <a:pt x="0" y="234"/>
                  </a:lnTo>
                  <a:lnTo>
                    <a:pt x="9" y="201"/>
                  </a:lnTo>
                  <a:lnTo>
                    <a:pt x="26" y="171"/>
                  </a:lnTo>
                  <a:lnTo>
                    <a:pt x="52" y="143"/>
                  </a:lnTo>
                  <a:lnTo>
                    <a:pt x="85" y="115"/>
                  </a:lnTo>
                  <a:lnTo>
                    <a:pt x="126" y="91"/>
                  </a:lnTo>
                  <a:lnTo>
                    <a:pt x="173" y="67"/>
                  </a:lnTo>
                  <a:lnTo>
                    <a:pt x="225" y="48"/>
                  </a:lnTo>
                  <a:lnTo>
                    <a:pt x="284" y="31"/>
                  </a:lnTo>
                  <a:lnTo>
                    <a:pt x="346" y="18"/>
                  </a:lnTo>
                  <a:lnTo>
                    <a:pt x="411" y="7"/>
                  </a:lnTo>
                  <a:lnTo>
                    <a:pt x="478" y="3"/>
                  </a:lnTo>
                  <a:lnTo>
                    <a:pt x="547" y="0"/>
                  </a:lnTo>
                </a:path>
              </a:pathLst>
            </a:custGeom>
            <a:noFill/>
            <a:ln w="3175">
              <a:solidFill>
                <a:srgbClr val="000000"/>
              </a:solidFill>
              <a:round/>
              <a:headEnd/>
              <a:tailEnd/>
            </a:ln>
          </p:spPr>
          <p:txBody>
            <a:bodyPr/>
            <a:lstStyle/>
            <a:p>
              <a:endParaRPr lang="en-US"/>
            </a:p>
          </p:txBody>
        </p:sp>
        <p:sp>
          <p:nvSpPr>
            <p:cNvPr id="37922" name="Rectangle 133"/>
            <p:cNvSpPr>
              <a:spLocks noChangeAspect="1" noChangeArrowheads="1"/>
            </p:cNvSpPr>
            <p:nvPr/>
          </p:nvSpPr>
          <p:spPr bwMode="auto">
            <a:xfrm>
              <a:off x="949" y="2052"/>
              <a:ext cx="109" cy="237"/>
            </a:xfrm>
            <a:prstGeom prst="rect">
              <a:avLst/>
            </a:prstGeom>
            <a:noFill/>
            <a:ln w="9525">
              <a:noFill/>
              <a:miter lim="800000"/>
              <a:headEnd/>
              <a:tailEnd/>
            </a:ln>
          </p:spPr>
          <p:txBody>
            <a:bodyPr wrap="none" lIns="0" tIns="0" rIns="0" bIns="0">
              <a:spAutoFit/>
            </a:bodyPr>
            <a:lstStyle/>
            <a:p>
              <a:r>
                <a:rPr lang="en-US" sz="1600" b="1">
                  <a:solidFill>
                    <a:srgbClr val="FF0000"/>
                  </a:solidFill>
                </a:rPr>
                <a:t>2</a:t>
              </a:r>
              <a:endParaRPr lang="en-US"/>
            </a:p>
          </p:txBody>
        </p:sp>
      </p:grpSp>
      <p:grpSp>
        <p:nvGrpSpPr>
          <p:cNvPr id="18" name="Group 134"/>
          <p:cNvGrpSpPr>
            <a:grpSpLocks noChangeAspect="1"/>
          </p:cNvGrpSpPr>
          <p:nvPr/>
        </p:nvGrpSpPr>
        <p:grpSpPr bwMode="auto">
          <a:xfrm>
            <a:off x="812800" y="1936750"/>
            <a:ext cx="2382838" cy="1358900"/>
            <a:chOff x="280" y="1305"/>
            <a:chExt cx="2315" cy="1321"/>
          </a:xfrm>
        </p:grpSpPr>
        <p:sp>
          <p:nvSpPr>
            <p:cNvPr id="37919" name="Freeform 135"/>
            <p:cNvSpPr>
              <a:spLocks noChangeAspect="1"/>
            </p:cNvSpPr>
            <p:nvPr/>
          </p:nvSpPr>
          <p:spPr bwMode="auto">
            <a:xfrm>
              <a:off x="280" y="1314"/>
              <a:ext cx="2315" cy="1312"/>
            </a:xfrm>
            <a:custGeom>
              <a:avLst/>
              <a:gdLst>
                <a:gd name="T0" fmla="*/ 1326 w 2315"/>
                <a:gd name="T1" fmla="*/ 23 h 1312"/>
                <a:gd name="T2" fmla="*/ 1519 w 2315"/>
                <a:gd name="T3" fmla="*/ 64 h 1312"/>
                <a:gd name="T4" fmla="*/ 1698 w 2315"/>
                <a:gd name="T5" fmla="*/ 121 h 1312"/>
                <a:gd name="T6" fmla="*/ 1865 w 2315"/>
                <a:gd name="T7" fmla="*/ 194 h 1312"/>
                <a:gd name="T8" fmla="*/ 2008 w 2315"/>
                <a:gd name="T9" fmla="*/ 278 h 1312"/>
                <a:gd name="T10" fmla="*/ 2129 w 2315"/>
                <a:gd name="T11" fmla="*/ 375 h 1312"/>
                <a:gd name="T12" fmla="*/ 2222 w 2315"/>
                <a:gd name="T13" fmla="*/ 479 h 1312"/>
                <a:gd name="T14" fmla="*/ 2282 w 2315"/>
                <a:gd name="T15" fmla="*/ 589 h 1312"/>
                <a:gd name="T16" fmla="*/ 2313 w 2315"/>
                <a:gd name="T17" fmla="*/ 699 h 1312"/>
                <a:gd name="T18" fmla="*/ 2308 w 2315"/>
                <a:gd name="T19" fmla="*/ 809 h 1312"/>
                <a:gd name="T20" fmla="*/ 2272 w 2315"/>
                <a:gd name="T21" fmla="*/ 915 h 1312"/>
                <a:gd name="T22" fmla="*/ 2202 w 2315"/>
                <a:gd name="T23" fmla="*/ 1014 h 1312"/>
                <a:gd name="T24" fmla="*/ 2105 w 2315"/>
                <a:gd name="T25" fmla="*/ 1101 h 1312"/>
                <a:gd name="T26" fmla="*/ 1977 w 2315"/>
                <a:gd name="T27" fmla="*/ 1176 h 1312"/>
                <a:gd name="T28" fmla="*/ 1828 w 2315"/>
                <a:gd name="T29" fmla="*/ 1237 h 1312"/>
                <a:gd name="T30" fmla="*/ 1659 w 2315"/>
                <a:gd name="T31" fmla="*/ 1280 h 1312"/>
                <a:gd name="T32" fmla="*/ 1476 w 2315"/>
                <a:gd name="T33" fmla="*/ 1306 h 1312"/>
                <a:gd name="T34" fmla="*/ 1283 w 2315"/>
                <a:gd name="T35" fmla="*/ 1312 h 1312"/>
                <a:gd name="T36" fmla="*/ 1086 w 2315"/>
                <a:gd name="T37" fmla="*/ 1299 h 1312"/>
                <a:gd name="T38" fmla="*/ 894 w 2315"/>
                <a:gd name="T39" fmla="*/ 1269 h 1312"/>
                <a:gd name="T40" fmla="*/ 705 w 2315"/>
                <a:gd name="T41" fmla="*/ 1220 h 1312"/>
                <a:gd name="T42" fmla="*/ 532 w 2315"/>
                <a:gd name="T43" fmla="*/ 1155 h 1312"/>
                <a:gd name="T44" fmla="*/ 377 w 2315"/>
                <a:gd name="T45" fmla="*/ 1077 h 1312"/>
                <a:gd name="T46" fmla="*/ 245 w 2315"/>
                <a:gd name="T47" fmla="*/ 984 h 1312"/>
                <a:gd name="T48" fmla="*/ 137 w 2315"/>
                <a:gd name="T49" fmla="*/ 885 h 1312"/>
                <a:gd name="T50" fmla="*/ 61 w 2315"/>
                <a:gd name="T51" fmla="*/ 777 h 1312"/>
                <a:gd name="T52" fmla="*/ 13 w 2315"/>
                <a:gd name="T53" fmla="*/ 667 h 1312"/>
                <a:gd name="T54" fmla="*/ 0 w 2315"/>
                <a:gd name="T55" fmla="*/ 555 h 1312"/>
                <a:gd name="T56" fmla="*/ 22 w 2315"/>
                <a:gd name="T57" fmla="*/ 447 h 1312"/>
                <a:gd name="T58" fmla="*/ 74 w 2315"/>
                <a:gd name="T59" fmla="*/ 345 h 1312"/>
                <a:gd name="T60" fmla="*/ 158 w 2315"/>
                <a:gd name="T61" fmla="*/ 252 h 1312"/>
                <a:gd name="T62" fmla="*/ 273 w 2315"/>
                <a:gd name="T63" fmla="*/ 170 h 1312"/>
                <a:gd name="T64" fmla="*/ 411 w 2315"/>
                <a:gd name="T65" fmla="*/ 103 h 1312"/>
                <a:gd name="T66" fmla="*/ 571 w 2315"/>
                <a:gd name="T67" fmla="*/ 49 h 1312"/>
                <a:gd name="T68" fmla="*/ 747 w 2315"/>
                <a:gd name="T69" fmla="*/ 17 h 1312"/>
                <a:gd name="T70" fmla="*/ 937 w 2315"/>
                <a:gd name="T71" fmla="*/ 0 h 1312"/>
                <a:gd name="T72" fmla="*/ 1132 w 2315"/>
                <a:gd name="T73" fmla="*/ 2 h 13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15"/>
                <a:gd name="T112" fmla="*/ 0 h 1312"/>
                <a:gd name="T113" fmla="*/ 2315 w 2315"/>
                <a:gd name="T114" fmla="*/ 1312 h 13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15" h="1312">
                  <a:moveTo>
                    <a:pt x="1229" y="10"/>
                  </a:moveTo>
                  <a:lnTo>
                    <a:pt x="1326" y="23"/>
                  </a:lnTo>
                  <a:lnTo>
                    <a:pt x="1424" y="43"/>
                  </a:lnTo>
                  <a:lnTo>
                    <a:pt x="1519" y="64"/>
                  </a:lnTo>
                  <a:lnTo>
                    <a:pt x="1610" y="90"/>
                  </a:lnTo>
                  <a:lnTo>
                    <a:pt x="1698" y="121"/>
                  </a:lnTo>
                  <a:lnTo>
                    <a:pt x="1783" y="155"/>
                  </a:lnTo>
                  <a:lnTo>
                    <a:pt x="1865" y="194"/>
                  </a:lnTo>
                  <a:lnTo>
                    <a:pt x="1938" y="235"/>
                  </a:lnTo>
                  <a:lnTo>
                    <a:pt x="2008" y="278"/>
                  </a:lnTo>
                  <a:lnTo>
                    <a:pt x="2073" y="326"/>
                  </a:lnTo>
                  <a:lnTo>
                    <a:pt x="2129" y="375"/>
                  </a:lnTo>
                  <a:lnTo>
                    <a:pt x="2179" y="425"/>
                  </a:lnTo>
                  <a:lnTo>
                    <a:pt x="2222" y="479"/>
                  </a:lnTo>
                  <a:lnTo>
                    <a:pt x="2256" y="533"/>
                  </a:lnTo>
                  <a:lnTo>
                    <a:pt x="2282" y="589"/>
                  </a:lnTo>
                  <a:lnTo>
                    <a:pt x="2302" y="643"/>
                  </a:lnTo>
                  <a:lnTo>
                    <a:pt x="2313" y="699"/>
                  </a:lnTo>
                  <a:lnTo>
                    <a:pt x="2315" y="755"/>
                  </a:lnTo>
                  <a:lnTo>
                    <a:pt x="2308" y="809"/>
                  </a:lnTo>
                  <a:lnTo>
                    <a:pt x="2295" y="863"/>
                  </a:lnTo>
                  <a:lnTo>
                    <a:pt x="2272" y="915"/>
                  </a:lnTo>
                  <a:lnTo>
                    <a:pt x="2241" y="965"/>
                  </a:lnTo>
                  <a:lnTo>
                    <a:pt x="2202" y="1014"/>
                  </a:lnTo>
                  <a:lnTo>
                    <a:pt x="2157" y="1060"/>
                  </a:lnTo>
                  <a:lnTo>
                    <a:pt x="2105" y="1101"/>
                  </a:lnTo>
                  <a:lnTo>
                    <a:pt x="2044" y="1140"/>
                  </a:lnTo>
                  <a:lnTo>
                    <a:pt x="1977" y="1176"/>
                  </a:lnTo>
                  <a:lnTo>
                    <a:pt x="1906" y="1209"/>
                  </a:lnTo>
                  <a:lnTo>
                    <a:pt x="1828" y="1237"/>
                  </a:lnTo>
                  <a:lnTo>
                    <a:pt x="1746" y="1261"/>
                  </a:lnTo>
                  <a:lnTo>
                    <a:pt x="1659" y="1280"/>
                  </a:lnTo>
                  <a:lnTo>
                    <a:pt x="1569" y="1295"/>
                  </a:lnTo>
                  <a:lnTo>
                    <a:pt x="1476" y="1306"/>
                  </a:lnTo>
                  <a:lnTo>
                    <a:pt x="1380" y="1310"/>
                  </a:lnTo>
                  <a:lnTo>
                    <a:pt x="1283" y="1312"/>
                  </a:lnTo>
                  <a:lnTo>
                    <a:pt x="1186" y="1308"/>
                  </a:lnTo>
                  <a:lnTo>
                    <a:pt x="1086" y="1299"/>
                  </a:lnTo>
                  <a:lnTo>
                    <a:pt x="989" y="1286"/>
                  </a:lnTo>
                  <a:lnTo>
                    <a:pt x="894" y="1269"/>
                  </a:lnTo>
                  <a:lnTo>
                    <a:pt x="798" y="1245"/>
                  </a:lnTo>
                  <a:lnTo>
                    <a:pt x="705" y="1220"/>
                  </a:lnTo>
                  <a:lnTo>
                    <a:pt x="617" y="1189"/>
                  </a:lnTo>
                  <a:lnTo>
                    <a:pt x="532" y="1155"/>
                  </a:lnTo>
                  <a:lnTo>
                    <a:pt x="452" y="1118"/>
                  </a:lnTo>
                  <a:lnTo>
                    <a:pt x="377" y="1077"/>
                  </a:lnTo>
                  <a:lnTo>
                    <a:pt x="307" y="1032"/>
                  </a:lnTo>
                  <a:lnTo>
                    <a:pt x="245" y="984"/>
                  </a:lnTo>
                  <a:lnTo>
                    <a:pt x="186" y="937"/>
                  </a:lnTo>
                  <a:lnTo>
                    <a:pt x="137" y="885"/>
                  </a:lnTo>
                  <a:lnTo>
                    <a:pt x="95" y="831"/>
                  </a:lnTo>
                  <a:lnTo>
                    <a:pt x="61" y="777"/>
                  </a:lnTo>
                  <a:lnTo>
                    <a:pt x="33" y="723"/>
                  </a:lnTo>
                  <a:lnTo>
                    <a:pt x="13" y="667"/>
                  </a:lnTo>
                  <a:lnTo>
                    <a:pt x="5" y="611"/>
                  </a:lnTo>
                  <a:lnTo>
                    <a:pt x="0" y="555"/>
                  </a:lnTo>
                  <a:lnTo>
                    <a:pt x="7" y="501"/>
                  </a:lnTo>
                  <a:lnTo>
                    <a:pt x="22" y="447"/>
                  </a:lnTo>
                  <a:lnTo>
                    <a:pt x="44" y="395"/>
                  </a:lnTo>
                  <a:lnTo>
                    <a:pt x="74" y="345"/>
                  </a:lnTo>
                  <a:lnTo>
                    <a:pt x="113" y="298"/>
                  </a:lnTo>
                  <a:lnTo>
                    <a:pt x="158" y="252"/>
                  </a:lnTo>
                  <a:lnTo>
                    <a:pt x="212" y="209"/>
                  </a:lnTo>
                  <a:lnTo>
                    <a:pt x="273" y="170"/>
                  </a:lnTo>
                  <a:lnTo>
                    <a:pt x="338" y="133"/>
                  </a:lnTo>
                  <a:lnTo>
                    <a:pt x="411" y="103"/>
                  </a:lnTo>
                  <a:lnTo>
                    <a:pt x="489" y="75"/>
                  </a:lnTo>
                  <a:lnTo>
                    <a:pt x="571" y="49"/>
                  </a:lnTo>
                  <a:lnTo>
                    <a:pt x="658" y="30"/>
                  </a:lnTo>
                  <a:lnTo>
                    <a:pt x="747" y="17"/>
                  </a:lnTo>
                  <a:lnTo>
                    <a:pt x="840" y="6"/>
                  </a:lnTo>
                  <a:lnTo>
                    <a:pt x="937" y="0"/>
                  </a:lnTo>
                  <a:lnTo>
                    <a:pt x="1034" y="0"/>
                  </a:lnTo>
                  <a:lnTo>
                    <a:pt x="1132" y="2"/>
                  </a:lnTo>
                  <a:lnTo>
                    <a:pt x="1229" y="10"/>
                  </a:lnTo>
                </a:path>
              </a:pathLst>
            </a:custGeom>
            <a:noFill/>
            <a:ln w="3175">
              <a:solidFill>
                <a:srgbClr val="000000"/>
              </a:solidFill>
              <a:round/>
              <a:headEnd/>
              <a:tailEnd/>
            </a:ln>
          </p:spPr>
          <p:txBody>
            <a:bodyPr/>
            <a:lstStyle/>
            <a:p>
              <a:endParaRPr lang="en-US"/>
            </a:p>
          </p:txBody>
        </p:sp>
        <p:sp>
          <p:nvSpPr>
            <p:cNvPr id="37920" name="Rectangle 136"/>
            <p:cNvSpPr>
              <a:spLocks noChangeAspect="1" noChangeArrowheads="1"/>
            </p:cNvSpPr>
            <p:nvPr/>
          </p:nvSpPr>
          <p:spPr bwMode="auto">
            <a:xfrm>
              <a:off x="1390" y="1305"/>
              <a:ext cx="110" cy="238"/>
            </a:xfrm>
            <a:prstGeom prst="rect">
              <a:avLst/>
            </a:prstGeom>
            <a:noFill/>
            <a:ln w="9525">
              <a:noFill/>
              <a:miter lim="800000"/>
              <a:headEnd/>
              <a:tailEnd/>
            </a:ln>
          </p:spPr>
          <p:txBody>
            <a:bodyPr wrap="none" lIns="0" tIns="0" rIns="0" bIns="0">
              <a:spAutoFit/>
            </a:bodyPr>
            <a:lstStyle/>
            <a:p>
              <a:r>
                <a:rPr lang="en-US" sz="1600" b="1">
                  <a:solidFill>
                    <a:srgbClr val="FF0000"/>
                  </a:solidFill>
                </a:rPr>
                <a:t>3</a:t>
              </a:r>
              <a:endParaRPr lang="en-US"/>
            </a:p>
          </p:txBody>
        </p:sp>
      </p:grpSp>
      <p:grpSp>
        <p:nvGrpSpPr>
          <p:cNvPr id="19" name="Group 137"/>
          <p:cNvGrpSpPr>
            <a:grpSpLocks noChangeAspect="1"/>
          </p:cNvGrpSpPr>
          <p:nvPr/>
        </p:nvGrpSpPr>
        <p:grpSpPr bwMode="auto">
          <a:xfrm>
            <a:off x="771525" y="1858963"/>
            <a:ext cx="2462213" cy="1887537"/>
            <a:chOff x="241" y="1229"/>
            <a:chExt cx="2391" cy="1834"/>
          </a:xfrm>
        </p:grpSpPr>
        <p:sp>
          <p:nvSpPr>
            <p:cNvPr id="37917" name="Freeform 138"/>
            <p:cNvSpPr>
              <a:spLocks noChangeAspect="1"/>
            </p:cNvSpPr>
            <p:nvPr/>
          </p:nvSpPr>
          <p:spPr bwMode="auto">
            <a:xfrm>
              <a:off x="241" y="1229"/>
              <a:ext cx="2391" cy="1611"/>
            </a:xfrm>
            <a:custGeom>
              <a:avLst/>
              <a:gdLst>
                <a:gd name="T0" fmla="*/ 1385 w 2391"/>
                <a:gd name="T1" fmla="*/ 24 h 1611"/>
                <a:gd name="T2" fmla="*/ 1582 w 2391"/>
                <a:gd name="T3" fmla="*/ 69 h 1611"/>
                <a:gd name="T4" fmla="*/ 1768 w 2391"/>
                <a:gd name="T5" fmla="*/ 136 h 1611"/>
                <a:gd name="T6" fmla="*/ 1936 w 2391"/>
                <a:gd name="T7" fmla="*/ 221 h 1611"/>
                <a:gd name="T8" fmla="*/ 2083 w 2391"/>
                <a:gd name="T9" fmla="*/ 322 h 1611"/>
                <a:gd name="T10" fmla="*/ 2207 w 2391"/>
                <a:gd name="T11" fmla="*/ 439 h 1611"/>
                <a:gd name="T12" fmla="*/ 2300 w 2391"/>
                <a:gd name="T13" fmla="*/ 566 h 1611"/>
                <a:gd name="T14" fmla="*/ 2360 w 2391"/>
                <a:gd name="T15" fmla="*/ 698 h 1611"/>
                <a:gd name="T16" fmla="*/ 2388 w 2391"/>
                <a:gd name="T17" fmla="*/ 836 h 1611"/>
                <a:gd name="T18" fmla="*/ 2382 w 2391"/>
                <a:gd name="T19" fmla="*/ 970 h 1611"/>
                <a:gd name="T20" fmla="*/ 2343 w 2391"/>
                <a:gd name="T21" fmla="*/ 1102 h 1611"/>
                <a:gd name="T22" fmla="*/ 2270 w 2391"/>
                <a:gd name="T23" fmla="*/ 1225 h 1611"/>
                <a:gd name="T24" fmla="*/ 2166 w 2391"/>
                <a:gd name="T25" fmla="*/ 1335 h 1611"/>
                <a:gd name="T26" fmla="*/ 2032 w 2391"/>
                <a:gd name="T27" fmla="*/ 1430 h 1611"/>
                <a:gd name="T28" fmla="*/ 1876 w 2391"/>
                <a:gd name="T29" fmla="*/ 1508 h 1611"/>
                <a:gd name="T30" fmla="*/ 1701 w 2391"/>
                <a:gd name="T31" fmla="*/ 1564 h 1611"/>
                <a:gd name="T32" fmla="*/ 1510 w 2391"/>
                <a:gd name="T33" fmla="*/ 1598 h 1611"/>
                <a:gd name="T34" fmla="*/ 1311 w 2391"/>
                <a:gd name="T35" fmla="*/ 1611 h 1611"/>
                <a:gd name="T36" fmla="*/ 1108 w 2391"/>
                <a:gd name="T37" fmla="*/ 1600 h 1611"/>
                <a:gd name="T38" fmla="*/ 907 w 2391"/>
                <a:gd name="T39" fmla="*/ 1568 h 1611"/>
                <a:gd name="T40" fmla="*/ 716 w 2391"/>
                <a:gd name="T41" fmla="*/ 1512 h 1611"/>
                <a:gd name="T42" fmla="*/ 537 w 2391"/>
                <a:gd name="T43" fmla="*/ 1436 h 1611"/>
                <a:gd name="T44" fmla="*/ 379 w 2391"/>
                <a:gd name="T45" fmla="*/ 1341 h 1611"/>
                <a:gd name="T46" fmla="*/ 243 w 2391"/>
                <a:gd name="T47" fmla="*/ 1233 h 1611"/>
                <a:gd name="T48" fmla="*/ 134 w 2391"/>
                <a:gd name="T49" fmla="*/ 1110 h 1611"/>
                <a:gd name="T50" fmla="*/ 57 w 2391"/>
                <a:gd name="T51" fmla="*/ 981 h 1611"/>
                <a:gd name="T52" fmla="*/ 11 w 2391"/>
                <a:gd name="T53" fmla="*/ 845 h 1611"/>
                <a:gd name="T54" fmla="*/ 0 w 2391"/>
                <a:gd name="T55" fmla="*/ 709 h 1611"/>
                <a:gd name="T56" fmla="*/ 24 w 2391"/>
                <a:gd name="T57" fmla="*/ 575 h 1611"/>
                <a:gd name="T58" fmla="*/ 83 w 2391"/>
                <a:gd name="T59" fmla="*/ 447 h 1611"/>
                <a:gd name="T60" fmla="*/ 171 w 2391"/>
                <a:gd name="T61" fmla="*/ 331 h 1611"/>
                <a:gd name="T62" fmla="*/ 290 w 2391"/>
                <a:gd name="T63" fmla="*/ 227 h 1611"/>
                <a:gd name="T64" fmla="*/ 435 w 2391"/>
                <a:gd name="T65" fmla="*/ 141 h 1611"/>
                <a:gd name="T66" fmla="*/ 602 w 2391"/>
                <a:gd name="T67" fmla="*/ 74 h 1611"/>
                <a:gd name="T68" fmla="*/ 786 w 2391"/>
                <a:gd name="T69" fmla="*/ 28 h 1611"/>
                <a:gd name="T70" fmla="*/ 980 w 2391"/>
                <a:gd name="T71" fmla="*/ 3 h 1611"/>
                <a:gd name="T72" fmla="*/ 1181 w 2391"/>
                <a:gd name="T73" fmla="*/ 3 h 16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91"/>
                <a:gd name="T112" fmla="*/ 0 h 1611"/>
                <a:gd name="T113" fmla="*/ 2391 w 2391"/>
                <a:gd name="T114" fmla="*/ 1611 h 16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91" h="1611">
                  <a:moveTo>
                    <a:pt x="1283" y="11"/>
                  </a:moveTo>
                  <a:lnTo>
                    <a:pt x="1385" y="24"/>
                  </a:lnTo>
                  <a:lnTo>
                    <a:pt x="1484" y="46"/>
                  </a:lnTo>
                  <a:lnTo>
                    <a:pt x="1582" y="69"/>
                  </a:lnTo>
                  <a:lnTo>
                    <a:pt x="1675" y="100"/>
                  </a:lnTo>
                  <a:lnTo>
                    <a:pt x="1768" y="136"/>
                  </a:lnTo>
                  <a:lnTo>
                    <a:pt x="1854" y="175"/>
                  </a:lnTo>
                  <a:lnTo>
                    <a:pt x="1936" y="221"/>
                  </a:lnTo>
                  <a:lnTo>
                    <a:pt x="2012" y="270"/>
                  </a:lnTo>
                  <a:lnTo>
                    <a:pt x="2083" y="322"/>
                  </a:lnTo>
                  <a:lnTo>
                    <a:pt x="2148" y="380"/>
                  </a:lnTo>
                  <a:lnTo>
                    <a:pt x="2207" y="439"/>
                  </a:lnTo>
                  <a:lnTo>
                    <a:pt x="2257" y="501"/>
                  </a:lnTo>
                  <a:lnTo>
                    <a:pt x="2300" y="566"/>
                  </a:lnTo>
                  <a:lnTo>
                    <a:pt x="2334" y="631"/>
                  </a:lnTo>
                  <a:lnTo>
                    <a:pt x="2360" y="698"/>
                  </a:lnTo>
                  <a:lnTo>
                    <a:pt x="2380" y="767"/>
                  </a:lnTo>
                  <a:lnTo>
                    <a:pt x="2388" y="836"/>
                  </a:lnTo>
                  <a:lnTo>
                    <a:pt x="2391" y="903"/>
                  </a:lnTo>
                  <a:lnTo>
                    <a:pt x="2382" y="970"/>
                  </a:lnTo>
                  <a:lnTo>
                    <a:pt x="2367" y="1037"/>
                  </a:lnTo>
                  <a:lnTo>
                    <a:pt x="2343" y="1102"/>
                  </a:lnTo>
                  <a:lnTo>
                    <a:pt x="2311" y="1164"/>
                  </a:lnTo>
                  <a:lnTo>
                    <a:pt x="2270" y="1225"/>
                  </a:lnTo>
                  <a:lnTo>
                    <a:pt x="2220" y="1281"/>
                  </a:lnTo>
                  <a:lnTo>
                    <a:pt x="2166" y="1335"/>
                  </a:lnTo>
                  <a:lnTo>
                    <a:pt x="2101" y="1384"/>
                  </a:lnTo>
                  <a:lnTo>
                    <a:pt x="2032" y="1430"/>
                  </a:lnTo>
                  <a:lnTo>
                    <a:pt x="1958" y="1471"/>
                  </a:lnTo>
                  <a:lnTo>
                    <a:pt x="1876" y="1508"/>
                  </a:lnTo>
                  <a:lnTo>
                    <a:pt x="1789" y="1538"/>
                  </a:lnTo>
                  <a:lnTo>
                    <a:pt x="1701" y="1564"/>
                  </a:lnTo>
                  <a:lnTo>
                    <a:pt x="1608" y="1585"/>
                  </a:lnTo>
                  <a:lnTo>
                    <a:pt x="1510" y="1598"/>
                  </a:lnTo>
                  <a:lnTo>
                    <a:pt x="1411" y="1609"/>
                  </a:lnTo>
                  <a:lnTo>
                    <a:pt x="1311" y="1611"/>
                  </a:lnTo>
                  <a:lnTo>
                    <a:pt x="1210" y="1609"/>
                  </a:lnTo>
                  <a:lnTo>
                    <a:pt x="1108" y="1600"/>
                  </a:lnTo>
                  <a:lnTo>
                    <a:pt x="1006" y="1587"/>
                  </a:lnTo>
                  <a:lnTo>
                    <a:pt x="907" y="1568"/>
                  </a:lnTo>
                  <a:lnTo>
                    <a:pt x="809" y="1542"/>
                  </a:lnTo>
                  <a:lnTo>
                    <a:pt x="716" y="1512"/>
                  </a:lnTo>
                  <a:lnTo>
                    <a:pt x="626" y="1475"/>
                  </a:lnTo>
                  <a:lnTo>
                    <a:pt x="537" y="1436"/>
                  </a:lnTo>
                  <a:lnTo>
                    <a:pt x="455" y="1391"/>
                  </a:lnTo>
                  <a:lnTo>
                    <a:pt x="379" y="1341"/>
                  </a:lnTo>
                  <a:lnTo>
                    <a:pt x="308" y="1289"/>
                  </a:lnTo>
                  <a:lnTo>
                    <a:pt x="243" y="1233"/>
                  </a:lnTo>
                  <a:lnTo>
                    <a:pt x="184" y="1173"/>
                  </a:lnTo>
                  <a:lnTo>
                    <a:pt x="134" y="1110"/>
                  </a:lnTo>
                  <a:lnTo>
                    <a:pt x="91" y="1045"/>
                  </a:lnTo>
                  <a:lnTo>
                    <a:pt x="57" y="981"/>
                  </a:lnTo>
                  <a:lnTo>
                    <a:pt x="31" y="914"/>
                  </a:lnTo>
                  <a:lnTo>
                    <a:pt x="11" y="845"/>
                  </a:lnTo>
                  <a:lnTo>
                    <a:pt x="3" y="776"/>
                  </a:lnTo>
                  <a:lnTo>
                    <a:pt x="0" y="709"/>
                  </a:lnTo>
                  <a:lnTo>
                    <a:pt x="9" y="642"/>
                  </a:lnTo>
                  <a:lnTo>
                    <a:pt x="24" y="575"/>
                  </a:lnTo>
                  <a:lnTo>
                    <a:pt x="48" y="510"/>
                  </a:lnTo>
                  <a:lnTo>
                    <a:pt x="83" y="447"/>
                  </a:lnTo>
                  <a:lnTo>
                    <a:pt x="121" y="387"/>
                  </a:lnTo>
                  <a:lnTo>
                    <a:pt x="171" y="331"/>
                  </a:lnTo>
                  <a:lnTo>
                    <a:pt x="227" y="277"/>
                  </a:lnTo>
                  <a:lnTo>
                    <a:pt x="290" y="227"/>
                  </a:lnTo>
                  <a:lnTo>
                    <a:pt x="359" y="182"/>
                  </a:lnTo>
                  <a:lnTo>
                    <a:pt x="435" y="141"/>
                  </a:lnTo>
                  <a:lnTo>
                    <a:pt x="515" y="104"/>
                  </a:lnTo>
                  <a:lnTo>
                    <a:pt x="602" y="74"/>
                  </a:lnTo>
                  <a:lnTo>
                    <a:pt x="690" y="48"/>
                  </a:lnTo>
                  <a:lnTo>
                    <a:pt x="786" y="28"/>
                  </a:lnTo>
                  <a:lnTo>
                    <a:pt x="881" y="13"/>
                  </a:lnTo>
                  <a:lnTo>
                    <a:pt x="980" y="3"/>
                  </a:lnTo>
                  <a:lnTo>
                    <a:pt x="1082" y="0"/>
                  </a:lnTo>
                  <a:lnTo>
                    <a:pt x="1181" y="3"/>
                  </a:lnTo>
                  <a:lnTo>
                    <a:pt x="1283" y="11"/>
                  </a:lnTo>
                </a:path>
              </a:pathLst>
            </a:custGeom>
            <a:noFill/>
            <a:ln w="3175">
              <a:solidFill>
                <a:srgbClr val="000000"/>
              </a:solidFill>
              <a:round/>
              <a:headEnd/>
              <a:tailEnd/>
            </a:ln>
          </p:spPr>
          <p:txBody>
            <a:bodyPr/>
            <a:lstStyle/>
            <a:p>
              <a:endParaRPr lang="en-US"/>
            </a:p>
          </p:txBody>
        </p:sp>
        <p:sp>
          <p:nvSpPr>
            <p:cNvPr id="37918" name="Rectangle 139"/>
            <p:cNvSpPr>
              <a:spLocks noChangeAspect="1" noChangeArrowheads="1"/>
            </p:cNvSpPr>
            <p:nvPr/>
          </p:nvSpPr>
          <p:spPr bwMode="auto">
            <a:xfrm>
              <a:off x="1238" y="2826"/>
              <a:ext cx="110" cy="237"/>
            </a:xfrm>
            <a:prstGeom prst="rect">
              <a:avLst/>
            </a:prstGeom>
            <a:noFill/>
            <a:ln w="9525">
              <a:noFill/>
              <a:miter lim="800000"/>
              <a:headEnd/>
              <a:tailEnd/>
            </a:ln>
          </p:spPr>
          <p:txBody>
            <a:bodyPr wrap="none" lIns="0" tIns="0" rIns="0" bIns="0">
              <a:spAutoFit/>
            </a:bodyPr>
            <a:lstStyle/>
            <a:p>
              <a:r>
                <a:rPr lang="en-US" sz="1600" b="1">
                  <a:solidFill>
                    <a:srgbClr val="FF0000"/>
                  </a:solidFill>
                </a:rPr>
                <a:t>4</a:t>
              </a:r>
              <a:endParaRPr lang="en-US"/>
            </a:p>
          </p:txBody>
        </p:sp>
      </p:grpSp>
      <p:grpSp>
        <p:nvGrpSpPr>
          <p:cNvPr id="20" name="Group 140"/>
          <p:cNvGrpSpPr>
            <a:grpSpLocks noChangeAspect="1"/>
          </p:cNvGrpSpPr>
          <p:nvPr/>
        </p:nvGrpSpPr>
        <p:grpSpPr bwMode="auto">
          <a:xfrm>
            <a:off x="723900" y="1597025"/>
            <a:ext cx="2595563" cy="2289175"/>
            <a:chOff x="194" y="975"/>
            <a:chExt cx="2522" cy="2224"/>
          </a:xfrm>
        </p:grpSpPr>
        <p:sp>
          <p:nvSpPr>
            <p:cNvPr id="37915" name="Rectangle 141"/>
            <p:cNvSpPr>
              <a:spLocks noChangeAspect="1" noChangeArrowheads="1"/>
            </p:cNvSpPr>
            <p:nvPr/>
          </p:nvSpPr>
          <p:spPr bwMode="auto">
            <a:xfrm>
              <a:off x="2138" y="975"/>
              <a:ext cx="109" cy="238"/>
            </a:xfrm>
            <a:prstGeom prst="rect">
              <a:avLst/>
            </a:prstGeom>
            <a:noFill/>
            <a:ln w="9525">
              <a:noFill/>
              <a:miter lim="800000"/>
              <a:headEnd/>
              <a:tailEnd/>
            </a:ln>
          </p:spPr>
          <p:txBody>
            <a:bodyPr wrap="none" lIns="0" tIns="0" rIns="0" bIns="0">
              <a:spAutoFit/>
            </a:bodyPr>
            <a:lstStyle/>
            <a:p>
              <a:r>
                <a:rPr lang="en-US" sz="1600" b="1">
                  <a:solidFill>
                    <a:srgbClr val="FF0000"/>
                  </a:solidFill>
                </a:rPr>
                <a:t>5</a:t>
              </a:r>
              <a:endParaRPr lang="en-US"/>
            </a:p>
          </p:txBody>
        </p:sp>
        <p:sp>
          <p:nvSpPr>
            <p:cNvPr id="37916" name="Freeform 142"/>
            <p:cNvSpPr>
              <a:spLocks noChangeAspect="1"/>
            </p:cNvSpPr>
            <p:nvPr/>
          </p:nvSpPr>
          <p:spPr bwMode="auto">
            <a:xfrm>
              <a:off x="194" y="988"/>
              <a:ext cx="2522" cy="2211"/>
            </a:xfrm>
            <a:custGeom>
              <a:avLst/>
              <a:gdLst>
                <a:gd name="T0" fmla="*/ 1363 w 2522"/>
                <a:gd name="T1" fmla="*/ 4 h 2211"/>
                <a:gd name="T2" fmla="*/ 1568 w 2522"/>
                <a:gd name="T3" fmla="*/ 34 h 2211"/>
                <a:gd name="T4" fmla="*/ 1765 w 2522"/>
                <a:gd name="T5" fmla="*/ 92 h 2211"/>
                <a:gd name="T6" fmla="*/ 1949 w 2522"/>
                <a:gd name="T7" fmla="*/ 179 h 2211"/>
                <a:gd name="T8" fmla="*/ 2113 w 2522"/>
                <a:gd name="T9" fmla="*/ 291 h 2211"/>
                <a:gd name="T10" fmla="*/ 2254 w 2522"/>
                <a:gd name="T11" fmla="*/ 425 h 2211"/>
                <a:gd name="T12" fmla="*/ 2368 w 2522"/>
                <a:gd name="T13" fmla="*/ 578 h 2211"/>
                <a:gd name="T14" fmla="*/ 2453 w 2522"/>
                <a:gd name="T15" fmla="*/ 744 h 2211"/>
                <a:gd name="T16" fmla="*/ 2505 w 2522"/>
                <a:gd name="T17" fmla="*/ 922 h 2211"/>
                <a:gd name="T18" fmla="*/ 2522 w 2522"/>
                <a:gd name="T19" fmla="*/ 1103 h 2211"/>
                <a:gd name="T20" fmla="*/ 2505 w 2522"/>
                <a:gd name="T21" fmla="*/ 1284 h 2211"/>
                <a:gd name="T22" fmla="*/ 2453 w 2522"/>
                <a:gd name="T23" fmla="*/ 1461 h 2211"/>
                <a:gd name="T24" fmla="*/ 2371 w 2522"/>
                <a:gd name="T25" fmla="*/ 1630 h 2211"/>
                <a:gd name="T26" fmla="*/ 2256 w 2522"/>
                <a:gd name="T27" fmla="*/ 1783 h 2211"/>
                <a:gd name="T28" fmla="*/ 2115 w 2522"/>
                <a:gd name="T29" fmla="*/ 1917 h 2211"/>
                <a:gd name="T30" fmla="*/ 1951 w 2522"/>
                <a:gd name="T31" fmla="*/ 2029 h 2211"/>
                <a:gd name="T32" fmla="*/ 1769 w 2522"/>
                <a:gd name="T33" fmla="*/ 2118 h 2211"/>
                <a:gd name="T34" fmla="*/ 1572 w 2522"/>
                <a:gd name="T35" fmla="*/ 2176 h 2211"/>
                <a:gd name="T36" fmla="*/ 1367 w 2522"/>
                <a:gd name="T37" fmla="*/ 2206 h 2211"/>
                <a:gd name="T38" fmla="*/ 1159 w 2522"/>
                <a:gd name="T39" fmla="*/ 2206 h 2211"/>
                <a:gd name="T40" fmla="*/ 954 w 2522"/>
                <a:gd name="T41" fmla="*/ 2178 h 2211"/>
                <a:gd name="T42" fmla="*/ 755 w 2522"/>
                <a:gd name="T43" fmla="*/ 2118 h 2211"/>
                <a:gd name="T44" fmla="*/ 573 w 2522"/>
                <a:gd name="T45" fmla="*/ 2031 h 2211"/>
                <a:gd name="T46" fmla="*/ 409 w 2522"/>
                <a:gd name="T47" fmla="*/ 1919 h 2211"/>
                <a:gd name="T48" fmla="*/ 266 w 2522"/>
                <a:gd name="T49" fmla="*/ 1785 h 2211"/>
                <a:gd name="T50" fmla="*/ 151 w 2522"/>
                <a:gd name="T51" fmla="*/ 1634 h 2211"/>
                <a:gd name="T52" fmla="*/ 69 w 2522"/>
                <a:gd name="T53" fmla="*/ 1466 h 2211"/>
                <a:gd name="T54" fmla="*/ 17 w 2522"/>
                <a:gd name="T55" fmla="*/ 1289 h 2211"/>
                <a:gd name="T56" fmla="*/ 0 w 2522"/>
                <a:gd name="T57" fmla="*/ 1107 h 2211"/>
                <a:gd name="T58" fmla="*/ 17 w 2522"/>
                <a:gd name="T59" fmla="*/ 926 h 2211"/>
                <a:gd name="T60" fmla="*/ 67 w 2522"/>
                <a:gd name="T61" fmla="*/ 749 h 2211"/>
                <a:gd name="T62" fmla="*/ 151 w 2522"/>
                <a:gd name="T63" fmla="*/ 580 h 2211"/>
                <a:gd name="T64" fmla="*/ 264 w 2522"/>
                <a:gd name="T65" fmla="*/ 429 h 2211"/>
                <a:gd name="T66" fmla="*/ 404 w 2522"/>
                <a:gd name="T67" fmla="*/ 293 h 2211"/>
                <a:gd name="T68" fmla="*/ 569 w 2522"/>
                <a:gd name="T69" fmla="*/ 181 h 2211"/>
                <a:gd name="T70" fmla="*/ 753 w 2522"/>
                <a:gd name="T71" fmla="*/ 95 h 2211"/>
                <a:gd name="T72" fmla="*/ 949 w 2522"/>
                <a:gd name="T73" fmla="*/ 34 h 2211"/>
                <a:gd name="T74" fmla="*/ 1155 w 2522"/>
                <a:gd name="T75" fmla="*/ 4 h 221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522"/>
                <a:gd name="T115" fmla="*/ 0 h 2211"/>
                <a:gd name="T116" fmla="*/ 2522 w 2522"/>
                <a:gd name="T117" fmla="*/ 2211 h 221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522" h="2211">
                  <a:moveTo>
                    <a:pt x="1259" y="0"/>
                  </a:moveTo>
                  <a:lnTo>
                    <a:pt x="1363" y="4"/>
                  </a:lnTo>
                  <a:lnTo>
                    <a:pt x="1466" y="15"/>
                  </a:lnTo>
                  <a:lnTo>
                    <a:pt x="1568" y="34"/>
                  </a:lnTo>
                  <a:lnTo>
                    <a:pt x="1668" y="60"/>
                  </a:lnTo>
                  <a:lnTo>
                    <a:pt x="1765" y="92"/>
                  </a:lnTo>
                  <a:lnTo>
                    <a:pt x="1858" y="131"/>
                  </a:lnTo>
                  <a:lnTo>
                    <a:pt x="1949" y="179"/>
                  </a:lnTo>
                  <a:lnTo>
                    <a:pt x="2033" y="233"/>
                  </a:lnTo>
                  <a:lnTo>
                    <a:pt x="2113" y="291"/>
                  </a:lnTo>
                  <a:lnTo>
                    <a:pt x="2187" y="356"/>
                  </a:lnTo>
                  <a:lnTo>
                    <a:pt x="2254" y="425"/>
                  </a:lnTo>
                  <a:lnTo>
                    <a:pt x="2314" y="498"/>
                  </a:lnTo>
                  <a:lnTo>
                    <a:pt x="2368" y="578"/>
                  </a:lnTo>
                  <a:lnTo>
                    <a:pt x="2414" y="660"/>
                  </a:lnTo>
                  <a:lnTo>
                    <a:pt x="2453" y="744"/>
                  </a:lnTo>
                  <a:lnTo>
                    <a:pt x="2483" y="831"/>
                  </a:lnTo>
                  <a:lnTo>
                    <a:pt x="2505" y="922"/>
                  </a:lnTo>
                  <a:lnTo>
                    <a:pt x="2518" y="1012"/>
                  </a:lnTo>
                  <a:lnTo>
                    <a:pt x="2522" y="1103"/>
                  </a:lnTo>
                  <a:lnTo>
                    <a:pt x="2518" y="1194"/>
                  </a:lnTo>
                  <a:lnTo>
                    <a:pt x="2505" y="1284"/>
                  </a:lnTo>
                  <a:lnTo>
                    <a:pt x="2483" y="1375"/>
                  </a:lnTo>
                  <a:lnTo>
                    <a:pt x="2453" y="1461"/>
                  </a:lnTo>
                  <a:lnTo>
                    <a:pt x="2416" y="1548"/>
                  </a:lnTo>
                  <a:lnTo>
                    <a:pt x="2371" y="1630"/>
                  </a:lnTo>
                  <a:lnTo>
                    <a:pt x="2317" y="1707"/>
                  </a:lnTo>
                  <a:lnTo>
                    <a:pt x="2256" y="1783"/>
                  </a:lnTo>
                  <a:lnTo>
                    <a:pt x="2189" y="1852"/>
                  </a:lnTo>
                  <a:lnTo>
                    <a:pt x="2115" y="1917"/>
                  </a:lnTo>
                  <a:lnTo>
                    <a:pt x="2037" y="1975"/>
                  </a:lnTo>
                  <a:lnTo>
                    <a:pt x="1951" y="2029"/>
                  </a:lnTo>
                  <a:lnTo>
                    <a:pt x="1862" y="2077"/>
                  </a:lnTo>
                  <a:lnTo>
                    <a:pt x="1769" y="2118"/>
                  </a:lnTo>
                  <a:lnTo>
                    <a:pt x="1672" y="2150"/>
                  </a:lnTo>
                  <a:lnTo>
                    <a:pt x="1572" y="2176"/>
                  </a:lnTo>
                  <a:lnTo>
                    <a:pt x="1471" y="2195"/>
                  </a:lnTo>
                  <a:lnTo>
                    <a:pt x="1367" y="2206"/>
                  </a:lnTo>
                  <a:lnTo>
                    <a:pt x="1263" y="2211"/>
                  </a:lnTo>
                  <a:lnTo>
                    <a:pt x="1159" y="2206"/>
                  </a:lnTo>
                  <a:lnTo>
                    <a:pt x="1055" y="2195"/>
                  </a:lnTo>
                  <a:lnTo>
                    <a:pt x="954" y="2178"/>
                  </a:lnTo>
                  <a:lnTo>
                    <a:pt x="852" y="2152"/>
                  </a:lnTo>
                  <a:lnTo>
                    <a:pt x="755" y="2118"/>
                  </a:lnTo>
                  <a:lnTo>
                    <a:pt x="662" y="2079"/>
                  </a:lnTo>
                  <a:lnTo>
                    <a:pt x="573" y="2031"/>
                  </a:lnTo>
                  <a:lnTo>
                    <a:pt x="486" y="1980"/>
                  </a:lnTo>
                  <a:lnTo>
                    <a:pt x="409" y="1919"/>
                  </a:lnTo>
                  <a:lnTo>
                    <a:pt x="333" y="1856"/>
                  </a:lnTo>
                  <a:lnTo>
                    <a:pt x="266" y="1785"/>
                  </a:lnTo>
                  <a:lnTo>
                    <a:pt x="205" y="1712"/>
                  </a:lnTo>
                  <a:lnTo>
                    <a:pt x="151" y="1634"/>
                  </a:lnTo>
                  <a:lnTo>
                    <a:pt x="106" y="1552"/>
                  </a:lnTo>
                  <a:lnTo>
                    <a:pt x="69" y="1466"/>
                  </a:lnTo>
                  <a:lnTo>
                    <a:pt x="39" y="1379"/>
                  </a:lnTo>
                  <a:lnTo>
                    <a:pt x="17" y="1289"/>
                  </a:lnTo>
                  <a:lnTo>
                    <a:pt x="4" y="1198"/>
                  </a:lnTo>
                  <a:lnTo>
                    <a:pt x="0" y="1107"/>
                  </a:lnTo>
                  <a:lnTo>
                    <a:pt x="4" y="1017"/>
                  </a:lnTo>
                  <a:lnTo>
                    <a:pt x="17" y="926"/>
                  </a:lnTo>
                  <a:lnTo>
                    <a:pt x="37" y="835"/>
                  </a:lnTo>
                  <a:lnTo>
                    <a:pt x="67" y="749"/>
                  </a:lnTo>
                  <a:lnTo>
                    <a:pt x="106" y="662"/>
                  </a:lnTo>
                  <a:lnTo>
                    <a:pt x="151" y="580"/>
                  </a:lnTo>
                  <a:lnTo>
                    <a:pt x="203" y="503"/>
                  </a:lnTo>
                  <a:lnTo>
                    <a:pt x="264" y="429"/>
                  </a:lnTo>
                  <a:lnTo>
                    <a:pt x="331" y="358"/>
                  </a:lnTo>
                  <a:lnTo>
                    <a:pt x="404" y="293"/>
                  </a:lnTo>
                  <a:lnTo>
                    <a:pt x="484" y="235"/>
                  </a:lnTo>
                  <a:lnTo>
                    <a:pt x="569" y="181"/>
                  </a:lnTo>
                  <a:lnTo>
                    <a:pt x="660" y="133"/>
                  </a:lnTo>
                  <a:lnTo>
                    <a:pt x="753" y="95"/>
                  </a:lnTo>
                  <a:lnTo>
                    <a:pt x="850" y="60"/>
                  </a:lnTo>
                  <a:lnTo>
                    <a:pt x="949" y="34"/>
                  </a:lnTo>
                  <a:lnTo>
                    <a:pt x="1051" y="15"/>
                  </a:lnTo>
                  <a:lnTo>
                    <a:pt x="1155" y="4"/>
                  </a:lnTo>
                  <a:lnTo>
                    <a:pt x="1259" y="0"/>
                  </a:lnTo>
                </a:path>
              </a:pathLst>
            </a:custGeom>
            <a:noFill/>
            <a:ln w="3175">
              <a:solidFill>
                <a:srgbClr val="000000"/>
              </a:solidFill>
              <a:round/>
              <a:headEnd/>
              <a:tailEnd/>
            </a:ln>
          </p:spPr>
          <p:txBody>
            <a:bodyPr/>
            <a:lstStyle/>
            <a:p>
              <a:endParaRPr lang="en-US"/>
            </a:p>
          </p:txBody>
        </p:sp>
      </p:grpSp>
    </p:spTree>
    <p:extLst>
      <p:ext uri="{BB962C8B-B14F-4D97-AF65-F5344CB8AC3E}">
        <p14:creationId xmlns:p14="http://schemas.microsoft.com/office/powerpoint/2010/main" val="3668345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963" y="304800"/>
            <a:ext cx="8229600" cy="1143000"/>
          </a:xfrm>
        </p:spPr>
        <p:txBody>
          <a:bodyPr>
            <a:normAutofit/>
          </a:bodyPr>
          <a:lstStyle/>
          <a:p>
            <a:pPr eaLnBrk="1" fontAlgn="auto" hangingPunct="1">
              <a:spcAft>
                <a:spcPts val="0"/>
              </a:spcAft>
              <a:defRPr/>
            </a:pPr>
            <a:r>
              <a:rPr lang="fr-FR" sz="4400" dirty="0">
                <a:latin typeface="+mn-lt"/>
              </a:rPr>
              <a:t>Agglomerative Clustering</a:t>
            </a:r>
            <a:endParaRPr lang="en-US" sz="4400" dirty="0">
              <a:latin typeface="+mn-lt"/>
            </a:endParaRPr>
          </a:p>
        </p:txBody>
      </p:sp>
      <p:sp>
        <p:nvSpPr>
          <p:cNvPr id="38915" name="Content Placeholder 2"/>
          <p:cNvSpPr>
            <a:spLocks noGrp="1"/>
          </p:cNvSpPr>
          <p:nvPr>
            <p:ph sz="quarter" idx="1"/>
          </p:nvPr>
        </p:nvSpPr>
        <p:spPr>
          <a:xfrm>
            <a:off x="457200" y="1600200"/>
            <a:ext cx="7467600" cy="609600"/>
          </a:xfrm>
        </p:spPr>
        <p:txBody>
          <a:bodyPr/>
          <a:lstStyle/>
          <a:p>
            <a:pPr eaLnBrk="1" hangingPunct="1"/>
            <a:r>
              <a:rPr lang="en-US"/>
              <a:t>Where to cut the tree?</a:t>
            </a:r>
          </a:p>
        </p:txBody>
      </p:sp>
      <p:pic>
        <p:nvPicPr>
          <p:cNvPr id="38919" name="Picture 31"/>
          <p:cNvPicPr>
            <a:picLocks noChangeAspect="1" noChangeArrowheads="1"/>
          </p:cNvPicPr>
          <p:nvPr/>
        </p:nvPicPr>
        <p:blipFill>
          <a:blip r:embed="rId2"/>
          <a:srcRect/>
          <a:stretch>
            <a:fillRect/>
          </a:stretch>
        </p:blipFill>
        <p:spPr bwMode="auto">
          <a:xfrm>
            <a:off x="461963" y="2360613"/>
            <a:ext cx="3219450" cy="2549525"/>
          </a:xfrm>
          <a:prstGeom prst="rect">
            <a:avLst/>
          </a:prstGeom>
          <a:noFill/>
          <a:ln w="9525">
            <a:noFill/>
            <a:miter lim="800000"/>
            <a:headEnd/>
            <a:tailEnd/>
          </a:ln>
        </p:spPr>
      </p:pic>
      <p:pic>
        <p:nvPicPr>
          <p:cNvPr id="38920" name="Picture 33"/>
          <p:cNvPicPr>
            <a:picLocks noChangeAspect="1" noChangeArrowheads="1"/>
          </p:cNvPicPr>
          <p:nvPr/>
        </p:nvPicPr>
        <p:blipFill>
          <a:blip r:embed="rId3"/>
          <a:srcRect/>
          <a:stretch>
            <a:fillRect/>
          </a:stretch>
        </p:blipFill>
        <p:spPr bwMode="auto">
          <a:xfrm>
            <a:off x="4600575" y="2374900"/>
            <a:ext cx="3324225" cy="2520950"/>
          </a:xfrm>
          <a:prstGeom prst="rect">
            <a:avLst/>
          </a:prstGeom>
          <a:noFill/>
          <a:ln w="9525">
            <a:noFill/>
            <a:miter lim="800000"/>
            <a:headEnd/>
            <a:tailEnd/>
          </a:ln>
        </p:spPr>
      </p:pic>
      <p:sp>
        <p:nvSpPr>
          <p:cNvPr id="38921" name="Text Box 36"/>
          <p:cNvSpPr txBox="1">
            <a:spLocks noChangeArrowheads="1"/>
          </p:cNvSpPr>
          <p:nvPr/>
        </p:nvSpPr>
        <p:spPr bwMode="auto">
          <a:xfrm>
            <a:off x="738188" y="4953000"/>
            <a:ext cx="2362200" cy="457200"/>
          </a:xfrm>
          <a:prstGeom prst="rect">
            <a:avLst/>
          </a:prstGeom>
          <a:noFill/>
          <a:ln w="9525">
            <a:noFill/>
            <a:miter lim="800000"/>
            <a:headEnd/>
            <a:tailEnd/>
          </a:ln>
        </p:spPr>
        <p:txBody>
          <a:bodyPr>
            <a:spAutoFit/>
          </a:bodyPr>
          <a:lstStyle/>
          <a:p>
            <a:pPr>
              <a:spcBef>
                <a:spcPct val="50000"/>
              </a:spcBef>
            </a:pPr>
            <a:r>
              <a:rPr lang="en-GB" sz="2400"/>
              <a:t>3-cluster model</a:t>
            </a:r>
            <a:endParaRPr lang="en-US" sz="2400"/>
          </a:p>
        </p:txBody>
      </p:sp>
      <p:sp>
        <p:nvSpPr>
          <p:cNvPr id="38922" name="Text Box 37"/>
          <p:cNvSpPr txBox="1">
            <a:spLocks noChangeArrowheads="1"/>
          </p:cNvSpPr>
          <p:nvPr/>
        </p:nvSpPr>
        <p:spPr bwMode="auto">
          <a:xfrm>
            <a:off x="4929188" y="4953000"/>
            <a:ext cx="2362200" cy="457200"/>
          </a:xfrm>
          <a:prstGeom prst="rect">
            <a:avLst/>
          </a:prstGeom>
          <a:noFill/>
          <a:ln w="9525">
            <a:noFill/>
            <a:miter lim="800000"/>
            <a:headEnd/>
            <a:tailEnd/>
          </a:ln>
        </p:spPr>
        <p:txBody>
          <a:bodyPr>
            <a:spAutoFit/>
          </a:bodyPr>
          <a:lstStyle/>
          <a:p>
            <a:pPr>
              <a:spcBef>
                <a:spcPct val="50000"/>
              </a:spcBef>
            </a:pPr>
            <a:r>
              <a:rPr lang="en-GB" sz="2400"/>
              <a:t>2-cluster model</a:t>
            </a:r>
            <a:endParaRPr lang="en-US" sz="2400"/>
          </a:p>
        </p:txBody>
      </p:sp>
    </p:spTree>
    <p:extLst>
      <p:ext uri="{BB962C8B-B14F-4D97-AF65-F5344CB8AC3E}">
        <p14:creationId xmlns:p14="http://schemas.microsoft.com/office/powerpoint/2010/main" val="3360984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pPr fontAlgn="auto">
              <a:spcAft>
                <a:spcPts val="0"/>
              </a:spcAft>
              <a:defRPr/>
            </a:pPr>
            <a:r>
              <a:rPr lang="en-US" sz="4400" dirty="0">
                <a:latin typeface="+mn-lt"/>
              </a:rPr>
              <a:t>Density-based Clustering</a:t>
            </a:r>
          </a:p>
        </p:txBody>
      </p:sp>
      <p:sp>
        <p:nvSpPr>
          <p:cNvPr id="25603" name="Content Placeholder 2"/>
          <p:cNvSpPr>
            <a:spLocks noGrp="1"/>
          </p:cNvSpPr>
          <p:nvPr>
            <p:ph sz="quarter" idx="1"/>
          </p:nvPr>
        </p:nvSpPr>
        <p:spPr>
          <a:xfrm>
            <a:off x="457200" y="1600200"/>
            <a:ext cx="7620000" cy="4873625"/>
          </a:xfrm>
        </p:spPr>
        <p:txBody>
          <a:bodyPr>
            <a:normAutofit fontScale="92500" lnSpcReduction="10000"/>
          </a:bodyPr>
          <a:lstStyle/>
          <a:p>
            <a:pPr>
              <a:lnSpc>
                <a:spcPct val="150000"/>
              </a:lnSpc>
            </a:pPr>
            <a:r>
              <a:rPr lang="en-US" dirty="0"/>
              <a:t>Basic idea:</a:t>
            </a:r>
          </a:p>
          <a:p>
            <a:pPr lvl="1">
              <a:lnSpc>
                <a:spcPct val="150000"/>
              </a:lnSpc>
              <a:buFont typeface="Wingdings" panose="05000000000000000000" pitchFamily="2" charset="2"/>
              <a:buChar char="ü"/>
            </a:pPr>
            <a:r>
              <a:rPr lang="en-US" dirty="0"/>
              <a:t>Clusters are dense regions in the data space, separated by regions of lower object density </a:t>
            </a:r>
          </a:p>
          <a:p>
            <a:pPr lvl="1">
              <a:lnSpc>
                <a:spcPct val="150000"/>
              </a:lnSpc>
              <a:buFont typeface="Wingdings" panose="05000000000000000000" pitchFamily="2" charset="2"/>
              <a:buChar char="ü"/>
            </a:pPr>
            <a:r>
              <a:rPr lang="en-US" dirty="0"/>
              <a:t>A cluster is defined as a maximal set of density connected points </a:t>
            </a:r>
          </a:p>
          <a:p>
            <a:pPr lvl="1">
              <a:lnSpc>
                <a:spcPct val="150000"/>
              </a:lnSpc>
              <a:buFont typeface="Wingdings" panose="05000000000000000000" pitchFamily="2" charset="2"/>
              <a:buChar char="ü"/>
            </a:pPr>
            <a:r>
              <a:rPr lang="en-US" dirty="0"/>
              <a:t>Discovers clusters of arbitrary shape </a:t>
            </a:r>
          </a:p>
          <a:p>
            <a:pPr lvl="1">
              <a:lnSpc>
                <a:spcPct val="150000"/>
              </a:lnSpc>
              <a:buFont typeface="Wingdings" panose="05000000000000000000" pitchFamily="2" charset="2"/>
              <a:buChar char="ü"/>
            </a:pPr>
            <a:r>
              <a:rPr lang="en-US" dirty="0"/>
              <a:t>DBSCAN is a clustering method that is used in machine learning </a:t>
            </a:r>
            <a:r>
              <a:rPr lang="en-US" b="1" dirty="0"/>
              <a:t>to separate clusters of high density from clusters of low density</a:t>
            </a:r>
            <a:r>
              <a:rPr lang="en-US" dirty="0"/>
              <a:t>.</a:t>
            </a:r>
          </a:p>
        </p:txBody>
      </p:sp>
    </p:spTree>
    <p:extLst>
      <p:ext uri="{BB962C8B-B14F-4D97-AF65-F5344CB8AC3E}">
        <p14:creationId xmlns:p14="http://schemas.microsoft.com/office/powerpoint/2010/main" val="1800150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pPr fontAlgn="auto">
              <a:spcAft>
                <a:spcPts val="0"/>
              </a:spcAft>
              <a:defRPr/>
            </a:pPr>
            <a:r>
              <a:rPr lang="en-US" sz="4400" dirty="0">
                <a:latin typeface="+mn-lt"/>
              </a:rPr>
              <a:t>Density-based Clustering</a:t>
            </a:r>
          </a:p>
        </p:txBody>
      </p:sp>
      <p:sp>
        <p:nvSpPr>
          <p:cNvPr id="25603" name="Content Placeholder 2"/>
          <p:cNvSpPr>
            <a:spLocks noGrp="1"/>
          </p:cNvSpPr>
          <p:nvPr>
            <p:ph sz="quarter" idx="1"/>
          </p:nvPr>
        </p:nvSpPr>
        <p:spPr>
          <a:xfrm>
            <a:off x="457200" y="1600200"/>
            <a:ext cx="7620000" cy="4873625"/>
          </a:xfrm>
        </p:spPr>
        <p:txBody>
          <a:bodyPr>
            <a:normAutofit lnSpcReduction="10000"/>
          </a:bodyPr>
          <a:lstStyle/>
          <a:p>
            <a:pPr>
              <a:lnSpc>
                <a:spcPct val="150000"/>
              </a:lnSpc>
            </a:pPr>
            <a:r>
              <a:rPr lang="en-US" dirty="0"/>
              <a:t>Basic idea:</a:t>
            </a:r>
          </a:p>
          <a:p>
            <a:pPr lvl="1">
              <a:lnSpc>
                <a:spcPct val="150000"/>
              </a:lnSpc>
              <a:buFont typeface="Wingdings" panose="05000000000000000000" pitchFamily="2" charset="2"/>
              <a:buChar char="ü"/>
            </a:pPr>
            <a:r>
              <a:rPr lang="en-US" dirty="0"/>
              <a:t>Clusters are dense regions in the data space, separated by regions of lower object density </a:t>
            </a:r>
          </a:p>
          <a:p>
            <a:pPr lvl="1">
              <a:lnSpc>
                <a:spcPct val="150000"/>
              </a:lnSpc>
              <a:buFont typeface="Wingdings" panose="05000000000000000000" pitchFamily="2" charset="2"/>
              <a:buChar char="ü"/>
            </a:pPr>
            <a:r>
              <a:rPr lang="en-US" dirty="0"/>
              <a:t>A cluster is defined as a maximal set of density connected points </a:t>
            </a:r>
          </a:p>
          <a:p>
            <a:pPr lvl="1">
              <a:lnSpc>
                <a:spcPct val="150000"/>
              </a:lnSpc>
              <a:buFont typeface="Wingdings" panose="05000000000000000000" pitchFamily="2" charset="2"/>
              <a:buChar char="ü"/>
            </a:pPr>
            <a:r>
              <a:rPr lang="en-US" dirty="0"/>
              <a:t>Discovers clusters of arbitrary shape </a:t>
            </a:r>
          </a:p>
          <a:p>
            <a:pPr>
              <a:lnSpc>
                <a:spcPct val="150000"/>
              </a:lnSpc>
            </a:pPr>
            <a:r>
              <a:rPr lang="en-US" dirty="0"/>
              <a:t>Method </a:t>
            </a:r>
          </a:p>
          <a:p>
            <a:pPr lvl="1">
              <a:lnSpc>
                <a:spcPct val="150000"/>
              </a:lnSpc>
              <a:buFont typeface="Wingdings" panose="05000000000000000000" pitchFamily="2" charset="2"/>
              <a:buChar char="ü"/>
            </a:pPr>
            <a:r>
              <a:rPr lang="en-US" dirty="0"/>
              <a:t>– DBSCAN</a:t>
            </a:r>
          </a:p>
        </p:txBody>
      </p:sp>
      <p:pic>
        <p:nvPicPr>
          <p:cNvPr id="4" name="Picture 3">
            <a:extLst>
              <a:ext uri="{FF2B5EF4-FFF2-40B4-BE49-F238E27FC236}">
                <a16:creationId xmlns:a16="http://schemas.microsoft.com/office/drawing/2014/main" id="{94B3C124-1DC0-4714-829F-D3C269B26731}"/>
              </a:ext>
            </a:extLst>
          </p:cNvPr>
          <p:cNvPicPr>
            <a:picLocks noChangeAspect="1"/>
          </p:cNvPicPr>
          <p:nvPr/>
        </p:nvPicPr>
        <p:blipFill>
          <a:blip r:embed="rId2"/>
          <a:stretch>
            <a:fillRect/>
          </a:stretch>
        </p:blipFill>
        <p:spPr>
          <a:xfrm>
            <a:off x="4800600" y="4906962"/>
            <a:ext cx="2952750" cy="1676400"/>
          </a:xfrm>
          <a:prstGeom prst="rect">
            <a:avLst/>
          </a:prstGeom>
        </p:spPr>
      </p:pic>
    </p:spTree>
    <p:extLst>
      <p:ext uri="{BB962C8B-B14F-4D97-AF65-F5344CB8AC3E}">
        <p14:creationId xmlns:p14="http://schemas.microsoft.com/office/powerpoint/2010/main" val="3124767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normAutofit/>
          </a:bodyPr>
          <a:lstStyle/>
          <a:p>
            <a:r>
              <a:rPr lang="en-US" sz="4400" dirty="0">
                <a:latin typeface="+mn-lt"/>
              </a:rPr>
              <a:t>DBSCAN </a:t>
            </a:r>
            <a:endParaRPr lang="en-GB" sz="4400" dirty="0">
              <a:latin typeface="+mn-lt"/>
            </a:endParaRPr>
          </a:p>
        </p:txBody>
      </p:sp>
      <p:sp>
        <p:nvSpPr>
          <p:cNvPr id="3" name="Content Placeholder 2"/>
          <p:cNvSpPr>
            <a:spLocks noGrp="1"/>
          </p:cNvSpPr>
          <p:nvPr>
            <p:ph idx="1"/>
          </p:nvPr>
        </p:nvSpPr>
        <p:spPr>
          <a:xfrm>
            <a:off x="228600" y="1143000"/>
            <a:ext cx="8686800" cy="5562600"/>
          </a:xfrm>
        </p:spPr>
        <p:txBody>
          <a:bodyPr>
            <a:normAutofit/>
          </a:bodyPr>
          <a:lstStyle/>
          <a:p>
            <a:pPr algn="just">
              <a:lnSpc>
                <a:spcPct val="150000"/>
              </a:lnSpc>
            </a:pPr>
            <a:r>
              <a:rPr lang="en-US" sz="2000" dirty="0"/>
              <a:t>DBSCAN represents Density-Based Spatial Clustering of Applications with Noise</a:t>
            </a:r>
          </a:p>
          <a:p>
            <a:pPr algn="just">
              <a:lnSpc>
                <a:spcPct val="150000"/>
              </a:lnSpc>
            </a:pPr>
            <a:r>
              <a:rPr lang="en-US" sz="2000" dirty="0"/>
              <a:t>The algorithm improves regions with adequately high density into clusters and discovers clusters of arbitrary structure in spatial databases with noise.</a:t>
            </a:r>
          </a:p>
          <a:p>
            <a:pPr algn="just">
              <a:lnSpc>
                <a:spcPct val="150000"/>
              </a:lnSpc>
            </a:pPr>
            <a:r>
              <a:rPr lang="en-US" sz="2000" dirty="0"/>
              <a:t> It defines a cluster as a maximum set of density-connected points.</a:t>
            </a:r>
          </a:p>
          <a:p>
            <a:pPr algn="just">
              <a:lnSpc>
                <a:spcPct val="150000"/>
              </a:lnSpc>
            </a:pPr>
            <a:r>
              <a:rPr lang="en-US" sz="2000" dirty="0"/>
              <a:t>A density-based cluster is a set of density-connected objects that is maximal regarding density-reachability. </a:t>
            </a:r>
          </a:p>
          <a:p>
            <a:pPr algn="just">
              <a:lnSpc>
                <a:spcPct val="150000"/>
              </a:lnSpc>
            </a:pPr>
            <a:r>
              <a:rPr lang="en-US" sz="2000" dirty="0"/>
              <a:t>Each object not contained in some cluster is considered to be noise.</a:t>
            </a:r>
          </a:p>
          <a:p>
            <a:pPr algn="just">
              <a:lnSpc>
                <a:spcPct val="150000"/>
              </a:lnSpc>
            </a:pPr>
            <a:r>
              <a:rPr lang="en-US" sz="2000" dirty="0"/>
              <a:t>DBSCAN checks for clusters by checking the ε-neighborhood of every point in the database. If the ε-neighborhood of a point p contains more than </a:t>
            </a:r>
            <a:r>
              <a:rPr lang="en-US" sz="2000" dirty="0" err="1"/>
              <a:t>MinPts</a:t>
            </a:r>
            <a:r>
              <a:rPr lang="en-US" sz="2000" dirty="0"/>
              <a:t>, a new cluster with p as a core element is produced. </a:t>
            </a:r>
            <a:endParaRPr lang="en-GB" sz="2000" dirty="0"/>
          </a:p>
        </p:txBody>
      </p:sp>
    </p:spTree>
    <p:extLst>
      <p:ext uri="{BB962C8B-B14F-4D97-AF65-F5344CB8AC3E}">
        <p14:creationId xmlns:p14="http://schemas.microsoft.com/office/powerpoint/2010/main" val="3489701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400" dirty="0">
                <a:latin typeface="+mn-lt"/>
              </a:rPr>
              <a:t>DBSCAN</a:t>
            </a:r>
          </a:p>
        </p:txBody>
      </p:sp>
      <p:sp>
        <p:nvSpPr>
          <p:cNvPr id="25603" name="Content Placeholder 2"/>
          <p:cNvSpPr>
            <a:spLocks noGrp="1"/>
          </p:cNvSpPr>
          <p:nvPr>
            <p:ph sz="quarter" idx="1"/>
          </p:nvPr>
        </p:nvSpPr>
        <p:spPr>
          <a:xfrm>
            <a:off x="228600" y="1143000"/>
            <a:ext cx="8686800" cy="5330825"/>
          </a:xfrm>
        </p:spPr>
        <p:txBody>
          <a:bodyPr>
            <a:normAutofit/>
          </a:bodyPr>
          <a:lstStyle/>
          <a:p>
            <a:pPr algn="just"/>
            <a:r>
              <a:rPr lang="en-US" sz="2000" dirty="0"/>
              <a:t>DBSCAN iteratively assemble precisely density-reachable objects from these essential element, which can include the merge of a few density-reachable clusters. The process eliminates when no new point can be added to any cluster.</a:t>
            </a:r>
          </a:p>
          <a:p>
            <a:pPr algn="just"/>
            <a:r>
              <a:rPr lang="el-GR" sz="2000" dirty="0"/>
              <a:t>ε</a:t>
            </a:r>
            <a:r>
              <a:rPr lang="en-US" sz="2000" dirty="0"/>
              <a:t>-Neighborhood – Objects within a radius of  from an object.</a:t>
            </a:r>
          </a:p>
          <a:p>
            <a:pPr algn="just"/>
            <a:endParaRPr lang="en-US" sz="2000" dirty="0"/>
          </a:p>
          <a:p>
            <a:pPr algn="just"/>
            <a:endParaRPr lang="en-US" sz="2000" dirty="0"/>
          </a:p>
          <a:p>
            <a:pPr algn="just"/>
            <a:r>
              <a:rPr lang="en-US" sz="2000" dirty="0"/>
              <a:t>“High density” - ε-Neighborhood of an object contains at least </a:t>
            </a:r>
            <a:r>
              <a:rPr lang="en-US" sz="2000" dirty="0" err="1"/>
              <a:t>MinPts</a:t>
            </a:r>
            <a:r>
              <a:rPr lang="en-US" sz="2000" dirty="0"/>
              <a:t> of objects.</a:t>
            </a:r>
          </a:p>
        </p:txBody>
      </p:sp>
      <p:pic>
        <p:nvPicPr>
          <p:cNvPr id="5" name="Picture 4">
            <a:extLst>
              <a:ext uri="{FF2B5EF4-FFF2-40B4-BE49-F238E27FC236}">
                <a16:creationId xmlns:a16="http://schemas.microsoft.com/office/drawing/2014/main" id="{51B863FE-5312-497C-9E18-E34B7B48A1BB}"/>
              </a:ext>
            </a:extLst>
          </p:cNvPr>
          <p:cNvPicPr>
            <a:picLocks noChangeAspect="1"/>
          </p:cNvPicPr>
          <p:nvPr/>
        </p:nvPicPr>
        <p:blipFill>
          <a:blip r:embed="rId3"/>
          <a:stretch>
            <a:fillRect/>
          </a:stretch>
        </p:blipFill>
        <p:spPr>
          <a:xfrm>
            <a:off x="2238689" y="2971800"/>
            <a:ext cx="3733800" cy="514350"/>
          </a:xfrm>
          <a:prstGeom prst="rect">
            <a:avLst/>
          </a:prstGeom>
        </p:spPr>
      </p:pic>
      <p:pic>
        <p:nvPicPr>
          <p:cNvPr id="7" name="Picture 6">
            <a:extLst>
              <a:ext uri="{FF2B5EF4-FFF2-40B4-BE49-F238E27FC236}">
                <a16:creationId xmlns:a16="http://schemas.microsoft.com/office/drawing/2014/main" id="{093A6D13-51E1-4872-991A-93FE1A60A31C}"/>
              </a:ext>
            </a:extLst>
          </p:cNvPr>
          <p:cNvPicPr>
            <a:picLocks noChangeAspect="1"/>
          </p:cNvPicPr>
          <p:nvPr/>
        </p:nvPicPr>
        <p:blipFill>
          <a:blip r:embed="rId4"/>
          <a:stretch>
            <a:fillRect/>
          </a:stretch>
        </p:blipFill>
        <p:spPr>
          <a:xfrm>
            <a:off x="762000" y="4419600"/>
            <a:ext cx="6934200" cy="2206336"/>
          </a:xfrm>
          <a:prstGeom prst="rect">
            <a:avLst/>
          </a:prstGeom>
        </p:spPr>
      </p:pic>
    </p:spTree>
    <p:extLst>
      <p:ext uri="{BB962C8B-B14F-4D97-AF65-F5344CB8AC3E}">
        <p14:creationId xmlns:p14="http://schemas.microsoft.com/office/powerpoint/2010/main" val="2655507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99"/>
            <a:ext cx="8229600" cy="1143000"/>
          </a:xfrm>
        </p:spPr>
        <p:txBody>
          <a:bodyPr>
            <a:normAutofit/>
          </a:bodyPr>
          <a:lstStyle/>
          <a:p>
            <a:r>
              <a:rPr lang="en-US" sz="4400" dirty="0">
                <a:latin typeface="+mn-lt"/>
              </a:rPr>
              <a:t>Why DBSCAN? </a:t>
            </a:r>
            <a:endParaRPr lang="en-GB" sz="4400" dirty="0">
              <a:latin typeface="+mn-lt"/>
            </a:endParaRPr>
          </a:p>
        </p:txBody>
      </p:sp>
      <p:sp>
        <p:nvSpPr>
          <p:cNvPr id="3" name="Content Placeholder 2"/>
          <p:cNvSpPr>
            <a:spLocks noGrp="1"/>
          </p:cNvSpPr>
          <p:nvPr>
            <p:ph idx="1"/>
          </p:nvPr>
        </p:nvSpPr>
        <p:spPr>
          <a:xfrm>
            <a:off x="228600" y="1295400"/>
            <a:ext cx="8610600" cy="5029200"/>
          </a:xfrm>
        </p:spPr>
        <p:txBody>
          <a:bodyPr>
            <a:normAutofit/>
          </a:bodyPr>
          <a:lstStyle/>
          <a:p>
            <a:pPr algn="just">
              <a:lnSpc>
                <a:spcPct val="150000"/>
              </a:lnSpc>
            </a:pPr>
            <a:r>
              <a:rPr lang="en-US" sz="2000" dirty="0"/>
              <a:t>Partitioning methods (K-means, PAM clustering) and hierarchical clustering work for finding spherical-shaped clusters or convex clusters. </a:t>
            </a:r>
          </a:p>
          <a:p>
            <a:pPr algn="just">
              <a:lnSpc>
                <a:spcPct val="150000"/>
              </a:lnSpc>
            </a:pPr>
            <a:r>
              <a:rPr lang="en-US" sz="2000" dirty="0"/>
              <a:t>In other words, they are suitable only for compact and well-separated clusters. Moreover, they are also severely affected by the presence of noise and outliers in the data.</a:t>
            </a:r>
          </a:p>
          <a:p>
            <a:pPr algn="just">
              <a:lnSpc>
                <a:spcPct val="150000"/>
              </a:lnSpc>
            </a:pPr>
            <a:r>
              <a:rPr lang="en-US" sz="2000" dirty="0"/>
              <a:t>Real life data may contain irregularities, like:</a:t>
            </a:r>
          </a:p>
          <a:p>
            <a:pPr algn="just">
              <a:lnSpc>
                <a:spcPct val="150000"/>
              </a:lnSpc>
            </a:pPr>
            <a:r>
              <a:rPr lang="en-US" sz="2000" dirty="0"/>
              <a:t>Clusters can be of arbitrary shape such as those shown in the figure below. </a:t>
            </a:r>
          </a:p>
          <a:p>
            <a:pPr algn="just">
              <a:lnSpc>
                <a:spcPct val="150000"/>
              </a:lnSpc>
            </a:pPr>
            <a:r>
              <a:rPr lang="en-US" sz="2000" dirty="0"/>
              <a:t>Data may contain noise.</a:t>
            </a:r>
          </a:p>
          <a:p>
            <a:pPr marL="0" indent="0" algn="just">
              <a:lnSpc>
                <a:spcPct val="150000"/>
              </a:lnSpc>
              <a:buNone/>
            </a:pPr>
            <a:br>
              <a:rPr lang="en-US" sz="2000" dirty="0"/>
            </a:br>
            <a:r>
              <a:rPr lang="en-US" sz="2000" dirty="0"/>
              <a:t> </a:t>
            </a:r>
          </a:p>
          <a:p>
            <a:pPr algn="just">
              <a:lnSpc>
                <a:spcPct val="150000"/>
              </a:lnSpc>
            </a:pPr>
            <a:endParaRPr lang="en-GB" sz="2000" dirty="0"/>
          </a:p>
        </p:txBody>
      </p:sp>
    </p:spTree>
    <p:extLst>
      <p:ext uri="{BB962C8B-B14F-4D97-AF65-F5344CB8AC3E}">
        <p14:creationId xmlns:p14="http://schemas.microsoft.com/office/powerpoint/2010/main" val="3105538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4400" dirty="0">
                <a:latin typeface="+mn-lt"/>
              </a:rPr>
              <a:t>DBSCAN Algorithm</a:t>
            </a:r>
            <a:endParaRPr lang="en-GB" sz="4400" dirty="0">
              <a:latin typeface="+mn-lt"/>
            </a:endParaRPr>
          </a:p>
        </p:txBody>
      </p:sp>
      <p:sp>
        <p:nvSpPr>
          <p:cNvPr id="3" name="Content Placeholder 2"/>
          <p:cNvSpPr>
            <a:spLocks noGrp="1"/>
          </p:cNvSpPr>
          <p:nvPr>
            <p:ph idx="1"/>
          </p:nvPr>
        </p:nvSpPr>
        <p:spPr>
          <a:xfrm>
            <a:off x="152400" y="1295400"/>
            <a:ext cx="8839200" cy="5410200"/>
          </a:xfrm>
        </p:spPr>
        <p:txBody>
          <a:bodyPr>
            <a:normAutofit fontScale="92500" lnSpcReduction="10000"/>
          </a:bodyPr>
          <a:lstStyle/>
          <a:p>
            <a:pPr algn="just">
              <a:lnSpc>
                <a:spcPct val="150000"/>
              </a:lnSpc>
            </a:pPr>
            <a:r>
              <a:rPr lang="en-US" sz="2000" b="1" dirty="0"/>
              <a:t>DBSCAN algorithm requires two parameters:</a:t>
            </a:r>
            <a:endParaRPr lang="en-US" sz="2000" dirty="0"/>
          </a:p>
          <a:p>
            <a:pPr algn="just">
              <a:lnSpc>
                <a:spcPct val="150000"/>
              </a:lnSpc>
            </a:pPr>
            <a:r>
              <a:rPr lang="en-US" sz="2000" b="1" dirty="0" err="1"/>
              <a:t>Eps</a:t>
            </a:r>
            <a:r>
              <a:rPr lang="en-US" sz="2000" dirty="0"/>
              <a:t> : It defines the neighborhood around a data point i.e. if the distance between two points is lower or equal to ‘</a:t>
            </a:r>
            <a:r>
              <a:rPr lang="en-US" sz="2000" dirty="0" err="1"/>
              <a:t>eps</a:t>
            </a:r>
            <a:r>
              <a:rPr lang="en-US" sz="2000" dirty="0"/>
              <a:t>’ then they are considered as neighbors. If the </a:t>
            </a:r>
            <a:r>
              <a:rPr lang="en-US" sz="2000" dirty="0" err="1"/>
              <a:t>eps</a:t>
            </a:r>
            <a:r>
              <a:rPr lang="en-US" sz="2000" dirty="0"/>
              <a:t> value is chosen too small then large part of the data will be considered as outliers. If it is chosen very large then the clusters will merge and majority of the data points will be in the same clusters. One way to find the </a:t>
            </a:r>
            <a:r>
              <a:rPr lang="en-US" sz="2000" dirty="0" err="1"/>
              <a:t>eps</a:t>
            </a:r>
            <a:r>
              <a:rPr lang="en-US" sz="2000" dirty="0"/>
              <a:t> value is based on the </a:t>
            </a:r>
            <a:r>
              <a:rPr lang="en-US" sz="2000" b="1" i="1" dirty="0"/>
              <a:t>k-distance graph</a:t>
            </a:r>
            <a:r>
              <a:rPr lang="en-US" sz="2000" dirty="0"/>
              <a:t>.</a:t>
            </a:r>
          </a:p>
          <a:p>
            <a:pPr algn="just">
              <a:lnSpc>
                <a:spcPct val="150000"/>
              </a:lnSpc>
            </a:pPr>
            <a:r>
              <a:rPr lang="en-US" sz="2000" b="1" dirty="0" err="1"/>
              <a:t>MinPts</a:t>
            </a:r>
            <a:r>
              <a:rPr lang="en-US" sz="2000" dirty="0"/>
              <a:t>: Minimum number of neighbors (data points) within </a:t>
            </a:r>
            <a:r>
              <a:rPr lang="en-US" sz="2000" dirty="0" err="1"/>
              <a:t>eps</a:t>
            </a:r>
            <a:r>
              <a:rPr lang="en-US" sz="2000" dirty="0"/>
              <a:t> radius. Larger the dataset, the larger value of </a:t>
            </a:r>
            <a:r>
              <a:rPr lang="en-US" sz="2000" dirty="0" err="1"/>
              <a:t>MinPts</a:t>
            </a:r>
            <a:r>
              <a:rPr lang="en-US" sz="2000" dirty="0"/>
              <a:t> must be chosen. As a general rule, the minimum </a:t>
            </a:r>
            <a:r>
              <a:rPr lang="en-US" sz="2000" dirty="0" err="1"/>
              <a:t>MinPts</a:t>
            </a:r>
            <a:r>
              <a:rPr lang="en-US" sz="2000" dirty="0"/>
              <a:t> can be derived from the number of dimensions D in the dataset as, </a:t>
            </a:r>
            <a:r>
              <a:rPr lang="en-US" sz="2000" dirty="0" err="1"/>
              <a:t>MinPts</a:t>
            </a:r>
            <a:r>
              <a:rPr lang="en-US" sz="2000" dirty="0"/>
              <a:t> &gt;= D+1. The minimum value of </a:t>
            </a:r>
            <a:r>
              <a:rPr lang="en-US" sz="2000" dirty="0" err="1"/>
              <a:t>MinPts</a:t>
            </a:r>
            <a:r>
              <a:rPr lang="en-US" sz="2000" dirty="0"/>
              <a:t> must be chosen at least 3.</a:t>
            </a:r>
          </a:p>
          <a:p>
            <a:pPr algn="just">
              <a:lnSpc>
                <a:spcPct val="150000"/>
              </a:lnSpc>
            </a:pPr>
            <a:endParaRPr lang="en-GB" sz="2000" dirty="0"/>
          </a:p>
        </p:txBody>
      </p:sp>
    </p:spTree>
    <p:extLst>
      <p:ext uri="{BB962C8B-B14F-4D97-AF65-F5344CB8AC3E}">
        <p14:creationId xmlns:p14="http://schemas.microsoft.com/office/powerpoint/2010/main" val="3603187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469" y="228600"/>
            <a:ext cx="8229600" cy="1143000"/>
          </a:xfrm>
        </p:spPr>
        <p:txBody>
          <a:bodyPr>
            <a:normAutofit/>
          </a:bodyPr>
          <a:lstStyle/>
          <a:p>
            <a:pPr fontAlgn="auto">
              <a:spcAft>
                <a:spcPts val="0"/>
              </a:spcAft>
              <a:defRPr/>
            </a:pPr>
            <a:r>
              <a:rPr lang="en-US" sz="4400" dirty="0">
                <a:latin typeface="+mn-lt"/>
              </a:rPr>
              <a:t>Core, Border &amp; Outlier</a:t>
            </a:r>
          </a:p>
        </p:txBody>
      </p:sp>
      <p:sp>
        <p:nvSpPr>
          <p:cNvPr id="25603" name="Content Placeholder 2"/>
          <p:cNvSpPr>
            <a:spLocks noGrp="1"/>
          </p:cNvSpPr>
          <p:nvPr>
            <p:ph sz="quarter" idx="1"/>
          </p:nvPr>
        </p:nvSpPr>
        <p:spPr>
          <a:xfrm>
            <a:off x="3810000" y="1600200"/>
            <a:ext cx="4953000" cy="4873625"/>
          </a:xfrm>
        </p:spPr>
        <p:txBody>
          <a:bodyPr>
            <a:noAutofit/>
          </a:bodyPr>
          <a:lstStyle/>
          <a:p>
            <a:r>
              <a:rPr lang="en-US" sz="2000" dirty="0"/>
              <a:t>Given </a:t>
            </a:r>
            <a:r>
              <a:rPr lang="el-GR" sz="2000" dirty="0"/>
              <a:t>ε </a:t>
            </a:r>
            <a:r>
              <a:rPr lang="en-US" sz="2000" dirty="0"/>
              <a:t> and </a:t>
            </a:r>
            <a:r>
              <a:rPr lang="en-US" sz="2000" dirty="0" err="1"/>
              <a:t>MinPts</a:t>
            </a:r>
            <a:r>
              <a:rPr lang="en-US" sz="2000" dirty="0"/>
              <a:t>, categorize the objects into three exclusive groups.</a:t>
            </a:r>
          </a:p>
          <a:p>
            <a:endParaRPr lang="en-US" sz="2000" dirty="0"/>
          </a:p>
          <a:p>
            <a:r>
              <a:rPr lang="en-US" sz="2000" dirty="0"/>
              <a:t>A point is a </a:t>
            </a:r>
            <a:r>
              <a:rPr lang="en-US" sz="2000" b="1" dirty="0">
                <a:solidFill>
                  <a:srgbClr val="FF0000"/>
                </a:solidFill>
              </a:rPr>
              <a:t>core point </a:t>
            </a:r>
            <a:r>
              <a:rPr lang="en-US" sz="2000" dirty="0"/>
              <a:t>if it has more than a specified number of points (</a:t>
            </a:r>
            <a:r>
              <a:rPr lang="en-US" sz="2000" dirty="0" err="1"/>
              <a:t>MinPts</a:t>
            </a:r>
            <a:r>
              <a:rPr lang="en-US" sz="2000" dirty="0"/>
              <a:t>) within Eps—These are points that are at the interior of a cluster. </a:t>
            </a:r>
          </a:p>
          <a:p>
            <a:r>
              <a:rPr lang="en-US" sz="2000" dirty="0"/>
              <a:t>A </a:t>
            </a:r>
            <a:r>
              <a:rPr lang="en-US" sz="2000" b="1" dirty="0">
                <a:solidFill>
                  <a:srgbClr val="FF0000"/>
                </a:solidFill>
              </a:rPr>
              <a:t>border point </a:t>
            </a:r>
            <a:r>
              <a:rPr lang="en-US" sz="2000" dirty="0"/>
              <a:t>has fewer than </a:t>
            </a:r>
            <a:r>
              <a:rPr lang="en-US" sz="2000" dirty="0" err="1"/>
              <a:t>MinPts</a:t>
            </a:r>
            <a:r>
              <a:rPr lang="en-US" sz="2000" dirty="0"/>
              <a:t> within Eps, but is in the neighborhood of a core point. </a:t>
            </a:r>
          </a:p>
          <a:p>
            <a:endParaRPr lang="en-US" sz="2000" dirty="0"/>
          </a:p>
          <a:p>
            <a:r>
              <a:rPr lang="en-US" sz="2000" dirty="0"/>
              <a:t>A </a:t>
            </a:r>
            <a:r>
              <a:rPr lang="en-US" sz="2000" b="1" dirty="0">
                <a:solidFill>
                  <a:srgbClr val="FF0000"/>
                </a:solidFill>
              </a:rPr>
              <a:t>noise point </a:t>
            </a:r>
            <a:r>
              <a:rPr lang="en-US" sz="2000" dirty="0"/>
              <a:t>is any point that is not a core point nor a border point.</a:t>
            </a:r>
          </a:p>
        </p:txBody>
      </p:sp>
      <p:pic>
        <p:nvPicPr>
          <p:cNvPr id="4" name="Picture 3">
            <a:extLst>
              <a:ext uri="{FF2B5EF4-FFF2-40B4-BE49-F238E27FC236}">
                <a16:creationId xmlns:a16="http://schemas.microsoft.com/office/drawing/2014/main" id="{CA99F4D5-3CC9-477B-9C67-BA0DA27D98ED}"/>
              </a:ext>
            </a:extLst>
          </p:cNvPr>
          <p:cNvPicPr>
            <a:picLocks noChangeAspect="1"/>
          </p:cNvPicPr>
          <p:nvPr/>
        </p:nvPicPr>
        <p:blipFill>
          <a:blip r:embed="rId3"/>
          <a:stretch>
            <a:fillRect/>
          </a:stretch>
        </p:blipFill>
        <p:spPr>
          <a:xfrm>
            <a:off x="544468" y="1828800"/>
            <a:ext cx="3296011" cy="3581400"/>
          </a:xfrm>
          <a:prstGeom prst="rect">
            <a:avLst/>
          </a:prstGeom>
        </p:spPr>
      </p:pic>
    </p:spTree>
    <p:extLst>
      <p:ext uri="{BB962C8B-B14F-4D97-AF65-F5344CB8AC3E}">
        <p14:creationId xmlns:p14="http://schemas.microsoft.com/office/powerpoint/2010/main" val="3345635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pPr fontAlgn="auto">
              <a:spcAft>
                <a:spcPts val="0"/>
              </a:spcAft>
              <a:defRPr/>
            </a:pPr>
            <a:r>
              <a:rPr lang="en-US" sz="4400" dirty="0">
                <a:latin typeface="+mn-lt"/>
              </a:rPr>
              <a:t>Example</a:t>
            </a:r>
          </a:p>
        </p:txBody>
      </p:sp>
      <p:pic>
        <p:nvPicPr>
          <p:cNvPr id="4" name="Picture 3">
            <a:extLst>
              <a:ext uri="{FF2B5EF4-FFF2-40B4-BE49-F238E27FC236}">
                <a16:creationId xmlns:a16="http://schemas.microsoft.com/office/drawing/2014/main" id="{3FB39C66-B8FA-47CB-B47E-23B0AEF5B2E0}"/>
              </a:ext>
            </a:extLst>
          </p:cNvPr>
          <p:cNvPicPr>
            <a:picLocks noChangeAspect="1"/>
          </p:cNvPicPr>
          <p:nvPr/>
        </p:nvPicPr>
        <p:blipFill>
          <a:blip r:embed="rId3"/>
          <a:stretch>
            <a:fillRect/>
          </a:stretch>
        </p:blipFill>
        <p:spPr>
          <a:xfrm>
            <a:off x="1066800" y="1638300"/>
            <a:ext cx="7143750" cy="4343400"/>
          </a:xfrm>
          <a:prstGeom prst="rect">
            <a:avLst/>
          </a:prstGeom>
        </p:spPr>
      </p:pic>
    </p:spTree>
    <p:extLst>
      <p:ext uri="{BB962C8B-B14F-4D97-AF65-F5344CB8AC3E}">
        <p14:creationId xmlns:p14="http://schemas.microsoft.com/office/powerpoint/2010/main" val="2225329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normAutofit/>
          </a:bodyPr>
          <a:lstStyle/>
          <a:p>
            <a:pPr fontAlgn="auto">
              <a:spcAft>
                <a:spcPts val="0"/>
              </a:spcAft>
              <a:defRPr/>
            </a:pPr>
            <a:r>
              <a:rPr lang="en-US" sz="4400" dirty="0">
                <a:latin typeface="+mn-lt"/>
              </a:rPr>
              <a:t>Density-reachability</a:t>
            </a:r>
          </a:p>
        </p:txBody>
      </p:sp>
      <p:sp>
        <p:nvSpPr>
          <p:cNvPr id="25603" name="Content Placeholder 2"/>
          <p:cNvSpPr>
            <a:spLocks noGrp="1"/>
          </p:cNvSpPr>
          <p:nvPr>
            <p:ph sz="quarter" idx="1"/>
          </p:nvPr>
        </p:nvSpPr>
        <p:spPr>
          <a:xfrm>
            <a:off x="457200" y="1600200"/>
            <a:ext cx="7620000" cy="4873625"/>
          </a:xfrm>
        </p:spPr>
        <p:txBody>
          <a:bodyPr/>
          <a:lstStyle/>
          <a:p>
            <a:r>
              <a:rPr lang="en-US" dirty="0"/>
              <a:t>Directly density-reachable </a:t>
            </a:r>
          </a:p>
          <a:p>
            <a:pPr lvl="1">
              <a:buFont typeface="Wingdings" panose="05000000000000000000" pitchFamily="2" charset="2"/>
              <a:buChar char="§"/>
            </a:pPr>
            <a:r>
              <a:rPr lang="en-US" dirty="0"/>
              <a:t>An object q is directly density-reachable from object p if p is a core object and q is in p’s </a:t>
            </a:r>
            <a:r>
              <a:rPr lang="en-US" sz="2400" dirty="0"/>
              <a:t> </a:t>
            </a:r>
            <a:r>
              <a:rPr lang="el-GR" sz="2400" dirty="0"/>
              <a:t>ε </a:t>
            </a:r>
            <a:r>
              <a:rPr lang="en-US" dirty="0"/>
              <a:t>-neighborhood</a:t>
            </a:r>
          </a:p>
        </p:txBody>
      </p:sp>
      <p:pic>
        <p:nvPicPr>
          <p:cNvPr id="4" name="Picture 3">
            <a:extLst>
              <a:ext uri="{FF2B5EF4-FFF2-40B4-BE49-F238E27FC236}">
                <a16:creationId xmlns:a16="http://schemas.microsoft.com/office/drawing/2014/main" id="{5E25E689-BDCC-46EA-8621-1C61FCE0CA43}"/>
              </a:ext>
            </a:extLst>
          </p:cNvPr>
          <p:cNvPicPr>
            <a:picLocks noChangeAspect="1"/>
          </p:cNvPicPr>
          <p:nvPr/>
        </p:nvPicPr>
        <p:blipFill>
          <a:blip r:embed="rId3"/>
          <a:stretch>
            <a:fillRect/>
          </a:stretch>
        </p:blipFill>
        <p:spPr>
          <a:xfrm>
            <a:off x="990600" y="3505200"/>
            <a:ext cx="7439025" cy="2486025"/>
          </a:xfrm>
          <a:prstGeom prst="rect">
            <a:avLst/>
          </a:prstGeom>
        </p:spPr>
      </p:pic>
    </p:spTree>
    <p:extLst>
      <p:ext uri="{BB962C8B-B14F-4D97-AF65-F5344CB8AC3E}">
        <p14:creationId xmlns:p14="http://schemas.microsoft.com/office/powerpoint/2010/main" val="257703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normAutofit/>
          </a:bodyPr>
          <a:lstStyle/>
          <a:p>
            <a:pPr fontAlgn="auto">
              <a:spcAft>
                <a:spcPts val="0"/>
              </a:spcAft>
              <a:defRPr/>
            </a:pPr>
            <a:r>
              <a:rPr lang="en-US" sz="4400" dirty="0">
                <a:latin typeface="+mn-lt"/>
              </a:rPr>
              <a:t>Density-reachability</a:t>
            </a:r>
          </a:p>
        </p:txBody>
      </p:sp>
      <p:sp>
        <p:nvSpPr>
          <p:cNvPr id="25603" name="Content Placeholder 2"/>
          <p:cNvSpPr>
            <a:spLocks noGrp="1"/>
          </p:cNvSpPr>
          <p:nvPr>
            <p:ph sz="quarter" idx="1"/>
          </p:nvPr>
        </p:nvSpPr>
        <p:spPr>
          <a:xfrm>
            <a:off x="457200" y="1600200"/>
            <a:ext cx="7620000" cy="4873625"/>
          </a:xfrm>
        </p:spPr>
        <p:txBody>
          <a:bodyPr>
            <a:normAutofit/>
          </a:bodyPr>
          <a:lstStyle/>
          <a:p>
            <a:pPr algn="just">
              <a:lnSpc>
                <a:spcPct val="150000"/>
              </a:lnSpc>
            </a:pPr>
            <a:r>
              <a:rPr lang="en-US" sz="2000" dirty="0"/>
              <a:t>Density-Reachable (directly and indirectly):</a:t>
            </a:r>
          </a:p>
          <a:p>
            <a:pPr algn="just">
              <a:lnSpc>
                <a:spcPct val="150000"/>
              </a:lnSpc>
            </a:pPr>
            <a:r>
              <a:rPr lang="en-US" sz="2000" dirty="0"/>
              <a:t>A point p is directly density-reachable from p2</a:t>
            </a:r>
          </a:p>
          <a:p>
            <a:pPr algn="just">
              <a:lnSpc>
                <a:spcPct val="150000"/>
              </a:lnSpc>
            </a:pPr>
            <a:r>
              <a:rPr lang="en-US" sz="2000" dirty="0"/>
              <a:t>p2 is directly density-reachable from p1</a:t>
            </a:r>
          </a:p>
          <a:p>
            <a:pPr algn="just">
              <a:lnSpc>
                <a:spcPct val="150000"/>
              </a:lnSpc>
            </a:pPr>
            <a:r>
              <a:rPr lang="en-US" sz="2000" dirty="0"/>
              <a:t>p1 is directly density-reachable from q</a:t>
            </a:r>
          </a:p>
          <a:p>
            <a:pPr algn="just">
              <a:lnSpc>
                <a:spcPct val="150000"/>
              </a:lnSpc>
            </a:pPr>
            <a:r>
              <a:rPr lang="en-US" sz="2000" dirty="0"/>
              <a:t>p </a:t>
            </a:r>
            <a:r>
              <a:rPr lang="en-US" sz="2000" dirty="0">
                <a:sym typeface="Wingdings" panose="05000000000000000000" pitchFamily="2" charset="2"/>
              </a:rPr>
              <a:t></a:t>
            </a:r>
            <a:r>
              <a:rPr lang="en-US" sz="2000" dirty="0"/>
              <a:t> p2 </a:t>
            </a:r>
            <a:r>
              <a:rPr lang="en-US" sz="2000" dirty="0">
                <a:sym typeface="Wingdings" panose="05000000000000000000" pitchFamily="2" charset="2"/>
              </a:rPr>
              <a:t></a:t>
            </a:r>
            <a:r>
              <a:rPr lang="en-US" sz="2000" dirty="0"/>
              <a:t> p1 </a:t>
            </a:r>
            <a:r>
              <a:rPr lang="en-US" sz="2000" dirty="0">
                <a:sym typeface="Wingdings" panose="05000000000000000000" pitchFamily="2" charset="2"/>
              </a:rPr>
              <a:t> </a:t>
            </a:r>
            <a:r>
              <a:rPr lang="en-US" sz="2000" dirty="0"/>
              <a:t>q form a chain</a:t>
            </a:r>
          </a:p>
          <a:p>
            <a:pPr algn="just">
              <a:lnSpc>
                <a:spcPct val="150000"/>
              </a:lnSpc>
            </a:pPr>
            <a:endParaRPr lang="en-US" sz="2000" dirty="0"/>
          </a:p>
        </p:txBody>
      </p:sp>
      <p:pic>
        <p:nvPicPr>
          <p:cNvPr id="5" name="Picture 4">
            <a:extLst>
              <a:ext uri="{FF2B5EF4-FFF2-40B4-BE49-F238E27FC236}">
                <a16:creationId xmlns:a16="http://schemas.microsoft.com/office/drawing/2014/main" id="{EBE1F382-455D-4A49-AFB8-BC8675B75E03}"/>
              </a:ext>
            </a:extLst>
          </p:cNvPr>
          <p:cNvPicPr>
            <a:picLocks noChangeAspect="1"/>
          </p:cNvPicPr>
          <p:nvPr/>
        </p:nvPicPr>
        <p:blipFill>
          <a:blip r:embed="rId3"/>
          <a:stretch>
            <a:fillRect/>
          </a:stretch>
        </p:blipFill>
        <p:spPr>
          <a:xfrm>
            <a:off x="1219200" y="4419600"/>
            <a:ext cx="6714565" cy="1903980"/>
          </a:xfrm>
          <a:prstGeom prst="rect">
            <a:avLst/>
          </a:prstGeom>
        </p:spPr>
      </p:pic>
    </p:spTree>
    <p:extLst>
      <p:ext uri="{BB962C8B-B14F-4D97-AF65-F5344CB8AC3E}">
        <p14:creationId xmlns:p14="http://schemas.microsoft.com/office/powerpoint/2010/main" val="3550315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normAutofit/>
          </a:bodyPr>
          <a:lstStyle/>
          <a:p>
            <a:r>
              <a:rPr lang="en-US" sz="4400" dirty="0">
                <a:latin typeface="+mn-lt"/>
              </a:rPr>
              <a:t>DBSCAN Algorithm</a:t>
            </a:r>
            <a:endParaRPr lang="en-GB" sz="4400" dirty="0">
              <a:latin typeface="+mn-lt"/>
            </a:endParaRPr>
          </a:p>
        </p:txBody>
      </p:sp>
      <p:sp>
        <p:nvSpPr>
          <p:cNvPr id="3" name="Content Placeholder 2"/>
          <p:cNvSpPr>
            <a:spLocks noGrp="1"/>
          </p:cNvSpPr>
          <p:nvPr>
            <p:ph idx="1"/>
          </p:nvPr>
        </p:nvSpPr>
        <p:spPr>
          <a:xfrm>
            <a:off x="228600" y="1371600"/>
            <a:ext cx="3886200" cy="5257800"/>
          </a:xfrm>
        </p:spPr>
        <p:txBody>
          <a:bodyPr>
            <a:normAutofit/>
          </a:bodyPr>
          <a:lstStyle/>
          <a:p>
            <a:pPr algn="just">
              <a:lnSpc>
                <a:spcPct val="150000"/>
              </a:lnSpc>
            </a:pPr>
            <a:r>
              <a:rPr lang="en-US" sz="2000" b="1" dirty="0"/>
              <a:t>Core</a:t>
            </a:r>
            <a:r>
              <a:rPr lang="en-US" sz="2000" dirty="0"/>
              <a:t> — This is a point that has at least </a:t>
            </a:r>
            <a:r>
              <a:rPr lang="en-US" sz="2000" i="1" dirty="0"/>
              <a:t>m</a:t>
            </a:r>
            <a:r>
              <a:rPr lang="en-US" sz="2000" dirty="0"/>
              <a:t> points within distance </a:t>
            </a:r>
            <a:r>
              <a:rPr lang="en-US" sz="2000" i="1" dirty="0"/>
              <a:t>n</a:t>
            </a:r>
            <a:r>
              <a:rPr lang="en-US" sz="2000" dirty="0"/>
              <a:t> from itself. </a:t>
            </a:r>
          </a:p>
          <a:p>
            <a:pPr algn="just">
              <a:lnSpc>
                <a:spcPct val="150000"/>
              </a:lnSpc>
            </a:pPr>
            <a:r>
              <a:rPr lang="en-US" sz="2000" b="1" dirty="0"/>
              <a:t>Border</a:t>
            </a:r>
            <a:r>
              <a:rPr lang="en-US" sz="2000" dirty="0"/>
              <a:t> — This is a point that has at least one Core point at a distance </a:t>
            </a:r>
            <a:r>
              <a:rPr lang="en-US" sz="2000" i="1" dirty="0"/>
              <a:t>n</a:t>
            </a:r>
            <a:r>
              <a:rPr lang="en-US" sz="2000" dirty="0"/>
              <a:t>. </a:t>
            </a:r>
          </a:p>
          <a:p>
            <a:pPr algn="just">
              <a:lnSpc>
                <a:spcPct val="150000"/>
              </a:lnSpc>
            </a:pPr>
            <a:r>
              <a:rPr lang="en-US" sz="2000" b="1" dirty="0"/>
              <a:t>Noise</a:t>
            </a:r>
            <a:r>
              <a:rPr lang="en-US" sz="2000" dirty="0"/>
              <a:t> — This is a point that is neither a Core nor a Border. And it has less than </a:t>
            </a:r>
            <a:r>
              <a:rPr lang="en-US" sz="2000" i="1" dirty="0"/>
              <a:t>m</a:t>
            </a:r>
            <a:r>
              <a:rPr lang="en-US" sz="2000" dirty="0"/>
              <a:t> points within distance </a:t>
            </a:r>
            <a:r>
              <a:rPr lang="en-US" sz="2000" i="1" dirty="0"/>
              <a:t>n</a:t>
            </a:r>
            <a:r>
              <a:rPr lang="en-US" sz="2000" dirty="0"/>
              <a:t> from itself. </a:t>
            </a:r>
          </a:p>
          <a:p>
            <a:pPr algn="just">
              <a:lnSpc>
                <a:spcPct val="150000"/>
              </a:lnSpc>
            </a:pPr>
            <a:endParaRPr lang="en-GB" sz="2000"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346" t="23736" r="32088" b="5641"/>
          <a:stretch/>
        </p:blipFill>
        <p:spPr bwMode="auto">
          <a:xfrm>
            <a:off x="4343400" y="1676400"/>
            <a:ext cx="4572000" cy="4413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7698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pPr fontAlgn="auto">
              <a:spcAft>
                <a:spcPts val="0"/>
              </a:spcAft>
              <a:defRPr/>
            </a:pPr>
            <a:r>
              <a:rPr lang="en-US" sz="4400" dirty="0">
                <a:latin typeface="+mn-lt"/>
              </a:rPr>
              <a:t>DBSCAN Algorithm: Example</a:t>
            </a:r>
          </a:p>
        </p:txBody>
      </p:sp>
      <p:sp>
        <p:nvSpPr>
          <p:cNvPr id="25603" name="Content Placeholder 2"/>
          <p:cNvSpPr>
            <a:spLocks noGrp="1"/>
          </p:cNvSpPr>
          <p:nvPr>
            <p:ph sz="quarter" idx="1"/>
          </p:nvPr>
        </p:nvSpPr>
        <p:spPr>
          <a:xfrm>
            <a:off x="457200" y="1600200"/>
            <a:ext cx="7620000" cy="4873625"/>
          </a:xfrm>
        </p:spPr>
        <p:txBody>
          <a:bodyPr>
            <a:normAutofit/>
          </a:bodyPr>
          <a:lstStyle/>
          <a:p>
            <a:r>
              <a:rPr lang="da-DK" sz="2000" dirty="0"/>
              <a:t>Parameter</a:t>
            </a:r>
          </a:p>
          <a:p>
            <a:r>
              <a:rPr lang="da-DK" sz="2000" dirty="0"/>
              <a:t>• </a:t>
            </a:r>
            <a:r>
              <a:rPr lang="el-GR" sz="2000" dirty="0"/>
              <a:t>ε</a:t>
            </a:r>
            <a:r>
              <a:rPr lang="da-DK" sz="2000" dirty="0"/>
              <a:t> = 2 cm</a:t>
            </a:r>
          </a:p>
          <a:p>
            <a:r>
              <a:rPr lang="da-DK" sz="2000" dirty="0"/>
              <a:t>• MinPts = 3</a:t>
            </a:r>
            <a:endParaRPr lang="en-US" sz="2000" dirty="0"/>
          </a:p>
        </p:txBody>
      </p:sp>
      <p:pic>
        <p:nvPicPr>
          <p:cNvPr id="4" name="Picture 3">
            <a:extLst>
              <a:ext uri="{FF2B5EF4-FFF2-40B4-BE49-F238E27FC236}">
                <a16:creationId xmlns:a16="http://schemas.microsoft.com/office/drawing/2014/main" id="{B50E4F15-86EE-4706-9EAB-188DB8C8519C}"/>
              </a:ext>
            </a:extLst>
          </p:cNvPr>
          <p:cNvPicPr>
            <a:picLocks noChangeAspect="1"/>
          </p:cNvPicPr>
          <p:nvPr/>
        </p:nvPicPr>
        <p:blipFill>
          <a:blip r:embed="rId3"/>
          <a:stretch>
            <a:fillRect/>
          </a:stretch>
        </p:blipFill>
        <p:spPr>
          <a:xfrm>
            <a:off x="4419600" y="1981199"/>
            <a:ext cx="2743200" cy="1628775"/>
          </a:xfrm>
          <a:prstGeom prst="rect">
            <a:avLst/>
          </a:prstGeom>
        </p:spPr>
      </p:pic>
      <p:pic>
        <p:nvPicPr>
          <p:cNvPr id="7" name="Picture 6">
            <a:extLst>
              <a:ext uri="{FF2B5EF4-FFF2-40B4-BE49-F238E27FC236}">
                <a16:creationId xmlns:a16="http://schemas.microsoft.com/office/drawing/2014/main" id="{92E8B5EA-D55C-413E-AFB9-6F11E09FF76B}"/>
              </a:ext>
            </a:extLst>
          </p:cNvPr>
          <p:cNvPicPr>
            <a:picLocks noChangeAspect="1"/>
          </p:cNvPicPr>
          <p:nvPr/>
        </p:nvPicPr>
        <p:blipFill>
          <a:blip r:embed="rId4"/>
          <a:stretch>
            <a:fillRect/>
          </a:stretch>
        </p:blipFill>
        <p:spPr>
          <a:xfrm>
            <a:off x="1517432" y="3886200"/>
            <a:ext cx="5305425" cy="2590800"/>
          </a:xfrm>
          <a:prstGeom prst="rect">
            <a:avLst/>
          </a:prstGeom>
        </p:spPr>
      </p:pic>
    </p:spTree>
    <p:extLst>
      <p:ext uri="{BB962C8B-B14F-4D97-AF65-F5344CB8AC3E}">
        <p14:creationId xmlns:p14="http://schemas.microsoft.com/office/powerpoint/2010/main" val="1447844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1143000"/>
          </a:xfrm>
        </p:spPr>
        <p:txBody>
          <a:bodyPr>
            <a:normAutofit/>
          </a:bodyPr>
          <a:lstStyle/>
          <a:p>
            <a:pPr fontAlgn="auto">
              <a:spcAft>
                <a:spcPts val="0"/>
              </a:spcAft>
              <a:defRPr/>
            </a:pPr>
            <a:r>
              <a:rPr lang="en-US" sz="4400" dirty="0">
                <a:latin typeface="+mn-lt"/>
              </a:rPr>
              <a:t>DBSCAN Algorithm: Example</a:t>
            </a:r>
          </a:p>
        </p:txBody>
      </p:sp>
      <p:sp>
        <p:nvSpPr>
          <p:cNvPr id="25603" name="Content Placeholder 2"/>
          <p:cNvSpPr>
            <a:spLocks noGrp="1"/>
          </p:cNvSpPr>
          <p:nvPr>
            <p:ph sz="quarter" idx="1"/>
          </p:nvPr>
        </p:nvSpPr>
        <p:spPr>
          <a:xfrm>
            <a:off x="457200" y="1600200"/>
            <a:ext cx="7620000" cy="4873625"/>
          </a:xfrm>
        </p:spPr>
        <p:txBody>
          <a:bodyPr>
            <a:normAutofit/>
          </a:bodyPr>
          <a:lstStyle/>
          <a:p>
            <a:r>
              <a:rPr lang="da-DK" sz="2400" dirty="0"/>
              <a:t>Parameter</a:t>
            </a:r>
          </a:p>
          <a:p>
            <a:r>
              <a:rPr lang="da-DK" sz="2400" dirty="0"/>
              <a:t>• </a:t>
            </a:r>
            <a:r>
              <a:rPr lang="el-GR" sz="2400" dirty="0"/>
              <a:t>ε</a:t>
            </a:r>
            <a:r>
              <a:rPr lang="da-DK" sz="2400" dirty="0"/>
              <a:t> = 2 cm</a:t>
            </a:r>
          </a:p>
          <a:p>
            <a:r>
              <a:rPr lang="da-DK" sz="2400" dirty="0"/>
              <a:t>• MinPts = 3</a:t>
            </a:r>
            <a:endParaRPr lang="en-US" sz="2400" dirty="0"/>
          </a:p>
        </p:txBody>
      </p:sp>
      <p:pic>
        <p:nvPicPr>
          <p:cNvPr id="5" name="Picture 4">
            <a:extLst>
              <a:ext uri="{FF2B5EF4-FFF2-40B4-BE49-F238E27FC236}">
                <a16:creationId xmlns:a16="http://schemas.microsoft.com/office/drawing/2014/main" id="{231BA748-479A-4C54-B990-E9E3D8F690EE}"/>
              </a:ext>
            </a:extLst>
          </p:cNvPr>
          <p:cNvPicPr>
            <a:picLocks noChangeAspect="1"/>
          </p:cNvPicPr>
          <p:nvPr/>
        </p:nvPicPr>
        <p:blipFill>
          <a:blip r:embed="rId3"/>
          <a:stretch>
            <a:fillRect/>
          </a:stretch>
        </p:blipFill>
        <p:spPr>
          <a:xfrm>
            <a:off x="4038600" y="1752600"/>
            <a:ext cx="3352800" cy="1505597"/>
          </a:xfrm>
          <a:prstGeom prst="rect">
            <a:avLst/>
          </a:prstGeom>
        </p:spPr>
      </p:pic>
      <p:pic>
        <p:nvPicPr>
          <p:cNvPr id="8" name="Picture 7">
            <a:extLst>
              <a:ext uri="{FF2B5EF4-FFF2-40B4-BE49-F238E27FC236}">
                <a16:creationId xmlns:a16="http://schemas.microsoft.com/office/drawing/2014/main" id="{CDEE4C6B-C0BD-4893-BEDA-837A54BA330F}"/>
              </a:ext>
            </a:extLst>
          </p:cNvPr>
          <p:cNvPicPr>
            <a:picLocks noChangeAspect="1"/>
          </p:cNvPicPr>
          <p:nvPr/>
        </p:nvPicPr>
        <p:blipFill>
          <a:blip r:embed="rId4"/>
          <a:stretch>
            <a:fillRect/>
          </a:stretch>
        </p:blipFill>
        <p:spPr>
          <a:xfrm>
            <a:off x="1295400" y="3599804"/>
            <a:ext cx="6324600" cy="2525290"/>
          </a:xfrm>
          <a:prstGeom prst="rect">
            <a:avLst/>
          </a:prstGeom>
        </p:spPr>
      </p:pic>
    </p:spTree>
    <p:extLst>
      <p:ext uri="{BB962C8B-B14F-4D97-AF65-F5344CB8AC3E}">
        <p14:creationId xmlns:p14="http://schemas.microsoft.com/office/powerpoint/2010/main" val="1740623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400" dirty="0">
                <a:latin typeface="+mn-lt"/>
              </a:rPr>
              <a:t>DBSCAN</a:t>
            </a:r>
            <a:endParaRPr lang="en-GB" sz="4400" dirty="0">
              <a:latin typeface="+mn-lt"/>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582" t="28718" r="46209" b="10476"/>
          <a:stretch/>
        </p:blipFill>
        <p:spPr bwMode="auto">
          <a:xfrm>
            <a:off x="429322" y="1295400"/>
            <a:ext cx="8409878"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8180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170" t="25641" r="44698" b="7839"/>
          <a:stretch/>
        </p:blipFill>
        <p:spPr bwMode="auto">
          <a:xfrm>
            <a:off x="381000" y="1371600"/>
            <a:ext cx="82296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457200" y="152400"/>
            <a:ext cx="8229600" cy="1143000"/>
          </a:xfrm>
        </p:spPr>
        <p:txBody>
          <a:bodyPr>
            <a:normAutofit/>
          </a:bodyPr>
          <a:lstStyle/>
          <a:p>
            <a:r>
              <a:rPr lang="en-US" sz="4400" dirty="0">
                <a:latin typeface="+mn-lt"/>
              </a:rPr>
              <a:t>DBSCAN</a:t>
            </a:r>
            <a:endParaRPr lang="en-GB" sz="4400" dirty="0">
              <a:latin typeface="+mn-lt"/>
            </a:endParaRPr>
          </a:p>
        </p:txBody>
      </p:sp>
    </p:spTree>
    <p:extLst>
      <p:ext uri="{BB962C8B-B14F-4D97-AF65-F5344CB8AC3E}">
        <p14:creationId xmlns:p14="http://schemas.microsoft.com/office/powerpoint/2010/main" val="2395229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7849" t="27596" r="46519" b="36237"/>
          <a:stretch/>
        </p:blipFill>
        <p:spPr bwMode="auto">
          <a:xfrm>
            <a:off x="1295400" y="1371600"/>
            <a:ext cx="73914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457200" y="152400"/>
            <a:ext cx="8229600" cy="1143000"/>
          </a:xfrm>
        </p:spPr>
        <p:txBody>
          <a:bodyPr>
            <a:normAutofit/>
          </a:bodyPr>
          <a:lstStyle/>
          <a:p>
            <a:r>
              <a:rPr lang="en-US" sz="4400" dirty="0">
                <a:latin typeface="+mn-lt"/>
              </a:rPr>
              <a:t>DBSCAN</a:t>
            </a:r>
            <a:endParaRPr lang="en-GB" sz="4400" dirty="0">
              <a:latin typeface="+mn-lt"/>
            </a:endParaRPr>
          </a:p>
        </p:txBody>
      </p:sp>
    </p:spTree>
    <p:extLst>
      <p:ext uri="{BB962C8B-B14F-4D97-AF65-F5344CB8AC3E}">
        <p14:creationId xmlns:p14="http://schemas.microsoft.com/office/powerpoint/2010/main" val="2539679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44" t="25800" r="59390" b="14851"/>
          <a:stretch/>
        </p:blipFill>
        <p:spPr bwMode="auto">
          <a:xfrm>
            <a:off x="838200" y="1371600"/>
            <a:ext cx="75438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457200" y="152400"/>
            <a:ext cx="8229600" cy="1143000"/>
          </a:xfrm>
        </p:spPr>
        <p:txBody>
          <a:bodyPr>
            <a:normAutofit/>
          </a:bodyPr>
          <a:lstStyle/>
          <a:p>
            <a:r>
              <a:rPr lang="en-US" sz="4400" dirty="0">
                <a:latin typeface="+mn-lt"/>
              </a:rPr>
              <a:t>DBSCAN</a:t>
            </a:r>
            <a:endParaRPr lang="en-GB" sz="4400" dirty="0">
              <a:latin typeface="+mn-lt"/>
            </a:endParaRPr>
          </a:p>
        </p:txBody>
      </p:sp>
    </p:spTree>
    <p:extLst>
      <p:ext uri="{BB962C8B-B14F-4D97-AF65-F5344CB8AC3E}">
        <p14:creationId xmlns:p14="http://schemas.microsoft.com/office/powerpoint/2010/main" val="42580925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400" dirty="0">
                <a:latin typeface="+mn-lt"/>
              </a:rPr>
              <a:t>References</a:t>
            </a:r>
            <a:endParaRPr lang="en-GB" sz="4400" dirty="0">
              <a:latin typeface="+mn-lt"/>
            </a:endParaRPr>
          </a:p>
        </p:txBody>
      </p:sp>
      <p:sp>
        <p:nvSpPr>
          <p:cNvPr id="3" name="Content Placeholder 2"/>
          <p:cNvSpPr>
            <a:spLocks noGrp="1"/>
          </p:cNvSpPr>
          <p:nvPr>
            <p:ph idx="1"/>
          </p:nvPr>
        </p:nvSpPr>
        <p:spPr>
          <a:xfrm>
            <a:off x="457200" y="1600200"/>
            <a:ext cx="8229600" cy="4724400"/>
          </a:xfrm>
        </p:spPr>
        <p:txBody>
          <a:bodyPr>
            <a:normAutofit/>
          </a:bodyPr>
          <a:lstStyle/>
          <a:p>
            <a:pPr algn="just">
              <a:lnSpc>
                <a:spcPct val="150000"/>
              </a:lnSpc>
            </a:pPr>
            <a:r>
              <a:rPr lang="en-GB" sz="2000" dirty="0"/>
              <a:t>Introduction to Data Mining, P.N. Tan, M. Steinbach, V. Kumar, Addison Wesley</a:t>
            </a:r>
          </a:p>
          <a:p>
            <a:pPr algn="just">
              <a:lnSpc>
                <a:spcPct val="150000"/>
              </a:lnSpc>
            </a:pPr>
            <a:r>
              <a:rPr lang="en-US" sz="2000" dirty="0"/>
              <a:t>An efficient k-means clustering algorithm: Analysis and implementation, T. </a:t>
            </a:r>
            <a:r>
              <a:rPr lang="en-US" sz="2000" dirty="0" err="1"/>
              <a:t>Kanungo</a:t>
            </a:r>
            <a:r>
              <a:rPr lang="en-US" sz="2000" dirty="0"/>
              <a:t>, D. M.</a:t>
            </a:r>
          </a:p>
          <a:p>
            <a:pPr algn="just">
              <a:lnSpc>
                <a:spcPct val="150000"/>
              </a:lnSpc>
            </a:pPr>
            <a:r>
              <a:rPr lang="en-GB" sz="2000" dirty="0"/>
              <a:t>Mount, N. Netanyahu, C. </a:t>
            </a:r>
            <a:r>
              <a:rPr lang="en-GB" sz="2000" dirty="0" err="1"/>
              <a:t>Piatko</a:t>
            </a:r>
            <a:r>
              <a:rPr lang="en-GB" sz="2000" dirty="0"/>
              <a:t>, R. Silverman, and A. Y. Wu, IEEE Trans. </a:t>
            </a:r>
            <a:r>
              <a:rPr lang="en-GB" sz="2000" dirty="0" err="1"/>
              <a:t>PatternAnalysis</a:t>
            </a:r>
            <a:r>
              <a:rPr lang="en-GB" sz="2000"/>
              <a:t> and </a:t>
            </a:r>
            <a:r>
              <a:rPr lang="en-GB" sz="2000" dirty="0"/>
              <a:t>Machine Intelligence, 24 (2002), 881-892</a:t>
            </a:r>
          </a:p>
          <a:p>
            <a:pPr algn="just">
              <a:lnSpc>
                <a:spcPct val="150000"/>
              </a:lnSpc>
            </a:pPr>
            <a:r>
              <a:rPr lang="en-GB" sz="2000" dirty="0"/>
              <a:t>http://www.cs.cmu.edu/~cga/ai-course/kmeans.pdf</a:t>
            </a:r>
          </a:p>
          <a:p>
            <a:pPr algn="just">
              <a:lnSpc>
                <a:spcPct val="150000"/>
              </a:lnSpc>
            </a:pPr>
            <a:r>
              <a:rPr lang="en-GB" sz="2000" dirty="0"/>
              <a:t>http://www.cse.msstate.edu/~url/teaching/CSE6633Fall08/lec16%20k-means.pdf</a:t>
            </a:r>
          </a:p>
        </p:txBody>
      </p:sp>
    </p:spTree>
    <p:extLst>
      <p:ext uri="{BB962C8B-B14F-4D97-AF65-F5344CB8AC3E}">
        <p14:creationId xmlns:p14="http://schemas.microsoft.com/office/powerpoint/2010/main" val="2792199566"/>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2689</TotalTime>
  <Words>2636</Words>
  <Application>Microsoft Office PowerPoint</Application>
  <PresentationFormat>On-screen Show (4:3)</PresentationFormat>
  <Paragraphs>842</Paragraphs>
  <Slides>36</Slides>
  <Notes>14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36</vt:i4>
      </vt:variant>
    </vt:vector>
  </HeadingPairs>
  <TitlesOfParts>
    <vt:vector size="49" baseType="lpstr">
      <vt:lpstr>Arial</vt:lpstr>
      <vt:lpstr>Calibri</vt:lpstr>
      <vt:lpstr>Century Schoolbook</vt:lpstr>
      <vt:lpstr>Constantia</vt:lpstr>
      <vt:lpstr>Lucida Sans Unicode</vt:lpstr>
      <vt:lpstr>Segoe Print</vt:lpstr>
      <vt:lpstr>Tahoma</vt:lpstr>
      <vt:lpstr>Times New Roman</vt:lpstr>
      <vt:lpstr>Wingdings</vt:lpstr>
      <vt:lpstr>Wingdings 2</vt:lpstr>
      <vt:lpstr>1_Custom Design</vt:lpstr>
      <vt:lpstr>Custom Design</vt:lpstr>
      <vt:lpstr>Flow</vt:lpstr>
      <vt:lpstr>PowerPoint Presentation</vt:lpstr>
      <vt:lpstr>Unsupervised Learning</vt:lpstr>
      <vt:lpstr>Unsupervised Learning</vt:lpstr>
      <vt:lpstr>Agglomerative Clustering - Example</vt:lpstr>
      <vt:lpstr>Agglomerative Clustering - Example</vt:lpstr>
      <vt:lpstr>Agglomerative Clustering - Example</vt:lpstr>
      <vt:lpstr>Agglomerative Clustering - Example</vt:lpstr>
      <vt:lpstr>Agglomerative Clustering - Example</vt:lpstr>
      <vt:lpstr>Agglomerative Clustering- Example</vt:lpstr>
      <vt:lpstr>Agglomerative Clustering - Example</vt:lpstr>
      <vt:lpstr>Agglomerative Clustering - Example</vt:lpstr>
      <vt:lpstr>Agglomerative Clustering - Example</vt:lpstr>
      <vt:lpstr>Agglomerative Clustering - Example</vt:lpstr>
      <vt:lpstr>Single Link Clustering</vt:lpstr>
      <vt:lpstr>Complete Link Clustering</vt:lpstr>
      <vt:lpstr>Average Link clustering</vt:lpstr>
      <vt:lpstr>Comparaison</vt:lpstr>
      <vt:lpstr>Agglomerative Clustering</vt:lpstr>
      <vt:lpstr>Density-based Clustering</vt:lpstr>
      <vt:lpstr>Density-based Clustering</vt:lpstr>
      <vt:lpstr>DBSCAN </vt:lpstr>
      <vt:lpstr>DBSCAN</vt:lpstr>
      <vt:lpstr>Why DBSCAN? </vt:lpstr>
      <vt:lpstr>DBSCAN Algorithm</vt:lpstr>
      <vt:lpstr>Core, Border &amp; Outlier</vt:lpstr>
      <vt:lpstr>Example</vt:lpstr>
      <vt:lpstr>Density-reachability</vt:lpstr>
      <vt:lpstr>Density-reachability</vt:lpstr>
      <vt:lpstr>DBSCAN Algorithm</vt:lpstr>
      <vt:lpstr>DBSCAN Algorithm: Example</vt:lpstr>
      <vt:lpstr>DBSCAN Algorithm: Example</vt:lpstr>
      <vt:lpstr>DBSCAN</vt:lpstr>
      <vt:lpstr>DBSCAN</vt:lpstr>
      <vt:lpstr>DBSCAN</vt:lpstr>
      <vt:lpstr>DBSCAN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Qurat ul Ain</dc:creator>
  <cp:lastModifiedBy>Qurat-ul-Ain</cp:lastModifiedBy>
  <cp:revision>281</cp:revision>
  <dcterms:created xsi:type="dcterms:W3CDTF">2010-09-06T07:03:57Z</dcterms:created>
  <dcterms:modified xsi:type="dcterms:W3CDTF">2025-10-18T05:37:54Z</dcterms:modified>
</cp:coreProperties>
</file>