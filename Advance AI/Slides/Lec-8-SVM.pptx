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4.jpg" ContentType="image/jpg"/>
  <Override PartName="/ppt/media/image6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60" r:id="rId2"/>
    <p:sldMasterId id="2147483688" r:id="rId3"/>
  </p:sldMasterIdLst>
  <p:notesMasterIdLst>
    <p:notesMasterId r:id="rId48"/>
  </p:notesMasterIdLst>
  <p:handoutMasterIdLst>
    <p:handoutMasterId r:id="rId49"/>
  </p:handoutMasterIdLst>
  <p:sldIdLst>
    <p:sldId id="275" r:id="rId4"/>
    <p:sldId id="463" r:id="rId5"/>
    <p:sldId id="523" r:id="rId6"/>
    <p:sldId id="569" r:id="rId7"/>
    <p:sldId id="570" r:id="rId8"/>
    <p:sldId id="571" r:id="rId9"/>
    <p:sldId id="532" r:id="rId10"/>
    <p:sldId id="558" r:id="rId11"/>
    <p:sldId id="584" r:id="rId12"/>
    <p:sldId id="585" r:id="rId13"/>
    <p:sldId id="560" r:id="rId14"/>
    <p:sldId id="561" r:id="rId15"/>
    <p:sldId id="562" r:id="rId16"/>
    <p:sldId id="524" r:id="rId17"/>
    <p:sldId id="525" r:id="rId18"/>
    <p:sldId id="572" r:id="rId19"/>
    <p:sldId id="538" r:id="rId20"/>
    <p:sldId id="539" r:id="rId21"/>
    <p:sldId id="575" r:id="rId22"/>
    <p:sldId id="602" r:id="rId23"/>
    <p:sldId id="576" r:id="rId24"/>
    <p:sldId id="581" r:id="rId25"/>
    <p:sldId id="599" r:id="rId26"/>
    <p:sldId id="615" r:id="rId27"/>
    <p:sldId id="613" r:id="rId28"/>
    <p:sldId id="629" r:id="rId29"/>
    <p:sldId id="614" r:id="rId30"/>
    <p:sldId id="588" r:id="rId31"/>
    <p:sldId id="589" r:id="rId32"/>
    <p:sldId id="590" r:id="rId33"/>
    <p:sldId id="591" r:id="rId34"/>
    <p:sldId id="592" r:id="rId35"/>
    <p:sldId id="607" r:id="rId36"/>
    <p:sldId id="612" r:id="rId37"/>
    <p:sldId id="616" r:id="rId38"/>
    <p:sldId id="617" r:id="rId39"/>
    <p:sldId id="619" r:id="rId40"/>
    <p:sldId id="620" r:id="rId41"/>
    <p:sldId id="608" r:id="rId42"/>
    <p:sldId id="621" r:id="rId43"/>
    <p:sldId id="630" r:id="rId44"/>
    <p:sldId id="622" r:id="rId45"/>
    <p:sldId id="565" r:id="rId46"/>
    <p:sldId id="566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2288" autoAdjust="0"/>
  </p:normalViewPr>
  <p:slideViewPr>
    <p:cSldViewPr>
      <p:cViewPr varScale="1">
        <p:scale>
          <a:sx n="73" d="100"/>
          <a:sy n="73" d="100"/>
        </p:scale>
        <p:origin x="175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4.xml"/><Relationship Id="rId1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97F04-B7F0-46D7-ADDD-D83F3A551FDC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8A15A-E4B5-414C-837E-C6BB1B7F09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8806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55BC4-54A9-44EE-A205-5278EB21D91F}" type="datetimeFigureOut">
              <a:rPr lang="en-US" smtClean="0"/>
              <a:pPr/>
              <a:t>10/18/2025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87BF1-B511-42D4-934F-D4C71937D3E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537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First introduced in COLT-92 by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Boser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Guyon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Vapnik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COLT = computational learning theory</a:t>
            </a:r>
          </a:p>
          <a:p>
            <a:pPr lvl="2" eaLnBrk="1" hangingPunct="1">
              <a:spcBef>
                <a:spcPct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Scholkopf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et al. ICANN 96. 47-52.</a:t>
            </a:r>
          </a:p>
        </p:txBody>
      </p:sp>
    </p:spTree>
    <p:extLst>
      <p:ext uri="{BB962C8B-B14F-4D97-AF65-F5344CB8AC3E}">
        <p14:creationId xmlns:p14="http://schemas.microsoft.com/office/powerpoint/2010/main" val="1702437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76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3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1. Logistic Regression: Probabilistic Approach</a:t>
            </a:r>
          </a:p>
          <a:p>
            <a:r>
              <a:rPr lang="en-GB" b="1" dirty="0"/>
              <a:t>What does it do?</a:t>
            </a:r>
            <a:endParaRPr lang="en-GB" dirty="0"/>
          </a:p>
          <a:p>
            <a:pPr lvl="1"/>
            <a:r>
              <a:rPr lang="en-GB" dirty="0"/>
              <a:t>It calculates the </a:t>
            </a:r>
            <a:r>
              <a:rPr lang="en-GB" b="1" dirty="0"/>
              <a:t>probability</a:t>
            </a:r>
            <a:r>
              <a:rPr lang="en-GB" dirty="0"/>
              <a:t> that a given data point belongs to a certain class.</a:t>
            </a:r>
          </a:p>
          <a:p>
            <a:pPr lvl="1"/>
            <a:r>
              <a:rPr lang="en-GB" dirty="0"/>
              <a:t>The output is a probability (between 0 and 1), and you set a threshold (like 0.5) to classify the data.</a:t>
            </a:r>
          </a:p>
          <a:p>
            <a:r>
              <a:rPr lang="en-GB" b="1" dirty="0"/>
              <a:t>How does it find the hyperplane?</a:t>
            </a:r>
            <a:endParaRPr lang="en-GB" dirty="0"/>
          </a:p>
          <a:p>
            <a:pPr lvl="1"/>
            <a:r>
              <a:rPr lang="en-GB" dirty="0"/>
              <a:t>It chooses the hyperplane (decision boundary) that best fits the data by maximizing the likelihood of the observed labels—hence, it’s a </a:t>
            </a:r>
            <a:r>
              <a:rPr lang="en-GB" b="1" dirty="0"/>
              <a:t>probabilistic model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decision is based on the </a:t>
            </a:r>
            <a:r>
              <a:rPr lang="en-GB" b="1" dirty="0"/>
              <a:t>logistic (sigmoid) function</a:t>
            </a:r>
            <a:r>
              <a:rPr lang="en-GB" dirty="0"/>
              <a:t>.</a:t>
            </a:r>
          </a:p>
          <a:p>
            <a:r>
              <a:rPr lang="en-GB" b="1" dirty="0"/>
              <a:t>Interpretation:</a:t>
            </a:r>
            <a:endParaRPr lang="en-GB" dirty="0"/>
          </a:p>
          <a:p>
            <a:pPr lvl="1"/>
            <a:r>
              <a:rPr lang="en-GB" dirty="0"/>
              <a:t>You can say things like, "This email has a 78% probability of being spam."</a:t>
            </a:r>
          </a:p>
          <a:p>
            <a:r>
              <a:rPr lang="en-GB" b="1" dirty="0"/>
              <a:t>2. SVM: Statistical (Geometric) Approach</a:t>
            </a:r>
          </a:p>
          <a:p>
            <a:r>
              <a:rPr lang="en-GB" b="1" dirty="0"/>
              <a:t>What does it do?</a:t>
            </a:r>
            <a:endParaRPr lang="en-GB" dirty="0"/>
          </a:p>
          <a:p>
            <a:pPr lvl="1"/>
            <a:r>
              <a:rPr lang="en-GB" dirty="0"/>
              <a:t>It finds the hyperplane that </a:t>
            </a:r>
            <a:r>
              <a:rPr lang="en-GB" b="1" dirty="0"/>
              <a:t>maximizes the margin</a:t>
            </a:r>
            <a:r>
              <a:rPr lang="en-GB" dirty="0"/>
              <a:t>—the distance between the hyperplane and the nearest data points from each class (these are the "support vectors").</a:t>
            </a:r>
          </a:p>
          <a:p>
            <a:r>
              <a:rPr lang="en-GB" b="1" dirty="0"/>
              <a:t>How does it find the hyperplane?</a:t>
            </a:r>
            <a:endParaRPr lang="en-GB" dirty="0"/>
          </a:p>
          <a:p>
            <a:pPr lvl="1"/>
            <a:r>
              <a:rPr lang="en-GB" dirty="0"/>
              <a:t>The algorithm is focused on </a:t>
            </a:r>
            <a:r>
              <a:rPr lang="en-GB" b="1" dirty="0"/>
              <a:t>geometry</a:t>
            </a:r>
            <a:r>
              <a:rPr lang="en-GB" dirty="0"/>
              <a:t>: it doesn’t care about probability; it cares about </a:t>
            </a:r>
            <a:r>
              <a:rPr lang="en-GB" b="1" dirty="0"/>
              <a:t>the widest possible gap</a:t>
            </a:r>
            <a:r>
              <a:rPr lang="en-GB" dirty="0"/>
              <a:t> between classes.</a:t>
            </a:r>
          </a:p>
          <a:p>
            <a:pPr lvl="1"/>
            <a:r>
              <a:rPr lang="en-GB" dirty="0"/>
              <a:t>It’s more about the </a:t>
            </a:r>
            <a:r>
              <a:rPr lang="en-GB" b="1" dirty="0"/>
              <a:t>position and spacing</a:t>
            </a:r>
            <a:r>
              <a:rPr lang="en-GB" dirty="0"/>
              <a:t> of data points, not their likelihood.</a:t>
            </a:r>
          </a:p>
          <a:p>
            <a:r>
              <a:rPr lang="en-GB" b="1" dirty="0"/>
              <a:t>Interpretation:</a:t>
            </a:r>
            <a:endParaRPr lang="en-GB" dirty="0"/>
          </a:p>
          <a:p>
            <a:pPr lvl="1"/>
            <a:r>
              <a:rPr lang="en-GB" dirty="0"/>
              <a:t>The output is a </a:t>
            </a:r>
            <a:r>
              <a:rPr lang="en-GB" b="1" dirty="0"/>
              <a:t>class label</a:t>
            </a:r>
            <a:r>
              <a:rPr lang="en-GB" dirty="0"/>
              <a:t> (spam or not spam), not a probability.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840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384A31-7D87-4BC5-8A2D-D37B1F541BE6}" type="slidenum">
              <a:rPr lang="en-US">
                <a:latin typeface="Calibri" pitchFamily="34" charset="0"/>
              </a:rPr>
              <a:pPr eaLnBrk="1" hangingPunct="1"/>
              <a:t>14</a:t>
            </a:fld>
            <a:endParaRPr lang="en-US">
              <a:latin typeface="Calibri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Perceptron learning rule can be used to find any decision boundary between class 1 and class 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3E9BFEF-E922-4631-8EF0-CF5B2B1001F9}" type="slidenum">
              <a:rPr lang="en-US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1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92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1DAE4F-5839-4481-B6D2-CA2141073C29}" type="slidenum">
              <a:rPr lang="en-US">
                <a:latin typeface="Calibri" pitchFamily="34" charset="0"/>
              </a:rPr>
              <a:pPr eaLnBrk="1" hangingPunct="1"/>
              <a:t>20</a:t>
            </a:fld>
            <a:endParaRPr lang="en-US">
              <a:latin typeface="Calibri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C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12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CB2925-9DF1-4725-AE08-906F3C7A03A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85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44C041-D9B5-4579-886A-2FC85F121EEC}" type="slidenum">
              <a:rPr lang="en-US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/>
              <a:t>So, if change internal points, no effect on the decision boundary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3CB63F-F200-48F2-8045-3403052B1ECB}" type="slidenum">
              <a:rPr lang="en-US">
                <a:latin typeface="Calibri" pitchFamily="34" charset="0"/>
              </a:rPr>
              <a:pPr eaLnBrk="1" hangingPunct="1"/>
              <a:t>24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2BC9A47-C5CE-4470-82E0-48EC99A37367}" type="slidenum">
              <a:rPr lang="en-US">
                <a:latin typeface="Calibri" pitchFamily="34" charset="0"/>
              </a:rPr>
              <a:pPr eaLnBrk="1" hangingPunct="1"/>
              <a:t>35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120163-D11A-4D5F-A618-BA95FD2685E9}" type="slidenum">
              <a:rPr lang="en-US">
                <a:latin typeface="Calibri" pitchFamily="34" charset="0"/>
              </a:rPr>
              <a:pPr eaLnBrk="1" hangingPunct="1"/>
              <a:t>36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2FA1C22-3EBC-487E-916B-2EB8C4C2F15F}" type="slidenum">
              <a:rPr lang="en-US">
                <a:latin typeface="Calibri" pitchFamily="34" charset="0"/>
              </a:rPr>
              <a:pPr eaLnBrk="1" hangingPunct="1"/>
              <a:t>37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30E41B-E46E-4A87-BEEC-919A98DC0BE8}" type="slidenum">
              <a:rPr lang="en-US">
                <a:latin typeface="Calibri" pitchFamily="34" charset="0"/>
              </a:rPr>
              <a:pPr eaLnBrk="1" hangingPunct="1"/>
              <a:t>38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029ADCD-82B8-47E2-9A3F-A6321B9C118B}" type="slidenum">
              <a:rPr lang="en-US">
                <a:latin typeface="Calibri" pitchFamily="34" charset="0"/>
              </a:rPr>
              <a:pPr eaLnBrk="1" hangingPunct="1"/>
              <a:t>40</a:t>
            </a:fld>
            <a:endParaRPr lang="en-US">
              <a:latin typeface="Calibri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Despite violating Mercer condition, the sigmoid kernel function can still work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B53229A-49CF-455D-A422-BAB7EAF58A1B}" type="slidenum">
              <a:rPr lang="en-US">
                <a:latin typeface="Calibri" pitchFamily="34" charset="0"/>
              </a:rPr>
              <a:pPr eaLnBrk="1" hangingPunct="1"/>
              <a:t>42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20B50-39EF-44D7-B77E-BC06CACC3298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741C7-A547-470A-8A71-570048D0A503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88D9F-3045-4BDE-AE12-CE1B8BEA189A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683C-BD69-4A53-A4E8-96C8FE689FC6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FD66-D98F-4FD2-B2B7-DE3725EBF5E2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2A340-044F-4950-A347-AE08FC41D59B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AFD09-3B47-49B6-A0D8-93FC3B878DF7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FBF8-A890-4076-9CDC-33BD6F860B80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5A3E-0179-4C5C-BBD7-44696C54E62A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33AC-75CA-45B2-81B3-2B3C53D1861D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8972-7B0C-4285-B805-2849118A8115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816448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8CF3-D937-44F0-B020-7BEF10619787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FB42-E943-4656-9858-BE4EFD5F773F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4D7DF-E044-40AD-B979-24424DA24003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B49B5-4D4C-4812-8883-4F4DD5A1AFF0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2D8C-514C-4616-B259-71EEB8EF9F63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0680-00AC-4031-AC78-145D221CA8A8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04DC4-7050-46CA-A934-3C41C1007FB0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0F8A-A49F-4045-AFF2-A11A7C4BDF22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615DC-5481-48E2-9FC0-4C29415D2C74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A572F-ED11-4AAA-92F7-D549108A2DF1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1DCB-DB6B-4421-95E6-320607FA7817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7C26-543F-40D7-BF3A-407F035ACF67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3656-373B-4C46-AB7F-6BDD8C1E9F42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1CA4B-4885-42E6-8752-B46AAE55C7A1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9DDBE-3CA6-42B0-830C-0C9D0D1F7596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F4EFC-3807-44F2-A97D-CC2932FD9849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E6DB2-A428-4E1D-BB15-E4C9A7323E15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2846-AE4A-4E30-93EB-B03D692AD9E1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36DE2-24C7-494E-9F72-967C6E4478F9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98001-E281-4597-B91F-68B744AA380B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AE2D-A9B6-4933-BF01-E07CF7A3A2F8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3C5E0-60D9-4F13-B24B-B7CF02106F35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9A9BF-850E-4E65-8813-A50D939DA896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E616-2F3C-4050-B307-A9CD445F2A0F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78B56-43D0-4056-8F2B-33B95BD52AD2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9A62E-7813-4A85-9DDE-4C1F7E9AECCB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BBE31-3D5C-4E9F-A01C-FD5ED96C4C2C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86890-B78D-4F12-914E-2C09982F997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70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7B73E-BCB3-4D19-A2E3-1FFBD94C491E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E1E52-8D30-4AFD-A16C-1D30B72FDE1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413394-5E29-4D4C-B6DA-16D47029BFDC}" type="datetime1">
              <a:rPr lang="en-US" smtClean="0"/>
              <a:t>10/18/2025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2AC90BD-678B-495C-AC87-66050D917D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7.xml"/><Relationship Id="rId7" Type="http://schemas.openxmlformats.org/officeDocument/2006/relationships/image" Target="../media/image1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19.png"/><Relationship Id="rId4" Type="http://schemas.openxmlformats.org/officeDocument/2006/relationships/tags" Target="../tags/tag8.xml"/><Relationship Id="rId9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1.xml"/><Relationship Id="rId7" Type="http://schemas.openxmlformats.org/officeDocument/2006/relationships/image" Target="../media/image20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3.png"/><Relationship Id="rId4" Type="http://schemas.openxmlformats.org/officeDocument/2006/relationships/tags" Target="../tags/tag12.xml"/><Relationship Id="rId9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analyticsvidhya.com/wp-content/uploads/2015/10/SVM_6.png" TargetMode="Externa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Kernel_method" TargetMode="Externa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15.xml"/><Relationship Id="rId7" Type="http://schemas.openxmlformats.org/officeDocument/2006/relationships/image" Target="../media/image30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9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C9E7AF35-8116-4962-B1EC-6B1FF6F1DC08}"/>
              </a:ext>
            </a:extLst>
          </p:cNvPr>
          <p:cNvGrpSpPr/>
          <p:nvPr/>
        </p:nvGrpSpPr>
        <p:grpSpPr>
          <a:xfrm>
            <a:off x="941197" y="996984"/>
            <a:ext cx="7051431" cy="2601248"/>
            <a:chOff x="1093177" y="989695"/>
            <a:chExt cx="10005646" cy="3691046"/>
          </a:xfrm>
          <a:solidFill>
            <a:schemeClr val="accent1">
              <a:lumMod val="5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4302FF1-D9B6-4C53-A2F6-0E3993A2689C}"/>
                </a:ext>
              </a:extLst>
            </p:cNvPr>
            <p:cNvSpPr/>
            <p:nvPr/>
          </p:nvSpPr>
          <p:spPr>
            <a:xfrm flipH="1" flipV="1">
              <a:off x="6623408" y="1349111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903A63-4FFE-45B1-82B1-6934A2CAAEAC}"/>
                </a:ext>
              </a:extLst>
            </p:cNvPr>
            <p:cNvSpPr/>
            <p:nvPr/>
          </p:nvSpPr>
          <p:spPr>
            <a:xfrm>
              <a:off x="1667706" y="1575962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1C6270-AAE8-43D7-B33E-A9AC33F2D067}"/>
                </a:ext>
              </a:extLst>
            </p:cNvPr>
            <p:cNvSpPr/>
            <p:nvPr/>
          </p:nvSpPr>
          <p:spPr>
            <a:xfrm flipH="1" flipV="1">
              <a:off x="6724533" y="2670316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473D73F-D2DE-4109-91E2-410C80B504F3}"/>
                </a:ext>
              </a:extLst>
            </p:cNvPr>
            <p:cNvGrpSpPr/>
            <p:nvPr/>
          </p:nvGrpSpPr>
          <p:grpSpPr>
            <a:xfrm>
              <a:off x="4692156" y="989695"/>
              <a:ext cx="2795565" cy="3631621"/>
              <a:chOff x="1257518" y="2316205"/>
              <a:chExt cx="1389446" cy="1804981"/>
            </a:xfrm>
            <a:grpFill/>
          </p:grpSpPr>
          <p:sp>
            <p:nvSpPr>
              <p:cNvPr id="40" name="Graphic 2">
                <a:extLst>
                  <a:ext uri="{FF2B5EF4-FFF2-40B4-BE49-F238E27FC236}">
                    <a16:creationId xmlns:a16="http://schemas.microsoft.com/office/drawing/2014/main" id="{53347B15-B39D-4B3A-92A7-16F069593A4D}"/>
                  </a:ext>
                </a:extLst>
              </p:cNvPr>
              <p:cNvSpPr/>
              <p:nvPr/>
            </p:nvSpPr>
            <p:spPr>
              <a:xfrm>
                <a:off x="1257518" y="2316205"/>
                <a:ext cx="1389446" cy="1804981"/>
              </a:xfrm>
              <a:custGeom>
                <a:avLst/>
                <a:gdLst>
                  <a:gd name="connsiteX0" fmla="*/ 198332 w 800100"/>
                  <a:gd name="connsiteY0" fmla="*/ 961703 h 962025"/>
                  <a:gd name="connsiteX1" fmla="*/ 646959 w 800100"/>
                  <a:gd name="connsiteY1" fmla="*/ 961703 h 962025"/>
                  <a:gd name="connsiteX2" fmla="*/ 610764 w 800100"/>
                  <a:gd name="connsiteY2" fmla="*/ 885503 h 962025"/>
                  <a:gd name="connsiteX3" fmla="*/ 686964 w 800100"/>
                  <a:gd name="connsiteY3" fmla="*/ 625471 h 962025"/>
                  <a:gd name="connsiteX4" fmla="*/ 786024 w 800100"/>
                  <a:gd name="connsiteY4" fmla="*/ 283523 h 962025"/>
                  <a:gd name="connsiteX5" fmla="*/ 359304 w 800100"/>
                  <a:gd name="connsiteY5" fmla="*/ 14918 h 962025"/>
                  <a:gd name="connsiteX6" fmla="*/ 124037 w 800100"/>
                  <a:gd name="connsiteY6" fmla="*/ 211133 h 962025"/>
                  <a:gd name="connsiteX7" fmla="*/ 116417 w 800100"/>
                  <a:gd name="connsiteY7" fmla="*/ 270188 h 962025"/>
                  <a:gd name="connsiteX8" fmla="*/ 59267 w 800100"/>
                  <a:gd name="connsiteY8" fmla="*/ 367343 h 962025"/>
                  <a:gd name="connsiteX9" fmla="*/ 13547 w 800100"/>
                  <a:gd name="connsiteY9" fmla="*/ 427351 h 962025"/>
                  <a:gd name="connsiteX10" fmla="*/ 24024 w 800100"/>
                  <a:gd name="connsiteY10" fmla="*/ 515933 h 962025"/>
                  <a:gd name="connsiteX11" fmla="*/ 63077 w 800100"/>
                  <a:gd name="connsiteY11" fmla="*/ 552128 h 962025"/>
                  <a:gd name="connsiteX12" fmla="*/ 18309 w 800100"/>
                  <a:gd name="connsiteY12" fmla="*/ 570226 h 962025"/>
                  <a:gd name="connsiteX13" fmla="*/ 30692 w 800100"/>
                  <a:gd name="connsiteY13" fmla="*/ 609278 h 962025"/>
                  <a:gd name="connsiteX14" fmla="*/ 29739 w 800100"/>
                  <a:gd name="connsiteY14" fmla="*/ 673096 h 962025"/>
                  <a:gd name="connsiteX15" fmla="*/ 85937 w 800100"/>
                  <a:gd name="connsiteY15" fmla="*/ 744533 h 962025"/>
                  <a:gd name="connsiteX16" fmla="*/ 225002 w 800100"/>
                  <a:gd name="connsiteY16" fmla="*/ 764536 h 962025"/>
                  <a:gd name="connsiteX17" fmla="*/ 198332 w 800100"/>
                  <a:gd name="connsiteY17" fmla="*/ 961703 h 962025"/>
                  <a:gd name="connsiteX0" fmla="*/ 173835 w 788240"/>
                  <a:gd name="connsiteY0" fmla="*/ 1023975 h 1023975"/>
                  <a:gd name="connsiteX1" fmla="*/ 639815 w 788240"/>
                  <a:gd name="connsiteY1" fmla="*/ 954560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8932"/>
                  <a:gd name="connsiteX1" fmla="*/ 654690 w 788240"/>
                  <a:gd name="connsiteY1" fmla="*/ 1028932 h 1028932"/>
                  <a:gd name="connsiteX2" fmla="*/ 603620 w 788240"/>
                  <a:gd name="connsiteY2" fmla="*/ 878360 h 1028932"/>
                  <a:gd name="connsiteX3" fmla="*/ 679820 w 788240"/>
                  <a:gd name="connsiteY3" fmla="*/ 618328 h 1028932"/>
                  <a:gd name="connsiteX4" fmla="*/ 778880 w 788240"/>
                  <a:gd name="connsiteY4" fmla="*/ 276380 h 1028932"/>
                  <a:gd name="connsiteX5" fmla="*/ 352160 w 788240"/>
                  <a:gd name="connsiteY5" fmla="*/ 7775 h 1028932"/>
                  <a:gd name="connsiteX6" fmla="*/ 116893 w 788240"/>
                  <a:gd name="connsiteY6" fmla="*/ 203990 h 1028932"/>
                  <a:gd name="connsiteX7" fmla="*/ 109273 w 788240"/>
                  <a:gd name="connsiteY7" fmla="*/ 263045 h 1028932"/>
                  <a:gd name="connsiteX8" fmla="*/ 52123 w 788240"/>
                  <a:gd name="connsiteY8" fmla="*/ 360200 h 1028932"/>
                  <a:gd name="connsiteX9" fmla="*/ 6403 w 788240"/>
                  <a:gd name="connsiteY9" fmla="*/ 420208 h 1028932"/>
                  <a:gd name="connsiteX10" fmla="*/ 16880 w 788240"/>
                  <a:gd name="connsiteY10" fmla="*/ 508790 h 1028932"/>
                  <a:gd name="connsiteX11" fmla="*/ 55933 w 788240"/>
                  <a:gd name="connsiteY11" fmla="*/ 544985 h 1028932"/>
                  <a:gd name="connsiteX12" fmla="*/ 11165 w 788240"/>
                  <a:gd name="connsiteY12" fmla="*/ 563083 h 1028932"/>
                  <a:gd name="connsiteX13" fmla="*/ 23548 w 788240"/>
                  <a:gd name="connsiteY13" fmla="*/ 602135 h 1028932"/>
                  <a:gd name="connsiteX14" fmla="*/ 22595 w 788240"/>
                  <a:gd name="connsiteY14" fmla="*/ 665953 h 1028932"/>
                  <a:gd name="connsiteX15" fmla="*/ 78793 w 788240"/>
                  <a:gd name="connsiteY15" fmla="*/ 737390 h 1028932"/>
                  <a:gd name="connsiteX16" fmla="*/ 217858 w 788240"/>
                  <a:gd name="connsiteY16" fmla="*/ 757393 h 1028932"/>
                  <a:gd name="connsiteX17" fmla="*/ 173835 w 788240"/>
                  <a:gd name="connsiteY17" fmla="*/ 1023975 h 1028932"/>
                  <a:gd name="connsiteX0" fmla="*/ 173835 w 788240"/>
                  <a:gd name="connsiteY0" fmla="*/ 1023975 h 1023975"/>
                  <a:gd name="connsiteX1" fmla="*/ 674523 w 788240"/>
                  <a:gd name="connsiteY1" fmla="*/ 1023974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4058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19016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  <a:gd name="connsiteX0" fmla="*/ 173835 w 788240"/>
                  <a:gd name="connsiteY0" fmla="*/ 1023975 h 1023975"/>
                  <a:gd name="connsiteX1" fmla="*/ 679481 w 788240"/>
                  <a:gd name="connsiteY1" fmla="*/ 1021495 h 1023975"/>
                  <a:gd name="connsiteX2" fmla="*/ 603620 w 788240"/>
                  <a:gd name="connsiteY2" fmla="*/ 878360 h 1023975"/>
                  <a:gd name="connsiteX3" fmla="*/ 679820 w 788240"/>
                  <a:gd name="connsiteY3" fmla="*/ 618328 h 1023975"/>
                  <a:gd name="connsiteX4" fmla="*/ 778880 w 788240"/>
                  <a:gd name="connsiteY4" fmla="*/ 276380 h 1023975"/>
                  <a:gd name="connsiteX5" fmla="*/ 352160 w 788240"/>
                  <a:gd name="connsiteY5" fmla="*/ 7775 h 1023975"/>
                  <a:gd name="connsiteX6" fmla="*/ 116893 w 788240"/>
                  <a:gd name="connsiteY6" fmla="*/ 203990 h 1023975"/>
                  <a:gd name="connsiteX7" fmla="*/ 109273 w 788240"/>
                  <a:gd name="connsiteY7" fmla="*/ 263045 h 1023975"/>
                  <a:gd name="connsiteX8" fmla="*/ 52123 w 788240"/>
                  <a:gd name="connsiteY8" fmla="*/ 360200 h 1023975"/>
                  <a:gd name="connsiteX9" fmla="*/ 6403 w 788240"/>
                  <a:gd name="connsiteY9" fmla="*/ 420208 h 1023975"/>
                  <a:gd name="connsiteX10" fmla="*/ 16880 w 788240"/>
                  <a:gd name="connsiteY10" fmla="*/ 508790 h 1023975"/>
                  <a:gd name="connsiteX11" fmla="*/ 55933 w 788240"/>
                  <a:gd name="connsiteY11" fmla="*/ 544985 h 1023975"/>
                  <a:gd name="connsiteX12" fmla="*/ 11165 w 788240"/>
                  <a:gd name="connsiteY12" fmla="*/ 563083 h 1023975"/>
                  <a:gd name="connsiteX13" fmla="*/ 23548 w 788240"/>
                  <a:gd name="connsiteY13" fmla="*/ 602135 h 1023975"/>
                  <a:gd name="connsiteX14" fmla="*/ 22595 w 788240"/>
                  <a:gd name="connsiteY14" fmla="*/ 665953 h 1023975"/>
                  <a:gd name="connsiteX15" fmla="*/ 78793 w 788240"/>
                  <a:gd name="connsiteY15" fmla="*/ 737390 h 1023975"/>
                  <a:gd name="connsiteX16" fmla="*/ 217858 w 788240"/>
                  <a:gd name="connsiteY16" fmla="*/ 757393 h 1023975"/>
                  <a:gd name="connsiteX17" fmla="*/ 173835 w 788240"/>
                  <a:gd name="connsiteY17" fmla="*/ 1023975 h 102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88240" h="1023975">
                    <a:moveTo>
                      <a:pt x="173835" y="1023975"/>
                    </a:moveTo>
                    <a:lnTo>
                      <a:pt x="679481" y="1021495"/>
                    </a:lnTo>
                    <a:cubicBezTo>
                      <a:pt x="666146" y="995778"/>
                      <a:pt x="612193" y="896458"/>
                      <a:pt x="603620" y="878360"/>
                    </a:cubicBezTo>
                    <a:cubicBezTo>
                      <a:pt x="579808" y="822163"/>
                      <a:pt x="596953" y="699290"/>
                      <a:pt x="679820" y="618328"/>
                    </a:cubicBezTo>
                    <a:cubicBezTo>
                      <a:pt x="758878" y="541175"/>
                      <a:pt x="810313" y="391633"/>
                      <a:pt x="778880" y="276380"/>
                    </a:cubicBezTo>
                    <a:cubicBezTo>
                      <a:pt x="727445" y="85880"/>
                      <a:pt x="555995" y="-32230"/>
                      <a:pt x="352160" y="7775"/>
                    </a:cubicBezTo>
                    <a:cubicBezTo>
                      <a:pt x="352160" y="7775"/>
                      <a:pt x="175948" y="29683"/>
                      <a:pt x="116893" y="203990"/>
                    </a:cubicBezTo>
                    <a:cubicBezTo>
                      <a:pt x="116893" y="203990"/>
                      <a:pt x="107368" y="229708"/>
                      <a:pt x="109273" y="263045"/>
                    </a:cubicBezTo>
                    <a:cubicBezTo>
                      <a:pt x="114035" y="316385"/>
                      <a:pt x="75935" y="347818"/>
                      <a:pt x="52123" y="360200"/>
                    </a:cubicBezTo>
                    <a:cubicBezTo>
                      <a:pt x="27358" y="373535"/>
                      <a:pt x="-16457" y="395443"/>
                      <a:pt x="6403" y="420208"/>
                    </a:cubicBezTo>
                    <a:cubicBezTo>
                      <a:pt x="34025" y="450688"/>
                      <a:pt x="32120" y="489740"/>
                      <a:pt x="16880" y="508790"/>
                    </a:cubicBezTo>
                    <a:cubicBezTo>
                      <a:pt x="-2170" y="531650"/>
                      <a:pt x="53075" y="532603"/>
                      <a:pt x="55933" y="544985"/>
                    </a:cubicBezTo>
                    <a:cubicBezTo>
                      <a:pt x="58790" y="558320"/>
                      <a:pt x="14975" y="547843"/>
                      <a:pt x="11165" y="563083"/>
                    </a:cubicBezTo>
                    <a:cubicBezTo>
                      <a:pt x="7355" y="579275"/>
                      <a:pt x="19738" y="583085"/>
                      <a:pt x="23548" y="602135"/>
                    </a:cubicBezTo>
                    <a:cubicBezTo>
                      <a:pt x="27358" y="621185"/>
                      <a:pt x="24500" y="656428"/>
                      <a:pt x="22595" y="665953"/>
                    </a:cubicBezTo>
                    <a:cubicBezTo>
                      <a:pt x="20690" y="675478"/>
                      <a:pt x="26405" y="732628"/>
                      <a:pt x="78793" y="737390"/>
                    </a:cubicBezTo>
                    <a:cubicBezTo>
                      <a:pt x="131180" y="742153"/>
                      <a:pt x="196903" y="731675"/>
                      <a:pt x="217858" y="757393"/>
                    </a:cubicBezTo>
                    <a:cubicBezTo>
                      <a:pt x="236908" y="783110"/>
                      <a:pt x="197647" y="952538"/>
                      <a:pt x="173835" y="10239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 dirty="0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79248F5-92F6-4CD2-BAF4-37327B4E7647}"/>
                  </a:ext>
                </a:extLst>
              </p:cNvPr>
              <p:cNvGrpSpPr/>
              <p:nvPr/>
            </p:nvGrpSpPr>
            <p:grpSpPr>
              <a:xfrm>
                <a:off x="1684786" y="2516290"/>
                <a:ext cx="702035" cy="687994"/>
                <a:chOff x="1684786" y="2516290"/>
                <a:chExt cx="702035" cy="687994"/>
              </a:xfrm>
              <a:grpFill/>
            </p:grpSpPr>
            <p:sp>
              <p:nvSpPr>
                <p:cNvPr id="42" name="Graphic 4">
                  <a:extLst>
                    <a:ext uri="{FF2B5EF4-FFF2-40B4-BE49-F238E27FC236}">
                      <a16:creationId xmlns:a16="http://schemas.microsoft.com/office/drawing/2014/main" id="{18927834-337B-4774-B8C4-66F5BF0CE3E4}"/>
                    </a:ext>
                  </a:extLst>
                </p:cNvPr>
                <p:cNvSpPr/>
                <p:nvPr/>
              </p:nvSpPr>
              <p:spPr>
                <a:xfrm>
                  <a:off x="1684786" y="2516290"/>
                  <a:ext cx="702035" cy="687994"/>
                </a:xfrm>
                <a:custGeom>
                  <a:avLst/>
                  <a:gdLst>
                    <a:gd name="connsiteX0" fmla="*/ 462439 w 476250"/>
                    <a:gd name="connsiteY0" fmla="*/ 160496 h 466725"/>
                    <a:gd name="connsiteX1" fmla="*/ 469106 w 476250"/>
                    <a:gd name="connsiteY1" fmla="*/ 153829 h 466725"/>
                    <a:gd name="connsiteX2" fmla="*/ 469106 w 476250"/>
                    <a:gd name="connsiteY2" fmla="*/ 149066 h 466725"/>
                    <a:gd name="connsiteX3" fmla="*/ 462439 w 476250"/>
                    <a:gd name="connsiteY3" fmla="*/ 142399 h 466725"/>
                    <a:gd name="connsiteX4" fmla="*/ 415766 w 476250"/>
                    <a:gd name="connsiteY4" fmla="*/ 142399 h 466725"/>
                    <a:gd name="connsiteX5" fmla="*/ 415766 w 476250"/>
                    <a:gd name="connsiteY5" fmla="*/ 93821 h 466725"/>
                    <a:gd name="connsiteX6" fmla="*/ 391954 w 476250"/>
                    <a:gd name="connsiteY6" fmla="*/ 70009 h 466725"/>
                    <a:gd name="connsiteX7" fmla="*/ 333851 w 476250"/>
                    <a:gd name="connsiteY7" fmla="*/ 70009 h 466725"/>
                    <a:gd name="connsiteX8" fmla="*/ 333851 w 476250"/>
                    <a:gd name="connsiteY8" fmla="*/ 13811 h 466725"/>
                    <a:gd name="connsiteX9" fmla="*/ 327184 w 476250"/>
                    <a:gd name="connsiteY9" fmla="*/ 7144 h 466725"/>
                    <a:gd name="connsiteX10" fmla="*/ 322421 w 476250"/>
                    <a:gd name="connsiteY10" fmla="*/ 7144 h 466725"/>
                    <a:gd name="connsiteX11" fmla="*/ 315754 w 476250"/>
                    <a:gd name="connsiteY11" fmla="*/ 13811 h 466725"/>
                    <a:gd name="connsiteX12" fmla="*/ 315754 w 476250"/>
                    <a:gd name="connsiteY12" fmla="*/ 70009 h 466725"/>
                    <a:gd name="connsiteX13" fmla="*/ 290989 w 476250"/>
                    <a:gd name="connsiteY13" fmla="*/ 70009 h 466725"/>
                    <a:gd name="connsiteX14" fmla="*/ 290989 w 476250"/>
                    <a:gd name="connsiteY14" fmla="*/ 13811 h 466725"/>
                    <a:gd name="connsiteX15" fmla="*/ 283369 w 476250"/>
                    <a:gd name="connsiteY15" fmla="*/ 7144 h 466725"/>
                    <a:gd name="connsiteX16" fmla="*/ 278606 w 476250"/>
                    <a:gd name="connsiteY16" fmla="*/ 7144 h 466725"/>
                    <a:gd name="connsiteX17" fmla="*/ 271939 w 476250"/>
                    <a:gd name="connsiteY17" fmla="*/ 13811 h 466725"/>
                    <a:gd name="connsiteX18" fmla="*/ 271939 w 476250"/>
                    <a:gd name="connsiteY18" fmla="*/ 70009 h 466725"/>
                    <a:gd name="connsiteX19" fmla="*/ 247174 w 476250"/>
                    <a:gd name="connsiteY19" fmla="*/ 70009 h 466725"/>
                    <a:gd name="connsiteX20" fmla="*/ 247174 w 476250"/>
                    <a:gd name="connsiteY20" fmla="*/ 13811 h 466725"/>
                    <a:gd name="connsiteX21" fmla="*/ 240506 w 476250"/>
                    <a:gd name="connsiteY21" fmla="*/ 7144 h 466725"/>
                    <a:gd name="connsiteX22" fmla="*/ 235744 w 476250"/>
                    <a:gd name="connsiteY22" fmla="*/ 7144 h 466725"/>
                    <a:gd name="connsiteX23" fmla="*/ 229076 w 476250"/>
                    <a:gd name="connsiteY23" fmla="*/ 13811 h 466725"/>
                    <a:gd name="connsiteX24" fmla="*/ 229076 w 476250"/>
                    <a:gd name="connsiteY24" fmla="*/ 70009 h 466725"/>
                    <a:gd name="connsiteX25" fmla="*/ 204311 w 476250"/>
                    <a:gd name="connsiteY25" fmla="*/ 70009 h 466725"/>
                    <a:gd name="connsiteX26" fmla="*/ 204311 w 476250"/>
                    <a:gd name="connsiteY26" fmla="*/ 13811 h 466725"/>
                    <a:gd name="connsiteX27" fmla="*/ 197644 w 476250"/>
                    <a:gd name="connsiteY27" fmla="*/ 7144 h 466725"/>
                    <a:gd name="connsiteX28" fmla="*/ 192881 w 476250"/>
                    <a:gd name="connsiteY28" fmla="*/ 7144 h 466725"/>
                    <a:gd name="connsiteX29" fmla="*/ 186214 w 476250"/>
                    <a:gd name="connsiteY29" fmla="*/ 13811 h 466725"/>
                    <a:gd name="connsiteX30" fmla="*/ 186214 w 476250"/>
                    <a:gd name="connsiteY30" fmla="*/ 70009 h 466725"/>
                    <a:gd name="connsiteX31" fmla="*/ 161449 w 476250"/>
                    <a:gd name="connsiteY31" fmla="*/ 70009 h 466725"/>
                    <a:gd name="connsiteX32" fmla="*/ 161449 w 476250"/>
                    <a:gd name="connsiteY32" fmla="*/ 13811 h 466725"/>
                    <a:gd name="connsiteX33" fmla="*/ 154781 w 476250"/>
                    <a:gd name="connsiteY33" fmla="*/ 7144 h 466725"/>
                    <a:gd name="connsiteX34" fmla="*/ 150019 w 476250"/>
                    <a:gd name="connsiteY34" fmla="*/ 7144 h 466725"/>
                    <a:gd name="connsiteX35" fmla="*/ 143351 w 476250"/>
                    <a:gd name="connsiteY35" fmla="*/ 13811 h 466725"/>
                    <a:gd name="connsiteX36" fmla="*/ 143351 w 476250"/>
                    <a:gd name="connsiteY36" fmla="*/ 70009 h 466725"/>
                    <a:gd name="connsiteX37" fmla="*/ 88106 w 476250"/>
                    <a:gd name="connsiteY37" fmla="*/ 70009 h 466725"/>
                    <a:gd name="connsiteX38" fmla="*/ 64294 w 476250"/>
                    <a:gd name="connsiteY38" fmla="*/ 93821 h 466725"/>
                    <a:gd name="connsiteX39" fmla="*/ 64294 w 476250"/>
                    <a:gd name="connsiteY39" fmla="*/ 142399 h 466725"/>
                    <a:gd name="connsiteX40" fmla="*/ 13811 w 476250"/>
                    <a:gd name="connsiteY40" fmla="*/ 142399 h 466725"/>
                    <a:gd name="connsiteX41" fmla="*/ 7144 w 476250"/>
                    <a:gd name="connsiteY41" fmla="*/ 149066 h 466725"/>
                    <a:gd name="connsiteX42" fmla="*/ 7144 w 476250"/>
                    <a:gd name="connsiteY42" fmla="*/ 153829 h 466725"/>
                    <a:gd name="connsiteX43" fmla="*/ 13811 w 476250"/>
                    <a:gd name="connsiteY43" fmla="*/ 160496 h 466725"/>
                    <a:gd name="connsiteX44" fmla="*/ 64294 w 476250"/>
                    <a:gd name="connsiteY44" fmla="*/ 160496 h 466725"/>
                    <a:gd name="connsiteX45" fmla="*/ 64294 w 476250"/>
                    <a:gd name="connsiteY45" fmla="*/ 185261 h 466725"/>
                    <a:gd name="connsiteX46" fmla="*/ 13811 w 476250"/>
                    <a:gd name="connsiteY46" fmla="*/ 185261 h 466725"/>
                    <a:gd name="connsiteX47" fmla="*/ 7144 w 476250"/>
                    <a:gd name="connsiteY47" fmla="*/ 191929 h 466725"/>
                    <a:gd name="connsiteX48" fmla="*/ 7144 w 476250"/>
                    <a:gd name="connsiteY48" fmla="*/ 196691 h 466725"/>
                    <a:gd name="connsiteX49" fmla="*/ 13811 w 476250"/>
                    <a:gd name="connsiteY49" fmla="*/ 203359 h 466725"/>
                    <a:gd name="connsiteX50" fmla="*/ 64294 w 476250"/>
                    <a:gd name="connsiteY50" fmla="*/ 203359 h 466725"/>
                    <a:gd name="connsiteX51" fmla="*/ 64294 w 476250"/>
                    <a:gd name="connsiteY51" fmla="*/ 228124 h 466725"/>
                    <a:gd name="connsiteX52" fmla="*/ 13811 w 476250"/>
                    <a:gd name="connsiteY52" fmla="*/ 228124 h 466725"/>
                    <a:gd name="connsiteX53" fmla="*/ 7144 w 476250"/>
                    <a:gd name="connsiteY53" fmla="*/ 235744 h 466725"/>
                    <a:gd name="connsiteX54" fmla="*/ 7144 w 476250"/>
                    <a:gd name="connsiteY54" fmla="*/ 240506 h 466725"/>
                    <a:gd name="connsiteX55" fmla="*/ 13811 w 476250"/>
                    <a:gd name="connsiteY55" fmla="*/ 247174 h 466725"/>
                    <a:gd name="connsiteX56" fmla="*/ 64294 w 476250"/>
                    <a:gd name="connsiteY56" fmla="*/ 247174 h 466725"/>
                    <a:gd name="connsiteX57" fmla="*/ 64294 w 476250"/>
                    <a:gd name="connsiteY57" fmla="*/ 271939 h 466725"/>
                    <a:gd name="connsiteX58" fmla="*/ 13811 w 476250"/>
                    <a:gd name="connsiteY58" fmla="*/ 271939 h 466725"/>
                    <a:gd name="connsiteX59" fmla="*/ 7144 w 476250"/>
                    <a:gd name="connsiteY59" fmla="*/ 278606 h 466725"/>
                    <a:gd name="connsiteX60" fmla="*/ 7144 w 476250"/>
                    <a:gd name="connsiteY60" fmla="*/ 283369 h 466725"/>
                    <a:gd name="connsiteX61" fmla="*/ 13811 w 476250"/>
                    <a:gd name="connsiteY61" fmla="*/ 290036 h 466725"/>
                    <a:gd name="connsiteX62" fmla="*/ 64294 w 476250"/>
                    <a:gd name="connsiteY62" fmla="*/ 290036 h 466725"/>
                    <a:gd name="connsiteX63" fmla="*/ 64294 w 476250"/>
                    <a:gd name="connsiteY63" fmla="*/ 314801 h 466725"/>
                    <a:gd name="connsiteX64" fmla="*/ 13811 w 476250"/>
                    <a:gd name="connsiteY64" fmla="*/ 314801 h 466725"/>
                    <a:gd name="connsiteX65" fmla="*/ 7144 w 476250"/>
                    <a:gd name="connsiteY65" fmla="*/ 321469 h 466725"/>
                    <a:gd name="connsiteX66" fmla="*/ 7144 w 476250"/>
                    <a:gd name="connsiteY66" fmla="*/ 326231 h 466725"/>
                    <a:gd name="connsiteX67" fmla="*/ 13811 w 476250"/>
                    <a:gd name="connsiteY67" fmla="*/ 332899 h 466725"/>
                    <a:gd name="connsiteX68" fmla="*/ 64294 w 476250"/>
                    <a:gd name="connsiteY68" fmla="*/ 332899 h 466725"/>
                    <a:gd name="connsiteX69" fmla="*/ 64294 w 476250"/>
                    <a:gd name="connsiteY69" fmla="*/ 380524 h 466725"/>
                    <a:gd name="connsiteX70" fmla="*/ 88106 w 476250"/>
                    <a:gd name="connsiteY70" fmla="*/ 404336 h 466725"/>
                    <a:gd name="connsiteX71" fmla="*/ 142399 w 476250"/>
                    <a:gd name="connsiteY71" fmla="*/ 404336 h 466725"/>
                    <a:gd name="connsiteX72" fmla="*/ 142399 w 476250"/>
                    <a:gd name="connsiteY72" fmla="*/ 461486 h 466725"/>
                    <a:gd name="connsiteX73" fmla="*/ 149066 w 476250"/>
                    <a:gd name="connsiteY73" fmla="*/ 468154 h 466725"/>
                    <a:gd name="connsiteX74" fmla="*/ 153829 w 476250"/>
                    <a:gd name="connsiteY74" fmla="*/ 468154 h 466725"/>
                    <a:gd name="connsiteX75" fmla="*/ 160496 w 476250"/>
                    <a:gd name="connsiteY75" fmla="*/ 461486 h 466725"/>
                    <a:gd name="connsiteX76" fmla="*/ 160496 w 476250"/>
                    <a:gd name="connsiteY76" fmla="*/ 404336 h 466725"/>
                    <a:gd name="connsiteX77" fmla="*/ 185261 w 476250"/>
                    <a:gd name="connsiteY77" fmla="*/ 404336 h 466725"/>
                    <a:gd name="connsiteX78" fmla="*/ 185261 w 476250"/>
                    <a:gd name="connsiteY78" fmla="*/ 461486 h 466725"/>
                    <a:gd name="connsiteX79" fmla="*/ 191929 w 476250"/>
                    <a:gd name="connsiteY79" fmla="*/ 468154 h 466725"/>
                    <a:gd name="connsiteX80" fmla="*/ 196691 w 476250"/>
                    <a:gd name="connsiteY80" fmla="*/ 468154 h 466725"/>
                    <a:gd name="connsiteX81" fmla="*/ 203359 w 476250"/>
                    <a:gd name="connsiteY81" fmla="*/ 461486 h 466725"/>
                    <a:gd name="connsiteX82" fmla="*/ 203359 w 476250"/>
                    <a:gd name="connsiteY82" fmla="*/ 404336 h 466725"/>
                    <a:gd name="connsiteX83" fmla="*/ 228124 w 476250"/>
                    <a:gd name="connsiteY83" fmla="*/ 404336 h 466725"/>
                    <a:gd name="connsiteX84" fmla="*/ 228124 w 476250"/>
                    <a:gd name="connsiteY84" fmla="*/ 461486 h 466725"/>
                    <a:gd name="connsiteX85" fmla="*/ 234791 w 476250"/>
                    <a:gd name="connsiteY85" fmla="*/ 468154 h 466725"/>
                    <a:gd name="connsiteX86" fmla="*/ 239554 w 476250"/>
                    <a:gd name="connsiteY86" fmla="*/ 468154 h 466725"/>
                    <a:gd name="connsiteX87" fmla="*/ 246221 w 476250"/>
                    <a:gd name="connsiteY87" fmla="*/ 461486 h 466725"/>
                    <a:gd name="connsiteX88" fmla="*/ 246221 w 476250"/>
                    <a:gd name="connsiteY88" fmla="*/ 404336 h 466725"/>
                    <a:gd name="connsiteX89" fmla="*/ 270986 w 476250"/>
                    <a:gd name="connsiteY89" fmla="*/ 404336 h 466725"/>
                    <a:gd name="connsiteX90" fmla="*/ 270986 w 476250"/>
                    <a:gd name="connsiteY90" fmla="*/ 461486 h 466725"/>
                    <a:gd name="connsiteX91" fmla="*/ 277654 w 476250"/>
                    <a:gd name="connsiteY91" fmla="*/ 468154 h 466725"/>
                    <a:gd name="connsiteX92" fmla="*/ 283369 w 476250"/>
                    <a:gd name="connsiteY92" fmla="*/ 468154 h 466725"/>
                    <a:gd name="connsiteX93" fmla="*/ 290036 w 476250"/>
                    <a:gd name="connsiteY93" fmla="*/ 461486 h 466725"/>
                    <a:gd name="connsiteX94" fmla="*/ 290036 w 476250"/>
                    <a:gd name="connsiteY94" fmla="*/ 404336 h 466725"/>
                    <a:gd name="connsiteX95" fmla="*/ 314801 w 476250"/>
                    <a:gd name="connsiteY95" fmla="*/ 404336 h 466725"/>
                    <a:gd name="connsiteX96" fmla="*/ 314801 w 476250"/>
                    <a:gd name="connsiteY96" fmla="*/ 461486 h 466725"/>
                    <a:gd name="connsiteX97" fmla="*/ 321469 w 476250"/>
                    <a:gd name="connsiteY97" fmla="*/ 468154 h 466725"/>
                    <a:gd name="connsiteX98" fmla="*/ 326231 w 476250"/>
                    <a:gd name="connsiteY98" fmla="*/ 468154 h 466725"/>
                    <a:gd name="connsiteX99" fmla="*/ 332899 w 476250"/>
                    <a:gd name="connsiteY99" fmla="*/ 461486 h 466725"/>
                    <a:gd name="connsiteX100" fmla="*/ 332899 w 476250"/>
                    <a:gd name="connsiteY100" fmla="*/ 404336 h 466725"/>
                    <a:gd name="connsiteX101" fmla="*/ 391001 w 476250"/>
                    <a:gd name="connsiteY101" fmla="*/ 404336 h 466725"/>
                    <a:gd name="connsiteX102" fmla="*/ 414814 w 476250"/>
                    <a:gd name="connsiteY102" fmla="*/ 380524 h 466725"/>
                    <a:gd name="connsiteX103" fmla="*/ 414814 w 476250"/>
                    <a:gd name="connsiteY103" fmla="*/ 332899 h 466725"/>
                    <a:gd name="connsiteX104" fmla="*/ 461486 w 476250"/>
                    <a:gd name="connsiteY104" fmla="*/ 332899 h 466725"/>
                    <a:gd name="connsiteX105" fmla="*/ 468154 w 476250"/>
                    <a:gd name="connsiteY105" fmla="*/ 326231 h 466725"/>
                    <a:gd name="connsiteX106" fmla="*/ 468154 w 476250"/>
                    <a:gd name="connsiteY106" fmla="*/ 321469 h 466725"/>
                    <a:gd name="connsiteX107" fmla="*/ 461486 w 476250"/>
                    <a:gd name="connsiteY107" fmla="*/ 314801 h 466725"/>
                    <a:gd name="connsiteX108" fmla="*/ 414814 w 476250"/>
                    <a:gd name="connsiteY108" fmla="*/ 314801 h 466725"/>
                    <a:gd name="connsiteX109" fmla="*/ 414814 w 476250"/>
                    <a:gd name="connsiteY109" fmla="*/ 290036 h 466725"/>
                    <a:gd name="connsiteX110" fmla="*/ 461486 w 476250"/>
                    <a:gd name="connsiteY110" fmla="*/ 290036 h 466725"/>
                    <a:gd name="connsiteX111" fmla="*/ 468154 w 476250"/>
                    <a:gd name="connsiteY111" fmla="*/ 283369 h 466725"/>
                    <a:gd name="connsiteX112" fmla="*/ 468154 w 476250"/>
                    <a:gd name="connsiteY112" fmla="*/ 278606 h 466725"/>
                    <a:gd name="connsiteX113" fmla="*/ 461486 w 476250"/>
                    <a:gd name="connsiteY113" fmla="*/ 271939 h 466725"/>
                    <a:gd name="connsiteX114" fmla="*/ 414814 w 476250"/>
                    <a:gd name="connsiteY114" fmla="*/ 271939 h 466725"/>
                    <a:gd name="connsiteX115" fmla="*/ 414814 w 476250"/>
                    <a:gd name="connsiteY115" fmla="*/ 247174 h 466725"/>
                    <a:gd name="connsiteX116" fmla="*/ 461486 w 476250"/>
                    <a:gd name="connsiteY116" fmla="*/ 247174 h 466725"/>
                    <a:gd name="connsiteX117" fmla="*/ 468154 w 476250"/>
                    <a:gd name="connsiteY117" fmla="*/ 240506 h 466725"/>
                    <a:gd name="connsiteX118" fmla="*/ 468154 w 476250"/>
                    <a:gd name="connsiteY118" fmla="*/ 235744 h 466725"/>
                    <a:gd name="connsiteX119" fmla="*/ 461486 w 476250"/>
                    <a:gd name="connsiteY119" fmla="*/ 229076 h 466725"/>
                    <a:gd name="connsiteX120" fmla="*/ 414814 w 476250"/>
                    <a:gd name="connsiteY120" fmla="*/ 229076 h 466725"/>
                    <a:gd name="connsiteX121" fmla="*/ 414814 w 476250"/>
                    <a:gd name="connsiteY121" fmla="*/ 204311 h 466725"/>
                    <a:gd name="connsiteX122" fmla="*/ 461486 w 476250"/>
                    <a:gd name="connsiteY122" fmla="*/ 204311 h 466725"/>
                    <a:gd name="connsiteX123" fmla="*/ 468154 w 476250"/>
                    <a:gd name="connsiteY123" fmla="*/ 197644 h 466725"/>
                    <a:gd name="connsiteX124" fmla="*/ 468154 w 476250"/>
                    <a:gd name="connsiteY124" fmla="*/ 192881 h 466725"/>
                    <a:gd name="connsiteX125" fmla="*/ 461486 w 476250"/>
                    <a:gd name="connsiteY125" fmla="*/ 186214 h 466725"/>
                    <a:gd name="connsiteX126" fmla="*/ 414814 w 476250"/>
                    <a:gd name="connsiteY126" fmla="*/ 186214 h 466725"/>
                    <a:gd name="connsiteX127" fmla="*/ 414814 w 476250"/>
                    <a:gd name="connsiteY127" fmla="*/ 161449 h 466725"/>
                    <a:gd name="connsiteX128" fmla="*/ 462439 w 476250"/>
                    <a:gd name="connsiteY128" fmla="*/ 161449 h 466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</a:cxnLst>
                  <a:rect l="l" t="t" r="r" b="b"/>
                  <a:pathLst>
                    <a:path w="476250" h="466725">
                      <a:moveTo>
                        <a:pt x="462439" y="160496"/>
                      </a:moveTo>
                      <a:cubicBezTo>
                        <a:pt x="466249" y="160496"/>
                        <a:pt x="469106" y="157639"/>
                        <a:pt x="469106" y="153829"/>
                      </a:cubicBezTo>
                      <a:lnTo>
                        <a:pt x="469106" y="149066"/>
                      </a:lnTo>
                      <a:cubicBezTo>
                        <a:pt x="469106" y="145256"/>
                        <a:pt x="466249" y="142399"/>
                        <a:pt x="462439" y="142399"/>
                      </a:cubicBezTo>
                      <a:lnTo>
                        <a:pt x="415766" y="142399"/>
                      </a:lnTo>
                      <a:lnTo>
                        <a:pt x="415766" y="93821"/>
                      </a:lnTo>
                      <a:cubicBezTo>
                        <a:pt x="415766" y="80486"/>
                        <a:pt x="405289" y="70009"/>
                        <a:pt x="391954" y="70009"/>
                      </a:cubicBezTo>
                      <a:lnTo>
                        <a:pt x="333851" y="70009"/>
                      </a:lnTo>
                      <a:lnTo>
                        <a:pt x="333851" y="13811"/>
                      </a:lnTo>
                      <a:cubicBezTo>
                        <a:pt x="333851" y="10001"/>
                        <a:pt x="330994" y="7144"/>
                        <a:pt x="327184" y="7144"/>
                      </a:cubicBezTo>
                      <a:lnTo>
                        <a:pt x="322421" y="7144"/>
                      </a:lnTo>
                      <a:cubicBezTo>
                        <a:pt x="318611" y="7144"/>
                        <a:pt x="315754" y="10001"/>
                        <a:pt x="315754" y="13811"/>
                      </a:cubicBezTo>
                      <a:lnTo>
                        <a:pt x="315754" y="70009"/>
                      </a:lnTo>
                      <a:lnTo>
                        <a:pt x="290989" y="70009"/>
                      </a:lnTo>
                      <a:lnTo>
                        <a:pt x="290989" y="13811"/>
                      </a:lnTo>
                      <a:cubicBezTo>
                        <a:pt x="290989" y="10001"/>
                        <a:pt x="287179" y="7144"/>
                        <a:pt x="283369" y="7144"/>
                      </a:cubicBezTo>
                      <a:lnTo>
                        <a:pt x="278606" y="7144"/>
                      </a:lnTo>
                      <a:cubicBezTo>
                        <a:pt x="274796" y="7144"/>
                        <a:pt x="271939" y="10001"/>
                        <a:pt x="271939" y="13811"/>
                      </a:cubicBezTo>
                      <a:lnTo>
                        <a:pt x="271939" y="70009"/>
                      </a:lnTo>
                      <a:lnTo>
                        <a:pt x="247174" y="70009"/>
                      </a:lnTo>
                      <a:lnTo>
                        <a:pt x="247174" y="13811"/>
                      </a:lnTo>
                      <a:cubicBezTo>
                        <a:pt x="247174" y="10001"/>
                        <a:pt x="244316" y="7144"/>
                        <a:pt x="240506" y="7144"/>
                      </a:cubicBezTo>
                      <a:lnTo>
                        <a:pt x="235744" y="7144"/>
                      </a:lnTo>
                      <a:cubicBezTo>
                        <a:pt x="231934" y="7144"/>
                        <a:pt x="229076" y="10001"/>
                        <a:pt x="229076" y="13811"/>
                      </a:cubicBezTo>
                      <a:lnTo>
                        <a:pt x="229076" y="70009"/>
                      </a:lnTo>
                      <a:lnTo>
                        <a:pt x="204311" y="70009"/>
                      </a:lnTo>
                      <a:lnTo>
                        <a:pt x="204311" y="13811"/>
                      </a:lnTo>
                      <a:cubicBezTo>
                        <a:pt x="204311" y="10001"/>
                        <a:pt x="201454" y="7144"/>
                        <a:pt x="197644" y="7144"/>
                      </a:cubicBezTo>
                      <a:lnTo>
                        <a:pt x="192881" y="7144"/>
                      </a:lnTo>
                      <a:cubicBezTo>
                        <a:pt x="189071" y="7144"/>
                        <a:pt x="186214" y="10001"/>
                        <a:pt x="186214" y="13811"/>
                      </a:cubicBezTo>
                      <a:lnTo>
                        <a:pt x="186214" y="70009"/>
                      </a:lnTo>
                      <a:lnTo>
                        <a:pt x="161449" y="70009"/>
                      </a:lnTo>
                      <a:lnTo>
                        <a:pt x="161449" y="13811"/>
                      </a:lnTo>
                      <a:cubicBezTo>
                        <a:pt x="161449" y="10001"/>
                        <a:pt x="158591" y="7144"/>
                        <a:pt x="154781" y="7144"/>
                      </a:cubicBezTo>
                      <a:lnTo>
                        <a:pt x="150019" y="7144"/>
                      </a:lnTo>
                      <a:cubicBezTo>
                        <a:pt x="146209" y="7144"/>
                        <a:pt x="143351" y="10001"/>
                        <a:pt x="143351" y="13811"/>
                      </a:cubicBezTo>
                      <a:lnTo>
                        <a:pt x="143351" y="70009"/>
                      </a:lnTo>
                      <a:lnTo>
                        <a:pt x="88106" y="70009"/>
                      </a:lnTo>
                      <a:cubicBezTo>
                        <a:pt x="74771" y="70009"/>
                        <a:pt x="64294" y="81439"/>
                        <a:pt x="64294" y="93821"/>
                      </a:cubicBezTo>
                      <a:lnTo>
                        <a:pt x="64294" y="142399"/>
                      </a:lnTo>
                      <a:lnTo>
                        <a:pt x="13811" y="142399"/>
                      </a:lnTo>
                      <a:cubicBezTo>
                        <a:pt x="10001" y="142399"/>
                        <a:pt x="7144" y="145256"/>
                        <a:pt x="7144" y="149066"/>
                      </a:cubicBezTo>
                      <a:lnTo>
                        <a:pt x="7144" y="153829"/>
                      </a:lnTo>
                      <a:cubicBezTo>
                        <a:pt x="7144" y="157639"/>
                        <a:pt x="10001" y="160496"/>
                        <a:pt x="13811" y="160496"/>
                      </a:cubicBezTo>
                      <a:lnTo>
                        <a:pt x="64294" y="160496"/>
                      </a:lnTo>
                      <a:lnTo>
                        <a:pt x="64294" y="185261"/>
                      </a:lnTo>
                      <a:lnTo>
                        <a:pt x="13811" y="185261"/>
                      </a:lnTo>
                      <a:cubicBezTo>
                        <a:pt x="10001" y="185261"/>
                        <a:pt x="7144" y="188119"/>
                        <a:pt x="7144" y="191929"/>
                      </a:cubicBezTo>
                      <a:lnTo>
                        <a:pt x="7144" y="196691"/>
                      </a:lnTo>
                      <a:cubicBezTo>
                        <a:pt x="7144" y="200501"/>
                        <a:pt x="10001" y="203359"/>
                        <a:pt x="13811" y="203359"/>
                      </a:cubicBezTo>
                      <a:lnTo>
                        <a:pt x="64294" y="203359"/>
                      </a:lnTo>
                      <a:lnTo>
                        <a:pt x="64294" y="228124"/>
                      </a:lnTo>
                      <a:lnTo>
                        <a:pt x="13811" y="228124"/>
                      </a:lnTo>
                      <a:cubicBezTo>
                        <a:pt x="10001" y="229076"/>
                        <a:pt x="7144" y="231934"/>
                        <a:pt x="7144" y="235744"/>
                      </a:cubicBezTo>
                      <a:lnTo>
                        <a:pt x="7144" y="240506"/>
                      </a:lnTo>
                      <a:cubicBezTo>
                        <a:pt x="7144" y="244316"/>
                        <a:pt x="10001" y="247174"/>
                        <a:pt x="13811" y="247174"/>
                      </a:cubicBezTo>
                      <a:lnTo>
                        <a:pt x="64294" y="247174"/>
                      </a:lnTo>
                      <a:lnTo>
                        <a:pt x="64294" y="271939"/>
                      </a:lnTo>
                      <a:lnTo>
                        <a:pt x="13811" y="271939"/>
                      </a:lnTo>
                      <a:cubicBezTo>
                        <a:pt x="10001" y="271939"/>
                        <a:pt x="7144" y="274796"/>
                        <a:pt x="7144" y="278606"/>
                      </a:cubicBezTo>
                      <a:lnTo>
                        <a:pt x="7144" y="283369"/>
                      </a:lnTo>
                      <a:cubicBezTo>
                        <a:pt x="7144" y="287179"/>
                        <a:pt x="10001" y="290036"/>
                        <a:pt x="13811" y="290036"/>
                      </a:cubicBezTo>
                      <a:lnTo>
                        <a:pt x="64294" y="290036"/>
                      </a:lnTo>
                      <a:lnTo>
                        <a:pt x="64294" y="314801"/>
                      </a:lnTo>
                      <a:lnTo>
                        <a:pt x="13811" y="314801"/>
                      </a:lnTo>
                      <a:cubicBezTo>
                        <a:pt x="10001" y="314801"/>
                        <a:pt x="7144" y="317659"/>
                        <a:pt x="7144" y="321469"/>
                      </a:cubicBezTo>
                      <a:lnTo>
                        <a:pt x="7144" y="326231"/>
                      </a:lnTo>
                      <a:cubicBezTo>
                        <a:pt x="7144" y="330041"/>
                        <a:pt x="10001" y="332899"/>
                        <a:pt x="13811" y="332899"/>
                      </a:cubicBezTo>
                      <a:lnTo>
                        <a:pt x="64294" y="332899"/>
                      </a:lnTo>
                      <a:lnTo>
                        <a:pt x="64294" y="380524"/>
                      </a:lnTo>
                      <a:cubicBezTo>
                        <a:pt x="64294" y="393859"/>
                        <a:pt x="74771" y="404336"/>
                        <a:pt x="88106" y="404336"/>
                      </a:cubicBezTo>
                      <a:lnTo>
                        <a:pt x="142399" y="404336"/>
                      </a:lnTo>
                      <a:lnTo>
                        <a:pt x="142399" y="461486"/>
                      </a:lnTo>
                      <a:cubicBezTo>
                        <a:pt x="142399" y="465296"/>
                        <a:pt x="145256" y="468154"/>
                        <a:pt x="149066" y="468154"/>
                      </a:cubicBezTo>
                      <a:lnTo>
                        <a:pt x="153829" y="468154"/>
                      </a:lnTo>
                      <a:cubicBezTo>
                        <a:pt x="157639" y="468154"/>
                        <a:pt x="160496" y="465296"/>
                        <a:pt x="160496" y="461486"/>
                      </a:cubicBezTo>
                      <a:lnTo>
                        <a:pt x="160496" y="404336"/>
                      </a:lnTo>
                      <a:lnTo>
                        <a:pt x="185261" y="404336"/>
                      </a:lnTo>
                      <a:lnTo>
                        <a:pt x="185261" y="461486"/>
                      </a:lnTo>
                      <a:cubicBezTo>
                        <a:pt x="185261" y="465296"/>
                        <a:pt x="188119" y="468154"/>
                        <a:pt x="191929" y="468154"/>
                      </a:cubicBezTo>
                      <a:lnTo>
                        <a:pt x="196691" y="468154"/>
                      </a:lnTo>
                      <a:cubicBezTo>
                        <a:pt x="200501" y="468154"/>
                        <a:pt x="203359" y="465296"/>
                        <a:pt x="203359" y="461486"/>
                      </a:cubicBezTo>
                      <a:lnTo>
                        <a:pt x="203359" y="404336"/>
                      </a:lnTo>
                      <a:lnTo>
                        <a:pt x="228124" y="404336"/>
                      </a:lnTo>
                      <a:lnTo>
                        <a:pt x="228124" y="461486"/>
                      </a:lnTo>
                      <a:cubicBezTo>
                        <a:pt x="228124" y="465296"/>
                        <a:pt x="230981" y="468154"/>
                        <a:pt x="234791" y="468154"/>
                      </a:cubicBezTo>
                      <a:lnTo>
                        <a:pt x="239554" y="468154"/>
                      </a:lnTo>
                      <a:cubicBezTo>
                        <a:pt x="243364" y="468154"/>
                        <a:pt x="246221" y="465296"/>
                        <a:pt x="246221" y="461486"/>
                      </a:cubicBezTo>
                      <a:lnTo>
                        <a:pt x="246221" y="404336"/>
                      </a:lnTo>
                      <a:lnTo>
                        <a:pt x="270986" y="404336"/>
                      </a:lnTo>
                      <a:lnTo>
                        <a:pt x="270986" y="461486"/>
                      </a:lnTo>
                      <a:cubicBezTo>
                        <a:pt x="270986" y="465296"/>
                        <a:pt x="273844" y="468154"/>
                        <a:pt x="277654" y="468154"/>
                      </a:cubicBezTo>
                      <a:lnTo>
                        <a:pt x="283369" y="468154"/>
                      </a:lnTo>
                      <a:cubicBezTo>
                        <a:pt x="287179" y="468154"/>
                        <a:pt x="290036" y="465296"/>
                        <a:pt x="290036" y="461486"/>
                      </a:cubicBezTo>
                      <a:lnTo>
                        <a:pt x="290036" y="404336"/>
                      </a:lnTo>
                      <a:lnTo>
                        <a:pt x="314801" y="404336"/>
                      </a:lnTo>
                      <a:lnTo>
                        <a:pt x="314801" y="461486"/>
                      </a:lnTo>
                      <a:cubicBezTo>
                        <a:pt x="314801" y="465296"/>
                        <a:pt x="317659" y="468154"/>
                        <a:pt x="321469" y="468154"/>
                      </a:cubicBezTo>
                      <a:lnTo>
                        <a:pt x="326231" y="468154"/>
                      </a:lnTo>
                      <a:cubicBezTo>
                        <a:pt x="330041" y="468154"/>
                        <a:pt x="332899" y="465296"/>
                        <a:pt x="332899" y="461486"/>
                      </a:cubicBezTo>
                      <a:lnTo>
                        <a:pt x="332899" y="404336"/>
                      </a:lnTo>
                      <a:lnTo>
                        <a:pt x="391001" y="404336"/>
                      </a:lnTo>
                      <a:cubicBezTo>
                        <a:pt x="404336" y="404336"/>
                        <a:pt x="414814" y="393859"/>
                        <a:pt x="414814" y="380524"/>
                      </a:cubicBezTo>
                      <a:lnTo>
                        <a:pt x="414814" y="332899"/>
                      </a:lnTo>
                      <a:lnTo>
                        <a:pt x="461486" y="332899"/>
                      </a:lnTo>
                      <a:cubicBezTo>
                        <a:pt x="465296" y="332899"/>
                        <a:pt x="468154" y="330041"/>
                        <a:pt x="468154" y="326231"/>
                      </a:cubicBezTo>
                      <a:lnTo>
                        <a:pt x="468154" y="321469"/>
                      </a:lnTo>
                      <a:cubicBezTo>
                        <a:pt x="468154" y="317659"/>
                        <a:pt x="465296" y="314801"/>
                        <a:pt x="461486" y="314801"/>
                      </a:cubicBezTo>
                      <a:lnTo>
                        <a:pt x="414814" y="314801"/>
                      </a:lnTo>
                      <a:lnTo>
                        <a:pt x="414814" y="290036"/>
                      </a:lnTo>
                      <a:lnTo>
                        <a:pt x="461486" y="290036"/>
                      </a:lnTo>
                      <a:cubicBezTo>
                        <a:pt x="465296" y="290036"/>
                        <a:pt x="468154" y="287179"/>
                        <a:pt x="468154" y="283369"/>
                      </a:cubicBezTo>
                      <a:lnTo>
                        <a:pt x="468154" y="278606"/>
                      </a:lnTo>
                      <a:cubicBezTo>
                        <a:pt x="468154" y="274796"/>
                        <a:pt x="465296" y="271939"/>
                        <a:pt x="461486" y="271939"/>
                      </a:cubicBezTo>
                      <a:lnTo>
                        <a:pt x="414814" y="271939"/>
                      </a:lnTo>
                      <a:lnTo>
                        <a:pt x="414814" y="247174"/>
                      </a:lnTo>
                      <a:lnTo>
                        <a:pt x="461486" y="247174"/>
                      </a:lnTo>
                      <a:cubicBezTo>
                        <a:pt x="465296" y="247174"/>
                        <a:pt x="468154" y="244316"/>
                        <a:pt x="468154" y="240506"/>
                      </a:cubicBezTo>
                      <a:lnTo>
                        <a:pt x="468154" y="235744"/>
                      </a:lnTo>
                      <a:cubicBezTo>
                        <a:pt x="468154" y="231934"/>
                        <a:pt x="465296" y="229076"/>
                        <a:pt x="461486" y="229076"/>
                      </a:cubicBezTo>
                      <a:lnTo>
                        <a:pt x="414814" y="229076"/>
                      </a:lnTo>
                      <a:lnTo>
                        <a:pt x="414814" y="204311"/>
                      </a:lnTo>
                      <a:lnTo>
                        <a:pt x="461486" y="204311"/>
                      </a:lnTo>
                      <a:cubicBezTo>
                        <a:pt x="465296" y="204311"/>
                        <a:pt x="468154" y="201454"/>
                        <a:pt x="468154" y="197644"/>
                      </a:cubicBezTo>
                      <a:lnTo>
                        <a:pt x="468154" y="192881"/>
                      </a:lnTo>
                      <a:cubicBezTo>
                        <a:pt x="468154" y="189071"/>
                        <a:pt x="465296" y="186214"/>
                        <a:pt x="461486" y="186214"/>
                      </a:cubicBezTo>
                      <a:lnTo>
                        <a:pt x="414814" y="186214"/>
                      </a:lnTo>
                      <a:lnTo>
                        <a:pt x="414814" y="161449"/>
                      </a:lnTo>
                      <a:lnTo>
                        <a:pt x="462439" y="16144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93BEA3D9-9AE5-46B2-A231-8B49AC2E558A}"/>
                    </a:ext>
                  </a:extLst>
                </p:cNvPr>
                <p:cNvSpPr/>
                <p:nvPr/>
              </p:nvSpPr>
              <p:spPr>
                <a:xfrm>
                  <a:off x="1855157" y="2765044"/>
                  <a:ext cx="330249" cy="218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49" h="218182">
                      <a:moveTo>
                        <a:pt x="117946" y="56554"/>
                      </a:moveTo>
                      <a:lnTo>
                        <a:pt x="94115" y="134987"/>
                      </a:lnTo>
                      <a:lnTo>
                        <a:pt x="142028" y="134987"/>
                      </a:lnTo>
                      <a:close/>
                      <a:moveTo>
                        <a:pt x="262681" y="0"/>
                      </a:moveTo>
                      <a:lnTo>
                        <a:pt x="330249" y="0"/>
                      </a:lnTo>
                      <a:lnTo>
                        <a:pt x="330249" y="218182"/>
                      </a:lnTo>
                      <a:lnTo>
                        <a:pt x="262681" y="218182"/>
                      </a:lnTo>
                      <a:close/>
                      <a:moveTo>
                        <a:pt x="82004" y="0"/>
                      </a:moveTo>
                      <a:lnTo>
                        <a:pt x="155544" y="0"/>
                      </a:lnTo>
                      <a:lnTo>
                        <a:pt x="237529" y="218182"/>
                      </a:lnTo>
                      <a:lnTo>
                        <a:pt x="166929" y="218182"/>
                      </a:lnTo>
                      <a:lnTo>
                        <a:pt x="156013" y="182165"/>
                      </a:lnTo>
                      <a:lnTo>
                        <a:pt x="79472" y="182165"/>
                      </a:lnTo>
                      <a:lnTo>
                        <a:pt x="68837" y="218182"/>
                      </a:lnTo>
                      <a:lnTo>
                        <a:pt x="0" y="218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16EB048-7D81-463A-970A-20BB88838548}"/>
                </a:ext>
              </a:extLst>
            </p:cNvPr>
            <p:cNvSpPr/>
            <p:nvPr/>
          </p:nvSpPr>
          <p:spPr>
            <a:xfrm>
              <a:off x="1912556" y="2967547"/>
              <a:ext cx="3799760" cy="1559974"/>
            </a:xfrm>
            <a:custGeom>
              <a:avLst/>
              <a:gdLst>
                <a:gd name="connsiteX0" fmla="*/ 858917 w 1888549"/>
                <a:gd name="connsiteY0" fmla="*/ 185738 h 775335"/>
                <a:gd name="connsiteX1" fmla="*/ 874990 w 1888549"/>
                <a:gd name="connsiteY1" fmla="*/ 192525 h 775335"/>
                <a:gd name="connsiteX2" fmla="*/ 876147 w 1888549"/>
                <a:gd name="connsiteY2" fmla="*/ 195263 h 775335"/>
                <a:gd name="connsiteX3" fmla="*/ 1272302 w 1888549"/>
                <a:gd name="connsiteY3" fmla="*/ 195263 h 775335"/>
                <a:gd name="connsiteX4" fmla="*/ 1449467 w 1888549"/>
                <a:gd name="connsiteY4" fmla="*/ 372428 h 775335"/>
                <a:gd name="connsiteX5" fmla="*/ 1529477 w 1888549"/>
                <a:gd name="connsiteY5" fmla="*/ 372428 h 775335"/>
                <a:gd name="connsiteX6" fmla="*/ 1598058 w 1888549"/>
                <a:gd name="connsiteY6" fmla="*/ 265748 h 775335"/>
                <a:gd name="connsiteX7" fmla="*/ 1790447 w 1888549"/>
                <a:gd name="connsiteY7" fmla="*/ 265748 h 775335"/>
                <a:gd name="connsiteX8" fmla="*/ 1793319 w 1888549"/>
                <a:gd name="connsiteY8" fmla="*/ 262890 h 775335"/>
                <a:gd name="connsiteX9" fmla="*/ 1796177 w 1888549"/>
                <a:gd name="connsiteY9" fmla="*/ 265748 h 775335"/>
                <a:gd name="connsiteX10" fmla="*/ 1888549 w 1888549"/>
                <a:gd name="connsiteY10" fmla="*/ 265748 h 775335"/>
                <a:gd name="connsiteX11" fmla="*/ 1888549 w 1888549"/>
                <a:gd name="connsiteY11" fmla="*/ 291465 h 775335"/>
                <a:gd name="connsiteX12" fmla="*/ 1800989 w 1888549"/>
                <a:gd name="connsiteY12" fmla="*/ 291465 h 775335"/>
                <a:gd name="connsiteX13" fmla="*/ 1614249 w 1888549"/>
                <a:gd name="connsiteY13" fmla="*/ 479107 h 775335"/>
                <a:gd name="connsiteX14" fmla="*/ 1321832 w 1888549"/>
                <a:gd name="connsiteY14" fmla="*/ 479107 h 775335"/>
                <a:gd name="connsiteX15" fmla="*/ 1088382 w 1888549"/>
                <a:gd name="connsiteY15" fmla="*/ 747795 h 775335"/>
                <a:gd name="connsiteX16" fmla="*/ 1090137 w 1888549"/>
                <a:gd name="connsiteY16" fmla="*/ 752118 h 775335"/>
                <a:gd name="connsiteX17" fmla="*/ 1083707 w 1888549"/>
                <a:gd name="connsiteY17" fmla="*/ 768667 h 775335"/>
                <a:gd name="connsiteX18" fmla="*/ 1067515 w 1888549"/>
                <a:gd name="connsiteY18" fmla="*/ 775335 h 775335"/>
                <a:gd name="connsiteX19" fmla="*/ 1051323 w 1888549"/>
                <a:gd name="connsiteY19" fmla="*/ 768667 h 775335"/>
                <a:gd name="connsiteX20" fmla="*/ 1044655 w 1888549"/>
                <a:gd name="connsiteY20" fmla="*/ 752475 h 775335"/>
                <a:gd name="connsiteX21" fmla="*/ 1051323 w 1888549"/>
                <a:gd name="connsiteY21" fmla="*/ 736282 h 775335"/>
                <a:gd name="connsiteX22" fmla="*/ 1067515 w 1888549"/>
                <a:gd name="connsiteY22" fmla="*/ 729615 h 775335"/>
                <a:gd name="connsiteX23" fmla="*/ 1069567 w 1888549"/>
                <a:gd name="connsiteY23" fmla="*/ 730460 h 775335"/>
                <a:gd name="connsiteX24" fmla="*/ 1310402 w 1888549"/>
                <a:gd name="connsiteY24" fmla="*/ 452437 h 775335"/>
                <a:gd name="connsiteX25" fmla="*/ 1602819 w 1888549"/>
                <a:gd name="connsiteY25" fmla="*/ 452437 h 775335"/>
                <a:gd name="connsiteX26" fmla="*/ 1764600 w 1888549"/>
                <a:gd name="connsiteY26" fmla="*/ 291465 h 775335"/>
                <a:gd name="connsiteX27" fmla="*/ 1611392 w 1888549"/>
                <a:gd name="connsiteY27" fmla="*/ 291465 h 775335"/>
                <a:gd name="connsiteX28" fmla="*/ 1542813 w 1888549"/>
                <a:gd name="connsiteY28" fmla="*/ 398145 h 775335"/>
                <a:gd name="connsiteX29" fmla="*/ 1442800 w 1888549"/>
                <a:gd name="connsiteY29" fmla="*/ 398145 h 775335"/>
                <a:gd name="connsiteX30" fmla="*/ 1440895 w 1888549"/>
                <a:gd name="connsiteY30" fmla="*/ 400050 h 775335"/>
                <a:gd name="connsiteX31" fmla="*/ 1438990 w 1888549"/>
                <a:gd name="connsiteY31" fmla="*/ 398145 h 775335"/>
                <a:gd name="connsiteX32" fmla="*/ 1159908 w 1888549"/>
                <a:gd name="connsiteY32" fmla="*/ 398145 h 775335"/>
                <a:gd name="connsiteX33" fmla="*/ 1135200 w 1888549"/>
                <a:gd name="connsiteY33" fmla="*/ 368334 h 775335"/>
                <a:gd name="connsiteX34" fmla="*/ 1064657 w 1888549"/>
                <a:gd name="connsiteY34" fmla="*/ 438150 h 775335"/>
                <a:gd name="connsiteX35" fmla="*/ 814637 w 1888549"/>
                <a:gd name="connsiteY35" fmla="*/ 438150 h 775335"/>
                <a:gd name="connsiteX36" fmla="*/ 813078 w 1888549"/>
                <a:gd name="connsiteY36" fmla="*/ 441842 h 775335"/>
                <a:gd name="connsiteX37" fmla="*/ 797005 w 1888549"/>
                <a:gd name="connsiteY37" fmla="*/ 448628 h 775335"/>
                <a:gd name="connsiteX38" fmla="*/ 774145 w 1888549"/>
                <a:gd name="connsiteY38" fmla="*/ 425768 h 775335"/>
                <a:gd name="connsiteX39" fmla="*/ 797005 w 1888549"/>
                <a:gd name="connsiteY39" fmla="*/ 402908 h 775335"/>
                <a:gd name="connsiteX40" fmla="*/ 813078 w 1888549"/>
                <a:gd name="connsiteY40" fmla="*/ 409695 h 775335"/>
                <a:gd name="connsiteX41" fmla="*/ 814234 w 1888549"/>
                <a:gd name="connsiteY41" fmla="*/ 412432 h 775335"/>
                <a:gd name="connsiteX42" fmla="*/ 1053227 w 1888549"/>
                <a:gd name="connsiteY42" fmla="*/ 412432 h 775335"/>
                <a:gd name="connsiteX43" fmla="*/ 1118035 w 1888549"/>
                <a:gd name="connsiteY43" fmla="*/ 347625 h 775335"/>
                <a:gd name="connsiteX44" fmla="*/ 1072278 w 1888549"/>
                <a:gd name="connsiteY44" fmla="*/ 292418 h 775335"/>
                <a:gd name="connsiteX45" fmla="*/ 1019035 w 1888549"/>
                <a:gd name="connsiteY45" fmla="*/ 292418 h 775335"/>
                <a:gd name="connsiteX46" fmla="*/ 929403 w 1888549"/>
                <a:gd name="connsiteY46" fmla="*/ 382905 h 775335"/>
                <a:gd name="connsiteX47" fmla="*/ 662702 w 1888549"/>
                <a:gd name="connsiteY47" fmla="*/ 382905 h 775335"/>
                <a:gd name="connsiteX48" fmla="*/ 493157 w 1888549"/>
                <a:gd name="connsiteY48" fmla="*/ 552450 h 775335"/>
                <a:gd name="connsiteX49" fmla="*/ 321708 w 1888549"/>
                <a:gd name="connsiteY49" fmla="*/ 552450 h 775335"/>
                <a:gd name="connsiteX50" fmla="*/ 43766 w 1888549"/>
                <a:gd name="connsiteY50" fmla="*/ 694962 h 775335"/>
                <a:gd name="connsiteX51" fmla="*/ 38814 w 1888549"/>
                <a:gd name="connsiteY51" fmla="*/ 707707 h 775335"/>
                <a:gd name="connsiteX52" fmla="*/ 22622 w 1888549"/>
                <a:gd name="connsiteY52" fmla="*/ 714375 h 775335"/>
                <a:gd name="connsiteX53" fmla="*/ 6429 w 1888549"/>
                <a:gd name="connsiteY53" fmla="*/ 707707 h 775335"/>
                <a:gd name="connsiteX54" fmla="*/ 6429 w 1888549"/>
                <a:gd name="connsiteY54" fmla="*/ 675322 h 775335"/>
                <a:gd name="connsiteX55" fmla="*/ 22622 w 1888549"/>
                <a:gd name="connsiteY55" fmla="*/ 668655 h 775335"/>
                <a:gd name="connsiteX56" fmla="*/ 31555 w 1888549"/>
                <a:gd name="connsiteY56" fmla="*/ 672333 h 775335"/>
                <a:gd name="connsiteX57" fmla="*/ 314088 w 1888549"/>
                <a:gd name="connsiteY57" fmla="*/ 526733 h 775335"/>
                <a:gd name="connsiteX58" fmla="*/ 481728 w 1888549"/>
                <a:gd name="connsiteY58" fmla="*/ 526733 h 775335"/>
                <a:gd name="connsiteX59" fmla="*/ 652224 w 1888549"/>
                <a:gd name="connsiteY59" fmla="*/ 356235 h 775335"/>
                <a:gd name="connsiteX60" fmla="*/ 917972 w 1888549"/>
                <a:gd name="connsiteY60" fmla="*/ 356235 h 775335"/>
                <a:gd name="connsiteX61" fmla="*/ 982448 w 1888549"/>
                <a:gd name="connsiteY61" fmla="*/ 292418 h 775335"/>
                <a:gd name="connsiteX62" fmla="*/ 487443 w 1888549"/>
                <a:gd name="connsiteY62" fmla="*/ 292418 h 775335"/>
                <a:gd name="connsiteX63" fmla="*/ 137060 w 1888549"/>
                <a:gd name="connsiteY63" fmla="*/ 470305 h 775335"/>
                <a:gd name="connsiteX64" fmla="*/ 132160 w 1888549"/>
                <a:gd name="connsiteY64" fmla="*/ 482917 h 775335"/>
                <a:gd name="connsiteX65" fmla="*/ 115968 w 1888549"/>
                <a:gd name="connsiteY65" fmla="*/ 489585 h 775335"/>
                <a:gd name="connsiteX66" fmla="*/ 99775 w 1888549"/>
                <a:gd name="connsiteY66" fmla="*/ 482917 h 775335"/>
                <a:gd name="connsiteX67" fmla="*/ 99775 w 1888549"/>
                <a:gd name="connsiteY67" fmla="*/ 450532 h 775335"/>
                <a:gd name="connsiteX68" fmla="*/ 115968 w 1888549"/>
                <a:gd name="connsiteY68" fmla="*/ 443865 h 775335"/>
                <a:gd name="connsiteX69" fmla="*/ 125063 w 1888549"/>
                <a:gd name="connsiteY69" fmla="*/ 447610 h 775335"/>
                <a:gd name="connsiteX70" fmla="*/ 479823 w 1888549"/>
                <a:gd name="connsiteY70" fmla="*/ 266700 h 775335"/>
                <a:gd name="connsiteX71" fmla="*/ 1008431 w 1888549"/>
                <a:gd name="connsiteY71" fmla="*/ 266700 h 775335"/>
                <a:gd name="connsiteX72" fmla="*/ 1011317 w 1888549"/>
                <a:gd name="connsiteY72" fmla="*/ 263843 h 775335"/>
                <a:gd name="connsiteX73" fmla="*/ 1014174 w 1888549"/>
                <a:gd name="connsiteY73" fmla="*/ 266700 h 775335"/>
                <a:gd name="connsiteX74" fmla="*/ 1084660 w 1888549"/>
                <a:gd name="connsiteY74" fmla="*/ 266700 h 775335"/>
                <a:gd name="connsiteX75" fmla="*/ 1136151 w 1888549"/>
                <a:gd name="connsiteY75" fmla="*/ 329508 h 775335"/>
                <a:gd name="connsiteX76" fmla="*/ 1137999 w 1888549"/>
                <a:gd name="connsiteY76" fmla="*/ 327660 h 775335"/>
                <a:gd name="connsiteX77" fmla="*/ 1157049 w 1888549"/>
                <a:gd name="connsiteY77" fmla="*/ 346710 h 775335"/>
                <a:gd name="connsiteX78" fmla="*/ 1153297 w 1888549"/>
                <a:gd name="connsiteY78" fmla="*/ 350423 h 775335"/>
                <a:gd name="connsiteX79" fmla="*/ 1171338 w 1888549"/>
                <a:gd name="connsiteY79" fmla="*/ 372428 h 775335"/>
                <a:gd name="connsiteX80" fmla="*/ 1413273 w 1888549"/>
                <a:gd name="connsiteY80" fmla="*/ 372428 h 775335"/>
                <a:gd name="connsiteX81" fmla="*/ 1261825 w 1888549"/>
                <a:gd name="connsiteY81" fmla="*/ 220980 h 775335"/>
                <a:gd name="connsiteX82" fmla="*/ 876549 w 1888549"/>
                <a:gd name="connsiteY82" fmla="*/ 220980 h 775335"/>
                <a:gd name="connsiteX83" fmla="*/ 874990 w 1888549"/>
                <a:gd name="connsiteY83" fmla="*/ 224672 h 775335"/>
                <a:gd name="connsiteX84" fmla="*/ 858917 w 1888549"/>
                <a:gd name="connsiteY84" fmla="*/ 231458 h 775335"/>
                <a:gd name="connsiteX85" fmla="*/ 836057 w 1888549"/>
                <a:gd name="connsiteY85" fmla="*/ 208598 h 775335"/>
                <a:gd name="connsiteX86" fmla="*/ 858917 w 1888549"/>
                <a:gd name="connsiteY86" fmla="*/ 185738 h 775335"/>
                <a:gd name="connsiteX87" fmla="*/ 271226 w 1888549"/>
                <a:gd name="connsiteY87" fmla="*/ 0 h 775335"/>
                <a:gd name="connsiteX88" fmla="*/ 287390 w 1888549"/>
                <a:gd name="connsiteY88" fmla="*/ 6695 h 775335"/>
                <a:gd name="connsiteX89" fmla="*/ 288562 w 1888549"/>
                <a:gd name="connsiteY89" fmla="*/ 9525 h 775335"/>
                <a:gd name="connsiteX90" fmla="*/ 369333 w 1888549"/>
                <a:gd name="connsiteY90" fmla="*/ 9525 h 775335"/>
                <a:gd name="connsiteX91" fmla="*/ 489348 w 1888549"/>
                <a:gd name="connsiteY91" fmla="*/ 130492 h 775335"/>
                <a:gd name="connsiteX92" fmla="*/ 1072278 w 1888549"/>
                <a:gd name="connsiteY92" fmla="*/ 130492 h 775335"/>
                <a:gd name="connsiteX93" fmla="*/ 1139905 w 1888549"/>
                <a:gd name="connsiteY93" fmla="*/ 23812 h 775335"/>
                <a:gd name="connsiteX94" fmla="*/ 1284828 w 1888549"/>
                <a:gd name="connsiteY94" fmla="*/ 23812 h 775335"/>
                <a:gd name="connsiteX95" fmla="*/ 1287542 w 1888549"/>
                <a:gd name="connsiteY95" fmla="*/ 20955 h 775335"/>
                <a:gd name="connsiteX96" fmla="*/ 1290384 w 1888549"/>
                <a:gd name="connsiteY96" fmla="*/ 23812 h 775335"/>
                <a:gd name="connsiteX97" fmla="*/ 1553289 w 1888549"/>
                <a:gd name="connsiteY97" fmla="*/ 23812 h 775335"/>
                <a:gd name="connsiteX98" fmla="*/ 1612344 w 1888549"/>
                <a:gd name="connsiteY98" fmla="*/ 131445 h 775335"/>
                <a:gd name="connsiteX99" fmla="*/ 1888549 w 1888549"/>
                <a:gd name="connsiteY99" fmla="*/ 131445 h 775335"/>
                <a:gd name="connsiteX100" fmla="*/ 1888549 w 1888549"/>
                <a:gd name="connsiteY100" fmla="*/ 157162 h 775335"/>
                <a:gd name="connsiteX101" fmla="*/ 1598058 w 1888549"/>
                <a:gd name="connsiteY101" fmla="*/ 157162 h 775335"/>
                <a:gd name="connsiteX102" fmla="*/ 1539002 w 1888549"/>
                <a:gd name="connsiteY102" fmla="*/ 50482 h 775335"/>
                <a:gd name="connsiteX103" fmla="*/ 1316918 w 1888549"/>
                <a:gd name="connsiteY103" fmla="*/ 50482 h 775335"/>
                <a:gd name="connsiteX104" fmla="*/ 1472327 w 1888549"/>
                <a:gd name="connsiteY104" fmla="*/ 206692 h 775335"/>
                <a:gd name="connsiteX105" fmla="*/ 1888549 w 1888549"/>
                <a:gd name="connsiteY105" fmla="*/ 206692 h 775335"/>
                <a:gd name="connsiteX106" fmla="*/ 1888549 w 1888549"/>
                <a:gd name="connsiteY106" fmla="*/ 233054 h 775335"/>
                <a:gd name="connsiteX107" fmla="*/ 1461850 w 1888549"/>
                <a:gd name="connsiteY107" fmla="*/ 232410 h 775335"/>
                <a:gd name="connsiteX108" fmla="*/ 1279922 w 1888549"/>
                <a:gd name="connsiteY108" fmla="*/ 50482 h 775335"/>
                <a:gd name="connsiteX109" fmla="*/ 1153240 w 1888549"/>
                <a:gd name="connsiteY109" fmla="*/ 50482 h 775335"/>
                <a:gd name="connsiteX110" fmla="*/ 1085613 w 1888549"/>
                <a:gd name="connsiteY110" fmla="*/ 156210 h 775335"/>
                <a:gd name="connsiteX111" fmla="*/ 478870 w 1888549"/>
                <a:gd name="connsiteY111" fmla="*/ 156210 h 775335"/>
                <a:gd name="connsiteX112" fmla="*/ 357903 w 1888549"/>
                <a:gd name="connsiteY112" fmla="*/ 36195 h 775335"/>
                <a:gd name="connsiteX113" fmla="*/ 288562 w 1888549"/>
                <a:gd name="connsiteY113" fmla="*/ 36195 h 775335"/>
                <a:gd name="connsiteX114" fmla="*/ 287390 w 1888549"/>
                <a:gd name="connsiteY114" fmla="*/ 39024 h 775335"/>
                <a:gd name="connsiteX115" fmla="*/ 271226 w 1888549"/>
                <a:gd name="connsiteY115" fmla="*/ 45720 h 775335"/>
                <a:gd name="connsiteX116" fmla="*/ 248366 w 1888549"/>
                <a:gd name="connsiteY116" fmla="*/ 22860 h 775335"/>
                <a:gd name="connsiteX117" fmla="*/ 271226 w 1888549"/>
                <a:gd name="connsiteY117" fmla="*/ 0 h 77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1888549" h="775335">
                  <a:moveTo>
                    <a:pt x="858917" y="185738"/>
                  </a:moveTo>
                  <a:cubicBezTo>
                    <a:pt x="865108" y="185738"/>
                    <a:pt x="870823" y="188357"/>
                    <a:pt x="874990" y="192525"/>
                  </a:cubicBezTo>
                  <a:lnTo>
                    <a:pt x="876147" y="195263"/>
                  </a:lnTo>
                  <a:lnTo>
                    <a:pt x="1272302" y="195263"/>
                  </a:lnTo>
                  <a:lnTo>
                    <a:pt x="1449467" y="372428"/>
                  </a:lnTo>
                  <a:lnTo>
                    <a:pt x="1529477" y="372428"/>
                  </a:lnTo>
                  <a:lnTo>
                    <a:pt x="1598058" y="265748"/>
                  </a:lnTo>
                  <a:lnTo>
                    <a:pt x="1790447" y="265748"/>
                  </a:lnTo>
                  <a:lnTo>
                    <a:pt x="1793319" y="262890"/>
                  </a:lnTo>
                  <a:lnTo>
                    <a:pt x="1796177" y="265748"/>
                  </a:lnTo>
                  <a:lnTo>
                    <a:pt x="1888549" y="265748"/>
                  </a:lnTo>
                  <a:lnTo>
                    <a:pt x="1888549" y="291465"/>
                  </a:lnTo>
                  <a:lnTo>
                    <a:pt x="1800989" y="291465"/>
                  </a:lnTo>
                  <a:lnTo>
                    <a:pt x="1614249" y="479107"/>
                  </a:lnTo>
                  <a:lnTo>
                    <a:pt x="1321832" y="479107"/>
                  </a:lnTo>
                  <a:lnTo>
                    <a:pt x="1088382" y="747795"/>
                  </a:lnTo>
                  <a:lnTo>
                    <a:pt x="1090137" y="752118"/>
                  </a:lnTo>
                  <a:cubicBezTo>
                    <a:pt x="1090137" y="757952"/>
                    <a:pt x="1087994" y="763905"/>
                    <a:pt x="1083707" y="768667"/>
                  </a:cubicBezTo>
                  <a:cubicBezTo>
                    <a:pt x="1078946" y="773430"/>
                    <a:pt x="1073230" y="775335"/>
                    <a:pt x="1067515" y="775335"/>
                  </a:cubicBezTo>
                  <a:cubicBezTo>
                    <a:pt x="1061801" y="775335"/>
                    <a:pt x="1056085" y="773430"/>
                    <a:pt x="1051323" y="768667"/>
                  </a:cubicBezTo>
                  <a:cubicBezTo>
                    <a:pt x="1046561" y="764857"/>
                    <a:pt x="1044655" y="759142"/>
                    <a:pt x="1044655" y="752475"/>
                  </a:cubicBezTo>
                  <a:cubicBezTo>
                    <a:pt x="1044655" y="746760"/>
                    <a:pt x="1046561" y="741045"/>
                    <a:pt x="1051323" y="736282"/>
                  </a:cubicBezTo>
                  <a:cubicBezTo>
                    <a:pt x="1055133" y="732472"/>
                    <a:pt x="1060848" y="729615"/>
                    <a:pt x="1067515" y="729615"/>
                  </a:cubicBezTo>
                  <a:lnTo>
                    <a:pt x="1069567" y="730460"/>
                  </a:lnTo>
                  <a:lnTo>
                    <a:pt x="1310402" y="452437"/>
                  </a:lnTo>
                  <a:lnTo>
                    <a:pt x="1602819" y="452437"/>
                  </a:lnTo>
                  <a:lnTo>
                    <a:pt x="1764600" y="291465"/>
                  </a:lnTo>
                  <a:lnTo>
                    <a:pt x="1611392" y="291465"/>
                  </a:lnTo>
                  <a:lnTo>
                    <a:pt x="1542813" y="398145"/>
                  </a:lnTo>
                  <a:lnTo>
                    <a:pt x="1442800" y="398145"/>
                  </a:lnTo>
                  <a:lnTo>
                    <a:pt x="1440895" y="400050"/>
                  </a:lnTo>
                  <a:lnTo>
                    <a:pt x="1438990" y="398145"/>
                  </a:lnTo>
                  <a:lnTo>
                    <a:pt x="1159908" y="398145"/>
                  </a:lnTo>
                  <a:lnTo>
                    <a:pt x="1135200" y="368334"/>
                  </a:lnTo>
                  <a:lnTo>
                    <a:pt x="1064657" y="438150"/>
                  </a:lnTo>
                  <a:lnTo>
                    <a:pt x="814637" y="438150"/>
                  </a:lnTo>
                  <a:lnTo>
                    <a:pt x="813078" y="441842"/>
                  </a:lnTo>
                  <a:cubicBezTo>
                    <a:pt x="808911" y="446009"/>
                    <a:pt x="803196" y="448628"/>
                    <a:pt x="797005" y="448628"/>
                  </a:cubicBezTo>
                  <a:cubicBezTo>
                    <a:pt x="784622" y="448628"/>
                    <a:pt x="774145" y="438150"/>
                    <a:pt x="774145" y="425768"/>
                  </a:cubicBezTo>
                  <a:cubicBezTo>
                    <a:pt x="774145" y="413385"/>
                    <a:pt x="784622" y="402908"/>
                    <a:pt x="797005" y="402908"/>
                  </a:cubicBezTo>
                  <a:cubicBezTo>
                    <a:pt x="803196" y="402908"/>
                    <a:pt x="808911" y="405527"/>
                    <a:pt x="813078" y="409695"/>
                  </a:cubicBezTo>
                  <a:lnTo>
                    <a:pt x="814234" y="412432"/>
                  </a:lnTo>
                  <a:lnTo>
                    <a:pt x="1053227" y="412432"/>
                  </a:lnTo>
                  <a:lnTo>
                    <a:pt x="1118035" y="347625"/>
                  </a:lnTo>
                  <a:lnTo>
                    <a:pt x="1072278" y="292418"/>
                  </a:lnTo>
                  <a:lnTo>
                    <a:pt x="1019035" y="292418"/>
                  </a:lnTo>
                  <a:lnTo>
                    <a:pt x="929403" y="382905"/>
                  </a:lnTo>
                  <a:lnTo>
                    <a:pt x="662702" y="382905"/>
                  </a:lnTo>
                  <a:lnTo>
                    <a:pt x="493157" y="552450"/>
                  </a:lnTo>
                  <a:lnTo>
                    <a:pt x="321708" y="552450"/>
                  </a:lnTo>
                  <a:lnTo>
                    <a:pt x="43766" y="694962"/>
                  </a:lnTo>
                  <a:lnTo>
                    <a:pt x="38814" y="707707"/>
                  </a:lnTo>
                  <a:cubicBezTo>
                    <a:pt x="34052" y="711517"/>
                    <a:pt x="28337" y="714375"/>
                    <a:pt x="22622" y="714375"/>
                  </a:cubicBezTo>
                  <a:cubicBezTo>
                    <a:pt x="16907" y="714375"/>
                    <a:pt x="11192" y="712470"/>
                    <a:pt x="6429" y="707707"/>
                  </a:cubicBezTo>
                  <a:cubicBezTo>
                    <a:pt x="-2143" y="699135"/>
                    <a:pt x="-2143" y="684847"/>
                    <a:pt x="6429" y="675322"/>
                  </a:cubicBezTo>
                  <a:cubicBezTo>
                    <a:pt x="10239" y="670560"/>
                    <a:pt x="15954" y="668655"/>
                    <a:pt x="22622" y="668655"/>
                  </a:cubicBezTo>
                  <a:lnTo>
                    <a:pt x="31555" y="672333"/>
                  </a:lnTo>
                  <a:lnTo>
                    <a:pt x="314088" y="526733"/>
                  </a:lnTo>
                  <a:lnTo>
                    <a:pt x="481728" y="526733"/>
                  </a:lnTo>
                  <a:lnTo>
                    <a:pt x="652224" y="356235"/>
                  </a:lnTo>
                  <a:lnTo>
                    <a:pt x="917972" y="356235"/>
                  </a:lnTo>
                  <a:lnTo>
                    <a:pt x="982448" y="292418"/>
                  </a:lnTo>
                  <a:lnTo>
                    <a:pt x="487443" y="292418"/>
                  </a:lnTo>
                  <a:lnTo>
                    <a:pt x="137060" y="470305"/>
                  </a:lnTo>
                  <a:lnTo>
                    <a:pt x="132160" y="482917"/>
                  </a:lnTo>
                  <a:cubicBezTo>
                    <a:pt x="127398" y="486727"/>
                    <a:pt x="121683" y="489585"/>
                    <a:pt x="115968" y="489585"/>
                  </a:cubicBezTo>
                  <a:cubicBezTo>
                    <a:pt x="110253" y="489585"/>
                    <a:pt x="104538" y="487680"/>
                    <a:pt x="99775" y="482917"/>
                  </a:cubicBezTo>
                  <a:cubicBezTo>
                    <a:pt x="91203" y="474345"/>
                    <a:pt x="91203" y="460057"/>
                    <a:pt x="99775" y="450532"/>
                  </a:cubicBezTo>
                  <a:cubicBezTo>
                    <a:pt x="104538" y="445770"/>
                    <a:pt x="109300" y="443865"/>
                    <a:pt x="115968" y="443865"/>
                  </a:cubicBezTo>
                  <a:lnTo>
                    <a:pt x="125063" y="447610"/>
                  </a:lnTo>
                  <a:lnTo>
                    <a:pt x="479823" y="266700"/>
                  </a:lnTo>
                  <a:lnTo>
                    <a:pt x="1008431" y="266700"/>
                  </a:lnTo>
                  <a:lnTo>
                    <a:pt x="1011317" y="263843"/>
                  </a:lnTo>
                  <a:lnTo>
                    <a:pt x="1014174" y="266700"/>
                  </a:lnTo>
                  <a:lnTo>
                    <a:pt x="1084660" y="266700"/>
                  </a:lnTo>
                  <a:lnTo>
                    <a:pt x="1136151" y="329508"/>
                  </a:lnTo>
                  <a:lnTo>
                    <a:pt x="1137999" y="327660"/>
                  </a:lnTo>
                  <a:lnTo>
                    <a:pt x="1157049" y="346710"/>
                  </a:lnTo>
                  <a:lnTo>
                    <a:pt x="1153297" y="350423"/>
                  </a:lnTo>
                  <a:lnTo>
                    <a:pt x="1171338" y="372428"/>
                  </a:lnTo>
                  <a:lnTo>
                    <a:pt x="1413273" y="372428"/>
                  </a:lnTo>
                  <a:lnTo>
                    <a:pt x="1261825" y="220980"/>
                  </a:lnTo>
                  <a:lnTo>
                    <a:pt x="876549" y="220980"/>
                  </a:lnTo>
                  <a:lnTo>
                    <a:pt x="874990" y="224672"/>
                  </a:lnTo>
                  <a:cubicBezTo>
                    <a:pt x="870823" y="228839"/>
                    <a:pt x="865108" y="231458"/>
                    <a:pt x="858917" y="231458"/>
                  </a:cubicBezTo>
                  <a:cubicBezTo>
                    <a:pt x="846534" y="231458"/>
                    <a:pt x="836057" y="220980"/>
                    <a:pt x="836057" y="208598"/>
                  </a:cubicBezTo>
                  <a:cubicBezTo>
                    <a:pt x="836057" y="196215"/>
                    <a:pt x="846534" y="185738"/>
                    <a:pt x="858917" y="185738"/>
                  </a:cubicBezTo>
                  <a:close/>
                  <a:moveTo>
                    <a:pt x="271226" y="0"/>
                  </a:moveTo>
                  <a:cubicBezTo>
                    <a:pt x="277538" y="0"/>
                    <a:pt x="283253" y="2559"/>
                    <a:pt x="287390" y="6695"/>
                  </a:cubicBezTo>
                  <a:lnTo>
                    <a:pt x="288562" y="9525"/>
                  </a:lnTo>
                  <a:lnTo>
                    <a:pt x="369333" y="9525"/>
                  </a:lnTo>
                  <a:lnTo>
                    <a:pt x="489348" y="130492"/>
                  </a:lnTo>
                  <a:lnTo>
                    <a:pt x="1072278" y="130492"/>
                  </a:lnTo>
                  <a:lnTo>
                    <a:pt x="1139905" y="23812"/>
                  </a:lnTo>
                  <a:lnTo>
                    <a:pt x="1284828" y="23812"/>
                  </a:lnTo>
                  <a:lnTo>
                    <a:pt x="1287542" y="20955"/>
                  </a:lnTo>
                  <a:lnTo>
                    <a:pt x="1290384" y="23812"/>
                  </a:lnTo>
                  <a:lnTo>
                    <a:pt x="1553289" y="23812"/>
                  </a:lnTo>
                  <a:lnTo>
                    <a:pt x="1612344" y="131445"/>
                  </a:lnTo>
                  <a:lnTo>
                    <a:pt x="1888549" y="131445"/>
                  </a:lnTo>
                  <a:lnTo>
                    <a:pt x="1888549" y="157162"/>
                  </a:lnTo>
                  <a:lnTo>
                    <a:pt x="1598058" y="157162"/>
                  </a:lnTo>
                  <a:lnTo>
                    <a:pt x="1539002" y="50482"/>
                  </a:lnTo>
                  <a:lnTo>
                    <a:pt x="1316918" y="50482"/>
                  </a:lnTo>
                  <a:lnTo>
                    <a:pt x="1472327" y="206692"/>
                  </a:lnTo>
                  <a:lnTo>
                    <a:pt x="1888549" y="206692"/>
                  </a:lnTo>
                  <a:lnTo>
                    <a:pt x="1888549" y="233054"/>
                  </a:lnTo>
                  <a:lnTo>
                    <a:pt x="1461850" y="232410"/>
                  </a:lnTo>
                  <a:lnTo>
                    <a:pt x="1279922" y="50482"/>
                  </a:lnTo>
                  <a:lnTo>
                    <a:pt x="1153240" y="50482"/>
                  </a:lnTo>
                  <a:lnTo>
                    <a:pt x="1085613" y="156210"/>
                  </a:lnTo>
                  <a:lnTo>
                    <a:pt x="478870" y="156210"/>
                  </a:lnTo>
                  <a:lnTo>
                    <a:pt x="357903" y="36195"/>
                  </a:lnTo>
                  <a:lnTo>
                    <a:pt x="288562" y="36195"/>
                  </a:lnTo>
                  <a:lnTo>
                    <a:pt x="287390" y="39024"/>
                  </a:lnTo>
                  <a:cubicBezTo>
                    <a:pt x="283253" y="43161"/>
                    <a:pt x="277538" y="45720"/>
                    <a:pt x="271226" y="45720"/>
                  </a:cubicBezTo>
                  <a:cubicBezTo>
                    <a:pt x="258601" y="45720"/>
                    <a:pt x="248366" y="35485"/>
                    <a:pt x="248366" y="22860"/>
                  </a:cubicBezTo>
                  <a:cubicBezTo>
                    <a:pt x="248366" y="10235"/>
                    <a:pt x="258601" y="0"/>
                    <a:pt x="27122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19F564-C784-4AD8-912A-2FD004D79F20}"/>
                </a:ext>
              </a:extLst>
            </p:cNvPr>
            <p:cNvSpPr/>
            <p:nvPr/>
          </p:nvSpPr>
          <p:spPr>
            <a:xfrm>
              <a:off x="1093177" y="4613033"/>
              <a:ext cx="10005646" cy="6770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02F4B8E-9B3E-4F0F-A7A3-4E4CCE2F61D7}"/>
              </a:ext>
            </a:extLst>
          </p:cNvPr>
          <p:cNvSpPr txBox="1"/>
          <p:nvPr/>
        </p:nvSpPr>
        <p:spPr>
          <a:xfrm>
            <a:off x="1030086" y="3704061"/>
            <a:ext cx="6865108" cy="5078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3300" dirty="0">
                <a:solidFill>
                  <a:schemeClr val="bg1"/>
                </a:solidFill>
                <a:cs typeface="Arial" pitchFamily="34" charset="0"/>
              </a:rPr>
              <a:t>Advanced Artificial Intelligence</a:t>
            </a:r>
            <a:endParaRPr lang="ko-KR" altLang="en-US" sz="33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9F391-7E1F-4012-B14B-0323F1643F27}"/>
              </a:ext>
            </a:extLst>
          </p:cNvPr>
          <p:cNvSpPr txBox="1"/>
          <p:nvPr/>
        </p:nvSpPr>
        <p:spPr>
          <a:xfrm>
            <a:off x="6233113" y="4846588"/>
            <a:ext cx="2910887" cy="115416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  <a:cs typeface="Arial" pitchFamily="34" charset="0"/>
              </a:rPr>
              <a:t>Dr. Qurat Ul Ain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Assistant Professor</a:t>
            </a:r>
            <a:b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</a:br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Dept. of AI &amp; DS</a:t>
            </a:r>
          </a:p>
          <a:p>
            <a:r>
              <a:rPr lang="en-US" altLang="ko-KR" sz="1500" dirty="0">
                <a:solidFill>
                  <a:schemeClr val="bg1"/>
                </a:solidFill>
                <a:cs typeface="Arial" pitchFamily="34" charset="0"/>
              </a:rPr>
              <a:t>FAST NUCES, Islamabad</a:t>
            </a:r>
          </a:p>
          <a:p>
            <a:r>
              <a:rPr lang="en-US" sz="1500" dirty="0">
                <a:solidFill>
                  <a:schemeClr val="bg1"/>
                </a:solidFill>
              </a:rPr>
              <a:t>Email: quratul.ain@isb.nu.edu.pk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87D2B-81E8-6A6D-CC3C-D10A47D9498F}"/>
              </a:ext>
            </a:extLst>
          </p:cNvPr>
          <p:cNvSpPr txBox="1"/>
          <p:nvPr/>
        </p:nvSpPr>
        <p:spPr>
          <a:xfrm>
            <a:off x="3528583" y="4342761"/>
            <a:ext cx="1546698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27000" tIns="0" rIns="27000" bIns="0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   </a:t>
            </a:r>
            <a:r>
              <a:rPr lang="en-US" altLang="ko-KR">
                <a:solidFill>
                  <a:schemeClr val="bg1"/>
                </a:solidFill>
                <a:cs typeface="Arial" pitchFamily="34" charset="0"/>
              </a:rPr>
              <a:t>Week # 8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Today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543800" cy="4495800"/>
          </a:xfrm>
        </p:spPr>
        <p:txBody>
          <a:bodyPr>
            <a:normAutofit/>
          </a:bodyPr>
          <a:lstStyle/>
          <a:p>
            <a:pPr marL="12700" algn="just">
              <a:lnSpc>
                <a:spcPct val="150000"/>
              </a:lnSpc>
              <a:spcBef>
                <a:spcPts val="90"/>
              </a:spcBef>
              <a:tabLst>
                <a:tab pos="2165350" algn="l"/>
              </a:tabLst>
            </a:pPr>
            <a:r>
              <a:rPr lang="en-US" sz="2000" spc="-50" dirty="0">
                <a:cs typeface="Tahoma"/>
              </a:rPr>
              <a:t>We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spc="-70" dirty="0">
                <a:cs typeface="Tahoma"/>
              </a:rPr>
              <a:t>are</a:t>
            </a:r>
            <a:r>
              <a:rPr lang="en-US" sz="2000" spc="10" dirty="0">
                <a:cs typeface="Tahoma"/>
              </a:rPr>
              <a:t> </a:t>
            </a:r>
            <a:r>
              <a:rPr lang="en-US" sz="2000" spc="-35" dirty="0">
                <a:cs typeface="Tahoma"/>
              </a:rPr>
              <a:t>back</a:t>
            </a:r>
            <a:r>
              <a:rPr lang="en-US" sz="2000" spc="10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to</a:t>
            </a:r>
            <a:r>
              <a:rPr lang="en-US" sz="2000" spc="5" dirty="0">
                <a:cs typeface="Tahoma"/>
              </a:rPr>
              <a:t> </a:t>
            </a:r>
            <a:r>
              <a:rPr lang="en-US" sz="2000" b="1" spc="-40" dirty="0">
                <a:cs typeface="Trebuchet MS"/>
              </a:rPr>
              <a:t>supervised</a:t>
            </a:r>
            <a:r>
              <a:rPr lang="en-US" sz="2000" b="1" spc="20" dirty="0">
                <a:cs typeface="Trebuchet MS"/>
              </a:rPr>
              <a:t> </a:t>
            </a:r>
            <a:r>
              <a:rPr lang="en-US" sz="2000" spc="-45" dirty="0">
                <a:cs typeface="Tahoma"/>
              </a:rPr>
              <a:t>learning</a:t>
            </a:r>
            <a:endParaRPr lang="en-US" sz="2000" dirty="0">
              <a:cs typeface="Tahoma"/>
            </a:endParaRPr>
          </a:p>
          <a:p>
            <a:pPr marL="12700" algn="just">
              <a:lnSpc>
                <a:spcPct val="150000"/>
              </a:lnSpc>
              <a:spcBef>
                <a:spcPts val="90"/>
              </a:spcBef>
              <a:tabLst>
                <a:tab pos="2165350" algn="l"/>
              </a:tabLst>
            </a:pPr>
            <a:r>
              <a:rPr lang="en-US" sz="2000" dirty="0">
                <a:cs typeface="Tahoma"/>
              </a:rPr>
              <a:t>W</a:t>
            </a:r>
            <a:r>
              <a:rPr lang="en-US" sz="2000" spc="-95" dirty="0">
                <a:cs typeface="Tahoma"/>
              </a:rPr>
              <a:t>e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85" dirty="0">
                <a:cs typeface="Tahoma"/>
              </a:rPr>
              <a:t>a</a:t>
            </a:r>
            <a:r>
              <a:rPr lang="en-US" sz="2000" spc="-60" dirty="0">
                <a:cs typeface="Tahoma"/>
              </a:rPr>
              <a:t>re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50" dirty="0">
                <a:cs typeface="Tahoma"/>
              </a:rPr>
              <a:t>given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tr</a:t>
            </a:r>
            <a:r>
              <a:rPr lang="en-US" sz="2000" spc="-30" dirty="0">
                <a:cs typeface="Tahoma"/>
              </a:rPr>
              <a:t>aining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35" dirty="0">
                <a:cs typeface="Tahoma"/>
              </a:rPr>
              <a:t>data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180" dirty="0">
                <a:cs typeface="Lucida Sans Unicode"/>
              </a:rPr>
              <a:t>{</a:t>
            </a:r>
            <a:r>
              <a:rPr lang="en-US" sz="2000" dirty="0">
                <a:cs typeface="Tahoma"/>
              </a:rPr>
              <a:t>(</a:t>
            </a:r>
            <a:r>
              <a:rPr lang="en-US" sz="2000" b="1" spc="-65" dirty="0">
                <a:cs typeface="Trebuchet MS"/>
              </a:rPr>
              <a:t>x</a:t>
            </a:r>
            <a:r>
              <a:rPr lang="en-US" sz="2000" b="1" dirty="0">
                <a:cs typeface="Trebuchet MS"/>
              </a:rPr>
              <a:t>  </a:t>
            </a:r>
            <a:r>
              <a:rPr lang="en-US" sz="2000" b="1" spc="-5" dirty="0">
                <a:cs typeface="Trebuchet MS"/>
              </a:rPr>
              <a:t> </a:t>
            </a:r>
            <a:r>
              <a:rPr lang="en-US" sz="2000" i="1" spc="-100" dirty="0">
                <a:cs typeface="Verdana"/>
              </a:rPr>
              <a:t>,</a:t>
            </a:r>
            <a:r>
              <a:rPr lang="en-US" sz="2000" i="1" spc="-204" dirty="0">
                <a:cs typeface="Verdana"/>
              </a:rPr>
              <a:t> </a:t>
            </a:r>
            <a:r>
              <a:rPr lang="en-US" sz="2000" i="1" spc="85" dirty="0">
                <a:cs typeface="Arial"/>
              </a:rPr>
              <a:t>t</a:t>
            </a:r>
            <a:r>
              <a:rPr lang="en-US" sz="2000" dirty="0">
                <a:cs typeface="Tahoma"/>
              </a:rPr>
              <a:t>)</a:t>
            </a:r>
            <a:r>
              <a:rPr lang="en-US" sz="2000" spc="185" dirty="0">
                <a:cs typeface="Lucida Sans Unicode"/>
              </a:rPr>
              <a:t>}</a:t>
            </a:r>
          </a:p>
          <a:p>
            <a:pPr marL="12700" algn="just">
              <a:lnSpc>
                <a:spcPct val="150000"/>
              </a:lnSpc>
              <a:spcBef>
                <a:spcPts val="90"/>
              </a:spcBef>
              <a:tabLst>
                <a:tab pos="2165350" algn="l"/>
              </a:tabLst>
            </a:pPr>
            <a:r>
              <a:rPr lang="en-US" sz="2000" spc="-50" dirty="0">
                <a:cs typeface="Tahoma"/>
              </a:rPr>
              <a:t>We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will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25" dirty="0">
                <a:cs typeface="Tahoma"/>
              </a:rPr>
              <a:t>look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at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b="1" spc="-35" dirty="0">
                <a:cs typeface="Trebuchet MS"/>
              </a:rPr>
              <a:t>classification</a:t>
            </a:r>
            <a:r>
              <a:rPr lang="en-US" sz="2000" spc="-35" dirty="0">
                <a:cs typeface="Tahoma"/>
              </a:rPr>
              <a:t>,</a:t>
            </a:r>
            <a:r>
              <a:rPr lang="en-US" sz="2000" spc="30" dirty="0">
                <a:cs typeface="Tahoma"/>
              </a:rPr>
              <a:t> </a:t>
            </a:r>
            <a:r>
              <a:rPr lang="en-US" sz="2000" spc="-65" dirty="0">
                <a:cs typeface="Tahoma"/>
              </a:rPr>
              <a:t>so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i="1" spc="70" dirty="0">
                <a:cs typeface="Arial"/>
              </a:rPr>
              <a:t>t</a:t>
            </a:r>
            <a:r>
              <a:rPr lang="en-US" sz="2000" spc="104" baseline="27777" dirty="0">
                <a:cs typeface="Tahoma"/>
              </a:rPr>
              <a:t>(</a:t>
            </a:r>
            <a:r>
              <a:rPr lang="en-US" sz="2000" i="1" spc="104" baseline="27777" dirty="0">
                <a:cs typeface="Arial"/>
              </a:rPr>
              <a:t>i</a:t>
            </a:r>
            <a:r>
              <a:rPr lang="en-US" sz="2000" i="1" spc="-217" baseline="27777" dirty="0">
                <a:cs typeface="Arial"/>
              </a:rPr>
              <a:t> </a:t>
            </a:r>
            <a:r>
              <a:rPr lang="en-US" sz="2000" spc="30" baseline="27777" dirty="0">
                <a:cs typeface="Tahoma"/>
              </a:rPr>
              <a:t>)</a:t>
            </a:r>
            <a:r>
              <a:rPr lang="en-US" sz="2000" spc="254" baseline="27777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will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60" dirty="0">
                <a:cs typeface="Tahoma"/>
              </a:rPr>
              <a:t>represent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40" dirty="0">
                <a:cs typeface="Tahoma"/>
              </a:rPr>
              <a:t>the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class</a:t>
            </a:r>
            <a:r>
              <a:rPr lang="en-US" sz="2000" spc="30" dirty="0">
                <a:cs typeface="Tahoma"/>
              </a:rPr>
              <a:t> </a:t>
            </a:r>
            <a:r>
              <a:rPr lang="en-US" sz="2000" spc="-30" dirty="0">
                <a:cs typeface="Tahoma"/>
              </a:rPr>
              <a:t>label</a:t>
            </a:r>
          </a:p>
          <a:p>
            <a:pPr marL="12700" algn="just">
              <a:lnSpc>
                <a:spcPct val="150000"/>
              </a:lnSpc>
              <a:spcBef>
                <a:spcPts val="90"/>
              </a:spcBef>
              <a:tabLst>
                <a:tab pos="2165350" algn="l"/>
              </a:tabLst>
            </a:pPr>
            <a:r>
              <a:rPr lang="en-US" sz="2000" spc="-30" dirty="0">
                <a:cs typeface="Tahoma"/>
              </a:rPr>
              <a:t> </a:t>
            </a:r>
            <a:r>
              <a:rPr lang="en-US" sz="2000" spc="-330" dirty="0">
                <a:cs typeface="Tahoma"/>
              </a:rPr>
              <a:t> </a:t>
            </a:r>
            <a:r>
              <a:rPr lang="en-US" sz="2000" spc="-50" dirty="0">
                <a:cs typeface="Tahoma"/>
              </a:rPr>
              <a:t>We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will</a:t>
            </a:r>
            <a:r>
              <a:rPr lang="en-US" sz="2000" spc="15" dirty="0">
                <a:cs typeface="Tahoma"/>
              </a:rPr>
              <a:t> </a:t>
            </a:r>
            <a:r>
              <a:rPr lang="en-US" sz="2000" spc="-40" dirty="0">
                <a:cs typeface="Tahoma"/>
              </a:rPr>
              <a:t>focus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55" dirty="0">
                <a:cs typeface="Tahoma"/>
              </a:rPr>
              <a:t>on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b="1" spc="-45" dirty="0">
                <a:cs typeface="Trebuchet MS"/>
              </a:rPr>
              <a:t>binary</a:t>
            </a:r>
            <a:r>
              <a:rPr lang="en-US" sz="2000" b="1" spc="30" dirty="0">
                <a:cs typeface="Trebuchet MS"/>
              </a:rPr>
              <a:t> </a:t>
            </a:r>
            <a:r>
              <a:rPr lang="en-US" sz="2000" spc="-30" dirty="0">
                <a:cs typeface="Tahoma"/>
              </a:rPr>
              <a:t>classification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40" dirty="0">
                <a:cs typeface="Tahoma"/>
              </a:rPr>
              <a:t>(two</a:t>
            </a:r>
            <a:r>
              <a:rPr lang="en-US" sz="2000" spc="15" dirty="0">
                <a:cs typeface="Tahoma"/>
              </a:rPr>
              <a:t> </a:t>
            </a:r>
            <a:r>
              <a:rPr lang="en-US" sz="2000" spc="-50" dirty="0">
                <a:cs typeface="Tahoma"/>
              </a:rPr>
              <a:t>classes)</a:t>
            </a:r>
          </a:p>
          <a:p>
            <a:pPr marL="12700" algn="just">
              <a:lnSpc>
                <a:spcPct val="150000"/>
              </a:lnSpc>
              <a:spcBef>
                <a:spcPts val="90"/>
              </a:spcBef>
              <a:tabLst>
                <a:tab pos="2165350" algn="l"/>
              </a:tabLst>
            </a:pPr>
            <a:r>
              <a:rPr lang="en-US" sz="2000" spc="-50" dirty="0">
                <a:cs typeface="Tahoma"/>
              </a:rPr>
              <a:t>We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15" dirty="0">
                <a:cs typeface="Tahoma"/>
              </a:rPr>
              <a:t>will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consider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55" dirty="0">
                <a:cs typeface="Tahoma"/>
              </a:rPr>
              <a:t>a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b="1" spc="-55" dirty="0">
                <a:cs typeface="Trebuchet MS"/>
              </a:rPr>
              <a:t>linear</a:t>
            </a:r>
            <a:r>
              <a:rPr lang="en-US" sz="2000" b="1" spc="35" dirty="0">
                <a:cs typeface="Trebuchet MS"/>
              </a:rPr>
              <a:t> </a:t>
            </a:r>
            <a:r>
              <a:rPr lang="en-US" sz="2000" spc="-35" dirty="0">
                <a:cs typeface="Tahoma"/>
              </a:rPr>
              <a:t>classifier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20" dirty="0">
                <a:cs typeface="Tahoma"/>
              </a:rPr>
              <a:t>first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35" dirty="0">
                <a:cs typeface="Tahoma"/>
              </a:rPr>
              <a:t>(next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class</a:t>
            </a:r>
            <a:r>
              <a:rPr lang="en-US" sz="2000" spc="25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non-linear</a:t>
            </a:r>
            <a:r>
              <a:rPr lang="en-US" sz="2000" spc="20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decision </a:t>
            </a:r>
            <a:r>
              <a:rPr lang="en-US" sz="2000" spc="-325" dirty="0">
                <a:cs typeface="Tahoma"/>
              </a:rPr>
              <a:t> </a:t>
            </a:r>
            <a:r>
              <a:rPr lang="en-US" sz="2000" spc="-45" dirty="0">
                <a:cs typeface="Tahoma"/>
              </a:rPr>
              <a:t>boundaries)</a:t>
            </a:r>
          </a:p>
        </p:txBody>
      </p:sp>
    </p:spTree>
    <p:extLst>
      <p:ext uri="{BB962C8B-B14F-4D97-AF65-F5344CB8AC3E}">
        <p14:creationId xmlns:p14="http://schemas.microsoft.com/office/powerpoint/2010/main" val="1447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Support Vector Machine History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5181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580"/>
              </a:spcBef>
              <a:defRPr/>
            </a:pPr>
            <a:r>
              <a:rPr lang="en-US" sz="2000" dirty="0"/>
              <a:t>SVM is </a:t>
            </a:r>
            <a:r>
              <a:rPr lang="en-US" altLang="zh-TW" sz="2000" dirty="0"/>
              <a:t>related to</a:t>
            </a:r>
            <a:r>
              <a:rPr lang="en-US" sz="2000" dirty="0"/>
              <a:t> statistical learning theory </a:t>
            </a:r>
          </a:p>
          <a:p>
            <a:pPr algn="just">
              <a:lnSpc>
                <a:spcPct val="150000"/>
              </a:lnSpc>
              <a:spcBef>
                <a:spcPts val="580"/>
              </a:spcBef>
              <a:defRPr/>
            </a:pPr>
            <a:r>
              <a:rPr lang="en-US" sz="2000" dirty="0"/>
              <a:t>SVM was first introduced in 1992 </a:t>
            </a:r>
          </a:p>
          <a:p>
            <a:pPr algn="just">
              <a:lnSpc>
                <a:spcPct val="150000"/>
              </a:lnSpc>
              <a:spcBef>
                <a:spcPts val="580"/>
              </a:spcBef>
              <a:defRPr/>
            </a:pPr>
            <a:r>
              <a:rPr lang="en-US" sz="2000" dirty="0"/>
              <a:t>SVM becomes popular because of its success in handwritten digit recognition </a:t>
            </a:r>
          </a:p>
          <a:p>
            <a:pPr marL="548640" lvl="1" algn="just">
              <a:lnSpc>
                <a:spcPct val="150000"/>
              </a:lnSpc>
              <a:spcBef>
                <a:spcPts val="370"/>
              </a:spcBef>
              <a:defRPr/>
            </a:pPr>
            <a:r>
              <a:rPr lang="en-US" sz="2000" dirty="0"/>
              <a:t>1.1% test error rate for SVM. This is the same as the error rates of a carefully constructed neural network, </a:t>
            </a:r>
            <a:r>
              <a:rPr lang="en-US" sz="2000" dirty="0" err="1"/>
              <a:t>LeNet</a:t>
            </a:r>
            <a:r>
              <a:rPr lang="en-US" sz="2000" dirty="0"/>
              <a:t> 4.</a:t>
            </a:r>
          </a:p>
          <a:p>
            <a:pPr algn="just">
              <a:lnSpc>
                <a:spcPct val="150000"/>
              </a:lnSpc>
              <a:spcBef>
                <a:spcPts val="580"/>
              </a:spcBef>
              <a:defRPr/>
            </a:pPr>
            <a:r>
              <a:rPr lang="en-US" sz="2000" dirty="0"/>
              <a:t>SVM is now regarded as an important example of “kernel methods”, </a:t>
            </a:r>
            <a:r>
              <a:rPr lang="en-US" altLang="zh-TW" sz="2000" dirty="0"/>
              <a:t>one of the key</a:t>
            </a:r>
            <a:r>
              <a:rPr lang="en-US" sz="2000" dirty="0"/>
              <a:t> area in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8064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Key Ideas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6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Two independent developments within last decade</a:t>
            </a:r>
          </a:p>
          <a:p>
            <a:pPr lvl="1" algn="just">
              <a:lnSpc>
                <a:spcPct val="150000"/>
              </a:lnSpc>
              <a:buFont typeface="Century Schoolbook" panose="02040604050505020304" pitchFamily="18" charset="0"/>
              <a:buChar char="–"/>
            </a:pPr>
            <a:r>
              <a:rPr lang="en-US" sz="2000" dirty="0"/>
              <a:t>New efficient separability of non-linear regions that use “kernel functions” : generalization of ‘similarity’ to new kinds</a:t>
            </a:r>
          </a:p>
          <a:p>
            <a:pPr lvl="1" algn="just">
              <a:lnSpc>
                <a:spcPct val="150000"/>
              </a:lnSpc>
              <a:buFont typeface="Century Schoolbook" panose="02040604050505020304" pitchFamily="18" charset="0"/>
              <a:buChar char="–"/>
            </a:pPr>
            <a:r>
              <a:rPr lang="en-US" sz="2000" dirty="0"/>
              <a:t>Use of quadratic optimization problem to avoid ‘local minimum’ issues with neural nets</a:t>
            </a:r>
          </a:p>
          <a:p>
            <a:pPr lvl="1" algn="just">
              <a:lnSpc>
                <a:spcPct val="150000"/>
              </a:lnSpc>
              <a:buFont typeface="Century Schoolbook" panose="02040604050505020304" pitchFamily="18" charset="0"/>
              <a:buChar char="–"/>
            </a:pPr>
            <a:r>
              <a:rPr lang="en-US" sz="2000" dirty="0"/>
              <a:t>The resulting learning algorithm is an optimization algorithm rather than a greedy search</a:t>
            </a:r>
          </a:p>
        </p:txBody>
      </p:sp>
    </p:spTree>
    <p:extLst>
      <p:ext uri="{BB962C8B-B14F-4D97-AF65-F5344CB8AC3E}">
        <p14:creationId xmlns:p14="http://schemas.microsoft.com/office/powerpoint/2010/main" val="218323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Organization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229600" cy="45688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Basic idea of support vector machines: just like 1- layer or multi-layer neural nets</a:t>
            </a:r>
          </a:p>
          <a:p>
            <a:pPr lvl="1" algn="just">
              <a:lnSpc>
                <a:spcPct val="150000"/>
              </a:lnSpc>
              <a:buFont typeface="Century Schoolbook" panose="02040604050505020304" pitchFamily="18" charset="0"/>
              <a:buChar char="–"/>
            </a:pPr>
            <a:r>
              <a:rPr lang="en-US" sz="2000" dirty="0"/>
              <a:t>Optimal hyperplane for linearly separable patterns</a:t>
            </a:r>
          </a:p>
          <a:p>
            <a:pPr lvl="1" algn="just">
              <a:lnSpc>
                <a:spcPct val="150000"/>
              </a:lnSpc>
              <a:buFont typeface="Century Schoolbook" panose="02040604050505020304" pitchFamily="18" charset="0"/>
              <a:buChar char="–"/>
            </a:pPr>
            <a:r>
              <a:rPr lang="en-US" sz="2000" dirty="0"/>
              <a:t>Extend to patterns that are not linearly separable by transformations of original data to map into new space – the </a:t>
            </a:r>
            <a:r>
              <a:rPr lang="en-US" sz="2000" u="sng" dirty="0"/>
              <a:t>Kernel function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SVM algorithm for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358551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Support Vectors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6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Support vectors are the data points that lie closest to the decision surface (or hyperplane)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They are the data points most difficult to classify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They have direct bearing on the optimum location of the decision surface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We can show that the optimal hyperplane stems from the function class with the lowest “capacity”= # of independent features/parameters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031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Support Vector Machine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54102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“Support Vector Machine” (SVM) is a supervised machine learning algorithm that can be used for both classification or regression challenges. 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In the SVM algorithm, we plot each data item as a point in n-dimensional space (where n is a number of features you have) with the value of each feature being the value of a particular coordinate.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 Then, we perform classification by finding the hyper-plane that differentiates the two classes very well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Support Vectors are simply the coordinates of individual observation. The SVM classifier is a frontier that best segregates the two classes (hyper-plane/ line).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89616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Support Vector Machine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410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Note:</a:t>
            </a:r>
            <a:r>
              <a:rPr lang="en-US" sz="2000" dirty="0"/>
              <a:t> Don’t get confused between SVM and logistic regression. Both the algorithms try to find the best hyperplane, but the main difference is logistic regression is a probabilistic approach whereas support vector machine is based on statistical approaches.</a:t>
            </a:r>
          </a:p>
          <a:p>
            <a:endParaRPr lang="en-GB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75" t="51594" r="47174" b="13188"/>
          <a:stretch/>
        </p:blipFill>
        <p:spPr bwMode="auto">
          <a:xfrm>
            <a:off x="1981200" y="3276600"/>
            <a:ext cx="55626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272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024" y="118658"/>
            <a:ext cx="7735775" cy="711432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z="4400" spc="-40" dirty="0">
                <a:solidFill>
                  <a:schemeClr val="accent2">
                    <a:lumMod val="75000"/>
                  </a:schemeClr>
                </a:solidFill>
                <a:cs typeface="Tahoma"/>
              </a:rPr>
              <a:t>Logistic</a:t>
            </a:r>
            <a:r>
              <a:rPr sz="4400" dirty="0">
                <a:solidFill>
                  <a:schemeClr val="accent2">
                    <a:lumMod val="75000"/>
                  </a:schemeClr>
                </a:solidFill>
                <a:cs typeface="Tahoma"/>
              </a:rPr>
              <a:t> </a:t>
            </a:r>
            <a:r>
              <a:rPr sz="4400" spc="-119" dirty="0">
                <a:solidFill>
                  <a:schemeClr val="accent2">
                    <a:lumMod val="75000"/>
                  </a:schemeClr>
                </a:solidFill>
                <a:cs typeface="Tahoma"/>
              </a:rPr>
              <a:t>Regression</a:t>
            </a:r>
            <a:endParaRPr sz="4400" dirty="0">
              <a:solidFill>
                <a:schemeClr val="accent2">
                  <a:lumMod val="75000"/>
                </a:schemeClr>
              </a:solidFill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529" y="959991"/>
            <a:ext cx="7670477" cy="45228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04445" y="5860290"/>
            <a:ext cx="458460" cy="33193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25179">
              <a:spcBef>
                <a:spcPts val="188"/>
              </a:spcBef>
            </a:pPr>
            <a:r>
              <a:rPr sz="2000" i="1" spc="-89" dirty="0">
                <a:cs typeface="Arial"/>
              </a:rPr>
              <a:t>y</a:t>
            </a:r>
            <a:r>
              <a:rPr sz="2000" i="1" spc="59" dirty="0">
                <a:cs typeface="Arial"/>
              </a:rPr>
              <a:t> </a:t>
            </a:r>
            <a:r>
              <a:rPr sz="2000" spc="89" dirty="0">
                <a:cs typeface="Tahoma"/>
              </a:rPr>
              <a:t>=</a:t>
            </a:r>
            <a:endParaRPr sz="2000"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1594" y="5431546"/>
            <a:ext cx="479871" cy="33193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2000" spc="416" dirty="0">
                <a:cs typeface="Lucida Sans Unicode"/>
              </a:rPr>
              <a:t>(</a:t>
            </a:r>
            <a:r>
              <a:rPr sz="3000" spc="625" baseline="-55555" dirty="0">
                <a:solidFill>
                  <a:srgbClr val="FF0000"/>
                </a:solidFill>
                <a:cs typeface="Tahoma"/>
              </a:rPr>
              <a:t>1</a:t>
            </a:r>
            <a:endParaRPr sz="3000" baseline="-55555"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5430" y="5689305"/>
            <a:ext cx="1950972" cy="33193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2000" spc="-10" dirty="0">
                <a:solidFill>
                  <a:srgbClr val="FF0000"/>
                </a:solidFill>
                <a:cs typeface="Tahoma"/>
              </a:rPr>
              <a:t>if</a:t>
            </a:r>
            <a:r>
              <a:rPr sz="2000" spc="40" dirty="0">
                <a:solidFill>
                  <a:srgbClr val="FF0000"/>
                </a:solidFill>
                <a:cs typeface="Tahoma"/>
              </a:rPr>
              <a:t> </a:t>
            </a:r>
            <a:r>
              <a:rPr sz="2000" dirty="0">
                <a:solidFill>
                  <a:srgbClr val="FF0000"/>
                </a:solidFill>
                <a:cs typeface="Tahoma"/>
              </a:rPr>
              <a:t>(</a:t>
            </a:r>
            <a:r>
              <a:rPr sz="2000" b="1" spc="-59" dirty="0">
                <a:solidFill>
                  <a:srgbClr val="FF0000"/>
                </a:solidFill>
                <a:cs typeface="Trebuchet MS"/>
              </a:rPr>
              <a:t>w</a:t>
            </a:r>
            <a:r>
              <a:rPr sz="2100" i="1" spc="222" baseline="27777" dirty="0">
                <a:solidFill>
                  <a:srgbClr val="FF0000"/>
                </a:solidFill>
                <a:cs typeface="Arial"/>
              </a:rPr>
              <a:t>T</a:t>
            </a:r>
            <a:r>
              <a:rPr sz="2100" i="1" spc="-163" baseline="27777" dirty="0">
                <a:solidFill>
                  <a:srgbClr val="FF0000"/>
                </a:solidFill>
                <a:cs typeface="Arial"/>
              </a:rPr>
              <a:t> </a:t>
            </a:r>
            <a:r>
              <a:rPr sz="2000" b="1" spc="-109" dirty="0">
                <a:solidFill>
                  <a:srgbClr val="FF0000"/>
                </a:solidFill>
                <a:cs typeface="Trebuchet MS"/>
              </a:rPr>
              <a:t>x</a:t>
            </a:r>
            <a:r>
              <a:rPr sz="2000" b="1" spc="-159" dirty="0">
                <a:solidFill>
                  <a:srgbClr val="FF0000"/>
                </a:solidFill>
                <a:cs typeface="Trebuchet MS"/>
              </a:rPr>
              <a:t> </a:t>
            </a:r>
            <a:r>
              <a:rPr sz="2000" spc="89" dirty="0">
                <a:solidFill>
                  <a:srgbClr val="FF0000"/>
                </a:solidFill>
                <a:cs typeface="Tahoma"/>
              </a:rPr>
              <a:t>+</a:t>
            </a:r>
            <a:r>
              <a:rPr sz="2000" spc="-188" dirty="0">
                <a:solidFill>
                  <a:srgbClr val="FF0000"/>
                </a:solidFill>
                <a:cs typeface="Tahoma"/>
              </a:rPr>
              <a:t> </a:t>
            </a:r>
            <a:r>
              <a:rPr sz="2000" i="1" spc="-30" dirty="0">
                <a:solidFill>
                  <a:srgbClr val="FF0000"/>
                </a:solidFill>
                <a:cs typeface="Arial"/>
              </a:rPr>
              <a:t>b</a:t>
            </a:r>
            <a:r>
              <a:rPr sz="2000" dirty="0">
                <a:solidFill>
                  <a:srgbClr val="FF0000"/>
                </a:solidFill>
                <a:cs typeface="Tahoma"/>
              </a:rPr>
              <a:t>)</a:t>
            </a:r>
            <a:r>
              <a:rPr sz="2000" spc="-69" dirty="0">
                <a:solidFill>
                  <a:srgbClr val="FF0000"/>
                </a:solidFill>
                <a:cs typeface="Tahoma"/>
              </a:rPr>
              <a:t> </a:t>
            </a:r>
            <a:r>
              <a:rPr sz="2000" spc="-50" dirty="0">
                <a:solidFill>
                  <a:srgbClr val="FF0000"/>
                </a:solidFill>
                <a:cs typeface="Lucida Sans Unicode"/>
              </a:rPr>
              <a:t>≥</a:t>
            </a:r>
            <a:r>
              <a:rPr sz="2000" spc="-79" dirty="0">
                <a:solidFill>
                  <a:srgbClr val="FF0000"/>
                </a:solidFill>
                <a:cs typeface="Lucida Sans Unicode"/>
              </a:rPr>
              <a:t> </a:t>
            </a:r>
            <a:r>
              <a:rPr sz="2000" spc="-99" dirty="0">
                <a:solidFill>
                  <a:srgbClr val="FF0000"/>
                </a:solidFill>
                <a:cs typeface="Tahoma"/>
              </a:rPr>
              <a:t>0</a:t>
            </a:r>
            <a:endParaRPr sz="2000" dirty="0"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3746" y="6050350"/>
            <a:ext cx="2522787" cy="331930"/>
          </a:xfrm>
          <a:prstGeom prst="rect">
            <a:avLst/>
          </a:prstGeom>
        </p:spPr>
        <p:txBody>
          <a:bodyPr vert="horz" wrap="square" lIns="0" tIns="23920" rIns="0" bIns="0" rtlCol="0">
            <a:spAutoFit/>
          </a:bodyPr>
          <a:lstStyle/>
          <a:p>
            <a:pPr marL="75537">
              <a:spcBef>
                <a:spcPts val="188"/>
              </a:spcBef>
            </a:pPr>
            <a:r>
              <a:rPr sz="2000" spc="-357" dirty="0">
                <a:solidFill>
                  <a:srgbClr val="0000FF"/>
                </a:solidFill>
                <a:cs typeface="Lucida Sans Unicode"/>
              </a:rPr>
              <a:t>−</a:t>
            </a:r>
            <a:r>
              <a:rPr sz="2000" spc="-99" dirty="0">
                <a:solidFill>
                  <a:srgbClr val="0000FF"/>
                </a:solidFill>
                <a:cs typeface="Tahoma"/>
              </a:rPr>
              <a:t>1  </a:t>
            </a:r>
            <a:r>
              <a:rPr sz="2000" spc="109" dirty="0">
                <a:solidFill>
                  <a:srgbClr val="0000FF"/>
                </a:solidFill>
                <a:cs typeface="Tahoma"/>
              </a:rPr>
              <a:t> </a:t>
            </a:r>
            <a:r>
              <a:rPr sz="2000" spc="-10" dirty="0">
                <a:solidFill>
                  <a:srgbClr val="0000FF"/>
                </a:solidFill>
                <a:cs typeface="Tahoma"/>
              </a:rPr>
              <a:t>if</a:t>
            </a:r>
            <a:r>
              <a:rPr sz="2000" spc="40" dirty="0">
                <a:solidFill>
                  <a:srgbClr val="0000FF"/>
                </a:solidFill>
                <a:cs typeface="Tahoma"/>
              </a:rPr>
              <a:t> </a:t>
            </a:r>
            <a:r>
              <a:rPr sz="2000" dirty="0">
                <a:solidFill>
                  <a:srgbClr val="0000FF"/>
                </a:solidFill>
                <a:cs typeface="Tahoma"/>
              </a:rPr>
              <a:t>(</a:t>
            </a:r>
            <a:r>
              <a:rPr sz="2000" b="1" spc="-59" dirty="0">
                <a:solidFill>
                  <a:srgbClr val="0000FF"/>
                </a:solidFill>
                <a:cs typeface="Trebuchet MS"/>
              </a:rPr>
              <a:t>w</a:t>
            </a:r>
            <a:r>
              <a:rPr sz="2100" i="1" spc="222" baseline="27777" dirty="0">
                <a:solidFill>
                  <a:srgbClr val="0000FF"/>
                </a:solidFill>
                <a:cs typeface="Arial"/>
              </a:rPr>
              <a:t>T</a:t>
            </a:r>
            <a:r>
              <a:rPr sz="2100" i="1" spc="-163" baseline="27777" dirty="0">
                <a:solidFill>
                  <a:srgbClr val="0000FF"/>
                </a:solidFill>
                <a:cs typeface="Arial"/>
              </a:rPr>
              <a:t> </a:t>
            </a:r>
            <a:r>
              <a:rPr sz="2000" b="1" spc="-109" dirty="0">
                <a:solidFill>
                  <a:srgbClr val="0000FF"/>
                </a:solidFill>
                <a:cs typeface="Trebuchet MS"/>
              </a:rPr>
              <a:t>x</a:t>
            </a:r>
            <a:r>
              <a:rPr sz="2000" b="1" spc="-159" dirty="0">
                <a:solidFill>
                  <a:srgbClr val="0000FF"/>
                </a:solidFill>
                <a:cs typeface="Trebuchet MS"/>
              </a:rPr>
              <a:t> </a:t>
            </a:r>
            <a:r>
              <a:rPr sz="2000" spc="89" dirty="0">
                <a:solidFill>
                  <a:srgbClr val="0000FF"/>
                </a:solidFill>
                <a:cs typeface="Tahoma"/>
              </a:rPr>
              <a:t>+</a:t>
            </a:r>
            <a:r>
              <a:rPr sz="2000" spc="-188" dirty="0">
                <a:solidFill>
                  <a:srgbClr val="0000FF"/>
                </a:solidFill>
                <a:cs typeface="Tahoma"/>
              </a:rPr>
              <a:t> </a:t>
            </a:r>
            <a:r>
              <a:rPr sz="2000" i="1" spc="-30" dirty="0">
                <a:solidFill>
                  <a:srgbClr val="0000FF"/>
                </a:solidFill>
                <a:cs typeface="Arial"/>
              </a:rPr>
              <a:t>b</a:t>
            </a:r>
            <a:r>
              <a:rPr sz="2000" dirty="0">
                <a:solidFill>
                  <a:srgbClr val="0000FF"/>
                </a:solidFill>
                <a:cs typeface="Tahoma"/>
              </a:rPr>
              <a:t>)</a:t>
            </a:r>
            <a:r>
              <a:rPr sz="2000" spc="-69" dirty="0">
                <a:solidFill>
                  <a:srgbClr val="0000FF"/>
                </a:solidFill>
                <a:cs typeface="Tahoma"/>
              </a:rPr>
              <a:t> </a:t>
            </a:r>
            <a:r>
              <a:rPr sz="2000" i="1" spc="-89" dirty="0">
                <a:solidFill>
                  <a:srgbClr val="0000FF"/>
                </a:solidFill>
                <a:cs typeface="Verdana"/>
              </a:rPr>
              <a:t>&lt;</a:t>
            </a:r>
            <a:r>
              <a:rPr sz="2000" i="1" spc="-149" dirty="0">
                <a:solidFill>
                  <a:srgbClr val="0000FF"/>
                </a:solidFill>
                <a:cs typeface="Verdana"/>
              </a:rPr>
              <a:t> </a:t>
            </a:r>
            <a:r>
              <a:rPr sz="2000" spc="-99" dirty="0">
                <a:solidFill>
                  <a:srgbClr val="0000FF"/>
                </a:solidFill>
                <a:cs typeface="Tahoma"/>
              </a:rPr>
              <a:t>0</a:t>
            </a:r>
            <a:endParaRPr sz="2000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74036213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57889"/>
            <a:ext cx="8558911" cy="711432"/>
          </a:xfrm>
          <a:prstGeom prst="rect">
            <a:avLst/>
          </a:prstGeom>
        </p:spPr>
        <p:txBody>
          <a:bodyPr vert="horz" wrap="square" lIns="0" tIns="33992" rIns="0" bIns="0" rtlCol="0">
            <a:spAutoFit/>
          </a:bodyPr>
          <a:lstStyle/>
          <a:p>
            <a:pPr marL="25179">
              <a:spcBef>
                <a:spcPts val="268"/>
              </a:spcBef>
            </a:pPr>
            <a:r>
              <a:rPr sz="4400" spc="1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Max</a:t>
            </a:r>
            <a:r>
              <a:rPr sz="44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sz="4400" spc="-4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Margin</a:t>
            </a:r>
            <a:r>
              <a:rPr sz="44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sz="4400" spc="-59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Classification</a:t>
            </a:r>
            <a:endParaRPr sz="44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533" y="1280370"/>
            <a:ext cx="129451" cy="1293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9204" y="988371"/>
            <a:ext cx="7985256" cy="1254574"/>
          </a:xfrm>
          <a:prstGeom prst="rect">
            <a:avLst/>
          </a:prstGeom>
        </p:spPr>
        <p:txBody>
          <a:bodyPr vert="horz" wrap="square" lIns="0" tIns="174994" rIns="0" bIns="0" rtlCol="0">
            <a:spAutoFit/>
          </a:bodyPr>
          <a:lstStyle/>
          <a:p>
            <a:pPr marL="25179" algn="just">
              <a:spcBef>
                <a:spcPts val="1378"/>
              </a:spcBef>
            </a:pPr>
            <a:r>
              <a:rPr sz="2000" spc="-99" dirty="0">
                <a:cs typeface="Tahoma"/>
              </a:rPr>
              <a:t>Instead</a:t>
            </a:r>
            <a:r>
              <a:rPr sz="2000" spc="30" dirty="0">
                <a:cs typeface="Tahoma"/>
              </a:rPr>
              <a:t> </a:t>
            </a:r>
            <a:r>
              <a:rPr sz="2000" spc="-59" dirty="0">
                <a:cs typeface="Tahoma"/>
              </a:rPr>
              <a:t>of</a:t>
            </a:r>
            <a:r>
              <a:rPr sz="2000" spc="30" dirty="0">
                <a:cs typeface="Tahoma"/>
              </a:rPr>
              <a:t> </a:t>
            </a:r>
            <a:r>
              <a:rPr sz="2000" spc="-20" dirty="0">
                <a:cs typeface="Tahoma"/>
              </a:rPr>
              <a:t>fitting</a:t>
            </a:r>
            <a:r>
              <a:rPr sz="2000" spc="30" dirty="0">
                <a:cs typeface="Tahoma"/>
              </a:rPr>
              <a:t> </a:t>
            </a:r>
            <a:r>
              <a:rPr sz="2000" spc="-20" dirty="0">
                <a:cs typeface="Tahoma"/>
              </a:rPr>
              <a:t>all</a:t>
            </a:r>
            <a:r>
              <a:rPr sz="2000" spc="20" dirty="0">
                <a:cs typeface="Tahoma"/>
              </a:rPr>
              <a:t> </a:t>
            </a:r>
            <a:r>
              <a:rPr sz="2000" spc="-69" dirty="0">
                <a:cs typeface="Tahoma"/>
              </a:rPr>
              <a:t>the</a:t>
            </a:r>
            <a:r>
              <a:rPr sz="2000" spc="40" dirty="0">
                <a:cs typeface="Tahoma"/>
              </a:rPr>
              <a:t> </a:t>
            </a:r>
            <a:r>
              <a:rPr sz="2000" spc="-50" dirty="0">
                <a:cs typeface="Tahoma"/>
              </a:rPr>
              <a:t>points,</a:t>
            </a:r>
            <a:r>
              <a:rPr sz="2000" spc="30" dirty="0">
                <a:cs typeface="Tahoma"/>
              </a:rPr>
              <a:t> </a:t>
            </a:r>
            <a:r>
              <a:rPr sz="2000" spc="-69" dirty="0">
                <a:cs typeface="Tahoma"/>
              </a:rPr>
              <a:t>focus</a:t>
            </a:r>
            <a:r>
              <a:rPr sz="2000" spc="40" dirty="0">
                <a:cs typeface="Tahoma"/>
              </a:rPr>
              <a:t> </a:t>
            </a:r>
            <a:r>
              <a:rPr sz="2000" spc="-89" dirty="0">
                <a:cs typeface="Tahoma"/>
              </a:rPr>
              <a:t>on</a:t>
            </a:r>
            <a:r>
              <a:rPr sz="2000" spc="20" dirty="0">
                <a:cs typeface="Tahoma"/>
              </a:rPr>
              <a:t> </a:t>
            </a:r>
            <a:r>
              <a:rPr sz="2000" spc="-69" dirty="0">
                <a:cs typeface="Tahoma"/>
              </a:rPr>
              <a:t>the</a:t>
            </a:r>
            <a:r>
              <a:rPr sz="2000" spc="30" dirty="0">
                <a:cs typeface="Tahoma"/>
              </a:rPr>
              <a:t> </a:t>
            </a:r>
            <a:r>
              <a:rPr sz="2000" spc="-79" dirty="0">
                <a:cs typeface="Tahoma"/>
              </a:rPr>
              <a:t>boundary</a:t>
            </a:r>
            <a:r>
              <a:rPr sz="2000" spc="30" dirty="0">
                <a:cs typeface="Tahoma"/>
              </a:rPr>
              <a:t> </a:t>
            </a:r>
            <a:r>
              <a:rPr sz="2000" spc="-50" dirty="0">
                <a:cs typeface="Tahoma"/>
              </a:rPr>
              <a:t>points</a:t>
            </a:r>
            <a:endParaRPr sz="2000" dirty="0">
              <a:cs typeface="Tahoma"/>
            </a:endParaRPr>
          </a:p>
          <a:p>
            <a:pPr marL="25179" marR="10072" algn="just">
              <a:spcBef>
                <a:spcPts val="1170"/>
              </a:spcBef>
            </a:pPr>
            <a:r>
              <a:rPr sz="2000" spc="-30" dirty="0">
                <a:cs typeface="Tahoma"/>
              </a:rPr>
              <a:t>Aim:</a:t>
            </a:r>
            <a:r>
              <a:rPr sz="2000" spc="258" dirty="0">
                <a:cs typeface="Tahoma"/>
              </a:rPr>
              <a:t> </a:t>
            </a:r>
            <a:r>
              <a:rPr sz="2000" spc="-89" dirty="0">
                <a:cs typeface="Tahoma"/>
              </a:rPr>
              <a:t>learn</a:t>
            </a:r>
            <a:r>
              <a:rPr sz="2000" spc="40" dirty="0">
                <a:cs typeface="Tahoma"/>
              </a:rPr>
              <a:t> </a:t>
            </a:r>
            <a:r>
              <a:rPr sz="2000" spc="-99" dirty="0">
                <a:cs typeface="Tahoma"/>
              </a:rPr>
              <a:t>a</a:t>
            </a:r>
            <a:r>
              <a:rPr sz="2000" spc="30" dirty="0">
                <a:cs typeface="Tahoma"/>
              </a:rPr>
              <a:t> </a:t>
            </a:r>
            <a:r>
              <a:rPr sz="2000" spc="-79" dirty="0">
                <a:cs typeface="Tahoma"/>
              </a:rPr>
              <a:t>boundary</a:t>
            </a:r>
            <a:r>
              <a:rPr sz="2000" spc="50" dirty="0">
                <a:cs typeface="Tahoma"/>
              </a:rPr>
              <a:t> </a:t>
            </a:r>
            <a:r>
              <a:rPr sz="2000" spc="-20" dirty="0">
                <a:cs typeface="Tahoma"/>
              </a:rPr>
              <a:t>that</a:t>
            </a:r>
            <a:r>
              <a:rPr sz="2000" spc="40" dirty="0">
                <a:cs typeface="Tahoma"/>
              </a:rPr>
              <a:t> </a:t>
            </a:r>
            <a:r>
              <a:rPr sz="2000" spc="-99" dirty="0">
                <a:cs typeface="Tahoma"/>
              </a:rPr>
              <a:t>leads</a:t>
            </a:r>
            <a:r>
              <a:rPr sz="2000" spc="40" dirty="0">
                <a:cs typeface="Tahoma"/>
              </a:rPr>
              <a:t> </a:t>
            </a:r>
            <a:r>
              <a:rPr sz="2000" spc="-20" dirty="0">
                <a:cs typeface="Tahoma"/>
              </a:rPr>
              <a:t>to</a:t>
            </a:r>
            <a:r>
              <a:rPr sz="2000" spc="30" dirty="0">
                <a:cs typeface="Tahoma"/>
              </a:rPr>
              <a:t> </a:t>
            </a:r>
            <a:r>
              <a:rPr sz="2000" spc="-69" dirty="0">
                <a:cs typeface="Tahoma"/>
              </a:rPr>
              <a:t>the</a:t>
            </a:r>
            <a:r>
              <a:rPr sz="2000" spc="50" dirty="0">
                <a:cs typeface="Tahoma"/>
              </a:rPr>
              <a:t> </a:t>
            </a:r>
            <a:r>
              <a:rPr sz="2000" spc="-79" dirty="0">
                <a:cs typeface="Tahoma"/>
              </a:rPr>
              <a:t>largest</a:t>
            </a:r>
            <a:r>
              <a:rPr sz="2000" spc="40" dirty="0">
                <a:cs typeface="Tahoma"/>
              </a:rPr>
              <a:t> </a:t>
            </a:r>
            <a:r>
              <a:rPr sz="2000" spc="-89" dirty="0">
                <a:solidFill>
                  <a:srgbClr val="0000FF"/>
                </a:solidFill>
                <a:cs typeface="Tahoma"/>
              </a:rPr>
              <a:t>margin</a:t>
            </a:r>
            <a:r>
              <a:rPr sz="2000" spc="40" dirty="0">
                <a:solidFill>
                  <a:srgbClr val="0000FF"/>
                </a:solidFill>
                <a:cs typeface="Tahoma"/>
              </a:rPr>
              <a:t> </a:t>
            </a:r>
            <a:r>
              <a:rPr sz="2000" spc="-59" dirty="0">
                <a:cs typeface="Tahoma"/>
              </a:rPr>
              <a:t>(buffer)</a:t>
            </a:r>
            <a:r>
              <a:rPr sz="2000" spc="40" dirty="0">
                <a:cs typeface="Tahoma"/>
              </a:rPr>
              <a:t> </a:t>
            </a:r>
            <a:r>
              <a:rPr sz="2000" spc="-69" dirty="0">
                <a:cs typeface="Tahoma"/>
              </a:rPr>
              <a:t>from</a:t>
            </a:r>
            <a:r>
              <a:rPr sz="2000" spc="40" dirty="0">
                <a:cs typeface="Tahoma"/>
              </a:rPr>
              <a:t> </a:t>
            </a:r>
            <a:r>
              <a:rPr sz="2000" spc="-50" dirty="0">
                <a:cs typeface="Tahoma"/>
              </a:rPr>
              <a:t>points </a:t>
            </a:r>
            <a:r>
              <a:rPr sz="2000" spc="-595" dirty="0">
                <a:cs typeface="Tahoma"/>
              </a:rPr>
              <a:t> </a:t>
            </a:r>
            <a:r>
              <a:rPr sz="2000" spc="-89" dirty="0">
                <a:cs typeface="Tahoma"/>
              </a:rPr>
              <a:t>on</a:t>
            </a:r>
            <a:r>
              <a:rPr sz="2000" spc="20" dirty="0">
                <a:cs typeface="Tahoma"/>
              </a:rPr>
              <a:t> </a:t>
            </a:r>
            <a:r>
              <a:rPr sz="2000" spc="-40" dirty="0">
                <a:cs typeface="Tahoma"/>
              </a:rPr>
              <a:t>both</a:t>
            </a:r>
            <a:r>
              <a:rPr sz="2000" spc="30" dirty="0">
                <a:cs typeface="Tahoma"/>
              </a:rPr>
              <a:t> </a:t>
            </a:r>
            <a:r>
              <a:rPr sz="2000" spc="-99" dirty="0">
                <a:cs typeface="Tahoma"/>
              </a:rPr>
              <a:t>sides</a:t>
            </a:r>
            <a:endParaRPr sz="2000" dirty="0"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533" y="1731663"/>
            <a:ext cx="129451" cy="1293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8551" y="2505481"/>
            <a:ext cx="3064302" cy="22102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7533" y="5230225"/>
            <a:ext cx="129451" cy="12933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9205" y="4938226"/>
            <a:ext cx="7948731" cy="1254574"/>
          </a:xfrm>
          <a:prstGeom prst="rect">
            <a:avLst/>
          </a:prstGeom>
        </p:spPr>
        <p:txBody>
          <a:bodyPr vert="horz" wrap="square" lIns="0" tIns="174994" rIns="0" bIns="0" rtlCol="0">
            <a:spAutoFit/>
          </a:bodyPr>
          <a:lstStyle/>
          <a:p>
            <a:pPr marL="25179" algn="just">
              <a:spcBef>
                <a:spcPts val="1378"/>
              </a:spcBef>
            </a:pPr>
            <a:r>
              <a:rPr sz="2000" spc="-69" dirty="0">
                <a:cs typeface="Tahoma"/>
              </a:rPr>
              <a:t>Why:</a:t>
            </a:r>
            <a:r>
              <a:rPr sz="2000" spc="258" dirty="0">
                <a:cs typeface="Tahoma"/>
              </a:rPr>
              <a:t> </a:t>
            </a:r>
            <a:r>
              <a:rPr sz="2000" spc="-40" dirty="0">
                <a:cs typeface="Tahoma"/>
              </a:rPr>
              <a:t>intuition;</a:t>
            </a:r>
            <a:r>
              <a:rPr sz="2000" spc="40" dirty="0">
                <a:cs typeface="Tahoma"/>
              </a:rPr>
              <a:t> </a:t>
            </a:r>
            <a:r>
              <a:rPr sz="2000" spc="-59" dirty="0">
                <a:cs typeface="Tahoma"/>
              </a:rPr>
              <a:t>theoretical</a:t>
            </a:r>
            <a:r>
              <a:rPr sz="2000" spc="50" dirty="0">
                <a:cs typeface="Tahoma"/>
              </a:rPr>
              <a:t> </a:t>
            </a:r>
            <a:r>
              <a:rPr sz="2000" spc="-79" dirty="0">
                <a:cs typeface="Tahoma"/>
              </a:rPr>
              <a:t>support;</a:t>
            </a:r>
            <a:r>
              <a:rPr sz="2000" spc="40" dirty="0">
                <a:cs typeface="Tahoma"/>
              </a:rPr>
              <a:t> </a:t>
            </a:r>
            <a:r>
              <a:rPr sz="2000" spc="-89" dirty="0">
                <a:cs typeface="Tahoma"/>
              </a:rPr>
              <a:t>and</a:t>
            </a:r>
            <a:r>
              <a:rPr sz="2000" spc="50" dirty="0">
                <a:cs typeface="Tahoma"/>
              </a:rPr>
              <a:t> </a:t>
            </a:r>
            <a:r>
              <a:rPr sz="2000" spc="-109" dirty="0">
                <a:cs typeface="Tahoma"/>
              </a:rPr>
              <a:t>works</a:t>
            </a:r>
            <a:r>
              <a:rPr sz="2000" spc="40" dirty="0">
                <a:cs typeface="Tahoma"/>
              </a:rPr>
              <a:t> </a:t>
            </a:r>
            <a:r>
              <a:rPr sz="2000" spc="-79" dirty="0">
                <a:cs typeface="Tahoma"/>
              </a:rPr>
              <a:t>well</a:t>
            </a:r>
            <a:r>
              <a:rPr sz="2000" spc="30" dirty="0">
                <a:cs typeface="Tahoma"/>
              </a:rPr>
              <a:t> </a:t>
            </a:r>
            <a:r>
              <a:rPr sz="2000" spc="-40" dirty="0">
                <a:cs typeface="Tahoma"/>
              </a:rPr>
              <a:t>in</a:t>
            </a:r>
            <a:r>
              <a:rPr sz="2000" spc="50" dirty="0">
                <a:cs typeface="Tahoma"/>
              </a:rPr>
              <a:t> </a:t>
            </a:r>
            <a:r>
              <a:rPr sz="2000" spc="-59" dirty="0">
                <a:cs typeface="Tahoma"/>
              </a:rPr>
              <a:t>practice</a:t>
            </a:r>
            <a:endParaRPr sz="2000" dirty="0">
              <a:cs typeface="Tahoma"/>
            </a:endParaRPr>
          </a:p>
          <a:p>
            <a:pPr marL="25179" marR="10072" algn="just">
              <a:spcBef>
                <a:spcPts val="1170"/>
              </a:spcBef>
            </a:pPr>
            <a:r>
              <a:rPr sz="2000" spc="-69" dirty="0">
                <a:cs typeface="Tahoma"/>
              </a:rPr>
              <a:t>Subset</a:t>
            </a:r>
            <a:r>
              <a:rPr sz="2000" spc="30" dirty="0">
                <a:cs typeface="Tahoma"/>
              </a:rPr>
              <a:t> </a:t>
            </a:r>
            <a:r>
              <a:rPr sz="2000" spc="-59" dirty="0">
                <a:cs typeface="Tahoma"/>
              </a:rPr>
              <a:t>of</a:t>
            </a:r>
            <a:r>
              <a:rPr sz="2000" spc="50" dirty="0">
                <a:cs typeface="Tahoma"/>
              </a:rPr>
              <a:t> </a:t>
            </a:r>
            <a:r>
              <a:rPr sz="2000" spc="-79" dirty="0">
                <a:cs typeface="Tahoma"/>
              </a:rPr>
              <a:t>vectors</a:t>
            </a:r>
            <a:r>
              <a:rPr sz="2000" spc="50" dirty="0">
                <a:cs typeface="Tahoma"/>
              </a:rPr>
              <a:t> </a:t>
            </a:r>
            <a:r>
              <a:rPr sz="2000" spc="-20" dirty="0">
                <a:cs typeface="Tahoma"/>
              </a:rPr>
              <a:t>that</a:t>
            </a:r>
            <a:r>
              <a:rPr sz="2000" spc="40" dirty="0">
                <a:cs typeface="Tahoma"/>
              </a:rPr>
              <a:t> </a:t>
            </a:r>
            <a:r>
              <a:rPr sz="2000" spc="-69" dirty="0">
                <a:cs typeface="Tahoma"/>
              </a:rPr>
              <a:t>support</a:t>
            </a:r>
            <a:r>
              <a:rPr sz="2000" spc="50" dirty="0">
                <a:cs typeface="Tahoma"/>
              </a:rPr>
              <a:t> </a:t>
            </a:r>
            <a:r>
              <a:rPr sz="2000" spc="-79" dirty="0">
                <a:cs typeface="Tahoma"/>
              </a:rPr>
              <a:t>(determine</a:t>
            </a:r>
            <a:r>
              <a:rPr sz="2000" spc="50" dirty="0">
                <a:cs typeface="Tahoma"/>
              </a:rPr>
              <a:t> </a:t>
            </a:r>
            <a:r>
              <a:rPr sz="2000" spc="-79" dirty="0">
                <a:cs typeface="Tahoma"/>
              </a:rPr>
              <a:t>boundary)</a:t>
            </a:r>
            <a:r>
              <a:rPr sz="2000" spc="40" dirty="0">
                <a:cs typeface="Tahoma"/>
              </a:rPr>
              <a:t> </a:t>
            </a:r>
            <a:r>
              <a:rPr sz="2000" spc="-129" dirty="0">
                <a:cs typeface="Tahoma"/>
              </a:rPr>
              <a:t>are</a:t>
            </a:r>
            <a:r>
              <a:rPr sz="2000" spc="50" dirty="0">
                <a:cs typeface="Tahoma"/>
              </a:rPr>
              <a:t> </a:t>
            </a:r>
            <a:r>
              <a:rPr sz="2000" spc="-59" dirty="0">
                <a:cs typeface="Tahoma"/>
              </a:rPr>
              <a:t>called</a:t>
            </a:r>
            <a:r>
              <a:rPr sz="2000" spc="40" dirty="0">
                <a:cs typeface="Tahoma"/>
              </a:rPr>
              <a:t> </a:t>
            </a:r>
            <a:r>
              <a:rPr sz="2000" spc="-69" dirty="0">
                <a:cs typeface="Tahoma"/>
              </a:rPr>
              <a:t>the</a:t>
            </a:r>
            <a:r>
              <a:rPr sz="2000" spc="40" dirty="0">
                <a:cs typeface="Tahoma"/>
              </a:rPr>
              <a:t> </a:t>
            </a:r>
            <a:r>
              <a:rPr sz="2000" spc="-69" dirty="0">
                <a:solidFill>
                  <a:srgbClr val="0000FF"/>
                </a:solidFill>
                <a:cs typeface="Tahoma"/>
              </a:rPr>
              <a:t>support </a:t>
            </a:r>
            <a:r>
              <a:rPr sz="2000" spc="-585" dirty="0">
                <a:solidFill>
                  <a:srgbClr val="0000FF"/>
                </a:solidFill>
                <a:cs typeface="Tahoma"/>
              </a:rPr>
              <a:t> </a:t>
            </a:r>
            <a:r>
              <a:rPr sz="2000" spc="-79" dirty="0">
                <a:solidFill>
                  <a:srgbClr val="0000FF"/>
                </a:solidFill>
                <a:cs typeface="Tahoma"/>
              </a:rPr>
              <a:t>vectors</a:t>
            </a:r>
            <a:endParaRPr sz="2000" dirty="0"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533" y="5681521"/>
            <a:ext cx="129451" cy="12933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554024" y="6642068"/>
            <a:ext cx="477352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79">
              <a:lnSpc>
                <a:spcPts val="1338"/>
              </a:lnSpc>
            </a:pPr>
            <a:r>
              <a:rPr sz="1200" spc="-30" dirty="0">
                <a:solidFill>
                  <a:srgbClr val="FFFFFF"/>
                </a:solidFill>
                <a:cs typeface="Tahoma"/>
              </a:rPr>
              <a:t>5 </a:t>
            </a:r>
            <a:r>
              <a:rPr sz="1200" spc="169" dirty="0">
                <a:solidFill>
                  <a:srgbClr val="FFFFFF"/>
                </a:solidFill>
                <a:cs typeface="Tahoma"/>
              </a:rPr>
              <a:t>/</a:t>
            </a:r>
            <a:r>
              <a:rPr sz="1200" spc="-30" dirty="0">
                <a:solidFill>
                  <a:srgbClr val="FFFFFF"/>
                </a:solidFill>
                <a:cs typeface="Tahoma"/>
              </a:rPr>
              <a:t> 15</a:t>
            </a:r>
            <a:endParaRPr sz="120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26960197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+mn-lt"/>
              </a:rPr>
              <a:t>Logistic Regression Vs. Support Vector Machine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Depending on the number of features you have you can either choose Logistic Regression or SVM.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SVM works best when the dataset is small and complex.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is usually advisable to first use logistic regression and see how does it performs, if it fails to give a good accuracy you can go for SVM without any kernel (will talk more about kernels in the later section).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Logistic regression and SVM without any kernel have similar performance but depending on your features, one may be more efficient than the other.</a:t>
            </a:r>
          </a:p>
        </p:txBody>
      </p:sp>
    </p:spTree>
    <p:extLst>
      <p:ext uri="{BB962C8B-B14F-4D97-AF65-F5344CB8AC3E}">
        <p14:creationId xmlns:p14="http://schemas.microsoft.com/office/powerpoint/2010/main" val="73547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Types of Support Vector Machine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Linear SVM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When the data is perfectly linearly separable only then we can use Linear SVM. Perfectly linearly separable means that the data points can be classified into 2 classes by using a single straight line(if 2D).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Non-Linear SVM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When the data is not linearly separable then we can use Non-Linear SVM, which means when the data points cannot be separated into 2 classes by using a straight line (if 2D) then we use some advanced techniques like kernel tricks to classify them.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In most real-world applications we do not find linearly separable </a:t>
            </a:r>
            <a:r>
              <a:rPr lang="en-US" sz="2000" dirty="0" err="1"/>
              <a:t>datapoints</a:t>
            </a:r>
            <a:r>
              <a:rPr lang="en-US" sz="2000" dirty="0"/>
              <a:t> hence we use kernel trick to solve them.</a:t>
            </a:r>
          </a:p>
          <a:p>
            <a:pPr algn="just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18511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78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Support Vector Machine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86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Support Vectors: </a:t>
            </a:r>
            <a:r>
              <a:rPr lang="en-US" sz="2000" dirty="0"/>
              <a:t>These are the points that are closest to the hyper-plane. A separating line will be defined with the help of these data points.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Margin:</a:t>
            </a:r>
            <a:r>
              <a:rPr lang="en-US" sz="2000" dirty="0"/>
              <a:t> it is the distance between the hyperplane and the observations closest to the hyperplane (support vectors). In SVM large margin is considered a good margin. There are two types of margins </a:t>
            </a:r>
            <a:r>
              <a:rPr lang="en-US" sz="2000" b="1" dirty="0"/>
              <a:t>hard margin</a:t>
            </a:r>
            <a:r>
              <a:rPr lang="en-US" sz="2000" dirty="0"/>
              <a:t> and </a:t>
            </a:r>
            <a:r>
              <a:rPr lang="en-US" sz="2000" b="1" dirty="0"/>
              <a:t>soft margin.</a:t>
            </a:r>
            <a:r>
              <a:rPr lang="en-US" sz="2000" dirty="0"/>
              <a:t> </a:t>
            </a:r>
            <a:endParaRPr lang="en-GB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1" t="34746" r="38309" b="4617"/>
          <a:stretch/>
        </p:blipFill>
        <p:spPr bwMode="auto">
          <a:xfrm>
            <a:off x="3352800" y="3886200"/>
            <a:ext cx="41910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0230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617" y="152400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What Is A Good Decision Boundary?</a:t>
            </a:r>
          </a:p>
        </p:txBody>
      </p:sp>
      <p:sp>
        <p:nvSpPr>
          <p:cNvPr id="19460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4724400" cy="4648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2000" dirty="0"/>
              <a:t>Consider a two-class, linearly separable classification problem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000" dirty="0"/>
              <a:t>Many decision boundaries!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000" dirty="0"/>
              <a:t>The Perceptron algorithm can be used to find such a boundary</a:t>
            </a:r>
            <a:endParaRPr lang="en-US" altLang="zh-TW" sz="2000" dirty="0"/>
          </a:p>
          <a:p>
            <a:pPr lvl="1" algn="just" eaLnBrk="1" hangingPunct="1">
              <a:lnSpc>
                <a:spcPct val="150000"/>
              </a:lnSpc>
            </a:pPr>
            <a:r>
              <a:rPr lang="en-US" altLang="zh-TW" sz="2000" dirty="0"/>
              <a:t>Different algorithms have been proposed </a:t>
            </a:r>
            <a:endParaRPr lang="en-US" sz="2000" dirty="0"/>
          </a:p>
          <a:p>
            <a:pPr algn="just" eaLnBrk="1" hangingPunct="1">
              <a:lnSpc>
                <a:spcPct val="150000"/>
              </a:lnSpc>
            </a:pPr>
            <a:r>
              <a:rPr lang="en-US" sz="2000" dirty="0"/>
              <a:t>Are all decision boundaries equally good?</a:t>
            </a:r>
          </a:p>
        </p:txBody>
      </p:sp>
      <p:grpSp>
        <p:nvGrpSpPr>
          <p:cNvPr id="19461" name="Group 21"/>
          <p:cNvGrpSpPr>
            <a:grpSpLocks/>
          </p:cNvGrpSpPr>
          <p:nvPr/>
        </p:nvGrpSpPr>
        <p:grpSpPr bwMode="auto">
          <a:xfrm>
            <a:off x="5257800" y="2057400"/>
            <a:ext cx="3486150" cy="3200400"/>
            <a:chOff x="720" y="1584"/>
            <a:chExt cx="2196" cy="2016"/>
          </a:xfrm>
        </p:grpSpPr>
        <p:sp>
          <p:nvSpPr>
            <p:cNvPr id="19464" name="Line 4"/>
            <p:cNvSpPr>
              <a:spLocks noChangeShapeType="1"/>
            </p:cNvSpPr>
            <p:nvPr/>
          </p:nvSpPr>
          <p:spPr bwMode="auto">
            <a:xfrm flipV="1">
              <a:off x="720" y="1584"/>
              <a:ext cx="0" cy="20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9465" name="Line 5"/>
            <p:cNvSpPr>
              <a:spLocks noChangeShapeType="1"/>
            </p:cNvSpPr>
            <p:nvPr/>
          </p:nvSpPr>
          <p:spPr bwMode="auto">
            <a:xfrm flipV="1">
              <a:off x="720" y="3600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9466" name="Oval 6"/>
            <p:cNvSpPr>
              <a:spLocks noChangeArrowheads="1"/>
            </p:cNvSpPr>
            <p:nvPr/>
          </p:nvSpPr>
          <p:spPr bwMode="auto">
            <a:xfrm>
              <a:off x="2016" y="196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67" name="Oval 7"/>
            <p:cNvSpPr>
              <a:spLocks noChangeArrowheads="1"/>
            </p:cNvSpPr>
            <p:nvPr/>
          </p:nvSpPr>
          <p:spPr bwMode="auto">
            <a:xfrm>
              <a:off x="2160" y="235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68" name="Oval 8"/>
            <p:cNvSpPr>
              <a:spLocks noChangeArrowheads="1"/>
            </p:cNvSpPr>
            <p:nvPr/>
          </p:nvSpPr>
          <p:spPr bwMode="auto">
            <a:xfrm>
              <a:off x="2688" y="249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69" name="Oval 9"/>
            <p:cNvSpPr>
              <a:spLocks noChangeArrowheads="1"/>
            </p:cNvSpPr>
            <p:nvPr/>
          </p:nvSpPr>
          <p:spPr bwMode="auto">
            <a:xfrm>
              <a:off x="1728" y="20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0" name="Oval 10"/>
            <p:cNvSpPr>
              <a:spLocks noChangeArrowheads="1"/>
            </p:cNvSpPr>
            <p:nvPr/>
          </p:nvSpPr>
          <p:spPr bwMode="auto">
            <a:xfrm>
              <a:off x="2352" y="26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1" name="Rectangle 11"/>
            <p:cNvSpPr>
              <a:spLocks noChangeArrowheads="1"/>
            </p:cNvSpPr>
            <p:nvPr/>
          </p:nvSpPr>
          <p:spPr bwMode="auto">
            <a:xfrm>
              <a:off x="912" y="2640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2" name="Rectangle 12"/>
            <p:cNvSpPr>
              <a:spLocks noChangeArrowheads="1"/>
            </p:cNvSpPr>
            <p:nvPr/>
          </p:nvSpPr>
          <p:spPr bwMode="auto">
            <a:xfrm>
              <a:off x="1680" y="2928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3" name="Rectangle 13"/>
            <p:cNvSpPr>
              <a:spLocks noChangeArrowheads="1"/>
            </p:cNvSpPr>
            <p:nvPr/>
          </p:nvSpPr>
          <p:spPr bwMode="auto">
            <a:xfrm>
              <a:off x="1584" y="3216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4" name="Rectangle 14"/>
            <p:cNvSpPr>
              <a:spLocks noChangeArrowheads="1"/>
            </p:cNvSpPr>
            <p:nvPr/>
          </p:nvSpPr>
          <p:spPr bwMode="auto">
            <a:xfrm>
              <a:off x="1200" y="2928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5" name="Rectangle 15"/>
            <p:cNvSpPr>
              <a:spLocks noChangeArrowheads="1"/>
            </p:cNvSpPr>
            <p:nvPr/>
          </p:nvSpPr>
          <p:spPr bwMode="auto">
            <a:xfrm>
              <a:off x="1008" y="3168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6" name="Rectangle 16"/>
            <p:cNvSpPr>
              <a:spLocks noChangeArrowheads="1"/>
            </p:cNvSpPr>
            <p:nvPr/>
          </p:nvSpPr>
          <p:spPr bwMode="auto">
            <a:xfrm>
              <a:off x="1152" y="2400"/>
              <a:ext cx="96" cy="9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19477" name="Text Box 17"/>
            <p:cNvSpPr txBox="1">
              <a:spLocks noChangeArrowheads="1"/>
            </p:cNvSpPr>
            <p:nvPr/>
          </p:nvSpPr>
          <p:spPr bwMode="auto">
            <a:xfrm>
              <a:off x="912" y="3295"/>
              <a:ext cx="6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>
                  <a:latin typeface="Times New Roman" pitchFamily="18" charset="0"/>
                </a:rPr>
                <a:t>Class 1</a:t>
              </a:r>
            </a:p>
          </p:txBody>
        </p:sp>
        <p:sp>
          <p:nvSpPr>
            <p:cNvPr id="19478" name="Text Box 18"/>
            <p:cNvSpPr txBox="1">
              <a:spLocks noChangeArrowheads="1"/>
            </p:cNvSpPr>
            <p:nvPr/>
          </p:nvSpPr>
          <p:spPr bwMode="auto">
            <a:xfrm>
              <a:off x="2304" y="1872"/>
              <a:ext cx="6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000">
                  <a:latin typeface="Times New Roman" pitchFamily="18" charset="0"/>
                </a:rPr>
                <a:t>Class 2</a:t>
              </a:r>
            </a:p>
          </p:txBody>
        </p:sp>
        <p:sp>
          <p:nvSpPr>
            <p:cNvPr id="19479" name="Line 20"/>
            <p:cNvSpPr>
              <a:spLocks noChangeShapeType="1"/>
            </p:cNvSpPr>
            <p:nvPr/>
          </p:nvSpPr>
          <p:spPr bwMode="auto">
            <a:xfrm>
              <a:off x="1152" y="1680"/>
              <a:ext cx="1488" cy="17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9462" name="TextBox 21"/>
          <p:cNvSpPr txBox="1">
            <a:spLocks noChangeArrowheads="1"/>
          </p:cNvSpPr>
          <p:nvPr/>
        </p:nvSpPr>
        <p:spPr bwMode="auto">
          <a:xfrm>
            <a:off x="6934200" y="5410200"/>
            <a:ext cx="60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x1</a:t>
            </a:r>
          </a:p>
        </p:txBody>
      </p:sp>
      <p:sp>
        <p:nvSpPr>
          <p:cNvPr id="19463" name="TextBox 22"/>
          <p:cNvSpPr txBox="1">
            <a:spLocks noChangeArrowheads="1"/>
          </p:cNvSpPr>
          <p:nvPr/>
        </p:nvSpPr>
        <p:spPr bwMode="auto">
          <a:xfrm>
            <a:off x="5334000" y="2590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713405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96956" y="304800"/>
            <a:ext cx="8418443" cy="10668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Bad Decision Boundaries</a:t>
            </a:r>
          </a:p>
        </p:txBody>
      </p:sp>
      <p:sp>
        <p:nvSpPr>
          <p:cNvPr id="20484" name="Line 4"/>
          <p:cNvSpPr>
            <a:spLocks noChangeShapeType="1"/>
          </p:cNvSpPr>
          <p:nvPr/>
        </p:nvSpPr>
        <p:spPr bwMode="auto">
          <a:xfrm flipV="1">
            <a:off x="533400" y="2209800"/>
            <a:ext cx="0" cy="3200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 flipV="1">
            <a:off x="533400" y="54102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25908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281940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36576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2133600" y="2971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31242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838200" y="38862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05740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190500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129540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990600" y="4724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1219200" y="35052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838200" y="4926013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1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3048000" y="2667000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2</a:t>
            </a:r>
          </a:p>
        </p:txBody>
      </p:sp>
      <p:sp>
        <p:nvSpPr>
          <p:cNvPr id="20499" name="Line 19"/>
          <p:cNvSpPr>
            <a:spLocks noChangeShapeType="1"/>
          </p:cNvSpPr>
          <p:nvPr/>
        </p:nvSpPr>
        <p:spPr bwMode="auto">
          <a:xfrm>
            <a:off x="762000" y="2514600"/>
            <a:ext cx="2362200" cy="27432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500" name="Line 20"/>
          <p:cNvSpPr>
            <a:spLocks noChangeShapeType="1"/>
          </p:cNvSpPr>
          <p:nvPr/>
        </p:nvSpPr>
        <p:spPr bwMode="auto">
          <a:xfrm flipV="1">
            <a:off x="5353050" y="2209800"/>
            <a:ext cx="0" cy="3200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 flipV="1">
            <a:off x="5353050" y="54102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502" name="Oval 22"/>
          <p:cNvSpPr>
            <a:spLocks noChangeArrowheads="1"/>
          </p:cNvSpPr>
          <p:nvPr/>
        </p:nvSpPr>
        <p:spPr bwMode="auto">
          <a:xfrm>
            <a:off x="741045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3" name="Oval 23"/>
          <p:cNvSpPr>
            <a:spLocks noChangeArrowheads="1"/>
          </p:cNvSpPr>
          <p:nvPr/>
        </p:nvSpPr>
        <p:spPr bwMode="auto">
          <a:xfrm>
            <a:off x="763905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4" name="Oval 24"/>
          <p:cNvSpPr>
            <a:spLocks noChangeArrowheads="1"/>
          </p:cNvSpPr>
          <p:nvPr/>
        </p:nvSpPr>
        <p:spPr bwMode="auto">
          <a:xfrm>
            <a:off x="847725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6953250" y="2971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794385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7" name="Rectangle 27"/>
          <p:cNvSpPr>
            <a:spLocks noChangeArrowheads="1"/>
          </p:cNvSpPr>
          <p:nvPr/>
        </p:nvSpPr>
        <p:spPr bwMode="auto">
          <a:xfrm>
            <a:off x="5657850" y="38862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687705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672465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10" name="Rectangle 30"/>
          <p:cNvSpPr>
            <a:spLocks noChangeArrowheads="1"/>
          </p:cNvSpPr>
          <p:nvPr/>
        </p:nvSpPr>
        <p:spPr bwMode="auto">
          <a:xfrm>
            <a:off x="611505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5810250" y="4724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6038850" y="35052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13" name="Text Box 33"/>
          <p:cNvSpPr txBox="1">
            <a:spLocks noChangeArrowheads="1"/>
          </p:cNvSpPr>
          <p:nvPr/>
        </p:nvSpPr>
        <p:spPr bwMode="auto">
          <a:xfrm>
            <a:off x="5657850" y="4926013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1</a:t>
            </a:r>
          </a:p>
        </p:txBody>
      </p:sp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7867650" y="2667000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2</a:t>
            </a:r>
          </a:p>
        </p:txBody>
      </p:sp>
      <p:sp>
        <p:nvSpPr>
          <p:cNvPr id="20515" name="Line 35"/>
          <p:cNvSpPr>
            <a:spLocks noChangeShapeType="1"/>
          </p:cNvSpPr>
          <p:nvPr/>
        </p:nvSpPr>
        <p:spPr bwMode="auto">
          <a:xfrm>
            <a:off x="6705600" y="2286000"/>
            <a:ext cx="609600" cy="297180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946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General Input / Output For SVM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371600"/>
            <a:ext cx="8610600" cy="5257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i="0" u="none" strike="noStrike" baseline="0" dirty="0"/>
              <a:t>Input: </a:t>
            </a:r>
            <a:r>
              <a:rPr lang="en-US" sz="2000" b="0" i="0" u="none" strike="noStrike" baseline="0" dirty="0"/>
              <a:t>set of (input, output) training pair samples; call the input sample features </a:t>
            </a:r>
            <a:r>
              <a:rPr lang="en-US" sz="2000" b="0" i="1" u="none" strike="noStrike" baseline="0" dirty="0"/>
              <a:t>x</a:t>
            </a:r>
            <a:r>
              <a:rPr lang="en-US" sz="2000" b="0" i="1" u="none" strike="noStrike" baseline="-25000" dirty="0"/>
              <a:t>1</a:t>
            </a:r>
            <a:r>
              <a:rPr lang="en-US" sz="2000" b="0" i="1" u="none" strike="noStrike" baseline="0" dirty="0"/>
              <a:t>, x</a:t>
            </a:r>
            <a:r>
              <a:rPr lang="en-US" sz="2000" i="1" baseline="-25000" dirty="0"/>
              <a:t>2</a:t>
            </a:r>
            <a:r>
              <a:rPr lang="en-US" sz="2000" b="0" i="1" u="none" strike="noStrike" baseline="0" dirty="0"/>
              <a:t>…</a:t>
            </a:r>
            <a:r>
              <a:rPr lang="en-US" sz="2000" b="0" i="1" u="none" strike="noStrike" baseline="0" dirty="0" err="1"/>
              <a:t>x</a:t>
            </a:r>
            <a:r>
              <a:rPr lang="en-US" sz="2000" i="1" baseline="-25000" dirty="0" err="1"/>
              <a:t>n</a:t>
            </a:r>
            <a:r>
              <a:rPr lang="en-US" sz="2000" b="0" i="0" u="none" strike="noStrike" baseline="0" dirty="0"/>
              <a:t>, and the output result </a:t>
            </a:r>
            <a:r>
              <a:rPr lang="en-US" sz="2000" b="0" i="1" u="none" strike="noStrike" baseline="0" dirty="0"/>
              <a:t>y. </a:t>
            </a:r>
            <a:r>
              <a:rPr lang="en-US" sz="2000" b="0" i="0" u="none" strike="noStrike" baseline="0" dirty="0"/>
              <a:t>Typically, there can be </a:t>
            </a:r>
            <a:r>
              <a:rPr lang="en-US" sz="2000" b="0" i="0" u="sng" strike="noStrike" baseline="0" dirty="0"/>
              <a:t>lots</a:t>
            </a:r>
            <a:r>
              <a:rPr lang="en-US" sz="2000" b="0" i="0" u="none" strike="noStrike" baseline="0" dirty="0"/>
              <a:t> of input features </a:t>
            </a:r>
            <a:r>
              <a:rPr lang="en-US" sz="2000" b="0" i="1" u="none" strike="noStrike" baseline="0" dirty="0"/>
              <a:t>x</a:t>
            </a:r>
            <a:r>
              <a:rPr lang="en-US" sz="2000" b="0" i="1" u="none" strike="noStrike" baseline="-25000" dirty="0"/>
              <a:t>i</a:t>
            </a:r>
            <a:r>
              <a:rPr lang="en-US" sz="2000" b="0" i="0" u="none" strike="noStrike" baseline="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Output: </a:t>
            </a:r>
            <a:r>
              <a:rPr lang="en-US" sz="2000" dirty="0"/>
              <a:t>set of weights w (or </a:t>
            </a:r>
            <a:r>
              <a:rPr lang="en-US" sz="2000" dirty="0" err="1"/>
              <a:t>w</a:t>
            </a:r>
            <a:r>
              <a:rPr lang="en-US" sz="2000" i="1" baseline="-25000" dirty="0" err="1"/>
              <a:t>i</a:t>
            </a:r>
            <a:r>
              <a:rPr lang="en-US" sz="2000" dirty="0"/>
              <a:t>), one for each feature, whose linear combination predicts the value of y. (So far, just like neural nets…)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Important difference: </a:t>
            </a:r>
            <a:r>
              <a:rPr lang="en-US" sz="2000" dirty="0"/>
              <a:t>we use the optimization of maximizing the margin (‘street width’) to </a:t>
            </a:r>
            <a:r>
              <a:rPr lang="en-US" sz="2000" u="sng" dirty="0"/>
              <a:t>reduce</a:t>
            </a:r>
            <a:r>
              <a:rPr lang="en-US" sz="2000" dirty="0"/>
              <a:t> the number of weights that are nonzero to just a </a:t>
            </a:r>
            <a:r>
              <a:rPr lang="en-US" sz="2000" u="sng" dirty="0"/>
              <a:t>few</a:t>
            </a:r>
            <a:r>
              <a:rPr lang="en-US" sz="2000" dirty="0"/>
              <a:t> that correspond to the important features that ‘matter’ in deciding the separating line(hyperplane)…these nonzero weights correspond to the support vectors (because they ‘support’ the separating hyperplane)</a:t>
            </a:r>
          </a:p>
        </p:txBody>
      </p:sp>
    </p:spTree>
    <p:extLst>
      <p:ext uri="{BB962C8B-B14F-4D97-AF65-F5344CB8AC3E}">
        <p14:creationId xmlns:p14="http://schemas.microsoft.com/office/powerpoint/2010/main" val="1702406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Which Hyperplane to Pick?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638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Here, maximizing the distances between nearest data point (either class) and hyper-plane will help us to decide the right hyper-plane. This distance is called as </a:t>
            </a:r>
            <a:r>
              <a:rPr lang="en-US" sz="2000" b="1" dirty="0"/>
              <a:t>Margin</a:t>
            </a:r>
            <a:r>
              <a:rPr lang="en-US" sz="2000" dirty="0"/>
              <a:t>. 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Above, you can see that the margin for hyper-plane C is high as compared to both A and B. Hence, we name the right hyper-plane as C. Another lightning reason for selecting the hyper-plane with higher margin is robustness. If we select a hyper-plane having low margin then there is high chance of miss-classification.</a:t>
            </a:r>
            <a:endParaRPr lang="en-GB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7" t="50000" r="44402" b="10580"/>
          <a:stretch/>
        </p:blipFill>
        <p:spPr bwMode="auto">
          <a:xfrm>
            <a:off x="2895600" y="2133600"/>
            <a:ext cx="42672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647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443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Which Hyperplane to Pick?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95400"/>
            <a:ext cx="8839200" cy="5486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Identify the right hyper-plane (Scenario-3)</a:t>
            </a: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Some of you may have selected the hyper-plane </a:t>
            </a:r>
            <a:r>
              <a:rPr lang="en-US" sz="2000" b="1" dirty="0"/>
              <a:t>B </a:t>
            </a:r>
            <a:r>
              <a:rPr lang="en-US" sz="2000" dirty="0"/>
              <a:t>as it has higher margin compared to </a:t>
            </a:r>
            <a:r>
              <a:rPr lang="en-US" sz="2000" b="1" dirty="0"/>
              <a:t>A. </a:t>
            </a:r>
            <a:r>
              <a:rPr lang="en-US" sz="2000" dirty="0"/>
              <a:t>But, here is the catch, SVM selects the hyper-plane which classifies the classes accurately prior to maximizing margin. Here, hyper-plane B has a classification error and A has classified all correctly. Therefore, the right hyper-plane is </a:t>
            </a:r>
            <a:r>
              <a:rPr lang="en-US" sz="2000" b="1" dirty="0"/>
              <a:t>A.</a:t>
            </a:r>
            <a:endParaRPr lang="en-GB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9" t="48405" r="43994" b="15653"/>
          <a:stretch/>
        </p:blipFill>
        <p:spPr bwMode="auto">
          <a:xfrm>
            <a:off x="1673087" y="1752600"/>
            <a:ext cx="4575313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47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58200" cy="13716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Support Vectors Again For Linearly Separable Case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905000"/>
            <a:ext cx="8458200" cy="47212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Support vectors are the elements of the training set that would </a:t>
            </a:r>
            <a:r>
              <a:rPr lang="en-US" sz="2000" u="sng" dirty="0"/>
              <a:t>change the position </a:t>
            </a:r>
            <a:r>
              <a:rPr lang="en-US" sz="2000" dirty="0"/>
              <a:t>of the dividing hyperplane if removed.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Support vectors are the </a:t>
            </a:r>
            <a:r>
              <a:rPr lang="en-US" sz="2000" u="sng" dirty="0"/>
              <a:t>critical</a:t>
            </a:r>
            <a:r>
              <a:rPr lang="en-US" sz="2000" dirty="0"/>
              <a:t> elements of the training set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The problem of finding the optimal hyper plane is an optimization problem and can be solved by optimization techniques (we use Lagrange multipliers to get this problem into a form that can be solved analytically).</a:t>
            </a:r>
          </a:p>
        </p:txBody>
      </p:sp>
    </p:spTree>
    <p:extLst>
      <p:ext uri="{BB962C8B-B14F-4D97-AF65-F5344CB8AC3E}">
        <p14:creationId xmlns:p14="http://schemas.microsoft.com/office/powerpoint/2010/main" val="4200334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04800" y="-9525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Large-margin Decision Boundary</a:t>
            </a:r>
          </a:p>
        </p:txBody>
      </p:sp>
      <p:sp>
        <p:nvSpPr>
          <p:cNvPr id="21509" name="Line 1028"/>
          <p:cNvSpPr>
            <a:spLocks noChangeShapeType="1"/>
          </p:cNvSpPr>
          <p:nvPr/>
        </p:nvSpPr>
        <p:spPr bwMode="auto">
          <a:xfrm flipV="1">
            <a:off x="838200" y="2667000"/>
            <a:ext cx="0" cy="3200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10" name="Line 1029"/>
          <p:cNvSpPr>
            <a:spLocks noChangeShapeType="1"/>
          </p:cNvSpPr>
          <p:nvPr/>
        </p:nvSpPr>
        <p:spPr bwMode="auto">
          <a:xfrm flipV="1">
            <a:off x="838200" y="58674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11" name="Oval 1030"/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2" name="Oval 1031"/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3" name="Oval 1032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4" name="Oval 1033"/>
          <p:cNvSpPr>
            <a:spLocks noChangeArrowheads="1"/>
          </p:cNvSpPr>
          <p:nvPr/>
        </p:nvSpPr>
        <p:spPr bwMode="auto">
          <a:xfrm>
            <a:off x="243840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5" name="Oval 1034"/>
          <p:cNvSpPr>
            <a:spLocks noChangeArrowheads="1"/>
          </p:cNvSpPr>
          <p:nvPr/>
        </p:nvSpPr>
        <p:spPr bwMode="auto">
          <a:xfrm>
            <a:off x="34290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6" name="Rectangle 1035"/>
          <p:cNvSpPr>
            <a:spLocks noChangeArrowheads="1"/>
          </p:cNvSpPr>
          <p:nvPr/>
        </p:nvSpPr>
        <p:spPr bwMode="auto">
          <a:xfrm>
            <a:off x="114300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7" name="Rectangle 1036"/>
          <p:cNvSpPr>
            <a:spLocks noChangeArrowheads="1"/>
          </p:cNvSpPr>
          <p:nvPr/>
        </p:nvSpPr>
        <p:spPr bwMode="auto">
          <a:xfrm>
            <a:off x="236220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8" name="Rectangle 1037"/>
          <p:cNvSpPr>
            <a:spLocks noChangeArrowheads="1"/>
          </p:cNvSpPr>
          <p:nvPr/>
        </p:nvSpPr>
        <p:spPr bwMode="auto">
          <a:xfrm>
            <a:off x="2209800" y="52578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19" name="Rectangle 1038"/>
          <p:cNvSpPr>
            <a:spLocks noChangeArrowheads="1"/>
          </p:cNvSpPr>
          <p:nvPr/>
        </p:nvSpPr>
        <p:spPr bwMode="auto">
          <a:xfrm>
            <a:off x="160020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20" name="Rectangle 1039"/>
          <p:cNvSpPr>
            <a:spLocks noChangeArrowheads="1"/>
          </p:cNvSpPr>
          <p:nvPr/>
        </p:nvSpPr>
        <p:spPr bwMode="auto">
          <a:xfrm>
            <a:off x="1295400" y="5181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21" name="Rectangle 1040"/>
          <p:cNvSpPr>
            <a:spLocks noChangeArrowheads="1"/>
          </p:cNvSpPr>
          <p:nvPr/>
        </p:nvSpPr>
        <p:spPr bwMode="auto">
          <a:xfrm>
            <a:off x="1447800" y="4038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1522" name="Text Box 1041"/>
          <p:cNvSpPr txBox="1">
            <a:spLocks noChangeArrowheads="1"/>
          </p:cNvSpPr>
          <p:nvPr/>
        </p:nvSpPr>
        <p:spPr bwMode="auto">
          <a:xfrm>
            <a:off x="1143000" y="5383213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1</a:t>
            </a:r>
          </a:p>
        </p:txBody>
      </p:sp>
      <p:sp>
        <p:nvSpPr>
          <p:cNvPr id="21523" name="Text Box 1042"/>
          <p:cNvSpPr txBox="1">
            <a:spLocks noChangeArrowheads="1"/>
          </p:cNvSpPr>
          <p:nvPr/>
        </p:nvSpPr>
        <p:spPr bwMode="auto">
          <a:xfrm>
            <a:off x="3581400" y="4191000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2</a:t>
            </a:r>
          </a:p>
        </p:txBody>
      </p:sp>
      <p:sp>
        <p:nvSpPr>
          <p:cNvPr id="21524" name="Line 1044"/>
          <p:cNvSpPr>
            <a:spLocks noChangeShapeType="1"/>
          </p:cNvSpPr>
          <p:nvPr/>
        </p:nvSpPr>
        <p:spPr bwMode="auto">
          <a:xfrm>
            <a:off x="1905000" y="2895600"/>
            <a:ext cx="2514600" cy="25146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25" name="Line 1045"/>
          <p:cNvSpPr>
            <a:spLocks noChangeShapeType="1"/>
          </p:cNvSpPr>
          <p:nvPr/>
        </p:nvSpPr>
        <p:spPr bwMode="auto">
          <a:xfrm>
            <a:off x="914400" y="3276600"/>
            <a:ext cx="2971800" cy="29718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26" name="Line 1046"/>
          <p:cNvSpPr>
            <a:spLocks noChangeShapeType="1"/>
          </p:cNvSpPr>
          <p:nvPr/>
        </p:nvSpPr>
        <p:spPr bwMode="auto">
          <a:xfrm>
            <a:off x="914400" y="2590800"/>
            <a:ext cx="3886200" cy="3886200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21527" name="Picture 105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943600"/>
            <a:ext cx="20574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Picture 105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800600"/>
            <a:ext cx="20399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105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19800"/>
            <a:ext cx="23082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30" name="Line 1058"/>
          <p:cNvSpPr>
            <a:spLocks noChangeShapeType="1"/>
          </p:cNvSpPr>
          <p:nvPr/>
        </p:nvSpPr>
        <p:spPr bwMode="auto">
          <a:xfrm flipH="1">
            <a:off x="3352800" y="5057775"/>
            <a:ext cx="723900" cy="733425"/>
          </a:xfrm>
          <a:prstGeom prst="line">
            <a:avLst/>
          </a:prstGeom>
          <a:noFill/>
          <a:ln w="25400">
            <a:solidFill>
              <a:srgbClr val="FF00FF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32" name="Text Box 1060"/>
          <p:cNvSpPr txBox="1">
            <a:spLocks noChangeArrowheads="1"/>
          </p:cNvSpPr>
          <p:nvPr/>
        </p:nvSpPr>
        <p:spPr bwMode="auto">
          <a:xfrm>
            <a:off x="3276600" y="5181600"/>
            <a:ext cx="439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CC00CC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1533" name="Line 1061"/>
          <p:cNvSpPr>
            <a:spLocks noChangeShapeType="1"/>
          </p:cNvSpPr>
          <p:nvPr/>
        </p:nvSpPr>
        <p:spPr bwMode="auto">
          <a:xfrm flipV="1">
            <a:off x="2057400" y="3276600"/>
            <a:ext cx="1600200" cy="1676400"/>
          </a:xfrm>
          <a:prstGeom prst="line">
            <a:avLst/>
          </a:prstGeom>
          <a:noFill/>
          <a:ln w="25400">
            <a:solidFill>
              <a:srgbClr val="9933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21534" name="Picture 1063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124200"/>
            <a:ext cx="2841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5800" y="1213008"/>
            <a:ext cx="81533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decision boundary should be as far away from the data of both classes as possible</a:t>
            </a:r>
          </a:p>
          <a:p>
            <a:pPr lvl="1" algn="just"/>
            <a:r>
              <a:rPr lang="en-US" sz="2000" dirty="0"/>
              <a:t>We should maximize the margin, </a:t>
            </a:r>
            <a:r>
              <a:rPr lang="en-US" sz="2000" i="1" dirty="0"/>
              <a:t>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004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686800" cy="11430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Support Vectors Again For Linearly Separable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CE1A9-B68C-407B-8567-F6D9AD3D7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75438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03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400" dirty="0">
                <a:latin typeface="+mn-lt"/>
              </a:rPr>
              <a:t>Some Final Definitions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sz="quarter" idx="1"/>
          </p:nvPr>
        </p:nvSpPr>
        <p:spPr>
          <a:xfrm>
            <a:off x="487680" y="1600200"/>
            <a:ext cx="7970520" cy="48736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Margin of Separation (d): the separation between the hyperplane and the closest data point for a given weight vector w and bias b.</a:t>
            </a:r>
          </a:p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Optimal Hyperplane (maximal margin): the particular hyperplane for which the margin of separation d is maximized.</a:t>
            </a:r>
          </a:p>
        </p:txBody>
      </p:sp>
    </p:spTree>
    <p:extLst>
      <p:ext uri="{BB962C8B-B14F-4D97-AF65-F5344CB8AC3E}">
        <p14:creationId xmlns:p14="http://schemas.microsoft.com/office/powerpoint/2010/main" val="3193244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56"/>
          <p:cNvSpPr txBox="1">
            <a:spLocks noChangeArrowheads="1"/>
          </p:cNvSpPr>
          <p:nvPr/>
        </p:nvSpPr>
        <p:spPr bwMode="auto">
          <a:xfrm>
            <a:off x="3352800" y="4495800"/>
            <a:ext cx="1135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6</a:t>
            </a:r>
            <a:r>
              <a:rPr lang="en-US">
                <a:latin typeface="Times New Roman" pitchFamily="18" charset="0"/>
              </a:rPr>
              <a:t>=1.4</a:t>
            </a: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A Geometrical Interpretation</a:t>
            </a:r>
          </a:p>
        </p:txBody>
      </p:sp>
      <p:sp>
        <p:nvSpPr>
          <p:cNvPr id="27653" name="Line 22"/>
          <p:cNvSpPr>
            <a:spLocks noChangeShapeType="1"/>
          </p:cNvSpPr>
          <p:nvPr/>
        </p:nvSpPr>
        <p:spPr bwMode="auto">
          <a:xfrm flipV="1">
            <a:off x="1219200" y="1611313"/>
            <a:ext cx="0" cy="42799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54" name="Line 23"/>
          <p:cNvSpPr>
            <a:spLocks noChangeShapeType="1"/>
          </p:cNvSpPr>
          <p:nvPr/>
        </p:nvSpPr>
        <p:spPr bwMode="auto">
          <a:xfrm flipV="1">
            <a:off x="1219200" y="5891213"/>
            <a:ext cx="40767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55" name="Oval 24"/>
          <p:cNvSpPr>
            <a:spLocks noChangeArrowheads="1"/>
          </p:cNvSpPr>
          <p:nvPr/>
        </p:nvSpPr>
        <p:spPr bwMode="auto">
          <a:xfrm>
            <a:off x="3971925" y="2427288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56" name="Oval 25"/>
          <p:cNvSpPr>
            <a:spLocks noChangeArrowheads="1"/>
          </p:cNvSpPr>
          <p:nvPr/>
        </p:nvSpPr>
        <p:spPr bwMode="auto">
          <a:xfrm>
            <a:off x="4648200" y="3276600"/>
            <a:ext cx="204788" cy="2047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57" name="Oval 26"/>
          <p:cNvSpPr>
            <a:spLocks noChangeArrowheads="1"/>
          </p:cNvSpPr>
          <p:nvPr/>
        </p:nvSpPr>
        <p:spPr bwMode="auto">
          <a:xfrm>
            <a:off x="5399088" y="3548063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58" name="Oval 27"/>
          <p:cNvSpPr>
            <a:spLocks noChangeArrowheads="1"/>
          </p:cNvSpPr>
          <p:nvPr/>
        </p:nvSpPr>
        <p:spPr bwMode="auto">
          <a:xfrm>
            <a:off x="3359150" y="2630488"/>
            <a:ext cx="204788" cy="2047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59" name="Oval 28"/>
          <p:cNvSpPr>
            <a:spLocks noChangeArrowheads="1"/>
          </p:cNvSpPr>
          <p:nvPr/>
        </p:nvSpPr>
        <p:spPr bwMode="auto">
          <a:xfrm>
            <a:off x="4684713" y="3956050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0" name="Rectangle 29"/>
          <p:cNvSpPr>
            <a:spLocks noChangeArrowheads="1"/>
          </p:cNvSpPr>
          <p:nvPr/>
        </p:nvSpPr>
        <p:spPr bwMode="auto">
          <a:xfrm>
            <a:off x="1676400" y="4038600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1" name="Rectangle 30"/>
          <p:cNvSpPr>
            <a:spLocks noChangeArrowheads="1"/>
          </p:cNvSpPr>
          <p:nvPr/>
        </p:nvSpPr>
        <p:spPr bwMode="auto">
          <a:xfrm>
            <a:off x="3352800" y="4419600"/>
            <a:ext cx="204788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2" name="Rectangle 31"/>
          <p:cNvSpPr>
            <a:spLocks noChangeArrowheads="1"/>
          </p:cNvSpPr>
          <p:nvPr/>
        </p:nvSpPr>
        <p:spPr bwMode="auto">
          <a:xfrm>
            <a:off x="3054350" y="5076825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3" name="Rectangle 33"/>
          <p:cNvSpPr>
            <a:spLocks noChangeArrowheads="1"/>
          </p:cNvSpPr>
          <p:nvPr/>
        </p:nvSpPr>
        <p:spPr bwMode="auto">
          <a:xfrm>
            <a:off x="1830388" y="4975225"/>
            <a:ext cx="204787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4" name="Rectangle 34"/>
          <p:cNvSpPr>
            <a:spLocks noChangeArrowheads="1"/>
          </p:cNvSpPr>
          <p:nvPr/>
        </p:nvSpPr>
        <p:spPr bwMode="auto">
          <a:xfrm>
            <a:off x="2035175" y="3446463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7665" name="Text Box 35"/>
          <p:cNvSpPr txBox="1">
            <a:spLocks noChangeArrowheads="1"/>
          </p:cNvSpPr>
          <p:nvPr/>
        </p:nvSpPr>
        <p:spPr bwMode="auto">
          <a:xfrm>
            <a:off x="1752600" y="5486400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1</a:t>
            </a:r>
          </a:p>
        </p:txBody>
      </p:sp>
      <p:sp>
        <p:nvSpPr>
          <p:cNvPr id="27666" name="Text Box 36"/>
          <p:cNvSpPr txBox="1">
            <a:spLocks noChangeArrowheads="1"/>
          </p:cNvSpPr>
          <p:nvPr/>
        </p:nvSpPr>
        <p:spPr bwMode="auto">
          <a:xfrm>
            <a:off x="3048000" y="1447800"/>
            <a:ext cx="971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latin typeface="Times New Roman" pitchFamily="18" charset="0"/>
              </a:rPr>
              <a:t>Class 2</a:t>
            </a:r>
          </a:p>
        </p:txBody>
      </p:sp>
      <p:sp>
        <p:nvSpPr>
          <p:cNvPr id="27667" name="Line 37"/>
          <p:cNvSpPr>
            <a:spLocks noChangeShapeType="1"/>
          </p:cNvSpPr>
          <p:nvPr/>
        </p:nvSpPr>
        <p:spPr bwMode="auto">
          <a:xfrm>
            <a:off x="2646363" y="1917700"/>
            <a:ext cx="3363912" cy="3362325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68" name="Line 38"/>
          <p:cNvSpPr>
            <a:spLocks noChangeShapeType="1"/>
          </p:cNvSpPr>
          <p:nvPr/>
        </p:nvSpPr>
        <p:spPr bwMode="auto">
          <a:xfrm>
            <a:off x="1320800" y="2427288"/>
            <a:ext cx="3632200" cy="3590925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69" name="Line 39"/>
          <p:cNvSpPr>
            <a:spLocks noChangeShapeType="1"/>
          </p:cNvSpPr>
          <p:nvPr/>
        </p:nvSpPr>
        <p:spPr bwMode="auto">
          <a:xfrm>
            <a:off x="1320800" y="1509713"/>
            <a:ext cx="4165600" cy="4129087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27670" name="Picture 4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410200"/>
            <a:ext cx="1905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Picture 4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800600"/>
            <a:ext cx="18288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Picture 4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943600"/>
            <a:ext cx="213360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3" name="Line 46"/>
          <p:cNvSpPr>
            <a:spLocks noChangeShapeType="1"/>
          </p:cNvSpPr>
          <p:nvPr/>
        </p:nvSpPr>
        <p:spPr bwMode="auto">
          <a:xfrm flipV="1">
            <a:off x="2849563" y="2427288"/>
            <a:ext cx="2141537" cy="2241550"/>
          </a:xfrm>
          <a:prstGeom prst="line">
            <a:avLst/>
          </a:prstGeom>
          <a:noFill/>
          <a:ln w="25400">
            <a:solidFill>
              <a:srgbClr val="9933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27674" name="Picture 47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0"/>
            <a:ext cx="3810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5" name="Text Box 51"/>
          <p:cNvSpPr txBox="1">
            <a:spLocks noChangeArrowheads="1"/>
          </p:cNvSpPr>
          <p:nvPr/>
        </p:nvSpPr>
        <p:spPr bwMode="auto">
          <a:xfrm>
            <a:off x="4876800" y="3886200"/>
            <a:ext cx="1135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1</a:t>
            </a:r>
            <a:r>
              <a:rPr lang="en-US">
                <a:latin typeface="Times New Roman" pitchFamily="18" charset="0"/>
              </a:rPr>
              <a:t>=0.8</a:t>
            </a:r>
          </a:p>
        </p:txBody>
      </p:sp>
      <p:sp>
        <p:nvSpPr>
          <p:cNvPr id="27676" name="Text Box 52"/>
          <p:cNvSpPr txBox="1">
            <a:spLocks noChangeArrowheads="1"/>
          </p:cNvSpPr>
          <p:nvPr/>
        </p:nvSpPr>
        <p:spPr bwMode="auto">
          <a:xfrm>
            <a:off x="5410200" y="31242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2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77" name="Text Box 53"/>
          <p:cNvSpPr txBox="1">
            <a:spLocks noChangeArrowheads="1"/>
          </p:cNvSpPr>
          <p:nvPr/>
        </p:nvSpPr>
        <p:spPr bwMode="auto">
          <a:xfrm>
            <a:off x="2971800" y="52578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3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78" name="Text Box 54"/>
          <p:cNvSpPr txBox="1">
            <a:spLocks noChangeArrowheads="1"/>
          </p:cNvSpPr>
          <p:nvPr/>
        </p:nvSpPr>
        <p:spPr bwMode="auto">
          <a:xfrm>
            <a:off x="1295400" y="41148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4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79" name="Text Box 55"/>
          <p:cNvSpPr txBox="1">
            <a:spLocks noChangeArrowheads="1"/>
          </p:cNvSpPr>
          <p:nvPr/>
        </p:nvSpPr>
        <p:spPr bwMode="auto">
          <a:xfrm>
            <a:off x="1066800" y="32766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5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80" name="Text Box 58"/>
          <p:cNvSpPr txBox="1">
            <a:spLocks noChangeArrowheads="1"/>
          </p:cNvSpPr>
          <p:nvPr/>
        </p:nvSpPr>
        <p:spPr bwMode="auto">
          <a:xfrm>
            <a:off x="4648200" y="28956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7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81" name="Text Box 59"/>
          <p:cNvSpPr txBox="1">
            <a:spLocks noChangeArrowheads="1"/>
          </p:cNvSpPr>
          <p:nvPr/>
        </p:nvSpPr>
        <p:spPr bwMode="auto">
          <a:xfrm>
            <a:off x="2743200" y="22098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8</a:t>
            </a:r>
            <a:r>
              <a:rPr lang="en-US">
                <a:latin typeface="Times New Roman" pitchFamily="18" charset="0"/>
              </a:rPr>
              <a:t>=0.6</a:t>
            </a:r>
          </a:p>
        </p:txBody>
      </p:sp>
      <p:sp>
        <p:nvSpPr>
          <p:cNvPr id="27682" name="Text Box 60"/>
          <p:cNvSpPr txBox="1">
            <a:spLocks noChangeArrowheads="1"/>
          </p:cNvSpPr>
          <p:nvPr/>
        </p:nvSpPr>
        <p:spPr bwMode="auto">
          <a:xfrm>
            <a:off x="1600200" y="5029200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9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  <p:sp>
        <p:nvSpPr>
          <p:cNvPr id="27683" name="Text Box 61"/>
          <p:cNvSpPr txBox="1">
            <a:spLocks noChangeArrowheads="1"/>
          </p:cNvSpPr>
          <p:nvPr/>
        </p:nvSpPr>
        <p:spPr bwMode="auto">
          <a:xfrm>
            <a:off x="3962400" y="2057400"/>
            <a:ext cx="98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Symbol" pitchFamily="18" charset="2"/>
              </a:rPr>
              <a:t>a</a:t>
            </a:r>
            <a:r>
              <a:rPr lang="en-US" baseline="-25000">
                <a:latin typeface="Times New Roman" pitchFamily="18" charset="0"/>
              </a:rPr>
              <a:t>10</a:t>
            </a:r>
            <a:r>
              <a:rPr lang="en-US">
                <a:latin typeface="Times New Roman" pitchFamily="18" charset="0"/>
              </a:rPr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962729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435769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Soft Margin Hyperplane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/>
              <a:t>If we minimize </a:t>
            </a:r>
            <a:r>
              <a:rPr lang="en-US" sz="2000" dirty="0" err="1"/>
              <a:t>å</a:t>
            </a:r>
            <a:r>
              <a:rPr lang="en-US" sz="2000" baseline="-25000" dirty="0" err="1"/>
              <a:t>i</a:t>
            </a:r>
            <a:r>
              <a:rPr lang="en-US" sz="2000" dirty="0" err="1"/>
              <a:t>x</a:t>
            </a:r>
            <a:r>
              <a:rPr lang="en-US" sz="2000" baseline="-25000" dirty="0" err="1"/>
              <a:t>i</a:t>
            </a:r>
            <a:r>
              <a:rPr lang="en-US" sz="2000" dirty="0"/>
              <a:t>, x</a:t>
            </a:r>
            <a:r>
              <a:rPr lang="en-US" sz="2000" baseline="-25000" dirty="0"/>
              <a:t>i</a:t>
            </a:r>
            <a:r>
              <a:rPr lang="en-US" sz="2000" dirty="0"/>
              <a:t> can be computed by</a:t>
            </a:r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eaLnBrk="1" hangingPunct="1"/>
            <a:endParaRPr lang="en-US" sz="2000" dirty="0"/>
          </a:p>
          <a:p>
            <a:pPr lvl="1" eaLnBrk="1" hangingPunct="1"/>
            <a:r>
              <a:rPr lang="en-US" sz="2000" dirty="0"/>
              <a:t>x</a:t>
            </a:r>
            <a:r>
              <a:rPr lang="en-US" sz="2000" baseline="-25000" dirty="0"/>
              <a:t>i</a:t>
            </a:r>
            <a:r>
              <a:rPr lang="en-US" sz="2000" dirty="0"/>
              <a:t> are “slack variables” in optimization</a:t>
            </a:r>
          </a:p>
          <a:p>
            <a:pPr lvl="1" eaLnBrk="1" hangingPunct="1"/>
            <a:r>
              <a:rPr lang="en-US" sz="2000" dirty="0"/>
              <a:t>Note that x</a:t>
            </a:r>
            <a:r>
              <a:rPr lang="en-US" sz="2000" baseline="-25000" dirty="0"/>
              <a:t>i</a:t>
            </a:r>
            <a:r>
              <a:rPr lang="en-US" sz="2000" dirty="0"/>
              <a:t>=0 if there is no error for </a:t>
            </a:r>
            <a:r>
              <a:rPr lang="en-US" sz="2000" b="1" dirty="0"/>
              <a:t>x</a:t>
            </a:r>
            <a:r>
              <a:rPr lang="en-US" sz="2000" baseline="-25000" dirty="0"/>
              <a:t>i</a:t>
            </a:r>
            <a:endParaRPr lang="en-US" sz="2000" dirty="0"/>
          </a:p>
          <a:p>
            <a:pPr lvl="1" eaLnBrk="1" hangingPunct="1"/>
            <a:r>
              <a:rPr lang="en-US" sz="2000" dirty="0"/>
              <a:t>x</a:t>
            </a:r>
            <a:r>
              <a:rPr lang="en-US" sz="2000" baseline="-25000" dirty="0"/>
              <a:t>i</a:t>
            </a:r>
            <a:r>
              <a:rPr lang="en-US" sz="2000" dirty="0"/>
              <a:t> is an upper bound of the number of errors</a:t>
            </a:r>
          </a:p>
          <a:p>
            <a:pPr eaLnBrk="1" hangingPunct="1"/>
            <a:r>
              <a:rPr lang="en-US" sz="2000" dirty="0"/>
              <a:t>We want to minimize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i="1" dirty="0"/>
              <a:t> </a:t>
            </a:r>
          </a:p>
          <a:p>
            <a:pPr lvl="1" eaLnBrk="1" hangingPunct="1"/>
            <a:r>
              <a:rPr lang="en-US" sz="2000" i="1" dirty="0"/>
              <a:t>C</a:t>
            </a:r>
            <a:r>
              <a:rPr lang="en-US" sz="2000" dirty="0"/>
              <a:t> : tradeoff parameter between error and margin</a:t>
            </a:r>
          </a:p>
          <a:p>
            <a:pPr eaLnBrk="1" hangingPunct="1"/>
            <a:r>
              <a:rPr lang="en-US" sz="2000" dirty="0"/>
              <a:t>The optimization problem becomes</a:t>
            </a:r>
          </a:p>
        </p:txBody>
      </p:sp>
      <p:pic>
        <p:nvPicPr>
          <p:cNvPr id="29701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1828800"/>
            <a:ext cx="4157662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867400"/>
            <a:ext cx="430530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3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6324600"/>
            <a:ext cx="640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Picture 14" descr="C:\Documents and Settings\martin\Desktop\txp_fig.pn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343400"/>
            <a:ext cx="29527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6500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SVM Python Implementation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Importing libraries</a:t>
            </a:r>
          </a:p>
          <a:p>
            <a:r>
              <a:rPr lang="en-GB" dirty="0"/>
              <a:t>import pandas as </a:t>
            </a:r>
            <a:r>
              <a:rPr lang="en-GB" dirty="0" err="1"/>
              <a:t>pd</a:t>
            </a:r>
            <a:endParaRPr lang="en-GB" dirty="0"/>
          </a:p>
          <a:p>
            <a:r>
              <a:rPr lang="en-GB" dirty="0"/>
              <a:t>import </a:t>
            </a:r>
            <a:r>
              <a:rPr lang="en-GB" dirty="0" err="1"/>
              <a:t>numpy</a:t>
            </a:r>
            <a:r>
              <a:rPr lang="en-GB" dirty="0"/>
              <a:t> as </a:t>
            </a:r>
            <a:r>
              <a:rPr lang="en-GB" dirty="0" err="1"/>
              <a:t>np</a:t>
            </a:r>
            <a:endParaRPr lang="en-GB" dirty="0"/>
          </a:p>
          <a:p>
            <a:r>
              <a:rPr lang="en-GB" dirty="0"/>
              <a:t>import </a:t>
            </a:r>
            <a:r>
              <a:rPr lang="en-GB" dirty="0" err="1"/>
              <a:t>matplotlib.pyplot</a:t>
            </a:r>
            <a:r>
              <a:rPr lang="en-GB" dirty="0"/>
              <a:t> as </a:t>
            </a:r>
            <a:r>
              <a:rPr lang="en-GB" dirty="0" err="1"/>
              <a:t>plt</a:t>
            </a:r>
            <a:endParaRPr lang="en-GB" dirty="0"/>
          </a:p>
          <a:p>
            <a:r>
              <a:rPr lang="en-GB" dirty="0"/>
              <a:t>%</a:t>
            </a:r>
            <a:r>
              <a:rPr lang="en-GB" dirty="0" err="1"/>
              <a:t>matplotlib</a:t>
            </a:r>
            <a:r>
              <a:rPr lang="en-GB" dirty="0"/>
              <a:t> inline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Importing the Dataset</a:t>
            </a:r>
          </a:p>
          <a:p>
            <a:r>
              <a:rPr lang="en-GB" dirty="0" err="1"/>
              <a:t>bankdata</a:t>
            </a:r>
            <a:r>
              <a:rPr lang="en-GB" dirty="0"/>
              <a:t> = </a:t>
            </a:r>
            <a:r>
              <a:rPr lang="en-GB" dirty="0" err="1"/>
              <a:t>pd.read_csv</a:t>
            </a:r>
            <a:r>
              <a:rPr lang="en-GB" dirty="0"/>
              <a:t>("https://drive.google.com/file/d/13nw-uRXPY8XIZQxKRNZ3yYlho-CYm_Qt/view")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Data Analysis</a:t>
            </a:r>
          </a:p>
          <a:p>
            <a:r>
              <a:rPr lang="en-GB" dirty="0" err="1"/>
              <a:t>bankdata.shape</a:t>
            </a:r>
            <a:endParaRPr lang="en-GB" dirty="0"/>
          </a:p>
          <a:p>
            <a:r>
              <a:rPr lang="en-GB" dirty="0" err="1"/>
              <a:t>bankdata.head</a:t>
            </a:r>
            <a:r>
              <a:rPr lang="en-GB" dirty="0"/>
              <a:t>()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Data </a:t>
            </a:r>
            <a:r>
              <a:rPr lang="en-GB" b="1" dirty="0" err="1"/>
              <a:t>Preprocessing</a:t>
            </a:r>
            <a:endParaRPr lang="en-GB" b="1" dirty="0"/>
          </a:p>
          <a:p>
            <a:r>
              <a:rPr lang="en-GB" dirty="0"/>
              <a:t>X = </a:t>
            </a:r>
            <a:r>
              <a:rPr lang="en-GB" dirty="0" err="1"/>
              <a:t>bankdata.drop</a:t>
            </a:r>
            <a:r>
              <a:rPr lang="en-GB" dirty="0"/>
              <a:t>('Class', axis=1)</a:t>
            </a:r>
          </a:p>
          <a:p>
            <a:r>
              <a:rPr lang="en-GB" dirty="0"/>
              <a:t>y = </a:t>
            </a:r>
            <a:r>
              <a:rPr lang="en-GB" dirty="0" err="1"/>
              <a:t>bankdata</a:t>
            </a:r>
            <a:r>
              <a:rPr lang="en-GB" dirty="0"/>
              <a:t>['Class']</a:t>
            </a:r>
          </a:p>
          <a:p>
            <a:r>
              <a:rPr lang="en-GB" dirty="0"/>
              <a:t>from </a:t>
            </a:r>
            <a:r>
              <a:rPr lang="en-GB" dirty="0" err="1"/>
              <a:t>sklearn.model_selection</a:t>
            </a:r>
            <a:r>
              <a:rPr lang="en-GB" dirty="0"/>
              <a:t> import </a:t>
            </a:r>
            <a:r>
              <a:rPr lang="en-GB" dirty="0" err="1"/>
              <a:t>train_test_split</a:t>
            </a:r>
            <a:endParaRPr lang="en-GB" dirty="0"/>
          </a:p>
          <a:p>
            <a:r>
              <a:rPr lang="en-GB" dirty="0" err="1"/>
              <a:t>X_train</a:t>
            </a:r>
            <a:r>
              <a:rPr lang="en-GB" dirty="0"/>
              <a:t>, </a:t>
            </a:r>
            <a:r>
              <a:rPr lang="en-GB" dirty="0" err="1"/>
              <a:t>X_test</a:t>
            </a:r>
            <a:r>
              <a:rPr lang="en-GB" dirty="0"/>
              <a:t>, </a:t>
            </a:r>
            <a:r>
              <a:rPr lang="en-GB" dirty="0" err="1"/>
              <a:t>y_train</a:t>
            </a:r>
            <a:r>
              <a:rPr lang="en-GB" dirty="0"/>
              <a:t>, </a:t>
            </a:r>
            <a:r>
              <a:rPr lang="en-GB" dirty="0" err="1"/>
              <a:t>y_test</a:t>
            </a:r>
            <a:r>
              <a:rPr lang="en-GB" dirty="0"/>
              <a:t> = </a:t>
            </a:r>
            <a:r>
              <a:rPr lang="en-GB" dirty="0" err="1"/>
              <a:t>train_test_split</a:t>
            </a:r>
            <a:r>
              <a:rPr lang="en-GB" dirty="0"/>
              <a:t>(X, y, </a:t>
            </a:r>
            <a:r>
              <a:rPr lang="en-GB" dirty="0" err="1"/>
              <a:t>test_size</a:t>
            </a:r>
            <a:r>
              <a:rPr lang="en-GB" dirty="0"/>
              <a:t> = 0.20)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9849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SVM Python Implementation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GB" sz="2000" b="1" dirty="0"/>
              <a:t>Training the Algorithm</a:t>
            </a:r>
          </a:p>
          <a:p>
            <a:pPr algn="just">
              <a:lnSpc>
                <a:spcPct val="120000"/>
              </a:lnSpc>
            </a:pPr>
            <a:r>
              <a:rPr lang="en-GB" sz="2000" dirty="0"/>
              <a:t>from </a:t>
            </a:r>
            <a:r>
              <a:rPr lang="en-GB" sz="2000" dirty="0" err="1"/>
              <a:t>sklearn.svm</a:t>
            </a:r>
            <a:r>
              <a:rPr lang="en-GB" sz="2000" dirty="0"/>
              <a:t> import SVC</a:t>
            </a:r>
          </a:p>
          <a:p>
            <a:pPr algn="just">
              <a:lnSpc>
                <a:spcPct val="120000"/>
              </a:lnSpc>
            </a:pPr>
            <a:r>
              <a:rPr lang="en-GB" sz="2000" dirty="0" err="1"/>
              <a:t>svclassifier</a:t>
            </a:r>
            <a:r>
              <a:rPr lang="en-GB" sz="2000" dirty="0"/>
              <a:t> = SVC(kernel='linear')</a:t>
            </a:r>
          </a:p>
          <a:p>
            <a:pPr algn="just">
              <a:lnSpc>
                <a:spcPct val="120000"/>
              </a:lnSpc>
            </a:pPr>
            <a:r>
              <a:rPr lang="en-GB" sz="2000" dirty="0" err="1"/>
              <a:t>svclassifier.fit</a:t>
            </a:r>
            <a:r>
              <a:rPr lang="en-GB" sz="2000" dirty="0"/>
              <a:t>(</a:t>
            </a:r>
            <a:r>
              <a:rPr lang="en-GB" sz="2000" dirty="0" err="1"/>
              <a:t>X_train</a:t>
            </a:r>
            <a:r>
              <a:rPr lang="en-GB" sz="2000" dirty="0"/>
              <a:t>, </a:t>
            </a:r>
            <a:r>
              <a:rPr lang="en-GB" sz="2000" dirty="0" err="1"/>
              <a:t>y_train</a:t>
            </a:r>
            <a:r>
              <a:rPr lang="en-GB" sz="2000" dirty="0"/>
              <a:t>)</a:t>
            </a:r>
          </a:p>
          <a:p>
            <a:pPr algn="just">
              <a:lnSpc>
                <a:spcPct val="120000"/>
              </a:lnSpc>
            </a:pPr>
            <a:endParaRPr lang="en-GB" sz="2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2000" b="1" dirty="0"/>
              <a:t>Making Predictions</a:t>
            </a:r>
          </a:p>
          <a:p>
            <a:pPr algn="just">
              <a:lnSpc>
                <a:spcPct val="120000"/>
              </a:lnSpc>
            </a:pPr>
            <a:r>
              <a:rPr lang="en-GB" sz="2000" dirty="0" err="1"/>
              <a:t>y_pred</a:t>
            </a:r>
            <a:r>
              <a:rPr lang="en-GB" sz="2000" dirty="0"/>
              <a:t> = </a:t>
            </a:r>
            <a:r>
              <a:rPr lang="en-GB" sz="2000" dirty="0" err="1"/>
              <a:t>svclassifier.predict</a:t>
            </a:r>
            <a:r>
              <a:rPr lang="en-GB" sz="2000" dirty="0"/>
              <a:t>(</a:t>
            </a:r>
            <a:r>
              <a:rPr lang="en-GB" sz="2000" dirty="0" err="1"/>
              <a:t>X_test</a:t>
            </a:r>
            <a:r>
              <a:rPr lang="en-GB" sz="2000" dirty="0"/>
              <a:t>)</a:t>
            </a:r>
          </a:p>
          <a:p>
            <a:pPr algn="just">
              <a:lnSpc>
                <a:spcPct val="120000"/>
              </a:lnSpc>
            </a:pPr>
            <a:endParaRPr lang="en-GB" sz="2000" dirty="0"/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2000" b="1" dirty="0"/>
              <a:t>Evaluating the Algorithm</a:t>
            </a:r>
          </a:p>
          <a:p>
            <a:pPr algn="just">
              <a:lnSpc>
                <a:spcPct val="120000"/>
              </a:lnSpc>
            </a:pPr>
            <a:r>
              <a:rPr lang="en-GB" sz="2000" dirty="0"/>
              <a:t>from </a:t>
            </a:r>
            <a:r>
              <a:rPr lang="en-GB" sz="2000" dirty="0" err="1"/>
              <a:t>sklearn.metrics</a:t>
            </a:r>
            <a:r>
              <a:rPr lang="en-GB" sz="2000" dirty="0"/>
              <a:t> import </a:t>
            </a:r>
            <a:r>
              <a:rPr lang="en-GB" sz="2000" dirty="0" err="1"/>
              <a:t>classification_report</a:t>
            </a:r>
            <a:r>
              <a:rPr lang="en-GB" sz="2000" dirty="0"/>
              <a:t>, </a:t>
            </a:r>
            <a:r>
              <a:rPr lang="en-GB" sz="2000" dirty="0" err="1"/>
              <a:t>confusion_matrix</a:t>
            </a:r>
            <a:endParaRPr lang="en-GB" sz="2000" dirty="0"/>
          </a:p>
          <a:p>
            <a:pPr algn="just">
              <a:lnSpc>
                <a:spcPct val="120000"/>
              </a:lnSpc>
            </a:pPr>
            <a:r>
              <a:rPr lang="en-GB" sz="2000" dirty="0"/>
              <a:t>print(</a:t>
            </a:r>
            <a:r>
              <a:rPr lang="en-GB" sz="2000" dirty="0" err="1"/>
              <a:t>confusion_matrix</a:t>
            </a:r>
            <a:r>
              <a:rPr lang="en-GB" sz="2000" dirty="0"/>
              <a:t>(</a:t>
            </a:r>
            <a:r>
              <a:rPr lang="en-GB" sz="2000" dirty="0" err="1"/>
              <a:t>y_test,y_pred</a:t>
            </a:r>
            <a:r>
              <a:rPr lang="en-GB" sz="2000" dirty="0"/>
              <a:t>))</a:t>
            </a:r>
          </a:p>
          <a:p>
            <a:pPr algn="just">
              <a:lnSpc>
                <a:spcPct val="120000"/>
              </a:lnSpc>
            </a:pPr>
            <a:r>
              <a:rPr lang="en-GB" sz="2000" dirty="0"/>
              <a:t>print(</a:t>
            </a:r>
            <a:r>
              <a:rPr lang="en-GB" sz="2000" dirty="0" err="1"/>
              <a:t>classification_report</a:t>
            </a:r>
            <a:r>
              <a:rPr lang="en-GB" sz="2000" dirty="0"/>
              <a:t>(</a:t>
            </a:r>
            <a:r>
              <a:rPr lang="en-GB" sz="2000" dirty="0" err="1"/>
              <a:t>y_test,y_pred</a:t>
            </a:r>
            <a:r>
              <a:rPr lang="en-GB" sz="2000" dirty="0"/>
              <a:t>))</a:t>
            </a:r>
          </a:p>
          <a:p>
            <a:pPr algn="just">
              <a:lnSpc>
                <a:spcPct val="12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11412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SVM Python Implementation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Results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" t="66525" r="58191" b="8369"/>
          <a:stretch/>
        </p:blipFill>
        <p:spPr bwMode="auto">
          <a:xfrm>
            <a:off x="1447800" y="2667000"/>
            <a:ext cx="57912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7608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Classify two Classes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410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Find the hyper-plane to segregate to classes (Scenario-5): </a:t>
            </a:r>
            <a:r>
              <a:rPr lang="en-US" sz="2000" dirty="0"/>
              <a:t>In the scenario below, we can’t have linear hyper-plane between the two classes, so how does SVM classify these two classes? Till now, we have only looked at the linear hyper-plane.</a:t>
            </a:r>
          </a:p>
          <a:p>
            <a:pPr algn="just">
              <a:lnSpc>
                <a:spcPct val="150000"/>
              </a:lnSpc>
            </a:pPr>
            <a:br>
              <a:rPr lang="en-US" sz="2000" b="1" dirty="0">
                <a:hlinkClick r:id="rId2"/>
              </a:rPr>
            </a:br>
            <a:endParaRPr lang="en-GB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7" t="38261" r="46196" b="20580"/>
          <a:stretch/>
        </p:blipFill>
        <p:spPr bwMode="auto">
          <a:xfrm>
            <a:off x="1981200" y="3429000"/>
            <a:ext cx="449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3508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Classify two Classes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686800" cy="5334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SVM can solve this problem. Easily! It solves this problem by introducing additional feature. Here, we will add a new feature z=x^2+y^2. Now, let’s plot the data points on axis x and z:</a:t>
            </a:r>
          </a:p>
          <a:p>
            <a:pPr algn="just">
              <a:lnSpc>
                <a:spcPct val="150000"/>
              </a:lnSpc>
            </a:pPr>
            <a:endParaRPr lang="en-GB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83" t="38406" r="43750" b="18406"/>
          <a:stretch/>
        </p:blipFill>
        <p:spPr bwMode="auto">
          <a:xfrm>
            <a:off x="1828800" y="2895600"/>
            <a:ext cx="4369904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705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Classify two Classes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10600" cy="5029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In above plot, points to consider are: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All values for z would be positive always because z is the squared sum of both x and y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In the original plot, red circles appear close to the origin of x and y axes, leading to lower value of z and star relatively away from the origin result to higher value of z.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In the SVM classifier, it is easy to have a linear hyper-plane between these two classes. But, another burning question which arises is, should we need to add this feature manually to have a hyper-plane. </a:t>
            </a:r>
          </a:p>
        </p:txBody>
      </p:sp>
    </p:spTree>
    <p:extLst>
      <p:ext uri="{BB962C8B-B14F-4D97-AF65-F5344CB8AC3E}">
        <p14:creationId xmlns:p14="http://schemas.microsoft.com/office/powerpoint/2010/main" val="3927439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817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Classify two Classes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No, the SVM  algorithm has a technique called the </a:t>
            </a:r>
            <a:r>
              <a:rPr lang="en-US" sz="2000" b="1" dirty="0">
                <a:hlinkClick r:id="rId2"/>
              </a:rPr>
              <a:t>kernel</a:t>
            </a:r>
            <a:r>
              <a:rPr lang="en-US" sz="2000" b="1" dirty="0"/>
              <a:t> trick</a:t>
            </a:r>
            <a:r>
              <a:rPr lang="en-US" sz="2000" dirty="0"/>
              <a:t>. </a:t>
            </a:r>
            <a:endParaRPr lang="en-GB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The SVM kernel is a function that takes low dimensional input space and transforms it to a higher dimensional space i.e. it converts not separable problem to separable problem.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It is mostly useful in non-linear separation problem.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Simply put, it does some extremely complex data transformations, then finds out the process to separate the data based on the labels or outputs you’ve defined.</a:t>
            </a:r>
          </a:p>
          <a:p>
            <a:pPr algn="just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09176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Classify two Classes</a:t>
            </a:r>
            <a:endParaRPr lang="en-GB" sz="4400" dirty="0"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When we look at the hyper-plane in original input space it looks like a circle:</a:t>
            </a:r>
            <a:endParaRPr lang="en-GB" sz="2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1" t="34329" r="47378" b="32454"/>
          <a:stretch/>
        </p:blipFill>
        <p:spPr bwMode="auto">
          <a:xfrm>
            <a:off x="1981200" y="2930236"/>
            <a:ext cx="4210877" cy="362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916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1313688"/>
          </a:xfrm>
        </p:spPr>
        <p:txBody>
          <a:bodyPr>
            <a:noAutofit/>
          </a:bodyPr>
          <a:lstStyle/>
          <a:p>
            <a:r>
              <a:rPr lang="en-US" sz="4400" dirty="0">
                <a:latin typeface="+mn-lt"/>
              </a:rPr>
              <a:t>Creating Nonlinear Classifiers: Kernel Trick</a:t>
            </a:r>
            <a:endParaRPr lang="en-GB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458200" cy="5029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We use </a:t>
            </a:r>
            <a:r>
              <a:rPr lang="en-US" sz="2000" b="1" dirty="0"/>
              <a:t>Kernelized SVM</a:t>
            </a:r>
            <a:r>
              <a:rPr lang="en-US" sz="2000" dirty="0"/>
              <a:t> for non-linearly separable data.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We can transform one dimensional non linear data into two dimensions and the data will become linearly separable in two dimensions.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This is done by mapping each 1-D data point to a corresponding 2-D ordered pair.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So for any non-linearly separable data in any dimension, we can just map the data to a higher dimension and then make it linearly separable.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A </a:t>
            </a:r>
            <a:r>
              <a:rPr lang="en-US" sz="2000" b="1" dirty="0"/>
              <a:t>kernel</a:t>
            </a:r>
            <a:r>
              <a:rPr lang="en-US" sz="2000" dirty="0"/>
              <a:t> is nothing but a measure of similarity between data points.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50544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SVM Kernel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SVM kernel is a function that takes low dimensional input space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transforms it into higher-dimensional space, </a:t>
            </a:r>
            <a:r>
              <a:rPr lang="en-US" sz="2000" dirty="0" err="1"/>
              <a:t>ie</a:t>
            </a:r>
            <a:r>
              <a:rPr lang="en-US" sz="2000" dirty="0"/>
              <a:t> it converts not separable problem to separable problem.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is mostly useful in non-linear separation problems.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Simply put the kernel, it does some extremely complex data transformations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finds out the process to separate the data based on the labels or outputs defined.</a:t>
            </a:r>
          </a:p>
          <a:p>
            <a:pPr algn="just">
              <a:lnSpc>
                <a:spcPct val="1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09260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3058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Suppose we’re in 1-D</a:t>
            </a:r>
          </a:p>
        </p:txBody>
      </p:sp>
      <p:grpSp>
        <p:nvGrpSpPr>
          <p:cNvPr id="32772" name="Group 46"/>
          <p:cNvGrpSpPr>
            <a:grpSpLocks/>
          </p:cNvGrpSpPr>
          <p:nvPr/>
        </p:nvGrpSpPr>
        <p:grpSpPr bwMode="auto">
          <a:xfrm>
            <a:off x="1371600" y="4114800"/>
            <a:ext cx="4267200" cy="1066800"/>
            <a:chOff x="144" y="3552"/>
            <a:chExt cx="2304" cy="432"/>
          </a:xfrm>
        </p:grpSpPr>
        <p:sp>
          <p:nvSpPr>
            <p:cNvPr id="32775" name="Line 7"/>
            <p:cNvSpPr>
              <a:spLocks noChangeShapeType="1"/>
            </p:cNvSpPr>
            <p:nvPr/>
          </p:nvSpPr>
          <p:spPr bwMode="auto">
            <a:xfrm>
              <a:off x="864" y="3552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 flipV="1">
              <a:off x="144" y="3888"/>
              <a:ext cx="230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32777" name="Oval 9"/>
            <p:cNvSpPr>
              <a:spLocks noChangeAspect="1" noChangeArrowheads="1"/>
            </p:cNvSpPr>
            <p:nvPr/>
          </p:nvSpPr>
          <p:spPr bwMode="auto">
            <a:xfrm>
              <a:off x="1440" y="3792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78" name="Oval 10"/>
            <p:cNvSpPr>
              <a:spLocks noChangeAspect="1" noChangeArrowheads="1"/>
            </p:cNvSpPr>
            <p:nvPr/>
          </p:nvSpPr>
          <p:spPr bwMode="auto">
            <a:xfrm>
              <a:off x="336" y="3792"/>
              <a:ext cx="38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79" name="Oval 16"/>
            <p:cNvSpPr>
              <a:spLocks noChangeAspect="1" noChangeArrowheads="1"/>
            </p:cNvSpPr>
            <p:nvPr/>
          </p:nvSpPr>
          <p:spPr bwMode="auto">
            <a:xfrm>
              <a:off x="2112" y="3792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0" name="Oval 22"/>
            <p:cNvSpPr>
              <a:spLocks noChangeAspect="1" noChangeArrowheads="1"/>
            </p:cNvSpPr>
            <p:nvPr/>
          </p:nvSpPr>
          <p:spPr bwMode="auto">
            <a:xfrm rot="-1118274">
              <a:off x="2352" y="3792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1" name="Oval 26"/>
            <p:cNvSpPr>
              <a:spLocks noChangeAspect="1" noChangeArrowheads="1"/>
            </p:cNvSpPr>
            <p:nvPr/>
          </p:nvSpPr>
          <p:spPr bwMode="auto">
            <a:xfrm rot="5895381">
              <a:off x="580" y="3788"/>
              <a:ext cx="30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2" name="Oval 35"/>
            <p:cNvSpPr>
              <a:spLocks noChangeAspect="1" noChangeArrowheads="1"/>
            </p:cNvSpPr>
            <p:nvPr/>
          </p:nvSpPr>
          <p:spPr bwMode="auto">
            <a:xfrm rot="4777107">
              <a:off x="1634" y="379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3" name="Oval 36"/>
            <p:cNvSpPr>
              <a:spLocks noChangeAspect="1" noChangeArrowheads="1"/>
            </p:cNvSpPr>
            <p:nvPr/>
          </p:nvSpPr>
          <p:spPr bwMode="auto">
            <a:xfrm rot="4777107">
              <a:off x="2018" y="379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4" name="Oval 37"/>
            <p:cNvSpPr>
              <a:spLocks noChangeAspect="1" noChangeArrowheads="1"/>
            </p:cNvSpPr>
            <p:nvPr/>
          </p:nvSpPr>
          <p:spPr bwMode="auto">
            <a:xfrm rot="4777107">
              <a:off x="814" y="3794"/>
              <a:ext cx="37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5" name="Oval 42"/>
            <p:cNvSpPr>
              <a:spLocks noChangeAspect="1" noChangeArrowheads="1"/>
            </p:cNvSpPr>
            <p:nvPr/>
          </p:nvSpPr>
          <p:spPr bwMode="auto">
            <a:xfrm rot="4777107">
              <a:off x="1731" y="3789"/>
              <a:ext cx="32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2786" name="Oval 43"/>
            <p:cNvSpPr>
              <a:spLocks noChangeAspect="1" noChangeArrowheads="1"/>
            </p:cNvSpPr>
            <p:nvPr/>
          </p:nvSpPr>
          <p:spPr bwMode="auto">
            <a:xfrm>
              <a:off x="960" y="3792"/>
              <a:ext cx="38" cy="3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sp>
        <p:nvSpPr>
          <p:cNvPr id="32773" name="Text Box 47"/>
          <p:cNvSpPr txBox="1">
            <a:spLocks noChangeArrowheads="1"/>
          </p:cNvSpPr>
          <p:nvPr/>
        </p:nvSpPr>
        <p:spPr bwMode="auto">
          <a:xfrm>
            <a:off x="381000" y="1295400"/>
            <a:ext cx="838200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+mn-lt"/>
              </a:rPr>
              <a:t>Suppose data is like shown in the figure below.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+mn-lt"/>
              </a:rPr>
              <a:t>SVM solves this by creating a new variable using a kernel.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+mn-lt"/>
              </a:rPr>
              <a:t>We call a point x</a:t>
            </a:r>
            <a:r>
              <a:rPr lang="en-US" sz="2000" baseline="-25000" dirty="0">
                <a:latin typeface="+mn-lt"/>
              </a:rPr>
              <a:t>i </a:t>
            </a:r>
            <a:r>
              <a:rPr lang="en-US" sz="2000" dirty="0">
                <a:latin typeface="+mn-lt"/>
              </a:rPr>
              <a:t>on the line and we create a new variable </a:t>
            </a:r>
            <a:r>
              <a:rPr lang="en-US" sz="2000" dirty="0" err="1">
                <a:latin typeface="+mn-lt"/>
              </a:rPr>
              <a:t>y</a:t>
            </a:r>
            <a:r>
              <a:rPr lang="en-US" sz="2000" baseline="-25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 as a function of distance from origin o.so if we plot this we get something like as shown below</a:t>
            </a:r>
            <a:endParaRPr lang="en-GB" sz="2000" dirty="0">
              <a:latin typeface="+mn-lt"/>
            </a:endParaRPr>
          </a:p>
        </p:txBody>
      </p:sp>
      <p:sp>
        <p:nvSpPr>
          <p:cNvPr id="32774" name="Text Box 48"/>
          <p:cNvSpPr txBox="1">
            <a:spLocks noChangeArrowheads="1"/>
          </p:cNvSpPr>
          <p:nvPr/>
        </p:nvSpPr>
        <p:spPr bwMode="auto">
          <a:xfrm>
            <a:off x="2401888" y="5051425"/>
            <a:ext cx="903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</a:rPr>
              <a:t>x=0</a:t>
            </a:r>
          </a:p>
        </p:txBody>
      </p:sp>
    </p:spTree>
    <p:extLst>
      <p:ext uri="{BB962C8B-B14F-4D97-AF65-F5344CB8AC3E}">
        <p14:creationId xmlns:p14="http://schemas.microsoft.com/office/powerpoint/2010/main" val="121423976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0"/>
            <a:ext cx="83058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Suppose we’re in 1-D</a:t>
            </a:r>
          </a:p>
        </p:txBody>
      </p:sp>
      <p:grpSp>
        <p:nvGrpSpPr>
          <p:cNvPr id="33795" name="Group 3"/>
          <p:cNvGrpSpPr>
            <a:grpSpLocks/>
          </p:cNvGrpSpPr>
          <p:nvPr/>
        </p:nvGrpSpPr>
        <p:grpSpPr bwMode="auto">
          <a:xfrm>
            <a:off x="1371600" y="4114800"/>
            <a:ext cx="4267200" cy="1066800"/>
            <a:chOff x="144" y="3552"/>
            <a:chExt cx="2304" cy="432"/>
          </a:xfrm>
        </p:grpSpPr>
        <p:sp>
          <p:nvSpPr>
            <p:cNvPr id="33804" name="Line 4"/>
            <p:cNvSpPr>
              <a:spLocks noChangeShapeType="1"/>
            </p:cNvSpPr>
            <p:nvPr/>
          </p:nvSpPr>
          <p:spPr bwMode="auto">
            <a:xfrm>
              <a:off x="864" y="3552"/>
              <a:ext cx="0" cy="43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33805" name="Line 5"/>
            <p:cNvSpPr>
              <a:spLocks noChangeShapeType="1"/>
            </p:cNvSpPr>
            <p:nvPr/>
          </p:nvSpPr>
          <p:spPr bwMode="auto">
            <a:xfrm flipV="1">
              <a:off x="144" y="3888"/>
              <a:ext cx="230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33806" name="Oval 6"/>
            <p:cNvSpPr>
              <a:spLocks noChangeAspect="1" noChangeArrowheads="1"/>
            </p:cNvSpPr>
            <p:nvPr/>
          </p:nvSpPr>
          <p:spPr bwMode="auto">
            <a:xfrm>
              <a:off x="1440" y="3792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07" name="Oval 7"/>
            <p:cNvSpPr>
              <a:spLocks noChangeAspect="1" noChangeArrowheads="1"/>
            </p:cNvSpPr>
            <p:nvPr/>
          </p:nvSpPr>
          <p:spPr bwMode="auto">
            <a:xfrm>
              <a:off x="336" y="3792"/>
              <a:ext cx="38" cy="3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08" name="Oval 8"/>
            <p:cNvSpPr>
              <a:spLocks noChangeAspect="1" noChangeArrowheads="1"/>
            </p:cNvSpPr>
            <p:nvPr/>
          </p:nvSpPr>
          <p:spPr bwMode="auto">
            <a:xfrm>
              <a:off x="2112" y="3792"/>
              <a:ext cx="38" cy="3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09" name="Oval 9"/>
            <p:cNvSpPr>
              <a:spLocks noChangeAspect="1" noChangeArrowheads="1"/>
            </p:cNvSpPr>
            <p:nvPr/>
          </p:nvSpPr>
          <p:spPr bwMode="auto">
            <a:xfrm rot="-1118274">
              <a:off x="2352" y="3792"/>
              <a:ext cx="38" cy="3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0" name="Oval 10"/>
            <p:cNvSpPr>
              <a:spLocks noChangeAspect="1" noChangeArrowheads="1"/>
            </p:cNvSpPr>
            <p:nvPr/>
          </p:nvSpPr>
          <p:spPr bwMode="auto">
            <a:xfrm rot="5895381">
              <a:off x="580" y="3788"/>
              <a:ext cx="30" cy="3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1" name="Oval 11"/>
            <p:cNvSpPr>
              <a:spLocks noChangeAspect="1" noChangeArrowheads="1"/>
            </p:cNvSpPr>
            <p:nvPr/>
          </p:nvSpPr>
          <p:spPr bwMode="auto">
            <a:xfrm rot="4777107">
              <a:off x="1634" y="379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2" name="Oval 12"/>
            <p:cNvSpPr>
              <a:spLocks noChangeAspect="1" noChangeArrowheads="1"/>
            </p:cNvSpPr>
            <p:nvPr/>
          </p:nvSpPr>
          <p:spPr bwMode="auto">
            <a:xfrm rot="4777107">
              <a:off x="2018" y="3790"/>
              <a:ext cx="30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3" name="Oval 13"/>
            <p:cNvSpPr>
              <a:spLocks noChangeAspect="1" noChangeArrowheads="1"/>
            </p:cNvSpPr>
            <p:nvPr/>
          </p:nvSpPr>
          <p:spPr bwMode="auto">
            <a:xfrm rot="4777107">
              <a:off x="814" y="3794"/>
              <a:ext cx="37" cy="3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4" name="Oval 14"/>
            <p:cNvSpPr>
              <a:spLocks noChangeAspect="1" noChangeArrowheads="1"/>
            </p:cNvSpPr>
            <p:nvPr/>
          </p:nvSpPr>
          <p:spPr bwMode="auto">
            <a:xfrm rot="4777107">
              <a:off x="1731" y="3789"/>
              <a:ext cx="32" cy="3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33815" name="Oval 15"/>
            <p:cNvSpPr>
              <a:spLocks noChangeAspect="1" noChangeArrowheads="1"/>
            </p:cNvSpPr>
            <p:nvPr/>
          </p:nvSpPr>
          <p:spPr bwMode="auto">
            <a:xfrm>
              <a:off x="960" y="3792"/>
              <a:ext cx="38" cy="3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itchFamily="18" charset="0"/>
              </a:endParaRPr>
            </a:p>
          </p:txBody>
        </p:sp>
      </p:grpSp>
      <p:sp>
        <p:nvSpPr>
          <p:cNvPr id="33797" name="Line 18"/>
          <p:cNvSpPr>
            <a:spLocks noChangeShapeType="1"/>
          </p:cNvSpPr>
          <p:nvPr/>
        </p:nvSpPr>
        <p:spPr bwMode="auto">
          <a:xfrm flipV="1">
            <a:off x="2919413" y="4225925"/>
            <a:ext cx="0" cy="9144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33798" name="Line 19"/>
          <p:cNvSpPr>
            <a:spLocks noChangeShapeType="1"/>
          </p:cNvSpPr>
          <p:nvPr/>
        </p:nvSpPr>
        <p:spPr bwMode="auto">
          <a:xfrm flipV="1">
            <a:off x="3798888" y="4203700"/>
            <a:ext cx="0" cy="9144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33799" name="Text Box 20"/>
          <p:cNvSpPr txBox="1">
            <a:spLocks noChangeArrowheads="1"/>
          </p:cNvSpPr>
          <p:nvPr/>
        </p:nvSpPr>
        <p:spPr bwMode="auto">
          <a:xfrm>
            <a:off x="962025" y="5427663"/>
            <a:ext cx="22272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Positive “plane”</a:t>
            </a:r>
          </a:p>
        </p:txBody>
      </p:sp>
      <p:sp>
        <p:nvSpPr>
          <p:cNvPr id="33800" name="Freeform 21"/>
          <p:cNvSpPr>
            <a:spLocks/>
          </p:cNvSpPr>
          <p:nvPr/>
        </p:nvSpPr>
        <p:spPr bwMode="auto">
          <a:xfrm>
            <a:off x="2695575" y="5073650"/>
            <a:ext cx="452438" cy="565150"/>
          </a:xfrm>
          <a:custGeom>
            <a:avLst/>
            <a:gdLst>
              <a:gd name="T0" fmla="*/ 0 w 285"/>
              <a:gd name="T1" fmla="*/ 897175714 h 356"/>
              <a:gd name="T2" fmla="*/ 299899690 w 285"/>
              <a:gd name="T3" fmla="*/ 841732296 h 356"/>
              <a:gd name="T4" fmla="*/ 466230214 w 285"/>
              <a:gd name="T5" fmla="*/ 710684017 h 356"/>
              <a:gd name="T6" fmla="*/ 521673689 w 285"/>
              <a:gd name="T7" fmla="*/ 672882480 h 356"/>
              <a:gd name="T8" fmla="*/ 559475265 w 285"/>
              <a:gd name="T9" fmla="*/ 617437474 h 356"/>
              <a:gd name="T10" fmla="*/ 614918740 w 285"/>
              <a:gd name="T11" fmla="*/ 579635937 h 356"/>
              <a:gd name="T12" fmla="*/ 690523478 w 285"/>
              <a:gd name="T13" fmla="*/ 413305582 h 356"/>
              <a:gd name="T14" fmla="*/ 652721903 w 285"/>
              <a:gd name="T15" fmla="*/ 133567491 h 356"/>
              <a:gd name="T16" fmla="*/ 541834953 w 285"/>
              <a:gd name="T17" fmla="*/ 60483754 h 356"/>
              <a:gd name="T18" fmla="*/ 483870526 w 285"/>
              <a:gd name="T19" fmla="*/ 5040312 h 3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85"/>
              <a:gd name="T31" fmla="*/ 0 h 356"/>
              <a:gd name="T32" fmla="*/ 285 w 285"/>
              <a:gd name="T33" fmla="*/ 356 h 35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85" h="356">
                <a:moveTo>
                  <a:pt x="0" y="356"/>
                </a:moveTo>
                <a:cubicBezTo>
                  <a:pt x="45" y="351"/>
                  <a:pt x="77" y="347"/>
                  <a:pt x="119" y="334"/>
                </a:cubicBezTo>
                <a:cubicBezTo>
                  <a:pt x="154" y="299"/>
                  <a:pt x="132" y="318"/>
                  <a:pt x="185" y="282"/>
                </a:cubicBezTo>
                <a:cubicBezTo>
                  <a:pt x="192" y="277"/>
                  <a:pt x="207" y="267"/>
                  <a:pt x="207" y="267"/>
                </a:cubicBezTo>
                <a:cubicBezTo>
                  <a:pt x="212" y="260"/>
                  <a:pt x="216" y="251"/>
                  <a:pt x="222" y="245"/>
                </a:cubicBezTo>
                <a:cubicBezTo>
                  <a:pt x="228" y="239"/>
                  <a:pt x="238" y="237"/>
                  <a:pt x="244" y="230"/>
                </a:cubicBezTo>
                <a:cubicBezTo>
                  <a:pt x="258" y="213"/>
                  <a:pt x="261" y="183"/>
                  <a:pt x="274" y="164"/>
                </a:cubicBezTo>
                <a:cubicBezTo>
                  <a:pt x="271" y="127"/>
                  <a:pt x="285" y="79"/>
                  <a:pt x="259" y="53"/>
                </a:cubicBezTo>
                <a:cubicBezTo>
                  <a:pt x="247" y="41"/>
                  <a:pt x="215" y="24"/>
                  <a:pt x="215" y="24"/>
                </a:cubicBezTo>
                <a:cubicBezTo>
                  <a:pt x="198" y="0"/>
                  <a:pt x="209" y="2"/>
                  <a:pt x="192" y="2"/>
                </a:cubicBezTo>
              </a:path>
            </a:pathLst>
          </a:cu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33801" name="Text Box 22"/>
          <p:cNvSpPr txBox="1">
            <a:spLocks noChangeArrowheads="1"/>
          </p:cNvSpPr>
          <p:nvPr/>
        </p:nvSpPr>
        <p:spPr bwMode="auto">
          <a:xfrm>
            <a:off x="3670300" y="5521325"/>
            <a:ext cx="22272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0070C0"/>
                </a:solidFill>
                <a:latin typeface="Times New Roman" pitchFamily="18" charset="0"/>
              </a:rPr>
              <a:t>Negative “plane”</a:t>
            </a:r>
          </a:p>
        </p:txBody>
      </p:sp>
      <p:sp>
        <p:nvSpPr>
          <p:cNvPr id="33802" name="Freeform 23"/>
          <p:cNvSpPr>
            <a:spLocks/>
          </p:cNvSpPr>
          <p:nvPr/>
        </p:nvSpPr>
        <p:spPr bwMode="auto">
          <a:xfrm>
            <a:off x="3468688" y="5111750"/>
            <a:ext cx="293687" cy="609600"/>
          </a:xfrm>
          <a:custGeom>
            <a:avLst/>
            <a:gdLst>
              <a:gd name="T0" fmla="*/ 466227363 w 185"/>
              <a:gd name="T1" fmla="*/ 967740089 h 384"/>
              <a:gd name="T2" fmla="*/ 168849381 w 185"/>
              <a:gd name="T3" fmla="*/ 892135426 h 384"/>
              <a:gd name="T4" fmla="*/ 2519358 w 185"/>
              <a:gd name="T5" fmla="*/ 594756884 h 384"/>
              <a:gd name="T6" fmla="*/ 113406057 w 185"/>
              <a:gd name="T7" fmla="*/ 204133435 h 384"/>
              <a:gd name="T8" fmla="*/ 337700350 w 185"/>
              <a:gd name="T9" fmla="*/ 17640301 h 384"/>
              <a:gd name="T10" fmla="*/ 393143675 w 185"/>
              <a:gd name="T11" fmla="*/ 0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5"/>
              <a:gd name="T19" fmla="*/ 0 h 384"/>
              <a:gd name="T20" fmla="*/ 185 w 185"/>
              <a:gd name="T21" fmla="*/ 384 h 3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5" h="384">
                <a:moveTo>
                  <a:pt x="185" y="384"/>
                </a:moveTo>
                <a:cubicBezTo>
                  <a:pt x="138" y="378"/>
                  <a:pt x="110" y="366"/>
                  <a:pt x="67" y="354"/>
                </a:cubicBezTo>
                <a:cubicBezTo>
                  <a:pt x="30" y="317"/>
                  <a:pt x="17" y="285"/>
                  <a:pt x="1" y="236"/>
                </a:cubicBezTo>
                <a:cubicBezTo>
                  <a:pt x="6" y="175"/>
                  <a:pt x="0" y="126"/>
                  <a:pt x="45" y="81"/>
                </a:cubicBezTo>
                <a:cubicBezTo>
                  <a:pt x="65" y="61"/>
                  <a:pt x="104" y="17"/>
                  <a:pt x="134" y="7"/>
                </a:cubicBezTo>
                <a:cubicBezTo>
                  <a:pt x="141" y="5"/>
                  <a:pt x="156" y="0"/>
                  <a:pt x="156" y="0"/>
                </a:cubicBezTo>
              </a:path>
            </a:pathLst>
          </a:cu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33803" name="Text Box 24"/>
          <p:cNvSpPr txBox="1">
            <a:spLocks noChangeArrowheads="1"/>
          </p:cNvSpPr>
          <p:nvPr/>
        </p:nvSpPr>
        <p:spPr bwMode="auto">
          <a:xfrm>
            <a:off x="2401888" y="5051425"/>
            <a:ext cx="903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</a:rPr>
              <a:t>x=0</a:t>
            </a:r>
          </a:p>
        </p:txBody>
      </p:sp>
    </p:spTree>
    <p:extLst>
      <p:ext uri="{BB962C8B-B14F-4D97-AF65-F5344CB8AC3E}">
        <p14:creationId xmlns:p14="http://schemas.microsoft.com/office/powerpoint/2010/main" val="356858496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805182"/>
          </a:xfrm>
        </p:spPr>
        <p:txBody>
          <a:bodyPr>
            <a:no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Harder 1-D dataset</a:t>
            </a:r>
          </a:p>
        </p:txBody>
      </p:sp>
      <p:sp>
        <p:nvSpPr>
          <p:cNvPr id="1028" name="Line 3"/>
          <p:cNvSpPr>
            <a:spLocks noChangeShapeType="1"/>
          </p:cNvSpPr>
          <p:nvPr/>
        </p:nvSpPr>
        <p:spPr bwMode="auto">
          <a:xfrm flipH="1">
            <a:off x="2705100" y="1014413"/>
            <a:ext cx="14288" cy="41671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029" name="Line 4"/>
          <p:cNvSpPr>
            <a:spLocks noChangeShapeType="1"/>
          </p:cNvSpPr>
          <p:nvPr/>
        </p:nvSpPr>
        <p:spPr bwMode="auto">
          <a:xfrm flipV="1">
            <a:off x="1371600" y="4945063"/>
            <a:ext cx="4267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1030" name="Oval 5"/>
          <p:cNvSpPr>
            <a:spLocks noChangeAspect="1" noChangeArrowheads="1"/>
          </p:cNvSpPr>
          <p:nvPr/>
        </p:nvSpPr>
        <p:spPr bwMode="auto">
          <a:xfrm>
            <a:off x="3748088" y="4389438"/>
            <a:ext cx="69850" cy="746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1" name="Oval 6"/>
          <p:cNvSpPr>
            <a:spLocks noChangeAspect="1" noChangeArrowheads="1"/>
          </p:cNvSpPr>
          <p:nvPr/>
        </p:nvSpPr>
        <p:spPr bwMode="auto">
          <a:xfrm>
            <a:off x="1727200" y="4530725"/>
            <a:ext cx="69850" cy="746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2" name="Oval 7"/>
          <p:cNvSpPr>
            <a:spLocks noChangeAspect="1" noChangeArrowheads="1"/>
          </p:cNvSpPr>
          <p:nvPr/>
        </p:nvSpPr>
        <p:spPr bwMode="auto">
          <a:xfrm>
            <a:off x="5062538" y="2116138"/>
            <a:ext cx="69850" cy="793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3" name="Oval 8"/>
          <p:cNvSpPr>
            <a:spLocks noChangeAspect="1" noChangeArrowheads="1"/>
          </p:cNvSpPr>
          <p:nvPr/>
        </p:nvSpPr>
        <p:spPr bwMode="auto">
          <a:xfrm rot="-1118274">
            <a:off x="5378450" y="814388"/>
            <a:ext cx="69850" cy="746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4" name="Oval 9"/>
          <p:cNvSpPr>
            <a:spLocks noChangeAspect="1" noChangeArrowheads="1"/>
          </p:cNvSpPr>
          <p:nvPr/>
        </p:nvSpPr>
        <p:spPr bwMode="auto">
          <a:xfrm rot="5895381">
            <a:off x="2180432" y="4779169"/>
            <a:ext cx="74612" cy="698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5" name="Oval 10"/>
          <p:cNvSpPr>
            <a:spLocks noChangeAspect="1" noChangeArrowheads="1"/>
          </p:cNvSpPr>
          <p:nvPr/>
        </p:nvSpPr>
        <p:spPr bwMode="auto">
          <a:xfrm rot="4777107">
            <a:off x="4121943" y="4056857"/>
            <a:ext cx="74613" cy="635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6" name="Oval 11"/>
          <p:cNvSpPr>
            <a:spLocks noChangeAspect="1" noChangeArrowheads="1"/>
          </p:cNvSpPr>
          <p:nvPr/>
        </p:nvSpPr>
        <p:spPr bwMode="auto">
          <a:xfrm rot="4777107">
            <a:off x="4704557" y="2931319"/>
            <a:ext cx="74612" cy="635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7" name="Oval 12"/>
          <p:cNvSpPr>
            <a:spLocks noChangeAspect="1" noChangeArrowheads="1"/>
          </p:cNvSpPr>
          <p:nvPr/>
        </p:nvSpPr>
        <p:spPr bwMode="auto">
          <a:xfrm rot="4777107">
            <a:off x="2541587" y="4849813"/>
            <a:ext cx="92075" cy="635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8" name="Oval 13"/>
          <p:cNvSpPr>
            <a:spLocks noChangeAspect="1" noChangeArrowheads="1"/>
          </p:cNvSpPr>
          <p:nvPr/>
        </p:nvSpPr>
        <p:spPr bwMode="auto">
          <a:xfrm rot="4777107">
            <a:off x="4311650" y="3844926"/>
            <a:ext cx="79375" cy="69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39" name="Oval 14"/>
          <p:cNvSpPr>
            <a:spLocks noChangeAspect="1" noChangeArrowheads="1"/>
          </p:cNvSpPr>
          <p:nvPr/>
        </p:nvSpPr>
        <p:spPr bwMode="auto">
          <a:xfrm>
            <a:off x="2895600" y="4813300"/>
            <a:ext cx="69850" cy="793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1041" name="Text Box 16"/>
          <p:cNvSpPr txBox="1">
            <a:spLocks noChangeArrowheads="1"/>
          </p:cNvSpPr>
          <p:nvPr/>
        </p:nvSpPr>
        <p:spPr bwMode="auto">
          <a:xfrm>
            <a:off x="2401888" y="5051425"/>
            <a:ext cx="903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</a:rPr>
              <a:t>x=0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146800" y="4749800"/>
          <a:ext cx="22796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41200" progId="Equation.3">
                  <p:embed/>
                </p:oleObj>
              </mc:Choice>
              <mc:Fallback>
                <p:oleObj name="Equation" r:id="rId3" imgW="787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4749800"/>
                        <a:ext cx="227965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245643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06643" y="-9525"/>
            <a:ext cx="77724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Harder 1-D dataset</a:t>
            </a:r>
          </a:p>
        </p:txBody>
      </p:sp>
      <p:sp>
        <p:nvSpPr>
          <p:cNvPr id="2052" name="Line 2051"/>
          <p:cNvSpPr>
            <a:spLocks noChangeShapeType="1"/>
          </p:cNvSpPr>
          <p:nvPr/>
        </p:nvSpPr>
        <p:spPr bwMode="auto">
          <a:xfrm flipH="1">
            <a:off x="2705100" y="1014413"/>
            <a:ext cx="14288" cy="41671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053" name="Line 2052"/>
          <p:cNvSpPr>
            <a:spLocks noChangeShapeType="1"/>
          </p:cNvSpPr>
          <p:nvPr/>
        </p:nvSpPr>
        <p:spPr bwMode="auto">
          <a:xfrm flipV="1">
            <a:off x="1371600" y="4945063"/>
            <a:ext cx="42672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2054" name="Oval 2053"/>
          <p:cNvSpPr>
            <a:spLocks noChangeAspect="1" noChangeArrowheads="1"/>
          </p:cNvSpPr>
          <p:nvPr/>
        </p:nvSpPr>
        <p:spPr bwMode="auto">
          <a:xfrm>
            <a:off x="3748088" y="4389438"/>
            <a:ext cx="69850" cy="746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5" name="Oval 2054"/>
          <p:cNvSpPr>
            <a:spLocks noChangeAspect="1" noChangeArrowheads="1"/>
          </p:cNvSpPr>
          <p:nvPr/>
        </p:nvSpPr>
        <p:spPr bwMode="auto">
          <a:xfrm>
            <a:off x="1727200" y="4530725"/>
            <a:ext cx="69850" cy="746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6" name="Oval 2055"/>
          <p:cNvSpPr>
            <a:spLocks noChangeAspect="1" noChangeArrowheads="1"/>
          </p:cNvSpPr>
          <p:nvPr/>
        </p:nvSpPr>
        <p:spPr bwMode="auto">
          <a:xfrm>
            <a:off x="5062538" y="2116138"/>
            <a:ext cx="69850" cy="793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7" name="Oval 2056"/>
          <p:cNvSpPr>
            <a:spLocks noChangeAspect="1" noChangeArrowheads="1"/>
          </p:cNvSpPr>
          <p:nvPr/>
        </p:nvSpPr>
        <p:spPr bwMode="auto">
          <a:xfrm rot="-1118274">
            <a:off x="5378450" y="814388"/>
            <a:ext cx="69850" cy="746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8" name="Oval 2057"/>
          <p:cNvSpPr>
            <a:spLocks noChangeAspect="1" noChangeArrowheads="1"/>
          </p:cNvSpPr>
          <p:nvPr/>
        </p:nvSpPr>
        <p:spPr bwMode="auto">
          <a:xfrm rot="5895381">
            <a:off x="2180432" y="4779169"/>
            <a:ext cx="74612" cy="698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59" name="Oval 2058"/>
          <p:cNvSpPr>
            <a:spLocks noChangeAspect="1" noChangeArrowheads="1"/>
          </p:cNvSpPr>
          <p:nvPr/>
        </p:nvSpPr>
        <p:spPr bwMode="auto">
          <a:xfrm rot="4777107">
            <a:off x="4121943" y="4056857"/>
            <a:ext cx="74613" cy="635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60" name="Oval 2059"/>
          <p:cNvSpPr>
            <a:spLocks noChangeAspect="1" noChangeArrowheads="1"/>
          </p:cNvSpPr>
          <p:nvPr/>
        </p:nvSpPr>
        <p:spPr bwMode="auto">
          <a:xfrm rot="4777107">
            <a:off x="4704557" y="2931319"/>
            <a:ext cx="74612" cy="635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61" name="Oval 2060"/>
          <p:cNvSpPr>
            <a:spLocks noChangeAspect="1" noChangeArrowheads="1"/>
          </p:cNvSpPr>
          <p:nvPr/>
        </p:nvSpPr>
        <p:spPr bwMode="auto">
          <a:xfrm rot="4777107">
            <a:off x="2541587" y="4849813"/>
            <a:ext cx="92075" cy="635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62" name="Oval 2061"/>
          <p:cNvSpPr>
            <a:spLocks noChangeAspect="1" noChangeArrowheads="1"/>
          </p:cNvSpPr>
          <p:nvPr/>
        </p:nvSpPr>
        <p:spPr bwMode="auto">
          <a:xfrm rot="4777107">
            <a:off x="4311650" y="3844926"/>
            <a:ext cx="79375" cy="698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63" name="Oval 2062"/>
          <p:cNvSpPr>
            <a:spLocks noChangeAspect="1" noChangeArrowheads="1"/>
          </p:cNvSpPr>
          <p:nvPr/>
        </p:nvSpPr>
        <p:spPr bwMode="auto">
          <a:xfrm>
            <a:off x="2895600" y="4813300"/>
            <a:ext cx="69850" cy="793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  <p:sp>
        <p:nvSpPr>
          <p:cNvPr id="2065" name="Text Box 2064"/>
          <p:cNvSpPr txBox="1">
            <a:spLocks noChangeArrowheads="1"/>
          </p:cNvSpPr>
          <p:nvPr/>
        </p:nvSpPr>
        <p:spPr bwMode="auto">
          <a:xfrm>
            <a:off x="2401888" y="5051425"/>
            <a:ext cx="903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</a:rPr>
              <a:t>x=0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869855"/>
              </p:ext>
            </p:extLst>
          </p:nvPr>
        </p:nvGraphicFramePr>
        <p:xfrm>
          <a:off x="6191250" y="5418138"/>
          <a:ext cx="22796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41200" progId="Equation.3">
                  <p:embed/>
                </p:oleObj>
              </mc:Choice>
              <mc:Fallback>
                <p:oleObj name="Equation" r:id="rId3" imgW="787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5418138"/>
                        <a:ext cx="2279650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6" name="Line 2066"/>
          <p:cNvSpPr>
            <a:spLocks noChangeShapeType="1"/>
          </p:cNvSpPr>
          <p:nvPr/>
        </p:nvSpPr>
        <p:spPr bwMode="auto">
          <a:xfrm flipV="1">
            <a:off x="2638425" y="2087563"/>
            <a:ext cx="3305175" cy="351631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067" name="Line 2067"/>
          <p:cNvSpPr>
            <a:spLocks noChangeShapeType="1"/>
          </p:cNvSpPr>
          <p:nvPr/>
        </p:nvSpPr>
        <p:spPr bwMode="auto">
          <a:xfrm flipV="1">
            <a:off x="2474913" y="1898650"/>
            <a:ext cx="3305175" cy="3516313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647150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525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Kernel Function</a:t>
            </a:r>
            <a:endParaRPr lang="en-GB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</a:t>
            </a:r>
            <a:r>
              <a:rPr lang="en-US" sz="2000" b="1" dirty="0"/>
              <a:t>kernel function</a:t>
            </a:r>
            <a:r>
              <a:rPr lang="en-US" sz="2000" dirty="0"/>
              <a:t> in a kernelized SVM tells you, that given two data points in the original feature space, what the similarity is between the points in the newly transformed feature space.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This similarity function, which is mathematically a kind of complex dot product is actually the kernel of a kernelized SVM.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 This makes it practical to apply SVM when the underlying feature space is complex or even infinite-dimensional.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Important Parameters in Kernelized SVC ( Support Vector Classifier)</a:t>
            </a:r>
            <a:endParaRPr lang="en-GB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There are various kernel functions available, but 3 are very popular :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Polynomial Kernel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RBF Kernel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Sigmoid Kernel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032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Examples of Kernel Functions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410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000" dirty="0"/>
              <a:t>Polynomial kernel with degree </a:t>
            </a:r>
            <a:r>
              <a:rPr lang="en-US" sz="2000" i="1" dirty="0"/>
              <a:t>d</a:t>
            </a:r>
          </a:p>
          <a:p>
            <a:pPr algn="just" eaLnBrk="1" hangingPunct="1">
              <a:lnSpc>
                <a:spcPct val="90000"/>
              </a:lnSpc>
            </a:pPr>
            <a:endParaRPr lang="en-US" sz="2000" i="1" dirty="0"/>
          </a:p>
          <a:p>
            <a:pPr lvl="1" algn="just" eaLnBrk="1" hangingPunct="1">
              <a:lnSpc>
                <a:spcPct val="90000"/>
              </a:lnSpc>
            </a:pPr>
            <a:endParaRPr lang="en-US" sz="2000" dirty="0"/>
          </a:p>
          <a:p>
            <a:pPr lvl="2" algn="just" eaLnBrk="1" hangingPunct="1">
              <a:lnSpc>
                <a:spcPct val="90000"/>
              </a:lnSpc>
            </a:pPr>
            <a:endParaRPr lang="en-US" sz="2000" dirty="0"/>
          </a:p>
          <a:p>
            <a:pPr algn="just" eaLnBrk="1" hangingPunct="1">
              <a:lnSpc>
                <a:spcPct val="90000"/>
              </a:lnSpc>
            </a:pPr>
            <a:r>
              <a:rPr lang="en-US" sz="2000" dirty="0"/>
              <a:t>Radial basis function kernel with width s</a:t>
            </a:r>
          </a:p>
          <a:p>
            <a:pPr lvl="1" algn="just" eaLnBrk="1" hangingPunct="1">
              <a:lnSpc>
                <a:spcPct val="90000"/>
              </a:lnSpc>
            </a:pPr>
            <a:endParaRPr lang="en-US" sz="2000" dirty="0"/>
          </a:p>
          <a:p>
            <a:pPr lvl="2" algn="just" eaLnBrk="1" hangingPunct="1">
              <a:lnSpc>
                <a:spcPct val="90000"/>
              </a:lnSpc>
            </a:pPr>
            <a:endParaRPr lang="en-US" sz="2000" dirty="0"/>
          </a:p>
          <a:p>
            <a:pPr lvl="1" algn="just" eaLnBrk="1" hangingPunct="1">
              <a:lnSpc>
                <a:spcPct val="150000"/>
              </a:lnSpc>
            </a:pPr>
            <a:r>
              <a:rPr lang="en-US" sz="2000" dirty="0"/>
              <a:t>Closely related to radial basis function neural networks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000" dirty="0"/>
              <a:t>The feature space is infinite-dimensional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000" dirty="0"/>
              <a:t>Sigmoid with parameter k and q 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000" dirty="0"/>
              <a:t>It does not satisfy the Mercer condition on all k and q</a:t>
            </a:r>
          </a:p>
        </p:txBody>
      </p:sp>
      <p:pic>
        <p:nvPicPr>
          <p:cNvPr id="39941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038350"/>
            <a:ext cx="35814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12" y="3243254"/>
            <a:ext cx="510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6099174"/>
            <a:ext cx="42640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8746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6F8F-DF2C-7935-9E2F-8538DFF0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Examples of Kernel Functions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2E4F0B-0EF1-D5BC-2F68-CD9D694566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3078321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2767745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3891216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15637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Kernel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How it Separates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Best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830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Straight line/plane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Simple, linearly-separable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60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Polynomial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Curved lines/planes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that needs curves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589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RBF/Gaussian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Complex, flexible shapes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Very tangled, tricky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575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Sigmoid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S-shaped separation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Rarely used, niche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382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3395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latin typeface="+mn-lt"/>
              </a:rPr>
              <a:t>Choosing the Kernel Function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fontScale="92500"/>
          </a:bodyPr>
          <a:lstStyle/>
          <a:p>
            <a:pPr algn="just" eaLnBrk="1" hangingPunct="1">
              <a:lnSpc>
                <a:spcPct val="160000"/>
              </a:lnSpc>
            </a:pPr>
            <a:r>
              <a:rPr lang="en-US" sz="2000" dirty="0"/>
              <a:t>The kernel function is important because it creates the kernel matrix, which summarizes all the data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sz="2000" dirty="0"/>
              <a:t>Many principles have been proposed (diffusion kernel, Fisher kernel, string kernel, …)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sz="2000" dirty="0"/>
              <a:t>There is even research to estimate the kernel matrix from available information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sz="2000" dirty="0"/>
              <a:t>In practice, a </a:t>
            </a:r>
            <a:r>
              <a:rPr lang="en-US" sz="2000" b="1" dirty="0"/>
              <a:t>low degree polynomial kernel or RBF kernel </a:t>
            </a:r>
            <a:r>
              <a:rPr lang="en-US" sz="2000" dirty="0"/>
              <a:t>with a reasonable width is a good initial try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sz="2000" dirty="0"/>
              <a:t>Note that SVM with RBF kernel is closely related to RBF neural networks, with the centers of the radial basis functions automatically chosen for SVM</a:t>
            </a:r>
          </a:p>
        </p:txBody>
      </p:sp>
    </p:spTree>
    <p:extLst>
      <p:ext uri="{BB962C8B-B14F-4D97-AF65-F5344CB8AC3E}">
        <p14:creationId xmlns:p14="http://schemas.microsoft.com/office/powerpoint/2010/main" val="412913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+mn-lt"/>
              </a:rPr>
              <a:t>Advantages of SVM</a:t>
            </a:r>
            <a:endParaRPr lang="en-GB" sz="40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6388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/>
              <a:t>They are versatile: different kernel functions can be specified, or custom kernels can also be defined for specific data types.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They work well for both high and low dimensional data.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SVM works better when the data is Linear and it is more effective in high dimensions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With the help of the kernel trick, we can solve any complex problem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SVM is not sensitive to outliers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Can help us with Image classification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No local optimal, unlike in neural networks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Tradeoff between classifier complexity and error can be controlled explicitly</a:t>
            </a:r>
          </a:p>
          <a:p>
            <a:pPr algn="just">
              <a:lnSpc>
                <a:spcPct val="160000"/>
              </a:lnSpc>
            </a:pPr>
            <a:r>
              <a:rPr lang="en-US" sz="2000" dirty="0"/>
              <a:t>Non-traditional data like strings and trees can be used as input to SVM, instead of feature vectors</a:t>
            </a:r>
          </a:p>
          <a:p>
            <a:pPr algn="just">
              <a:lnSpc>
                <a:spcPct val="16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3734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Disadvantages of 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Efficiency (running time and memory usage) decreases as the size of the training set increases.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Needs careful normalization of input data and parameter tuning.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Does not provide a direct probability estimator.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Difficult to interpret why a prediction was made.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Choosing a good kernel is not easy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doesn’t show good results on a big dataset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 SVM hyper-parameters are Cost -C and gamma.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is not that easy to fine-tune these hyper-parameters.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is hard to visualize their impact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5047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3"/>
  <p:tag name="PICTUREFILESIZE" val="48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2"/>
  <p:tag name="PICTUREFILESIZE" val="42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-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38"/>
  <p:tag name="PICTUREFILESIZE" val="463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89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3"/>
  <p:tag name="PICTUREFILESIZE" val="48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2"/>
  <p:tag name="PICTUREFILESIZE" val="429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-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38"/>
  <p:tag name="PICTUREFILESIZE" val="46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89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&#10;\begin{cases}&#10;\mathbf{w}^T \mathbf{x}_i + b \geq 1 - \xi_i    &amp; y_i = 1\\&#10;\mathbf{w}^T \mathbf{x}_i + b \leq -1 + \xi_i    &amp; y_i = -1\\&#10;\xi_i \geq 0 &amp; \forall i&#10;\end{cases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BITMAPFORMAT" val="pngmono"/>
  <p:tag name="DEBUGINTERACTIVE" val="True"/>
  <p:tag name="ORIGWIDTH" val="301"/>
  <p:tag name="PICTUREFILESIZE" val="2818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Minimize $ \frac 12 || \mathbf{w} ||^2 + C \sum_{i=1}^n \xi_i 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BITMAPFORMAT" val="pngmono"/>
  <p:tag name="DEBUGINTERACTIVE" val="True"/>
  <p:tag name="ORIGWIDTH" val="279"/>
  <p:tag name="PICTUREFILESIZE" val="1399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\mbox{subject to }&#10;y_i (\mathbf{w}^T \mathbf{x}_i + b) \geq 1 - \xi_i, \quad&#10;\xi_i \geq 0 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BITMAPFORMAT" val="pngmono"/>
  <p:tag name="DEBUGINTERACTIVE" val="True"/>
  <p:tag name="ORIGWIDTH" val="403"/>
  <p:tag name="PICTUREFILESIZE" val="1896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\frac 12 || \mathbf{w} ||^2 + C \sum_{i=1}^n \xi_i 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ALLOWFONTSUBSTITUTION" val="False"/>
  <p:tag name="BITMAPFORMAT" val="pngmono"/>
  <p:tag name="ORIGWIDTH" val="182"/>
  <p:tag name="PICTUREFILESIZE" val="951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( \mathbf{x}^T \mathbf{y} + 1)^d$&#10;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211"/>
  <p:tag name="PICTUREFILESIZE" val="99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&#10;\exp\bigl(-|| \mathbf{x} - \mathbf{y} ||^2 / (2\sigma^2) \bigr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322"/>
  <p:tag name="PICTUREFILESIZE" val="1658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K(\mathbf{x}, \mathbf{y}) = &#10;\tanh(\kappa \mathbf{x}^T \mathbf{y} + \theta 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66"/>
  <p:tag name="BOXFONT" val="10"/>
  <p:tag name="BOXWRAP" val="False"/>
  <p:tag name="WORKAROUNDTRANSPARENCYBUG" val="False"/>
  <p:tag name="BITMAPFORMAT" val="pngmono"/>
  <p:tag name="DEBUGINTERACTIVE" val="True"/>
  <p:tag name="ORIGWIDTH" val="255"/>
  <p:tag name="PICTUREFILESIZE" val="12585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6550</TotalTime>
  <Words>3099</Words>
  <Application>Microsoft Office PowerPoint</Application>
  <PresentationFormat>On-screen Show (4:3)</PresentationFormat>
  <Paragraphs>324</Paragraphs>
  <Slides>44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60" baseType="lpstr">
      <vt:lpstr>Arial</vt:lpstr>
      <vt:lpstr>Calibri</vt:lpstr>
      <vt:lpstr>Century Schoolbook</vt:lpstr>
      <vt:lpstr>Constantia</vt:lpstr>
      <vt:lpstr>Lucida Sans Unicode</vt:lpstr>
      <vt:lpstr>Symbol</vt:lpstr>
      <vt:lpstr>Tahoma</vt:lpstr>
      <vt:lpstr>Times New Roman</vt:lpstr>
      <vt:lpstr>Trebuchet MS</vt:lpstr>
      <vt:lpstr>Verdana</vt:lpstr>
      <vt:lpstr>Wingdings</vt:lpstr>
      <vt:lpstr>Wingdings 2</vt:lpstr>
      <vt:lpstr>1_Custom Design</vt:lpstr>
      <vt:lpstr>Custom Design</vt:lpstr>
      <vt:lpstr>Flow</vt:lpstr>
      <vt:lpstr>Equation</vt:lpstr>
      <vt:lpstr>PowerPoint Presentation</vt:lpstr>
      <vt:lpstr>Today</vt:lpstr>
      <vt:lpstr>Support Vector Machine History</vt:lpstr>
      <vt:lpstr>Key Ideas</vt:lpstr>
      <vt:lpstr>Organization</vt:lpstr>
      <vt:lpstr>Support Vectors</vt:lpstr>
      <vt:lpstr>Support Vector Machine</vt:lpstr>
      <vt:lpstr>Support Vector Machine</vt:lpstr>
      <vt:lpstr>PowerPoint Presentation</vt:lpstr>
      <vt:lpstr>Max Margin Classification</vt:lpstr>
      <vt:lpstr>Logistic Regression Vs. Support Vector Machine</vt:lpstr>
      <vt:lpstr>Types of Support Vector Machine</vt:lpstr>
      <vt:lpstr>Support Vector Machine</vt:lpstr>
      <vt:lpstr>What Is A Good Decision Boundary?</vt:lpstr>
      <vt:lpstr>Bad Decision Boundaries</vt:lpstr>
      <vt:lpstr>General Input / Output For SVM</vt:lpstr>
      <vt:lpstr>Which Hyperplane to Pick?</vt:lpstr>
      <vt:lpstr>Which Hyperplane to Pick?</vt:lpstr>
      <vt:lpstr>Support Vectors Again For Linearly Separable Case</vt:lpstr>
      <vt:lpstr>Large-margin Decision Boundary</vt:lpstr>
      <vt:lpstr>Support Vectors Again For Linearly Separable Case</vt:lpstr>
      <vt:lpstr>Some Final Definitions</vt:lpstr>
      <vt:lpstr>A Geometrical Interpretation</vt:lpstr>
      <vt:lpstr>Soft Margin Hyperplane</vt:lpstr>
      <vt:lpstr>SVM Python Implementation</vt:lpstr>
      <vt:lpstr>SVM Python Implementation</vt:lpstr>
      <vt:lpstr>SVM Python Implementation</vt:lpstr>
      <vt:lpstr>Classify two Classes</vt:lpstr>
      <vt:lpstr>Classify two Classes</vt:lpstr>
      <vt:lpstr>Classify two Classes</vt:lpstr>
      <vt:lpstr>Classify two Classes</vt:lpstr>
      <vt:lpstr>Classify two Classes</vt:lpstr>
      <vt:lpstr>Creating Nonlinear Classifiers: Kernel Trick</vt:lpstr>
      <vt:lpstr>SVM Kernel</vt:lpstr>
      <vt:lpstr>Suppose we’re in 1-D</vt:lpstr>
      <vt:lpstr>Suppose we’re in 1-D</vt:lpstr>
      <vt:lpstr>Harder 1-D dataset</vt:lpstr>
      <vt:lpstr>Harder 1-D dataset</vt:lpstr>
      <vt:lpstr>Kernel Function</vt:lpstr>
      <vt:lpstr>Examples of Kernel Functions</vt:lpstr>
      <vt:lpstr>Examples of Kernel Functions</vt:lpstr>
      <vt:lpstr>Choosing the Kernel Function</vt:lpstr>
      <vt:lpstr>Advantages of SVM</vt:lpstr>
      <vt:lpstr>Disadvantages of SVM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Qurat ul Ain</dc:creator>
  <cp:lastModifiedBy>Qurat-ul-Ain</cp:lastModifiedBy>
  <cp:revision>345</cp:revision>
  <dcterms:created xsi:type="dcterms:W3CDTF">2010-09-06T07:03:57Z</dcterms:created>
  <dcterms:modified xsi:type="dcterms:W3CDTF">2025-10-18T05:38:09Z</dcterms:modified>
</cp:coreProperties>
</file>